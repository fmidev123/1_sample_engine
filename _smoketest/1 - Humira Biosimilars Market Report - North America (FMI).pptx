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4.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5.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36.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37.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38.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39.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40.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Sheet41.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Sheet42.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Sheet43.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Sheet44.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Sheet45.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Sheet46.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Sheet47.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Sheet48.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Sheet49.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Sheet50.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Sheet51.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Sheet52.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Sheet53.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Sheet54.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Sheet55.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Sheet56.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Sheet57.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Sheet58.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Sheet59.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Sheet60.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Sheet61.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Sheet62.xlsx"/></Relationships>
</file>

<file path=ppt/charts/_rels/chart63.xml.rels><?xml version='1.0' encoding='UTF-8' standalone='yes'?>
<Relationships xmlns="http://schemas.openxmlformats.org/package/2006/relationships"><Relationship Id="rId1" Type="http://schemas.openxmlformats.org/officeDocument/2006/relationships/package" Target="../embeddings/Microsoft_Excel_Sheet63.xlsx"/></Relationships>
</file>

<file path=ppt/charts/_rels/chart64.xml.rels><?xml version='1.0' encoding='UTF-8' standalone='yes'?>
<Relationships xmlns="http://schemas.openxmlformats.org/package/2006/relationships"><Relationship Id="rId1" Type="http://schemas.openxmlformats.org/officeDocument/2006/relationships/package" Target="../embeddings/Microsoft_Excel_Sheet64.xlsx"/></Relationships>
</file>

<file path=ppt/charts/_rels/chart65.xml.rels><?xml version='1.0' encoding='UTF-8' standalone='yes'?>
<Relationships xmlns="http://schemas.openxmlformats.org/package/2006/relationships"><Relationship Id="rId1" Type="http://schemas.openxmlformats.org/officeDocument/2006/relationships/package" Target="../embeddings/Microsoft_Excel_Sheet65.xlsx"/></Relationships>
</file>

<file path=ppt/charts/_rels/chart66.xml.rels><?xml version='1.0' encoding='UTF-8' standalone='yes'?>
<Relationships xmlns="http://schemas.openxmlformats.org/package/2006/relationships"><Relationship Id="rId1" Type="http://schemas.openxmlformats.org/officeDocument/2006/relationships/package" Target="../embeddings/Microsoft_Excel_Sheet66.xlsx"/></Relationships>
</file>

<file path=ppt/charts/_rels/chart67.xml.rels><?xml version='1.0' encoding='UTF-8' standalone='yes'?>
<Relationships xmlns="http://schemas.openxmlformats.org/package/2006/relationships"><Relationship Id="rId1" Type="http://schemas.openxmlformats.org/officeDocument/2006/relationships/package" Target="../embeddings/Microsoft_Excel_Sheet67.xlsx"/></Relationships>
</file>

<file path=ppt/charts/_rels/chart68.xml.rels><?xml version='1.0' encoding='UTF-8' standalone='yes'?>
<Relationships xmlns="http://schemas.openxmlformats.org/package/2006/relationships"><Relationship Id="rId1" Type="http://schemas.openxmlformats.org/officeDocument/2006/relationships/package" Target="../embeddings/Microsoft_Excel_Sheet68.xlsx"/></Relationships>
</file>

<file path=ppt/charts/_rels/chart69.xml.rels><?xml version='1.0' encoding='UTF-8' standalone='yes'?>
<Relationships xmlns="http://schemas.openxmlformats.org/package/2006/relationships"><Relationship Id="rId1" Type="http://schemas.openxmlformats.org/officeDocument/2006/relationships/package" Target="../embeddings/Microsoft_Excel_Sheet69.xlsx"/></Relationships>
</file>

<file path=ppt/charts/_rels/chart70.xml.rels><?xml version='1.0' encoding='UTF-8' standalone='yes'?>
<Relationships xmlns="http://schemas.openxmlformats.org/package/2006/relationships"><Relationship Id="rId1" Type="http://schemas.openxmlformats.org/officeDocument/2006/relationships/package" Target="../embeddings/Microsoft_Excel_Sheet70.xlsx"/></Relationships>
</file>

<file path=ppt/charts/_rels/chart71.xml.rels><?xml version='1.0' encoding='UTF-8' standalone='yes'?>
<Relationships xmlns="http://schemas.openxmlformats.org/package/2006/relationships"><Relationship Id="rId1" Type="http://schemas.openxmlformats.org/officeDocument/2006/relationships/package" Target="../embeddings/Microsoft_Excel_Sheet71.xlsx"/></Relationships>
</file>

<file path=ppt/charts/_rels/chart72.xml.rels><?xml version='1.0' encoding='UTF-8' standalone='yes'?>
<Relationships xmlns="http://schemas.openxmlformats.org/package/2006/relationships"><Relationship Id="rId1" Type="http://schemas.openxmlformats.org/officeDocument/2006/relationships/package" Target="../embeddings/Microsoft_Excel_Sheet72.xlsx"/></Relationships>
</file>

<file path=ppt/charts/_rels/chart73.xml.rels><?xml version='1.0' encoding='UTF-8' standalone='yes'?>
<Relationships xmlns="http://schemas.openxmlformats.org/package/2006/relationships"><Relationship Id="rId1" Type="http://schemas.openxmlformats.org/officeDocument/2006/relationships/package" Target="../embeddings/Microsoft_Excel_Sheet73.xlsx"/></Relationships>
</file>

<file path=ppt/charts/_rels/chart74.xml.rels><?xml version='1.0' encoding='UTF-8' standalone='yes'?>
<Relationships xmlns="http://schemas.openxmlformats.org/package/2006/relationships"><Relationship Id="rId1" Type="http://schemas.openxmlformats.org/officeDocument/2006/relationships/package" Target="../embeddings/Microsoft_Excel_Sheet74.xlsx"/></Relationships>
</file>

<file path=ppt/charts/_rels/chart75.xml.rels><?xml version='1.0' encoding='UTF-8' standalone='yes'?>
<Relationships xmlns="http://schemas.openxmlformats.org/package/2006/relationships"><Relationship Id="rId1" Type="http://schemas.openxmlformats.org/officeDocument/2006/relationships/package" Target="../embeddings/Microsoft_Excel_Sheet75.xlsx"/></Relationships>
</file>

<file path=ppt/charts/_rels/chart76.xml.rels><?xml version='1.0' encoding='UTF-8' standalone='yes'?>
<Relationships xmlns="http://schemas.openxmlformats.org/package/2006/relationships"><Relationship Id="rId1" Type="http://schemas.openxmlformats.org/officeDocument/2006/relationships/package" Target="../embeddings/Microsoft_Excel_Sheet76.xlsx"/></Relationships>
</file>

<file path=ppt/charts/_rels/chart77.xml.rels><?xml version='1.0' encoding='UTF-8' standalone='yes'?>
<Relationships xmlns="http://schemas.openxmlformats.org/package/2006/relationships"><Relationship Id="rId1" Type="http://schemas.openxmlformats.org/officeDocument/2006/relationships/package" Target="../embeddings/Microsoft_Excel_Sheet77.xlsx"/></Relationships>
</file>

<file path=ppt/charts/_rels/chart78.xml.rels><?xml version='1.0' encoding='UTF-8' standalone='yes'?>
<Relationships xmlns="http://schemas.openxmlformats.org/package/2006/relationships"><Relationship Id="rId1" Type="http://schemas.openxmlformats.org/officeDocument/2006/relationships/package" Target="../embeddings/Microsoft_Excel_Sheet78.xlsx"/></Relationships>
</file>

<file path=ppt/charts/_rels/chart79.xml.rels><?xml version='1.0' encoding='UTF-8' standalone='yes'?>
<Relationships xmlns="http://schemas.openxmlformats.org/package/2006/relationships"><Relationship Id="rId1" Type="http://schemas.openxmlformats.org/officeDocument/2006/relationships/package" Target="../embeddings/Microsoft_Excel_Sheet79.xlsx"/></Relationships>
</file>

<file path=ppt/charts/_rels/chart80.xml.rels><?xml version='1.0' encoding='UTF-8' standalone='yes'?>
<Relationships xmlns="http://schemas.openxmlformats.org/package/2006/relationships"><Relationship Id="rId1" Type="http://schemas.openxmlformats.org/officeDocument/2006/relationships/package" Target="../embeddings/Microsoft_Excel_Sheet80.xlsx"/></Relationships>
</file>

<file path=ppt/charts/_rels/chart81.xml.rels><?xml version='1.0' encoding='UTF-8' standalone='yes'?>
<Relationships xmlns="http://schemas.openxmlformats.org/package/2006/relationships"><Relationship Id="rId1" Type="http://schemas.openxmlformats.org/officeDocument/2006/relationships/package" Target="../embeddings/Microsoft_Excel_Sheet81.xlsx"/></Relationships>
</file>

<file path=ppt/charts/_rels/chart82.xml.rels><?xml version='1.0' encoding='UTF-8' standalone='yes'?>
<Relationships xmlns="http://schemas.openxmlformats.org/package/2006/relationships"><Relationship Id="rId1" Type="http://schemas.openxmlformats.org/officeDocument/2006/relationships/package" Target="../embeddings/Microsoft_Excel_Sheet82.xlsx"/></Relationships>
</file>

<file path=ppt/charts/_rels/chart83.xml.rels><?xml version='1.0' encoding='UTF-8' standalone='yes'?>
<Relationships xmlns="http://schemas.openxmlformats.org/package/2006/relationships"><Relationship Id="rId1" Type="http://schemas.openxmlformats.org/officeDocument/2006/relationships/package" Target="../embeddings/Microsoft_Excel_Sheet83.xlsx"/></Relationships>
</file>

<file path=ppt/charts/_rels/chart84.xml.rels><?xml version='1.0' encoding='UTF-8' standalone='yes'?>
<Relationships xmlns="http://schemas.openxmlformats.org/package/2006/relationships"><Relationship Id="rId1" Type="http://schemas.openxmlformats.org/officeDocument/2006/relationships/package" Target="../embeddings/Microsoft_Excel_Sheet84.xlsx"/></Relationships>
</file>

<file path=ppt/charts/_rels/chart85.xml.rels><?xml version='1.0' encoding='UTF-8' standalone='yes'?>
<Relationships xmlns="http://schemas.openxmlformats.org/package/2006/relationships"><Relationship Id="rId1" Type="http://schemas.openxmlformats.org/officeDocument/2006/relationships/package" Target="../embeddings/Microsoft_Excel_Sheet85.xlsx"/></Relationships>
</file>

<file path=ppt/charts/_rels/chart86.xml.rels><?xml version='1.0' encoding='UTF-8' standalone='yes'?>
<Relationships xmlns="http://schemas.openxmlformats.org/package/2006/relationships"><Relationship Id="rId1" Type="http://schemas.openxmlformats.org/officeDocument/2006/relationships/package" Target="../embeddings/Microsoft_Excel_Sheet86.xlsx"/></Relationships>
</file>

<file path=ppt/charts/_rels/chart87.xml.rels><?xml version='1.0' encoding='UTF-8' standalone='yes'?>
<Relationships xmlns="http://schemas.openxmlformats.org/package/2006/relationships"><Relationship Id="rId1" Type="http://schemas.openxmlformats.org/officeDocument/2006/relationships/package" Target="../embeddings/Microsoft_Excel_Sheet87.xlsx"/></Relationships>
</file>

<file path=ppt/charts/_rels/chart88.xml.rels><?xml version='1.0' encoding='UTF-8' standalone='yes'?>
<Relationships xmlns="http://schemas.openxmlformats.org/package/2006/relationships"><Relationship Id="rId1" Type="http://schemas.openxmlformats.org/officeDocument/2006/relationships/package" Target="../embeddings/Microsoft_Excel_Sheet88.xlsx"/></Relationships>
</file>

<file path=ppt/charts/_rels/chart89.xml.rels><?xml version='1.0' encoding='UTF-8' standalone='yes'?>
<Relationships xmlns="http://schemas.openxmlformats.org/package/2006/relationships"><Relationship Id="rId1" Type="http://schemas.openxmlformats.org/officeDocument/2006/relationships/package" Target="../embeddings/Microsoft_Excel_Sheet89.xlsx"/></Relationships>
</file>

<file path=ppt/charts/_rels/chart90.xml.rels><?xml version='1.0' encoding='UTF-8' standalone='yes'?>
<Relationships xmlns="http://schemas.openxmlformats.org/package/2006/relationships"><Relationship Id="rId1" Type="http://schemas.openxmlformats.org/officeDocument/2006/relationships/package" Target="../embeddings/Microsoft_Excel_Sheet90.xlsx"/></Relationships>
</file>

<file path=ppt/charts/_rels/chart91.xml.rels><?xml version='1.0' encoding='UTF-8' standalone='yes'?>
<Relationships xmlns="http://schemas.openxmlformats.org/package/2006/relationships"><Relationship Id="rId1" Type="http://schemas.openxmlformats.org/officeDocument/2006/relationships/package" Target="../embeddings/Microsoft_Excel_Sheet91.xlsx"/></Relationships>
</file>

<file path=ppt/charts/_rels/chart92.xml.rels><?xml version='1.0' encoding='UTF-8' standalone='yes'?>
<Relationships xmlns="http://schemas.openxmlformats.org/package/2006/relationships"><Relationship Id="rId1" Type="http://schemas.openxmlformats.org/officeDocument/2006/relationships/package" Target="../embeddings/Microsoft_Excel_Sheet92.xlsx"/></Relationships>
</file>

<file path=ppt/charts/_rels/chart93.xml.rels><?xml version='1.0' encoding='UTF-8' standalone='yes'?>
<Relationships xmlns="http://schemas.openxmlformats.org/package/2006/relationships"><Relationship Id="rId1" Type="http://schemas.openxmlformats.org/officeDocument/2006/relationships/package" Target="../embeddings/Microsoft_Excel_Sheet93.xlsx"/></Relationships>
</file>

<file path=ppt/charts/_rels/chart94.xml.rels><?xml version='1.0' encoding='UTF-8' standalone='yes'?>
<Relationships xmlns="http://schemas.openxmlformats.org/package/2006/relationships"><Relationship Id="rId1" Type="http://schemas.openxmlformats.org/officeDocument/2006/relationships/package" Target="../embeddings/Microsoft_Excel_Sheet94.xlsx"/></Relationships>
</file>

<file path=ppt/charts/_rels/chart95.xml.rels><?xml version='1.0' encoding='UTF-8' standalone='yes'?>
<Relationships xmlns="http://schemas.openxmlformats.org/package/2006/relationships"><Relationship Id="rId1" Type="http://schemas.openxmlformats.org/officeDocument/2006/relationships/package" Target="../embeddings/Microsoft_Excel_Sheet95.xlsx"/></Relationships>
</file>

<file path=ppt/charts/_rels/chart96.xml.rels><?xml version='1.0' encoding='UTF-8' standalone='yes'?>
<Relationships xmlns="http://schemas.openxmlformats.org/package/2006/relationships"><Relationship Id="rId1" Type="http://schemas.openxmlformats.org/officeDocument/2006/relationships/package" Target="../embeddings/Microsoft_Excel_Sheet96.xlsx"/></Relationships>
</file>

<file path=ppt/charts/_rels/chart97.xml.rels><?xml version='1.0' encoding='UTF-8' standalone='yes'?>
<Relationships xmlns="http://schemas.openxmlformats.org/package/2006/relationships"><Relationship Id="rId1" Type="http://schemas.openxmlformats.org/officeDocument/2006/relationships/package" Target="../embeddings/Microsoft_Excel_Sheet97.xlsx"/></Relationships>
</file>

<file path=ppt/charts/_rels/chart98.xml.rels><?xml version='1.0' encoding='UTF-8' standalone='yes'?>
<Relationships xmlns="http://schemas.openxmlformats.org/package/2006/relationships"><Relationship Id="rId1" Type="http://schemas.openxmlformats.org/officeDocument/2006/relationships/package" Target="../embeddings/Microsoft_Excel_Sheet98.xlsx"/></Relationships>
</file>

<file path=ppt/charts/_rels/chart99.xml.rels><?xml version='1.0' encoding='UTF-8' standalone='yes'?>
<Relationships xmlns="http://schemas.openxmlformats.org/package/2006/relationships"><Relationship Id="rId1" Type="http://schemas.openxmlformats.org/officeDocument/2006/relationships/package" Target="../embeddings/Microsoft_Excel_Sheet99.xlsx"/></Relationships>
</file>

<file path=ppt/charts/_rels/chart100.xml.rels><?xml version='1.0' encoding='UTF-8' standalone='yes'?>
<Relationships xmlns="http://schemas.openxmlformats.org/package/2006/relationships"><Relationship Id="rId1" Type="http://schemas.openxmlformats.org/officeDocument/2006/relationships/package" Target="../embeddings/Microsoft_Excel_Sheet100.xlsx"/></Relationships>
</file>

<file path=ppt/charts/_rels/chart101.xml.rels><?xml version='1.0' encoding='UTF-8' standalone='yes'?>
<Relationships xmlns="http://schemas.openxmlformats.org/package/2006/relationships"><Relationship Id="rId1" Type="http://schemas.openxmlformats.org/officeDocument/2006/relationships/package" Target="../embeddings/Microsoft_Excel_Sheet101.xlsx"/></Relationships>
</file>

<file path=ppt/charts/_rels/chart102.xml.rels><?xml version='1.0' encoding='UTF-8' standalone='yes'?>
<Relationships xmlns="http://schemas.openxmlformats.org/package/2006/relationships"><Relationship Id="rId1" Type="http://schemas.openxmlformats.org/officeDocument/2006/relationships/package" Target="../embeddings/Microsoft_Excel_Sheet102.xlsx"/></Relationships>
</file>

<file path=ppt/charts/_rels/chart103.xml.rels><?xml version='1.0' encoding='UTF-8' standalone='yes'?>
<Relationships xmlns="http://schemas.openxmlformats.org/package/2006/relationships"><Relationship Id="rId1" Type="http://schemas.openxmlformats.org/officeDocument/2006/relationships/package" Target="../embeddings/Microsoft_Excel_Sheet103.xlsx"/></Relationships>
</file>

<file path=ppt/charts/_rels/chart104.xml.rels><?xml version='1.0' encoding='UTF-8' standalone='yes'?>
<Relationships xmlns="http://schemas.openxmlformats.org/package/2006/relationships"><Relationship Id="rId1" Type="http://schemas.openxmlformats.org/officeDocument/2006/relationships/package" Target="../embeddings/Microsoft_Excel_Sheet104.xlsx"/></Relationships>
</file>

<file path=ppt/charts/_rels/chart105.xml.rels><?xml version='1.0' encoding='UTF-8' standalone='yes'?>
<Relationships xmlns="http://schemas.openxmlformats.org/package/2006/relationships"><Relationship Id="rId1" Type="http://schemas.openxmlformats.org/officeDocument/2006/relationships/package" Target="../embeddings/Microsoft_Excel_Sheet10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23.18049938928106</c:v>
                </c:pt>
                <c:pt idx="1">
                  <c:v>13.005821760811621</c:v>
                </c:pt>
                <c:pt idx="2">
                  <c:v>16.300397382435563</c:v>
                </c:pt>
              </c:numCache>
            </c:numRef>
          </c:val>
        </c:ser>
        <c:dLbls>
          <c:numFmt formatCode="0.0&quot;%&quot;"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85"/>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30.598259193851"/>
          <c:min val="0.0"/>
        </c:scaling>
        <c:delete val="0"/>
        <c:axPos val="l"/>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1.4675870000000002</c:v>
                </c:pt>
                <c:pt idx="2">
                  <c:v>0.0</c:v>
                </c:pt>
                <c:pt idx="3">
                  <c:v>4.162111</c:v>
                </c:pt>
                <c:pt idx="4">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numFmt formatCode="0.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1.4675870000000002</c:v>
                </c:pt>
                <c:pt idx="1">
                  <c:v>2.6945240000000004</c:v>
                </c:pt>
                <c:pt idx="2">
                  <c:v>4.162111</c:v>
                </c:pt>
                <c:pt idx="3">
                  <c:v>9.973736000000002</c:v>
                </c:pt>
                <c:pt idx="4">
                  <c:v>14.135847000000002</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18.285440651528774</c:v>
                </c:pt>
                <c:pt idx="1">
                  <c:v>8.526436179000063</c:v>
                </c:pt>
                <c:pt idx="2">
                  <c:v>11.68652842272071</c:v>
                </c:pt>
              </c:numCache>
            </c:numRef>
          </c:val>
        </c:ser>
        <c:dLbls>
          <c:numFmt formatCode="0.0&quot;%&quot;"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85"/>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24.13678166001798"/>
          <c:min val="0.0"/>
        </c:scaling>
        <c:delete val="0"/>
        <c:axPos val="l"/>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852.6210000000001</c:v>
                </c:pt>
                <c:pt idx="2">
                  <c:v>0.0</c:v>
                </c:pt>
                <c:pt idx="3">
                  <c:v>1974.2969999999998</c:v>
                </c:pt>
                <c:pt idx="4">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852.6210000000001</c:v>
                </c:pt>
                <c:pt idx="1">
                  <c:v>1121.6759999999997</c:v>
                </c:pt>
                <c:pt idx="2">
                  <c:v>1974.2969999999998</c:v>
                </c:pt>
                <c:pt idx="3">
                  <c:v>2500.4440000000004</c:v>
                </c:pt>
                <c:pt idx="4">
                  <c:v>4474.741</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69B1E0"/>
            </a:solidFill>
            <a:ln>
              <a:noFill/>
            </a:ln>
          </c:spP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852.6210000000001</c:v>
                </c:pt>
                <c:pt idx="1">
                  <c:v>958.0659999999999</c:v>
                </c:pt>
                <c:pt idx="2">
                  <c:v>1141.952</c:v>
                </c:pt>
                <c:pt idx="3">
                  <c:v>1404.6429999999998</c:v>
                </c:pt>
                <c:pt idx="4">
                  <c:v>1690.9460000000001</c:v>
                </c:pt>
              </c:numCache>
            </c:numRef>
          </c:val>
        </c:ser>
        <c:ser>
          <c:idx val="1"/>
          <c:order val="1"/>
          <c:tx>
            <c:strRef>
              <c:f>Sheet1!$C$1</c:f>
              <c:strCache>
                <c:ptCount val="1"/>
                <c:pt idx="0">
                  <c:v>Volume (Mn Doses)</c:v>
                </c:pt>
              </c:strCache>
            </c:strRef>
          </c:tx>
          <c:spPr>
            <a:solidFill>
              <a:srgbClr val="C55A11"/>
            </a:solidFill>
            <a:ln>
              <a:noFill/>
            </a:ln>
          </c:spP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1.4675870000000002</c:v>
                </c:pt>
                <c:pt idx="1">
                  <c:v>1.717379</c:v>
                </c:pt>
                <c:pt idx="2">
                  <c:v>2.131743</c:v>
                </c:pt>
                <c:pt idx="3">
                  <c:v>2.7306369999999998</c:v>
                </c:pt>
                <c:pt idx="4">
                  <c:v>3.4232</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numFmt formatCode="#,##0,&quot;K&quot;" sourceLinked="0"/>
        <c:majorTickMark val="none"/>
        <c:minorTickMark val="none"/>
        <c:tickLblPos val="none"/>
        <c:spPr>
          <a:ln>
            <a:no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69B1E0"/>
            </a:solidFill>
            <a:ln>
              <a:noFill/>
            </a:ln>
          </c:spP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1974.2969999999998</c:v>
                </c:pt>
                <c:pt idx="1">
                  <c:v>2263.314</c:v>
                </c:pt>
                <c:pt idx="2">
                  <c:v>2542.1620000000003</c:v>
                </c:pt>
                <c:pt idx="3">
                  <c:v>2814.3079999999995</c:v>
                </c:pt>
                <c:pt idx="4">
                  <c:v>3078.624</c:v>
                </c:pt>
                <c:pt idx="5">
                  <c:v>3333.5199999999995</c:v>
                </c:pt>
                <c:pt idx="6">
                  <c:v>3579.142</c:v>
                </c:pt>
                <c:pt idx="7">
                  <c:v>3813.8450000000003</c:v>
                </c:pt>
                <c:pt idx="8">
                  <c:v>4040.6850000000004</c:v>
                </c:pt>
                <c:pt idx="9">
                  <c:v>4260.442999999999</c:v>
                </c:pt>
                <c:pt idx="10">
                  <c:v>4474.741</c:v>
                </c:pt>
              </c:numCache>
            </c:numRef>
          </c:val>
        </c:ser>
        <c:ser>
          <c:idx val="1"/>
          <c:order val="1"/>
          <c:tx>
            <c:strRef>
              <c:f>Sheet1!$C$1</c:f>
              <c:strCache>
                <c:ptCount val="1"/>
                <c:pt idx="0">
                  <c:v>Volume (Mn Doses)</c:v>
                </c:pt>
              </c:strCache>
            </c:strRef>
          </c:tx>
          <c:spPr>
            <a:solidFill>
              <a:srgbClr val="C55A11"/>
            </a:solidFill>
            <a:ln>
              <a:noFill/>
            </a:ln>
          </c:spP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4.162111</c:v>
                </c:pt>
                <c:pt idx="1">
                  <c:v>4.9686520000000005</c:v>
                </c:pt>
                <c:pt idx="2">
                  <c:v>5.81144</c:v>
                </c:pt>
                <c:pt idx="3">
                  <c:v>6.699351999999999</c:v>
                </c:pt>
                <c:pt idx="4">
                  <c:v>7.631191000000001</c:v>
                </c:pt>
                <c:pt idx="5">
                  <c:v>8.604132</c:v>
                </c:pt>
                <c:pt idx="6">
                  <c:v>9.619338</c:v>
                </c:pt>
                <c:pt idx="7">
                  <c:v>10.672974</c:v>
                </c:pt>
                <c:pt idx="8">
                  <c:v>11.774093</c:v>
                </c:pt>
                <c:pt idx="9">
                  <c:v>12.926205</c:v>
                </c:pt>
                <c:pt idx="10">
                  <c:v>14.135847000000002</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numFmt formatCode="#,##0,&quot;K&quot;" sourceLinked="0"/>
        <c:majorTickMark val="none"/>
        <c:minorTickMark val="none"/>
        <c:tickLblPos val="none"/>
        <c:spPr>
          <a:ln>
            <a:no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E72AE"/>
            </a:solidFill>
            <a:ln>
              <a:noFill/>
            </a:ln>
          </c:spPr>
          <c:cat>
            <c:strRef>
              <c:f>Sheet1!$A$2:$A$3</c:f>
              <c:strCache>
                <c:ptCount val="2"/>
                <c:pt idx="0">
                  <c:v>U.S.</c:v>
                </c:pt>
                <c:pt idx="1">
                  <c:v>Canada</c:v>
                </c:pt>
              </c:strCache>
            </c:strRef>
          </c:cat>
          <c:val>
            <c:numRef>
              <c:f>Sheet1!$B$2:$B$3</c:f>
              <c:numCache>
                <c:formatCode>General</c:formatCode>
                <c:ptCount val="2"/>
                <c:pt idx="0">
                  <c:v>82.34852237266472</c:v>
                </c:pt>
                <c:pt idx="1">
                  <c:v>105.83353354491769</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178"/>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E72AE"/>
            </a:solidFill>
            <a:ln>
              <a:noFill/>
            </a:ln>
          </c:spPr>
          <c:cat>
            <c:strRef>
              <c:f>Sheet1!$A$2:$A$3</c:f>
              <c:strCache>
                <c:ptCount val="2"/>
                <c:pt idx="0">
                  <c:v>U.S.</c:v>
                </c:pt>
                <c:pt idx="1">
                  <c:v>Canada</c:v>
                </c:pt>
              </c:strCache>
            </c:strRef>
          </c:cat>
          <c:val>
            <c:numRef>
              <c:f>Sheet1!$B$2:$B$3</c:f>
              <c:numCache>
                <c:formatCode>General</c:formatCode>
                <c:ptCount val="2"/>
                <c:pt idx="0">
                  <c:v>20.25392290329237</c:v>
                </c:pt>
                <c:pt idx="1">
                  <c:v>79.74607709670764</c:v>
                </c:pt>
              </c:numCache>
            </c:numRef>
          </c:val>
        </c:ser>
        <c:dLbls>
          <c:numFmt formatCode="0.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178"/>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2B2B2"/>
              </a:solidFill>
            </c:spPr>
          </c:dPt>
          <c:dLbls>
            <c:dLbl>
              <c:idx val="0"/>
              <c:tx>
                <c:rich>
                  <a:bodyPr/>
                  <a:lstStyle/>
                  <a:p>
                    <a:pPr>
                      <a:defRPr sz="850" b="1">
                        <a:solidFill>
                          <a:srgbClr val="FFFFFF"/>
                        </a:solidFill>
                        <a:latin typeface="Calibri"/>
                      </a:defRPr>
                    </a:pPr>
                    <a:r>
                      <a:t>10.4%</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11.3%</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11.0%</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11.6%</a:t>
                    </a:r>
                  </a:p>
                </c:rich>
              </c:tx>
              <c:showLegendKey val="0"/>
              <c:showVal val="1"/>
              <c:showCatName val="0"/>
              <c:showSerName val="0"/>
              <c:showPercent val="0"/>
              <c:showBubbleSize val="0"/>
            </c:dLbl>
            <c:dLbl>
              <c:idx val="4"/>
              <c:tx>
                <c:rich>
                  <a:bodyPr/>
                  <a:lstStyle/>
                  <a:p>
                    <a:pPr>
                      <a:defRPr sz="850" b="1">
                        <a:solidFill>
                          <a:srgbClr val="FFFFFF"/>
                        </a:solidFill>
                        <a:latin typeface="Calibri"/>
                      </a:defRPr>
                    </a:pPr>
                    <a:r>
                      <a:t>11.7%</a:t>
                    </a:r>
                  </a:p>
                </c:rich>
              </c:tx>
              <c:showLegendKey val="0"/>
              <c:showVal val="1"/>
              <c:showCatName val="0"/>
              <c:showSerName val="0"/>
              <c:showPercent val="0"/>
              <c:showBubbleSize val="0"/>
            </c:dLbl>
            <c:dLbl>
              <c:idx val="5"/>
              <c:tx>
                <c:rich>
                  <a:bodyPr/>
                  <a:lstStyle/>
                  <a:p>
                    <a:pPr>
                      <a:defRPr sz="850" b="1">
                        <a:solidFill>
                          <a:srgbClr val="FFFFFF"/>
                        </a:solidFill>
                        <a:latin typeface="Calibri"/>
                      </a:defRPr>
                    </a:pPr>
                    <a:r>
                      <a:t>4.4%</a:t>
                    </a:r>
                  </a:p>
                </c:rich>
              </c:tx>
              <c:showLegendKey val="0"/>
              <c:showVal val="1"/>
              <c:showCatName val="0"/>
              <c:showSerName val="0"/>
              <c:showPercent val="0"/>
              <c:showBubbleSize val="0"/>
            </c:dLbl>
            <c:dLbl>
              <c:idx val="6"/>
              <c:tx>
                <c:rich>
                  <a:bodyPr/>
                  <a:lstStyle/>
                  <a:p>
                    <a:pPr>
                      <a:defRPr sz="850" b="1">
                        <a:solidFill>
                          <a:srgbClr val="FFFFFF"/>
                        </a:solidFill>
                        <a:latin typeface="Calibri"/>
                      </a:defRPr>
                    </a:pPr>
                    <a:r>
                      <a:t>11.2%</a:t>
                    </a:r>
                  </a:p>
                </c:rich>
              </c:tx>
              <c:showLegendKey val="0"/>
              <c:showVal val="1"/>
              <c:showCatName val="0"/>
              <c:showSerName val="0"/>
              <c:showPercent val="0"/>
              <c:showBubbleSize val="0"/>
            </c:dLbl>
            <c:dLbl>
              <c:idx val="7"/>
              <c:tx>
                <c:rich>
                  <a:bodyPr/>
                  <a:lstStyle/>
                  <a:p>
                    <a:pPr>
                      <a:defRPr sz="850" b="1">
                        <a:solidFill>
                          <a:srgbClr val="FFFFFF"/>
                        </a:solidFill>
                        <a:latin typeface="Calibri"/>
                      </a:defRPr>
                    </a:pPr>
                    <a:r>
                      <a:t>7.8%</a:t>
                    </a:r>
                  </a:p>
                </c:rich>
              </c:tx>
              <c:showLegendKey val="0"/>
              <c:showVal val="1"/>
              <c:showCatName val="0"/>
              <c:showSerName val="0"/>
              <c:showPercent val="0"/>
              <c:showBubbleSize val="0"/>
            </c:dLbl>
            <c:dLbl>
              <c:idx val="8"/>
              <c:tx>
                <c:rich>
                  <a:bodyPr/>
                  <a:lstStyle/>
                  <a:p>
                    <a:pPr>
                      <a:defRPr sz="850" b="1">
                        <a:solidFill>
                          <a:srgbClr val="FFFFFF"/>
                        </a:solidFill>
                        <a:latin typeface="Calibri"/>
                      </a:defRPr>
                    </a:pPr>
                    <a:r>
                      <a:t>4.6%</a:t>
                    </a:r>
                  </a:p>
                </c:rich>
              </c:tx>
              <c:showLegendKey val="0"/>
              <c:showVal val="1"/>
              <c:showCatName val="0"/>
              <c:showSerName val="0"/>
              <c:showPercent val="0"/>
              <c:showBubbleSize val="0"/>
            </c:dLbl>
            <c:dLbl>
              <c:idx val="9"/>
              <c:tx>
                <c:rich>
                  <a:bodyPr/>
                  <a:lstStyle/>
                  <a:p>
                    <a:pPr>
                      <a:defRPr sz="850" b="1">
                        <a:solidFill>
                          <a:srgbClr val="FFFFFF"/>
                        </a:solidFill>
                        <a:latin typeface="Calibri"/>
                      </a:defRPr>
                    </a:pPr>
                    <a:r>
                      <a:t>6.9%</a:t>
                    </a:r>
                  </a:p>
                </c:rich>
              </c:tx>
              <c:showLegendKey val="0"/>
              <c:showVal val="1"/>
              <c:showCatName val="0"/>
              <c:showSerName val="0"/>
              <c:showPercent val="0"/>
              <c:showBubbleSize val="0"/>
            </c:dLbl>
            <c:dLbl>
              <c:idx val="10"/>
              <c:tx>
                <c:rich>
                  <a:bodyPr/>
                  <a:lstStyle/>
                  <a:p>
                    <a:pPr>
                      <a:defRPr sz="850" b="1">
                        <a:solidFill>
                          <a:srgbClr val="2E2E2E"/>
                        </a:solidFill>
                        <a:latin typeface="Calibri"/>
                      </a:defRPr>
                    </a:pPr>
                    <a:r>
                      <a:t>9.1%</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Sheet1!$A$2:$A$12</c:f>
              <c:strCache>
                <c:ptCount val="11"/>
                <c:pt idx="0">
                  <c:v>Amjevita / Amgevita</c:v>
                </c:pt>
                <c:pt idx="1">
                  <c:v>Cyltezo</c:v>
                </c:pt>
                <c:pt idx="2">
                  <c:v>Hadlima / Imraldi</c:v>
                </c:pt>
                <c:pt idx="3">
                  <c:v>Hyrimoz / Halimatoz / Hefiya</c:v>
                </c:pt>
                <c:pt idx="4">
                  <c:v>Idacio</c:v>
                </c:pt>
                <c:pt idx="5">
                  <c:v>Hulio</c:v>
                </c:pt>
                <c:pt idx="6">
                  <c:v>Abrilada / Amsparity</c:v>
                </c:pt>
                <c:pt idx="7">
                  <c:v>Yusimry</c:v>
                </c:pt>
                <c:pt idx="8">
                  <c:v>Yuflyma</c:v>
                </c:pt>
                <c:pt idx="9">
                  <c:v>Simlandi</c:v>
                </c:pt>
                <c:pt idx="10">
                  <c:v>Other approved adalimumab biosimilars</c:v>
                </c:pt>
              </c:strCache>
            </c:strRef>
          </c:cat>
          <c:val>
            <c:numRef>
              <c:f>Sheet1!$B$2:$B$12</c:f>
              <c:numCache>
                <c:formatCode>General</c:formatCode>
                <c:ptCount val="11"/>
                <c:pt idx="0">
                  <c:v>463.204</c:v>
                </c:pt>
                <c:pt idx="1">
                  <c:v>506.083</c:v>
                </c:pt>
                <c:pt idx="2">
                  <c:v>493.295</c:v>
                </c:pt>
                <c:pt idx="3">
                  <c:v>517.855</c:v>
                </c:pt>
                <c:pt idx="4">
                  <c:v>525.781</c:v>
                </c:pt>
                <c:pt idx="5">
                  <c:v>197.566</c:v>
                </c:pt>
                <c:pt idx="6">
                  <c:v>499.105</c:v>
                </c:pt>
                <c:pt idx="7">
                  <c:v>348.414</c:v>
                </c:pt>
                <c:pt idx="8">
                  <c:v>208.041</c:v>
                </c:pt>
                <c:pt idx="9">
                  <c:v>307.133</c:v>
                </c:pt>
                <c:pt idx="10">
                  <c:v>408.264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S1</c:v>
                </c:pt>
              </c:strCache>
            </c:strRef>
          </c:tx>
          <c:spPr>
            <a:ln w="22225">
              <a:solidFill>
                <a:srgbClr val="0E72AE"/>
              </a:solidFill>
            </a:ln>
          </c:spPr>
          <c:cat>
            <c:strRef>
              <c:f>Sheet1!$A$2:$A$4</c:f>
              <c:strCache>
                <c:ptCount val="3"/>
                <c:pt idx="0">
                  <c:v>Optimistic</c:v>
                </c:pt>
                <c:pt idx="1">
                  <c:v>Likely</c:v>
                </c:pt>
                <c:pt idx="2">
                  <c:v>Conservative</c:v>
                </c:pt>
              </c:strCache>
            </c:strRef>
          </c:cat>
          <c:val>
            <c:numRef>
              <c:f>Sheet1!$B$2:$B$4</c:f>
              <c:numCache>
                <c:formatCode>General</c:formatCode>
                <c:ptCount val="3"/>
                <c:pt idx="0">
                  <c:v>10.65804522375008</c:v>
                </c:pt>
                <c:pt idx="1">
                  <c:v>8.526436179000063</c:v>
                </c:pt>
                <c:pt idx="2">
                  <c:v>6.394827134250047</c:v>
                </c:pt>
              </c:numCache>
            </c:numRef>
          </c:val>
          <c:smooth val="0"/>
        </c:ser>
        <c:dLbls>
          <c:numFmt formatCode="0.0&quot;%&quot;" sourceLinked="0"/>
          <c:txPr>
            <a:bodyPr rot="0" vert="horz"/>
            <a:lstStyle/>
            <a:p>
              <a:pPr>
                <a:defRPr sz="700">
                  <a:latin typeface="Calibri"/>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850"/>
            </a:pPr>
          </a:p>
        </c:txPr>
        <c:crossAx val="2140495176"/>
        <c:crosses val="autoZero"/>
        <c:auto val="1"/>
        <c:lblAlgn val="ctr"/>
        <c:lblOffset val="100"/>
        <c:noMultiLvlLbl val="0"/>
        <c:tickLblSkip val="1"/>
        <c:tickMarkSkip val="1"/>
      </c:catAx>
      <c:valAx>
        <c:axId val="2140495176"/>
        <c:scaling>
          <c:max val="13.855458790875103"/>
          <c:min val="0.0"/>
        </c:scaling>
        <c:delete val="0"/>
        <c:axPos val="l"/>
        <c:numFmt formatCode="0&quot;%&quot;" sourceLinked="0"/>
        <c:majorTickMark val="out"/>
        <c:minorTickMark val="none"/>
        <c:tickLblPos val="nextTo"/>
        <c:spPr>
          <a:ln>
            <a:solidFill>
              <a:srgbClr val="C6D5E1"/>
            </a:solidFill>
          </a:ln>
        </c:spPr>
        <c:txPr>
          <a:bodyPr/>
          <a:lstStyle/>
          <a:p>
            <a:pPr>
              <a:defRPr sz="850"/>
            </a:pPr>
          </a:p>
        </c:txPr>
        <c:crossAx val="2118791784"/>
        <c:crosses val="autoZero"/>
      </c:valAx>
    </c:plotArea>
    <c:plotVisOnly val="1"/>
    <c:dispBlanksAs val="gap"/>
    <c:showDLblsOverMax val="0"/>
  </c:chart>
  <c:txPr>
    <a:bodyPr/>
    <a:lstStyle/>
    <a:p>
      <a:pPr>
        <a:defRPr sz="800">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Optimistic</c:v>
                </c:pt>
              </c:strCache>
            </c:strRef>
          </c:tx>
          <c:spPr>
            <a:solidFill>
              <a:srgbClr val="3D85C6"/>
            </a:solidFill>
            <a:ln>
              <a:noFill/>
            </a:ln>
          </c:spP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1974.2969999999998</c:v>
                </c:pt>
                <c:pt idx="1">
                  <c:v>2184.7184671111413</c:v>
                </c:pt>
                <c:pt idx="2">
                  <c:v>2417.566749347466</c:v>
                </c:pt>
                <c:pt idx="3">
                  <c:v>2675.2321068072642</c:v>
                </c:pt>
                <c:pt idx="4">
                  <c:v>2960.359554591065</c:v>
                </c:pt>
                <c:pt idx="5">
                  <c:v>3275.8760147049875</c:v>
                </c:pt>
                <c:pt idx="6">
                  <c:v>3625.0203618262267</c:v>
                </c:pt>
                <c:pt idx="7">
                  <c:v>4011.376671359815</c:v>
                </c:pt>
                <c:pt idx="8">
                  <c:v>4438.911011088306</c:v>
                </c:pt>
                <c:pt idx="9">
                  <c:v>4912.01215409212</c:v>
                </c:pt>
                <c:pt idx="10">
                  <c:v>5435.536630871358</c:v>
                </c:pt>
              </c:numCache>
            </c:numRef>
          </c:val>
        </c:ser>
        <c:ser>
          <c:idx val="1"/>
          <c:order val="1"/>
          <c:tx>
            <c:strRef>
              <c:f>Sheet1!$C$1</c:f>
              <c:strCache>
                <c:ptCount val="1"/>
                <c:pt idx="0">
                  <c:v>Likely</c:v>
                </c:pt>
              </c:strCache>
            </c:strRef>
          </c:tx>
          <c:spPr>
            <a:solidFill>
              <a:srgbClr val="9E7E0A"/>
            </a:solidFill>
            <a:ln>
              <a:noFill/>
            </a:ln>
          </c:spP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1974.2969999999998</c:v>
                </c:pt>
                <c:pt idx="1">
                  <c:v>2263.314</c:v>
                </c:pt>
                <c:pt idx="2">
                  <c:v>2542.1620000000003</c:v>
                </c:pt>
                <c:pt idx="3">
                  <c:v>2814.3079999999995</c:v>
                </c:pt>
                <c:pt idx="4">
                  <c:v>3078.624</c:v>
                </c:pt>
                <c:pt idx="5">
                  <c:v>3333.5199999999995</c:v>
                </c:pt>
                <c:pt idx="6">
                  <c:v>3579.142</c:v>
                </c:pt>
                <c:pt idx="7">
                  <c:v>3813.8450000000003</c:v>
                </c:pt>
                <c:pt idx="8">
                  <c:v>4040.6850000000004</c:v>
                </c:pt>
                <c:pt idx="9">
                  <c:v>4260.442999999999</c:v>
                </c:pt>
                <c:pt idx="10">
                  <c:v>4474.741</c:v>
                </c:pt>
              </c:numCache>
            </c:numRef>
          </c:val>
        </c:ser>
        <c:ser>
          <c:idx val="2"/>
          <c:order val="2"/>
          <c:tx>
            <c:strRef>
              <c:f>Sheet1!$D$1</c:f>
              <c:strCache>
                <c:ptCount val="1"/>
                <c:pt idx="0">
                  <c:v>Conservative</c:v>
                </c:pt>
              </c:strCache>
            </c:strRef>
          </c:tx>
          <c:spPr>
            <a:solidFill>
              <a:srgbClr val="008189"/>
            </a:solidFill>
            <a:ln>
              <a:noFill/>
            </a:ln>
          </c:spP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Sheet1!$D$2:$D$12</c:f>
              <c:numCache>
                <c:formatCode>General</c:formatCode>
                <c:ptCount val="11"/>
                <c:pt idx="0">
                  <c:v>1974.2969999999998</c:v>
                </c:pt>
                <c:pt idx="1">
                  <c:v>2100.5498802666843</c:v>
                </c:pt>
                <c:pt idx="2">
                  <c:v>2234.876413978435</c:v>
                </c:pt>
                <c:pt idx="3">
                  <c:v>2377.7928973164817</c:v>
                </c:pt>
                <c:pt idx="4">
                  <c:v>2529.848642710346</c:v>
                </c:pt>
                <c:pt idx="5">
                  <c:v>2691.6280901698437</c:v>
                </c:pt>
                <c:pt idx="6">
                  <c:v>2863.7530536331215</c:v>
                </c:pt>
                <c:pt idx="7">
                  <c:v>3046.8851109647658</c:v>
                </c:pt>
                <c:pt idx="8">
                  <c:v>3241.728146790165</c:v>
                </c:pt>
                <c:pt idx="9">
                  <c:v>3449.0310579397233</c:v>
                </c:pt>
                <c:pt idx="10">
                  <c:v>3669.590631901564</c:v>
                </c:pt>
              </c:numCache>
            </c:numRef>
          </c:val>
        </c:ser>
        <c:dLbls>
          <c:numFmt formatCode="#,##0" sourceLinked="0"/>
          <c:txPr>
            <a:bodyPr rot="-5400000" vert="horz"/>
            <a:lstStyle/>
            <a:p>
              <a:pPr>
                <a:defRPr sz="6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7066.197620132766"/>
          <c:min val="0.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Canada</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71.71716467917362</c:v>
                </c:pt>
                <c:pt idx="1">
                  <c:v>70.0970801395912</c:v>
                </c:pt>
              </c:numCache>
            </c:numRef>
          </c:val>
        </c:ser>
        <c:ser>
          <c:idx val="1"/>
          <c:order val="1"/>
          <c:tx>
            <c:strRef>
              <c:f>Sheet1!$C$1</c:f>
              <c:strCache>
                <c:ptCount val="1"/>
                <c:pt idx="0">
                  <c:v>U.S.</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28.282835320826376</c:v>
                </c:pt>
                <c:pt idx="1">
                  <c:v>29.90291986040879</c:v>
                </c:pt>
              </c:numCache>
            </c:numRef>
          </c:val>
        </c:ser>
        <c:gapWidth val="178"/>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Canada</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73.58472408153382</c:v>
                </c:pt>
                <c:pt idx="1">
                  <c:v>77.02763131989092</c:v>
                </c:pt>
              </c:numCache>
            </c:numRef>
          </c:val>
        </c:ser>
        <c:ser>
          <c:idx val="1"/>
          <c:order val="1"/>
          <c:tx>
            <c:strRef>
              <c:f>Sheet1!$C$1</c:f>
              <c:strCache>
                <c:ptCount val="1"/>
                <c:pt idx="0">
                  <c:v>U.S.</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26.415275918466165</c:v>
                </c:pt>
                <c:pt idx="1">
                  <c:v>22.97236868010908</c:v>
                </c:pt>
              </c:numCache>
            </c:numRef>
          </c:val>
        </c:ser>
        <c:gapWidth val="178"/>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Canada</c:v>
                </c:pt>
              </c:strCache>
            </c:strRef>
          </c:tx>
          <c:spPr>
            <a:solidFill>
              <a:srgbClr val="3D85C6"/>
            </a:solidFill>
            <a:ln>
              <a:noFill/>
            </a:ln>
          </c:spPr>
          <c:dLbls>
            <c:numFmt formatCode="0.0"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1.064103</c:v>
                </c:pt>
                <c:pt idx="1">
                  <c:v>1.242526</c:v>
                </c:pt>
                <c:pt idx="2">
                  <c:v>1.538963</c:v>
                </c:pt>
                <c:pt idx="3">
                  <c:v>1.967007</c:v>
                </c:pt>
                <c:pt idx="4">
                  <c:v>2.460467</c:v>
                </c:pt>
                <c:pt idx="5">
                  <c:v>2.984948</c:v>
                </c:pt>
                <c:pt idx="6">
                  <c:v>3.555447</c:v>
                </c:pt>
                <c:pt idx="7">
                  <c:v>4.149219</c:v>
                </c:pt>
                <c:pt idx="8">
                  <c:v>4.772401</c:v>
                </c:pt>
                <c:pt idx="9">
                  <c:v>5.42391</c:v>
                </c:pt>
                <c:pt idx="10">
                  <c:v>6.101515</c:v>
                </c:pt>
                <c:pt idx="11">
                  <c:v>6.805825</c:v>
                </c:pt>
                <c:pt idx="12">
                  <c:v>7.533911</c:v>
                </c:pt>
                <c:pt idx="13">
                  <c:v>8.291945</c:v>
                </c:pt>
                <c:pt idx="14">
                  <c:v>9.082141</c:v>
                </c:pt>
                <c:pt idx="15">
                  <c:v>9.908816</c:v>
                </c:pt>
              </c:numCache>
            </c:numRef>
          </c:val>
        </c:ser>
        <c:ser>
          <c:idx val="1"/>
          <c:order val="1"/>
          <c:tx>
            <c:strRef>
              <c:f>Sheet1!$C$1</c:f>
              <c:strCache>
                <c:ptCount val="1"/>
                <c:pt idx="0">
                  <c:v>U.S.</c:v>
                </c:pt>
              </c:strCache>
            </c:strRef>
          </c:tx>
          <c:spPr>
            <a:solidFill>
              <a:srgbClr val="9E7E0A"/>
            </a:solidFill>
            <a:ln>
              <a:noFill/>
            </a:ln>
          </c:spPr>
          <c:dLbls>
            <c:numFmt formatCode="0.0"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0.403484</c:v>
                </c:pt>
                <c:pt idx="1">
                  <c:v>0.474853</c:v>
                </c:pt>
                <c:pt idx="2">
                  <c:v>0.59278</c:v>
                </c:pt>
                <c:pt idx="3">
                  <c:v>0.76363</c:v>
                </c:pt>
                <c:pt idx="4">
                  <c:v>0.962733</c:v>
                </c:pt>
                <c:pt idx="5">
                  <c:v>1.177163</c:v>
                </c:pt>
                <c:pt idx="6">
                  <c:v>1.413205</c:v>
                </c:pt>
                <c:pt idx="7">
                  <c:v>1.662221</c:v>
                </c:pt>
                <c:pt idx="8">
                  <c:v>1.926951</c:v>
                </c:pt>
                <c:pt idx="9">
                  <c:v>2.207281</c:v>
                </c:pt>
                <c:pt idx="10">
                  <c:v>2.502617</c:v>
                </c:pt>
                <c:pt idx="11">
                  <c:v>2.813513</c:v>
                </c:pt>
                <c:pt idx="12">
                  <c:v>3.139063</c:v>
                </c:pt>
                <c:pt idx="13">
                  <c:v>3.482148</c:v>
                </c:pt>
                <c:pt idx="14">
                  <c:v>3.844064</c:v>
                </c:pt>
                <c:pt idx="15">
                  <c:v>4.227031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Canada</c:v>
                </c:pt>
              </c:strCache>
            </c:strRef>
          </c:tx>
          <c:spPr>
            <a:solidFill>
              <a:srgbClr val="3D85C6"/>
            </a:solidFill>
            <a:ln>
              <a:noFill/>
            </a:ln>
          </c:spPr>
          <c:dLbls>
            <c:numFmt formatCode="#,##0"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611.706</c:v>
                </c:pt>
                <c:pt idx="1">
                  <c:v>690.942</c:v>
                </c:pt>
                <c:pt idx="2">
                  <c:v>827.797</c:v>
                </c:pt>
                <c:pt idx="3">
                  <c:v>1023.392</c:v>
                </c:pt>
                <c:pt idx="4">
                  <c:v>1238.159</c:v>
                </c:pt>
                <c:pt idx="5">
                  <c:v>1452.781</c:v>
                </c:pt>
                <c:pt idx="6">
                  <c:v>1673.573</c:v>
                </c:pt>
                <c:pt idx="7">
                  <c:v>1888.803</c:v>
                </c:pt>
                <c:pt idx="8">
                  <c:v>2100.922</c:v>
                </c:pt>
                <c:pt idx="9">
                  <c:v>2308.987</c:v>
                </c:pt>
                <c:pt idx="10">
                  <c:v>2511.694</c:v>
                </c:pt>
                <c:pt idx="11">
                  <c:v>2709.028</c:v>
                </c:pt>
                <c:pt idx="12">
                  <c:v>2899.62</c:v>
                </c:pt>
                <c:pt idx="13">
                  <c:v>3085.669</c:v>
                </c:pt>
                <c:pt idx="14">
                  <c:v>3267.673</c:v>
                </c:pt>
                <c:pt idx="15">
                  <c:v>3446.787</c:v>
                </c:pt>
              </c:numCache>
            </c:numRef>
          </c:val>
        </c:ser>
        <c:ser>
          <c:idx val="1"/>
          <c:order val="1"/>
          <c:tx>
            <c:strRef>
              <c:f>Sheet1!$C$1</c:f>
              <c:strCache>
                <c:ptCount val="1"/>
                <c:pt idx="0">
                  <c:v>U.S.</c:v>
                </c:pt>
              </c:strCache>
            </c:strRef>
          </c:tx>
          <c:spPr>
            <a:solidFill>
              <a:srgbClr val="9E7E0A"/>
            </a:solidFill>
            <a:ln>
              <a:noFill/>
            </a:ln>
          </c:spPr>
          <c:dLbls>
            <c:numFmt formatCode="#,##0"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240.915</c:v>
                </c:pt>
                <c:pt idx="1">
                  <c:v>267.124</c:v>
                </c:pt>
                <c:pt idx="2">
                  <c:v>314.155</c:v>
                </c:pt>
                <c:pt idx="3">
                  <c:v>381.251</c:v>
                </c:pt>
                <c:pt idx="4">
                  <c:v>452.787</c:v>
                </c:pt>
                <c:pt idx="5">
                  <c:v>521.516</c:v>
                </c:pt>
                <c:pt idx="6">
                  <c:v>589.741</c:v>
                </c:pt>
                <c:pt idx="7">
                  <c:v>653.359</c:v>
                </c:pt>
                <c:pt idx="8">
                  <c:v>713.386</c:v>
                </c:pt>
                <c:pt idx="9">
                  <c:v>769.637</c:v>
                </c:pt>
                <c:pt idx="10">
                  <c:v>821.826</c:v>
                </c:pt>
                <c:pt idx="11">
                  <c:v>870.114</c:v>
                </c:pt>
                <c:pt idx="12">
                  <c:v>914.225</c:v>
                </c:pt>
                <c:pt idx="13">
                  <c:v>955.016</c:v>
                </c:pt>
                <c:pt idx="14">
                  <c:v>992.77</c:v>
                </c:pt>
                <c:pt idx="15">
                  <c:v>1027.954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Amjevita / Amgevita</c:v>
                </c:pt>
              </c:strCache>
            </c:strRef>
          </c:tx>
          <c:spPr>
            <a:solidFill>
              <a:srgbClr val="3D85C6"/>
            </a:solidFill>
            <a:ln>
              <a:noFill/>
            </a:ln>
          </c:spPr>
          <c:dLbls>
            <c:dLbl>
              <c:idx val="0"/>
              <c:tx>
                <c:rich>
                  <a:bodyPr/>
                  <a:lstStyle/>
                  <a:p>
                    <a:r>
                      <a:rPr sz="750">
                        <a:solidFill>
                          <a:srgbClr val="FFFFFF"/>
                        </a:solidFill>
                        <a:latin typeface="Calibri"/>
                      </a:rPr>
                      <a:t>9%</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Sheet1!$B$2:$B$3</c:f>
              <c:numCache>
                <c:formatCode>General</c:formatCode>
                <c:ptCount val="2"/>
                <c:pt idx="0">
                  <c:v>8.696692653562318</c:v>
                </c:pt>
                <c:pt idx="1">
                  <c:v>13.348431452248136</c:v>
                </c:pt>
              </c:numCache>
            </c:numRef>
          </c:val>
        </c:ser>
        <c:ser>
          <c:idx val="1"/>
          <c:order val="1"/>
          <c:tx>
            <c:strRef>
              <c:f>Sheet1!$C$1</c:f>
              <c:strCache>
                <c:ptCount val="1"/>
                <c:pt idx="0">
                  <c:v>Cyltezo</c:v>
                </c:pt>
              </c:strCache>
            </c:strRef>
          </c:tx>
          <c:spPr>
            <a:solidFill>
              <a:srgbClr val="9E7E0A"/>
            </a:solidFill>
            <a:ln>
              <a:noFill/>
            </a:ln>
          </c:spPr>
          <c:dLbls>
            <c:dLbl>
              <c:idx val="0"/>
              <c:tx>
                <c:rich>
                  <a:bodyPr/>
                  <a:lstStyle/>
                  <a:p>
                    <a:r>
                      <a:rPr sz="750">
                        <a:solidFill>
                          <a:srgbClr val="FFFFFF"/>
                        </a:solidFill>
                        <a:latin typeface="Calibri"/>
                      </a:rPr>
                      <a:t>8%</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Sheet1!$C$2:$C$3</c:f>
              <c:numCache>
                <c:formatCode>General</c:formatCode>
                <c:ptCount val="2"/>
                <c:pt idx="0">
                  <c:v>7.691881154215073</c:v>
                </c:pt>
                <c:pt idx="1">
                  <c:v>10.995863684062869</c:v>
                </c:pt>
              </c:numCache>
            </c:numRef>
          </c:val>
        </c:ser>
        <c:ser>
          <c:idx val="2"/>
          <c:order val="2"/>
          <c:tx>
            <c:strRef>
              <c:f>Sheet1!$D$1</c:f>
              <c:strCache>
                <c:ptCount val="1"/>
                <c:pt idx="0">
                  <c:v>Hadlima / Imraldi</c:v>
                </c:pt>
              </c:strCache>
            </c:strRef>
          </c:tx>
          <c:spPr>
            <a:solidFill>
              <a:srgbClr val="008189"/>
            </a:solidFill>
            <a:ln>
              <a:noFill/>
            </a:ln>
          </c:spPr>
          <c:dLbls>
            <c:dLbl>
              <c:idx val="0"/>
              <c:tx>
                <c:rich>
                  <a:bodyPr/>
                  <a:lstStyle/>
                  <a:p>
                    <a:r>
                      <a:rPr sz="750">
                        <a:solidFill>
                          <a:srgbClr val="FFFFFF"/>
                        </a:solidFill>
                        <a:latin typeface="Calibri"/>
                      </a:rPr>
                      <a:t>10%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Sheet1!$D$2:$D$3</c:f>
              <c:numCache>
                <c:formatCode>General</c:formatCode>
                <c:ptCount val="2"/>
                <c:pt idx="0">
                  <c:v>10.27886461845569</c:v>
                </c:pt>
                <c:pt idx="1">
                  <c:v>4.969555705066776</c:v>
                </c:pt>
              </c:numCache>
            </c:numRef>
          </c:val>
        </c:ser>
        <c:ser>
          <c:idx val="3"/>
          <c:order val="3"/>
          <c:tx>
            <c:strRef>
              <c:f>Sheet1!$E$1</c:f>
              <c:strCache>
                <c:ptCount val="1"/>
                <c:pt idx="0">
                  <c:v>Hyrimoz / Halimatoz / Hefiya</c:v>
                </c:pt>
              </c:strCache>
            </c:strRef>
          </c:tx>
          <c:spPr>
            <a:solidFill>
              <a:srgbClr val="40315E"/>
            </a:solidFill>
            <a:ln>
              <a:noFill/>
            </a:ln>
          </c:spPr>
          <c:dLbls>
            <c:dLbl>
              <c:idx val="0"/>
              <c:tx>
                <c:rich>
                  <a:bodyPr/>
                  <a:lstStyle/>
                  <a:p>
                    <a:r>
                      <a:rPr sz="750">
                        <a:solidFill>
                          <a:srgbClr val="FFFFFF"/>
                        </a:solidFill>
                        <a:latin typeface="Calibri"/>
                      </a:rPr>
                      <a:t>12%</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Sheet1!$E$2:$E$3</c:f>
              <c:numCache>
                <c:formatCode>General</c:formatCode>
                <c:ptCount val="2"/>
                <c:pt idx="0">
                  <c:v>12.317769083052355</c:v>
                </c:pt>
                <c:pt idx="1">
                  <c:v>6.589992361001709</c:v>
                </c:pt>
              </c:numCache>
            </c:numRef>
          </c:val>
        </c:ser>
        <c:ser>
          <c:idx val="4"/>
          <c:order val="4"/>
          <c:tx>
            <c:strRef>
              <c:f>Sheet1!$F$1</c:f>
              <c:strCache>
                <c:ptCount val="1"/>
                <c:pt idx="0">
                  <c:v>Idacio</c:v>
                </c:pt>
              </c:strCache>
            </c:strRef>
          </c:tx>
          <c:spPr>
            <a:solidFill>
              <a:srgbClr val="A35313"/>
            </a:solidFill>
            <a:ln>
              <a:noFill/>
            </a:ln>
          </c:spPr>
          <c:dLbls>
            <c:dLbl>
              <c:idx val="0"/>
              <c:tx>
                <c:rich>
                  <a:bodyPr/>
                  <a:lstStyle/>
                  <a:p>
                    <a:r>
                      <a:rPr sz="750">
                        <a:solidFill>
                          <a:srgbClr val="FFFFFF"/>
                        </a:solidFill>
                        <a:latin typeface="Calibri"/>
                      </a:rPr>
                      <a:t>10%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Sheet1!$F$2:$F$3</c:f>
              <c:numCache>
                <c:formatCode>General</c:formatCode>
                <c:ptCount val="2"/>
                <c:pt idx="0">
                  <c:v>10.32050072279499</c:v>
                </c:pt>
                <c:pt idx="1">
                  <c:v>4.712852868483025</c:v>
                </c:pt>
              </c:numCache>
            </c:numRef>
          </c:val>
        </c:ser>
        <c:ser>
          <c:idx val="5"/>
          <c:order val="5"/>
          <c:tx>
            <c:strRef>
              <c:f>Sheet1!$G$1</c:f>
              <c:strCache>
                <c:ptCount val="1"/>
                <c:pt idx="0">
                  <c:v>Hulio</c:v>
                </c:pt>
              </c:strCache>
            </c:strRef>
          </c:tx>
          <c:spPr>
            <a:solidFill>
              <a:srgbClr val="808080"/>
            </a:solidFill>
            <a:ln>
              <a:noFill/>
            </a:ln>
          </c:spPr>
          <c:dLbls>
            <c:dLbl>
              <c:idx val="1"/>
              <c:tx>
                <c:rich>
                  <a:bodyPr/>
                  <a:lstStyle/>
                  <a:p>
                    <a:r>
                      <a:rPr sz="750">
                        <a:solidFill>
                          <a:srgbClr val="FFFFFF"/>
                        </a:solidFill>
                        <a:latin typeface="Calibri"/>
                      </a:rPr>
                      <a:t>10%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Sheet1!$G$2:$G$3</c:f>
              <c:numCache>
                <c:formatCode>General</c:formatCode>
                <c:ptCount val="2"/>
                <c:pt idx="0">
                  <c:v>6.129651715932814</c:v>
                </c:pt>
                <c:pt idx="1">
                  <c:v>9.944507740106946</c:v>
                </c:pt>
              </c:numCache>
            </c:numRef>
          </c:val>
        </c:ser>
        <c:ser>
          <c:idx val="6"/>
          <c:order val="6"/>
          <c:tx>
            <c:strRef>
              <c:f>Sheet1!$H$1</c:f>
              <c:strCache>
                <c:ptCount val="1"/>
                <c:pt idx="0">
                  <c:v>Abrilada / Amsparity</c:v>
                </c:pt>
              </c:strCache>
            </c:strRef>
          </c:tx>
          <c:spPr>
            <a:solidFill>
              <a:srgbClr val="0E72AE"/>
            </a:solidFill>
            <a:ln>
              <a:noFill/>
            </a:ln>
          </c:spPr>
          <c:dLbls>
            <c:dLbl>
              <c:idx val="0"/>
              <c:tx>
                <c:rich>
                  <a:bodyPr/>
                  <a:lstStyle/>
                  <a:p>
                    <a:r>
                      <a:rPr sz="750">
                        <a:solidFill>
                          <a:srgbClr val="FFFFFF"/>
                        </a:solidFill>
                        <a:latin typeface="Calibri"/>
                      </a:rPr>
                      <a:t>10%</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Sheet1!$H$2:$H$3</c:f>
              <c:numCache>
                <c:formatCode>General</c:formatCode>
                <c:ptCount val="2"/>
                <c:pt idx="0">
                  <c:v>10.353089729696077</c:v>
                </c:pt>
                <c:pt idx="1">
                  <c:v>7.964547852826414</c:v>
                </c:pt>
              </c:numCache>
            </c:numRef>
          </c:val>
        </c:ser>
        <c:ser>
          <c:idx val="7"/>
          <c:order val="7"/>
          <c:tx>
            <c:strRef>
              <c:f>Sheet1!$I$1</c:f>
              <c:strCache>
                <c:ptCount val="1"/>
                <c:pt idx="0">
                  <c:v>Yusimry</c:v>
                </c:pt>
              </c:strCache>
            </c:strRef>
          </c:tx>
          <c:spPr>
            <a:solidFill>
              <a:srgbClr val="A86F00"/>
            </a:solidFill>
            <a:ln>
              <a:noFill/>
            </a:ln>
          </c:spPr>
          <c:dLbls>
            <c:dLbl>
              <c:idx val="0"/>
              <c:tx>
                <c:rich>
                  <a:bodyPr/>
                  <a:lstStyle/>
                  <a:p>
                    <a:r>
                      <a:rPr sz="750">
                        <a:solidFill>
                          <a:srgbClr val="FFFFFF"/>
                        </a:solidFill>
                        <a:latin typeface="Calibri"/>
                      </a:rPr>
                      <a:t>8%</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12%</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Sheet1!$I$2:$I$3</c:f>
              <c:numCache>
                <c:formatCode>General</c:formatCode>
                <c:ptCount val="2"/>
                <c:pt idx="0">
                  <c:v>7.754043468871176</c:v>
                </c:pt>
                <c:pt idx="1">
                  <c:v>12.095438447458458</c:v>
                </c:pt>
              </c:numCache>
            </c:numRef>
          </c:val>
        </c:ser>
        <c:ser>
          <c:idx val="8"/>
          <c:order val="8"/>
          <c:tx>
            <c:strRef>
              <c:f>Sheet1!$J$1</c:f>
              <c:strCache>
                <c:ptCount val="1"/>
                <c:pt idx="0">
                  <c:v>Yuflyma</c:v>
                </c:pt>
              </c:strCache>
            </c:strRef>
          </c:tx>
          <c:spPr>
            <a:solidFill>
              <a:srgbClr val="0B2E4A"/>
            </a:solidFill>
            <a:ln>
              <a:noFill/>
            </a:ln>
          </c:spPr>
          <c:dLbls>
            <c:dLbl>
              <c:idx val="1"/>
              <c:tx>
                <c:rich>
                  <a:bodyPr/>
                  <a:lstStyle/>
                  <a:p>
                    <a:r>
                      <a:rPr sz="750">
                        <a:solidFill>
                          <a:srgbClr val="FFFFFF"/>
                        </a:solidFill>
                        <a:latin typeface="Calibri"/>
                      </a:rPr>
                      <a:t>13%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Sheet1!$J$2:$J$3</c:f>
              <c:numCache>
                <c:formatCode>General</c:formatCode>
                <c:ptCount val="2"/>
                <c:pt idx="0">
                  <c:v>5.616399177395097</c:v>
                </c:pt>
                <c:pt idx="1">
                  <c:v>13.053112942575215</c:v>
                </c:pt>
              </c:numCache>
            </c:numRef>
          </c:val>
        </c:ser>
        <c:ser>
          <c:idx val="9"/>
          <c:order val="9"/>
          <c:tx>
            <c:strRef>
              <c:f>Sheet1!$K$1</c:f>
              <c:strCache>
                <c:ptCount val="1"/>
                <c:pt idx="0">
                  <c:v>Simlandi</c:v>
                </c:pt>
              </c:strCache>
            </c:strRef>
          </c:tx>
          <c:spPr>
            <a:solidFill>
              <a:srgbClr val="6C7A89"/>
            </a:solidFill>
            <a:ln>
              <a:noFill/>
            </a:ln>
          </c:spPr>
          <c:dLbls>
            <c:dLbl>
              <c:idx val="0"/>
              <c:tx>
                <c:rich>
                  <a:bodyPr/>
                  <a:lstStyle/>
                  <a:p>
                    <a:r>
                      <a:rPr sz="750">
                        <a:solidFill>
                          <a:srgbClr val="FFFFFF"/>
                        </a:solidFill>
                        <a:latin typeface="Calibri"/>
                      </a:rPr>
                      <a:t>16%</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Sheet1!$K$2:$K$3</c:f>
              <c:numCache>
                <c:formatCode>General</c:formatCode>
                <c:ptCount val="2"/>
                <c:pt idx="0">
                  <c:v>15.543788924407123</c:v>
                </c:pt>
                <c:pt idx="1">
                  <c:v>7.45682863489969</c:v>
                </c:pt>
              </c:numCache>
            </c:numRef>
          </c:val>
        </c:ser>
        <c:ser>
          <c:idx val="10"/>
          <c:order val="10"/>
          <c:tx>
            <c:strRef>
              <c:f>Sheet1!$L$1</c:f>
              <c:strCache>
                <c:ptCount val="1"/>
                <c:pt idx="0">
                  <c:v>Other approved adalimumab biosimilars</c:v>
                </c:pt>
              </c:strCache>
            </c:strRef>
          </c:tx>
          <c:spPr>
            <a:solidFill>
              <a:srgbClr val="B2B2B2"/>
            </a:solidFill>
            <a:ln>
              <a:noFill/>
            </a:ln>
          </c:spPr>
          <c:dLbls>
            <c:dLbl>
              <c:idx val="1"/>
              <c:tx>
                <c:rich>
                  <a:bodyPr/>
                  <a:lstStyle/>
                  <a:p>
                    <a:r>
                      <a:rPr sz="750">
                        <a:solidFill>
                          <a:srgbClr val="2E2E2E"/>
                        </a:solidFill>
                        <a:latin typeface="Calibri"/>
                      </a:rPr>
                      <a:t>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Sheet1!$L$2:$L$3</c:f>
              <c:numCache>
                <c:formatCode>General</c:formatCode>
                <c:ptCount val="2"/>
                <c:pt idx="0">
                  <c:v>5.297318751617291</c:v>
                </c:pt>
                <c:pt idx="1">
                  <c:v>8.868868311270756</c:v>
                </c:pt>
              </c:numCache>
            </c:numRef>
          </c:val>
        </c:ser>
        <c:gapWidth val="178"/>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Amjevita / Amgevita</c:v>
                </c:pt>
              </c:strCache>
            </c:strRef>
          </c:tx>
          <c:spPr>
            <a:solidFill>
              <a:srgbClr val="3D85C6"/>
            </a:solidFill>
          </c:spPr>
          <c:invertIfNegative val="0"/>
          <c:xVal>
            <c:numRef>
              <c:f>Sheet1!$A$2:$A$2</c:f>
              <c:numCache>
                <c:formatCode>General</c:formatCode>
                <c:ptCount val="1"/>
                <c:pt idx="0">
                  <c:v>91.38943833452545</c:v>
                </c:pt>
              </c:numCache>
            </c:numRef>
          </c:xVal>
          <c:yVal>
            <c:numRef>
              <c:f>Sheet1!$B$2:$B$2</c:f>
              <c:numCache>
                <c:formatCode>General</c:formatCode>
                <c:ptCount val="1"/>
                <c:pt idx="0">
                  <c:v>121.86433955985345</c:v>
                </c:pt>
              </c:numCache>
            </c:numRef>
          </c:yVal>
          <c:bubbleSize>
            <c:numRef>
              <c:f>Sheet1!$C$2:$C$2</c:f>
              <c:numCache>
                <c:formatCode>General</c:formatCode>
                <c:ptCount val="1"/>
                <c:pt idx="0">
                  <c:v>463.204</c:v>
                </c:pt>
              </c:numCache>
            </c:numRef>
          </c:bubbleSize>
          <c:bubble3D val="0"/>
        </c:ser>
        <c:ser>
          <c:idx val="1"/>
          <c:order val="1"/>
          <c:tx>
            <c:strRef>
              <c:f>Sheet1!$B$4</c:f>
              <c:strCache>
                <c:ptCount val="1"/>
                <c:pt idx="0">
                  <c:v>Cyltezo</c:v>
                </c:pt>
              </c:strCache>
            </c:strRef>
          </c:tx>
          <c:spPr>
            <a:solidFill>
              <a:srgbClr val="9E7E0A"/>
            </a:solidFill>
          </c:spPr>
          <c:invertIfNegative val="0"/>
          <c:xVal>
            <c:numRef>
              <c:f>Sheet1!$A$5:$A$5</c:f>
              <c:numCache>
                <c:formatCode>General</c:formatCode>
                <c:ptCount val="1"/>
                <c:pt idx="0">
                  <c:v>118.56265622103213</c:v>
                </c:pt>
              </c:numCache>
            </c:numRef>
          </c:xVal>
          <c:yVal>
            <c:numRef>
              <c:f>Sheet1!$B$5:$B$5</c:f>
              <c:numCache>
                <c:formatCode>General</c:formatCode>
                <c:ptCount val="1"/>
                <c:pt idx="0">
                  <c:v>107.63836444060848</c:v>
                </c:pt>
              </c:numCache>
            </c:numRef>
          </c:yVal>
          <c:bubbleSize>
            <c:numRef>
              <c:f>Sheet1!$C$5:$C$5</c:f>
              <c:numCache>
                <c:formatCode>General</c:formatCode>
                <c:ptCount val="1"/>
                <c:pt idx="0">
                  <c:v>506.083</c:v>
                </c:pt>
              </c:numCache>
            </c:numRef>
          </c:bubbleSize>
          <c:bubble3D val="0"/>
        </c:ser>
        <c:ser>
          <c:idx val="2"/>
          <c:order val="2"/>
          <c:tx>
            <c:strRef>
              <c:f>Sheet1!$B$7</c:f>
              <c:strCache>
                <c:ptCount val="1"/>
                <c:pt idx="0">
                  <c:v>Hadlima / Imraldi</c:v>
                </c:pt>
              </c:strCache>
            </c:strRef>
          </c:tx>
          <c:spPr>
            <a:solidFill>
              <a:srgbClr val="008189"/>
            </a:solidFill>
          </c:spPr>
          <c:invertIfNegative val="0"/>
          <c:xVal>
            <c:numRef>
              <c:f>Sheet1!$A$8:$A$8</c:f>
              <c:numCache>
                <c:formatCode>General</c:formatCode>
                <c:ptCount val="1"/>
                <c:pt idx="0">
                  <c:v>111.94423707877037</c:v>
                </c:pt>
              </c:numCache>
            </c:numRef>
          </c:xVal>
          <c:yVal>
            <c:numRef>
              <c:f>Sheet1!$B$8:$B$8</c:f>
              <c:numCache>
                <c:formatCode>General</c:formatCode>
                <c:ptCount val="1"/>
                <c:pt idx="0">
                  <c:v>110.45035270782462</c:v>
                </c:pt>
              </c:numCache>
            </c:numRef>
          </c:yVal>
          <c:bubbleSize>
            <c:numRef>
              <c:f>Sheet1!$C$8:$C$8</c:f>
              <c:numCache>
                <c:formatCode>General</c:formatCode>
                <c:ptCount val="1"/>
                <c:pt idx="0">
                  <c:v>493.295</c:v>
                </c:pt>
              </c:numCache>
            </c:numRef>
          </c:bubbleSize>
          <c:bubble3D val="0"/>
        </c:ser>
        <c:ser>
          <c:idx val="3"/>
          <c:order val="3"/>
          <c:tx>
            <c:strRef>
              <c:f>Sheet1!$B$10</c:f>
              <c:strCache>
                <c:ptCount val="1"/>
                <c:pt idx="0">
                  <c:v>Hyrimoz / Halimatoz / Hefiya</c:v>
                </c:pt>
              </c:strCache>
            </c:strRef>
          </c:tx>
          <c:spPr>
            <a:solidFill>
              <a:srgbClr val="40315E"/>
            </a:solidFill>
          </c:spPr>
          <c:invertIfNegative val="0"/>
          <c:xVal>
            <c:numRef>
              <c:f>Sheet1!$A$11:$A$11</c:f>
              <c:numCache>
                <c:formatCode>General</c:formatCode>
                <c:ptCount val="1"/>
                <c:pt idx="0">
                  <c:v>104.17175239859573</c:v>
                </c:pt>
              </c:numCache>
            </c:numRef>
          </c:xVal>
          <c:yVal>
            <c:numRef>
              <c:f>Sheet1!$B$11:$B$11</c:f>
              <c:numCache>
                <c:formatCode>General</c:formatCode>
                <c:ptCount val="1"/>
                <c:pt idx="0">
                  <c:v>123.20319587174575</c:v>
                </c:pt>
              </c:numCache>
            </c:numRef>
          </c:yVal>
          <c:bubbleSize>
            <c:numRef>
              <c:f>Sheet1!$C$11:$C$11</c:f>
              <c:numCache>
                <c:formatCode>General</c:formatCode>
                <c:ptCount val="1"/>
                <c:pt idx="0">
                  <c:v>517.855</c:v>
                </c:pt>
              </c:numCache>
            </c:numRef>
          </c:bubbleSize>
          <c:bubble3D val="0"/>
        </c:ser>
        <c:ser>
          <c:idx val="4"/>
          <c:order val="4"/>
          <c:tx>
            <c:strRef>
              <c:f>Sheet1!$B$13</c:f>
              <c:strCache>
                <c:ptCount val="1"/>
                <c:pt idx="0">
                  <c:v>Idacio</c:v>
                </c:pt>
              </c:strCache>
            </c:strRef>
          </c:tx>
          <c:spPr>
            <a:solidFill>
              <a:srgbClr val="A35313"/>
            </a:solidFill>
          </c:spPr>
          <c:invertIfNegative val="0"/>
          <c:xVal>
            <c:numRef>
              <c:f>Sheet1!$A$14:$A$14</c:f>
              <c:numCache>
                <c:formatCode>General</c:formatCode>
                <c:ptCount val="1"/>
                <c:pt idx="0">
                  <c:v>110.94643784122947</c:v>
                </c:pt>
              </c:numCache>
            </c:numRef>
          </c:xVal>
          <c:yVal>
            <c:numRef>
              <c:f>Sheet1!$B$14:$B$14</c:f>
              <c:numCache>
                <c:formatCode>General</c:formatCode>
                <c:ptCount val="1"/>
                <c:pt idx="0">
                  <c:v>118.6422812778422</c:v>
                </c:pt>
              </c:numCache>
            </c:numRef>
          </c:yVal>
          <c:bubbleSize>
            <c:numRef>
              <c:f>Sheet1!$C$14:$C$14</c:f>
              <c:numCache>
                <c:formatCode>General</c:formatCode>
                <c:ptCount val="1"/>
                <c:pt idx="0">
                  <c:v>525.781</c:v>
                </c:pt>
              </c:numCache>
            </c:numRef>
          </c:bubbleSize>
          <c:bubble3D val="0"/>
        </c:ser>
        <c:ser>
          <c:idx val="5"/>
          <c:order val="5"/>
          <c:tx>
            <c:strRef>
              <c:f>Sheet1!$B$16</c:f>
              <c:strCache>
                <c:ptCount val="1"/>
                <c:pt idx="0">
                  <c:v>Hulio</c:v>
                </c:pt>
              </c:strCache>
            </c:strRef>
          </c:tx>
          <c:spPr>
            <a:solidFill>
              <a:srgbClr val="808080"/>
            </a:solidFill>
          </c:spPr>
          <c:invertIfNegative val="0"/>
          <c:xVal>
            <c:numRef>
              <c:f>Sheet1!$A$17:$A$17</c:f>
              <c:numCache>
                <c:formatCode>General</c:formatCode>
                <c:ptCount val="1"/>
                <c:pt idx="0">
                  <c:v>76.9221824681014</c:v>
                </c:pt>
              </c:numCache>
            </c:numRef>
          </c:xVal>
          <c:yVal>
            <c:numRef>
              <c:f>Sheet1!$B$17:$B$17</c:f>
              <c:numCache>
                <c:formatCode>General</c:formatCode>
                <c:ptCount val="1"/>
                <c:pt idx="0">
                  <c:v>58.31797343560772</c:v>
                </c:pt>
              </c:numCache>
            </c:numRef>
          </c:yVal>
          <c:bubbleSize>
            <c:numRef>
              <c:f>Sheet1!$C$17:$C$17</c:f>
              <c:numCache>
                <c:formatCode>General</c:formatCode>
                <c:ptCount val="1"/>
                <c:pt idx="0">
                  <c:v>197.566</c:v>
                </c:pt>
              </c:numCache>
            </c:numRef>
          </c:bubbleSize>
          <c:bubble3D val="0"/>
        </c:ser>
        <c:ser>
          <c:idx val="6"/>
          <c:order val="6"/>
          <c:tx>
            <c:strRef>
              <c:f>Sheet1!$B$19</c:f>
              <c:strCache>
                <c:ptCount val="1"/>
                <c:pt idx="0">
                  <c:v>Abrilada / Amsparity</c:v>
                </c:pt>
              </c:strCache>
            </c:strRef>
          </c:tx>
          <c:spPr>
            <a:solidFill>
              <a:srgbClr val="0E72AE"/>
            </a:solidFill>
          </c:spPr>
          <c:invertIfNegative val="0"/>
          <c:xVal>
            <c:numRef>
              <c:f>Sheet1!$A$20:$A$20</c:f>
              <c:numCache>
                <c:formatCode>General</c:formatCode>
                <c:ptCount val="1"/>
                <c:pt idx="0">
                  <c:v>105.24967372141451</c:v>
                </c:pt>
              </c:numCache>
            </c:numRef>
          </c:xVal>
          <c:yVal>
            <c:numRef>
              <c:f>Sheet1!$B$20:$B$20</c:f>
              <c:numCache>
                <c:formatCode>General</c:formatCode>
                <c:ptCount val="1"/>
                <c:pt idx="0">
                  <c:v>117.74469596013164</c:v>
                </c:pt>
              </c:numCache>
            </c:numRef>
          </c:yVal>
          <c:bubbleSize>
            <c:numRef>
              <c:f>Sheet1!$C$20:$C$20</c:f>
              <c:numCache>
                <c:formatCode>General</c:formatCode>
                <c:ptCount val="1"/>
                <c:pt idx="0">
                  <c:v>499.105</c:v>
                </c:pt>
              </c:numCache>
            </c:numRef>
          </c:bubbleSize>
          <c:bubble3D val="0"/>
        </c:ser>
        <c:ser>
          <c:idx val="7"/>
          <c:order val="7"/>
          <c:tx>
            <c:strRef>
              <c:f>Sheet1!$B$22</c:f>
              <c:strCache>
                <c:ptCount val="1"/>
                <c:pt idx="0">
                  <c:v>Yusimry</c:v>
                </c:pt>
              </c:strCache>
            </c:strRef>
          </c:tx>
          <c:spPr>
            <a:solidFill>
              <a:srgbClr val="A86F00"/>
            </a:solidFill>
          </c:spPr>
          <c:invertIfNegative val="0"/>
          <c:xVal>
            <c:numRef>
              <c:f>Sheet1!$A$23:$A$23</c:f>
              <c:numCache>
                <c:formatCode>General</c:formatCode>
                <c:ptCount val="1"/>
                <c:pt idx="0">
                  <c:v>74.24509036591222</c:v>
                </c:pt>
              </c:numCache>
            </c:numRef>
          </c:xVal>
          <c:yVal>
            <c:numRef>
              <c:f>Sheet1!$B$23:$B$23</c:f>
              <c:numCache>
                <c:formatCode>General</c:formatCode>
                <c:ptCount val="1"/>
                <c:pt idx="0">
                  <c:v>105.07486968779267</c:v>
                </c:pt>
              </c:numCache>
            </c:numRef>
          </c:yVal>
          <c:bubbleSize>
            <c:numRef>
              <c:f>Sheet1!$C$23:$C$23</c:f>
              <c:numCache>
                <c:formatCode>General</c:formatCode>
                <c:ptCount val="1"/>
                <c:pt idx="0">
                  <c:v>348.414</c:v>
                </c:pt>
              </c:numCache>
            </c:numRef>
          </c:bubbleSize>
          <c:bubble3D val="0"/>
        </c:ser>
        <c:ser>
          <c:idx val="8"/>
          <c:order val="8"/>
          <c:tx>
            <c:strRef>
              <c:f>Sheet1!$B$25</c:f>
              <c:strCache>
                <c:ptCount val="1"/>
                <c:pt idx="0">
                  <c:v>Yuflyma</c:v>
                </c:pt>
              </c:strCache>
            </c:strRef>
          </c:tx>
          <c:spPr>
            <a:solidFill>
              <a:srgbClr val="0B2E4A"/>
            </a:solidFill>
          </c:spPr>
          <c:invertIfNegative val="0"/>
          <c:xVal>
            <c:numRef>
              <c:f>Sheet1!$A$26:$A$26</c:f>
              <c:numCache>
                <c:formatCode>General</c:formatCode>
                <c:ptCount val="1"/>
                <c:pt idx="0">
                  <c:v>96.38601382561112</c:v>
                </c:pt>
              </c:numCache>
            </c:numRef>
          </c:xVal>
          <c:yVal>
            <c:numRef>
              <c:f>Sheet1!$B$26:$B$26</c:f>
              <c:numCache>
                <c:formatCode>General</c:formatCode>
                <c:ptCount val="1"/>
                <c:pt idx="0">
                  <c:v>52.61655161305517</c:v>
                </c:pt>
              </c:numCache>
            </c:numRef>
          </c:yVal>
          <c:bubbleSize>
            <c:numRef>
              <c:f>Sheet1!$C$26:$C$26</c:f>
              <c:numCache>
                <c:formatCode>General</c:formatCode>
                <c:ptCount val="1"/>
                <c:pt idx="0">
                  <c:v>208.041</c:v>
                </c:pt>
              </c:numCache>
            </c:numRef>
          </c:bubbleSize>
          <c:bubble3D val="0"/>
        </c:ser>
        <c:ser>
          <c:idx val="9"/>
          <c:order val="9"/>
          <c:tx>
            <c:strRef>
              <c:f>Sheet1!$B$28</c:f>
              <c:strCache>
                <c:ptCount val="1"/>
                <c:pt idx="0">
                  <c:v>Simlandi</c:v>
                </c:pt>
              </c:strCache>
            </c:strRef>
          </c:tx>
          <c:spPr>
            <a:solidFill>
              <a:srgbClr val="6C7A89"/>
            </a:solidFill>
          </c:spPr>
          <c:invertIfNegative val="0"/>
          <c:xVal>
            <c:numRef>
              <c:f>Sheet1!$A$29:$A$29</c:f>
              <c:numCache>
                <c:formatCode>General</c:formatCode>
                <c:ptCount val="1"/>
                <c:pt idx="0">
                  <c:v>90.26659671581366</c:v>
                </c:pt>
              </c:numCache>
            </c:numRef>
          </c:xVal>
          <c:yVal>
            <c:numRef>
              <c:f>Sheet1!$B$29:$B$29</c:f>
              <c:numCache>
                <c:formatCode>General</c:formatCode>
                <c:ptCount val="1"/>
                <c:pt idx="0">
                  <c:v>81.52481617507397</c:v>
                </c:pt>
              </c:numCache>
            </c:numRef>
          </c:yVal>
          <c:bubbleSize>
            <c:numRef>
              <c:f>Sheet1!$C$29:$C$29</c:f>
              <c:numCache>
                <c:formatCode>General</c:formatCode>
                <c:ptCount val="1"/>
                <c:pt idx="0">
                  <c:v>307.133</c:v>
                </c:pt>
              </c:numCache>
            </c:numRef>
          </c:bubbleSize>
          <c:bubble3D val="0"/>
        </c:ser>
        <c:ser>
          <c:idx val="10"/>
          <c:order val="10"/>
          <c:tx>
            <c:strRef>
              <c:f>Sheet1!$B$31</c:f>
              <c:strCache>
                <c:ptCount val="1"/>
                <c:pt idx="0">
                  <c:v>Other approved adalimumab biosimilars</c:v>
                </c:pt>
              </c:strCache>
            </c:strRef>
          </c:tx>
          <c:spPr>
            <a:solidFill>
              <a:srgbClr val="B2B2B2"/>
            </a:solidFill>
          </c:spPr>
          <c:invertIfNegative val="0"/>
          <c:xVal>
            <c:numRef>
              <c:f>Sheet1!$A$32:$A$32</c:f>
              <c:numCache>
                <c:formatCode>General</c:formatCode>
                <c:ptCount val="1"/>
                <c:pt idx="0">
                  <c:v>96.79638168710002</c:v>
                </c:pt>
              </c:numCache>
            </c:numRef>
          </c:xVal>
          <c:yVal>
            <c:numRef>
              <c:f>Sheet1!$B$32:$B$32</c:f>
              <c:numCache>
                <c:formatCode>General</c:formatCode>
                <c:ptCount val="1"/>
                <c:pt idx="0">
                  <c:v>102.92255927046439</c:v>
                </c:pt>
              </c:numCache>
            </c:numRef>
          </c:yVal>
          <c:bubbleSize>
            <c:numRef>
              <c:f>Sheet1!$C$32:$C$32</c:f>
              <c:numCache>
                <c:formatCode>General</c:formatCode>
                <c:ptCount val="1"/>
                <c:pt idx="0">
                  <c:v>408.264</c:v>
                </c:pt>
              </c:numCache>
            </c:numRef>
          </c:bubbleSize>
          <c:bubble3D val="0"/>
        </c:ser>
        <c:dLbls>
          <c:showLegendKey val="0"/>
          <c:showVal val="0"/>
          <c:showCatName val="0"/>
          <c:showSerName val="0"/>
          <c:showPercent val="0"/>
          <c:showBubbleSize val="0"/>
        </c:dLbls>
        <c:bubbleScale val="100"/>
        <c:showNegBubbles val="0"/>
        <c:axId val="-2115720072"/>
        <c:axId val="-2115723560"/>
      </c:bubbleChart>
      <c:valAx>
        <c:axId val="-2115720072"/>
        <c:scaling>
          <c:orientation val="minMax"/>
        </c:scaling>
        <c:delete val="0"/>
        <c:axPos val="b"/>
        <c:numFmt formatCode="General" sourceLinked="1"/>
        <c:majorTickMark val="out"/>
        <c:minorTickMark val="none"/>
        <c:tickLblPos val="nextTo"/>
        <c:spPr>
          <a:ln>
            <a:solidFill>
              <a:srgbClr val="C6D5E1"/>
            </a:solidFill>
          </a:ln>
        </c:spPr>
        <c:txPr>
          <a:bodyPr/>
          <a:lstStyle/>
          <a:p>
            <a:pPr>
              <a:defRPr sz="850"/>
            </a:pPr>
          </a:p>
        </c:txPr>
        <c:crossAx val="-2115723560"/>
        <c:crosses val="autoZero"/>
        <c:crossBetween val="midCat"/>
      </c:valAx>
      <c:valAx>
        <c:axId val="-2115723560"/>
        <c:scaling>
          <c:orientation val="minMax"/>
        </c:scaling>
        <c:delete val="0"/>
        <c:axPos val="l"/>
        <c:numFmt formatCode="General" sourceLinked="1"/>
        <c:majorTickMark val="out"/>
        <c:minorTickMark val="none"/>
        <c:tickLblPos val="nextTo"/>
        <c:spPr>
          <a:ln>
            <a:solidFill>
              <a:srgbClr val="C6D5E1"/>
            </a:solidFill>
          </a:ln>
        </c:spPr>
        <c:txPr>
          <a:bodyPr/>
          <a:lstStyle/>
          <a:p>
            <a:pPr>
              <a:defRPr sz="850"/>
            </a:pPr>
          </a:p>
        </c:txPr>
        <c:crossAx val="-2115720072"/>
        <c:crosses val="autoZero"/>
        <c:crossBetween val="midCat"/>
      </c:valAx>
    </c:plotArea>
    <c:legend>
      <c:legendPos val="b"/>
      <c:layout/>
      <c:overlay val="0"/>
      <c:txPr>
        <a:bodyPr/>
        <a:lstStyle/>
        <a:p>
          <a:pPr>
            <a:defRPr sz="850"/>
          </a:pPr>
        </a:p>
      </c:txPr>
    </c:legend>
    <c:plotVisOnly val="1"/>
    <c:dispBlanksAs val="gap"/>
    <c:showDLblsOverMax val="0"/>
  </c:chart>
  <c:txPr>
    <a:bodyPr/>
    <a:lstStyle/>
    <a:p>
      <a:pPr>
        <a:defRPr sz="800">
          <a:latin typeface="Calibri"/>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2021</c:v>
                </c:pt>
                <c:pt idx="1">
                  <c:v>2022</c:v>
                </c:pt>
                <c:pt idx="2">
                  <c:v>2023</c:v>
                </c:pt>
                <c:pt idx="3">
                  <c:v>2024</c:v>
                </c:pt>
                <c:pt idx="4">
                  <c:v>2025</c:v>
                </c:pt>
                <c:pt idx="5">
                  <c:v>2025 Total</c:v>
                </c:pt>
              </c:strCache>
            </c:strRef>
          </c:cat>
          <c:val>
            <c:numRef>
              <c:f>Sheet1!$B$2:$B$7</c:f>
              <c:numCache>
                <c:formatCode>General</c:formatCode>
                <c:ptCount val="6"/>
                <c:pt idx="0">
                  <c:v>0.0</c:v>
                </c:pt>
                <c:pt idx="1">
                  <c:v>852.6210000000001</c:v>
                </c:pt>
                <c:pt idx="2">
                  <c:v>958.0659999999999</c:v>
                </c:pt>
                <c:pt idx="3">
                  <c:v>1141.952</c:v>
                </c:pt>
                <c:pt idx="4">
                  <c:v>1404.6429999999998</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2021</c:v>
                </c:pt>
                <c:pt idx="1">
                  <c:v>2022</c:v>
                </c:pt>
                <c:pt idx="2">
                  <c:v>2023</c:v>
                </c:pt>
                <c:pt idx="3">
                  <c:v>2024</c:v>
                </c:pt>
                <c:pt idx="4">
                  <c:v>2025</c:v>
                </c:pt>
                <c:pt idx="5">
                  <c:v>2025 Total</c:v>
                </c:pt>
              </c:strCache>
            </c:strRef>
          </c:cat>
          <c:val>
            <c:numRef>
              <c:f>Sheet1!$C$2:$C$7</c:f>
              <c:numCache>
                <c:formatCode>General</c:formatCode>
                <c:ptCount val="6"/>
                <c:pt idx="0">
                  <c:v>852.6210000000001</c:v>
                </c:pt>
                <c:pt idx="1">
                  <c:v>105.44499999999982</c:v>
                </c:pt>
                <c:pt idx="2">
                  <c:v>183.88600000000008</c:v>
                </c:pt>
                <c:pt idx="3">
                  <c:v>262.6909999999998</c:v>
                </c:pt>
                <c:pt idx="4">
                  <c:v>286.30300000000034</c:v>
                </c:pt>
                <c:pt idx="5">
                  <c:v>1690.9460000000001</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2027</c:v>
                </c:pt>
                <c:pt idx="2">
                  <c:v>2028</c:v>
                </c:pt>
                <c:pt idx="3">
                  <c:v>2029</c:v>
                </c:pt>
                <c:pt idx="4">
                  <c:v>2030</c:v>
                </c:pt>
                <c:pt idx="5">
                  <c:v>2031</c:v>
                </c:pt>
                <c:pt idx="6">
                  <c:v>2031 Total</c:v>
                </c:pt>
              </c:strCache>
            </c:strRef>
          </c:cat>
          <c:val>
            <c:numRef>
              <c:f>Sheet1!$B$2:$B$8</c:f>
              <c:numCache>
                <c:formatCode>General</c:formatCode>
                <c:ptCount val="7"/>
                <c:pt idx="0">
                  <c:v>0.0</c:v>
                </c:pt>
                <c:pt idx="1">
                  <c:v>1974.2969999999998</c:v>
                </c:pt>
                <c:pt idx="2">
                  <c:v>2263.314</c:v>
                </c:pt>
                <c:pt idx="3">
                  <c:v>2542.1620000000003</c:v>
                </c:pt>
                <c:pt idx="4">
                  <c:v>2814.3079999999995</c:v>
                </c:pt>
                <c:pt idx="5">
                  <c:v>3078.624</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2027</c:v>
                </c:pt>
                <c:pt idx="2">
                  <c:v>2028</c:v>
                </c:pt>
                <c:pt idx="3">
                  <c:v>2029</c:v>
                </c:pt>
                <c:pt idx="4">
                  <c:v>2030</c:v>
                </c:pt>
                <c:pt idx="5">
                  <c:v>2031</c:v>
                </c:pt>
                <c:pt idx="6">
                  <c:v>2031 Total</c:v>
                </c:pt>
              </c:strCache>
            </c:strRef>
          </c:cat>
          <c:val>
            <c:numRef>
              <c:f>Sheet1!$C$2:$C$8</c:f>
              <c:numCache>
                <c:formatCode>General</c:formatCode>
                <c:ptCount val="7"/>
                <c:pt idx="0">
                  <c:v>1974.2969999999998</c:v>
                </c:pt>
                <c:pt idx="1">
                  <c:v>289.01700000000005</c:v>
                </c:pt>
                <c:pt idx="2">
                  <c:v>278.8480000000004</c:v>
                </c:pt>
                <c:pt idx="3">
                  <c:v>272.1459999999993</c:v>
                </c:pt>
                <c:pt idx="4">
                  <c:v>264.31600000000026</c:v>
                </c:pt>
                <c:pt idx="5">
                  <c:v>254.89599999999973</c:v>
                </c:pt>
                <c:pt idx="6">
                  <c:v>3333.5199999999995</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2031</c:v>
                </c:pt>
                <c:pt idx="1">
                  <c:v>2032</c:v>
                </c:pt>
                <c:pt idx="2">
                  <c:v>2033</c:v>
                </c:pt>
                <c:pt idx="3">
                  <c:v>2034</c:v>
                </c:pt>
                <c:pt idx="4">
                  <c:v>2035</c:v>
                </c:pt>
                <c:pt idx="5">
                  <c:v>2036</c:v>
                </c:pt>
                <c:pt idx="6">
                  <c:v>2036 Total</c:v>
                </c:pt>
              </c:strCache>
            </c:strRef>
          </c:cat>
          <c:val>
            <c:numRef>
              <c:f>Sheet1!$B$2:$B$8</c:f>
              <c:numCache>
                <c:formatCode>General</c:formatCode>
                <c:ptCount val="7"/>
                <c:pt idx="0">
                  <c:v>0.0</c:v>
                </c:pt>
                <c:pt idx="1">
                  <c:v>3333.5199999999995</c:v>
                </c:pt>
                <c:pt idx="2">
                  <c:v>3579.142</c:v>
                </c:pt>
                <c:pt idx="3">
                  <c:v>3813.8450000000003</c:v>
                </c:pt>
                <c:pt idx="4">
                  <c:v>4040.6850000000004</c:v>
                </c:pt>
                <c:pt idx="5">
                  <c:v>4260.442999999999</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2031</c:v>
                </c:pt>
                <c:pt idx="1">
                  <c:v>2032</c:v>
                </c:pt>
                <c:pt idx="2">
                  <c:v>2033</c:v>
                </c:pt>
                <c:pt idx="3">
                  <c:v>2034</c:v>
                </c:pt>
                <c:pt idx="4">
                  <c:v>2035</c:v>
                </c:pt>
                <c:pt idx="5">
                  <c:v>2036</c:v>
                </c:pt>
                <c:pt idx="6">
                  <c:v>2036 Total</c:v>
                </c:pt>
              </c:strCache>
            </c:strRef>
          </c:cat>
          <c:val>
            <c:numRef>
              <c:f>Sheet1!$C$2:$C$8</c:f>
              <c:numCache>
                <c:formatCode>General</c:formatCode>
                <c:ptCount val="7"/>
                <c:pt idx="0">
                  <c:v>3333.5199999999995</c:v>
                </c:pt>
                <c:pt idx="1">
                  <c:v>245.6220000000003</c:v>
                </c:pt>
                <c:pt idx="2">
                  <c:v>234.70300000000043</c:v>
                </c:pt>
                <c:pt idx="3">
                  <c:v>226.84000000000015</c:v>
                </c:pt>
                <c:pt idx="4">
                  <c:v>219.7579999999989</c:v>
                </c:pt>
                <c:pt idx="5">
                  <c:v>214.29800000000068</c:v>
                </c:pt>
                <c:pt idx="6">
                  <c:v>4474.741</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Idacio</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10.29226350277556</c:v>
                </c:pt>
                <c:pt idx="1">
                  <c:v>10.78566193434929</c:v>
                </c:pt>
                <c:pt idx="2">
                  <c:v>11.749976143870672</c:v>
                </c:pt>
              </c:numCache>
            </c:numRef>
          </c:val>
        </c:ser>
        <c:ser>
          <c:idx val="1"/>
          <c:order val="1"/>
          <c:tx>
            <c:strRef>
              <c:f>Sheet1!$C$1</c:f>
              <c:strCache>
                <c:ptCount val="1"/>
                <c:pt idx="0">
                  <c:v>Hyrimoz / Halimatoz / Hef…</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10.974395423054323</c:v>
                </c:pt>
                <c:pt idx="1">
                  <c:v>11.200290533795068</c:v>
                </c:pt>
                <c:pt idx="2">
                  <c:v>11.572848573805725</c:v>
                </c:pt>
              </c:numCache>
            </c:numRef>
          </c:val>
        </c:ser>
        <c:ser>
          <c:idx val="2"/>
          <c:order val="2"/>
          <c:tx>
            <c:strRef>
              <c:f>Sheet1!$D$1</c:f>
              <c:strCache>
                <c:ptCount val="1"/>
                <c:pt idx="0">
                  <c:v>Cyltezo</c:v>
                </c:pt>
              </c:strCache>
            </c:strRef>
          </c:tx>
          <c:spPr>
            <a:solidFill>
              <a:srgbClr val="008189"/>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9.065458157845045</c:v>
                </c:pt>
                <c:pt idx="1">
                  <c:v>9.785305858237136</c:v>
                </c:pt>
                <c:pt idx="2">
                  <c:v>11.309771895177844</c:v>
                </c:pt>
              </c:numCache>
            </c:numRef>
          </c:val>
        </c:ser>
        <c:ser>
          <c:idx val="3"/>
          <c:order val="3"/>
          <c:tx>
            <c:strRef>
              <c:f>Sheet1!$E$1</c:f>
              <c:strCache>
                <c:ptCount val="1"/>
                <c:pt idx="0">
                  <c:v>Abrilada / Amsparity</c:v>
                </c:pt>
              </c:strCache>
            </c:strRef>
          </c:tx>
          <c:spPr>
            <a:solidFill>
              <a:srgbClr val="40315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10.444030817913236</c:v>
                </c:pt>
                <c:pt idx="1">
                  <c:v>10.704063269102877</c:v>
                </c:pt>
                <c:pt idx="2">
                  <c:v>11.153829908814835</c:v>
                </c:pt>
              </c:numCache>
            </c:numRef>
          </c:val>
        </c:ser>
        <c:ser>
          <c:idx val="4"/>
          <c:order val="4"/>
          <c:tx>
            <c:strRef>
              <c:f>Sheet1!$F$1</c:f>
              <c:strCache>
                <c:ptCount val="1"/>
                <c:pt idx="0">
                  <c:v>Hadlima / Imraldi</c:v>
                </c:pt>
              </c:strCache>
            </c:strRef>
          </c:tx>
          <c:spPr>
            <a:solidFill>
              <a:srgbClr val="A35313"/>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9.544451755234741</c:v>
                </c:pt>
                <c:pt idx="1">
                  <c:v>10.040941155256784</c:v>
                </c:pt>
                <c:pt idx="2">
                  <c:v>11.02398999182299</c:v>
                </c:pt>
              </c:numCache>
            </c:numRef>
          </c:val>
        </c:ser>
        <c:ser>
          <c:idx val="5"/>
          <c:order val="5"/>
          <c:tx>
            <c:strRef>
              <c:f>Sheet1!$G$1</c:f>
              <c:strCache>
                <c:ptCount val="1"/>
                <c:pt idx="0">
                  <c:v>Amjevita / Amgevita</c:v>
                </c:pt>
              </c:strCache>
            </c:strRef>
          </c:tx>
          <c:spPr>
            <a:solidFill>
              <a:srgbClr val="808080"/>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11.415153978145039</c:v>
                </c:pt>
                <c:pt idx="1">
                  <c:v>11.078576323623041</c:v>
                </c:pt>
                <c:pt idx="2">
                  <c:v>10.351526490583478</c:v>
                </c:pt>
              </c:numCache>
            </c:numRef>
          </c:val>
        </c:ser>
        <c:ser>
          <c:idx val="6"/>
          <c:order val="6"/>
          <c:tx>
            <c:strRef>
              <c:f>Sheet1!$H$1</c:f>
              <c:strCache>
                <c:ptCount val="1"/>
                <c:pt idx="0">
                  <c:v>Other approved adalimumab…</c:v>
                </c:pt>
              </c:strCache>
            </c:strRef>
          </c:tx>
          <c:spPr>
            <a:solidFill>
              <a:srgbClr val="0E72A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9.437252894310602</c:v>
                </c:pt>
                <c:pt idx="1">
                  <c:v>9.356596297314942</c:v>
                </c:pt>
                <c:pt idx="2">
                  <c:v>9.12374593300484</c:v>
                </c:pt>
              </c:numCache>
            </c:numRef>
          </c:val>
        </c:ser>
        <c:ser>
          <c:idx val="7"/>
          <c:order val="7"/>
          <c:tx>
            <c:strRef>
              <c:f>Sheet1!$I$1</c:f>
              <c:strCache>
                <c:ptCount val="1"/>
                <c:pt idx="0">
                  <c:v>Yusimry</c:v>
                </c:pt>
              </c:strCache>
            </c:strRef>
          </c:tx>
          <c:spPr>
            <a:solidFill>
              <a:srgbClr val="A86F00"/>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Sheet1!$I$2:$I$4</c:f>
              <c:numCache>
                <c:formatCode>General</c:formatCode>
                <c:ptCount val="3"/>
                <c:pt idx="0">
                  <c:v>10.537859142573312</c:v>
                </c:pt>
                <c:pt idx="1">
                  <c:v>9.552260880708424</c:v>
                </c:pt>
                <c:pt idx="2">
                  <c:v>7.786238354353917</c:v>
                </c:pt>
              </c:numCache>
            </c:numRef>
          </c:val>
        </c:ser>
        <c:ser>
          <c:idx val="8"/>
          <c:order val="8"/>
          <c:tx>
            <c:strRef>
              <c:f>Sheet1!$J$1</c:f>
              <c:strCache>
                <c:ptCount val="1"/>
                <c:pt idx="0">
                  <c:v>Simlandi</c:v>
                </c:pt>
              </c:strCache>
            </c:strRef>
          </c:tx>
          <c:spPr>
            <a:solidFill>
              <a:srgbClr val="0B2E4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Sheet1!$J$2:$J$4</c:f>
              <c:numCache>
                <c:formatCode>General</c:formatCode>
                <c:ptCount val="3"/>
                <c:pt idx="0">
                  <c:v>7.6704655409613425</c:v>
                </c:pt>
                <c:pt idx="1">
                  <c:v>7.4113469250067245</c:v>
                </c:pt>
                <c:pt idx="2">
                  <c:v>6.86370451384784</c:v>
                </c:pt>
              </c:numCache>
            </c:numRef>
          </c:val>
        </c:ser>
        <c:ser>
          <c:idx val="9"/>
          <c:order val="9"/>
          <c:tx>
            <c:strRef>
              <c:f>Sheet1!$K$1</c:f>
              <c:strCache>
                <c:ptCount val="1"/>
                <c:pt idx="0">
                  <c:v>Yuflyma</c:v>
                </c:pt>
              </c:strCache>
            </c:strRef>
          </c:tx>
          <c:spPr>
            <a:solidFill>
              <a:srgbClr val="6C7A89"/>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Sheet1!$K$2:$K$4</c:f>
              <c:numCache>
                <c:formatCode>General</c:formatCode>
                <c:ptCount val="3"/>
                <c:pt idx="0">
                  <c:v>4.832393290805645</c:v>
                </c:pt>
                <c:pt idx="1">
                  <c:v>4.7833228739141065</c:v>
                </c:pt>
                <c:pt idx="2">
                  <c:v>4.6492299777797195</c:v>
                </c:pt>
              </c:numCache>
            </c:numRef>
          </c:val>
        </c:ser>
        <c:ser>
          <c:idx val="10"/>
          <c:order val="10"/>
          <c:tx>
            <c:strRef>
              <c:f>Sheet1!$L$1</c:f>
              <c:strCache>
                <c:ptCount val="1"/>
                <c:pt idx="0">
                  <c:v>Hulio</c:v>
                </c:pt>
              </c:strCache>
            </c:strRef>
          </c:tx>
          <c:spPr>
            <a:solidFill>
              <a:srgbClr val="B2B2B2"/>
            </a:solidFill>
            <a:ln>
              <a:noFill/>
            </a:ln>
          </c:spPr>
          <c:dLbls>
            <c:numFmt formatCode="0&quot;%&quot;" sourceLinked="0"/>
            <c:txPr>
              <a:bodyPr rot="0" vert="horz"/>
              <a:lstStyle/>
              <a:p>
                <a:pPr>
                  <a:defRPr sz="700">
                    <a:solidFill>
                      <a:srgbClr val="2E2E2E"/>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Sheet1!$L$2:$L$4</c:f>
              <c:numCache>
                <c:formatCode>General</c:formatCode>
                <c:ptCount val="3"/>
                <c:pt idx="0">
                  <c:v>5.786275496381159</c:v>
                </c:pt>
                <c:pt idx="1">
                  <c:v>5.30163394869161</c:v>
                </c:pt>
                <c:pt idx="2">
                  <c:v>4.415138216938142</c:v>
                </c:pt>
              </c:numCache>
            </c:numRef>
          </c:val>
        </c:ser>
        <c:gapWidth val="85"/>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Prefilled Syringe</c:v>
                </c:pt>
              </c:strCache>
            </c:strRef>
          </c:tx>
          <c:spPr>
            <a:solidFill>
              <a:srgbClr val="3D85C6"/>
            </a:solidFill>
            <a:ln>
              <a:noFill/>
            </a:ln>
          </c:spPr>
          <c:dLbls>
            <c:dLbl>
              <c:idx val="0"/>
              <c:tx>
                <c:rich>
                  <a:bodyPr/>
                  <a:lstStyle/>
                  <a:p>
                    <a:r>
                      <a:rPr sz="750">
                        <a:solidFill>
                          <a:srgbClr val="FFFFFF"/>
                        </a:solidFill>
                        <a:latin typeface="Calibri"/>
                      </a:rPr>
                      <a:t>55%</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48%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Sheet1!$B$2:$B$3</c:f>
              <c:numCache>
                <c:formatCode>General</c:formatCode>
                <c:ptCount val="2"/>
                <c:pt idx="0">
                  <c:v>55.16560079536633</c:v>
                </c:pt>
                <c:pt idx="1">
                  <c:v>48.214380523078454</c:v>
                </c:pt>
              </c:numCache>
            </c:numRef>
          </c:val>
        </c:ser>
        <c:ser>
          <c:idx val="1"/>
          <c:order val="1"/>
          <c:tx>
            <c:strRef>
              <c:f>Sheet1!$C$1</c:f>
              <c:strCache>
                <c:ptCount val="1"/>
                <c:pt idx="0">
                  <c:v>Autoinjector / Pen</c:v>
                </c:pt>
              </c:strCache>
            </c:strRef>
          </c:tx>
          <c:spPr>
            <a:solidFill>
              <a:srgbClr val="9E7E0A"/>
            </a:solidFill>
            <a:ln>
              <a:noFill/>
            </a:ln>
          </c:spPr>
          <c:dLbls>
            <c:dLbl>
              <c:idx val="0"/>
              <c:tx>
                <c:rich>
                  <a:bodyPr/>
                  <a:lstStyle/>
                  <a:p>
                    <a:r>
                      <a:rPr sz="750">
                        <a:solidFill>
                          <a:srgbClr val="FFFFFF"/>
                        </a:solidFill>
                        <a:latin typeface="Calibri"/>
                      </a:rPr>
                      <a:t>45%</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52%</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Sheet1!$C$2:$C$3</c:f>
              <c:numCache>
                <c:formatCode>General</c:formatCode>
                <c:ptCount val="2"/>
                <c:pt idx="0">
                  <c:v>44.83439920463368</c:v>
                </c:pt>
                <c:pt idx="1">
                  <c:v>51.78561947692155</c:v>
                </c:pt>
              </c:numCache>
            </c:numRef>
          </c:val>
        </c:ser>
        <c:gapWidth val="178"/>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Prefilled Syringe</c:v>
                </c:pt>
              </c:strCache>
            </c:strRef>
          </c:tx>
          <c:spPr>
            <a:solidFill>
              <a:srgbClr val="3D85C6"/>
            </a:solidFill>
          </c:spPr>
          <c:invertIfNegative val="0"/>
          <c:xVal>
            <c:numRef>
              <c:f>Sheet1!$A$2:$A$2</c:f>
              <c:numCache>
                <c:formatCode>General</c:formatCode>
                <c:ptCount val="1"/>
                <c:pt idx="0">
                  <c:v>77.92976258166398</c:v>
                </c:pt>
              </c:numCache>
            </c:numRef>
          </c:xVal>
          <c:yVal>
            <c:numRef>
              <c:f>Sheet1!$B$2:$B$2</c:f>
              <c:numCache>
                <c:formatCode>General</c:formatCode>
                <c:ptCount val="1"/>
                <c:pt idx="0">
                  <c:v>72.56952727983682</c:v>
                </c:pt>
              </c:numCache>
            </c:numRef>
          </c:yVal>
          <c:bubbleSize>
            <c:numRef>
              <c:f>Sheet1!$C$2:$C$2</c:f>
              <c:numCache>
                <c:formatCode>General</c:formatCode>
                <c:ptCount val="1"/>
                <c:pt idx="0">
                  <c:v>1363.097</c:v>
                </c:pt>
              </c:numCache>
            </c:numRef>
          </c:bubbleSize>
          <c:bubble3D val="0"/>
        </c:ser>
        <c:ser>
          <c:idx val="1"/>
          <c:order val="1"/>
          <c:tx>
            <c:strRef>
              <c:f>Sheet1!$B$4</c:f>
              <c:strCache>
                <c:ptCount val="1"/>
                <c:pt idx="0">
                  <c:v>Autoinjector / Pen</c:v>
                </c:pt>
              </c:strCache>
            </c:strRef>
          </c:tx>
          <c:spPr>
            <a:solidFill>
              <a:srgbClr val="9E7E0A"/>
            </a:solidFill>
          </c:spPr>
          <c:invertIfNegative val="0"/>
          <c:xVal>
            <c:numRef>
              <c:f>Sheet1!$A$5:$A$5</c:f>
              <c:numCache>
                <c:formatCode>General</c:formatCode>
                <c:ptCount val="1"/>
                <c:pt idx="0">
                  <c:v>111.1795448901173</c:v>
                </c:pt>
              </c:numCache>
            </c:numRef>
          </c:xVal>
          <c:yVal>
            <c:numRef>
              <c:f>Sheet1!$B$5:$B$5</c:f>
              <c:numCache>
                <c:formatCode>General</c:formatCode>
                <c:ptCount val="1"/>
                <c:pt idx="0">
                  <c:v>127.43047272016317</c:v>
                </c:pt>
              </c:numCache>
            </c:numRef>
          </c:yVal>
          <c:bubbleSize>
            <c:numRef>
              <c:f>Sheet1!$C$5:$C$5</c:f>
              <c:numCache>
                <c:formatCode>General</c:formatCode>
                <c:ptCount val="1"/>
                <c:pt idx="0">
                  <c:v>3111.6440000000002</c:v>
                </c:pt>
              </c:numCache>
            </c:numRef>
          </c:bubbleSize>
          <c:bubble3D val="0"/>
        </c:ser>
        <c:dLbls>
          <c:showLegendKey val="0"/>
          <c:showVal val="0"/>
          <c:showCatName val="0"/>
          <c:showSerName val="0"/>
          <c:showPercent val="0"/>
          <c:showBubbleSize val="0"/>
        </c:dLbls>
        <c:bubbleScale val="100"/>
        <c:showNegBubbles val="0"/>
        <c:axId val="-2115720072"/>
        <c:axId val="-2115723560"/>
      </c:bubbleChart>
      <c:valAx>
        <c:axId val="-2115720072"/>
        <c:scaling>
          <c:orientation val="minMax"/>
        </c:scaling>
        <c:delete val="0"/>
        <c:axPos val="b"/>
        <c:numFmt formatCode="General" sourceLinked="1"/>
        <c:majorTickMark val="out"/>
        <c:minorTickMark val="none"/>
        <c:tickLblPos val="nextTo"/>
        <c:spPr>
          <a:ln>
            <a:solidFill>
              <a:srgbClr val="C6D5E1"/>
            </a:solidFill>
          </a:ln>
        </c:spPr>
        <c:txPr>
          <a:bodyPr/>
          <a:lstStyle/>
          <a:p>
            <a:pPr>
              <a:defRPr sz="850"/>
            </a:pPr>
          </a:p>
        </c:txPr>
        <c:crossAx val="-2115723560"/>
        <c:crosses val="autoZero"/>
        <c:crossBetween val="midCat"/>
      </c:valAx>
      <c:valAx>
        <c:axId val="-2115723560"/>
        <c:scaling>
          <c:orientation val="minMax"/>
        </c:scaling>
        <c:delete val="0"/>
        <c:axPos val="l"/>
        <c:numFmt formatCode="General" sourceLinked="1"/>
        <c:majorTickMark val="out"/>
        <c:minorTickMark val="none"/>
        <c:tickLblPos val="nextTo"/>
        <c:spPr>
          <a:ln>
            <a:solidFill>
              <a:srgbClr val="C6D5E1"/>
            </a:solidFill>
          </a:ln>
        </c:spPr>
        <c:txPr>
          <a:bodyPr/>
          <a:lstStyle/>
          <a:p>
            <a:pPr>
              <a:defRPr sz="850"/>
            </a:pPr>
          </a:p>
        </c:txPr>
        <c:crossAx val="-2115720072"/>
        <c:crosses val="autoZero"/>
        <c:crossBetween val="midCat"/>
      </c:valAx>
    </c:plotArea>
    <c:legend>
      <c:legendPos val="b"/>
      <c:layout/>
      <c:overlay val="0"/>
      <c:txPr>
        <a:bodyPr/>
        <a:lstStyle/>
        <a:p>
          <a:pPr>
            <a:defRPr sz="850"/>
          </a:pPr>
        </a:p>
      </c:txPr>
    </c:legend>
    <c:plotVisOnly val="1"/>
    <c:dispBlanksAs val="gap"/>
    <c:showDLblsOverMax val="0"/>
  </c:chart>
  <c:txPr>
    <a:bodyPr/>
    <a:lstStyle/>
    <a:p>
      <a:pPr>
        <a:defRPr sz="800">
          <a:latin typeface="Calibri"/>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2021</c:v>
                </c:pt>
                <c:pt idx="1">
                  <c:v>2022</c:v>
                </c:pt>
                <c:pt idx="2">
                  <c:v>2023</c:v>
                </c:pt>
                <c:pt idx="3">
                  <c:v>2024</c:v>
                </c:pt>
                <c:pt idx="4">
                  <c:v>2025</c:v>
                </c:pt>
                <c:pt idx="5">
                  <c:v>2025 Total</c:v>
                </c:pt>
              </c:strCache>
            </c:strRef>
          </c:cat>
          <c:val>
            <c:numRef>
              <c:f>Sheet1!$B$2:$B$7</c:f>
              <c:numCache>
                <c:formatCode>General</c:formatCode>
                <c:ptCount val="6"/>
                <c:pt idx="0">
                  <c:v>0.0</c:v>
                </c:pt>
                <c:pt idx="1">
                  <c:v>852.621</c:v>
                </c:pt>
                <c:pt idx="2">
                  <c:v>958.066</c:v>
                </c:pt>
                <c:pt idx="3">
                  <c:v>1141.952</c:v>
                </c:pt>
                <c:pt idx="4">
                  <c:v>1404.643</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2021</c:v>
                </c:pt>
                <c:pt idx="1">
                  <c:v>2022</c:v>
                </c:pt>
                <c:pt idx="2">
                  <c:v>2023</c:v>
                </c:pt>
                <c:pt idx="3">
                  <c:v>2024</c:v>
                </c:pt>
                <c:pt idx="4">
                  <c:v>2025</c:v>
                </c:pt>
                <c:pt idx="5">
                  <c:v>2025 Total</c:v>
                </c:pt>
              </c:strCache>
            </c:strRef>
          </c:cat>
          <c:val>
            <c:numRef>
              <c:f>Sheet1!$C$2:$C$7</c:f>
              <c:numCache>
                <c:formatCode>General</c:formatCode>
                <c:ptCount val="6"/>
                <c:pt idx="0">
                  <c:v>852.621</c:v>
                </c:pt>
                <c:pt idx="1">
                  <c:v>105.44500000000005</c:v>
                </c:pt>
                <c:pt idx="2">
                  <c:v>183.88599999999997</c:v>
                </c:pt>
                <c:pt idx="3">
                  <c:v>262.69100000000003</c:v>
                </c:pt>
                <c:pt idx="4">
                  <c:v>286.3029999999999</c:v>
                </c:pt>
                <c:pt idx="5">
                  <c:v>1690.946</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2027</c:v>
                </c:pt>
                <c:pt idx="2">
                  <c:v>2028</c:v>
                </c:pt>
                <c:pt idx="3">
                  <c:v>2029</c:v>
                </c:pt>
                <c:pt idx="4">
                  <c:v>2030</c:v>
                </c:pt>
                <c:pt idx="5">
                  <c:v>2031</c:v>
                </c:pt>
                <c:pt idx="6">
                  <c:v>2031 Total</c:v>
                </c:pt>
              </c:strCache>
            </c:strRef>
          </c:cat>
          <c:val>
            <c:numRef>
              <c:f>Sheet1!$B$2:$B$8</c:f>
              <c:numCache>
                <c:formatCode>General</c:formatCode>
                <c:ptCount val="7"/>
                <c:pt idx="0">
                  <c:v>0.0</c:v>
                </c:pt>
                <c:pt idx="1">
                  <c:v>1974.297</c:v>
                </c:pt>
                <c:pt idx="2">
                  <c:v>2263.3140000000003</c:v>
                </c:pt>
                <c:pt idx="3">
                  <c:v>2542.1620000000003</c:v>
                </c:pt>
                <c:pt idx="4">
                  <c:v>2814.308</c:v>
                </c:pt>
                <c:pt idx="5">
                  <c:v>3078.624</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2027</c:v>
                </c:pt>
                <c:pt idx="2">
                  <c:v>2028</c:v>
                </c:pt>
                <c:pt idx="3">
                  <c:v>2029</c:v>
                </c:pt>
                <c:pt idx="4">
                  <c:v>2030</c:v>
                </c:pt>
                <c:pt idx="5">
                  <c:v>2031</c:v>
                </c:pt>
                <c:pt idx="6">
                  <c:v>2031 Total</c:v>
                </c:pt>
              </c:strCache>
            </c:strRef>
          </c:cat>
          <c:val>
            <c:numRef>
              <c:f>Sheet1!$C$2:$C$8</c:f>
              <c:numCache>
                <c:formatCode>General</c:formatCode>
                <c:ptCount val="7"/>
                <c:pt idx="0">
                  <c:v>1974.297</c:v>
                </c:pt>
                <c:pt idx="1">
                  <c:v>289.0170000000003</c:v>
                </c:pt>
                <c:pt idx="2">
                  <c:v>278.84799999999996</c:v>
                </c:pt>
                <c:pt idx="3">
                  <c:v>272.14599999999973</c:v>
                </c:pt>
                <c:pt idx="4">
                  <c:v>264.3159999999998</c:v>
                </c:pt>
                <c:pt idx="5">
                  <c:v>254.89600000000019</c:v>
                </c:pt>
                <c:pt idx="6">
                  <c:v>3333.52</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2031</c:v>
                </c:pt>
                <c:pt idx="1">
                  <c:v>2032</c:v>
                </c:pt>
                <c:pt idx="2">
                  <c:v>2033</c:v>
                </c:pt>
                <c:pt idx="3">
                  <c:v>2034</c:v>
                </c:pt>
                <c:pt idx="4">
                  <c:v>2035</c:v>
                </c:pt>
                <c:pt idx="5">
                  <c:v>2036</c:v>
                </c:pt>
                <c:pt idx="6">
                  <c:v>2036 Total</c:v>
                </c:pt>
              </c:strCache>
            </c:strRef>
          </c:cat>
          <c:val>
            <c:numRef>
              <c:f>Sheet1!$B$2:$B$8</c:f>
              <c:numCache>
                <c:formatCode>General</c:formatCode>
                <c:ptCount val="7"/>
                <c:pt idx="0">
                  <c:v>0.0</c:v>
                </c:pt>
                <c:pt idx="1">
                  <c:v>3333.52</c:v>
                </c:pt>
                <c:pt idx="2">
                  <c:v>3579.142</c:v>
                </c:pt>
                <c:pt idx="3">
                  <c:v>3813.8450000000003</c:v>
                </c:pt>
                <c:pt idx="4">
                  <c:v>4040.6849999999995</c:v>
                </c:pt>
                <c:pt idx="5">
                  <c:v>4260.443</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2031</c:v>
                </c:pt>
                <c:pt idx="1">
                  <c:v>2032</c:v>
                </c:pt>
                <c:pt idx="2">
                  <c:v>2033</c:v>
                </c:pt>
                <c:pt idx="3">
                  <c:v>2034</c:v>
                </c:pt>
                <c:pt idx="4">
                  <c:v>2035</c:v>
                </c:pt>
                <c:pt idx="5">
                  <c:v>2036</c:v>
                </c:pt>
                <c:pt idx="6">
                  <c:v>2036 Total</c:v>
                </c:pt>
              </c:strCache>
            </c:strRef>
          </c:cat>
          <c:val>
            <c:numRef>
              <c:f>Sheet1!$C$2:$C$8</c:f>
              <c:numCache>
                <c:formatCode>General</c:formatCode>
                <c:ptCount val="7"/>
                <c:pt idx="0">
                  <c:v>3333.52</c:v>
                </c:pt>
                <c:pt idx="1">
                  <c:v>245.62199999999984</c:v>
                </c:pt>
                <c:pt idx="2">
                  <c:v>234.70300000000043</c:v>
                </c:pt>
                <c:pt idx="3">
                  <c:v>226.83999999999924</c:v>
                </c:pt>
                <c:pt idx="4">
                  <c:v>219.75800000000072</c:v>
                </c:pt>
                <c:pt idx="5">
                  <c:v>214.29799999999977</c:v>
                </c:pt>
                <c:pt idx="6">
                  <c:v>4474.741</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Autoinjector / Pen</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60.62869668938485</c:v>
                </c:pt>
                <c:pt idx="1">
                  <c:v>63.71523636008158</c:v>
                </c:pt>
                <c:pt idx="2">
                  <c:v>69.53796878970202</c:v>
                </c:pt>
              </c:numCache>
            </c:numRef>
          </c:val>
        </c:ser>
        <c:ser>
          <c:idx val="1"/>
          <c:order val="1"/>
          <c:tx>
            <c:strRef>
              <c:f>Sheet1!$C$1</c:f>
              <c:strCache>
                <c:ptCount val="1"/>
                <c:pt idx="0">
                  <c:v>Prefilled Syringe</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39.371303310615154</c:v>
                </c:pt>
                <c:pt idx="1">
                  <c:v>36.28476363991841</c:v>
                </c:pt>
                <c:pt idx="2">
                  <c:v>30.46203121029798</c:v>
                </c:pt>
              </c:numCache>
            </c:numRef>
          </c:val>
        </c:ser>
        <c:gapWidth val="85"/>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20 mg</c:v>
                </c:pt>
              </c:strCache>
            </c:strRef>
          </c:tx>
          <c:spPr>
            <a:solidFill>
              <a:srgbClr val="3D85C6"/>
            </a:solidFill>
            <a:ln>
              <a:noFill/>
            </a:ln>
          </c:spPr>
          <c:dLbls>
            <c:dLbl>
              <c:idx val="0"/>
              <c:tx>
                <c:rich>
                  <a:bodyPr/>
                  <a:lstStyle/>
                  <a:p>
                    <a:r>
                      <a:rPr sz="750">
                        <a:solidFill>
                          <a:srgbClr val="FFFFFF"/>
                        </a:solidFill>
                        <a:latin typeface="Calibri"/>
                      </a:rPr>
                      <a:t>26%</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24%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Sheet1!$B$2:$B$3</c:f>
              <c:numCache>
                <c:formatCode>General</c:formatCode>
                <c:ptCount val="2"/>
                <c:pt idx="0">
                  <c:v>25.759032018942484</c:v>
                </c:pt>
                <c:pt idx="1">
                  <c:v>23.53586107873797</c:v>
                </c:pt>
              </c:numCache>
            </c:numRef>
          </c:val>
        </c:ser>
        <c:ser>
          <c:idx val="1"/>
          <c:order val="1"/>
          <c:tx>
            <c:strRef>
              <c:f>Sheet1!$C$1</c:f>
              <c:strCache>
                <c:ptCount val="1"/>
                <c:pt idx="0">
                  <c:v>40 mg</c:v>
                </c:pt>
              </c:strCache>
            </c:strRef>
          </c:tx>
          <c:spPr>
            <a:solidFill>
              <a:srgbClr val="9E7E0A"/>
            </a:solidFill>
            <a:ln>
              <a:noFill/>
            </a:ln>
          </c:spPr>
          <c:dLbls>
            <c:dLbl>
              <c:idx val="0"/>
              <c:tx>
                <c:rich>
                  <a:bodyPr/>
                  <a:lstStyle/>
                  <a:p>
                    <a:r>
                      <a:rPr sz="750">
                        <a:solidFill>
                          <a:srgbClr val="FFFFFF"/>
                        </a:solidFill>
                        <a:latin typeface="Calibri"/>
                      </a:rPr>
                      <a:t>24%</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29%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Sheet1!$C$2:$C$3</c:f>
              <c:numCache>
                <c:formatCode>General</c:formatCode>
                <c:ptCount val="2"/>
                <c:pt idx="0">
                  <c:v>24.084929870402764</c:v>
                </c:pt>
                <c:pt idx="1">
                  <c:v>29.337380000562842</c:v>
                </c:pt>
              </c:numCache>
            </c:numRef>
          </c:val>
        </c:ser>
        <c:ser>
          <c:idx val="2"/>
          <c:order val="2"/>
          <c:tx>
            <c:strRef>
              <c:f>Sheet1!$D$1</c:f>
              <c:strCache>
                <c:ptCount val="1"/>
                <c:pt idx="0">
                  <c:v>80 mg</c:v>
                </c:pt>
              </c:strCache>
            </c:strRef>
          </c:tx>
          <c:spPr>
            <a:solidFill>
              <a:srgbClr val="008189"/>
            </a:solidFill>
            <a:ln>
              <a:noFill/>
            </a:ln>
          </c:spPr>
          <c:dLbls>
            <c:dLbl>
              <c:idx val="0"/>
              <c:tx>
                <c:rich>
                  <a:bodyPr/>
                  <a:lstStyle/>
                  <a:p>
                    <a:r>
                      <a:rPr sz="750">
                        <a:solidFill>
                          <a:srgbClr val="FFFFFF"/>
                        </a:solidFill>
                        <a:latin typeface="Calibri"/>
                      </a:rPr>
                      <a:t>32%</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21%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Sheet1!$D$2:$D$3</c:f>
              <c:numCache>
                <c:formatCode>General</c:formatCode>
                <c:ptCount val="2"/>
                <c:pt idx="0">
                  <c:v>31.731478256809158</c:v>
                </c:pt>
                <c:pt idx="1">
                  <c:v>20.902887239623453</c:v>
                </c:pt>
              </c:numCache>
            </c:numRef>
          </c:val>
        </c:ser>
        <c:ser>
          <c:idx val="3"/>
          <c:order val="3"/>
          <c:tx>
            <c:strRef>
              <c:f>Sheet1!$E$1</c:f>
              <c:strCache>
                <c:ptCount val="1"/>
                <c:pt idx="0">
                  <c:v>100 mg/mL</c:v>
                </c:pt>
              </c:strCache>
            </c:strRef>
          </c:tx>
          <c:spPr>
            <a:solidFill>
              <a:srgbClr val="40315E"/>
            </a:solidFill>
            <a:ln>
              <a:noFill/>
            </a:ln>
          </c:spPr>
          <c:dLbls>
            <c:dLbl>
              <c:idx val="0"/>
              <c:tx>
                <c:rich>
                  <a:bodyPr/>
                  <a:lstStyle/>
                  <a:p>
                    <a:r>
                      <a:rPr sz="750">
                        <a:solidFill>
                          <a:srgbClr val="FFFFFF"/>
                        </a:solidFill>
                        <a:latin typeface="Calibri"/>
                      </a:rPr>
                      <a:t>18%</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26%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Sheet1!$E$2:$E$3</c:f>
              <c:numCache>
                <c:formatCode>General</c:formatCode>
                <c:ptCount val="2"/>
                <c:pt idx="0">
                  <c:v>18.424559853845597</c:v>
                </c:pt>
                <c:pt idx="1">
                  <c:v>26.22387168107574</c:v>
                </c:pt>
              </c:numCache>
            </c:numRef>
          </c:val>
        </c:ser>
        <c:gapWidth val="178"/>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20 mg</c:v>
                </c:pt>
              </c:strCache>
            </c:strRef>
          </c:tx>
          <c:spPr>
            <a:solidFill>
              <a:srgbClr val="3D85C6"/>
            </a:solidFill>
          </c:spPr>
          <c:invertIfNegative val="0"/>
          <c:xVal>
            <c:numRef>
              <c:f>Sheet1!$A$2:$A$2</c:f>
              <c:numCache>
                <c:formatCode>General</c:formatCode>
                <c:ptCount val="1"/>
                <c:pt idx="0">
                  <c:v>107.18815547457716</c:v>
                </c:pt>
              </c:numCache>
            </c:numRef>
          </c:xVal>
          <c:yVal>
            <c:numRef>
              <c:f>Sheet1!$B$2:$B$2</c:f>
              <c:numCache>
                <c:formatCode>General</c:formatCode>
                <c:ptCount val="1"/>
                <c:pt idx="0">
                  <c:v>93.84727829703434</c:v>
                </c:pt>
              </c:numCache>
            </c:numRef>
          </c:yVal>
          <c:bubbleSize>
            <c:numRef>
              <c:f>Sheet1!$C$2:$C$2</c:f>
              <c:numCache>
                <c:formatCode>General</c:formatCode>
                <c:ptCount val="1"/>
                <c:pt idx="0">
                  <c:v>1110.675</c:v>
                </c:pt>
              </c:numCache>
            </c:numRef>
          </c:bubbleSize>
          <c:bubble3D val="0"/>
        </c:ser>
        <c:ser>
          <c:idx val="1"/>
          <c:order val="1"/>
          <c:tx>
            <c:strRef>
              <c:f>Sheet1!$B$4</c:f>
              <c:strCache>
                <c:ptCount val="1"/>
                <c:pt idx="0">
                  <c:v>40 mg</c:v>
                </c:pt>
              </c:strCache>
            </c:strRef>
          </c:tx>
          <c:spPr>
            <a:solidFill>
              <a:srgbClr val="9E7E0A"/>
            </a:solidFill>
          </c:spPr>
          <c:invertIfNegative val="0"/>
          <c:xVal>
            <c:numRef>
              <c:f>Sheet1!$A$5:$A$5</c:f>
              <c:numCache>
                <c:formatCode>General</c:formatCode>
                <c:ptCount val="1"/>
                <c:pt idx="0">
                  <c:v>102.19755053587414</c:v>
                </c:pt>
              </c:numCache>
            </c:numRef>
          </c:xVal>
          <c:yVal>
            <c:numRef>
              <c:f>Sheet1!$B$5:$B$5</c:f>
              <c:numCache>
                <c:formatCode>General</c:formatCode>
                <c:ptCount val="1"/>
                <c:pt idx="0">
                  <c:v>128.1746363389095</c:v>
                </c:pt>
              </c:numCache>
            </c:numRef>
          </c:yVal>
          <c:bubbleSize>
            <c:numRef>
              <c:f>Sheet1!$C$5:$C$5</c:f>
              <c:numCache>
                <c:formatCode>General</c:formatCode>
                <c:ptCount val="1"/>
                <c:pt idx="0">
                  <c:v>1458.82</c:v>
                </c:pt>
              </c:numCache>
            </c:numRef>
          </c:bubbleSize>
          <c:bubble3D val="0"/>
        </c:ser>
        <c:ser>
          <c:idx val="2"/>
          <c:order val="2"/>
          <c:tx>
            <c:strRef>
              <c:f>Sheet1!$B$7</c:f>
              <c:strCache>
                <c:ptCount val="1"/>
                <c:pt idx="0">
                  <c:v>80 mg</c:v>
                </c:pt>
              </c:strCache>
            </c:strRef>
          </c:tx>
          <c:spPr>
            <a:solidFill>
              <a:srgbClr val="008189"/>
            </a:solidFill>
          </c:spPr>
          <c:invertIfNegative val="0"/>
          <c:xVal>
            <c:numRef>
              <c:f>Sheet1!$A$8:$A$8</c:f>
              <c:numCache>
                <c:formatCode>General</c:formatCode>
                <c:ptCount val="1"/>
                <c:pt idx="0">
                  <c:v>90.28035632076511</c:v>
                </c:pt>
              </c:numCache>
            </c:numRef>
          </c:xVal>
          <c:yVal>
            <c:numRef>
              <c:f>Sheet1!$B$8:$B$8</c:f>
              <c:numCache>
                <c:formatCode>General</c:formatCode>
                <c:ptCount val="1"/>
                <c:pt idx="0">
                  <c:v>139.20357474078116</c:v>
                </c:pt>
              </c:numCache>
            </c:numRef>
          </c:yVal>
          <c:bubbleSize>
            <c:numRef>
              <c:f>Sheet1!$C$8:$C$8</c:f>
              <c:numCache>
                <c:formatCode>General</c:formatCode>
                <c:ptCount val="1"/>
                <c:pt idx="0">
                  <c:v>1442.338</c:v>
                </c:pt>
              </c:numCache>
            </c:numRef>
          </c:bubbleSize>
          <c:bubble3D val="0"/>
        </c:ser>
        <c:ser>
          <c:idx val="3"/>
          <c:order val="3"/>
          <c:tx>
            <c:strRef>
              <c:f>Sheet1!$B$10</c:f>
              <c:strCache>
                <c:ptCount val="1"/>
                <c:pt idx="0">
                  <c:v>100 mg/mL</c:v>
                </c:pt>
              </c:strCache>
            </c:strRef>
          </c:tx>
          <c:spPr>
            <a:solidFill>
              <a:srgbClr val="40315E"/>
            </a:solidFill>
          </c:spPr>
          <c:invertIfNegative val="0"/>
          <c:xVal>
            <c:numRef>
              <c:f>Sheet1!$A$11:$A$11</c:f>
              <c:numCache>
                <c:formatCode>General</c:formatCode>
                <c:ptCount val="1"/>
                <c:pt idx="0">
                  <c:v>108.30363159882386</c:v>
                </c:pt>
              </c:numCache>
            </c:numRef>
          </c:xVal>
          <c:yVal>
            <c:numRef>
              <c:f>Sheet1!$B$11:$B$11</c:f>
              <c:numCache>
                <c:formatCode>General</c:formatCode>
                <c:ptCount val="1"/>
                <c:pt idx="0">
                  <c:v>38.77451062327501</c:v>
                </c:pt>
              </c:numCache>
            </c:numRef>
          </c:yVal>
          <c:bubbleSize>
            <c:numRef>
              <c:f>Sheet1!$C$11:$C$11</c:f>
              <c:numCache>
                <c:formatCode>General</c:formatCode>
                <c:ptCount val="1"/>
                <c:pt idx="0">
                  <c:v>462.908</c:v>
                </c:pt>
              </c:numCache>
            </c:numRef>
          </c:bubbleSize>
          <c:bubble3D val="0"/>
        </c:ser>
        <c:dLbls>
          <c:showLegendKey val="0"/>
          <c:showVal val="0"/>
          <c:showCatName val="0"/>
          <c:showSerName val="0"/>
          <c:showPercent val="0"/>
          <c:showBubbleSize val="0"/>
        </c:dLbls>
        <c:bubbleScale val="100"/>
        <c:showNegBubbles val="0"/>
        <c:axId val="-2115720072"/>
        <c:axId val="-2115723560"/>
      </c:bubbleChart>
      <c:valAx>
        <c:axId val="-2115720072"/>
        <c:scaling>
          <c:orientation val="minMax"/>
        </c:scaling>
        <c:delete val="0"/>
        <c:axPos val="b"/>
        <c:numFmt formatCode="General" sourceLinked="1"/>
        <c:majorTickMark val="out"/>
        <c:minorTickMark val="none"/>
        <c:tickLblPos val="nextTo"/>
        <c:spPr>
          <a:ln>
            <a:solidFill>
              <a:srgbClr val="C6D5E1"/>
            </a:solidFill>
          </a:ln>
        </c:spPr>
        <c:txPr>
          <a:bodyPr/>
          <a:lstStyle/>
          <a:p>
            <a:pPr>
              <a:defRPr sz="850"/>
            </a:pPr>
          </a:p>
        </c:txPr>
        <c:crossAx val="-2115723560"/>
        <c:crosses val="autoZero"/>
        <c:crossBetween val="midCat"/>
      </c:valAx>
      <c:valAx>
        <c:axId val="-2115723560"/>
        <c:scaling>
          <c:orientation val="minMax"/>
        </c:scaling>
        <c:delete val="0"/>
        <c:axPos val="l"/>
        <c:numFmt formatCode="General" sourceLinked="1"/>
        <c:majorTickMark val="out"/>
        <c:minorTickMark val="none"/>
        <c:tickLblPos val="nextTo"/>
        <c:spPr>
          <a:ln>
            <a:solidFill>
              <a:srgbClr val="C6D5E1"/>
            </a:solidFill>
          </a:ln>
        </c:spPr>
        <c:txPr>
          <a:bodyPr/>
          <a:lstStyle/>
          <a:p>
            <a:pPr>
              <a:defRPr sz="850"/>
            </a:pPr>
          </a:p>
        </c:txPr>
        <c:crossAx val="-2115720072"/>
        <c:crosses val="autoZero"/>
        <c:crossBetween val="midCat"/>
      </c:valAx>
    </c:plotArea>
    <c:legend>
      <c:legendPos val="b"/>
      <c:layout/>
      <c:overlay val="0"/>
      <c:txPr>
        <a:bodyPr/>
        <a:lstStyle/>
        <a:p>
          <a:pPr>
            <a:defRPr sz="850"/>
          </a:pPr>
        </a:p>
      </c:txPr>
    </c:legend>
    <c:plotVisOnly val="1"/>
    <c:dispBlanksAs val="gap"/>
    <c:showDLblsOverMax val="0"/>
  </c:chart>
  <c:txPr>
    <a:bodyPr/>
    <a:lstStyle/>
    <a:p>
      <a:pPr>
        <a:defRPr sz="800">
          <a:latin typeface="Calibri"/>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2021</c:v>
                </c:pt>
                <c:pt idx="1">
                  <c:v>2022</c:v>
                </c:pt>
                <c:pt idx="2">
                  <c:v>2023</c:v>
                </c:pt>
                <c:pt idx="3">
                  <c:v>2024</c:v>
                </c:pt>
                <c:pt idx="4">
                  <c:v>2025</c:v>
                </c:pt>
                <c:pt idx="5">
                  <c:v>2025 Total</c:v>
                </c:pt>
              </c:strCache>
            </c:strRef>
          </c:cat>
          <c:val>
            <c:numRef>
              <c:f>Sheet1!$B$2:$B$7</c:f>
              <c:numCache>
                <c:formatCode>General</c:formatCode>
                <c:ptCount val="6"/>
                <c:pt idx="0">
                  <c:v>0.0</c:v>
                </c:pt>
                <c:pt idx="1">
                  <c:v>852.6210000000001</c:v>
                </c:pt>
                <c:pt idx="2">
                  <c:v>958.0659999999999</c:v>
                </c:pt>
                <c:pt idx="3">
                  <c:v>1141.952</c:v>
                </c:pt>
                <c:pt idx="4">
                  <c:v>1404.6429999999998</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2021</c:v>
                </c:pt>
                <c:pt idx="1">
                  <c:v>2022</c:v>
                </c:pt>
                <c:pt idx="2">
                  <c:v>2023</c:v>
                </c:pt>
                <c:pt idx="3">
                  <c:v>2024</c:v>
                </c:pt>
                <c:pt idx="4">
                  <c:v>2025</c:v>
                </c:pt>
                <c:pt idx="5">
                  <c:v>2025 Total</c:v>
                </c:pt>
              </c:strCache>
            </c:strRef>
          </c:cat>
          <c:val>
            <c:numRef>
              <c:f>Sheet1!$C$2:$C$7</c:f>
              <c:numCache>
                <c:formatCode>General</c:formatCode>
                <c:ptCount val="6"/>
                <c:pt idx="0">
                  <c:v>852.6210000000001</c:v>
                </c:pt>
                <c:pt idx="1">
                  <c:v>105.44499999999982</c:v>
                </c:pt>
                <c:pt idx="2">
                  <c:v>183.88600000000008</c:v>
                </c:pt>
                <c:pt idx="3">
                  <c:v>262.6909999999998</c:v>
                </c:pt>
                <c:pt idx="4">
                  <c:v>286.3030000000001</c:v>
                </c:pt>
                <c:pt idx="5">
                  <c:v>1690.946</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2027</c:v>
                </c:pt>
                <c:pt idx="2">
                  <c:v>2028</c:v>
                </c:pt>
                <c:pt idx="3">
                  <c:v>2029</c:v>
                </c:pt>
                <c:pt idx="4">
                  <c:v>2030</c:v>
                </c:pt>
                <c:pt idx="5">
                  <c:v>2031</c:v>
                </c:pt>
                <c:pt idx="6">
                  <c:v>2031 Total</c:v>
                </c:pt>
              </c:strCache>
            </c:strRef>
          </c:cat>
          <c:val>
            <c:numRef>
              <c:f>Sheet1!$B$2:$B$8</c:f>
              <c:numCache>
                <c:formatCode>General</c:formatCode>
                <c:ptCount val="7"/>
                <c:pt idx="0">
                  <c:v>0.0</c:v>
                </c:pt>
                <c:pt idx="1">
                  <c:v>1974.297</c:v>
                </c:pt>
                <c:pt idx="2">
                  <c:v>2263.3140000000003</c:v>
                </c:pt>
                <c:pt idx="3">
                  <c:v>2542.162</c:v>
                </c:pt>
                <c:pt idx="4">
                  <c:v>2814.308</c:v>
                </c:pt>
                <c:pt idx="5">
                  <c:v>3078.6240000000003</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2027</c:v>
                </c:pt>
                <c:pt idx="2">
                  <c:v>2028</c:v>
                </c:pt>
                <c:pt idx="3">
                  <c:v>2029</c:v>
                </c:pt>
                <c:pt idx="4">
                  <c:v>2030</c:v>
                </c:pt>
                <c:pt idx="5">
                  <c:v>2031</c:v>
                </c:pt>
                <c:pt idx="6">
                  <c:v>2031 Total</c:v>
                </c:pt>
              </c:strCache>
            </c:strRef>
          </c:cat>
          <c:val>
            <c:numRef>
              <c:f>Sheet1!$C$2:$C$8</c:f>
              <c:numCache>
                <c:formatCode>General</c:formatCode>
                <c:ptCount val="7"/>
                <c:pt idx="0">
                  <c:v>1974.297</c:v>
                </c:pt>
                <c:pt idx="1">
                  <c:v>289.0170000000003</c:v>
                </c:pt>
                <c:pt idx="2">
                  <c:v>278.8479999999995</c:v>
                </c:pt>
                <c:pt idx="3">
                  <c:v>272.1460000000002</c:v>
                </c:pt>
                <c:pt idx="4">
                  <c:v>264.31600000000026</c:v>
                </c:pt>
                <c:pt idx="5">
                  <c:v>254.89599999999973</c:v>
                </c:pt>
                <c:pt idx="6">
                  <c:v>3333.52</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2031</c:v>
                </c:pt>
                <c:pt idx="1">
                  <c:v>2032</c:v>
                </c:pt>
                <c:pt idx="2">
                  <c:v>2033</c:v>
                </c:pt>
                <c:pt idx="3">
                  <c:v>2034</c:v>
                </c:pt>
                <c:pt idx="4">
                  <c:v>2035</c:v>
                </c:pt>
                <c:pt idx="5">
                  <c:v>2036</c:v>
                </c:pt>
                <c:pt idx="6">
                  <c:v>2036 Total</c:v>
                </c:pt>
              </c:strCache>
            </c:strRef>
          </c:cat>
          <c:val>
            <c:numRef>
              <c:f>Sheet1!$B$2:$B$8</c:f>
              <c:numCache>
                <c:formatCode>General</c:formatCode>
                <c:ptCount val="7"/>
                <c:pt idx="0">
                  <c:v>0.0</c:v>
                </c:pt>
                <c:pt idx="1">
                  <c:v>3333.52</c:v>
                </c:pt>
                <c:pt idx="2">
                  <c:v>3579.142</c:v>
                </c:pt>
                <c:pt idx="3">
                  <c:v>3813.845</c:v>
                </c:pt>
                <c:pt idx="4">
                  <c:v>4040.685</c:v>
                </c:pt>
                <c:pt idx="5">
                  <c:v>4260.442999999999</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2031</c:v>
                </c:pt>
                <c:pt idx="1">
                  <c:v>2032</c:v>
                </c:pt>
                <c:pt idx="2">
                  <c:v>2033</c:v>
                </c:pt>
                <c:pt idx="3">
                  <c:v>2034</c:v>
                </c:pt>
                <c:pt idx="4">
                  <c:v>2035</c:v>
                </c:pt>
                <c:pt idx="5">
                  <c:v>2036</c:v>
                </c:pt>
                <c:pt idx="6">
                  <c:v>2036 Total</c:v>
                </c:pt>
              </c:strCache>
            </c:strRef>
          </c:cat>
          <c:val>
            <c:numRef>
              <c:f>Sheet1!$C$2:$C$8</c:f>
              <c:numCache>
                <c:formatCode>General</c:formatCode>
                <c:ptCount val="7"/>
                <c:pt idx="0">
                  <c:v>3333.52</c:v>
                </c:pt>
                <c:pt idx="1">
                  <c:v>245.62199999999984</c:v>
                </c:pt>
                <c:pt idx="2">
                  <c:v>234.70299999999997</c:v>
                </c:pt>
                <c:pt idx="3">
                  <c:v>226.84000000000015</c:v>
                </c:pt>
                <c:pt idx="4">
                  <c:v>219.75799999999936</c:v>
                </c:pt>
                <c:pt idx="5">
                  <c:v>214.29800000000068</c:v>
                </c:pt>
                <c:pt idx="6">
                  <c:v>4474.741</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40 mg</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31.54508275071808</c:v>
                </c:pt>
                <c:pt idx="1">
                  <c:v>32.043659084727366</c:v>
                </c:pt>
                <c:pt idx="2">
                  <c:v>32.60121647264054</c:v>
                </c:pt>
              </c:numCache>
            </c:numRef>
          </c:val>
        </c:ser>
        <c:ser>
          <c:idx val="1"/>
          <c:order val="1"/>
          <c:tx>
            <c:strRef>
              <c:f>Sheet1!$C$1</c:f>
              <c:strCache>
                <c:ptCount val="1"/>
                <c:pt idx="0">
                  <c:v>80 mg</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36.44409415203238</c:v>
                </c:pt>
                <c:pt idx="1">
                  <c:v>34.80089368519529</c:v>
                </c:pt>
                <c:pt idx="2">
                  <c:v>32.23288230536694</c:v>
                </c:pt>
              </c:numCache>
            </c:numRef>
          </c:val>
        </c:ser>
        <c:ser>
          <c:idx val="2"/>
          <c:order val="2"/>
          <c:tx>
            <c:strRef>
              <c:f>Sheet1!$D$1</c:f>
              <c:strCache>
                <c:ptCount val="1"/>
                <c:pt idx="0">
                  <c:v>20 mg</c:v>
                </c:pt>
              </c:strCache>
            </c:strRef>
          </c:tx>
          <c:spPr>
            <a:solidFill>
              <a:srgbClr val="008189"/>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22.72393009320671</c:v>
                </c:pt>
                <c:pt idx="1">
                  <c:v>23.461819574258584</c:v>
                </c:pt>
                <c:pt idx="2">
                  <c:v>24.820989639400356</c:v>
                </c:pt>
              </c:numCache>
            </c:numRef>
          </c:val>
        </c:ser>
        <c:ser>
          <c:idx val="3"/>
          <c:order val="3"/>
          <c:tx>
            <c:strRef>
              <c:f>Sheet1!$E$1</c:f>
              <c:strCache>
                <c:ptCount val="1"/>
                <c:pt idx="0">
                  <c:v>100 mg/mL</c:v>
                </c:pt>
              </c:strCache>
            </c:strRef>
          </c:tx>
          <c:spPr>
            <a:solidFill>
              <a:srgbClr val="40315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9.286893004042827</c:v>
                </c:pt>
                <c:pt idx="1">
                  <c:v>9.693627655818753</c:v>
                </c:pt>
                <c:pt idx="2">
                  <c:v>10.344911582592156</c:v>
                </c:pt>
              </c:numCache>
            </c:numRef>
          </c:val>
        </c:ser>
        <c:gapWidth val="85"/>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Rheumatology</c:v>
                </c:pt>
              </c:strCache>
            </c:strRef>
          </c:tx>
          <c:spPr>
            <a:solidFill>
              <a:srgbClr val="3D85C6"/>
            </a:solidFill>
            <a:ln>
              <a:noFill/>
            </a:ln>
          </c:spPr>
          <c:dLbls>
            <c:dLbl>
              <c:idx val="0"/>
              <c:tx>
                <c:rich>
                  <a:bodyPr/>
                  <a:lstStyle/>
                  <a:p>
                    <a:r>
                      <a:rPr sz="750">
                        <a:solidFill>
                          <a:srgbClr val="FFFFFF"/>
                        </a:solidFill>
                        <a:latin typeface="Calibri"/>
                      </a:rPr>
                      <a:t>40%</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53%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Sheet1!$B$2:$B$3</c:f>
              <c:numCache>
                <c:formatCode>General</c:formatCode>
                <c:ptCount val="2"/>
                <c:pt idx="0">
                  <c:v>40.372720958330824</c:v>
                </c:pt>
                <c:pt idx="1">
                  <c:v>52.92343275055872</c:v>
                </c:pt>
              </c:numCache>
            </c:numRef>
          </c:val>
        </c:ser>
        <c:ser>
          <c:idx val="1"/>
          <c:order val="1"/>
          <c:tx>
            <c:strRef>
              <c:f>Sheet1!$C$1</c:f>
              <c:strCache>
                <c:ptCount val="1"/>
                <c:pt idx="0">
                  <c:v>Dermatology</c:v>
                </c:pt>
              </c:strCache>
            </c:strRef>
          </c:tx>
          <c:spPr>
            <a:solidFill>
              <a:srgbClr val="9E7E0A"/>
            </a:solidFill>
            <a:ln>
              <a:noFill/>
            </a:ln>
          </c:spPr>
          <c:dLbls>
            <c:dLbl>
              <c:idx val="0"/>
              <c:tx>
                <c:rich>
                  <a:bodyPr/>
                  <a:lstStyle/>
                  <a:p>
                    <a:r>
                      <a:rPr sz="750">
                        <a:solidFill>
                          <a:srgbClr val="FFFFFF"/>
                        </a:solidFill>
                        <a:latin typeface="Calibri"/>
                      </a:rPr>
                      <a:t>28%</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23%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Sheet1!$C$2:$C$3</c:f>
              <c:numCache>
                <c:formatCode>General</c:formatCode>
                <c:ptCount val="2"/>
                <c:pt idx="0">
                  <c:v>27.835778643791453</c:v>
                </c:pt>
                <c:pt idx="1">
                  <c:v>22.892479285781228</c:v>
                </c:pt>
              </c:numCache>
            </c:numRef>
          </c:val>
        </c:ser>
        <c:ser>
          <c:idx val="2"/>
          <c:order val="2"/>
          <c:tx>
            <c:strRef>
              <c:f>Sheet1!$D$1</c:f>
              <c:strCache>
                <c:ptCount val="1"/>
                <c:pt idx="0">
                  <c:v>Gastroenterology</c:v>
                </c:pt>
              </c:strCache>
            </c:strRef>
          </c:tx>
          <c:spPr>
            <a:solidFill>
              <a:srgbClr val="008189"/>
            </a:solidFill>
            <a:ln>
              <a:noFill/>
            </a:ln>
          </c:spPr>
          <c:dLbls>
            <c:dLbl>
              <c:idx val="0"/>
              <c:tx>
                <c:rich>
                  <a:bodyPr/>
                  <a:lstStyle/>
                  <a:p>
                    <a:r>
                      <a:rPr sz="750">
                        <a:solidFill>
                          <a:srgbClr val="FFFFFF"/>
                        </a:solidFill>
                        <a:latin typeface="Calibri"/>
                      </a:rPr>
                      <a:t>22%</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20%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Sheet1!$D$2:$D$3</c:f>
              <c:numCache>
                <c:formatCode>General</c:formatCode>
                <c:ptCount val="2"/>
                <c:pt idx="0">
                  <c:v>22.362479254908298</c:v>
                </c:pt>
                <c:pt idx="1">
                  <c:v>19.96653695165962</c:v>
                </c:pt>
              </c:numCache>
            </c:numRef>
          </c:val>
        </c:ser>
        <c:ser>
          <c:idx val="3"/>
          <c:order val="3"/>
          <c:tx>
            <c:strRef>
              <c:f>Sheet1!$E$1</c:f>
              <c:strCache>
                <c:ptCount val="1"/>
                <c:pt idx="0">
                  <c:v>Ophthalmology</c:v>
                </c:pt>
              </c:strCache>
            </c:strRef>
          </c:tx>
          <c:spPr>
            <a:solidFill>
              <a:srgbClr val="40315E"/>
            </a:solidFill>
            <a:ln>
              <a:noFill/>
            </a:ln>
          </c:spPr>
          <c:dLbls>
            <c:dLbl>
              <c:idx val="0"/>
              <c:tx>
                <c:rich>
                  <a:bodyPr/>
                  <a:lstStyle/>
                  <a:p>
                    <a:r>
                      <a:rPr sz="750">
                        <a:solidFill>
                          <a:srgbClr val="FFFFFF"/>
                        </a:solidFill>
                        <a:latin typeface="Calibri"/>
                      </a:rPr>
                      <a:t>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Sheet1!$E$2:$E$3</c:f>
              <c:numCache>
                <c:formatCode>General</c:formatCode>
                <c:ptCount val="2"/>
                <c:pt idx="0">
                  <c:v>9.429021142969434</c:v>
                </c:pt>
                <c:pt idx="1">
                  <c:v>4.2175510120004525</c:v>
                </c:pt>
              </c:numCache>
            </c:numRef>
          </c:val>
        </c:ser>
        <c:gapWidth val="178"/>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Rheumatology</c:v>
                </c:pt>
              </c:strCache>
            </c:strRef>
          </c:tx>
          <c:spPr>
            <a:solidFill>
              <a:srgbClr val="3D85C6"/>
            </a:solidFill>
          </c:spPr>
          <c:invertIfNegative val="0"/>
          <c:xVal>
            <c:numRef>
              <c:f>Sheet1!$A$2:$A$2</c:f>
              <c:numCache>
                <c:formatCode>General</c:formatCode>
                <c:ptCount val="1"/>
                <c:pt idx="0">
                  <c:v>101.45648090521382</c:v>
                </c:pt>
              </c:numCache>
            </c:numRef>
          </c:xVal>
          <c:yVal>
            <c:numRef>
              <c:f>Sheet1!$B$2:$B$2</c:f>
              <c:numCache>
                <c:formatCode>General</c:formatCode>
                <c:ptCount val="1"/>
                <c:pt idx="0">
                  <c:v>172.85545183931293</c:v>
                </c:pt>
              </c:numCache>
            </c:numRef>
          </c:yVal>
          <c:bubbleSize>
            <c:numRef>
              <c:f>Sheet1!$C$2:$C$2</c:f>
              <c:numCache>
                <c:formatCode>General</c:formatCode>
                <c:ptCount val="1"/>
                <c:pt idx="0">
                  <c:v>1955.9499999999998</c:v>
                </c:pt>
              </c:numCache>
            </c:numRef>
          </c:bubbleSize>
          <c:bubble3D val="0"/>
        </c:ser>
        <c:ser>
          <c:idx val="1"/>
          <c:order val="1"/>
          <c:tx>
            <c:strRef>
              <c:f>Sheet1!$B$4</c:f>
              <c:strCache>
                <c:ptCount val="1"/>
                <c:pt idx="0">
                  <c:v>Dermatology</c:v>
                </c:pt>
              </c:strCache>
            </c:strRef>
          </c:tx>
          <c:spPr>
            <a:solidFill>
              <a:srgbClr val="9E7E0A"/>
            </a:solidFill>
          </c:spPr>
          <c:invertIfNegative val="0"/>
          <c:xVal>
            <c:numRef>
              <c:f>Sheet1!$A$5:$A$5</c:f>
              <c:numCache>
                <c:formatCode>General</c:formatCode>
                <c:ptCount val="1"/>
                <c:pt idx="0">
                  <c:v>91.05757140507681</c:v>
                </c:pt>
              </c:numCache>
            </c:numRef>
          </c:xVal>
          <c:yVal>
            <c:numRef>
              <c:f>Sheet1!$B$5:$B$5</c:f>
              <c:numCache>
                <c:formatCode>General</c:formatCode>
                <c:ptCount val="1"/>
                <c:pt idx="0">
                  <c:v>88.32531275689524</c:v>
                </c:pt>
              </c:numCache>
            </c:numRef>
          </c:yVal>
          <c:bubbleSize>
            <c:numRef>
              <c:f>Sheet1!$C$5:$C$5</c:f>
              <c:numCache>
                <c:formatCode>General</c:formatCode>
                <c:ptCount val="1"/>
                <c:pt idx="0">
                  <c:v>920.817</c:v>
                </c:pt>
              </c:numCache>
            </c:numRef>
          </c:bubbleSize>
          <c:bubble3D val="0"/>
        </c:ser>
        <c:ser>
          <c:idx val="2"/>
          <c:order val="2"/>
          <c:tx>
            <c:strRef>
              <c:f>Sheet1!$B$7</c:f>
              <c:strCache>
                <c:ptCount val="1"/>
                <c:pt idx="0">
                  <c:v>Gastroenterology</c:v>
                </c:pt>
              </c:strCache>
            </c:strRef>
          </c:tx>
          <c:spPr>
            <a:solidFill>
              <a:srgbClr val="008189"/>
            </a:solidFill>
          </c:spPr>
          <c:invertIfNegative val="0"/>
          <c:xVal>
            <c:numRef>
              <c:f>Sheet1!$A$8:$A$8</c:f>
              <c:numCache>
                <c:formatCode>General</c:formatCode>
                <c:ptCount val="1"/>
                <c:pt idx="0">
                  <c:v>113.74392718758932</c:v>
                </c:pt>
              </c:numCache>
            </c:numRef>
          </c:xVal>
          <c:yVal>
            <c:numRef>
              <c:f>Sheet1!$B$8:$B$8</c:f>
              <c:numCache>
                <c:formatCode>General</c:formatCode>
                <c:ptCount val="1"/>
                <c:pt idx="0">
                  <c:v>88.20273748073365</c:v>
                </c:pt>
              </c:numCache>
            </c:numRef>
          </c:yVal>
          <c:bubbleSize>
            <c:numRef>
              <c:f>Sheet1!$C$8:$C$8</c:f>
              <c:numCache>
                <c:formatCode>General</c:formatCode>
                <c:ptCount val="1"/>
                <c:pt idx="0">
                  <c:v>1098.585</c:v>
                </c:pt>
              </c:numCache>
            </c:numRef>
          </c:bubbleSize>
          <c:bubble3D val="0"/>
        </c:ser>
        <c:ser>
          <c:idx val="3"/>
          <c:order val="3"/>
          <c:tx>
            <c:strRef>
              <c:f>Sheet1!$B$10</c:f>
              <c:strCache>
                <c:ptCount val="1"/>
                <c:pt idx="0">
                  <c:v>Ophthalmology</c:v>
                </c:pt>
              </c:strCache>
            </c:strRef>
          </c:tx>
          <c:spPr>
            <a:solidFill>
              <a:srgbClr val="40315E"/>
            </a:solidFill>
          </c:spPr>
          <c:invertIfNegative val="0"/>
          <c:xVal>
            <c:numRef>
              <c:f>Sheet1!$A$11:$A$11</c:f>
              <c:numCache>
                <c:formatCode>General</c:formatCode>
                <c:ptCount val="1"/>
                <c:pt idx="0">
                  <c:v>84.10937135816094</c:v>
                </c:pt>
              </c:numCache>
            </c:numRef>
          </c:xVal>
          <c:yVal>
            <c:numRef>
              <c:f>Sheet1!$B$11:$B$11</c:f>
              <c:numCache>
                <c:formatCode>General</c:formatCode>
                <c:ptCount val="1"/>
                <c:pt idx="0">
                  <c:v>50.616497923058176</c:v>
                </c:pt>
              </c:numCache>
            </c:numRef>
          </c:yVal>
          <c:bubbleSize>
            <c:numRef>
              <c:f>Sheet1!$C$11:$C$11</c:f>
              <c:numCache>
                <c:formatCode>General</c:formatCode>
                <c:ptCount val="1"/>
                <c:pt idx="0">
                  <c:v>499.389</c:v>
                </c:pt>
              </c:numCache>
            </c:numRef>
          </c:bubbleSize>
          <c:bubble3D val="0"/>
        </c:ser>
        <c:dLbls>
          <c:showLegendKey val="0"/>
          <c:showVal val="0"/>
          <c:showCatName val="0"/>
          <c:showSerName val="0"/>
          <c:showPercent val="0"/>
          <c:showBubbleSize val="0"/>
        </c:dLbls>
        <c:bubbleScale val="100"/>
        <c:showNegBubbles val="0"/>
        <c:axId val="-2115720072"/>
        <c:axId val="-2115723560"/>
      </c:bubbleChart>
      <c:valAx>
        <c:axId val="-2115720072"/>
        <c:scaling>
          <c:orientation val="minMax"/>
        </c:scaling>
        <c:delete val="0"/>
        <c:axPos val="b"/>
        <c:numFmt formatCode="General" sourceLinked="1"/>
        <c:majorTickMark val="out"/>
        <c:minorTickMark val="none"/>
        <c:tickLblPos val="nextTo"/>
        <c:spPr>
          <a:ln>
            <a:solidFill>
              <a:srgbClr val="C6D5E1"/>
            </a:solidFill>
          </a:ln>
        </c:spPr>
        <c:txPr>
          <a:bodyPr/>
          <a:lstStyle/>
          <a:p>
            <a:pPr>
              <a:defRPr sz="850"/>
            </a:pPr>
          </a:p>
        </c:txPr>
        <c:crossAx val="-2115723560"/>
        <c:crosses val="autoZero"/>
        <c:crossBetween val="midCat"/>
      </c:valAx>
      <c:valAx>
        <c:axId val="-2115723560"/>
        <c:scaling>
          <c:orientation val="minMax"/>
        </c:scaling>
        <c:delete val="0"/>
        <c:axPos val="l"/>
        <c:numFmt formatCode="General" sourceLinked="1"/>
        <c:majorTickMark val="out"/>
        <c:minorTickMark val="none"/>
        <c:tickLblPos val="nextTo"/>
        <c:spPr>
          <a:ln>
            <a:solidFill>
              <a:srgbClr val="C6D5E1"/>
            </a:solidFill>
          </a:ln>
        </c:spPr>
        <c:txPr>
          <a:bodyPr/>
          <a:lstStyle/>
          <a:p>
            <a:pPr>
              <a:defRPr sz="850"/>
            </a:pPr>
          </a:p>
        </c:txPr>
        <c:crossAx val="-2115720072"/>
        <c:crosses val="autoZero"/>
        <c:crossBetween val="midCat"/>
      </c:valAx>
    </c:plotArea>
    <c:legend>
      <c:legendPos val="b"/>
      <c:layout/>
      <c:overlay val="0"/>
      <c:txPr>
        <a:bodyPr/>
        <a:lstStyle/>
        <a:p>
          <a:pPr>
            <a:defRPr sz="850"/>
          </a:pPr>
        </a:p>
      </c:txPr>
    </c:legend>
    <c:plotVisOnly val="1"/>
    <c:dispBlanksAs val="gap"/>
    <c:showDLblsOverMax val="0"/>
  </c:chart>
  <c:txPr>
    <a:bodyPr/>
    <a:lstStyle/>
    <a:p>
      <a:pPr>
        <a:defRPr sz="800">
          <a:latin typeface="Calibri"/>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2021</c:v>
                </c:pt>
                <c:pt idx="1">
                  <c:v>2022</c:v>
                </c:pt>
                <c:pt idx="2">
                  <c:v>2023</c:v>
                </c:pt>
                <c:pt idx="3">
                  <c:v>2024</c:v>
                </c:pt>
                <c:pt idx="4">
                  <c:v>2025</c:v>
                </c:pt>
                <c:pt idx="5">
                  <c:v>2025 Total</c:v>
                </c:pt>
              </c:strCache>
            </c:strRef>
          </c:cat>
          <c:val>
            <c:numRef>
              <c:f>Sheet1!$B$2:$B$7</c:f>
              <c:numCache>
                <c:formatCode>General</c:formatCode>
                <c:ptCount val="6"/>
                <c:pt idx="0">
                  <c:v>0.0</c:v>
                </c:pt>
                <c:pt idx="1">
                  <c:v>852.6210000000001</c:v>
                </c:pt>
                <c:pt idx="2">
                  <c:v>958.066</c:v>
                </c:pt>
                <c:pt idx="3">
                  <c:v>1141.952</c:v>
                </c:pt>
                <c:pt idx="4">
                  <c:v>1404.643</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2021</c:v>
                </c:pt>
                <c:pt idx="1">
                  <c:v>2022</c:v>
                </c:pt>
                <c:pt idx="2">
                  <c:v>2023</c:v>
                </c:pt>
                <c:pt idx="3">
                  <c:v>2024</c:v>
                </c:pt>
                <c:pt idx="4">
                  <c:v>2025</c:v>
                </c:pt>
                <c:pt idx="5">
                  <c:v>2025 Total</c:v>
                </c:pt>
              </c:strCache>
            </c:strRef>
          </c:cat>
          <c:val>
            <c:numRef>
              <c:f>Sheet1!$C$2:$C$7</c:f>
              <c:numCache>
                <c:formatCode>General</c:formatCode>
                <c:ptCount val="6"/>
                <c:pt idx="0">
                  <c:v>852.6210000000001</c:v>
                </c:pt>
                <c:pt idx="1">
                  <c:v>105.44499999999994</c:v>
                </c:pt>
                <c:pt idx="2">
                  <c:v>183.88599999999997</c:v>
                </c:pt>
                <c:pt idx="3">
                  <c:v>262.69100000000003</c:v>
                </c:pt>
                <c:pt idx="4">
                  <c:v>286.3030000000001</c:v>
                </c:pt>
                <c:pt idx="5">
                  <c:v>1690.9460000000001</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2027</c:v>
                </c:pt>
                <c:pt idx="2">
                  <c:v>2028</c:v>
                </c:pt>
                <c:pt idx="3">
                  <c:v>2029</c:v>
                </c:pt>
                <c:pt idx="4">
                  <c:v>2030</c:v>
                </c:pt>
                <c:pt idx="5">
                  <c:v>2031</c:v>
                </c:pt>
                <c:pt idx="6">
                  <c:v>2031 Total</c:v>
                </c:pt>
              </c:strCache>
            </c:strRef>
          </c:cat>
          <c:val>
            <c:numRef>
              <c:f>Sheet1!$B$2:$B$8</c:f>
              <c:numCache>
                <c:formatCode>General</c:formatCode>
                <c:ptCount val="7"/>
                <c:pt idx="0">
                  <c:v>0.0</c:v>
                </c:pt>
                <c:pt idx="1">
                  <c:v>1974.297</c:v>
                </c:pt>
                <c:pt idx="2">
                  <c:v>2263.314</c:v>
                </c:pt>
                <c:pt idx="3">
                  <c:v>2542.1620000000003</c:v>
                </c:pt>
                <c:pt idx="4">
                  <c:v>2814.308</c:v>
                </c:pt>
                <c:pt idx="5">
                  <c:v>3078.6240000000003</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2027</c:v>
                </c:pt>
                <c:pt idx="2">
                  <c:v>2028</c:v>
                </c:pt>
                <c:pt idx="3">
                  <c:v>2029</c:v>
                </c:pt>
                <c:pt idx="4">
                  <c:v>2030</c:v>
                </c:pt>
                <c:pt idx="5">
                  <c:v>2031</c:v>
                </c:pt>
                <c:pt idx="6">
                  <c:v>2031 Total</c:v>
                </c:pt>
              </c:strCache>
            </c:strRef>
          </c:cat>
          <c:val>
            <c:numRef>
              <c:f>Sheet1!$C$2:$C$8</c:f>
              <c:numCache>
                <c:formatCode>General</c:formatCode>
                <c:ptCount val="7"/>
                <c:pt idx="0">
                  <c:v>1974.297</c:v>
                </c:pt>
                <c:pt idx="1">
                  <c:v>289.0169999999998</c:v>
                </c:pt>
                <c:pt idx="2">
                  <c:v>278.8480000000004</c:v>
                </c:pt>
                <c:pt idx="3">
                  <c:v>272.14599999999973</c:v>
                </c:pt>
                <c:pt idx="4">
                  <c:v>264.31600000000026</c:v>
                </c:pt>
                <c:pt idx="5">
                  <c:v>254.89600000000019</c:v>
                </c:pt>
                <c:pt idx="6">
                  <c:v>3333.5200000000004</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2031</c:v>
                </c:pt>
                <c:pt idx="1">
                  <c:v>2032</c:v>
                </c:pt>
                <c:pt idx="2">
                  <c:v>2033</c:v>
                </c:pt>
                <c:pt idx="3">
                  <c:v>2034</c:v>
                </c:pt>
                <c:pt idx="4">
                  <c:v>2035</c:v>
                </c:pt>
                <c:pt idx="5">
                  <c:v>2036</c:v>
                </c:pt>
                <c:pt idx="6">
                  <c:v>2036 Total</c:v>
                </c:pt>
              </c:strCache>
            </c:strRef>
          </c:cat>
          <c:val>
            <c:numRef>
              <c:f>Sheet1!$B$2:$B$8</c:f>
              <c:numCache>
                <c:formatCode>General</c:formatCode>
                <c:ptCount val="7"/>
                <c:pt idx="0">
                  <c:v>0.0</c:v>
                </c:pt>
                <c:pt idx="1">
                  <c:v>3333.5200000000004</c:v>
                </c:pt>
                <c:pt idx="2">
                  <c:v>3579.1420000000003</c:v>
                </c:pt>
                <c:pt idx="3">
                  <c:v>3813.845</c:v>
                </c:pt>
                <c:pt idx="4">
                  <c:v>4040.685</c:v>
                </c:pt>
                <c:pt idx="5">
                  <c:v>4260.443</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2031</c:v>
                </c:pt>
                <c:pt idx="1">
                  <c:v>2032</c:v>
                </c:pt>
                <c:pt idx="2">
                  <c:v>2033</c:v>
                </c:pt>
                <c:pt idx="3">
                  <c:v>2034</c:v>
                </c:pt>
                <c:pt idx="4">
                  <c:v>2035</c:v>
                </c:pt>
                <c:pt idx="5">
                  <c:v>2036</c:v>
                </c:pt>
                <c:pt idx="6">
                  <c:v>2036 Total</c:v>
                </c:pt>
              </c:strCache>
            </c:strRef>
          </c:cat>
          <c:val>
            <c:numRef>
              <c:f>Sheet1!$C$2:$C$8</c:f>
              <c:numCache>
                <c:formatCode>General</c:formatCode>
                <c:ptCount val="7"/>
                <c:pt idx="0">
                  <c:v>3333.5200000000004</c:v>
                </c:pt>
                <c:pt idx="1">
                  <c:v>245.62199999999984</c:v>
                </c:pt>
                <c:pt idx="2">
                  <c:v>234.70299999999952</c:v>
                </c:pt>
                <c:pt idx="3">
                  <c:v>226.84000000000015</c:v>
                </c:pt>
                <c:pt idx="4">
                  <c:v>219.75800000000027</c:v>
                </c:pt>
                <c:pt idx="5">
                  <c:v>214.29799999999977</c:v>
                </c:pt>
                <c:pt idx="6">
                  <c:v>4474.741</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Rheumatology</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42.99811991494462</c:v>
                </c:pt>
                <c:pt idx="1">
                  <c:v>43.213862959828234</c:v>
                </c:pt>
                <c:pt idx="2">
                  <c:v>43.710909748743</c:v>
                </c:pt>
              </c:numCache>
            </c:numRef>
          </c:val>
        </c:ser>
        <c:ser>
          <c:idx val="1"/>
          <c:order val="1"/>
          <c:tx>
            <c:strRef>
              <c:f>Sheet1!$C$1</c:f>
              <c:strCache>
                <c:ptCount val="1"/>
                <c:pt idx="0">
                  <c:v>Gastroenterology</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20.857567430311942</c:v>
                </c:pt>
                <c:pt idx="1">
                  <c:v>22.05068437018341</c:v>
                </c:pt>
                <c:pt idx="2">
                  <c:v>24.550806404214235</c:v>
                </c:pt>
              </c:numCache>
            </c:numRef>
          </c:val>
        </c:ser>
        <c:ser>
          <c:idx val="2"/>
          <c:order val="2"/>
          <c:tx>
            <c:strRef>
              <c:f>Sheet1!$D$1</c:f>
              <c:strCache>
                <c:ptCount val="1"/>
                <c:pt idx="0">
                  <c:v>Dermatology</c:v>
                </c:pt>
              </c:strCache>
            </c:strRef>
          </c:tx>
          <c:spPr>
            <a:solidFill>
              <a:srgbClr val="008189"/>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22.75020202411153</c:v>
                </c:pt>
                <c:pt idx="1">
                  <c:v>22.08132818922381</c:v>
                </c:pt>
                <c:pt idx="2">
                  <c:v>20.578107202182206</c:v>
                </c:pt>
              </c:numCache>
            </c:numRef>
          </c:val>
        </c:ser>
        <c:ser>
          <c:idx val="3"/>
          <c:order val="3"/>
          <c:tx>
            <c:strRef>
              <c:f>Sheet1!$E$1</c:f>
              <c:strCache>
                <c:ptCount val="1"/>
                <c:pt idx="0">
                  <c:v>Ophthalmology</c:v>
                </c:pt>
              </c:strCache>
            </c:strRef>
          </c:tx>
          <c:spPr>
            <a:solidFill>
              <a:srgbClr val="40315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13.394110630631898</c:v>
                </c:pt>
                <c:pt idx="1">
                  <c:v>12.654124480764544</c:v>
                </c:pt>
                <c:pt idx="2">
                  <c:v>11.160176644860563</c:v>
                </c:pt>
              </c:numCache>
            </c:numRef>
          </c:val>
        </c:ser>
        <c:gapWidth val="85"/>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Hospitals</c:v>
                </c:pt>
              </c:strCache>
            </c:strRef>
          </c:tx>
          <c:spPr>
            <a:solidFill>
              <a:srgbClr val="3D85C6"/>
            </a:solidFill>
            <a:ln>
              <a:noFill/>
            </a:ln>
          </c:spPr>
          <c:dLbls>
            <c:dLbl>
              <c:idx val="0"/>
              <c:tx>
                <c:rich>
                  <a:bodyPr/>
                  <a:lstStyle/>
                  <a:p>
                    <a:r>
                      <a:rPr sz="750">
                        <a:solidFill>
                          <a:srgbClr val="FFFFFF"/>
                        </a:solidFill>
                        <a:latin typeface="Calibri"/>
                      </a:rPr>
                      <a:t>22%</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26%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Sheet1!$B$2:$B$3</c:f>
              <c:numCache>
                <c:formatCode>General</c:formatCode>
                <c:ptCount val="2"/>
                <c:pt idx="0">
                  <c:v>22.300706062722643</c:v>
                </c:pt>
                <c:pt idx="1">
                  <c:v>25.716906788844213</c:v>
                </c:pt>
              </c:numCache>
            </c:numRef>
          </c:val>
        </c:ser>
        <c:ser>
          <c:idx val="1"/>
          <c:order val="1"/>
          <c:tx>
            <c:strRef>
              <c:f>Sheet1!$C$1</c:f>
              <c:strCache>
                <c:ptCount val="1"/>
                <c:pt idx="0">
                  <c:v>Specialty Clinics</c:v>
                </c:pt>
              </c:strCache>
            </c:strRef>
          </c:tx>
          <c:spPr>
            <a:solidFill>
              <a:srgbClr val="9E7E0A"/>
            </a:solidFill>
            <a:ln>
              <a:noFill/>
            </a:ln>
          </c:spPr>
          <c:dLbls>
            <c:dLbl>
              <c:idx val="0"/>
              <c:tx>
                <c:rich>
                  <a:bodyPr/>
                  <a:lstStyle/>
                  <a:p>
                    <a:r>
                      <a:rPr sz="750">
                        <a:solidFill>
                          <a:srgbClr val="FFFFFF"/>
                        </a:solidFill>
                        <a:latin typeface="Calibri"/>
                      </a:rPr>
                      <a:t>37%</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33%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Sheet1!$C$2:$C$3</c:f>
              <c:numCache>
                <c:formatCode>General</c:formatCode>
                <c:ptCount val="2"/>
                <c:pt idx="0">
                  <c:v>36.75787048836815</c:v>
                </c:pt>
                <c:pt idx="1">
                  <c:v>32.58098048994614</c:v>
                </c:pt>
              </c:numCache>
            </c:numRef>
          </c:val>
        </c:ser>
        <c:ser>
          <c:idx val="2"/>
          <c:order val="2"/>
          <c:tx>
            <c:strRef>
              <c:f>Sheet1!$D$1</c:f>
              <c:strCache>
                <c:ptCount val="1"/>
                <c:pt idx="0">
                  <c:v>Retail / Specialty Pharmacies</c:v>
                </c:pt>
              </c:strCache>
            </c:strRef>
          </c:tx>
          <c:spPr>
            <a:solidFill>
              <a:srgbClr val="008189"/>
            </a:solidFill>
            <a:ln>
              <a:noFill/>
            </a:ln>
          </c:spPr>
          <c:dLbls>
            <c:dLbl>
              <c:idx val="0"/>
              <c:tx>
                <c:rich>
                  <a:bodyPr/>
                  <a:lstStyle/>
                  <a:p>
                    <a:r>
                      <a:rPr sz="750">
                        <a:solidFill>
                          <a:srgbClr val="FFFFFF"/>
                        </a:solidFill>
                        <a:latin typeface="Calibri"/>
                      </a:rPr>
                      <a:t>14%</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Sheet1!$D$2:$D$3</c:f>
              <c:numCache>
                <c:formatCode>General</c:formatCode>
                <c:ptCount val="2"/>
                <c:pt idx="0">
                  <c:v>13.805773410094224</c:v>
                </c:pt>
                <c:pt idx="1">
                  <c:v>18.00958399808285</c:v>
                </c:pt>
              </c:numCache>
            </c:numRef>
          </c:val>
        </c:ser>
        <c:ser>
          <c:idx val="3"/>
          <c:order val="3"/>
          <c:tx>
            <c:strRef>
              <c:f>Sheet1!$E$1</c:f>
              <c:strCache>
                <c:ptCount val="1"/>
                <c:pt idx="0">
                  <c:v>Institutional Buyers</c:v>
                </c:pt>
              </c:strCache>
            </c:strRef>
          </c:tx>
          <c:spPr>
            <a:solidFill>
              <a:srgbClr val="40315E"/>
            </a:solidFill>
            <a:ln>
              <a:noFill/>
            </a:ln>
          </c:spPr>
          <c:dLbls>
            <c:dLbl>
              <c:idx val="0"/>
              <c:tx>
                <c:rich>
                  <a:bodyPr/>
                  <a:lstStyle/>
                  <a:p>
                    <a:r>
                      <a:rPr sz="750">
                        <a:solidFill>
                          <a:srgbClr val="FFFFFF"/>
                        </a:solidFill>
                        <a:latin typeface="Calibri"/>
                      </a:rPr>
                      <a:t>27%</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24%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Sheet1!$E$2:$E$3</c:f>
              <c:numCache>
                <c:formatCode>General</c:formatCode>
                <c:ptCount val="2"/>
                <c:pt idx="0">
                  <c:v>27.135650038814962</c:v>
                </c:pt>
                <c:pt idx="1">
                  <c:v>23.692528723126784</c:v>
                </c:pt>
              </c:numCache>
            </c:numRef>
          </c:val>
        </c:ser>
        <c:gapWidth val="178"/>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Hospitals</c:v>
                </c:pt>
              </c:strCache>
            </c:strRef>
          </c:tx>
          <c:spPr>
            <a:solidFill>
              <a:srgbClr val="3D85C6"/>
            </a:solidFill>
          </c:spPr>
          <c:invertIfNegative val="0"/>
          <c:xVal>
            <c:numRef>
              <c:f>Sheet1!$A$2:$A$2</c:f>
              <c:numCache>
                <c:formatCode>General</c:formatCode>
                <c:ptCount val="1"/>
                <c:pt idx="0">
                  <c:v>123.77058430032693</c:v>
                </c:pt>
              </c:numCache>
            </c:numRef>
          </c:xVal>
          <c:yVal>
            <c:numRef>
              <c:f>Sheet1!$B$2:$B$2</c:f>
              <c:numCache>
                <c:formatCode>General</c:formatCode>
                <c:ptCount val="1"/>
                <c:pt idx="0">
                  <c:v>84.72078922269547</c:v>
                </c:pt>
              </c:numCache>
            </c:numRef>
          </c:yVal>
          <c:bubbleSize>
            <c:numRef>
              <c:f>Sheet1!$C$2:$C$2</c:f>
              <c:numCache>
                <c:formatCode>General</c:formatCode>
                <c:ptCount val="1"/>
                <c:pt idx="0">
                  <c:v>1140.398</c:v>
                </c:pt>
              </c:numCache>
            </c:numRef>
          </c:bubbleSize>
          <c:bubble3D val="0"/>
        </c:ser>
        <c:ser>
          <c:idx val="1"/>
          <c:order val="1"/>
          <c:tx>
            <c:strRef>
              <c:f>Sheet1!$B$4</c:f>
              <c:strCache>
                <c:ptCount val="1"/>
                <c:pt idx="0">
                  <c:v>Specialty Clinics</c:v>
                </c:pt>
              </c:strCache>
            </c:strRef>
          </c:tx>
          <c:spPr>
            <a:solidFill>
              <a:srgbClr val="9E7E0A"/>
            </a:solidFill>
          </c:spPr>
          <c:invertIfNegative val="0"/>
          <c:xVal>
            <c:numRef>
              <c:f>Sheet1!$A$5:$A$5</c:f>
              <c:numCache>
                <c:formatCode>General</c:formatCode>
                <c:ptCount val="1"/>
                <c:pt idx="0">
                  <c:v>86.45270343765021</c:v>
                </c:pt>
              </c:numCache>
            </c:numRef>
          </c:xVal>
          <c:yVal>
            <c:numRef>
              <c:f>Sheet1!$B$5:$B$5</c:f>
              <c:numCache>
                <c:formatCode>General</c:formatCode>
                <c:ptCount val="1"/>
                <c:pt idx="0">
                  <c:v>132.70141219887384</c:v>
                </c:pt>
              </c:numCache>
            </c:numRef>
          </c:yVal>
          <c:bubbleSize>
            <c:numRef>
              <c:f>Sheet1!$C$5:$C$5</c:f>
              <c:numCache>
                <c:formatCode>General</c:formatCode>
                <c:ptCount val="1"/>
                <c:pt idx="0">
                  <c:v>1333.864</c:v>
                </c:pt>
              </c:numCache>
            </c:numRef>
          </c:bubbleSize>
          <c:bubble3D val="0"/>
        </c:ser>
        <c:ser>
          <c:idx val="2"/>
          <c:order val="2"/>
          <c:tx>
            <c:strRef>
              <c:f>Sheet1!$B$7</c:f>
              <c:strCache>
                <c:ptCount val="1"/>
                <c:pt idx="0">
                  <c:v>Retail / Specialty Pharmacies</c:v>
                </c:pt>
              </c:strCache>
            </c:strRef>
          </c:tx>
          <c:spPr>
            <a:solidFill>
              <a:srgbClr val="008189"/>
            </a:solidFill>
          </c:spPr>
          <c:invertIfNegative val="0"/>
          <c:xVal>
            <c:numRef>
              <c:f>Sheet1!$A$8:$A$8</c:f>
              <c:numCache>
                <c:formatCode>General</c:formatCode>
                <c:ptCount val="1"/>
                <c:pt idx="0">
                  <c:v>94.24502910260915</c:v>
                </c:pt>
              </c:numCache>
            </c:numRef>
          </c:xVal>
          <c:yVal>
            <c:numRef>
              <c:f>Sheet1!$B$8:$B$8</c:f>
              <c:numCache>
                <c:formatCode>General</c:formatCode>
                <c:ptCount val="1"/>
                <c:pt idx="0">
                  <c:v>98.34204276256308</c:v>
                </c:pt>
              </c:numCache>
            </c:numRef>
          </c:yVal>
          <c:bubbleSize>
            <c:numRef>
              <c:f>Sheet1!$C$8:$C$8</c:f>
              <c:numCache>
                <c:formatCode>General</c:formatCode>
                <c:ptCount val="1"/>
                <c:pt idx="0">
                  <c:v>1051.396</c:v>
                </c:pt>
              </c:numCache>
            </c:numRef>
          </c:bubbleSize>
          <c:bubble3D val="0"/>
        </c:ser>
        <c:ser>
          <c:idx val="3"/>
          <c:order val="3"/>
          <c:tx>
            <c:strRef>
              <c:f>Sheet1!$B$10</c:f>
              <c:strCache>
                <c:ptCount val="1"/>
                <c:pt idx="0">
                  <c:v>Institutional Buyers</c:v>
                </c:pt>
              </c:strCache>
            </c:strRef>
          </c:tx>
          <c:spPr>
            <a:solidFill>
              <a:srgbClr val="40315E"/>
            </a:solidFill>
          </c:spPr>
          <c:invertIfNegative val="0"/>
          <c:xVal>
            <c:numRef>
              <c:f>Sheet1!$A$11:$A$11</c:f>
              <c:numCache>
                <c:formatCode>General</c:formatCode>
                <c:ptCount val="1"/>
                <c:pt idx="0">
                  <c:v>100.90881006627419</c:v>
                </c:pt>
              </c:numCache>
            </c:numRef>
          </c:xVal>
          <c:yVal>
            <c:numRef>
              <c:f>Sheet1!$B$11:$B$11</c:f>
              <c:numCache>
                <c:formatCode>General</c:formatCode>
                <c:ptCount val="1"/>
                <c:pt idx="0">
                  <c:v>84.23575581586762</c:v>
                </c:pt>
              </c:numCache>
            </c:numRef>
          </c:yVal>
          <c:bubbleSize>
            <c:numRef>
              <c:f>Sheet1!$C$11:$C$11</c:f>
              <c:numCache>
                <c:formatCode>General</c:formatCode>
                <c:ptCount val="1"/>
                <c:pt idx="0">
                  <c:v>949.083</c:v>
                </c:pt>
              </c:numCache>
            </c:numRef>
          </c:bubbleSize>
          <c:bubble3D val="0"/>
        </c:ser>
        <c:dLbls>
          <c:showLegendKey val="0"/>
          <c:showVal val="0"/>
          <c:showCatName val="0"/>
          <c:showSerName val="0"/>
          <c:showPercent val="0"/>
          <c:showBubbleSize val="0"/>
        </c:dLbls>
        <c:bubbleScale val="100"/>
        <c:showNegBubbles val="0"/>
        <c:axId val="-2115720072"/>
        <c:axId val="-2115723560"/>
      </c:bubbleChart>
      <c:valAx>
        <c:axId val="-2115720072"/>
        <c:scaling>
          <c:orientation val="minMax"/>
        </c:scaling>
        <c:delete val="0"/>
        <c:axPos val="b"/>
        <c:numFmt formatCode="General" sourceLinked="1"/>
        <c:majorTickMark val="out"/>
        <c:minorTickMark val="none"/>
        <c:tickLblPos val="nextTo"/>
        <c:spPr>
          <a:ln>
            <a:solidFill>
              <a:srgbClr val="C6D5E1"/>
            </a:solidFill>
          </a:ln>
        </c:spPr>
        <c:txPr>
          <a:bodyPr/>
          <a:lstStyle/>
          <a:p>
            <a:pPr>
              <a:defRPr sz="850"/>
            </a:pPr>
          </a:p>
        </c:txPr>
        <c:crossAx val="-2115723560"/>
        <c:crosses val="autoZero"/>
        <c:crossBetween val="midCat"/>
      </c:valAx>
      <c:valAx>
        <c:axId val="-2115723560"/>
        <c:scaling>
          <c:orientation val="minMax"/>
        </c:scaling>
        <c:delete val="0"/>
        <c:axPos val="l"/>
        <c:numFmt formatCode="General" sourceLinked="1"/>
        <c:majorTickMark val="out"/>
        <c:minorTickMark val="none"/>
        <c:tickLblPos val="nextTo"/>
        <c:spPr>
          <a:ln>
            <a:solidFill>
              <a:srgbClr val="C6D5E1"/>
            </a:solidFill>
          </a:ln>
        </c:spPr>
        <c:txPr>
          <a:bodyPr/>
          <a:lstStyle/>
          <a:p>
            <a:pPr>
              <a:defRPr sz="850"/>
            </a:pPr>
          </a:p>
        </c:txPr>
        <c:crossAx val="-2115720072"/>
        <c:crosses val="autoZero"/>
        <c:crossBetween val="midCat"/>
      </c:valAx>
    </c:plotArea>
    <c:legend>
      <c:legendPos val="b"/>
      <c:layout/>
      <c:overlay val="0"/>
      <c:txPr>
        <a:bodyPr/>
        <a:lstStyle/>
        <a:p>
          <a:pPr>
            <a:defRPr sz="850"/>
          </a:pPr>
        </a:p>
      </c:txPr>
    </c:legend>
    <c:plotVisOnly val="1"/>
    <c:dispBlanksAs val="gap"/>
    <c:showDLblsOverMax val="0"/>
  </c:chart>
  <c:txPr>
    <a:bodyPr/>
    <a:lstStyle/>
    <a:p>
      <a:pPr>
        <a:defRPr sz="800">
          <a:latin typeface="Calibri"/>
        </a:defRPr>
      </a:pPr>
      <a:endParaRPr lang="en-US"/>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2021</c:v>
                </c:pt>
                <c:pt idx="1">
                  <c:v>2022</c:v>
                </c:pt>
                <c:pt idx="2">
                  <c:v>2023</c:v>
                </c:pt>
                <c:pt idx="3">
                  <c:v>2024</c:v>
                </c:pt>
                <c:pt idx="4">
                  <c:v>2025</c:v>
                </c:pt>
                <c:pt idx="5">
                  <c:v>2025 Total</c:v>
                </c:pt>
              </c:strCache>
            </c:strRef>
          </c:cat>
          <c:val>
            <c:numRef>
              <c:f>Sheet1!$B$2:$B$7</c:f>
              <c:numCache>
                <c:formatCode>General</c:formatCode>
                <c:ptCount val="6"/>
                <c:pt idx="0">
                  <c:v>0.0</c:v>
                </c:pt>
                <c:pt idx="1">
                  <c:v>852.6210000000001</c:v>
                </c:pt>
                <c:pt idx="2">
                  <c:v>958.0659999999999</c:v>
                </c:pt>
                <c:pt idx="3">
                  <c:v>1141.952</c:v>
                </c:pt>
                <c:pt idx="4">
                  <c:v>1404.643</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2021</c:v>
                </c:pt>
                <c:pt idx="1">
                  <c:v>2022</c:v>
                </c:pt>
                <c:pt idx="2">
                  <c:v>2023</c:v>
                </c:pt>
                <c:pt idx="3">
                  <c:v>2024</c:v>
                </c:pt>
                <c:pt idx="4">
                  <c:v>2025</c:v>
                </c:pt>
                <c:pt idx="5">
                  <c:v>2025 Total</c:v>
                </c:pt>
              </c:strCache>
            </c:strRef>
          </c:cat>
          <c:val>
            <c:numRef>
              <c:f>Sheet1!$C$2:$C$7</c:f>
              <c:numCache>
                <c:formatCode>General</c:formatCode>
                <c:ptCount val="6"/>
                <c:pt idx="0">
                  <c:v>852.6210000000001</c:v>
                </c:pt>
                <c:pt idx="1">
                  <c:v>105.44499999999982</c:v>
                </c:pt>
                <c:pt idx="2">
                  <c:v>183.88600000000008</c:v>
                </c:pt>
                <c:pt idx="3">
                  <c:v>262.69100000000003</c:v>
                </c:pt>
                <c:pt idx="4">
                  <c:v>286.3029999999999</c:v>
                </c:pt>
                <c:pt idx="5">
                  <c:v>1690.946</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2027</c:v>
                </c:pt>
                <c:pt idx="2">
                  <c:v>2028</c:v>
                </c:pt>
                <c:pt idx="3">
                  <c:v>2029</c:v>
                </c:pt>
                <c:pt idx="4">
                  <c:v>2030</c:v>
                </c:pt>
                <c:pt idx="5">
                  <c:v>2031</c:v>
                </c:pt>
                <c:pt idx="6">
                  <c:v>2031 Total</c:v>
                </c:pt>
              </c:strCache>
            </c:strRef>
          </c:cat>
          <c:val>
            <c:numRef>
              <c:f>Sheet1!$B$2:$B$8</c:f>
              <c:numCache>
                <c:formatCode>General</c:formatCode>
                <c:ptCount val="7"/>
                <c:pt idx="0">
                  <c:v>0.0</c:v>
                </c:pt>
                <c:pt idx="1">
                  <c:v>1974.297</c:v>
                </c:pt>
                <c:pt idx="2">
                  <c:v>2263.314</c:v>
                </c:pt>
                <c:pt idx="3">
                  <c:v>2542.1620000000003</c:v>
                </c:pt>
                <c:pt idx="4">
                  <c:v>2814.3080000000004</c:v>
                </c:pt>
                <c:pt idx="5">
                  <c:v>3078.624</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2027</c:v>
                </c:pt>
                <c:pt idx="2">
                  <c:v>2028</c:v>
                </c:pt>
                <c:pt idx="3">
                  <c:v>2029</c:v>
                </c:pt>
                <c:pt idx="4">
                  <c:v>2030</c:v>
                </c:pt>
                <c:pt idx="5">
                  <c:v>2031</c:v>
                </c:pt>
                <c:pt idx="6">
                  <c:v>2031 Total</c:v>
                </c:pt>
              </c:strCache>
            </c:strRef>
          </c:cat>
          <c:val>
            <c:numRef>
              <c:f>Sheet1!$C$2:$C$8</c:f>
              <c:numCache>
                <c:formatCode>General</c:formatCode>
                <c:ptCount val="7"/>
                <c:pt idx="0">
                  <c:v>1974.297</c:v>
                </c:pt>
                <c:pt idx="1">
                  <c:v>289.0169999999998</c:v>
                </c:pt>
                <c:pt idx="2">
                  <c:v>278.8480000000004</c:v>
                </c:pt>
                <c:pt idx="3">
                  <c:v>272.1460000000002</c:v>
                </c:pt>
                <c:pt idx="4">
                  <c:v>264.31599999999935</c:v>
                </c:pt>
                <c:pt idx="5">
                  <c:v>254.89600000000064</c:v>
                </c:pt>
                <c:pt idx="6">
                  <c:v>3333.5200000000004</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2031</c:v>
                </c:pt>
                <c:pt idx="1">
                  <c:v>2032</c:v>
                </c:pt>
                <c:pt idx="2">
                  <c:v>2033</c:v>
                </c:pt>
                <c:pt idx="3">
                  <c:v>2034</c:v>
                </c:pt>
                <c:pt idx="4">
                  <c:v>2035</c:v>
                </c:pt>
                <c:pt idx="5">
                  <c:v>2036</c:v>
                </c:pt>
                <c:pt idx="6">
                  <c:v>2036 Total</c:v>
                </c:pt>
              </c:strCache>
            </c:strRef>
          </c:cat>
          <c:val>
            <c:numRef>
              <c:f>Sheet1!$B$2:$B$8</c:f>
              <c:numCache>
                <c:formatCode>General</c:formatCode>
                <c:ptCount val="7"/>
                <c:pt idx="0">
                  <c:v>0.0</c:v>
                </c:pt>
                <c:pt idx="1">
                  <c:v>3333.5200000000004</c:v>
                </c:pt>
                <c:pt idx="2">
                  <c:v>3579.142</c:v>
                </c:pt>
                <c:pt idx="3">
                  <c:v>3813.8450000000007</c:v>
                </c:pt>
                <c:pt idx="4">
                  <c:v>4040.6849999999995</c:v>
                </c:pt>
                <c:pt idx="5">
                  <c:v>4260.442999999999</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2031</c:v>
                </c:pt>
                <c:pt idx="1">
                  <c:v>2032</c:v>
                </c:pt>
                <c:pt idx="2">
                  <c:v>2033</c:v>
                </c:pt>
                <c:pt idx="3">
                  <c:v>2034</c:v>
                </c:pt>
                <c:pt idx="4">
                  <c:v>2035</c:v>
                </c:pt>
                <c:pt idx="5">
                  <c:v>2036</c:v>
                </c:pt>
                <c:pt idx="6">
                  <c:v>2036 Total</c:v>
                </c:pt>
              </c:strCache>
            </c:strRef>
          </c:cat>
          <c:val>
            <c:numRef>
              <c:f>Sheet1!$C$2:$C$8</c:f>
              <c:numCache>
                <c:formatCode>General</c:formatCode>
                <c:ptCount val="7"/>
                <c:pt idx="0">
                  <c:v>3333.5200000000004</c:v>
                </c:pt>
                <c:pt idx="1">
                  <c:v>245.6219999999994</c:v>
                </c:pt>
                <c:pt idx="2">
                  <c:v>234.70300000000088</c:v>
                </c:pt>
                <c:pt idx="3">
                  <c:v>226.83999999999878</c:v>
                </c:pt>
                <c:pt idx="4">
                  <c:v>219.7579999999998</c:v>
                </c:pt>
                <c:pt idx="5">
                  <c:v>214.29799999999977</c:v>
                </c:pt>
                <c:pt idx="6">
                  <c:v>4474.740999999999</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Specialty Clinics</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34.78861064881114</c:v>
                </c:pt>
                <c:pt idx="1">
                  <c:v>33.17535304971846</c:v>
                </c:pt>
                <c:pt idx="2">
                  <c:v>29.808742003168458</c:v>
                </c:pt>
              </c:numCache>
            </c:numRef>
          </c:val>
        </c:ser>
        <c:ser>
          <c:idx val="1"/>
          <c:order val="1"/>
          <c:tx>
            <c:strRef>
              <c:f>Sheet1!$C$1</c:f>
              <c:strCache>
                <c:ptCount val="1"/>
                <c:pt idx="0">
                  <c:v>Hospitals</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19.17710213564995</c:v>
                </c:pt>
                <c:pt idx="1">
                  <c:v>21.180197305673868</c:v>
                </c:pt>
                <c:pt idx="2">
                  <c:v>25.485229200974985</c:v>
                </c:pt>
              </c:numCache>
            </c:numRef>
          </c:val>
        </c:ser>
        <c:ser>
          <c:idx val="2"/>
          <c:order val="2"/>
          <c:tx>
            <c:strRef>
              <c:f>Sheet1!$D$1</c:f>
              <c:strCache>
                <c:ptCount val="1"/>
                <c:pt idx="0">
                  <c:v>Retail / Specialty Pharma…</c:v>
                </c:pt>
              </c:strCache>
            </c:strRef>
          </c:tx>
          <c:spPr>
            <a:solidFill>
              <a:srgbClr val="008189"/>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25.0979039925125</c:v>
                </c:pt>
                <c:pt idx="1">
                  <c:v>24.58551069064077</c:v>
                </c:pt>
                <c:pt idx="2">
                  <c:v>23.496242575827296</c:v>
                </c:pt>
              </c:numCache>
            </c:numRef>
          </c:val>
        </c:ser>
        <c:ser>
          <c:idx val="3"/>
          <c:order val="3"/>
          <c:tx>
            <c:strRef>
              <c:f>Sheet1!$E$1</c:f>
              <c:strCache>
                <c:ptCount val="1"/>
                <c:pt idx="0">
                  <c:v>Institutional Buyers</c:v>
                </c:pt>
              </c:strCache>
            </c:strRef>
          </c:tx>
          <c:spPr>
            <a:solidFill>
              <a:srgbClr val="40315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20.936383223026407</c:v>
                </c:pt>
                <c:pt idx="1">
                  <c:v>21.058938953966905</c:v>
                </c:pt>
                <c:pt idx="2">
                  <c:v>21.209786220029276</c:v>
                </c:pt>
              </c:numCache>
            </c:numRef>
          </c:val>
        </c:ser>
        <c:gapWidth val="85"/>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Direct Institutional Sales</c:v>
                </c:pt>
              </c:strCache>
            </c:strRef>
          </c:tx>
          <c:spPr>
            <a:solidFill>
              <a:srgbClr val="3D85C6"/>
            </a:solidFill>
            <a:ln>
              <a:noFill/>
            </a:ln>
          </c:spPr>
          <c:dLbls>
            <c:dLbl>
              <c:idx val="0"/>
              <c:tx>
                <c:rich>
                  <a:bodyPr/>
                  <a:lstStyle/>
                  <a:p>
                    <a:r>
                      <a:rPr sz="750">
                        <a:solidFill>
                          <a:srgbClr val="FFFFFF"/>
                        </a:solidFill>
                        <a:latin typeface="Calibri"/>
                      </a:rPr>
                      <a:t>27%</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Sheet1!$B$2:$B$3</c:f>
              <c:numCache>
                <c:formatCode>General</c:formatCode>
                <c:ptCount val="2"/>
                <c:pt idx="0">
                  <c:v>26.91978434832687</c:v>
                </c:pt>
                <c:pt idx="1">
                  <c:v>18.53279590528803</c:v>
                </c:pt>
              </c:numCache>
            </c:numRef>
          </c:val>
        </c:ser>
        <c:ser>
          <c:idx val="1"/>
          <c:order val="1"/>
          <c:tx>
            <c:strRef>
              <c:f>Sheet1!$C$1</c:f>
              <c:strCache>
                <c:ptCount val="1"/>
                <c:pt idx="0">
                  <c:v>Specialty Distribution</c:v>
                </c:pt>
              </c:strCache>
            </c:strRef>
          </c:tx>
          <c:spPr>
            <a:solidFill>
              <a:srgbClr val="9E7E0A"/>
            </a:solidFill>
            <a:ln>
              <a:noFill/>
            </a:ln>
          </c:spPr>
          <c:dLbls>
            <c:dLbl>
              <c:idx val="0"/>
              <c:tx>
                <c:rich>
                  <a:bodyPr/>
                  <a:lstStyle/>
                  <a:p>
                    <a:r>
                      <a:rPr sz="750">
                        <a:solidFill>
                          <a:srgbClr val="FFFFFF"/>
                        </a:solidFill>
                        <a:latin typeface="Calibri"/>
                      </a:rPr>
                      <a:t>17%</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29%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Sheet1!$C$2:$C$3</c:f>
              <c:numCache>
                <c:formatCode>General</c:formatCode>
                <c:ptCount val="2"/>
                <c:pt idx="0">
                  <c:v>17.40301608826854</c:v>
                </c:pt>
                <c:pt idx="1">
                  <c:v>28.88965868793169</c:v>
                </c:pt>
              </c:numCache>
            </c:numRef>
          </c:val>
        </c:ser>
        <c:ser>
          <c:idx val="2"/>
          <c:order val="2"/>
          <c:tx>
            <c:strRef>
              <c:f>Sheet1!$D$1</c:f>
              <c:strCache>
                <c:ptCount val="1"/>
                <c:pt idx="0">
                  <c:v>Pharmacy Channel</c:v>
                </c:pt>
              </c:strCache>
            </c:strRef>
          </c:tx>
          <c:spPr>
            <a:solidFill>
              <a:srgbClr val="008189"/>
            </a:solidFill>
            <a:ln>
              <a:noFill/>
            </a:ln>
          </c:spPr>
          <c:dLbls>
            <c:dLbl>
              <c:idx val="0"/>
              <c:tx>
                <c:rich>
                  <a:bodyPr/>
                  <a:lstStyle/>
                  <a:p>
                    <a:r>
                      <a:rPr sz="750">
                        <a:solidFill>
                          <a:srgbClr val="FFFFFF"/>
                        </a:solidFill>
                        <a:latin typeface="Calibri"/>
                      </a:rPr>
                      <a:t>32%</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Sheet1!$D$2:$D$3</c:f>
              <c:numCache>
                <c:formatCode>General</c:formatCode>
                <c:ptCount val="2"/>
                <c:pt idx="0">
                  <c:v>31.7451948238929</c:v>
                </c:pt>
                <c:pt idx="1">
                  <c:v>17.824571115070356</c:v>
                </c:pt>
              </c:numCache>
            </c:numRef>
          </c:val>
        </c:ser>
        <c:ser>
          <c:idx val="3"/>
          <c:order val="3"/>
          <c:tx>
            <c:strRef>
              <c:f>Sheet1!$E$1</c:f>
              <c:strCache>
                <c:ptCount val="1"/>
                <c:pt idx="0">
                  <c:v>Online / Digital Pharmacy</c:v>
                </c:pt>
              </c:strCache>
            </c:strRef>
          </c:tx>
          <c:spPr>
            <a:solidFill>
              <a:srgbClr val="40315E"/>
            </a:solidFill>
            <a:ln>
              <a:noFill/>
            </a:ln>
          </c:spPr>
          <c:dLbls>
            <c:dLbl>
              <c:idx val="0"/>
              <c:tx>
                <c:rich>
                  <a:bodyPr/>
                  <a:lstStyle/>
                  <a:p>
                    <a:r>
                      <a:rPr sz="750">
                        <a:solidFill>
                          <a:srgbClr val="FFFFFF"/>
                        </a:solidFill>
                        <a:latin typeface="Calibri"/>
                      </a:rPr>
                      <a:t>24%</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35%</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Sheet1!$E$2:$E$3</c:f>
              <c:numCache>
                <c:formatCode>General</c:formatCode>
                <c:ptCount val="2"/>
                <c:pt idx="0">
                  <c:v>23.932004739511687</c:v>
                </c:pt>
                <c:pt idx="1">
                  <c:v>34.75297429170993</c:v>
                </c:pt>
              </c:numCache>
            </c:numRef>
          </c:val>
        </c:ser>
        <c:gapWidth val="178"/>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Direct Institutional Sales</c:v>
                </c:pt>
              </c:strCache>
            </c:strRef>
          </c:tx>
          <c:spPr>
            <a:solidFill>
              <a:srgbClr val="3D85C6"/>
            </a:solidFill>
          </c:spPr>
          <c:invertIfNegative val="0"/>
          <c:xVal>
            <c:numRef>
              <c:f>Sheet1!$A$2:$A$2</c:f>
              <c:numCache>
                <c:formatCode>General</c:formatCode>
                <c:ptCount val="1"/>
                <c:pt idx="0">
                  <c:v>106.49976813654116</c:v>
                </c:pt>
              </c:numCache>
            </c:numRef>
          </c:xVal>
          <c:yVal>
            <c:numRef>
              <c:f>Sheet1!$B$2:$B$2</c:f>
              <c:numCache>
                <c:formatCode>General</c:formatCode>
                <c:ptCount val="1"/>
                <c:pt idx="0">
                  <c:v>106.99808590095614</c:v>
                </c:pt>
              </c:numCache>
            </c:numRef>
          </c:yVal>
          <c:bubbleSize>
            <c:numRef>
              <c:f>Sheet1!$C$2:$C$2</c:f>
              <c:numCache>
                <c:formatCode>General</c:formatCode>
                <c:ptCount val="1"/>
                <c:pt idx="0">
                  <c:v>1259.52</c:v>
                </c:pt>
              </c:numCache>
            </c:numRef>
          </c:bubbleSize>
          <c:bubble3D val="0"/>
        </c:ser>
        <c:ser>
          <c:idx val="1"/>
          <c:order val="1"/>
          <c:tx>
            <c:strRef>
              <c:f>Sheet1!$B$4</c:f>
              <c:strCache>
                <c:ptCount val="1"/>
                <c:pt idx="0">
                  <c:v>Specialty Distribution</c:v>
                </c:pt>
              </c:strCache>
            </c:strRef>
          </c:tx>
          <c:spPr>
            <a:solidFill>
              <a:srgbClr val="9E7E0A"/>
            </a:solidFill>
          </c:spPr>
          <c:invertIfNegative val="0"/>
          <c:xVal>
            <c:numRef>
              <c:f>Sheet1!$A$5:$A$5</c:f>
              <c:numCache>
                <c:formatCode>General</c:formatCode>
                <c:ptCount val="1"/>
                <c:pt idx="0">
                  <c:v>94.96324904864278</c:v>
                </c:pt>
              </c:numCache>
            </c:numRef>
          </c:xVal>
          <c:yVal>
            <c:numRef>
              <c:f>Sheet1!$B$5:$B$5</c:f>
              <c:numCache>
                <c:formatCode>General</c:formatCode>
                <c:ptCount val="1"/>
                <c:pt idx="0">
                  <c:v>112.92951364460362</c:v>
                </c:pt>
              </c:numCache>
            </c:numRef>
          </c:yVal>
          <c:bubbleSize>
            <c:numRef>
              <c:f>Sheet1!$C$5:$C$5</c:f>
              <c:numCache>
                <c:formatCode>General</c:formatCode>
                <c:ptCount val="1"/>
                <c:pt idx="0">
                  <c:v>1214.2150000000001</c:v>
                </c:pt>
              </c:numCache>
            </c:numRef>
          </c:bubbleSize>
          <c:bubble3D val="0"/>
        </c:ser>
        <c:ser>
          <c:idx val="2"/>
          <c:order val="2"/>
          <c:tx>
            <c:strRef>
              <c:f>Sheet1!$B$7</c:f>
              <c:strCache>
                <c:ptCount val="1"/>
                <c:pt idx="0">
                  <c:v>Pharmacy Channel</c:v>
                </c:pt>
              </c:strCache>
            </c:strRef>
          </c:tx>
          <c:spPr>
            <a:solidFill>
              <a:srgbClr val="008189"/>
            </a:solidFill>
          </c:spPr>
          <c:invertIfNegative val="0"/>
          <c:xVal>
            <c:numRef>
              <c:f>Sheet1!$A$8:$A$8</c:f>
              <c:numCache>
                <c:formatCode>General</c:formatCode>
                <c:ptCount val="1"/>
                <c:pt idx="0">
                  <c:v>106.04486509775674</c:v>
                </c:pt>
              </c:numCache>
            </c:numRef>
          </c:xVal>
          <c:yVal>
            <c:numRef>
              <c:f>Sheet1!$B$8:$B$8</c:f>
              <c:numCache>
                <c:formatCode>General</c:formatCode>
                <c:ptCount val="1"/>
                <c:pt idx="0">
                  <c:v>74.23726014880233</c:v>
                </c:pt>
              </c:numCache>
            </c:numRef>
          </c:yVal>
          <c:bubbleSize>
            <c:numRef>
              <c:f>Sheet1!$C$8:$C$8</c:f>
              <c:numCache>
                <c:formatCode>General</c:formatCode>
                <c:ptCount val="1"/>
                <c:pt idx="0">
                  <c:v>870.7760000000001</c:v>
                </c:pt>
              </c:numCache>
            </c:numRef>
          </c:bubbleSize>
          <c:bubble3D val="0"/>
        </c:ser>
        <c:ser>
          <c:idx val="3"/>
          <c:order val="3"/>
          <c:tx>
            <c:strRef>
              <c:f>Sheet1!$B$10</c:f>
              <c:strCache>
                <c:ptCount val="1"/>
                <c:pt idx="0">
                  <c:v>Online / Digital Pharmacy</c:v>
                </c:pt>
              </c:strCache>
            </c:strRef>
          </c:tx>
          <c:spPr>
            <a:solidFill>
              <a:srgbClr val="40315E"/>
            </a:solidFill>
          </c:spPr>
          <c:invertIfNegative val="0"/>
          <c:xVal>
            <c:numRef>
              <c:f>Sheet1!$A$11:$A$11</c:f>
              <c:numCache>
                <c:formatCode>General</c:formatCode>
                <c:ptCount val="1"/>
                <c:pt idx="0">
                  <c:v>94.1020330719678</c:v>
                </c:pt>
              </c:numCache>
            </c:numRef>
          </c:xVal>
          <c:yVal>
            <c:numRef>
              <c:f>Sheet1!$B$11:$B$11</c:f>
              <c:numCache>
                <c:formatCode>General</c:formatCode>
                <c:ptCount val="1"/>
                <c:pt idx="0">
                  <c:v>105.83514030563792</c:v>
                </c:pt>
              </c:numCache>
            </c:numRef>
          </c:yVal>
          <c:bubbleSize>
            <c:numRef>
              <c:f>Sheet1!$C$11:$C$11</c:f>
              <c:numCache>
                <c:formatCode>General</c:formatCode>
                <c:ptCount val="1"/>
                <c:pt idx="0">
                  <c:v>1130.23</c:v>
                </c:pt>
              </c:numCache>
            </c:numRef>
          </c:bubbleSize>
          <c:bubble3D val="0"/>
        </c:ser>
        <c:dLbls>
          <c:showLegendKey val="0"/>
          <c:showVal val="0"/>
          <c:showCatName val="0"/>
          <c:showSerName val="0"/>
          <c:showPercent val="0"/>
          <c:showBubbleSize val="0"/>
        </c:dLbls>
        <c:bubbleScale val="100"/>
        <c:showNegBubbles val="0"/>
        <c:axId val="-2115720072"/>
        <c:axId val="-2115723560"/>
      </c:bubbleChart>
      <c:valAx>
        <c:axId val="-2115720072"/>
        <c:scaling>
          <c:orientation val="minMax"/>
        </c:scaling>
        <c:delete val="0"/>
        <c:axPos val="b"/>
        <c:numFmt formatCode="General" sourceLinked="1"/>
        <c:majorTickMark val="out"/>
        <c:minorTickMark val="none"/>
        <c:tickLblPos val="nextTo"/>
        <c:spPr>
          <a:ln>
            <a:solidFill>
              <a:srgbClr val="C6D5E1"/>
            </a:solidFill>
          </a:ln>
        </c:spPr>
        <c:txPr>
          <a:bodyPr/>
          <a:lstStyle/>
          <a:p>
            <a:pPr>
              <a:defRPr sz="850"/>
            </a:pPr>
          </a:p>
        </c:txPr>
        <c:crossAx val="-2115723560"/>
        <c:crosses val="autoZero"/>
        <c:crossBetween val="midCat"/>
      </c:valAx>
      <c:valAx>
        <c:axId val="-2115723560"/>
        <c:scaling>
          <c:orientation val="minMax"/>
        </c:scaling>
        <c:delete val="0"/>
        <c:axPos val="l"/>
        <c:numFmt formatCode="General" sourceLinked="1"/>
        <c:majorTickMark val="out"/>
        <c:minorTickMark val="none"/>
        <c:tickLblPos val="nextTo"/>
        <c:spPr>
          <a:ln>
            <a:solidFill>
              <a:srgbClr val="C6D5E1"/>
            </a:solidFill>
          </a:ln>
        </c:spPr>
        <c:txPr>
          <a:bodyPr/>
          <a:lstStyle/>
          <a:p>
            <a:pPr>
              <a:defRPr sz="850"/>
            </a:pPr>
          </a:p>
        </c:txPr>
        <c:crossAx val="-2115720072"/>
        <c:crosses val="autoZero"/>
        <c:crossBetween val="midCat"/>
      </c:valAx>
    </c:plotArea>
    <c:legend>
      <c:legendPos val="b"/>
      <c:layout/>
      <c:overlay val="0"/>
      <c:txPr>
        <a:bodyPr/>
        <a:lstStyle/>
        <a:p>
          <a:pPr>
            <a:defRPr sz="850"/>
          </a:pPr>
        </a:p>
      </c:txPr>
    </c:legend>
    <c:plotVisOnly val="1"/>
    <c:dispBlanksAs val="gap"/>
    <c:showDLblsOverMax val="0"/>
  </c:chart>
  <c:txPr>
    <a:bodyPr/>
    <a:lstStyle/>
    <a:p>
      <a:pPr>
        <a:defRPr sz="800">
          <a:latin typeface="Calibri"/>
        </a:defRPr>
      </a:pPr>
      <a:endParaRPr lang="en-US"/>
    </a:p>
  </c:tx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2021</c:v>
                </c:pt>
                <c:pt idx="1">
                  <c:v>2022</c:v>
                </c:pt>
                <c:pt idx="2">
                  <c:v>2023</c:v>
                </c:pt>
                <c:pt idx="3">
                  <c:v>2024</c:v>
                </c:pt>
                <c:pt idx="4">
                  <c:v>2025</c:v>
                </c:pt>
                <c:pt idx="5">
                  <c:v>2025 Total</c:v>
                </c:pt>
              </c:strCache>
            </c:strRef>
          </c:cat>
          <c:val>
            <c:numRef>
              <c:f>Sheet1!$B$2:$B$7</c:f>
              <c:numCache>
                <c:formatCode>General</c:formatCode>
                <c:ptCount val="6"/>
                <c:pt idx="0">
                  <c:v>0.0</c:v>
                </c:pt>
                <c:pt idx="1">
                  <c:v>852.621</c:v>
                </c:pt>
                <c:pt idx="2">
                  <c:v>958.0659999999999</c:v>
                </c:pt>
                <c:pt idx="3">
                  <c:v>1141.952</c:v>
                </c:pt>
                <c:pt idx="4">
                  <c:v>1404.6429999999998</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2021</c:v>
                </c:pt>
                <c:pt idx="1">
                  <c:v>2022</c:v>
                </c:pt>
                <c:pt idx="2">
                  <c:v>2023</c:v>
                </c:pt>
                <c:pt idx="3">
                  <c:v>2024</c:v>
                </c:pt>
                <c:pt idx="4">
                  <c:v>2025</c:v>
                </c:pt>
                <c:pt idx="5">
                  <c:v>2025 Total</c:v>
                </c:pt>
              </c:strCache>
            </c:strRef>
          </c:cat>
          <c:val>
            <c:numRef>
              <c:f>Sheet1!$C$2:$C$7</c:f>
              <c:numCache>
                <c:formatCode>General</c:formatCode>
                <c:ptCount val="6"/>
                <c:pt idx="0">
                  <c:v>852.621</c:v>
                </c:pt>
                <c:pt idx="1">
                  <c:v>105.44499999999994</c:v>
                </c:pt>
                <c:pt idx="2">
                  <c:v>183.88600000000008</c:v>
                </c:pt>
                <c:pt idx="3">
                  <c:v>262.6909999999998</c:v>
                </c:pt>
                <c:pt idx="4">
                  <c:v>286.3030000000001</c:v>
                </c:pt>
                <c:pt idx="5">
                  <c:v>1690.946</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2027</c:v>
                </c:pt>
                <c:pt idx="2">
                  <c:v>2028</c:v>
                </c:pt>
                <c:pt idx="3">
                  <c:v>2029</c:v>
                </c:pt>
                <c:pt idx="4">
                  <c:v>2030</c:v>
                </c:pt>
                <c:pt idx="5">
                  <c:v>2031</c:v>
                </c:pt>
                <c:pt idx="6">
                  <c:v>2031 Total</c:v>
                </c:pt>
              </c:strCache>
            </c:strRef>
          </c:cat>
          <c:val>
            <c:numRef>
              <c:f>Sheet1!$B$2:$B$8</c:f>
              <c:numCache>
                <c:formatCode>General</c:formatCode>
                <c:ptCount val="7"/>
                <c:pt idx="0">
                  <c:v>0.0</c:v>
                </c:pt>
                <c:pt idx="1">
                  <c:v>1974.2969999999998</c:v>
                </c:pt>
                <c:pt idx="2">
                  <c:v>2263.314</c:v>
                </c:pt>
                <c:pt idx="3">
                  <c:v>2542.1620000000003</c:v>
                </c:pt>
                <c:pt idx="4">
                  <c:v>2814.308</c:v>
                </c:pt>
                <c:pt idx="5">
                  <c:v>3078.624</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2027</c:v>
                </c:pt>
                <c:pt idx="2">
                  <c:v>2028</c:v>
                </c:pt>
                <c:pt idx="3">
                  <c:v>2029</c:v>
                </c:pt>
                <c:pt idx="4">
                  <c:v>2030</c:v>
                </c:pt>
                <c:pt idx="5">
                  <c:v>2031</c:v>
                </c:pt>
                <c:pt idx="6">
                  <c:v>2031 Total</c:v>
                </c:pt>
              </c:strCache>
            </c:strRef>
          </c:cat>
          <c:val>
            <c:numRef>
              <c:f>Sheet1!$C$2:$C$8</c:f>
              <c:numCache>
                <c:formatCode>General</c:formatCode>
                <c:ptCount val="7"/>
                <c:pt idx="0">
                  <c:v>1974.2969999999998</c:v>
                </c:pt>
                <c:pt idx="1">
                  <c:v>289.01700000000005</c:v>
                </c:pt>
                <c:pt idx="2">
                  <c:v>278.8480000000004</c:v>
                </c:pt>
                <c:pt idx="3">
                  <c:v>272.14599999999973</c:v>
                </c:pt>
                <c:pt idx="4">
                  <c:v>264.3159999999998</c:v>
                </c:pt>
                <c:pt idx="5">
                  <c:v>254.89600000000019</c:v>
                </c:pt>
                <c:pt idx="6">
                  <c:v>3333.52</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2031</c:v>
                </c:pt>
                <c:pt idx="1">
                  <c:v>2032</c:v>
                </c:pt>
                <c:pt idx="2">
                  <c:v>2033</c:v>
                </c:pt>
                <c:pt idx="3">
                  <c:v>2034</c:v>
                </c:pt>
                <c:pt idx="4">
                  <c:v>2035</c:v>
                </c:pt>
                <c:pt idx="5">
                  <c:v>2036</c:v>
                </c:pt>
                <c:pt idx="6">
                  <c:v>2036 Total</c:v>
                </c:pt>
              </c:strCache>
            </c:strRef>
          </c:cat>
          <c:val>
            <c:numRef>
              <c:f>Sheet1!$B$2:$B$8</c:f>
              <c:numCache>
                <c:formatCode>General</c:formatCode>
                <c:ptCount val="7"/>
                <c:pt idx="0">
                  <c:v>0.0</c:v>
                </c:pt>
                <c:pt idx="1">
                  <c:v>3333.52</c:v>
                </c:pt>
                <c:pt idx="2">
                  <c:v>3579.142</c:v>
                </c:pt>
                <c:pt idx="3">
                  <c:v>3813.8450000000003</c:v>
                </c:pt>
                <c:pt idx="4">
                  <c:v>4040.685</c:v>
                </c:pt>
                <c:pt idx="5">
                  <c:v>4260.443</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2031</c:v>
                </c:pt>
                <c:pt idx="1">
                  <c:v>2032</c:v>
                </c:pt>
                <c:pt idx="2">
                  <c:v>2033</c:v>
                </c:pt>
                <c:pt idx="3">
                  <c:v>2034</c:v>
                </c:pt>
                <c:pt idx="4">
                  <c:v>2035</c:v>
                </c:pt>
                <c:pt idx="5">
                  <c:v>2036</c:v>
                </c:pt>
                <c:pt idx="6">
                  <c:v>2036 Total</c:v>
                </c:pt>
              </c:strCache>
            </c:strRef>
          </c:cat>
          <c:val>
            <c:numRef>
              <c:f>Sheet1!$C$2:$C$8</c:f>
              <c:numCache>
                <c:formatCode>General</c:formatCode>
                <c:ptCount val="7"/>
                <c:pt idx="0">
                  <c:v>3333.52</c:v>
                </c:pt>
                <c:pt idx="1">
                  <c:v>245.62199999999984</c:v>
                </c:pt>
                <c:pt idx="2">
                  <c:v>234.70300000000043</c:v>
                </c:pt>
                <c:pt idx="3">
                  <c:v>226.8399999999997</c:v>
                </c:pt>
                <c:pt idx="4">
                  <c:v>219.75800000000027</c:v>
                </c:pt>
                <c:pt idx="5">
                  <c:v>214.29799999999977</c:v>
                </c:pt>
                <c:pt idx="6">
                  <c:v>4474.741</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Direct Institutional Sales</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26.037829234794824</c:v>
                </c:pt>
                <c:pt idx="1">
                  <c:v>26.749521475239035</c:v>
                </c:pt>
                <c:pt idx="2">
                  <c:v>28.14732740956404</c:v>
                </c:pt>
              </c:numCache>
            </c:numRef>
          </c:val>
        </c:ser>
        <c:ser>
          <c:idx val="1"/>
          <c:order val="1"/>
          <c:tx>
            <c:strRef>
              <c:f>Sheet1!$C$1</c:f>
              <c:strCache>
                <c:ptCount val="1"/>
                <c:pt idx="0">
                  <c:v>Specialty Distribution</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28.720615607638088</c:v>
                </c:pt>
                <c:pt idx="1">
                  <c:v>28.232378411150904</c:v>
                </c:pt>
                <c:pt idx="2">
                  <c:v>27.134866576635385</c:v>
                </c:pt>
              </c:numCache>
            </c:numRef>
          </c:val>
        </c:ser>
        <c:ser>
          <c:idx val="2"/>
          <c:order val="2"/>
          <c:tx>
            <c:strRef>
              <c:f>Sheet1!$D$1</c:f>
              <c:strCache>
                <c:ptCount val="1"/>
                <c:pt idx="0">
                  <c:v>Online / Digital Pharmacy</c:v>
                </c:pt>
              </c:strCache>
            </c:strRef>
          </c:tx>
          <c:spPr>
            <a:solidFill>
              <a:srgbClr val="008189"/>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27.186639784851646</c:v>
                </c:pt>
                <c:pt idx="1">
                  <c:v>26.45878507640948</c:v>
                </c:pt>
                <c:pt idx="2">
                  <c:v>25.257998172408193</c:v>
                </c:pt>
              </c:numCache>
            </c:numRef>
          </c:val>
        </c:ser>
        <c:ser>
          <c:idx val="3"/>
          <c:order val="3"/>
          <c:tx>
            <c:strRef>
              <c:f>Sheet1!$E$1</c:f>
              <c:strCache>
                <c:ptCount val="1"/>
                <c:pt idx="0">
                  <c:v>Pharmacy Channel</c:v>
                </c:pt>
              </c:strCache>
            </c:strRef>
          </c:tx>
          <c:spPr>
            <a:solidFill>
              <a:srgbClr val="40315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18.054915372715424</c:v>
                </c:pt>
                <c:pt idx="1">
                  <c:v>18.559315037200584</c:v>
                </c:pt>
                <c:pt idx="2">
                  <c:v>19.459807841392383</c:v>
                </c:pt>
              </c:numCache>
            </c:numRef>
          </c:val>
        </c:ser>
        <c:gapWidth val="85"/>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Amjevita / Amgevita</c:v>
                </c:pt>
              </c:strCache>
            </c:strRef>
          </c:tx>
          <c:spPr>
            <a:solidFill>
              <a:srgbClr val="3D85C6"/>
            </a:solidFill>
            <a:ln>
              <a:noFill/>
            </a:ln>
          </c:spPr>
          <c:dLbls>
            <c:dLbl>
              <c:idx val="0"/>
              <c:tx>
                <c:rich>
                  <a:bodyPr/>
                  <a:lstStyle/>
                  <a:p>
                    <a:r>
                      <a:rPr sz="750">
                        <a:solidFill>
                          <a:srgbClr val="FFFFFF"/>
                        </a:solidFill>
                        <a:latin typeface="Calibri"/>
                      </a:rPr>
                      <a:t>9%</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Sheet1!$B$2:$B$3</c:f>
              <c:numCache>
                <c:formatCode>General</c:formatCode>
                <c:ptCount val="2"/>
                <c:pt idx="0">
                  <c:v>8.696595372944705</c:v>
                </c:pt>
                <c:pt idx="1">
                  <c:v>13.348460464774876</c:v>
                </c:pt>
              </c:numCache>
            </c:numRef>
          </c:val>
        </c:ser>
        <c:ser>
          <c:idx val="1"/>
          <c:order val="1"/>
          <c:tx>
            <c:strRef>
              <c:f>Sheet1!$C$1</c:f>
              <c:strCache>
                <c:ptCount val="1"/>
                <c:pt idx="0">
                  <c:v>Cyltezo</c:v>
                </c:pt>
              </c:strCache>
            </c:strRef>
          </c:tx>
          <c:spPr>
            <a:solidFill>
              <a:srgbClr val="9E7E0A"/>
            </a:solidFill>
            <a:ln>
              <a:noFill/>
            </a:ln>
          </c:spPr>
          <c:dLbls>
            <c:dLbl>
              <c:idx val="0"/>
              <c:tx>
                <c:rich>
                  <a:bodyPr/>
                  <a:lstStyle/>
                  <a:p>
                    <a:r>
                      <a:rPr sz="750">
                        <a:solidFill>
                          <a:srgbClr val="FFFFFF"/>
                        </a:solidFill>
                        <a:latin typeface="Calibri"/>
                      </a:rPr>
                      <a:t>8%</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Sheet1!$C$2:$C$3</c:f>
              <c:numCache>
                <c:formatCode>General</c:formatCode>
                <c:ptCount val="2"/>
                <c:pt idx="0">
                  <c:v>7.691881154215073</c:v>
                </c:pt>
                <c:pt idx="1">
                  <c:v>10.995834671536128</c:v>
                </c:pt>
              </c:numCache>
            </c:numRef>
          </c:val>
        </c:ser>
        <c:ser>
          <c:idx val="2"/>
          <c:order val="2"/>
          <c:tx>
            <c:strRef>
              <c:f>Sheet1!$D$1</c:f>
              <c:strCache>
                <c:ptCount val="1"/>
                <c:pt idx="0">
                  <c:v>Hadlima / Imraldi</c:v>
                </c:pt>
              </c:strCache>
            </c:strRef>
          </c:tx>
          <c:spPr>
            <a:solidFill>
              <a:srgbClr val="008189"/>
            </a:solidFill>
            <a:ln>
              <a:noFill/>
            </a:ln>
          </c:spPr>
          <c:dLbls>
            <c:dLbl>
              <c:idx val="0"/>
              <c:tx>
                <c:rich>
                  <a:bodyPr/>
                  <a:lstStyle/>
                  <a:p>
                    <a:r>
                      <a:rPr sz="750">
                        <a:solidFill>
                          <a:srgbClr val="FFFFFF"/>
                        </a:solidFill>
                        <a:latin typeface="Calibri"/>
                      </a:rPr>
                      <a:t>10%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Sheet1!$D$2:$D$3</c:f>
              <c:numCache>
                <c:formatCode>General</c:formatCode>
                <c:ptCount val="2"/>
                <c:pt idx="0">
                  <c:v>10.278961899073305</c:v>
                </c:pt>
                <c:pt idx="1">
                  <c:v>4.969584717593515</c:v>
                </c:pt>
              </c:numCache>
            </c:numRef>
          </c:val>
        </c:ser>
        <c:ser>
          <c:idx val="3"/>
          <c:order val="3"/>
          <c:tx>
            <c:strRef>
              <c:f>Sheet1!$E$1</c:f>
              <c:strCache>
                <c:ptCount val="1"/>
                <c:pt idx="0">
                  <c:v>Hyrimoz / Halimatoz / Hefiya</c:v>
                </c:pt>
              </c:strCache>
            </c:strRef>
          </c:tx>
          <c:spPr>
            <a:solidFill>
              <a:srgbClr val="40315E"/>
            </a:solidFill>
            <a:ln>
              <a:noFill/>
            </a:ln>
          </c:spPr>
          <c:dLbls>
            <c:dLbl>
              <c:idx val="0"/>
              <c:tx>
                <c:rich>
                  <a:bodyPr/>
                  <a:lstStyle/>
                  <a:p>
                    <a:r>
                      <a:rPr sz="750">
                        <a:solidFill>
                          <a:srgbClr val="FFFFFF"/>
                        </a:solidFill>
                        <a:latin typeface="Calibri"/>
                      </a:rPr>
                      <a:t>12%</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Sheet1!$E$2:$E$3</c:f>
              <c:numCache>
                <c:formatCode>General</c:formatCode>
                <c:ptCount val="2"/>
                <c:pt idx="0">
                  <c:v>12.31767180243474</c:v>
                </c:pt>
                <c:pt idx="1">
                  <c:v>6.589992361001709</c:v>
                </c:pt>
              </c:numCache>
            </c:numRef>
          </c:val>
        </c:ser>
        <c:ser>
          <c:idx val="4"/>
          <c:order val="4"/>
          <c:tx>
            <c:strRef>
              <c:f>Sheet1!$F$1</c:f>
              <c:strCache>
                <c:ptCount val="1"/>
                <c:pt idx="0">
                  <c:v>Idacio</c:v>
                </c:pt>
              </c:strCache>
            </c:strRef>
          </c:tx>
          <c:spPr>
            <a:solidFill>
              <a:srgbClr val="A35313"/>
            </a:solidFill>
            <a:ln>
              <a:noFill/>
            </a:ln>
          </c:spPr>
          <c:dLbls>
            <c:dLbl>
              <c:idx val="0"/>
              <c:tx>
                <c:rich>
                  <a:bodyPr/>
                  <a:lstStyle/>
                  <a:p>
                    <a:r>
                      <a:rPr sz="750">
                        <a:solidFill>
                          <a:srgbClr val="FFFFFF"/>
                        </a:solidFill>
                        <a:latin typeface="Calibri"/>
                      </a:rPr>
                      <a:t>10%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Sheet1!$F$2:$F$3</c:f>
              <c:numCache>
                <c:formatCode>General</c:formatCode>
                <c:ptCount val="2"/>
                <c:pt idx="0">
                  <c:v>10.320403442177374</c:v>
                </c:pt>
                <c:pt idx="1">
                  <c:v>4.712852868483025</c:v>
                </c:pt>
              </c:numCache>
            </c:numRef>
          </c:val>
        </c:ser>
        <c:ser>
          <c:idx val="5"/>
          <c:order val="5"/>
          <c:tx>
            <c:strRef>
              <c:f>Sheet1!$G$1</c:f>
              <c:strCache>
                <c:ptCount val="1"/>
                <c:pt idx="0">
                  <c:v>Hulio</c:v>
                </c:pt>
              </c:strCache>
            </c:strRef>
          </c:tx>
          <c:spPr>
            <a:solidFill>
              <a:srgbClr val="808080"/>
            </a:solidFill>
            <a:ln>
              <a:noFill/>
            </a:ln>
          </c:spPr>
          <c:dLbls>
            <c:dLbl>
              <c:idx val="1"/>
              <c:tx>
                <c:rich>
                  <a:bodyPr/>
                  <a:lstStyle/>
                  <a:p>
                    <a:r>
                      <a:rPr sz="750">
                        <a:solidFill>
                          <a:srgbClr val="FFFFFF"/>
                        </a:solidFill>
                        <a:latin typeface="Calibri"/>
                      </a:rPr>
                      <a:t>10%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Sheet1!$G$2:$G$3</c:f>
              <c:numCache>
                <c:formatCode>General</c:formatCode>
                <c:ptCount val="2"/>
                <c:pt idx="0">
                  <c:v>6.129651715932814</c:v>
                </c:pt>
                <c:pt idx="1">
                  <c:v>9.944478727580206</c:v>
                </c:pt>
              </c:numCache>
            </c:numRef>
          </c:val>
        </c:ser>
        <c:ser>
          <c:idx val="6"/>
          <c:order val="6"/>
          <c:tx>
            <c:strRef>
              <c:f>Sheet1!$H$1</c:f>
              <c:strCache>
                <c:ptCount val="1"/>
                <c:pt idx="0">
                  <c:v>Abrilada / Amsparity</c:v>
                </c:pt>
              </c:strCache>
            </c:strRef>
          </c:tx>
          <c:spPr>
            <a:solidFill>
              <a:srgbClr val="0E72AE"/>
            </a:solidFill>
            <a:ln>
              <a:noFill/>
            </a:ln>
          </c:spPr>
          <c:dLbls>
            <c:dLbl>
              <c:idx val="0"/>
              <c:tx>
                <c:rich>
                  <a:bodyPr/>
                  <a:lstStyle/>
                  <a:p>
                    <a:r>
                      <a:rPr sz="750">
                        <a:solidFill>
                          <a:srgbClr val="FFFFFF"/>
                        </a:solidFill>
                        <a:latin typeface="Calibri"/>
                      </a:rPr>
                      <a:t>10%</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Sheet1!$H$2:$H$3</c:f>
              <c:numCache>
                <c:formatCode>General</c:formatCode>
                <c:ptCount val="2"/>
                <c:pt idx="0">
                  <c:v>10.353089729696077</c:v>
                </c:pt>
                <c:pt idx="1">
                  <c:v>7.964518840299675</c:v>
                </c:pt>
              </c:numCache>
            </c:numRef>
          </c:val>
        </c:ser>
        <c:ser>
          <c:idx val="7"/>
          <c:order val="7"/>
          <c:tx>
            <c:strRef>
              <c:f>Sheet1!$I$1</c:f>
              <c:strCache>
                <c:ptCount val="1"/>
                <c:pt idx="0">
                  <c:v>Yusimry</c:v>
                </c:pt>
              </c:strCache>
            </c:strRef>
          </c:tx>
          <c:spPr>
            <a:solidFill>
              <a:srgbClr val="A86F00"/>
            </a:solidFill>
            <a:ln>
              <a:noFill/>
            </a:ln>
          </c:spPr>
          <c:dLbls>
            <c:dLbl>
              <c:idx val="0"/>
              <c:tx>
                <c:rich>
                  <a:bodyPr/>
                  <a:lstStyle/>
                  <a:p>
                    <a:r>
                      <a:rPr sz="750">
                        <a:solidFill>
                          <a:srgbClr val="FFFFFF"/>
                        </a:solidFill>
                        <a:latin typeface="Calibri"/>
                      </a:rPr>
                      <a:t>8%</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12%</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Sheet1!$I$2:$I$3</c:f>
              <c:numCache>
                <c:formatCode>General</c:formatCode>
                <c:ptCount val="2"/>
                <c:pt idx="0">
                  <c:v>7.7541407494887915</c:v>
                </c:pt>
                <c:pt idx="1">
                  <c:v>12.095438447458458</c:v>
                </c:pt>
              </c:numCache>
            </c:numRef>
          </c:val>
        </c:ser>
        <c:ser>
          <c:idx val="8"/>
          <c:order val="8"/>
          <c:tx>
            <c:strRef>
              <c:f>Sheet1!$J$1</c:f>
              <c:strCache>
                <c:ptCount val="1"/>
                <c:pt idx="0">
                  <c:v>Yuflyma</c:v>
                </c:pt>
              </c:strCache>
            </c:strRef>
          </c:tx>
          <c:spPr>
            <a:solidFill>
              <a:srgbClr val="0B2E4A"/>
            </a:solidFill>
            <a:ln>
              <a:noFill/>
            </a:ln>
          </c:spPr>
          <c:dLbls>
            <c:dLbl>
              <c:idx val="1"/>
              <c:tx>
                <c:rich>
                  <a:bodyPr/>
                  <a:lstStyle/>
                  <a:p>
                    <a:r>
                      <a:rPr sz="750">
                        <a:solidFill>
                          <a:srgbClr val="FFFFFF"/>
                        </a:solidFill>
                        <a:latin typeface="Calibri"/>
                      </a:rPr>
                      <a:t>13%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Sheet1!$J$2:$J$3</c:f>
              <c:numCache>
                <c:formatCode>General</c:formatCode>
                <c:ptCount val="2"/>
                <c:pt idx="0">
                  <c:v>5.616496458012713</c:v>
                </c:pt>
                <c:pt idx="1">
                  <c:v>13.053112942575215</c:v>
                </c:pt>
              </c:numCache>
            </c:numRef>
          </c:val>
        </c:ser>
        <c:ser>
          <c:idx val="9"/>
          <c:order val="9"/>
          <c:tx>
            <c:strRef>
              <c:f>Sheet1!$K$1</c:f>
              <c:strCache>
                <c:ptCount val="1"/>
                <c:pt idx="0">
                  <c:v>Simlandi</c:v>
                </c:pt>
              </c:strCache>
            </c:strRef>
          </c:tx>
          <c:spPr>
            <a:solidFill>
              <a:srgbClr val="6C7A89"/>
            </a:solidFill>
            <a:ln>
              <a:noFill/>
            </a:ln>
          </c:spPr>
          <c:dLbls>
            <c:dLbl>
              <c:idx val="0"/>
              <c:tx>
                <c:rich>
                  <a:bodyPr/>
                  <a:lstStyle/>
                  <a:p>
                    <a:r>
                      <a:rPr sz="750">
                        <a:solidFill>
                          <a:srgbClr val="FFFFFF"/>
                        </a:solidFill>
                        <a:latin typeface="Calibri"/>
                      </a:rPr>
                      <a:t>16%</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Sheet1!$K$2:$K$3</c:f>
              <c:numCache>
                <c:formatCode>General</c:formatCode>
                <c:ptCount val="2"/>
                <c:pt idx="0">
                  <c:v>15.543886205024737</c:v>
                </c:pt>
                <c:pt idx="1">
                  <c:v>7.45682863489969</c:v>
                </c:pt>
              </c:numCache>
            </c:numRef>
          </c:val>
        </c:ser>
        <c:ser>
          <c:idx val="10"/>
          <c:order val="10"/>
          <c:tx>
            <c:strRef>
              <c:f>Sheet1!$L$1</c:f>
              <c:strCache>
                <c:ptCount val="1"/>
                <c:pt idx="0">
                  <c:v>Other approved adalimumab biosimilars</c:v>
                </c:pt>
              </c:strCache>
            </c:strRef>
          </c:tx>
          <c:spPr>
            <a:solidFill>
              <a:srgbClr val="B2B2B2"/>
            </a:solidFill>
            <a:ln>
              <a:noFill/>
            </a:ln>
          </c:spPr>
          <c:dLbls>
            <c:dLbl>
              <c:idx val="1"/>
              <c:tx>
                <c:rich>
                  <a:bodyPr/>
                  <a:lstStyle/>
                  <a:p>
                    <a:r>
                      <a:rPr sz="750">
                        <a:solidFill>
                          <a:srgbClr val="2E2E2E"/>
                        </a:solidFill>
                        <a:latin typeface="Calibri"/>
                      </a:rPr>
                      <a:t>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U.S.  ·  1.0K</c:v>
                </c:pt>
                <c:pt idx="1">
                  <c:v>Canada  ·  3.4K</c:v>
                </c:pt>
              </c:strCache>
            </c:strRef>
          </c:cat>
          <c:val>
            <c:numRef>
              <c:f>Sheet1!$L$2:$L$3</c:f>
              <c:numCache>
                <c:formatCode>General</c:formatCode>
                <c:ptCount val="2"/>
                <c:pt idx="0">
                  <c:v>5.297221470999676</c:v>
                </c:pt>
                <c:pt idx="1">
                  <c:v>8.868897323797494</c:v>
                </c:pt>
              </c:numCache>
            </c:numRef>
          </c:val>
        </c:ser>
        <c:gapWidth val="178"/>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Amjevita / Amgevita</c:v>
                </c:pt>
              </c:strCache>
            </c:strRef>
          </c:tx>
          <c:spPr>
            <a:solidFill>
              <a:srgbClr val="3D85C6"/>
            </a:solidFill>
          </c:spPr>
          <c:invertIfNegative val="0"/>
          <c:xVal>
            <c:numRef>
              <c:f>Sheet1!$A$2:$A$2</c:f>
              <c:numCache>
                <c:formatCode>General</c:formatCode>
                <c:ptCount val="1"/>
                <c:pt idx="0">
                  <c:v>91.38947047347322</c:v>
                </c:pt>
              </c:numCache>
            </c:numRef>
          </c:xVal>
          <c:yVal>
            <c:numRef>
              <c:f>Sheet1!$B$2:$B$2</c:f>
              <c:numCache>
                <c:formatCode>General</c:formatCode>
                <c:ptCount val="1"/>
                <c:pt idx="0">
                  <c:v>121.86378239950726</c:v>
                </c:pt>
              </c:numCache>
            </c:numRef>
          </c:yVal>
          <c:bubbleSize>
            <c:numRef>
              <c:f>Sheet1!$C$2:$C$2</c:f>
              <c:numCache>
                <c:formatCode>General</c:formatCode>
                <c:ptCount val="1"/>
                <c:pt idx="0">
                  <c:v>463.202</c:v>
                </c:pt>
              </c:numCache>
            </c:numRef>
          </c:bubbleSize>
          <c:bubble3D val="0"/>
        </c:ser>
        <c:ser>
          <c:idx val="1"/>
          <c:order val="1"/>
          <c:tx>
            <c:strRef>
              <c:f>Sheet1!$B$4</c:f>
              <c:strCache>
                <c:ptCount val="1"/>
                <c:pt idx="0">
                  <c:v>Cyltezo</c:v>
                </c:pt>
              </c:strCache>
            </c:strRef>
          </c:tx>
          <c:spPr>
            <a:solidFill>
              <a:srgbClr val="9E7E0A"/>
            </a:solidFill>
          </c:spPr>
          <c:invertIfNegative val="0"/>
          <c:xVal>
            <c:numRef>
              <c:f>Sheet1!$A$5:$A$5</c:f>
              <c:numCache>
                <c:formatCode>General</c:formatCode>
                <c:ptCount val="1"/>
                <c:pt idx="0">
                  <c:v>118.56265622103213</c:v>
                </c:pt>
              </c:numCache>
            </c:numRef>
          </c:xVal>
          <c:yVal>
            <c:numRef>
              <c:f>Sheet1!$B$5:$B$5</c:f>
              <c:numCache>
                <c:formatCode>General</c:formatCode>
                <c:ptCount val="1"/>
                <c:pt idx="0">
                  <c:v>107.63836444060848</c:v>
                </c:pt>
              </c:numCache>
            </c:numRef>
          </c:yVal>
          <c:bubbleSize>
            <c:numRef>
              <c:f>Sheet1!$C$5:$C$5</c:f>
              <c:numCache>
                <c:formatCode>General</c:formatCode>
                <c:ptCount val="1"/>
                <c:pt idx="0">
                  <c:v>506.08299999999997</c:v>
                </c:pt>
              </c:numCache>
            </c:numRef>
          </c:bubbleSize>
          <c:bubble3D val="0"/>
        </c:ser>
        <c:ser>
          <c:idx val="2"/>
          <c:order val="2"/>
          <c:tx>
            <c:strRef>
              <c:f>Sheet1!$B$7</c:f>
              <c:strCache>
                <c:ptCount val="1"/>
                <c:pt idx="0">
                  <c:v>Hadlima / Imraldi</c:v>
                </c:pt>
              </c:strCache>
            </c:strRef>
          </c:tx>
          <c:spPr>
            <a:solidFill>
              <a:srgbClr val="008189"/>
            </a:solidFill>
          </c:spPr>
          <c:invertIfNegative val="0"/>
          <c:xVal>
            <c:numRef>
              <c:f>Sheet1!$A$8:$A$8</c:f>
              <c:numCache>
                <c:formatCode>General</c:formatCode>
                <c:ptCount val="1"/>
                <c:pt idx="0">
                  <c:v>111.94462472747524</c:v>
                </c:pt>
              </c:numCache>
            </c:numRef>
          </c:xVal>
          <c:yVal>
            <c:numRef>
              <c:f>Sheet1!$B$8:$B$8</c:f>
              <c:numCache>
                <c:formatCode>General</c:formatCode>
                <c:ptCount val="1"/>
                <c:pt idx="0">
                  <c:v>110.4497955474784</c:v>
                </c:pt>
              </c:numCache>
            </c:numRef>
          </c:yVal>
          <c:bubbleSize>
            <c:numRef>
              <c:f>Sheet1!$C$8:$C$8</c:f>
              <c:numCache>
                <c:formatCode>General</c:formatCode>
                <c:ptCount val="1"/>
                <c:pt idx="0">
                  <c:v>493.294</c:v>
                </c:pt>
              </c:numCache>
            </c:numRef>
          </c:bubbleSize>
          <c:bubble3D val="0"/>
        </c:ser>
        <c:ser>
          <c:idx val="3"/>
          <c:order val="3"/>
          <c:tx>
            <c:strRef>
              <c:f>Sheet1!$B$10</c:f>
              <c:strCache>
                <c:ptCount val="1"/>
                <c:pt idx="0">
                  <c:v>Hyrimoz / Halimatoz / Hefiya</c:v>
                </c:pt>
              </c:strCache>
            </c:strRef>
          </c:tx>
          <c:spPr>
            <a:solidFill>
              <a:srgbClr val="40315E"/>
            </a:solidFill>
          </c:spPr>
          <c:invertIfNegative val="0"/>
          <c:xVal>
            <c:numRef>
              <c:f>Sheet1!$A$11:$A$11</c:f>
              <c:numCache>
                <c:formatCode>General</c:formatCode>
                <c:ptCount val="1"/>
                <c:pt idx="0">
                  <c:v>104.17175239859573</c:v>
                </c:pt>
              </c:numCache>
            </c:numRef>
          </c:xVal>
          <c:yVal>
            <c:numRef>
              <c:f>Sheet1!$B$11:$B$11</c:f>
              <c:numCache>
                <c:formatCode>General</c:formatCode>
                <c:ptCount val="1"/>
                <c:pt idx="0">
                  <c:v>123.20319587174575</c:v>
                </c:pt>
              </c:numCache>
            </c:numRef>
          </c:yVal>
          <c:bubbleSize>
            <c:numRef>
              <c:f>Sheet1!$C$11:$C$11</c:f>
              <c:numCache>
                <c:formatCode>General</c:formatCode>
                <c:ptCount val="1"/>
                <c:pt idx="0">
                  <c:v>517.855</c:v>
                </c:pt>
              </c:numCache>
            </c:numRef>
          </c:bubbleSize>
          <c:bubble3D val="0"/>
        </c:ser>
        <c:ser>
          <c:idx val="4"/>
          <c:order val="4"/>
          <c:tx>
            <c:strRef>
              <c:f>Sheet1!$B$13</c:f>
              <c:strCache>
                <c:ptCount val="1"/>
                <c:pt idx="0">
                  <c:v>Idacio</c:v>
                </c:pt>
              </c:strCache>
            </c:strRef>
          </c:tx>
          <c:spPr>
            <a:solidFill>
              <a:srgbClr val="A35313"/>
            </a:solidFill>
          </c:spPr>
          <c:invertIfNegative val="0"/>
          <c:xVal>
            <c:numRef>
              <c:f>Sheet1!$A$14:$A$14</c:f>
              <c:numCache>
                <c:formatCode>General</c:formatCode>
                <c:ptCount val="1"/>
                <c:pt idx="0">
                  <c:v>110.9466820052989</c:v>
                </c:pt>
              </c:numCache>
            </c:numRef>
          </c:xVal>
          <c:yVal>
            <c:numRef>
              <c:f>Sheet1!$B$14:$B$14</c:f>
              <c:numCache>
                <c:formatCode>General</c:formatCode>
                <c:ptCount val="1"/>
                <c:pt idx="0">
                  <c:v>118.6422812778422</c:v>
                </c:pt>
              </c:numCache>
            </c:numRef>
          </c:yVal>
          <c:bubbleSize>
            <c:numRef>
              <c:f>Sheet1!$C$14:$C$14</c:f>
              <c:numCache>
                <c:formatCode>General</c:formatCode>
                <c:ptCount val="1"/>
                <c:pt idx="0">
                  <c:v>525.782</c:v>
                </c:pt>
              </c:numCache>
            </c:numRef>
          </c:bubbleSize>
          <c:bubble3D val="0"/>
        </c:ser>
        <c:ser>
          <c:idx val="5"/>
          <c:order val="5"/>
          <c:tx>
            <c:strRef>
              <c:f>Sheet1!$B$16</c:f>
              <c:strCache>
                <c:ptCount val="1"/>
                <c:pt idx="0">
                  <c:v>Hulio</c:v>
                </c:pt>
              </c:strCache>
            </c:strRef>
          </c:tx>
          <c:spPr>
            <a:solidFill>
              <a:srgbClr val="808080"/>
            </a:solidFill>
          </c:spPr>
          <c:invertIfNegative val="0"/>
          <c:xVal>
            <c:numRef>
              <c:f>Sheet1!$A$17:$A$17</c:f>
              <c:numCache>
                <c:formatCode>General</c:formatCode>
                <c:ptCount val="1"/>
                <c:pt idx="0">
                  <c:v>76.9221824681014</c:v>
                </c:pt>
              </c:numCache>
            </c:numRef>
          </c:xVal>
          <c:yVal>
            <c:numRef>
              <c:f>Sheet1!$B$17:$B$17</c:f>
              <c:numCache>
                <c:formatCode>General</c:formatCode>
                <c:ptCount val="1"/>
                <c:pt idx="0">
                  <c:v>58.317973435607705</c:v>
                </c:pt>
              </c:numCache>
            </c:numRef>
          </c:yVal>
          <c:bubbleSize>
            <c:numRef>
              <c:f>Sheet1!$C$17:$C$17</c:f>
              <c:numCache>
                <c:formatCode>General</c:formatCode>
                <c:ptCount val="1"/>
                <c:pt idx="0">
                  <c:v>197.566</c:v>
                </c:pt>
              </c:numCache>
            </c:numRef>
          </c:bubbleSize>
          <c:bubble3D val="0"/>
        </c:ser>
        <c:ser>
          <c:idx val="6"/>
          <c:order val="6"/>
          <c:tx>
            <c:strRef>
              <c:f>Sheet1!$B$19</c:f>
              <c:strCache>
                <c:ptCount val="1"/>
                <c:pt idx="0">
                  <c:v>Abrilada / Amsparity</c:v>
                </c:pt>
              </c:strCache>
            </c:strRef>
          </c:tx>
          <c:spPr>
            <a:solidFill>
              <a:srgbClr val="0E72AE"/>
            </a:solidFill>
          </c:spPr>
          <c:invertIfNegative val="0"/>
          <c:xVal>
            <c:numRef>
              <c:f>Sheet1!$A$20:$A$20</c:f>
              <c:numCache>
                <c:formatCode>General</c:formatCode>
                <c:ptCount val="1"/>
                <c:pt idx="0">
                  <c:v>105.24967372141451</c:v>
                </c:pt>
              </c:numCache>
            </c:numRef>
          </c:xVal>
          <c:yVal>
            <c:numRef>
              <c:f>Sheet1!$B$20:$B$20</c:f>
              <c:numCache>
                <c:formatCode>General</c:formatCode>
                <c:ptCount val="1"/>
                <c:pt idx="0">
                  <c:v>117.74469596013164</c:v>
                </c:pt>
              </c:numCache>
            </c:numRef>
          </c:yVal>
          <c:bubbleSize>
            <c:numRef>
              <c:f>Sheet1!$C$20:$C$20</c:f>
              <c:numCache>
                <c:formatCode>General</c:formatCode>
                <c:ptCount val="1"/>
                <c:pt idx="0">
                  <c:v>499.105</c:v>
                </c:pt>
              </c:numCache>
            </c:numRef>
          </c:bubbleSize>
          <c:bubble3D val="0"/>
        </c:ser>
        <c:ser>
          <c:idx val="7"/>
          <c:order val="7"/>
          <c:tx>
            <c:strRef>
              <c:f>Sheet1!$B$22</c:f>
              <c:strCache>
                <c:ptCount val="1"/>
                <c:pt idx="0">
                  <c:v>Yusimry</c:v>
                </c:pt>
              </c:strCache>
            </c:strRef>
          </c:tx>
          <c:spPr>
            <a:solidFill>
              <a:srgbClr val="A86F00"/>
            </a:solidFill>
          </c:spPr>
          <c:invertIfNegative val="0"/>
          <c:xVal>
            <c:numRef>
              <c:f>Sheet1!$A$23:$A$23</c:f>
              <c:numCache>
                <c:formatCode>General</c:formatCode>
                <c:ptCount val="1"/>
                <c:pt idx="0">
                  <c:v>74.24544829252412</c:v>
                </c:pt>
              </c:numCache>
            </c:numRef>
          </c:xVal>
          <c:yVal>
            <c:numRef>
              <c:f>Sheet1!$B$23:$B$23</c:f>
              <c:numCache>
                <c:formatCode>General</c:formatCode>
                <c:ptCount val="1"/>
                <c:pt idx="0">
                  <c:v>105.07486968779267</c:v>
                </c:pt>
              </c:numCache>
            </c:numRef>
          </c:yVal>
          <c:bubbleSize>
            <c:numRef>
              <c:f>Sheet1!$C$23:$C$23</c:f>
              <c:numCache>
                <c:formatCode>General</c:formatCode>
                <c:ptCount val="1"/>
                <c:pt idx="0">
                  <c:v>348.41499999999996</c:v>
                </c:pt>
              </c:numCache>
            </c:numRef>
          </c:bubbleSize>
          <c:bubble3D val="0"/>
        </c:ser>
        <c:ser>
          <c:idx val="8"/>
          <c:order val="8"/>
          <c:tx>
            <c:strRef>
              <c:f>Sheet1!$B$25</c:f>
              <c:strCache>
                <c:ptCount val="1"/>
                <c:pt idx="0">
                  <c:v>Yuflyma</c:v>
                </c:pt>
              </c:strCache>
            </c:strRef>
          </c:tx>
          <c:spPr>
            <a:solidFill>
              <a:srgbClr val="0B2E4A"/>
            </a:solidFill>
          </c:spPr>
          <c:invertIfNegative val="0"/>
          <c:xVal>
            <c:numRef>
              <c:f>Sheet1!$A$26:$A$26</c:f>
              <c:numCache>
                <c:formatCode>General</c:formatCode>
                <c:ptCount val="1"/>
                <c:pt idx="0">
                  <c:v>96.38662390065146</c:v>
                </c:pt>
              </c:numCache>
            </c:numRef>
          </c:xVal>
          <c:yVal>
            <c:numRef>
              <c:f>Sheet1!$B$26:$B$26</c:f>
              <c:numCache>
                <c:formatCode>General</c:formatCode>
                <c:ptCount val="1"/>
                <c:pt idx="0">
                  <c:v>52.61655161305517</c:v>
                </c:pt>
              </c:numCache>
            </c:numRef>
          </c:yVal>
          <c:bubbleSize>
            <c:numRef>
              <c:f>Sheet1!$C$26:$C$26</c:f>
              <c:numCache>
                <c:formatCode>General</c:formatCode>
                <c:ptCount val="1"/>
                <c:pt idx="0">
                  <c:v>208.042</c:v>
                </c:pt>
              </c:numCache>
            </c:numRef>
          </c:bubbleSize>
          <c:bubble3D val="0"/>
        </c:ser>
        <c:ser>
          <c:idx val="9"/>
          <c:order val="9"/>
          <c:tx>
            <c:strRef>
              <c:f>Sheet1!$B$28</c:f>
              <c:strCache>
                <c:ptCount val="1"/>
                <c:pt idx="0">
                  <c:v>Simlandi</c:v>
                </c:pt>
              </c:strCache>
            </c:strRef>
          </c:tx>
          <c:spPr>
            <a:solidFill>
              <a:srgbClr val="6C7A89"/>
            </a:solidFill>
          </c:spPr>
          <c:invertIfNegative val="0"/>
          <c:xVal>
            <c:numRef>
              <c:f>Sheet1!$A$29:$A$29</c:f>
              <c:numCache>
                <c:formatCode>General</c:formatCode>
                <c:ptCount val="1"/>
                <c:pt idx="0">
                  <c:v>90.26573349306169</c:v>
                </c:pt>
              </c:numCache>
            </c:numRef>
          </c:xVal>
          <c:yVal>
            <c:numRef>
              <c:f>Sheet1!$B$29:$B$29</c:f>
              <c:numCache>
                <c:formatCode>General</c:formatCode>
                <c:ptCount val="1"/>
                <c:pt idx="0">
                  <c:v>81.52537333542016</c:v>
                </c:pt>
              </c:numCache>
            </c:numRef>
          </c:yVal>
          <c:bubbleSize>
            <c:numRef>
              <c:f>Sheet1!$C$29:$C$29</c:f>
              <c:numCache>
                <c:formatCode>General</c:formatCode>
                <c:ptCount val="1"/>
                <c:pt idx="0">
                  <c:v>307.133</c:v>
                </c:pt>
              </c:numCache>
            </c:numRef>
          </c:bubbleSize>
          <c:bubble3D val="0"/>
        </c:ser>
        <c:ser>
          <c:idx val="10"/>
          <c:order val="10"/>
          <c:tx>
            <c:strRef>
              <c:f>Sheet1!$B$31</c:f>
              <c:strCache>
                <c:ptCount val="1"/>
                <c:pt idx="0">
                  <c:v>Other approved adalimumab biosimilars</c:v>
                </c:pt>
              </c:strCache>
            </c:strRef>
          </c:tx>
          <c:spPr>
            <a:solidFill>
              <a:srgbClr val="B2B2B2"/>
            </a:solidFill>
          </c:spPr>
          <c:invertIfNegative val="0"/>
          <c:xVal>
            <c:numRef>
              <c:f>Sheet1!$A$32:$A$32</c:f>
              <c:numCache>
                <c:formatCode>General</c:formatCode>
                <c:ptCount val="1"/>
                <c:pt idx="0">
                  <c:v>96.79569439420432</c:v>
                </c:pt>
              </c:numCache>
            </c:numRef>
          </c:xVal>
          <c:yVal>
            <c:numRef>
              <c:f>Sheet1!$B$32:$B$32</c:f>
              <c:numCache>
                <c:formatCode>General</c:formatCode>
                <c:ptCount val="1"/>
                <c:pt idx="0">
                  <c:v>102.92311643081055</c:v>
                </c:pt>
              </c:numCache>
            </c:numRef>
          </c:yVal>
          <c:bubbleSize>
            <c:numRef>
              <c:f>Sheet1!$C$32:$C$32</c:f>
              <c:numCache>
                <c:formatCode>General</c:formatCode>
                <c:ptCount val="1"/>
                <c:pt idx="0">
                  <c:v>408.264</c:v>
                </c:pt>
              </c:numCache>
            </c:numRef>
          </c:bubbleSize>
          <c:bubble3D val="0"/>
        </c:ser>
        <c:dLbls>
          <c:showLegendKey val="0"/>
          <c:showVal val="0"/>
          <c:showCatName val="0"/>
          <c:showSerName val="0"/>
          <c:showPercent val="0"/>
          <c:showBubbleSize val="0"/>
        </c:dLbls>
        <c:bubbleScale val="100"/>
        <c:showNegBubbles val="0"/>
        <c:axId val="-2115720072"/>
        <c:axId val="-2115723560"/>
      </c:bubbleChart>
      <c:valAx>
        <c:axId val="-2115720072"/>
        <c:scaling>
          <c:orientation val="minMax"/>
        </c:scaling>
        <c:delete val="0"/>
        <c:axPos val="b"/>
        <c:numFmt formatCode="General" sourceLinked="1"/>
        <c:majorTickMark val="out"/>
        <c:minorTickMark val="none"/>
        <c:tickLblPos val="nextTo"/>
        <c:spPr>
          <a:ln>
            <a:solidFill>
              <a:srgbClr val="C6D5E1"/>
            </a:solidFill>
          </a:ln>
        </c:spPr>
        <c:txPr>
          <a:bodyPr/>
          <a:lstStyle/>
          <a:p>
            <a:pPr>
              <a:defRPr sz="850"/>
            </a:pPr>
          </a:p>
        </c:txPr>
        <c:crossAx val="-2115723560"/>
        <c:crosses val="autoZero"/>
        <c:crossBetween val="midCat"/>
      </c:valAx>
      <c:valAx>
        <c:axId val="-2115723560"/>
        <c:scaling>
          <c:orientation val="minMax"/>
        </c:scaling>
        <c:delete val="0"/>
        <c:axPos val="l"/>
        <c:numFmt formatCode="General" sourceLinked="1"/>
        <c:majorTickMark val="out"/>
        <c:minorTickMark val="none"/>
        <c:tickLblPos val="nextTo"/>
        <c:spPr>
          <a:ln>
            <a:solidFill>
              <a:srgbClr val="C6D5E1"/>
            </a:solidFill>
          </a:ln>
        </c:spPr>
        <c:txPr>
          <a:bodyPr/>
          <a:lstStyle/>
          <a:p>
            <a:pPr>
              <a:defRPr sz="850"/>
            </a:pPr>
          </a:p>
        </c:txPr>
        <c:crossAx val="-2115720072"/>
        <c:crosses val="autoZero"/>
        <c:crossBetween val="midCat"/>
      </c:valAx>
    </c:plotArea>
    <c:legend>
      <c:legendPos val="b"/>
      <c:layout/>
      <c:overlay val="0"/>
      <c:txPr>
        <a:bodyPr/>
        <a:lstStyle/>
        <a:p>
          <a:pPr>
            <a:defRPr sz="850"/>
          </a:pPr>
        </a:p>
      </c:txPr>
    </c:legend>
    <c:plotVisOnly val="1"/>
    <c:dispBlanksAs val="gap"/>
    <c:showDLblsOverMax val="0"/>
  </c:chart>
  <c:txPr>
    <a:bodyPr/>
    <a:lstStyle/>
    <a:p>
      <a:pPr>
        <a:defRPr sz="800">
          <a:latin typeface="Calibri"/>
        </a:defRPr>
      </a:pPr>
      <a:endParaRPr lang="en-US"/>
    </a:p>
  </c:tx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2021</c:v>
                </c:pt>
                <c:pt idx="1">
                  <c:v>2022</c:v>
                </c:pt>
                <c:pt idx="2">
                  <c:v>2023</c:v>
                </c:pt>
                <c:pt idx="3">
                  <c:v>2024</c:v>
                </c:pt>
                <c:pt idx="4">
                  <c:v>2025</c:v>
                </c:pt>
                <c:pt idx="5">
                  <c:v>2025 Total</c:v>
                </c:pt>
              </c:strCache>
            </c:strRef>
          </c:cat>
          <c:val>
            <c:numRef>
              <c:f>Sheet1!$B$2:$B$7</c:f>
              <c:numCache>
                <c:formatCode>General</c:formatCode>
                <c:ptCount val="6"/>
                <c:pt idx="0">
                  <c:v>0.0</c:v>
                </c:pt>
                <c:pt idx="1">
                  <c:v>852.621</c:v>
                </c:pt>
                <c:pt idx="2">
                  <c:v>958.0659999999999</c:v>
                </c:pt>
                <c:pt idx="3">
                  <c:v>1141.952</c:v>
                </c:pt>
                <c:pt idx="4">
                  <c:v>1404.643</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2021</c:v>
                </c:pt>
                <c:pt idx="1">
                  <c:v>2022</c:v>
                </c:pt>
                <c:pt idx="2">
                  <c:v>2023</c:v>
                </c:pt>
                <c:pt idx="3">
                  <c:v>2024</c:v>
                </c:pt>
                <c:pt idx="4">
                  <c:v>2025</c:v>
                </c:pt>
                <c:pt idx="5">
                  <c:v>2025 Total</c:v>
                </c:pt>
              </c:strCache>
            </c:strRef>
          </c:cat>
          <c:val>
            <c:numRef>
              <c:f>Sheet1!$C$2:$C$7</c:f>
              <c:numCache>
                <c:formatCode>General</c:formatCode>
                <c:ptCount val="6"/>
                <c:pt idx="0">
                  <c:v>852.621</c:v>
                </c:pt>
                <c:pt idx="1">
                  <c:v>105.44499999999994</c:v>
                </c:pt>
                <c:pt idx="2">
                  <c:v>183.88600000000008</c:v>
                </c:pt>
                <c:pt idx="3">
                  <c:v>262.69100000000003</c:v>
                </c:pt>
                <c:pt idx="4">
                  <c:v>286.3029999999999</c:v>
                </c:pt>
                <c:pt idx="5">
                  <c:v>1690.946</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2027</c:v>
                </c:pt>
                <c:pt idx="2">
                  <c:v>2028</c:v>
                </c:pt>
                <c:pt idx="3">
                  <c:v>2029</c:v>
                </c:pt>
                <c:pt idx="4">
                  <c:v>2030</c:v>
                </c:pt>
                <c:pt idx="5">
                  <c:v>2031</c:v>
                </c:pt>
                <c:pt idx="6">
                  <c:v>2031 Total</c:v>
                </c:pt>
              </c:strCache>
            </c:strRef>
          </c:cat>
          <c:val>
            <c:numRef>
              <c:f>Sheet1!$B$2:$B$8</c:f>
              <c:numCache>
                <c:formatCode>General</c:formatCode>
                <c:ptCount val="7"/>
                <c:pt idx="0">
                  <c:v>0.0</c:v>
                </c:pt>
                <c:pt idx="1">
                  <c:v>1974.297</c:v>
                </c:pt>
                <c:pt idx="2">
                  <c:v>2263.314</c:v>
                </c:pt>
                <c:pt idx="3">
                  <c:v>2542.162</c:v>
                </c:pt>
                <c:pt idx="4">
                  <c:v>2814.308</c:v>
                </c:pt>
                <c:pt idx="5">
                  <c:v>3078.624</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2027</c:v>
                </c:pt>
                <c:pt idx="2">
                  <c:v>2028</c:v>
                </c:pt>
                <c:pt idx="3">
                  <c:v>2029</c:v>
                </c:pt>
                <c:pt idx="4">
                  <c:v>2030</c:v>
                </c:pt>
                <c:pt idx="5">
                  <c:v>2031</c:v>
                </c:pt>
                <c:pt idx="6">
                  <c:v>2031 Total</c:v>
                </c:pt>
              </c:strCache>
            </c:strRef>
          </c:cat>
          <c:val>
            <c:numRef>
              <c:f>Sheet1!$C$2:$C$8</c:f>
              <c:numCache>
                <c:formatCode>General</c:formatCode>
                <c:ptCount val="7"/>
                <c:pt idx="0">
                  <c:v>1974.297</c:v>
                </c:pt>
                <c:pt idx="1">
                  <c:v>289.0169999999998</c:v>
                </c:pt>
                <c:pt idx="2">
                  <c:v>278.84799999999996</c:v>
                </c:pt>
                <c:pt idx="3">
                  <c:v>272.1460000000002</c:v>
                </c:pt>
                <c:pt idx="4">
                  <c:v>264.3159999999998</c:v>
                </c:pt>
                <c:pt idx="5">
                  <c:v>254.89599999999973</c:v>
                </c:pt>
                <c:pt idx="6">
                  <c:v>3333.5199999999995</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2031</c:v>
                </c:pt>
                <c:pt idx="1">
                  <c:v>2032</c:v>
                </c:pt>
                <c:pt idx="2">
                  <c:v>2033</c:v>
                </c:pt>
                <c:pt idx="3">
                  <c:v>2034</c:v>
                </c:pt>
                <c:pt idx="4">
                  <c:v>2035</c:v>
                </c:pt>
                <c:pt idx="5">
                  <c:v>2036</c:v>
                </c:pt>
                <c:pt idx="6">
                  <c:v>2036 Total</c:v>
                </c:pt>
              </c:strCache>
            </c:strRef>
          </c:cat>
          <c:val>
            <c:numRef>
              <c:f>Sheet1!$B$2:$B$8</c:f>
              <c:numCache>
                <c:formatCode>General</c:formatCode>
                <c:ptCount val="7"/>
                <c:pt idx="0">
                  <c:v>0.0</c:v>
                </c:pt>
                <c:pt idx="1">
                  <c:v>3333.5199999999995</c:v>
                </c:pt>
                <c:pt idx="2">
                  <c:v>3579.1420000000003</c:v>
                </c:pt>
                <c:pt idx="3">
                  <c:v>3813.8450000000003</c:v>
                </c:pt>
                <c:pt idx="4">
                  <c:v>4040.685</c:v>
                </c:pt>
                <c:pt idx="5">
                  <c:v>4260.442999999999</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2031</c:v>
                </c:pt>
                <c:pt idx="1">
                  <c:v>2032</c:v>
                </c:pt>
                <c:pt idx="2">
                  <c:v>2033</c:v>
                </c:pt>
                <c:pt idx="3">
                  <c:v>2034</c:v>
                </c:pt>
                <c:pt idx="4">
                  <c:v>2035</c:v>
                </c:pt>
                <c:pt idx="5">
                  <c:v>2036</c:v>
                </c:pt>
                <c:pt idx="6">
                  <c:v>2036 Total</c:v>
                </c:pt>
              </c:strCache>
            </c:strRef>
          </c:cat>
          <c:val>
            <c:numRef>
              <c:f>Sheet1!$C$2:$C$8</c:f>
              <c:numCache>
                <c:formatCode>General</c:formatCode>
                <c:ptCount val="7"/>
                <c:pt idx="0">
                  <c:v>3333.5199999999995</c:v>
                </c:pt>
                <c:pt idx="1">
                  <c:v>245.62200000000075</c:v>
                </c:pt>
                <c:pt idx="2">
                  <c:v>234.70299999999997</c:v>
                </c:pt>
                <c:pt idx="3">
                  <c:v>226.8399999999997</c:v>
                </c:pt>
                <c:pt idx="4">
                  <c:v>219.75799999999936</c:v>
                </c:pt>
                <c:pt idx="5">
                  <c:v>214.29799999999977</c:v>
                </c:pt>
                <c:pt idx="6">
                  <c:v>4474.740999999999</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Idacio</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10.292380788181385</c:v>
                </c:pt>
                <c:pt idx="1">
                  <c:v>10.78566193434929</c:v>
                </c:pt>
                <c:pt idx="2">
                  <c:v>11.749998491532807</c:v>
                </c:pt>
              </c:numCache>
            </c:numRef>
          </c:val>
        </c:ser>
        <c:ser>
          <c:idx val="1"/>
          <c:order val="1"/>
          <c:tx>
            <c:strRef>
              <c:f>Sheet1!$C$1</c:f>
              <c:strCache>
                <c:ptCount val="1"/>
                <c:pt idx="0">
                  <c:v>Hyrimoz / Halimatoz / Hef…</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10.974395423054323</c:v>
                </c:pt>
                <c:pt idx="1">
                  <c:v>11.200290533795068</c:v>
                </c:pt>
                <c:pt idx="2">
                  <c:v>11.572848573805725</c:v>
                </c:pt>
              </c:numCache>
            </c:numRef>
          </c:val>
        </c:ser>
        <c:ser>
          <c:idx val="2"/>
          <c:order val="2"/>
          <c:tx>
            <c:strRef>
              <c:f>Sheet1!$D$1</c:f>
              <c:strCache>
                <c:ptCount val="1"/>
                <c:pt idx="0">
                  <c:v>Cyltezo</c:v>
                </c:pt>
              </c:strCache>
            </c:strRef>
          </c:tx>
          <c:spPr>
            <a:solidFill>
              <a:srgbClr val="008189"/>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9.065458157845047</c:v>
                </c:pt>
                <c:pt idx="1">
                  <c:v>9.785305858237136</c:v>
                </c:pt>
                <c:pt idx="2">
                  <c:v>11.309771895177843</c:v>
                </c:pt>
              </c:numCache>
            </c:numRef>
          </c:val>
        </c:ser>
        <c:ser>
          <c:idx val="3"/>
          <c:order val="3"/>
          <c:tx>
            <c:strRef>
              <c:f>Sheet1!$E$1</c:f>
              <c:strCache>
                <c:ptCount val="1"/>
                <c:pt idx="0">
                  <c:v>Abrilada / Amsparity</c:v>
                </c:pt>
              </c:strCache>
            </c:strRef>
          </c:tx>
          <c:spPr>
            <a:solidFill>
              <a:srgbClr val="40315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10.444030817913237</c:v>
                </c:pt>
                <c:pt idx="1">
                  <c:v>10.704063269102877</c:v>
                </c:pt>
                <c:pt idx="2">
                  <c:v>11.153829908814835</c:v>
                </c:pt>
              </c:numCache>
            </c:numRef>
          </c:val>
        </c:ser>
        <c:ser>
          <c:idx val="4"/>
          <c:order val="4"/>
          <c:tx>
            <c:strRef>
              <c:f>Sheet1!$F$1</c:f>
              <c:strCache>
                <c:ptCount val="1"/>
                <c:pt idx="0">
                  <c:v>Hadlima / Imraldi</c:v>
                </c:pt>
              </c:strCache>
            </c:strRef>
          </c:tx>
          <c:spPr>
            <a:solidFill>
              <a:srgbClr val="A35313"/>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9.544451755234743</c:v>
                </c:pt>
                <c:pt idx="1">
                  <c:v>10.040890504316218</c:v>
                </c:pt>
                <c:pt idx="2">
                  <c:v>11.023967644160857</c:v>
                </c:pt>
              </c:numCache>
            </c:numRef>
          </c:val>
        </c:ser>
        <c:ser>
          <c:idx val="5"/>
          <c:order val="5"/>
          <c:tx>
            <c:strRef>
              <c:f>Sheet1!$G$1</c:f>
              <c:strCache>
                <c:ptCount val="1"/>
                <c:pt idx="0">
                  <c:v>Amjevita / Amgevita</c:v>
                </c:pt>
              </c:strCache>
            </c:strRef>
          </c:tx>
          <c:spPr>
            <a:solidFill>
              <a:srgbClr val="808080"/>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11.41515397814504</c:v>
                </c:pt>
                <c:pt idx="1">
                  <c:v>11.07852567268248</c:v>
                </c:pt>
                <c:pt idx="2">
                  <c:v>10.351481795259211</c:v>
                </c:pt>
              </c:numCache>
            </c:numRef>
          </c:val>
        </c:ser>
        <c:ser>
          <c:idx val="6"/>
          <c:order val="6"/>
          <c:tx>
            <c:strRef>
              <c:f>Sheet1!$H$1</c:f>
              <c:strCache>
                <c:ptCount val="1"/>
                <c:pt idx="0">
                  <c:v>Other approved adalimumab…</c:v>
                </c:pt>
              </c:strCache>
            </c:strRef>
          </c:tx>
          <c:spPr>
            <a:solidFill>
              <a:srgbClr val="0E72A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9.437018323498954</c:v>
                </c:pt>
                <c:pt idx="1">
                  <c:v>9.356646948255506</c:v>
                </c:pt>
                <c:pt idx="2">
                  <c:v>9.12374593300484</c:v>
                </c:pt>
              </c:numCache>
            </c:numRef>
          </c:val>
        </c:ser>
        <c:ser>
          <c:idx val="7"/>
          <c:order val="7"/>
          <c:tx>
            <c:strRef>
              <c:f>Sheet1!$I$1</c:f>
              <c:strCache>
                <c:ptCount val="1"/>
                <c:pt idx="0">
                  <c:v>Yusimry</c:v>
                </c:pt>
              </c:strCache>
            </c:strRef>
          </c:tx>
          <c:spPr>
            <a:solidFill>
              <a:srgbClr val="A86F00"/>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Sheet1!$I$2:$I$4</c:f>
              <c:numCache>
                <c:formatCode>General</c:formatCode>
                <c:ptCount val="3"/>
                <c:pt idx="0">
                  <c:v>10.53797642797914</c:v>
                </c:pt>
                <c:pt idx="1">
                  <c:v>9.552260880708424</c:v>
                </c:pt>
                <c:pt idx="2">
                  <c:v>7.786260702016048</c:v>
                </c:pt>
              </c:numCache>
            </c:numRef>
          </c:val>
        </c:ser>
        <c:ser>
          <c:idx val="8"/>
          <c:order val="8"/>
          <c:tx>
            <c:strRef>
              <c:f>Sheet1!$J$1</c:f>
              <c:strCache>
                <c:ptCount val="1"/>
                <c:pt idx="0">
                  <c:v>Simlandi</c:v>
                </c:pt>
              </c:strCache>
            </c:strRef>
          </c:tx>
          <c:spPr>
            <a:solidFill>
              <a:srgbClr val="0B2E4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Sheet1!$J$2:$J$4</c:f>
              <c:numCache>
                <c:formatCode>General</c:formatCode>
                <c:ptCount val="3"/>
                <c:pt idx="0">
                  <c:v>7.670465540961343</c:v>
                </c:pt>
                <c:pt idx="1">
                  <c:v>7.411397575947287</c:v>
                </c:pt>
                <c:pt idx="2">
                  <c:v>6.86370451384784</c:v>
                </c:pt>
              </c:numCache>
            </c:numRef>
          </c:val>
        </c:ser>
        <c:ser>
          <c:idx val="9"/>
          <c:order val="9"/>
          <c:tx>
            <c:strRef>
              <c:f>Sheet1!$K$1</c:f>
              <c:strCache>
                <c:ptCount val="1"/>
                <c:pt idx="0">
                  <c:v>Yuflyma</c:v>
                </c:pt>
              </c:strCache>
            </c:strRef>
          </c:tx>
          <c:spPr>
            <a:solidFill>
              <a:srgbClr val="6C7A89"/>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Sheet1!$K$2:$K$4</c:f>
              <c:numCache>
                <c:formatCode>General</c:formatCode>
                <c:ptCount val="3"/>
                <c:pt idx="0">
                  <c:v>4.8325105762114715</c:v>
                </c:pt>
                <c:pt idx="1">
                  <c:v>4.7833228739141065</c:v>
                </c:pt>
                <c:pt idx="2">
                  <c:v>4.649252325441852</c:v>
                </c:pt>
              </c:numCache>
            </c:numRef>
          </c:val>
        </c:ser>
        <c:ser>
          <c:idx val="10"/>
          <c:order val="10"/>
          <c:tx>
            <c:strRef>
              <c:f>Sheet1!$L$1</c:f>
              <c:strCache>
                <c:ptCount val="1"/>
                <c:pt idx="0">
                  <c:v>Hulio</c:v>
                </c:pt>
              </c:strCache>
            </c:strRef>
          </c:tx>
          <c:spPr>
            <a:solidFill>
              <a:srgbClr val="B2B2B2"/>
            </a:solidFill>
            <a:ln>
              <a:noFill/>
            </a:ln>
          </c:spPr>
          <c:dLbls>
            <c:numFmt formatCode="0&quot;%&quot;" sourceLinked="0"/>
            <c:txPr>
              <a:bodyPr rot="0" vert="horz"/>
              <a:lstStyle/>
              <a:p>
                <a:pPr>
                  <a:defRPr sz="700">
                    <a:solidFill>
                      <a:srgbClr val="2E2E2E"/>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Sheet1!$L$2:$L$4</c:f>
              <c:numCache>
                <c:formatCode>General</c:formatCode>
                <c:ptCount val="3"/>
                <c:pt idx="0">
                  <c:v>5.7861582109753344</c:v>
                </c:pt>
                <c:pt idx="1">
                  <c:v>5.30163394869161</c:v>
                </c:pt>
                <c:pt idx="2">
                  <c:v>4.415138216938142</c:v>
                </c:pt>
              </c:numCache>
            </c:numRef>
          </c:val>
        </c:ser>
        <c:gapWidth val="85"/>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Doses)</c:v>
                </c:pt>
              </c:strCache>
            </c:strRef>
          </c:tx>
          <c:spPr>
            <a:solidFill>
              <a:srgbClr val="69B1E0"/>
            </a:solidFill>
            <a:ln>
              <a:noFill/>
            </a:ln>
          </c:spPr>
          <c:dLbls>
            <c:numFmt formatCode="0.0" sourceLinked="0"/>
            <c:txPr>
              <a:bodyPr rot="0" vert="horz"/>
              <a:lstStyle/>
              <a:p>
                <a:pPr>
                  <a:defRPr sz="700">
                    <a:solidFill>
                      <a:srgbClr val="6C7A89"/>
                    </a:solidFill>
                    <a:latin typeface="Calibr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1.064103</c:v>
                </c:pt>
                <c:pt idx="1">
                  <c:v>1.2425259999999998</c:v>
                </c:pt>
                <c:pt idx="2">
                  <c:v>1.538963</c:v>
                </c:pt>
                <c:pt idx="3">
                  <c:v>1.967007</c:v>
                </c:pt>
                <c:pt idx="4">
                  <c:v>2.460467</c:v>
                </c:pt>
                <c:pt idx="5">
                  <c:v>2.984948</c:v>
                </c:pt>
                <c:pt idx="6">
                  <c:v>3.555447</c:v>
                </c:pt>
                <c:pt idx="7">
                  <c:v>4.149219</c:v>
                </c:pt>
                <c:pt idx="8">
                  <c:v>4.772401</c:v>
                </c:pt>
                <c:pt idx="9">
                  <c:v>5.423910000000001</c:v>
                </c:pt>
                <c:pt idx="10">
                  <c:v>6.101514999999999</c:v>
                </c:pt>
                <c:pt idx="11">
                  <c:v>6.8058250000000005</c:v>
                </c:pt>
                <c:pt idx="12">
                  <c:v>7.533911</c:v>
                </c:pt>
                <c:pt idx="13">
                  <c:v>8.291945</c:v>
                </c:pt>
                <c:pt idx="14">
                  <c:v>9.082141</c:v>
                </c:pt>
                <c:pt idx="15">
                  <c:v>9.908816</c:v>
                </c:pt>
              </c:numCache>
            </c:numRef>
          </c:val>
        </c:ser>
        <c:gapWidth val="100"/>
        <c:axId val="-2068027336"/>
        <c:axId val="-2113994440"/>
      </c:barChart>
      <c:barChart>
        <c:barDir val="col"/>
        <c:grouping val="clustered"/>
        <c:varyColors val="0"/>
        <c:ser>
          <c:idx val="1"/>
          <c:order val="1"/>
          <c:tx>
            <c:strRef>
              <c:f>Sheet1!$C$1</c:f>
              <c:strCache>
                <c:ptCount val="1"/>
                <c:pt idx="0">
                  <c:v>Previous Year Volume</c:v>
                </c:pt>
              </c:strCache>
            </c:strRef>
          </c:tx>
          <c:spPr>
            <a:solidFill>
              <a:srgbClr val="C55A11"/>
            </a:solidFill>
            <a:ln>
              <a:noFill/>
            </a:ln>
          </c:spPr>
          <c:dLbls>
            <c:numFmt formatCode="0.0" sourceLinked="0"/>
            <c:txPr>
              <a:bodyPr rot="0" vert="horz"/>
              <a:lstStyle/>
              <a:p>
                <a:pPr>
                  <a:defRPr sz="650">
                    <a:solidFill>
                      <a:srgbClr val="FFFFFF"/>
                    </a:solidFill>
                    <a:latin typeface="Calibr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1">
                  <c:v>1.064103</c:v>
                </c:pt>
                <c:pt idx="2">
                  <c:v>1.2425259999999998</c:v>
                </c:pt>
                <c:pt idx="3">
                  <c:v>1.538963</c:v>
                </c:pt>
                <c:pt idx="4">
                  <c:v>1.967007</c:v>
                </c:pt>
                <c:pt idx="5">
                  <c:v>2.460467</c:v>
                </c:pt>
                <c:pt idx="6">
                  <c:v>2.984948</c:v>
                </c:pt>
                <c:pt idx="7">
                  <c:v>3.555447</c:v>
                </c:pt>
                <c:pt idx="8">
                  <c:v>4.149219</c:v>
                </c:pt>
                <c:pt idx="9">
                  <c:v>4.772401</c:v>
                </c:pt>
                <c:pt idx="10">
                  <c:v>5.423910000000001</c:v>
                </c:pt>
                <c:pt idx="11">
                  <c:v>6.101514999999999</c:v>
                </c:pt>
                <c:pt idx="12">
                  <c:v>6.8058250000000005</c:v>
                </c:pt>
                <c:pt idx="13">
                  <c:v>7.533911</c:v>
                </c:pt>
                <c:pt idx="14">
                  <c:v>8.291945</c:v>
                </c:pt>
                <c:pt idx="15">
                  <c:v>9.082141</c:v>
                </c:pt>
              </c:numCache>
            </c:numRef>
          </c:val>
        </c:ser>
        <c:gapWidth val="325"/>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12"/>
          <c:min val="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Series</c:v>
                </c:pt>
              </c:strCache>
            </c:strRef>
          </c:tx>
          <c:spPr>
            <a:solidFill>
              <a:srgbClr val="3D85C6"/>
            </a:solidFill>
            <a:ln>
              <a:noFill/>
            </a:ln>
          </c:spPr>
          <c:dPt>
            <c:idx val="0"/>
            <c:spPr>
              <a:solidFill>
                <a:srgbClr val="3D85C6"/>
              </a:solidFill>
            </c:spPr>
          </c:dPt>
          <c:dPt>
            <c:idx val="1"/>
            <c:spPr>
              <a:solidFill>
                <a:srgbClr val="9E7E0A"/>
              </a:solidFill>
            </c:spPr>
          </c:dPt>
          <c:cat>
            <c:strRef>
              <c:f>Sheet1!$A$2:$A$3</c:f>
              <c:strCache>
                <c:ptCount val="2"/>
                <c:pt idx="0">
                  <c:v>Canada</c:v>
                </c:pt>
                <c:pt idx="1">
                  <c:v>North America</c:v>
                </c:pt>
              </c:strCache>
            </c:strRef>
          </c:cat>
          <c:val>
            <c:numRef>
              <c:f>Sheet1!$B$2:$B$3</c:f>
              <c:numCache>
                <c:formatCode>General</c:formatCode>
                <c:ptCount val="2"/>
                <c:pt idx="0">
                  <c:v>12.747909811644288</c:v>
                </c:pt>
                <c:pt idx="1">
                  <c:v>13.005821760811621</c:v>
                </c:pt>
              </c:numCache>
            </c:numRef>
          </c:val>
        </c:ser>
        <c:dLbls>
          <c:numFmt formatCode="0.0&quot;%&quot;"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178"/>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16.907568289055106"/>
          <c:min val="0.0"/>
        </c:scaling>
        <c:delete val="0"/>
        <c:axPos val="l"/>
        <c:numFmt formatCode="0&quot;%&quot;" sourceLinked="0"/>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2.984948</c:v>
                </c:pt>
                <c:pt idx="2">
                  <c:v>3.555447</c:v>
                </c:pt>
                <c:pt idx="3">
                  <c:v>4.149219</c:v>
                </c:pt>
                <c:pt idx="4">
                  <c:v>4.772401</c:v>
                </c:pt>
                <c:pt idx="5">
                  <c:v>5.423910000000001</c:v>
                </c:pt>
                <c:pt idx="6">
                  <c:v>6.101514999999999</c:v>
                </c:pt>
                <c:pt idx="7">
                  <c:v>6.8058250000000005</c:v>
                </c:pt>
                <c:pt idx="8">
                  <c:v>7.533911</c:v>
                </c:pt>
                <c:pt idx="9">
                  <c:v>8.291945</c:v>
                </c:pt>
                <c:pt idx="10">
                  <c:v>9.082141</c:v>
                </c:pt>
                <c:pt idx="11">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numFmt formatCode="0.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2.984948</c:v>
                </c:pt>
                <c:pt idx="1">
                  <c:v>0.5704989999999999</c:v>
                </c:pt>
                <c:pt idx="2">
                  <c:v>0.5937720000000004</c:v>
                </c:pt>
                <c:pt idx="3">
                  <c:v>0.6231819999999999</c:v>
                </c:pt>
                <c:pt idx="4">
                  <c:v>0.6515090000000008</c:v>
                </c:pt>
                <c:pt idx="5">
                  <c:v>0.677604999999998</c:v>
                </c:pt>
                <c:pt idx="6">
                  <c:v>0.7043100000000013</c:v>
                </c:pt>
                <c:pt idx="7">
                  <c:v>0.7280859999999993</c:v>
                </c:pt>
                <c:pt idx="8">
                  <c:v>0.7580340000000003</c:v>
                </c:pt>
                <c:pt idx="9">
                  <c:v>0.7901959999999999</c:v>
                </c:pt>
                <c:pt idx="10">
                  <c:v>0.8266749999999998</c:v>
                </c:pt>
                <c:pt idx="11">
                  <c:v>9.908816</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3D85C6"/>
              </a:solidFill>
            </c:spPr>
          </c:dPt>
          <c:cat>
            <c:strRef>
              <c:f>Sheet1!$A$2:$A$2</c:f>
              <c:strCache>
                <c:ptCount val="1"/>
                <c:pt idx="0">
                  <c:v>Share of North America</c:v>
                </c:pt>
              </c:strCache>
            </c:strRef>
          </c:cat>
          <c:val>
            <c:numRef>
              <c:f>Sheet1!$B$2:$B$2</c:f>
              <c:numCache>
                <c:formatCode>General</c:formatCode>
                <c:ptCount val="1"/>
                <c:pt idx="0">
                  <c:v>0.7171716467917362</c:v>
                </c:pt>
              </c:numCache>
            </c:numRef>
          </c:val>
        </c:ser>
        <c:dLbls>
          <c:numFmt formatCode="0.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456"/>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0.9179797078934223"/>
          <c:min val="0.0"/>
        </c:scaling>
        <c:delete val="0"/>
        <c:axPos val="b"/>
        <c:numFmt formatCode="0%" sourceLinked="0"/>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69B1E0"/>
            </a:solidFill>
            <a:ln>
              <a:noFill/>
            </a:ln>
          </c:spPr>
          <c:dLbls>
            <c:numFmt formatCode="#,##0,&quot;K&quot;" sourceLinked="0"/>
            <c:txPr>
              <a:bodyPr rot="0" vert="horz"/>
              <a:lstStyle/>
              <a:p>
                <a:pPr>
                  <a:defRPr sz="700">
                    <a:solidFill>
                      <a:srgbClr val="6C7A89"/>
                    </a:solidFill>
                    <a:latin typeface="Calibr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611.706</c:v>
                </c:pt>
                <c:pt idx="1">
                  <c:v>690.942</c:v>
                </c:pt>
                <c:pt idx="2">
                  <c:v>827.7969999999999</c:v>
                </c:pt>
                <c:pt idx="3">
                  <c:v>1023.392</c:v>
                </c:pt>
                <c:pt idx="4">
                  <c:v>1238.159</c:v>
                </c:pt>
                <c:pt idx="5">
                  <c:v>1452.7809999999997</c:v>
                </c:pt>
                <c:pt idx="6">
                  <c:v>1673.5729999999999</c:v>
                </c:pt>
                <c:pt idx="7">
                  <c:v>1888.8029999999999</c:v>
                </c:pt>
                <c:pt idx="8">
                  <c:v>2100.922</c:v>
                </c:pt>
                <c:pt idx="9">
                  <c:v>2308.987</c:v>
                </c:pt>
                <c:pt idx="10">
                  <c:v>2511.694</c:v>
                </c:pt>
                <c:pt idx="11">
                  <c:v>2709.0280000000002</c:v>
                </c:pt>
                <c:pt idx="12">
                  <c:v>2899.62</c:v>
                </c:pt>
                <c:pt idx="13">
                  <c:v>3085.669</c:v>
                </c:pt>
                <c:pt idx="14">
                  <c:v>3267.6730000000002</c:v>
                </c:pt>
                <c:pt idx="15">
                  <c:v>3446.7870000000003</c:v>
                </c:pt>
              </c:numCache>
            </c:numRef>
          </c:val>
        </c:ser>
        <c:gapWidth val="100"/>
        <c:axId val="-2068027336"/>
        <c:axId val="-2113994440"/>
      </c:barChart>
      <c:barChart>
        <c:barDir val="col"/>
        <c:grouping val="clustered"/>
        <c:varyColors val="0"/>
        <c:ser>
          <c:idx val="1"/>
          <c:order val="1"/>
          <c:tx>
            <c:strRef>
              <c:f>Sheet1!$C$1</c:f>
              <c:strCache>
                <c:ptCount val="1"/>
                <c:pt idx="0">
                  <c:v>Previous Year Value</c:v>
                </c:pt>
              </c:strCache>
            </c:strRef>
          </c:tx>
          <c:spPr>
            <a:solidFill>
              <a:srgbClr val="C55A11"/>
            </a:solidFill>
            <a:ln>
              <a:noFill/>
            </a:ln>
          </c:spPr>
          <c:dLbls>
            <c:numFmt formatCode="#,##0" sourceLinked="0"/>
            <c:txPr>
              <a:bodyPr rot="0" vert="horz"/>
              <a:lstStyle/>
              <a:p>
                <a:pPr>
                  <a:defRPr sz="650">
                    <a:solidFill>
                      <a:srgbClr val="FFFFFF"/>
                    </a:solidFill>
                    <a:latin typeface="Calibr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1">
                  <c:v>611.706</c:v>
                </c:pt>
                <c:pt idx="2">
                  <c:v>690.942</c:v>
                </c:pt>
                <c:pt idx="3">
                  <c:v>827.7969999999999</c:v>
                </c:pt>
                <c:pt idx="4">
                  <c:v>1023.392</c:v>
                </c:pt>
                <c:pt idx="5">
                  <c:v>1238.159</c:v>
                </c:pt>
                <c:pt idx="6">
                  <c:v>1452.7809999999997</c:v>
                </c:pt>
                <c:pt idx="7">
                  <c:v>1673.5729999999999</c:v>
                </c:pt>
                <c:pt idx="8">
                  <c:v>1888.8029999999999</c:v>
                </c:pt>
                <c:pt idx="9">
                  <c:v>2100.922</c:v>
                </c:pt>
                <c:pt idx="10">
                  <c:v>2308.987</c:v>
                </c:pt>
                <c:pt idx="11">
                  <c:v>2511.694</c:v>
                </c:pt>
                <c:pt idx="12">
                  <c:v>2709.0280000000002</c:v>
                </c:pt>
                <c:pt idx="13">
                  <c:v>2899.62</c:v>
                </c:pt>
                <c:pt idx="14">
                  <c:v>3085.669</c:v>
                </c:pt>
                <c:pt idx="15">
                  <c:v>3267.6730000000002</c:v>
                </c:pt>
              </c:numCache>
            </c:numRef>
          </c:val>
        </c:ser>
        <c:gapWidth val="325"/>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4067"/>
          <c:min val="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Series</c:v>
                </c:pt>
              </c:strCache>
            </c:strRef>
          </c:tx>
          <c:spPr>
            <a:solidFill>
              <a:srgbClr val="3D85C6"/>
            </a:solidFill>
            <a:ln>
              <a:noFill/>
            </a:ln>
          </c:spPr>
          <c:dPt>
            <c:idx val="0"/>
            <c:spPr>
              <a:solidFill>
                <a:srgbClr val="3D85C6"/>
              </a:solidFill>
            </c:spPr>
          </c:dPt>
          <c:dPt>
            <c:idx val="1"/>
            <c:spPr>
              <a:solidFill>
                <a:srgbClr val="9E7E0A"/>
              </a:solidFill>
            </c:spPr>
          </c:dPt>
          <c:cat>
            <c:strRef>
              <c:f>Sheet1!$A$2:$A$3</c:f>
              <c:strCache>
                <c:ptCount val="2"/>
                <c:pt idx="0">
                  <c:v>Canada</c:v>
                </c:pt>
                <c:pt idx="1">
                  <c:v>North America</c:v>
                </c:pt>
              </c:strCache>
            </c:strRef>
          </c:cat>
          <c:val>
            <c:numRef>
              <c:f>Sheet1!$B$2:$B$3</c:f>
              <c:numCache>
                <c:formatCode>General</c:formatCode>
                <c:ptCount val="2"/>
                <c:pt idx="0">
                  <c:v>9.02382869368803</c:v>
                </c:pt>
                <c:pt idx="1">
                  <c:v>8.526436179000063</c:v>
                </c:pt>
              </c:numCache>
            </c:numRef>
          </c:val>
        </c:ser>
        <c:dLbls>
          <c:numFmt formatCode="0.0&quot;%&quot;"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178"/>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11.73097730179444"/>
          <c:min val="0.0"/>
        </c:scaling>
        <c:delete val="0"/>
        <c:axPos val="l"/>
        <c:numFmt formatCode="0&quot;%&quot;" sourceLinked="0"/>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1452.7809999999997</c:v>
                </c:pt>
                <c:pt idx="2">
                  <c:v>1673.5729999999999</c:v>
                </c:pt>
                <c:pt idx="3">
                  <c:v>1888.8029999999999</c:v>
                </c:pt>
                <c:pt idx="4">
                  <c:v>2100.922</c:v>
                </c:pt>
                <c:pt idx="5">
                  <c:v>2308.987</c:v>
                </c:pt>
                <c:pt idx="6">
                  <c:v>2511.694</c:v>
                </c:pt>
                <c:pt idx="7">
                  <c:v>2709.0280000000002</c:v>
                </c:pt>
                <c:pt idx="8">
                  <c:v>2899.62</c:v>
                </c:pt>
                <c:pt idx="9">
                  <c:v>3085.669</c:v>
                </c:pt>
                <c:pt idx="10">
                  <c:v>3267.6730000000002</c:v>
                </c:pt>
                <c:pt idx="11">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1452.7809999999997</c:v>
                </c:pt>
                <c:pt idx="1">
                  <c:v>220.79200000000014</c:v>
                </c:pt>
                <c:pt idx="2">
                  <c:v>215.23000000000002</c:v>
                </c:pt>
                <c:pt idx="3">
                  <c:v>212.11900000000014</c:v>
                </c:pt>
                <c:pt idx="4">
                  <c:v>208.06500000000005</c:v>
                </c:pt>
                <c:pt idx="5">
                  <c:v>202.70699999999988</c:v>
                </c:pt>
                <c:pt idx="6">
                  <c:v>197.3340000000003</c:v>
                </c:pt>
                <c:pt idx="7">
                  <c:v>190.59199999999964</c:v>
                </c:pt>
                <c:pt idx="8">
                  <c:v>186.04899999999998</c:v>
                </c:pt>
                <c:pt idx="9">
                  <c:v>182.00400000000036</c:v>
                </c:pt>
                <c:pt idx="10">
                  <c:v>179.11400000000003</c:v>
                </c:pt>
                <c:pt idx="11">
                  <c:v>3446.7870000000003</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3D85C6"/>
              </a:solidFill>
            </c:spPr>
          </c:dPt>
          <c:cat>
            <c:strRef>
              <c:f>Sheet1!$A$2:$A$2</c:f>
              <c:strCache>
                <c:ptCount val="1"/>
                <c:pt idx="0">
                  <c:v>Share of North America</c:v>
                </c:pt>
              </c:strCache>
            </c:strRef>
          </c:cat>
          <c:val>
            <c:numRef>
              <c:f>Sheet1!$B$2:$B$2</c:f>
              <c:numCache>
                <c:formatCode>General</c:formatCode>
                <c:ptCount val="1"/>
                <c:pt idx="0">
                  <c:v>0.7358472408153381</c:v>
                </c:pt>
              </c:numCache>
            </c:numRef>
          </c:val>
        </c:ser>
        <c:dLbls>
          <c:numFmt formatCode="0.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456"/>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0.9418844682436328"/>
          <c:min val="0.0"/>
        </c:scaling>
        <c:delete val="0"/>
        <c:axPos val="b"/>
        <c:numFmt formatCode="0%" sourceLinked="0"/>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9EC6DE"/>
              </a:solidFill>
            </c:spPr>
          </c:dPt>
          <c:dPt>
            <c:idx val="1"/>
            <c:spPr>
              <a:solidFill>
                <a:srgbClr val="90BED9"/>
              </a:solidFill>
            </c:spPr>
          </c:dPt>
          <c:dPt>
            <c:idx val="2"/>
            <c:spPr>
              <a:solidFill>
                <a:srgbClr val="81B5D4"/>
              </a:solidFill>
            </c:spPr>
          </c:dPt>
          <c:dPt>
            <c:idx val="3"/>
            <c:spPr>
              <a:solidFill>
                <a:srgbClr val="73ADD0"/>
              </a:solidFill>
            </c:spPr>
          </c:dPt>
          <c:dPt>
            <c:idx val="4"/>
            <c:spPr>
              <a:solidFill>
                <a:srgbClr val="64A4CB"/>
              </a:solidFill>
            </c:spPr>
          </c:dPt>
          <c:dPt>
            <c:idx val="5"/>
            <c:spPr>
              <a:solidFill>
                <a:srgbClr val="569CC6"/>
              </a:solidFill>
            </c:spPr>
          </c:dPt>
          <c:dPt>
            <c:idx val="6"/>
            <c:spPr>
              <a:solidFill>
                <a:srgbClr val="4793C1"/>
              </a:solidFill>
            </c:spPr>
          </c:dPt>
          <c:dPt>
            <c:idx val="7"/>
            <c:spPr>
              <a:solidFill>
                <a:srgbClr val="398BBC"/>
              </a:solidFill>
            </c:spPr>
          </c:dPt>
          <c:dPt>
            <c:idx val="8"/>
            <c:spPr>
              <a:solidFill>
                <a:srgbClr val="2A82B7"/>
              </a:solidFill>
            </c:spPr>
          </c:dPt>
          <c:dPt>
            <c:idx val="9"/>
            <c:spPr>
              <a:solidFill>
                <a:srgbClr val="1C7AB2"/>
              </a:solidFill>
            </c:spPr>
          </c:dPt>
          <c:dPt>
            <c:idx val="10"/>
            <c:spPr>
              <a:solidFill>
                <a:srgbClr val="0E72AE"/>
              </a:solidFill>
            </c:spPr>
          </c:dPt>
          <c:cat>
            <c:strRef>
              <c:f>Sheet1!$A$2:$A$12</c:f>
              <c:strCache>
                <c:ptCount val="11"/>
                <c:pt idx="0">
                  <c:v>Idacio</c:v>
                </c:pt>
                <c:pt idx="1">
                  <c:v>Hadlima / Imraldi</c:v>
                </c:pt>
                <c:pt idx="2">
                  <c:v>Abrilada / Amsparity</c:v>
                </c:pt>
                <c:pt idx="3">
                  <c:v>Hyrimoz / Halimatoz /…</c:v>
                </c:pt>
                <c:pt idx="4">
                  <c:v>Hulio</c:v>
                </c:pt>
                <c:pt idx="5">
                  <c:v>Other approved adalim…</c:v>
                </c:pt>
                <c:pt idx="6">
                  <c:v>Simlandi</c:v>
                </c:pt>
                <c:pt idx="7">
                  <c:v>Yuflyma</c:v>
                </c:pt>
                <c:pt idx="8">
                  <c:v>Cyltezo</c:v>
                </c:pt>
                <c:pt idx="9">
                  <c:v>Yusimry</c:v>
                </c:pt>
                <c:pt idx="10">
                  <c:v>Amjevita / Amgevita</c:v>
                </c:pt>
              </c:strCache>
            </c:strRef>
          </c:cat>
          <c:val>
            <c:numRef>
              <c:f>Sheet1!$B$2:$B$12</c:f>
              <c:numCache>
                <c:formatCode>General</c:formatCode>
                <c:ptCount val="11"/>
                <c:pt idx="0">
                  <c:v>71.783</c:v>
                </c:pt>
                <c:pt idx="1">
                  <c:v>72.474</c:v>
                </c:pt>
                <c:pt idx="2">
                  <c:v>109.899</c:v>
                </c:pt>
                <c:pt idx="3">
                  <c:v>110.228</c:v>
                </c:pt>
                <c:pt idx="4">
                  <c:v>116.65</c:v>
                </c:pt>
                <c:pt idx="5">
                  <c:v>127.665</c:v>
                </c:pt>
                <c:pt idx="6">
                  <c:v>127.878</c:v>
                </c:pt>
                <c:pt idx="7">
                  <c:v>166.031</c:v>
                </c:pt>
                <c:pt idx="8">
                  <c:v>166.608</c:v>
                </c:pt>
                <c:pt idx="9">
                  <c:v>183.967</c:v>
                </c:pt>
                <c:pt idx="10">
                  <c:v>199.598</c:v>
                </c:pt>
              </c:numCache>
            </c:numRef>
          </c:val>
        </c:ser>
        <c:dLbls>
          <c:numFmt formatCode="#,##0" sourceLinked="0"/>
          <c:txPr>
            <a:bodyPr rot="-5400000" vert="horz"/>
            <a:lstStyle/>
            <a:p>
              <a:pPr>
                <a:defRPr sz="6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267.46132000000006"/>
          <c:min val="0.0"/>
        </c:scaling>
        <c:delete val="0"/>
        <c:axPos val="b"/>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FFFFFF"/>
              </a:solidFill>
            </c:spPr>
          </c:dPt>
          <c:dPt>
            <c:idx val="5"/>
            <c:spPr>
              <a:solidFill>
                <a:srgbClr val="FFFFFF"/>
              </a:solidFill>
            </c:spPr>
          </c:dPt>
          <c:dPt>
            <c:idx val="6"/>
            <c:spPr>
              <a:solidFill>
                <a:srgbClr val="FFFFFF"/>
              </a:solidFill>
            </c:spPr>
          </c:dPt>
          <c:dPt>
            <c:idx val="7"/>
            <c:spPr>
              <a:solidFill>
                <a:srgbClr val="FFFFFF"/>
              </a:solidFill>
            </c:spPr>
          </c:dPt>
          <c:dPt>
            <c:idx val="8"/>
            <c:spPr>
              <a:solidFill>
                <a:srgbClr val="FFFFFF"/>
              </a:solidFill>
            </c:spPr>
          </c:dPt>
          <c:dPt>
            <c:idx val="9"/>
            <c:spPr>
              <a:solidFill>
                <a:srgbClr val="9DABB6"/>
              </a:solidFill>
            </c:spPr>
          </c:dPt>
          <c:dPt>
            <c:idx val="10"/>
            <c:spPr>
              <a:solidFill>
                <a:srgbClr val="0B2E4A"/>
              </a:solidFill>
            </c:spPr>
          </c:dPt>
          <c:cat>
            <c:strRef>
              <c:f>Sheet1!$A$2:$A$12</c:f>
              <c:strCache>
                <c:ptCount val="11"/>
                <c:pt idx="0">
                  <c:v> </c:v>
                </c:pt>
                <c:pt idx="1">
                  <c:v>  </c:v>
                </c:pt>
                <c:pt idx="2">
                  <c:v>   </c:v>
                </c:pt>
                <c:pt idx="3">
                  <c:v>    </c:v>
                </c:pt>
                <c:pt idx="4">
                  <c:v>     </c:v>
                </c:pt>
                <c:pt idx="5">
                  <c:v>      </c:v>
                </c:pt>
                <c:pt idx="6">
                  <c:v>       </c:v>
                </c:pt>
                <c:pt idx="7">
                  <c:v>        </c:v>
                </c:pt>
                <c:pt idx="8">
                  <c:v>         </c:v>
                </c:pt>
                <c:pt idx="9">
                  <c:v>Prefilled Syringe</c:v>
                </c:pt>
                <c:pt idx="10">
                  <c:v>Autoinjector / Pen</c:v>
                </c:pt>
              </c:strCache>
            </c:strRef>
          </c:cat>
          <c:val>
            <c:numRef>
              <c:f>Sheet1!$B$2:$B$12</c:f>
              <c:numCache>
                <c:formatCode>General</c:formatCode>
                <c:ptCount val="11"/>
                <c:pt idx="9">
                  <c:v>701.4549999999999</c:v>
                </c:pt>
                <c:pt idx="10">
                  <c:v>751.326</c:v>
                </c:pt>
              </c:numCache>
            </c:numRef>
          </c:val>
        </c:ser>
        <c:dLbls>
          <c:numFmt formatCode="#,##0" sourceLinked="0"/>
          <c:txPr>
            <a:bodyPr rot="-5400000" vert="horz"/>
            <a:lstStyle/>
            <a:p>
              <a:pPr>
                <a:defRPr sz="6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1006.7768400000001"/>
          <c:min val="0.0"/>
        </c:scaling>
        <c:delete val="0"/>
        <c:axPos val="b"/>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FFFFFF"/>
              </a:solidFill>
            </c:spPr>
          </c:dPt>
          <c:dPt>
            <c:idx val="5"/>
            <c:spPr>
              <a:solidFill>
                <a:srgbClr val="FFFFFF"/>
              </a:solidFill>
            </c:spPr>
          </c:dPt>
          <c:dPt>
            <c:idx val="6"/>
            <c:spPr>
              <a:solidFill>
                <a:srgbClr val="FFFFFF"/>
              </a:solidFill>
            </c:spPr>
          </c:dPt>
          <c:dPt>
            <c:idx val="7"/>
            <c:spPr>
              <a:solidFill>
                <a:srgbClr val="C5B1E6"/>
              </a:solidFill>
            </c:spPr>
          </c:dPt>
          <c:dPt>
            <c:idx val="8"/>
            <c:spPr>
              <a:solidFill>
                <a:srgbClr val="A88ADA"/>
              </a:solidFill>
            </c:spPr>
          </c:dPt>
          <c:dPt>
            <c:idx val="9"/>
            <c:spPr>
              <a:solidFill>
                <a:srgbClr val="8B63CE"/>
              </a:solidFill>
            </c:spPr>
          </c:dPt>
          <c:dPt>
            <c:idx val="10"/>
            <c:spPr>
              <a:solidFill>
                <a:srgbClr val="6F3CC2"/>
              </a:solidFill>
            </c:spPr>
          </c:dPt>
          <c:cat>
            <c:strRef>
              <c:f>Sheet1!$A$2:$A$12</c:f>
              <c:strCache>
                <c:ptCount val="11"/>
                <c:pt idx="0">
                  <c:v> </c:v>
                </c:pt>
                <c:pt idx="1">
                  <c:v>  </c:v>
                </c:pt>
                <c:pt idx="2">
                  <c:v>   </c:v>
                </c:pt>
                <c:pt idx="3">
                  <c:v>    </c:v>
                </c:pt>
                <c:pt idx="4">
                  <c:v>     </c:v>
                </c:pt>
                <c:pt idx="5">
                  <c:v>      </c:v>
                </c:pt>
                <c:pt idx="6">
                  <c:v>       </c:v>
                </c:pt>
                <c:pt idx="7">
                  <c:v>80 mg</c:v>
                </c:pt>
                <c:pt idx="8">
                  <c:v>100 mg/mL</c:v>
                </c:pt>
                <c:pt idx="9">
                  <c:v>20 mg</c:v>
                </c:pt>
                <c:pt idx="10">
                  <c:v>40 mg</c:v>
                </c:pt>
              </c:strCache>
            </c:strRef>
          </c:cat>
          <c:val>
            <c:numRef>
              <c:f>Sheet1!$B$2:$B$12</c:f>
              <c:numCache>
                <c:formatCode>General</c:formatCode>
                <c:ptCount val="11"/>
                <c:pt idx="7">
                  <c:v>286.77099999999996</c:v>
                </c:pt>
                <c:pt idx="8">
                  <c:v>304.996</c:v>
                </c:pt>
                <c:pt idx="9">
                  <c:v>400.26699999999994</c:v>
                </c:pt>
                <c:pt idx="10">
                  <c:v>460.74699999999996</c:v>
                </c:pt>
              </c:numCache>
            </c:numRef>
          </c:val>
        </c:ser>
        <c:dLbls>
          <c:numFmt formatCode="#,##0" sourceLinked="0"/>
          <c:txPr>
            <a:bodyPr rot="-5400000" vert="horz"/>
            <a:lstStyle/>
            <a:p>
              <a:pPr>
                <a:defRPr sz="6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617.40098"/>
          <c:min val="0.0"/>
        </c:scaling>
        <c:delete val="0"/>
        <c:axPos val="b"/>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FFFFFF"/>
              </a:solidFill>
            </c:spPr>
          </c:dPt>
          <c:dPt>
            <c:idx val="5"/>
            <c:spPr>
              <a:solidFill>
                <a:srgbClr val="FFFFFF"/>
              </a:solidFill>
            </c:spPr>
          </c:dPt>
          <c:dPt>
            <c:idx val="6"/>
            <c:spPr>
              <a:solidFill>
                <a:srgbClr val="FFFFFF"/>
              </a:solidFill>
            </c:spPr>
          </c:dPt>
          <c:dPt>
            <c:idx val="7"/>
            <c:spPr>
              <a:solidFill>
                <a:srgbClr val="DABAA0"/>
              </a:solidFill>
            </c:spPr>
          </c:dPt>
          <c:dPt>
            <c:idx val="8"/>
            <c:spPr>
              <a:solidFill>
                <a:srgbClr val="C79771"/>
              </a:solidFill>
            </c:spPr>
          </c:dPt>
          <c:dPt>
            <c:idx val="9"/>
            <c:spPr>
              <a:solidFill>
                <a:srgbClr val="B57542"/>
              </a:solidFill>
            </c:spPr>
          </c:dPt>
          <c:dPt>
            <c:idx val="10"/>
            <c:spPr>
              <a:solidFill>
                <a:srgbClr val="A35313"/>
              </a:solidFill>
            </c:spPr>
          </c:dPt>
          <c:cat>
            <c:strRef>
              <c:f>Sheet1!$A$2:$A$12</c:f>
              <c:strCache>
                <c:ptCount val="11"/>
                <c:pt idx="0">
                  <c:v> </c:v>
                </c:pt>
                <c:pt idx="1">
                  <c:v>  </c:v>
                </c:pt>
                <c:pt idx="2">
                  <c:v>   </c:v>
                </c:pt>
                <c:pt idx="3">
                  <c:v>    </c:v>
                </c:pt>
                <c:pt idx="4">
                  <c:v>     </c:v>
                </c:pt>
                <c:pt idx="5">
                  <c:v>      </c:v>
                </c:pt>
                <c:pt idx="6">
                  <c:v>       </c:v>
                </c:pt>
                <c:pt idx="7">
                  <c:v>Ophthalmology</c:v>
                </c:pt>
                <c:pt idx="8">
                  <c:v>Gastroenterology</c:v>
                </c:pt>
                <c:pt idx="9">
                  <c:v>Dermatology</c:v>
                </c:pt>
                <c:pt idx="10">
                  <c:v>Rheumatology</c:v>
                </c:pt>
              </c:strCache>
            </c:strRef>
          </c:cat>
          <c:val>
            <c:numRef>
              <c:f>Sheet1!$B$2:$B$12</c:f>
              <c:numCache>
                <c:formatCode>General</c:formatCode>
                <c:ptCount val="11"/>
                <c:pt idx="7">
                  <c:v>76.632</c:v>
                </c:pt>
                <c:pt idx="8">
                  <c:v>308.815</c:v>
                </c:pt>
                <c:pt idx="9">
                  <c:v>313.99</c:v>
                </c:pt>
                <c:pt idx="10">
                  <c:v>753.344</c:v>
                </c:pt>
              </c:numCache>
            </c:numRef>
          </c:val>
        </c:ser>
        <c:dLbls>
          <c:numFmt formatCode="#,##0" sourceLinked="0"/>
          <c:txPr>
            <a:bodyPr rot="-5400000" vert="horz"/>
            <a:lstStyle/>
            <a:p>
              <a:pPr>
                <a:defRPr sz="6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1009.4809600000001"/>
          <c:min val="0.0"/>
        </c:scaling>
        <c:delete val="0"/>
        <c:axPos val="b"/>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FFFFFF"/>
              </a:solidFill>
            </c:spPr>
          </c:dPt>
          <c:dPt>
            <c:idx val="5"/>
            <c:spPr>
              <a:solidFill>
                <a:srgbClr val="FFFFFF"/>
              </a:solidFill>
            </c:spPr>
          </c:dPt>
          <c:dPt>
            <c:idx val="6"/>
            <c:spPr>
              <a:solidFill>
                <a:srgbClr val="FFFFFF"/>
              </a:solidFill>
            </c:spPr>
          </c:dPt>
          <c:dPt>
            <c:idx val="7"/>
            <c:spPr>
              <a:solidFill>
                <a:srgbClr val="DCC599"/>
              </a:solidFill>
            </c:spPr>
          </c:dPt>
          <c:dPt>
            <c:idx val="8"/>
            <c:spPr>
              <a:solidFill>
                <a:srgbClr val="CAA865"/>
              </a:solidFill>
            </c:spPr>
          </c:dPt>
          <c:dPt>
            <c:idx val="9"/>
            <c:spPr>
              <a:solidFill>
                <a:srgbClr val="B98B32"/>
              </a:solidFill>
            </c:spPr>
          </c:dPt>
          <c:dPt>
            <c:idx val="10"/>
            <c:spPr>
              <a:solidFill>
                <a:srgbClr val="A86F00"/>
              </a:solidFill>
            </c:spPr>
          </c:dPt>
          <c:cat>
            <c:strRef>
              <c:f>Sheet1!$A$2:$A$12</c:f>
              <c:strCache>
                <c:ptCount val="11"/>
                <c:pt idx="0">
                  <c:v> </c:v>
                </c:pt>
                <c:pt idx="1">
                  <c:v>  </c:v>
                </c:pt>
                <c:pt idx="2">
                  <c:v>   </c:v>
                </c:pt>
                <c:pt idx="3">
                  <c:v>    </c:v>
                </c:pt>
                <c:pt idx="4">
                  <c:v>     </c:v>
                </c:pt>
                <c:pt idx="5">
                  <c:v>      </c:v>
                </c:pt>
                <c:pt idx="6">
                  <c:v>       </c:v>
                </c:pt>
                <c:pt idx="7">
                  <c:v>Retail / Specialty Ph…</c:v>
                </c:pt>
                <c:pt idx="8">
                  <c:v>Hospitals</c:v>
                </c:pt>
                <c:pt idx="9">
                  <c:v>Institutional Buyers</c:v>
                </c:pt>
                <c:pt idx="10">
                  <c:v>Specialty Clinics</c:v>
                </c:pt>
              </c:strCache>
            </c:strRef>
          </c:cat>
          <c:val>
            <c:numRef>
              <c:f>Sheet1!$B$2:$B$12</c:f>
              <c:numCache>
                <c:formatCode>General</c:formatCode>
                <c:ptCount val="11"/>
                <c:pt idx="7">
                  <c:v>245.314</c:v>
                </c:pt>
                <c:pt idx="8">
                  <c:v>338.16200000000003</c:v>
                </c:pt>
                <c:pt idx="9">
                  <c:v>363.289</c:v>
                </c:pt>
                <c:pt idx="10">
                  <c:v>506.01599999999996</c:v>
                </c:pt>
              </c:numCache>
            </c:numRef>
          </c:val>
        </c:ser>
        <c:dLbls>
          <c:numFmt formatCode="#,##0" sourceLinked="0"/>
          <c:txPr>
            <a:bodyPr rot="-5400000" vert="horz"/>
            <a:lstStyle/>
            <a:p>
              <a:pPr>
                <a:defRPr sz="6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678.06144"/>
          <c:min val="0.0"/>
        </c:scaling>
        <c:delete val="0"/>
        <c:axPos val="b"/>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FFFFFF"/>
              </a:solidFill>
            </c:spPr>
          </c:dPt>
          <c:dPt>
            <c:idx val="5"/>
            <c:spPr>
              <a:solidFill>
                <a:srgbClr val="FFFFFF"/>
              </a:solidFill>
            </c:spPr>
          </c:dPt>
          <c:dPt>
            <c:idx val="6"/>
            <c:spPr>
              <a:solidFill>
                <a:srgbClr val="FFFFFF"/>
              </a:solidFill>
            </c:spPr>
          </c:dPt>
          <c:dPt>
            <c:idx val="7"/>
            <c:spPr>
              <a:solidFill>
                <a:srgbClr val="E59999"/>
              </a:solidFill>
            </c:spPr>
          </c:dPt>
          <c:dPt>
            <c:idx val="8"/>
            <c:spPr>
              <a:solidFill>
                <a:srgbClr val="D96565"/>
              </a:solidFill>
            </c:spPr>
          </c:dPt>
          <c:dPt>
            <c:idx val="9"/>
            <c:spPr>
              <a:solidFill>
                <a:srgbClr val="CC3232"/>
              </a:solidFill>
            </c:spPr>
          </c:dPt>
          <c:dPt>
            <c:idx val="10"/>
            <c:spPr>
              <a:solidFill>
                <a:srgbClr val="C00000"/>
              </a:solidFill>
            </c:spPr>
          </c:dPt>
          <c:cat>
            <c:strRef>
              <c:f>Sheet1!$A$2:$A$12</c:f>
              <c:strCache>
                <c:ptCount val="11"/>
                <c:pt idx="0">
                  <c:v> </c:v>
                </c:pt>
                <c:pt idx="1">
                  <c:v>  </c:v>
                </c:pt>
                <c:pt idx="2">
                  <c:v>   </c:v>
                </c:pt>
                <c:pt idx="3">
                  <c:v>    </c:v>
                </c:pt>
                <c:pt idx="4">
                  <c:v>     </c:v>
                </c:pt>
                <c:pt idx="5">
                  <c:v>      </c:v>
                </c:pt>
                <c:pt idx="6">
                  <c:v>       </c:v>
                </c:pt>
                <c:pt idx="7">
                  <c:v>Direct Institutional…</c:v>
                </c:pt>
                <c:pt idx="8">
                  <c:v>Pharmacy Channel</c:v>
                </c:pt>
                <c:pt idx="9">
                  <c:v>Specialty Distribution</c:v>
                </c:pt>
                <c:pt idx="10">
                  <c:v>Online / Digital Phar…</c:v>
                </c:pt>
              </c:strCache>
            </c:strRef>
          </c:cat>
          <c:val>
            <c:numRef>
              <c:f>Sheet1!$B$2:$B$12</c:f>
              <c:numCache>
                <c:formatCode>General</c:formatCode>
                <c:ptCount val="11"/>
                <c:pt idx="7">
                  <c:v>271.642</c:v>
                </c:pt>
                <c:pt idx="8">
                  <c:v>282.83299999999997</c:v>
                </c:pt>
                <c:pt idx="9">
                  <c:v>411.459</c:v>
                </c:pt>
                <c:pt idx="10">
                  <c:v>486.847</c:v>
                </c:pt>
              </c:numCache>
            </c:numRef>
          </c:val>
        </c:ser>
        <c:dLbls>
          <c:numFmt formatCode="#,##0" sourceLinked="0"/>
          <c:txPr>
            <a:bodyPr rot="-5400000" vert="horz"/>
            <a:lstStyle/>
            <a:p>
              <a:pPr>
                <a:defRPr sz="6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652.37498"/>
          <c:min val="0.0"/>
        </c:scaling>
        <c:delete val="0"/>
        <c:axPos val="b"/>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C4C9CF"/>
              </a:solidFill>
            </c:spPr>
          </c:dPt>
          <c:dPt>
            <c:idx val="1"/>
            <c:spPr>
              <a:solidFill>
                <a:srgbClr val="BBC1C8"/>
              </a:solidFill>
            </c:spPr>
          </c:dPt>
          <c:dPt>
            <c:idx val="2"/>
            <c:spPr>
              <a:solidFill>
                <a:srgbClr val="B2B9C1"/>
              </a:solidFill>
            </c:spPr>
          </c:dPt>
          <c:dPt>
            <c:idx val="3"/>
            <c:spPr>
              <a:solidFill>
                <a:srgbClr val="A9B1BA"/>
              </a:solidFill>
            </c:spPr>
          </c:dPt>
          <c:dPt>
            <c:idx val="4"/>
            <c:spPr>
              <a:solidFill>
                <a:srgbClr val="A0A9B3"/>
              </a:solidFill>
            </c:spPr>
          </c:dPt>
          <c:dPt>
            <c:idx val="5"/>
            <c:spPr>
              <a:solidFill>
                <a:srgbClr val="98A1AC"/>
              </a:solidFill>
            </c:spPr>
          </c:dPt>
          <c:dPt>
            <c:idx val="6"/>
            <c:spPr>
              <a:solidFill>
                <a:srgbClr val="8F99A5"/>
              </a:solidFill>
            </c:spPr>
          </c:dPt>
          <c:dPt>
            <c:idx val="7"/>
            <c:spPr>
              <a:solidFill>
                <a:srgbClr val="86919E"/>
              </a:solidFill>
            </c:spPr>
          </c:dPt>
          <c:dPt>
            <c:idx val="8"/>
            <c:spPr>
              <a:solidFill>
                <a:srgbClr val="7D8997"/>
              </a:solidFill>
            </c:spPr>
          </c:dPt>
          <c:dPt>
            <c:idx val="9"/>
            <c:spPr>
              <a:solidFill>
                <a:srgbClr val="748190"/>
              </a:solidFill>
            </c:spPr>
          </c:dPt>
          <c:dPt>
            <c:idx val="10"/>
            <c:spPr>
              <a:solidFill>
                <a:srgbClr val="6C7A89"/>
              </a:solidFill>
            </c:spPr>
          </c:dPt>
          <c:cat>
            <c:strRef>
              <c:f>Sheet1!$A$2:$A$12</c:f>
              <c:strCache>
                <c:ptCount val="11"/>
                <c:pt idx="0">
                  <c:v>Idacio</c:v>
                </c:pt>
                <c:pt idx="1">
                  <c:v>Hadlima / Imraldi</c:v>
                </c:pt>
                <c:pt idx="2">
                  <c:v>Abrilada / Amsparity</c:v>
                </c:pt>
                <c:pt idx="3">
                  <c:v>Hyrimoz / Halimatoz /…</c:v>
                </c:pt>
                <c:pt idx="4">
                  <c:v>Hulio</c:v>
                </c:pt>
                <c:pt idx="5">
                  <c:v>Other approved adalim…</c:v>
                </c:pt>
                <c:pt idx="6">
                  <c:v>Simlandi</c:v>
                </c:pt>
                <c:pt idx="7">
                  <c:v>Yuflyma</c:v>
                </c:pt>
                <c:pt idx="8">
                  <c:v>Cyltezo</c:v>
                </c:pt>
                <c:pt idx="9">
                  <c:v>Yusimry</c:v>
                </c:pt>
                <c:pt idx="10">
                  <c:v>Amjevita / Amgevita</c:v>
                </c:pt>
              </c:strCache>
            </c:strRef>
          </c:cat>
          <c:val>
            <c:numRef>
              <c:f>Sheet1!$B$2:$B$12</c:f>
              <c:numCache>
                <c:formatCode>General</c:formatCode>
                <c:ptCount val="11"/>
                <c:pt idx="0">
                  <c:v>71.783</c:v>
                </c:pt>
                <c:pt idx="1">
                  <c:v>72.474</c:v>
                </c:pt>
                <c:pt idx="2">
                  <c:v>109.898</c:v>
                </c:pt>
                <c:pt idx="3">
                  <c:v>110.228</c:v>
                </c:pt>
                <c:pt idx="4">
                  <c:v>116.64999999999999</c:v>
                </c:pt>
                <c:pt idx="5">
                  <c:v>127.66499999999999</c:v>
                </c:pt>
                <c:pt idx="6">
                  <c:v>127.878</c:v>
                </c:pt>
                <c:pt idx="7">
                  <c:v>166.032</c:v>
                </c:pt>
                <c:pt idx="8">
                  <c:v>166.608</c:v>
                </c:pt>
                <c:pt idx="9">
                  <c:v>183.96699999999998</c:v>
                </c:pt>
                <c:pt idx="10">
                  <c:v>199.598</c:v>
                </c:pt>
              </c:numCache>
            </c:numRef>
          </c:val>
        </c:ser>
        <c:dLbls>
          <c:numFmt formatCode="#,##0" sourceLinked="0"/>
          <c:txPr>
            <a:bodyPr rot="-5400000" vert="horz"/>
            <a:lstStyle/>
            <a:p>
              <a:pPr>
                <a:defRPr sz="6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267.46132000000006"/>
          <c:min val="0.0"/>
        </c:scaling>
        <c:delete val="0"/>
        <c:axPos val="b"/>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Sheet1!$A$2:$A$14</c:f>
              <c:strCache>
                <c:ptCount val="13"/>
                <c:pt idx="0">
                  <c:v>2026</c:v>
                </c:pt>
                <c:pt idx="1">
                  <c:v>Amjevita / Amgevita</c:v>
                </c:pt>
                <c:pt idx="2">
                  <c:v>Cyltezo</c:v>
                </c:pt>
                <c:pt idx="3">
                  <c:v>Hadlima / Imraldi</c:v>
                </c:pt>
                <c:pt idx="4">
                  <c:v>Hyrimoz / Halimatoz / Hefiya</c:v>
                </c:pt>
                <c:pt idx="5">
                  <c:v>Idacio</c:v>
                </c:pt>
                <c:pt idx="6">
                  <c:v>Hulio</c:v>
                </c:pt>
                <c:pt idx="7">
                  <c:v>Abrilada / Amsparity</c:v>
                </c:pt>
                <c:pt idx="8">
                  <c:v>Yusimry</c:v>
                </c:pt>
                <c:pt idx="9">
                  <c:v>Yuflyma</c:v>
                </c:pt>
                <c:pt idx="10">
                  <c:v>Simlandi</c:v>
                </c:pt>
                <c:pt idx="11">
                  <c:v>Other approved adalimumab biosimilars</c:v>
                </c:pt>
                <c:pt idx="12">
                  <c:v>2036 Total</c:v>
                </c:pt>
              </c:strCache>
            </c:strRef>
          </c:cat>
          <c:val>
            <c:numRef>
              <c:f>Sheet1!$B$2:$B$14</c:f>
              <c:numCache>
                <c:formatCode>General</c:formatCode>
                <c:ptCount val="13"/>
                <c:pt idx="0">
                  <c:v>0.0</c:v>
                </c:pt>
                <c:pt idx="1">
                  <c:v>1452.7809999999997</c:v>
                </c:pt>
                <c:pt idx="2">
                  <c:v>1713.2749999999996</c:v>
                </c:pt>
                <c:pt idx="3">
                  <c:v>1925.6709999999996</c:v>
                </c:pt>
                <c:pt idx="4">
                  <c:v>2024.4869999999996</c:v>
                </c:pt>
                <c:pt idx="5">
                  <c:v>2141.4019999999996</c:v>
                </c:pt>
                <c:pt idx="6">
                  <c:v>2232.0609999999997</c:v>
                </c:pt>
                <c:pt idx="7">
                  <c:v>2458.1769999999997</c:v>
                </c:pt>
                <c:pt idx="8">
                  <c:v>2622.7989999999995</c:v>
                </c:pt>
                <c:pt idx="9">
                  <c:v>2855.7359999999994</c:v>
                </c:pt>
                <c:pt idx="10">
                  <c:v>3139.6179999999995</c:v>
                </c:pt>
                <c:pt idx="11">
                  <c:v>3268.7609999999995</c:v>
                </c:pt>
                <c:pt idx="12">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08189"/>
              </a:solidFill>
            </c:spPr>
          </c:dPt>
          <c:dPt>
            <c:idx val="12"/>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Sheet1!$A$2:$A$14</c:f>
              <c:strCache>
                <c:ptCount val="13"/>
                <c:pt idx="0">
                  <c:v>2026</c:v>
                </c:pt>
                <c:pt idx="1">
                  <c:v>Amjevita / Amgevita</c:v>
                </c:pt>
                <c:pt idx="2">
                  <c:v>Cyltezo</c:v>
                </c:pt>
                <c:pt idx="3">
                  <c:v>Hadlima / Imraldi</c:v>
                </c:pt>
                <c:pt idx="4">
                  <c:v>Hyrimoz / Halimatoz / Hefiya</c:v>
                </c:pt>
                <c:pt idx="5">
                  <c:v>Idacio</c:v>
                </c:pt>
                <c:pt idx="6">
                  <c:v>Hulio</c:v>
                </c:pt>
                <c:pt idx="7">
                  <c:v>Abrilada / Amsparity</c:v>
                </c:pt>
                <c:pt idx="8">
                  <c:v>Yusimry</c:v>
                </c:pt>
                <c:pt idx="9">
                  <c:v>Yuflyma</c:v>
                </c:pt>
                <c:pt idx="10">
                  <c:v>Simlandi</c:v>
                </c:pt>
                <c:pt idx="11">
                  <c:v>Other approved adalimumab biosimilars</c:v>
                </c:pt>
                <c:pt idx="12">
                  <c:v>2036 Total</c:v>
                </c:pt>
              </c:strCache>
            </c:strRef>
          </c:cat>
          <c:val>
            <c:numRef>
              <c:f>Sheet1!$C$2:$C$14</c:f>
              <c:numCache>
                <c:formatCode>General</c:formatCode>
                <c:ptCount val="13"/>
                <c:pt idx="0">
                  <c:v>1452.7809999999997</c:v>
                </c:pt>
                <c:pt idx="1">
                  <c:v>260.49399999999997</c:v>
                </c:pt>
                <c:pt idx="2">
                  <c:v>212.39600000000002</c:v>
                </c:pt>
                <c:pt idx="3">
                  <c:v>98.81599999999999</c:v>
                </c:pt>
                <c:pt idx="4">
                  <c:v>116.915</c:v>
                </c:pt>
                <c:pt idx="5">
                  <c:v>90.659</c:v>
                </c:pt>
                <c:pt idx="6">
                  <c:v>226.116</c:v>
                </c:pt>
                <c:pt idx="7">
                  <c:v>164.622</c:v>
                </c:pt>
                <c:pt idx="8">
                  <c:v>232.93699999999998</c:v>
                </c:pt>
                <c:pt idx="9">
                  <c:v>283.882</c:v>
                </c:pt>
                <c:pt idx="10">
                  <c:v>129.14300000000003</c:v>
                </c:pt>
                <c:pt idx="11">
                  <c:v>178.02599999999995</c:v>
                </c:pt>
                <c:pt idx="12">
                  <c:v>3446.7870000000003</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Amjevita / Amgevita</c:v>
                </c:pt>
                <c:pt idx="1">
                  <c:v>Cyltezo</c:v>
                </c:pt>
                <c:pt idx="2">
                  <c:v>Hadlima / Imraldi</c:v>
                </c:pt>
                <c:pt idx="3">
                  <c:v>Hyrimoz / Halimatoz / Hefiya</c:v>
                </c:pt>
                <c:pt idx="4">
                  <c:v>Idacio</c:v>
                </c:pt>
                <c:pt idx="5">
                  <c:v>Hulio</c:v>
                </c:pt>
                <c:pt idx="6">
                  <c:v>Abrilada / Amsparity</c:v>
                </c:pt>
                <c:pt idx="7">
                  <c:v>Yusimry</c:v>
                </c:pt>
                <c:pt idx="8">
                  <c:v>Yuflyma</c:v>
                </c:pt>
                <c:pt idx="9">
                  <c:v>Simlandi</c:v>
                </c:pt>
                <c:pt idx="10">
                  <c:v>Other approved adalimumab biosimilars</c:v>
                </c:pt>
                <c:pt idx="11">
                  <c:v>Total</c:v>
                </c:pt>
              </c:strCache>
            </c:strRef>
          </c:cat>
          <c:val>
            <c:numRef>
              <c:f>Sheet1!$B$2:$B$13</c:f>
              <c:numCache>
                <c:formatCode>General</c:formatCode>
                <c:ptCount val="12"/>
                <c:pt idx="0">
                  <c:v>0.0</c:v>
                </c:pt>
                <c:pt idx="1">
                  <c:v>260.49399999999997</c:v>
                </c:pt>
                <c:pt idx="2">
                  <c:v>472.89</c:v>
                </c:pt>
                <c:pt idx="3">
                  <c:v>571.706</c:v>
                </c:pt>
                <c:pt idx="4">
                  <c:v>688.621</c:v>
                </c:pt>
                <c:pt idx="5">
                  <c:v>779.28</c:v>
                </c:pt>
                <c:pt idx="6">
                  <c:v>1005.396</c:v>
                </c:pt>
                <c:pt idx="7">
                  <c:v>1170.018</c:v>
                </c:pt>
                <c:pt idx="8">
                  <c:v>1402.955</c:v>
                </c:pt>
                <c:pt idx="9">
                  <c:v>1686.837</c:v>
                </c:pt>
                <c:pt idx="10">
                  <c:v>1815.98</c:v>
                </c:pt>
                <c:pt idx="11">
                  <c:v>0.0</c:v>
                </c:pt>
              </c:numCache>
            </c:numRef>
          </c:val>
        </c:ser>
        <c:ser>
          <c:idx val="1"/>
          <c:order val="1"/>
          <c:tx>
            <c:strRef>
              <c:f>Sheet1!$C$1</c:f>
              <c:strCache>
                <c:ptCount val="1"/>
                <c:pt idx="0">
                  <c:v>value</c:v>
                </c:pt>
              </c:strCache>
            </c:strRef>
          </c:tx>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Sheet1!$A$2:$A$13</c:f>
              <c:strCache>
                <c:ptCount val="12"/>
                <c:pt idx="0">
                  <c:v>Amjevita / Amgevita</c:v>
                </c:pt>
                <c:pt idx="1">
                  <c:v>Cyltezo</c:v>
                </c:pt>
                <c:pt idx="2">
                  <c:v>Hadlima / Imraldi</c:v>
                </c:pt>
                <c:pt idx="3">
                  <c:v>Hyrimoz / Halimatoz / Hefiya</c:v>
                </c:pt>
                <c:pt idx="4">
                  <c:v>Idacio</c:v>
                </c:pt>
                <c:pt idx="5">
                  <c:v>Hulio</c:v>
                </c:pt>
                <c:pt idx="6">
                  <c:v>Abrilada / Amsparity</c:v>
                </c:pt>
                <c:pt idx="7">
                  <c:v>Yusimry</c:v>
                </c:pt>
                <c:pt idx="8">
                  <c:v>Yuflyma</c:v>
                </c:pt>
                <c:pt idx="9">
                  <c:v>Simlandi</c:v>
                </c:pt>
                <c:pt idx="10">
                  <c:v>Other approved adalimumab biosimilars</c:v>
                </c:pt>
                <c:pt idx="11">
                  <c:v>Total</c:v>
                </c:pt>
              </c:strCache>
            </c:strRef>
          </c:cat>
          <c:val>
            <c:numRef>
              <c:f>Sheet1!$C$2:$C$13</c:f>
              <c:numCache>
                <c:formatCode>General</c:formatCode>
                <c:ptCount val="12"/>
                <c:pt idx="0">
                  <c:v>260.49399999999997</c:v>
                </c:pt>
                <c:pt idx="1">
                  <c:v>212.39600000000002</c:v>
                </c:pt>
                <c:pt idx="2">
                  <c:v>98.81599999999999</c:v>
                </c:pt>
                <c:pt idx="3">
                  <c:v>116.915</c:v>
                </c:pt>
                <c:pt idx="4">
                  <c:v>90.659</c:v>
                </c:pt>
                <c:pt idx="5">
                  <c:v>226.116</c:v>
                </c:pt>
                <c:pt idx="6">
                  <c:v>164.622</c:v>
                </c:pt>
                <c:pt idx="7">
                  <c:v>232.93699999999998</c:v>
                </c:pt>
                <c:pt idx="8">
                  <c:v>283.882</c:v>
                </c:pt>
                <c:pt idx="9">
                  <c:v>129.14300000000003</c:v>
                </c:pt>
                <c:pt idx="10">
                  <c:v>178.02599999999995</c:v>
                </c:pt>
                <c:pt idx="11">
                  <c:v>1994.0059999999999</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Sheet1!$A$2:$A$5</c:f>
              <c:strCache>
                <c:ptCount val="4"/>
                <c:pt idx="0">
                  <c:v>2026</c:v>
                </c:pt>
                <c:pt idx="1">
                  <c:v>Prefilled Syringe</c:v>
                </c:pt>
                <c:pt idx="2">
                  <c:v>Autoinjector / Pen</c:v>
                </c:pt>
                <c:pt idx="3">
                  <c:v>2036 Total</c:v>
                </c:pt>
              </c:strCache>
            </c:strRef>
          </c:cat>
          <c:val>
            <c:numRef>
              <c:f>Sheet1!$B$2:$B$5</c:f>
              <c:numCache>
                <c:formatCode>General</c:formatCode>
                <c:ptCount val="4"/>
                <c:pt idx="0">
                  <c:v>0.0</c:v>
                </c:pt>
                <c:pt idx="1">
                  <c:v>1452.781</c:v>
                </c:pt>
                <c:pt idx="2">
                  <c:v>2413.1730000000002</c:v>
                </c:pt>
                <c:pt idx="3">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Sheet1!$A$2:$A$5</c:f>
              <c:strCache>
                <c:ptCount val="4"/>
                <c:pt idx="0">
                  <c:v>2026</c:v>
                </c:pt>
                <c:pt idx="1">
                  <c:v>Prefilled Syringe</c:v>
                </c:pt>
                <c:pt idx="2">
                  <c:v>Autoinjector / Pen</c:v>
                </c:pt>
                <c:pt idx="3">
                  <c:v>2036 Total</c:v>
                </c:pt>
              </c:strCache>
            </c:strRef>
          </c:cat>
          <c:val>
            <c:numRef>
              <c:f>Sheet1!$C$2:$C$5</c:f>
              <c:numCache>
                <c:formatCode>General</c:formatCode>
                <c:ptCount val="4"/>
                <c:pt idx="0">
                  <c:v>1452.781</c:v>
                </c:pt>
                <c:pt idx="1">
                  <c:v>960.3920000000003</c:v>
                </c:pt>
                <c:pt idx="2">
                  <c:v>1033.614</c:v>
                </c:pt>
                <c:pt idx="3">
                  <c:v>3446.7870000000003</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Sheet1!$A$2:$A$4</c:f>
              <c:strCache>
                <c:ptCount val="3"/>
                <c:pt idx="0">
                  <c:v>Prefilled Syringe</c:v>
                </c:pt>
                <c:pt idx="1">
                  <c:v>Autoinjector / Pen</c:v>
                </c:pt>
                <c:pt idx="2">
                  <c:v>Total</c:v>
                </c:pt>
              </c:strCache>
            </c:strRef>
          </c:cat>
          <c:val>
            <c:numRef>
              <c:f>Sheet1!$B$2:$B$4</c:f>
              <c:numCache>
                <c:formatCode>General</c:formatCode>
                <c:ptCount val="3"/>
                <c:pt idx="0">
                  <c:v>0.0</c:v>
                </c:pt>
                <c:pt idx="1">
                  <c:v>960.3920000000003</c:v>
                </c:pt>
                <c:pt idx="2">
                  <c:v>0.0</c:v>
                </c:pt>
              </c:numCache>
            </c:numRef>
          </c:val>
        </c:ser>
        <c:ser>
          <c:idx val="1"/>
          <c:order val="1"/>
          <c:tx>
            <c:strRef>
              <c:f>Sheet1!$C$1</c:f>
              <c:strCache>
                <c:ptCount val="1"/>
                <c:pt idx="0">
                  <c:v>value</c:v>
                </c:pt>
              </c:strCache>
            </c:strRef>
          </c:tx>
          <c:dPt>
            <c:idx val="0"/>
            <c:spPr>
              <a:solidFill>
                <a:srgbClr val="008189"/>
              </a:solidFill>
            </c:spPr>
          </c:dPt>
          <c:dPt>
            <c:idx val="1"/>
            <c:spPr>
              <a:solidFill>
                <a:srgbClr val="008189"/>
              </a:solidFill>
            </c:spPr>
          </c:dPt>
          <c:dPt>
            <c:idx val="2"/>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Sheet1!$A$2:$A$4</c:f>
              <c:strCache>
                <c:ptCount val="3"/>
                <c:pt idx="0">
                  <c:v>Prefilled Syringe</c:v>
                </c:pt>
                <c:pt idx="1">
                  <c:v>Autoinjector / Pen</c:v>
                </c:pt>
                <c:pt idx="2">
                  <c:v>Total</c:v>
                </c:pt>
              </c:strCache>
            </c:strRef>
          </c:cat>
          <c:val>
            <c:numRef>
              <c:f>Sheet1!$C$2:$C$4</c:f>
              <c:numCache>
                <c:formatCode>General</c:formatCode>
                <c:ptCount val="3"/>
                <c:pt idx="0">
                  <c:v>960.3920000000003</c:v>
                </c:pt>
                <c:pt idx="1">
                  <c:v>1033.614</c:v>
                </c:pt>
                <c:pt idx="2">
                  <c:v>1994.0060000000003</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2026</c:v>
                </c:pt>
                <c:pt idx="1">
                  <c:v>20 mg</c:v>
                </c:pt>
                <c:pt idx="2">
                  <c:v>40 mg</c:v>
                </c:pt>
                <c:pt idx="3">
                  <c:v>80 mg</c:v>
                </c:pt>
                <c:pt idx="4">
                  <c:v>100 mg/mL</c:v>
                </c:pt>
                <c:pt idx="5">
                  <c:v>2036 Total</c:v>
                </c:pt>
              </c:strCache>
            </c:strRef>
          </c:cat>
          <c:val>
            <c:numRef>
              <c:f>Sheet1!$B$2:$B$7</c:f>
              <c:numCache>
                <c:formatCode>General</c:formatCode>
                <c:ptCount val="6"/>
                <c:pt idx="0">
                  <c:v>0.0</c:v>
                </c:pt>
                <c:pt idx="1">
                  <c:v>1452.781</c:v>
                </c:pt>
                <c:pt idx="2">
                  <c:v>1863.745</c:v>
                </c:pt>
                <c:pt idx="3">
                  <c:v>2414.1949999999997</c:v>
                </c:pt>
                <c:pt idx="4">
                  <c:v>2847.902</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2026</c:v>
                </c:pt>
                <c:pt idx="1">
                  <c:v>20 mg</c:v>
                </c:pt>
                <c:pt idx="2">
                  <c:v>40 mg</c:v>
                </c:pt>
                <c:pt idx="3">
                  <c:v>80 mg</c:v>
                </c:pt>
                <c:pt idx="4">
                  <c:v>100 mg/mL</c:v>
                </c:pt>
                <c:pt idx="5">
                  <c:v>2036 Total</c:v>
                </c:pt>
              </c:strCache>
            </c:strRef>
          </c:cat>
          <c:val>
            <c:numRef>
              <c:f>Sheet1!$C$2:$C$7</c:f>
              <c:numCache>
                <c:formatCode>General</c:formatCode>
                <c:ptCount val="6"/>
                <c:pt idx="0">
                  <c:v>1452.781</c:v>
                </c:pt>
                <c:pt idx="1">
                  <c:v>410.96400000000006</c:v>
                </c:pt>
                <c:pt idx="2">
                  <c:v>550.4499999999999</c:v>
                </c:pt>
                <c:pt idx="3">
                  <c:v>433.7070000000001</c:v>
                </c:pt>
                <c:pt idx="4">
                  <c:v>598.885</c:v>
                </c:pt>
                <c:pt idx="5">
                  <c:v>3446.787</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 mg</c:v>
                </c:pt>
                <c:pt idx="1">
                  <c:v>40 mg</c:v>
                </c:pt>
                <c:pt idx="2">
                  <c:v>80 mg</c:v>
                </c:pt>
                <c:pt idx="3">
                  <c:v>100 mg/mL</c:v>
                </c:pt>
                <c:pt idx="4">
                  <c:v>Total</c:v>
                </c:pt>
              </c:strCache>
            </c:strRef>
          </c:cat>
          <c:val>
            <c:numRef>
              <c:f>Sheet1!$B$2:$B$6</c:f>
              <c:numCache>
                <c:formatCode>General</c:formatCode>
                <c:ptCount val="5"/>
                <c:pt idx="0">
                  <c:v>0.0</c:v>
                </c:pt>
                <c:pt idx="1">
                  <c:v>410.96400000000006</c:v>
                </c:pt>
                <c:pt idx="2">
                  <c:v>961.414</c:v>
                </c:pt>
                <c:pt idx="3">
                  <c:v>1395.121</c:v>
                </c:pt>
                <c:pt idx="4">
                  <c:v>0.0</c:v>
                </c:pt>
              </c:numCache>
            </c:numRef>
          </c:val>
        </c:ser>
        <c:ser>
          <c:idx val="1"/>
          <c:order val="1"/>
          <c:tx>
            <c:strRef>
              <c:f>Sheet1!$C$1</c:f>
              <c:strCache>
                <c:ptCount val="1"/>
                <c:pt idx="0">
                  <c:v>value</c:v>
                </c:pt>
              </c:strCache>
            </c:strRef>
          </c:tx>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Sheet1!$A$2:$A$6</c:f>
              <c:strCache>
                <c:ptCount val="5"/>
                <c:pt idx="0">
                  <c:v>20 mg</c:v>
                </c:pt>
                <c:pt idx="1">
                  <c:v>40 mg</c:v>
                </c:pt>
                <c:pt idx="2">
                  <c:v>80 mg</c:v>
                </c:pt>
                <c:pt idx="3">
                  <c:v>100 mg/mL</c:v>
                </c:pt>
                <c:pt idx="4">
                  <c:v>Total</c:v>
                </c:pt>
              </c:strCache>
            </c:strRef>
          </c:cat>
          <c:val>
            <c:numRef>
              <c:f>Sheet1!$C$2:$C$6</c:f>
              <c:numCache>
                <c:formatCode>General</c:formatCode>
                <c:ptCount val="5"/>
                <c:pt idx="0">
                  <c:v>410.96400000000006</c:v>
                </c:pt>
                <c:pt idx="1">
                  <c:v>550.4499999999999</c:v>
                </c:pt>
                <c:pt idx="2">
                  <c:v>433.7070000000001</c:v>
                </c:pt>
                <c:pt idx="3">
                  <c:v>598.885</c:v>
                </c:pt>
                <c:pt idx="4">
                  <c:v>1994.006</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2026</c:v>
                </c:pt>
                <c:pt idx="1">
                  <c:v>Rheumatology</c:v>
                </c:pt>
                <c:pt idx="2">
                  <c:v>Dermatology</c:v>
                </c:pt>
                <c:pt idx="3">
                  <c:v>Gastroenterology</c:v>
                </c:pt>
                <c:pt idx="4">
                  <c:v>Ophthalmology</c:v>
                </c:pt>
                <c:pt idx="5">
                  <c:v>2036 Total</c:v>
                </c:pt>
              </c:strCache>
            </c:strRef>
          </c:cat>
          <c:val>
            <c:numRef>
              <c:f>Sheet1!$B$2:$B$7</c:f>
              <c:numCache>
                <c:formatCode>General</c:formatCode>
                <c:ptCount val="6"/>
                <c:pt idx="0">
                  <c:v>0.0</c:v>
                </c:pt>
                <c:pt idx="1">
                  <c:v>1452.7810000000002</c:v>
                </c:pt>
                <c:pt idx="2">
                  <c:v>2523.5950000000003</c:v>
                </c:pt>
                <c:pt idx="3">
                  <c:v>2998.6600000000003</c:v>
                </c:pt>
                <c:pt idx="4">
                  <c:v>3378.0490000000004</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2026</c:v>
                </c:pt>
                <c:pt idx="1">
                  <c:v>Rheumatology</c:v>
                </c:pt>
                <c:pt idx="2">
                  <c:v>Dermatology</c:v>
                </c:pt>
                <c:pt idx="3">
                  <c:v>Gastroenterology</c:v>
                </c:pt>
                <c:pt idx="4">
                  <c:v>Ophthalmology</c:v>
                </c:pt>
                <c:pt idx="5">
                  <c:v>2036 Total</c:v>
                </c:pt>
              </c:strCache>
            </c:strRef>
          </c:cat>
          <c:val>
            <c:numRef>
              <c:f>Sheet1!$C$2:$C$7</c:f>
              <c:numCache>
                <c:formatCode>General</c:formatCode>
                <c:ptCount val="6"/>
                <c:pt idx="0">
                  <c:v>1452.7810000000002</c:v>
                </c:pt>
                <c:pt idx="1">
                  <c:v>1070.8139999999999</c:v>
                </c:pt>
                <c:pt idx="2">
                  <c:v>475.06500000000005</c:v>
                </c:pt>
                <c:pt idx="3">
                  <c:v>379.38899999999995</c:v>
                </c:pt>
                <c:pt idx="4">
                  <c:v>68.738</c:v>
                </c:pt>
                <c:pt idx="5">
                  <c:v>3446.7869999999994</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Rheumatology</c:v>
                </c:pt>
                <c:pt idx="1">
                  <c:v>Dermatology</c:v>
                </c:pt>
                <c:pt idx="2">
                  <c:v>Gastroenterology</c:v>
                </c:pt>
                <c:pt idx="3">
                  <c:v>Ophthalmology</c:v>
                </c:pt>
                <c:pt idx="4">
                  <c:v>Total</c:v>
                </c:pt>
              </c:strCache>
            </c:strRef>
          </c:cat>
          <c:val>
            <c:numRef>
              <c:f>Sheet1!$B$2:$B$6</c:f>
              <c:numCache>
                <c:formatCode>General</c:formatCode>
                <c:ptCount val="5"/>
                <c:pt idx="0">
                  <c:v>0.0</c:v>
                </c:pt>
                <c:pt idx="1">
                  <c:v>1070.8139999999999</c:v>
                </c:pt>
                <c:pt idx="2">
                  <c:v>1545.879</c:v>
                </c:pt>
                <c:pt idx="3">
                  <c:v>1925.2679999999998</c:v>
                </c:pt>
                <c:pt idx="4">
                  <c:v>0.0</c:v>
                </c:pt>
              </c:numCache>
            </c:numRef>
          </c:val>
        </c:ser>
        <c:ser>
          <c:idx val="1"/>
          <c:order val="1"/>
          <c:tx>
            <c:strRef>
              <c:f>Sheet1!$C$1</c:f>
              <c:strCache>
                <c:ptCount val="1"/>
                <c:pt idx="0">
                  <c:v>value</c:v>
                </c:pt>
              </c:strCache>
            </c:strRef>
          </c:tx>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Sheet1!$A$2:$A$6</c:f>
              <c:strCache>
                <c:ptCount val="5"/>
                <c:pt idx="0">
                  <c:v>Rheumatology</c:v>
                </c:pt>
                <c:pt idx="1">
                  <c:v>Dermatology</c:v>
                </c:pt>
                <c:pt idx="2">
                  <c:v>Gastroenterology</c:v>
                </c:pt>
                <c:pt idx="3">
                  <c:v>Ophthalmology</c:v>
                </c:pt>
                <c:pt idx="4">
                  <c:v>Total</c:v>
                </c:pt>
              </c:strCache>
            </c:strRef>
          </c:cat>
          <c:val>
            <c:numRef>
              <c:f>Sheet1!$C$2:$C$6</c:f>
              <c:numCache>
                <c:formatCode>General</c:formatCode>
                <c:ptCount val="5"/>
                <c:pt idx="0">
                  <c:v>1070.8139999999999</c:v>
                </c:pt>
                <c:pt idx="1">
                  <c:v>475.06500000000005</c:v>
                </c:pt>
                <c:pt idx="2">
                  <c:v>379.38899999999995</c:v>
                </c:pt>
                <c:pt idx="3">
                  <c:v>68.738</c:v>
                </c:pt>
                <c:pt idx="4">
                  <c:v>1994.0059999999999</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2026</c:v>
                </c:pt>
                <c:pt idx="1">
                  <c:v>Hospitals</c:v>
                </c:pt>
                <c:pt idx="2">
                  <c:v>Specialty Clinics</c:v>
                </c:pt>
                <c:pt idx="3">
                  <c:v>Retail / Specialty Pharmacies</c:v>
                </c:pt>
                <c:pt idx="4">
                  <c:v>Institutional Buyers</c:v>
                </c:pt>
                <c:pt idx="5">
                  <c:v>2036 Total</c:v>
                </c:pt>
              </c:strCache>
            </c:strRef>
          </c:cat>
          <c:val>
            <c:numRef>
              <c:f>Sheet1!$B$2:$B$7</c:f>
              <c:numCache>
                <c:formatCode>General</c:formatCode>
                <c:ptCount val="6"/>
                <c:pt idx="0">
                  <c:v>0.0</c:v>
                </c:pt>
                <c:pt idx="1">
                  <c:v>1452.781</c:v>
                </c:pt>
                <c:pt idx="2">
                  <c:v>2001.0259999999998</c:v>
                </c:pt>
                <c:pt idx="3">
                  <c:v>2618.007</c:v>
                </c:pt>
                <c:pt idx="4">
                  <c:v>2993.445</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2026</c:v>
                </c:pt>
                <c:pt idx="1">
                  <c:v>Hospitals</c:v>
                </c:pt>
                <c:pt idx="2">
                  <c:v>Specialty Clinics</c:v>
                </c:pt>
                <c:pt idx="3">
                  <c:v>Retail / Specialty Pharmacies</c:v>
                </c:pt>
                <c:pt idx="4">
                  <c:v>Institutional Buyers</c:v>
                </c:pt>
                <c:pt idx="5">
                  <c:v>2036 Total</c:v>
                </c:pt>
              </c:strCache>
            </c:strRef>
          </c:cat>
          <c:val>
            <c:numRef>
              <c:f>Sheet1!$C$2:$C$7</c:f>
              <c:numCache>
                <c:formatCode>General</c:formatCode>
                <c:ptCount val="6"/>
                <c:pt idx="0">
                  <c:v>1452.781</c:v>
                </c:pt>
                <c:pt idx="1">
                  <c:v>548.2449999999999</c:v>
                </c:pt>
                <c:pt idx="2">
                  <c:v>616.9810000000001</c:v>
                </c:pt>
                <c:pt idx="3">
                  <c:v>375.438</c:v>
                </c:pt>
                <c:pt idx="4">
                  <c:v>453.3420000000001</c:v>
                </c:pt>
                <c:pt idx="5">
                  <c:v>3446.7870000000003</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Hospitals</c:v>
                </c:pt>
                <c:pt idx="1">
                  <c:v>Specialty Clinics</c:v>
                </c:pt>
                <c:pt idx="2">
                  <c:v>Retail / Specialty Pharmacies</c:v>
                </c:pt>
                <c:pt idx="3">
                  <c:v>Institutional Buyers</c:v>
                </c:pt>
                <c:pt idx="4">
                  <c:v>Total</c:v>
                </c:pt>
              </c:strCache>
            </c:strRef>
          </c:cat>
          <c:val>
            <c:numRef>
              <c:f>Sheet1!$B$2:$B$6</c:f>
              <c:numCache>
                <c:formatCode>General</c:formatCode>
                <c:ptCount val="5"/>
                <c:pt idx="0">
                  <c:v>0.0</c:v>
                </c:pt>
                <c:pt idx="1">
                  <c:v>548.2449999999999</c:v>
                </c:pt>
                <c:pt idx="2">
                  <c:v>1165.226</c:v>
                </c:pt>
                <c:pt idx="3">
                  <c:v>1540.6640000000002</c:v>
                </c:pt>
                <c:pt idx="4">
                  <c:v>0.0</c:v>
                </c:pt>
              </c:numCache>
            </c:numRef>
          </c:val>
        </c:ser>
        <c:ser>
          <c:idx val="1"/>
          <c:order val="1"/>
          <c:tx>
            <c:strRef>
              <c:f>Sheet1!$C$1</c:f>
              <c:strCache>
                <c:ptCount val="1"/>
                <c:pt idx="0">
                  <c:v>value</c:v>
                </c:pt>
              </c:strCache>
            </c:strRef>
          </c:tx>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Sheet1!$A$2:$A$6</c:f>
              <c:strCache>
                <c:ptCount val="5"/>
                <c:pt idx="0">
                  <c:v>Hospitals</c:v>
                </c:pt>
                <c:pt idx="1">
                  <c:v>Specialty Clinics</c:v>
                </c:pt>
                <c:pt idx="2">
                  <c:v>Retail / Specialty Pharmacies</c:v>
                </c:pt>
                <c:pt idx="3">
                  <c:v>Institutional Buyers</c:v>
                </c:pt>
                <c:pt idx="4">
                  <c:v>Total</c:v>
                </c:pt>
              </c:strCache>
            </c:strRef>
          </c:cat>
          <c:val>
            <c:numRef>
              <c:f>Sheet1!$C$2:$C$6</c:f>
              <c:numCache>
                <c:formatCode>General</c:formatCode>
                <c:ptCount val="5"/>
                <c:pt idx="0">
                  <c:v>548.2449999999999</c:v>
                </c:pt>
                <c:pt idx="1">
                  <c:v>616.9810000000001</c:v>
                </c:pt>
                <c:pt idx="2">
                  <c:v>375.438</c:v>
                </c:pt>
                <c:pt idx="3">
                  <c:v>453.3420000000001</c:v>
                </c:pt>
                <c:pt idx="4">
                  <c:v>1994.0060000000003</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2026</c:v>
                </c:pt>
                <c:pt idx="1">
                  <c:v>Direct Institutional Sales</c:v>
                </c:pt>
                <c:pt idx="2">
                  <c:v>Specialty Distribution</c:v>
                </c:pt>
                <c:pt idx="3">
                  <c:v>Pharmacy Channel</c:v>
                </c:pt>
                <c:pt idx="4">
                  <c:v>Online / Digital Pharmacy</c:v>
                </c:pt>
                <c:pt idx="5">
                  <c:v>2036 Total</c:v>
                </c:pt>
              </c:strCache>
            </c:strRef>
          </c:cat>
          <c:val>
            <c:numRef>
              <c:f>Sheet1!$B$2:$B$7</c:f>
              <c:numCache>
                <c:formatCode>General</c:formatCode>
                <c:ptCount val="6"/>
                <c:pt idx="0">
                  <c:v>0.0</c:v>
                </c:pt>
                <c:pt idx="1">
                  <c:v>1452.781</c:v>
                </c:pt>
                <c:pt idx="2">
                  <c:v>1819.925</c:v>
                </c:pt>
                <c:pt idx="3">
                  <c:v>2404.2309999999998</c:v>
                </c:pt>
                <c:pt idx="4">
                  <c:v>2735.7729999999997</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2026</c:v>
                </c:pt>
                <c:pt idx="1">
                  <c:v>Direct Institutional Sales</c:v>
                </c:pt>
                <c:pt idx="2">
                  <c:v>Specialty Distribution</c:v>
                </c:pt>
                <c:pt idx="3">
                  <c:v>Pharmacy Channel</c:v>
                </c:pt>
                <c:pt idx="4">
                  <c:v>Online / Digital Pharmacy</c:v>
                </c:pt>
                <c:pt idx="5">
                  <c:v>2036 Total</c:v>
                </c:pt>
              </c:strCache>
            </c:strRef>
          </c:cat>
          <c:val>
            <c:numRef>
              <c:f>Sheet1!$C$2:$C$7</c:f>
              <c:numCache>
                <c:formatCode>General</c:formatCode>
                <c:ptCount val="6"/>
                <c:pt idx="0">
                  <c:v>1452.781</c:v>
                </c:pt>
                <c:pt idx="1">
                  <c:v>367.14400000000006</c:v>
                </c:pt>
                <c:pt idx="2">
                  <c:v>584.306</c:v>
                </c:pt>
                <c:pt idx="3">
                  <c:v>331.54200000000003</c:v>
                </c:pt>
                <c:pt idx="4">
                  <c:v>711.0139999999999</c:v>
                </c:pt>
                <c:pt idx="5">
                  <c:v>3446.787</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Direct Institutional Sales</c:v>
                </c:pt>
                <c:pt idx="1">
                  <c:v>Specialty Distribution</c:v>
                </c:pt>
                <c:pt idx="2">
                  <c:v>Pharmacy Channel</c:v>
                </c:pt>
                <c:pt idx="3">
                  <c:v>Online / Digital Pharmacy</c:v>
                </c:pt>
                <c:pt idx="4">
                  <c:v>Total</c:v>
                </c:pt>
              </c:strCache>
            </c:strRef>
          </c:cat>
          <c:val>
            <c:numRef>
              <c:f>Sheet1!$B$2:$B$6</c:f>
              <c:numCache>
                <c:formatCode>General</c:formatCode>
                <c:ptCount val="5"/>
                <c:pt idx="0">
                  <c:v>0.0</c:v>
                </c:pt>
                <c:pt idx="1">
                  <c:v>367.14400000000006</c:v>
                </c:pt>
                <c:pt idx="2">
                  <c:v>951.45</c:v>
                </c:pt>
                <c:pt idx="3">
                  <c:v>1282.9920000000002</c:v>
                </c:pt>
                <c:pt idx="4">
                  <c:v>0.0</c:v>
                </c:pt>
              </c:numCache>
            </c:numRef>
          </c:val>
        </c:ser>
        <c:ser>
          <c:idx val="1"/>
          <c:order val="1"/>
          <c:tx>
            <c:strRef>
              <c:f>Sheet1!$C$1</c:f>
              <c:strCache>
                <c:ptCount val="1"/>
                <c:pt idx="0">
                  <c:v>value</c:v>
                </c:pt>
              </c:strCache>
            </c:strRef>
          </c:tx>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Sheet1!$A$2:$A$6</c:f>
              <c:strCache>
                <c:ptCount val="5"/>
                <c:pt idx="0">
                  <c:v>Direct Institutional Sales</c:v>
                </c:pt>
                <c:pt idx="1">
                  <c:v>Specialty Distribution</c:v>
                </c:pt>
                <c:pt idx="2">
                  <c:v>Pharmacy Channel</c:v>
                </c:pt>
                <c:pt idx="3">
                  <c:v>Online / Digital Pharmacy</c:v>
                </c:pt>
                <c:pt idx="4">
                  <c:v>Total</c:v>
                </c:pt>
              </c:strCache>
            </c:strRef>
          </c:cat>
          <c:val>
            <c:numRef>
              <c:f>Sheet1!$C$2:$C$6</c:f>
              <c:numCache>
                <c:formatCode>General</c:formatCode>
                <c:ptCount val="5"/>
                <c:pt idx="0">
                  <c:v>367.14400000000006</c:v>
                </c:pt>
                <c:pt idx="1">
                  <c:v>584.306</c:v>
                </c:pt>
                <c:pt idx="2">
                  <c:v>331.54200000000003</c:v>
                </c:pt>
                <c:pt idx="3">
                  <c:v>711.0139999999999</c:v>
                </c:pt>
                <c:pt idx="4">
                  <c:v>1994.006</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Sheet1!$A$2:$A$14</c:f>
              <c:strCache>
                <c:ptCount val="13"/>
                <c:pt idx="0">
                  <c:v>2026</c:v>
                </c:pt>
                <c:pt idx="1">
                  <c:v>Amjevita / Amgevita</c:v>
                </c:pt>
                <c:pt idx="2">
                  <c:v>Cyltezo</c:v>
                </c:pt>
                <c:pt idx="3">
                  <c:v>Hadlima / Imraldi</c:v>
                </c:pt>
                <c:pt idx="4">
                  <c:v>Hyrimoz / Halimatoz / Hefiya</c:v>
                </c:pt>
                <c:pt idx="5">
                  <c:v>Idacio</c:v>
                </c:pt>
                <c:pt idx="6">
                  <c:v>Hulio</c:v>
                </c:pt>
                <c:pt idx="7">
                  <c:v>Abrilada / Amsparity</c:v>
                </c:pt>
                <c:pt idx="8">
                  <c:v>Yusimry</c:v>
                </c:pt>
                <c:pt idx="9">
                  <c:v>Yuflyma</c:v>
                </c:pt>
                <c:pt idx="10">
                  <c:v>Simlandi</c:v>
                </c:pt>
                <c:pt idx="11">
                  <c:v>Other approved adalimumab biosimilars</c:v>
                </c:pt>
                <c:pt idx="12">
                  <c:v>2036 Total</c:v>
                </c:pt>
              </c:strCache>
            </c:strRef>
          </c:cat>
          <c:val>
            <c:numRef>
              <c:f>Sheet1!$B$2:$B$14</c:f>
              <c:numCache>
                <c:formatCode>General</c:formatCode>
                <c:ptCount val="13"/>
                <c:pt idx="0">
                  <c:v>0.0</c:v>
                </c:pt>
                <c:pt idx="1">
                  <c:v>1452.781</c:v>
                </c:pt>
                <c:pt idx="2">
                  <c:v>1713.2759999999998</c:v>
                </c:pt>
                <c:pt idx="3">
                  <c:v>1925.6709999999998</c:v>
                </c:pt>
                <c:pt idx="4">
                  <c:v>2024.4879999999998</c:v>
                </c:pt>
                <c:pt idx="5">
                  <c:v>2141.403</c:v>
                </c:pt>
                <c:pt idx="6">
                  <c:v>2232.062</c:v>
                </c:pt>
                <c:pt idx="7">
                  <c:v>2458.1769999999997</c:v>
                </c:pt>
                <c:pt idx="8">
                  <c:v>2622.7989999999995</c:v>
                </c:pt>
                <c:pt idx="9">
                  <c:v>2855.7359999999994</c:v>
                </c:pt>
                <c:pt idx="10">
                  <c:v>3139.6169999999993</c:v>
                </c:pt>
                <c:pt idx="11">
                  <c:v>3268.7599999999993</c:v>
                </c:pt>
                <c:pt idx="12">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08189"/>
              </a:solidFill>
            </c:spPr>
          </c:dPt>
          <c:dPt>
            <c:idx val="12"/>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Sheet1!$A$2:$A$14</c:f>
              <c:strCache>
                <c:ptCount val="13"/>
                <c:pt idx="0">
                  <c:v>2026</c:v>
                </c:pt>
                <c:pt idx="1">
                  <c:v>Amjevita / Amgevita</c:v>
                </c:pt>
                <c:pt idx="2">
                  <c:v>Cyltezo</c:v>
                </c:pt>
                <c:pt idx="3">
                  <c:v>Hadlima / Imraldi</c:v>
                </c:pt>
                <c:pt idx="4">
                  <c:v>Hyrimoz / Halimatoz / Hefiya</c:v>
                </c:pt>
                <c:pt idx="5">
                  <c:v>Idacio</c:v>
                </c:pt>
                <c:pt idx="6">
                  <c:v>Hulio</c:v>
                </c:pt>
                <c:pt idx="7">
                  <c:v>Abrilada / Amsparity</c:v>
                </c:pt>
                <c:pt idx="8">
                  <c:v>Yusimry</c:v>
                </c:pt>
                <c:pt idx="9">
                  <c:v>Yuflyma</c:v>
                </c:pt>
                <c:pt idx="10">
                  <c:v>Simlandi</c:v>
                </c:pt>
                <c:pt idx="11">
                  <c:v>Other approved adalimumab biosimilars</c:v>
                </c:pt>
                <c:pt idx="12">
                  <c:v>2036 Total</c:v>
                </c:pt>
              </c:strCache>
            </c:strRef>
          </c:cat>
          <c:val>
            <c:numRef>
              <c:f>Sheet1!$C$2:$C$14</c:f>
              <c:numCache>
                <c:formatCode>General</c:formatCode>
                <c:ptCount val="13"/>
                <c:pt idx="0">
                  <c:v>1452.781</c:v>
                </c:pt>
                <c:pt idx="1">
                  <c:v>260.495</c:v>
                </c:pt>
                <c:pt idx="2">
                  <c:v>212.39499999999998</c:v>
                </c:pt>
                <c:pt idx="3">
                  <c:v>98.817</c:v>
                </c:pt>
                <c:pt idx="4">
                  <c:v>116.915</c:v>
                </c:pt>
                <c:pt idx="5">
                  <c:v>90.659</c:v>
                </c:pt>
                <c:pt idx="6">
                  <c:v>226.115</c:v>
                </c:pt>
                <c:pt idx="7">
                  <c:v>164.62199999999999</c:v>
                </c:pt>
                <c:pt idx="8">
                  <c:v>232.937</c:v>
                </c:pt>
                <c:pt idx="9">
                  <c:v>283.881</c:v>
                </c:pt>
                <c:pt idx="10">
                  <c:v>129.14300000000003</c:v>
                </c:pt>
                <c:pt idx="11">
                  <c:v>178.02700000000002</c:v>
                </c:pt>
                <c:pt idx="12">
                  <c:v>3446.7870000000003</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Amjevita / Amgevita</c:v>
                </c:pt>
                <c:pt idx="1">
                  <c:v>Cyltezo</c:v>
                </c:pt>
                <c:pt idx="2">
                  <c:v>Hadlima / Imraldi</c:v>
                </c:pt>
                <c:pt idx="3">
                  <c:v>Hyrimoz / Halimatoz / Hefiya</c:v>
                </c:pt>
                <c:pt idx="4">
                  <c:v>Idacio</c:v>
                </c:pt>
                <c:pt idx="5">
                  <c:v>Hulio</c:v>
                </c:pt>
                <c:pt idx="6">
                  <c:v>Abrilada / Amsparity</c:v>
                </c:pt>
                <c:pt idx="7">
                  <c:v>Yusimry</c:v>
                </c:pt>
                <c:pt idx="8">
                  <c:v>Yuflyma</c:v>
                </c:pt>
                <c:pt idx="9">
                  <c:v>Simlandi</c:v>
                </c:pt>
                <c:pt idx="10">
                  <c:v>Other approved adalimumab biosimilars</c:v>
                </c:pt>
                <c:pt idx="11">
                  <c:v>Total</c:v>
                </c:pt>
              </c:strCache>
            </c:strRef>
          </c:cat>
          <c:val>
            <c:numRef>
              <c:f>Sheet1!$B$2:$B$13</c:f>
              <c:numCache>
                <c:formatCode>General</c:formatCode>
                <c:ptCount val="12"/>
                <c:pt idx="0">
                  <c:v>0.0</c:v>
                </c:pt>
                <c:pt idx="1">
                  <c:v>260.495</c:v>
                </c:pt>
                <c:pt idx="2">
                  <c:v>472.89</c:v>
                </c:pt>
                <c:pt idx="3">
                  <c:v>571.707</c:v>
                </c:pt>
                <c:pt idx="4">
                  <c:v>688.622</c:v>
                </c:pt>
                <c:pt idx="5">
                  <c:v>779.281</c:v>
                </c:pt>
                <c:pt idx="6">
                  <c:v>1005.396</c:v>
                </c:pt>
                <c:pt idx="7">
                  <c:v>1170.018</c:v>
                </c:pt>
                <c:pt idx="8">
                  <c:v>1402.955</c:v>
                </c:pt>
                <c:pt idx="9">
                  <c:v>1686.8359999999998</c:v>
                </c:pt>
                <c:pt idx="10">
                  <c:v>1815.9789999999998</c:v>
                </c:pt>
                <c:pt idx="11">
                  <c:v>0.0</c:v>
                </c:pt>
              </c:numCache>
            </c:numRef>
          </c:val>
        </c:ser>
        <c:ser>
          <c:idx val="1"/>
          <c:order val="1"/>
          <c:tx>
            <c:strRef>
              <c:f>Sheet1!$C$1</c:f>
              <c:strCache>
                <c:ptCount val="1"/>
                <c:pt idx="0">
                  <c:v>value</c:v>
                </c:pt>
              </c:strCache>
            </c:strRef>
          </c:tx>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Sheet1!$A$2:$A$13</c:f>
              <c:strCache>
                <c:ptCount val="12"/>
                <c:pt idx="0">
                  <c:v>Amjevita / Amgevita</c:v>
                </c:pt>
                <c:pt idx="1">
                  <c:v>Cyltezo</c:v>
                </c:pt>
                <c:pt idx="2">
                  <c:v>Hadlima / Imraldi</c:v>
                </c:pt>
                <c:pt idx="3">
                  <c:v>Hyrimoz / Halimatoz / Hefiya</c:v>
                </c:pt>
                <c:pt idx="4">
                  <c:v>Idacio</c:v>
                </c:pt>
                <c:pt idx="5">
                  <c:v>Hulio</c:v>
                </c:pt>
                <c:pt idx="6">
                  <c:v>Abrilada / Amsparity</c:v>
                </c:pt>
                <c:pt idx="7">
                  <c:v>Yusimry</c:v>
                </c:pt>
                <c:pt idx="8">
                  <c:v>Yuflyma</c:v>
                </c:pt>
                <c:pt idx="9">
                  <c:v>Simlandi</c:v>
                </c:pt>
                <c:pt idx="10">
                  <c:v>Other approved adalimumab biosimilars</c:v>
                </c:pt>
                <c:pt idx="11">
                  <c:v>Total</c:v>
                </c:pt>
              </c:strCache>
            </c:strRef>
          </c:cat>
          <c:val>
            <c:numRef>
              <c:f>Sheet1!$C$2:$C$13</c:f>
              <c:numCache>
                <c:formatCode>General</c:formatCode>
                <c:ptCount val="12"/>
                <c:pt idx="0">
                  <c:v>260.495</c:v>
                </c:pt>
                <c:pt idx="1">
                  <c:v>212.39499999999998</c:v>
                </c:pt>
                <c:pt idx="2">
                  <c:v>98.817</c:v>
                </c:pt>
                <c:pt idx="3">
                  <c:v>116.915</c:v>
                </c:pt>
                <c:pt idx="4">
                  <c:v>90.659</c:v>
                </c:pt>
                <c:pt idx="5">
                  <c:v>226.115</c:v>
                </c:pt>
                <c:pt idx="6">
                  <c:v>164.62199999999999</c:v>
                </c:pt>
                <c:pt idx="7">
                  <c:v>232.937</c:v>
                </c:pt>
                <c:pt idx="8">
                  <c:v>283.881</c:v>
                </c:pt>
                <c:pt idx="9">
                  <c:v>129.14300000000003</c:v>
                </c:pt>
                <c:pt idx="10">
                  <c:v>178.02700000000002</c:v>
                </c:pt>
                <c:pt idx="11">
                  <c:v>1994.0059999999999</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quot;K&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tx>
                <c:rich>
                  <a:bodyPr/>
                  <a:lstStyle/>
                  <a:p>
                    <a:pPr>
                      <a:defRPr sz="850" b="1">
                        <a:solidFill>
                          <a:srgbClr val="FFFFFF"/>
                        </a:solidFill>
                        <a:latin typeface="Calibri"/>
                      </a:defRPr>
                    </a:pPr>
                    <a:r>
                      <a:t>18.4%</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13.5%</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9.0%</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8.0%</a:t>
                    </a:r>
                  </a:p>
                </c:rich>
              </c:tx>
              <c:showLegendKey val="0"/>
              <c:showVal val="1"/>
              <c:showCatName val="0"/>
              <c:showSerName val="0"/>
              <c:showPercent val="0"/>
              <c:showBubbleSize val="0"/>
            </c:dLbl>
            <c:dLbl>
              <c:idx val="4"/>
              <c:tx>
                <c:rich>
                  <a:bodyPr/>
                  <a:lstStyle/>
                  <a:p>
                    <a:pPr>
                      <a:defRPr sz="850" b="1">
                        <a:solidFill>
                          <a:srgbClr val="FFFFFF"/>
                        </a:solidFill>
                        <a:latin typeface="Calibri"/>
                      </a:defRPr>
                    </a:pPr>
                    <a:r>
                      <a:t>8.7%</a:t>
                    </a:r>
                  </a:p>
                </c:rich>
              </c:tx>
              <c:showLegendKey val="0"/>
              <c:showVal val="1"/>
              <c:showCatName val="0"/>
              <c:showSerName val="0"/>
              <c:showPercent val="0"/>
              <c:showBubbleSize val="0"/>
            </c:dLbl>
            <c:dLbl>
              <c:idx val="5"/>
              <c:tx>
                <c:rich>
                  <a:bodyPr/>
                  <a:lstStyle/>
                  <a:p>
                    <a:pPr>
                      <a:defRPr sz="850" b="1">
                        <a:solidFill>
                          <a:srgbClr val="FFFFFF"/>
                        </a:solidFill>
                        <a:latin typeface="Calibri"/>
                      </a:defRPr>
                    </a:pPr>
                    <a:r>
                      <a:t>7.4%</a:t>
                    </a:r>
                  </a:p>
                </c:rich>
              </c:tx>
              <c:showLegendKey val="0"/>
              <c:showVal val="1"/>
              <c:showCatName val="0"/>
              <c:showSerName val="0"/>
              <c:showPercent val="0"/>
              <c:showBubbleSize val="0"/>
            </c:dLbl>
            <c:dLbl>
              <c:idx val="6"/>
              <c:tx>
                <c:rich>
                  <a:bodyPr/>
                  <a:lstStyle/>
                  <a:p>
                    <a:pPr>
                      <a:defRPr sz="850" b="1">
                        <a:solidFill>
                          <a:srgbClr val="FFFFFF"/>
                        </a:solidFill>
                        <a:latin typeface="Calibri"/>
                      </a:defRPr>
                    </a:pPr>
                    <a:r>
                      <a:t>5.0%</a:t>
                    </a:r>
                  </a:p>
                </c:rich>
              </c:tx>
              <c:showLegendKey val="0"/>
              <c:showVal val="1"/>
              <c:showCatName val="0"/>
              <c:showSerName val="0"/>
              <c:showPercent val="0"/>
              <c:showBubbleSize val="0"/>
            </c:dLbl>
            <c:dLbl>
              <c:idx val="7"/>
              <c:tx>
                <c:rich>
                  <a:bodyPr/>
                  <a:lstStyle/>
                  <a:p>
                    <a:pPr>
                      <a:defRPr sz="850" b="1">
                        <a:solidFill>
                          <a:srgbClr val="FFFFFF"/>
                        </a:solidFill>
                        <a:latin typeface="Calibri"/>
                      </a:defRPr>
                    </a:pPr>
                    <a:r>
                      <a:t>3.1%</a:t>
                    </a:r>
                  </a:p>
                </c:rich>
              </c:tx>
              <c:showLegendKey val="0"/>
              <c:showVal val="1"/>
              <c:showCatName val="0"/>
              <c:showSerName val="0"/>
              <c:showPercent val="0"/>
              <c:showBubbleSize val="0"/>
            </c:dLbl>
            <c:dLbl>
              <c:idx val="8"/>
              <c:tx>
                <c:rich>
                  <a:bodyPr/>
                  <a:lstStyle/>
                  <a:p>
                    <a:pPr>
                      <a:defRPr sz="850" b="1">
                        <a:solidFill>
                          <a:srgbClr val="2E2E2E"/>
                        </a:solidFill>
                        <a:latin typeface="Calibri"/>
                      </a:defRPr>
                    </a:pPr>
                    <a:r>
                      <a:t>26.8%</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f>Sheet1!$B$2:$B$10</c:f>
              <c:numCache>
                <c:formatCode>General</c:formatCode>
                <c:ptCount val="9"/>
                <c:pt idx="0">
                  <c:v>18.37549448147982</c:v>
                </c:pt>
                <c:pt idx="1">
                  <c:v>13.506860544917368</c:v>
                </c:pt>
                <c:pt idx="2">
                  <c:v>9.018334357772934</c:v>
                </c:pt>
                <c:pt idx="3">
                  <c:v>8.012018797426348</c:v>
                </c:pt>
                <c:pt idx="4">
                  <c:v>8.659500702792569</c:v>
                </c:pt>
                <c:pt idx="5">
                  <c:v>7.446236638942668</c:v>
                </c:pt>
                <c:pt idx="6">
                  <c:v>5.048380480706809</c:v>
                </c:pt>
                <c:pt idx="7">
                  <c:v>3.083338281460257</c:v>
                </c:pt>
                <c:pt idx="8">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8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tx>
                <c:rich>
                  <a:bodyPr/>
                  <a:lstStyle/>
                  <a:p>
                    <a:pPr>
                      <a:defRPr sz="850" b="1">
                        <a:solidFill>
                          <a:srgbClr val="FFFFFF"/>
                        </a:solidFill>
                        <a:latin typeface="Calibri"/>
                      </a:defRPr>
                    </a:pPr>
                    <a:r>
                      <a:t>12.8%</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11.0%</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12.4%</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12.7%</a:t>
                    </a:r>
                  </a:p>
                </c:rich>
              </c:tx>
              <c:showLegendKey val="0"/>
              <c:showVal val="1"/>
              <c:showCatName val="0"/>
              <c:showSerName val="0"/>
              <c:showPercent val="0"/>
              <c:showBubbleSize val="0"/>
            </c:dLbl>
            <c:dLbl>
              <c:idx val="4"/>
              <c:tx>
                <c:rich>
                  <a:bodyPr/>
                  <a:lstStyle/>
                  <a:p>
                    <a:pPr>
                      <a:defRPr sz="850" b="1">
                        <a:solidFill>
                          <a:srgbClr val="FFFFFF"/>
                        </a:solidFill>
                        <a:latin typeface="Calibri"/>
                      </a:defRPr>
                    </a:pPr>
                    <a:r>
                      <a:t>10.1%</a:t>
                    </a:r>
                  </a:p>
                </c:rich>
              </c:tx>
              <c:showLegendKey val="0"/>
              <c:showVal val="1"/>
              <c:showCatName val="0"/>
              <c:showSerName val="0"/>
              <c:showPercent val="0"/>
              <c:showBubbleSize val="0"/>
            </c:dLbl>
            <c:dLbl>
              <c:idx val="5"/>
              <c:tx>
                <c:rich>
                  <a:bodyPr/>
                  <a:lstStyle/>
                  <a:p>
                    <a:pPr>
                      <a:defRPr sz="850" b="1">
                        <a:solidFill>
                          <a:srgbClr val="FFFFFF"/>
                        </a:solidFill>
                        <a:latin typeface="Calibri"/>
                      </a:defRPr>
                    </a:pPr>
                    <a:r>
                      <a:t>6.2%</a:t>
                    </a:r>
                  </a:p>
                </c:rich>
              </c:tx>
              <c:showLegendKey val="0"/>
              <c:showVal val="1"/>
              <c:showCatName val="0"/>
              <c:showSerName val="0"/>
              <c:showPercent val="0"/>
              <c:showBubbleSize val="0"/>
            </c:dLbl>
            <c:dLbl>
              <c:idx val="6"/>
              <c:tx>
                <c:rich>
                  <a:bodyPr/>
                  <a:lstStyle/>
                  <a:p>
                    <a:pPr>
                      <a:defRPr sz="850" b="1">
                        <a:solidFill>
                          <a:srgbClr val="FFFFFF"/>
                        </a:solidFill>
                        <a:latin typeface="Calibri"/>
                      </a:defRPr>
                    </a:pPr>
                    <a:r>
                      <a:t>4.1%</a:t>
                    </a:r>
                  </a:p>
                </c:rich>
              </c:tx>
              <c:showLegendKey val="0"/>
              <c:showVal val="1"/>
              <c:showCatName val="0"/>
              <c:showSerName val="0"/>
              <c:showPercent val="0"/>
              <c:showBubbleSize val="0"/>
            </c:dLbl>
            <c:dLbl>
              <c:idx val="7"/>
              <c:tx>
                <c:rich>
                  <a:bodyPr/>
                  <a:lstStyle/>
                  <a:p>
                    <a:pPr>
                      <a:defRPr sz="850" b="1">
                        <a:solidFill>
                          <a:srgbClr val="FFFFFF"/>
                        </a:solidFill>
                        <a:latin typeface="Calibri"/>
                      </a:defRPr>
                    </a:pPr>
                    <a:r>
                      <a:t>3.6%</a:t>
                    </a:r>
                  </a:p>
                </c:rich>
              </c:tx>
              <c:showLegendKey val="0"/>
              <c:showVal val="1"/>
              <c:showCatName val="0"/>
              <c:showSerName val="0"/>
              <c:showPercent val="0"/>
              <c:showBubbleSize val="0"/>
            </c:dLbl>
            <c:dLbl>
              <c:idx val="8"/>
              <c:tx>
                <c:rich>
                  <a:bodyPr/>
                  <a:lstStyle/>
                  <a:p>
                    <a:pPr>
                      <a:defRPr sz="850" b="1">
                        <a:solidFill>
                          <a:srgbClr val="2E2E2E"/>
                        </a:solidFill>
                        <a:latin typeface="Calibri"/>
                      </a:defRPr>
                    </a:pPr>
                    <a:r>
                      <a:t>27.2%</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f>Sheet1!$B$2:$B$10</c:f>
              <c:numCache>
                <c:formatCode>General</c:formatCode>
                <c:ptCount val="9"/>
                <c:pt idx="0">
                  <c:v>12.825191395384453</c:v>
                </c:pt>
                <c:pt idx="1">
                  <c:v>10.95571182148254</c:v>
                </c:pt>
                <c:pt idx="2">
                  <c:v>12.354580159020578</c:v>
                </c:pt>
                <c:pt idx="3">
                  <c:v>12.659425329755038</c:v>
                </c:pt>
                <c:pt idx="4">
                  <c:v>10.058161896840053</c:v>
                </c:pt>
                <c:pt idx="5">
                  <c:v>6.24469615282758</c:v>
                </c:pt>
                <c:pt idx="6">
                  <c:v>4.114628946933352</c:v>
                </c:pt>
                <c:pt idx="7">
                  <c:v>3.5536186824780462</c:v>
                </c:pt>
                <c:pt idx="8">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8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tx>
                <c:rich>
                  <a:bodyPr/>
                  <a:lstStyle/>
                  <a:p>
                    <a:pPr>
                      <a:defRPr sz="850" b="1">
                        <a:solidFill>
                          <a:srgbClr val="FFFFFF"/>
                        </a:solidFill>
                        <a:latin typeface="Calibri"/>
                      </a:defRPr>
                    </a:pPr>
                    <a:r>
                      <a:t>13.2%</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14.8%</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14.9%</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11.7%</a:t>
                    </a:r>
                  </a:p>
                </c:rich>
              </c:tx>
              <c:showLegendKey val="0"/>
              <c:showVal val="1"/>
              <c:showCatName val="0"/>
              <c:showSerName val="0"/>
              <c:showPercent val="0"/>
              <c:showBubbleSize val="0"/>
            </c:dLbl>
            <c:dLbl>
              <c:idx val="4"/>
              <c:tx>
                <c:rich>
                  <a:bodyPr/>
                  <a:lstStyle/>
                  <a:p>
                    <a:pPr>
                      <a:defRPr sz="850" b="1">
                        <a:solidFill>
                          <a:srgbClr val="FFFFFF"/>
                        </a:solidFill>
                        <a:latin typeface="Calibri"/>
                      </a:defRPr>
                    </a:pPr>
                    <a:r>
                      <a:t>7.5%</a:t>
                    </a:r>
                  </a:p>
                </c:rich>
              </c:tx>
              <c:showLegendKey val="0"/>
              <c:showVal val="1"/>
              <c:showCatName val="0"/>
              <c:showSerName val="0"/>
              <c:showPercent val="0"/>
              <c:showBubbleSize val="0"/>
            </c:dLbl>
            <c:dLbl>
              <c:idx val="5"/>
              <c:tx>
                <c:rich>
                  <a:bodyPr/>
                  <a:lstStyle/>
                  <a:p>
                    <a:pPr>
                      <a:defRPr sz="850" b="1">
                        <a:solidFill>
                          <a:srgbClr val="FFFFFF"/>
                        </a:solidFill>
                        <a:latin typeface="Calibri"/>
                      </a:defRPr>
                    </a:pPr>
                    <a:r>
                      <a:t>4.9%</a:t>
                    </a:r>
                  </a:p>
                </c:rich>
              </c:tx>
              <c:showLegendKey val="0"/>
              <c:showVal val="1"/>
              <c:showCatName val="0"/>
              <c:showSerName val="0"/>
              <c:showPercent val="0"/>
              <c:showBubbleSize val="0"/>
            </c:dLbl>
            <c:dLbl>
              <c:idx val="6"/>
              <c:tx>
                <c:rich>
                  <a:bodyPr/>
                  <a:lstStyle/>
                  <a:p>
                    <a:pPr>
                      <a:defRPr sz="850" b="1">
                        <a:solidFill>
                          <a:srgbClr val="FFFFFF"/>
                        </a:solidFill>
                        <a:latin typeface="Calibri"/>
                      </a:defRPr>
                    </a:pPr>
                    <a:r>
                      <a:t>4.8%</a:t>
                    </a:r>
                  </a:p>
                </c:rich>
              </c:tx>
              <c:showLegendKey val="0"/>
              <c:showVal val="1"/>
              <c:showCatName val="0"/>
              <c:showSerName val="0"/>
              <c:showPercent val="0"/>
              <c:showBubbleSize val="0"/>
            </c:dLbl>
            <c:dLbl>
              <c:idx val="7"/>
              <c:tx>
                <c:rich>
                  <a:bodyPr/>
                  <a:lstStyle/>
                  <a:p>
                    <a:pPr>
                      <a:defRPr sz="850" b="1">
                        <a:solidFill>
                          <a:srgbClr val="FFFFFF"/>
                        </a:solidFill>
                        <a:latin typeface="Calibri"/>
                      </a:defRPr>
                    </a:pPr>
                    <a:r>
                      <a:t>4.8%</a:t>
                    </a:r>
                  </a:p>
                </c:rich>
              </c:tx>
              <c:showLegendKey val="0"/>
              <c:showVal val="1"/>
              <c:showCatName val="0"/>
              <c:showSerName val="0"/>
              <c:showPercent val="0"/>
              <c:showBubbleSize val="0"/>
            </c:dLbl>
            <c:dLbl>
              <c:idx val="8"/>
              <c:tx>
                <c:rich>
                  <a:bodyPr/>
                  <a:lstStyle/>
                  <a:p>
                    <a:pPr>
                      <a:defRPr sz="850" b="1">
                        <a:solidFill>
                          <a:srgbClr val="2E2E2E"/>
                        </a:solidFill>
                        <a:latin typeface="Calibri"/>
                      </a:defRPr>
                    </a:pPr>
                    <a:r>
                      <a:t>23.4%</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f>Sheet1!$B$2:$B$10</c:f>
              <c:numCache>
                <c:formatCode>General</c:formatCode>
                <c:ptCount val="9"/>
                <c:pt idx="0">
                  <c:v>13.241300171729673</c:v>
                </c:pt>
                <c:pt idx="1">
                  <c:v>14.757821817091273</c:v>
                </c:pt>
                <c:pt idx="2">
                  <c:v>14.928751533095168</c:v>
                </c:pt>
                <c:pt idx="3">
                  <c:v>11.734746524584317</c:v>
                </c:pt>
                <c:pt idx="4">
                  <c:v>7.483554686717547</c:v>
                </c:pt>
                <c:pt idx="5">
                  <c:v>4.943534691833558</c:v>
                </c:pt>
                <c:pt idx="6">
                  <c:v>4.751324429490797</c:v>
                </c:pt>
                <c:pt idx="7">
                  <c:v>4.789948922030665</c:v>
                </c:pt>
                <c:pt idx="8">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9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tx>
                <c:rich>
                  <a:bodyPr/>
                  <a:lstStyle/>
                  <a:p>
                    <a:pPr>
                      <a:defRPr sz="850" b="1">
                        <a:solidFill>
                          <a:srgbClr val="FFFFFF"/>
                        </a:solidFill>
                        <a:latin typeface="Calibri"/>
                      </a:defRPr>
                    </a:pPr>
                    <a:r>
                      <a:t>17.8%</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16.9%</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13.1%</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8.5%</a:t>
                    </a:r>
                  </a:p>
                </c:rich>
              </c:tx>
              <c:showLegendKey val="0"/>
              <c:showVal val="1"/>
              <c:showCatName val="0"/>
              <c:showSerName val="0"/>
              <c:showPercent val="0"/>
              <c:showBubbleSize val="0"/>
            </c:dLbl>
            <c:dLbl>
              <c:idx val="4"/>
              <c:tx>
                <c:rich>
                  <a:bodyPr/>
                  <a:lstStyle/>
                  <a:p>
                    <a:pPr>
                      <a:defRPr sz="850" b="1">
                        <a:solidFill>
                          <a:srgbClr val="FFFFFF"/>
                        </a:solidFill>
                        <a:latin typeface="Calibri"/>
                      </a:defRPr>
                    </a:pPr>
                    <a:r>
                      <a:t>6.2%</a:t>
                    </a:r>
                  </a:p>
                </c:rich>
              </c:tx>
              <c:showLegendKey val="0"/>
              <c:showVal val="1"/>
              <c:showCatName val="0"/>
              <c:showSerName val="0"/>
              <c:showPercent val="0"/>
              <c:showBubbleSize val="0"/>
            </c:dLbl>
            <c:dLbl>
              <c:idx val="5"/>
              <c:tx>
                <c:rich>
                  <a:bodyPr/>
                  <a:lstStyle/>
                  <a:p>
                    <a:pPr>
                      <a:defRPr sz="850" b="1">
                        <a:solidFill>
                          <a:srgbClr val="FFFFFF"/>
                        </a:solidFill>
                        <a:latin typeface="Calibri"/>
                      </a:defRPr>
                    </a:pPr>
                    <a:r>
                      <a:t>6.0%</a:t>
                    </a:r>
                  </a:p>
                </c:rich>
              </c:tx>
              <c:showLegendKey val="0"/>
              <c:showVal val="1"/>
              <c:showCatName val="0"/>
              <c:showSerName val="0"/>
              <c:showPercent val="0"/>
              <c:showBubbleSize val="0"/>
            </c:dLbl>
            <c:dLbl>
              <c:idx val="6"/>
              <c:tx>
                <c:rich>
                  <a:bodyPr/>
                  <a:lstStyle/>
                  <a:p>
                    <a:pPr>
                      <a:defRPr sz="850" b="1">
                        <a:solidFill>
                          <a:srgbClr val="FFFFFF"/>
                        </a:solidFill>
                        <a:latin typeface="Calibri"/>
                      </a:defRPr>
                    </a:pPr>
                    <a:r>
                      <a:t>6.3%</a:t>
                    </a:r>
                  </a:p>
                </c:rich>
              </c:tx>
              <c:showLegendKey val="0"/>
              <c:showVal val="1"/>
              <c:showCatName val="0"/>
              <c:showSerName val="0"/>
              <c:showPercent val="0"/>
              <c:showBubbleSize val="0"/>
            </c:dLbl>
            <c:dLbl>
              <c:idx val="7"/>
              <c:tx>
                <c:rich>
                  <a:bodyPr/>
                  <a:lstStyle/>
                  <a:p>
                    <a:pPr>
                      <a:defRPr sz="850" b="1">
                        <a:solidFill>
                          <a:srgbClr val="FFFFFF"/>
                        </a:solidFill>
                        <a:latin typeface="Calibri"/>
                      </a:defRPr>
                    </a:pPr>
                    <a:r>
                      <a:t>5.1%</a:t>
                    </a:r>
                  </a:p>
                </c:rich>
              </c:tx>
              <c:showLegendKey val="0"/>
              <c:showVal val="1"/>
              <c:showCatName val="0"/>
              <c:showSerName val="0"/>
              <c:showPercent val="0"/>
              <c:showBubbleSize val="0"/>
            </c:dLbl>
            <c:dLbl>
              <c:idx val="8"/>
              <c:tx>
                <c:rich>
                  <a:bodyPr/>
                  <a:lstStyle/>
                  <a:p>
                    <a:pPr>
                      <a:defRPr sz="850" b="1">
                        <a:solidFill>
                          <a:srgbClr val="2E2E2E"/>
                        </a:solidFill>
                        <a:latin typeface="Calibri"/>
                      </a:defRPr>
                    </a:pPr>
                    <a:r>
                      <a:t>20.2%</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f>Sheet1!$B$2:$B$10</c:f>
              <c:numCache>
                <c:formatCode>General</c:formatCode>
                <c:ptCount val="9"/>
                <c:pt idx="0">
                  <c:v>17.755466218387074</c:v>
                </c:pt>
                <c:pt idx="1">
                  <c:v>16.923512057220726</c:v>
                </c:pt>
                <c:pt idx="2">
                  <c:v>13.06398834839756</c:v>
                </c:pt>
                <c:pt idx="3">
                  <c:v>8.501111419992805</c:v>
                </c:pt>
                <c:pt idx="4">
                  <c:v>6.212483469935218</c:v>
                </c:pt>
                <c:pt idx="5">
                  <c:v>6.00372205577132</c:v>
                </c:pt>
                <c:pt idx="6">
                  <c:v>6.25214775447386</c:v>
                </c:pt>
                <c:pt idx="7">
                  <c:v>5.093976971379507</c:v>
                </c:pt>
                <c:pt idx="8">
                  <c:v>20.193591704441936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9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tx>
                <c:rich>
                  <a:bodyPr/>
                  <a:lstStyle/>
                  <a:p>
                    <a:pPr>
                      <a:defRPr sz="850" b="1">
                        <a:solidFill>
                          <a:srgbClr val="FFFFFF"/>
                        </a:solidFill>
                        <a:latin typeface="Calibri"/>
                      </a:defRPr>
                    </a:pPr>
                    <a:r>
                      <a:t>18.4%</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13.5%</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9.0%</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8.0%</a:t>
                    </a:r>
                  </a:p>
                </c:rich>
              </c:tx>
              <c:showLegendKey val="0"/>
              <c:showVal val="1"/>
              <c:showCatName val="0"/>
              <c:showSerName val="0"/>
              <c:showPercent val="0"/>
              <c:showBubbleSize val="0"/>
            </c:dLbl>
            <c:dLbl>
              <c:idx val="4"/>
              <c:tx>
                <c:rich>
                  <a:bodyPr/>
                  <a:lstStyle/>
                  <a:p>
                    <a:pPr>
                      <a:defRPr sz="850" b="1">
                        <a:solidFill>
                          <a:srgbClr val="FFFFFF"/>
                        </a:solidFill>
                        <a:latin typeface="Calibri"/>
                      </a:defRPr>
                    </a:pPr>
                    <a:r>
                      <a:t>8.7%</a:t>
                    </a:r>
                  </a:p>
                </c:rich>
              </c:tx>
              <c:showLegendKey val="0"/>
              <c:showVal val="1"/>
              <c:showCatName val="0"/>
              <c:showSerName val="0"/>
              <c:showPercent val="0"/>
              <c:showBubbleSize val="0"/>
            </c:dLbl>
            <c:dLbl>
              <c:idx val="5"/>
              <c:tx>
                <c:rich>
                  <a:bodyPr/>
                  <a:lstStyle/>
                  <a:p>
                    <a:pPr>
                      <a:defRPr sz="850" b="1">
                        <a:solidFill>
                          <a:srgbClr val="FFFFFF"/>
                        </a:solidFill>
                        <a:latin typeface="Calibri"/>
                      </a:defRPr>
                    </a:pPr>
                    <a:r>
                      <a:t>7.4%</a:t>
                    </a:r>
                  </a:p>
                </c:rich>
              </c:tx>
              <c:showLegendKey val="0"/>
              <c:showVal val="1"/>
              <c:showCatName val="0"/>
              <c:showSerName val="0"/>
              <c:showPercent val="0"/>
              <c:showBubbleSize val="0"/>
            </c:dLbl>
            <c:dLbl>
              <c:idx val="6"/>
              <c:tx>
                <c:rich>
                  <a:bodyPr/>
                  <a:lstStyle/>
                  <a:p>
                    <a:pPr>
                      <a:defRPr sz="850" b="1">
                        <a:solidFill>
                          <a:srgbClr val="FFFFFF"/>
                        </a:solidFill>
                        <a:latin typeface="Calibri"/>
                      </a:defRPr>
                    </a:pPr>
                    <a:r>
                      <a:t>5.0%</a:t>
                    </a:r>
                  </a:p>
                </c:rich>
              </c:tx>
              <c:showLegendKey val="0"/>
              <c:showVal val="1"/>
              <c:showCatName val="0"/>
              <c:showSerName val="0"/>
              <c:showPercent val="0"/>
              <c:showBubbleSize val="0"/>
            </c:dLbl>
            <c:dLbl>
              <c:idx val="7"/>
              <c:tx>
                <c:rich>
                  <a:bodyPr/>
                  <a:lstStyle/>
                  <a:p>
                    <a:pPr>
                      <a:defRPr sz="850" b="1">
                        <a:solidFill>
                          <a:srgbClr val="FFFFFF"/>
                        </a:solidFill>
                        <a:latin typeface="Calibri"/>
                      </a:defRPr>
                    </a:pPr>
                    <a:r>
                      <a:t>3.1%</a:t>
                    </a:r>
                  </a:p>
                </c:rich>
              </c:tx>
              <c:showLegendKey val="0"/>
              <c:showVal val="1"/>
              <c:showCatName val="0"/>
              <c:showSerName val="0"/>
              <c:showPercent val="0"/>
              <c:showBubbleSize val="0"/>
            </c:dLbl>
            <c:dLbl>
              <c:idx val="8"/>
              <c:tx>
                <c:rich>
                  <a:bodyPr/>
                  <a:lstStyle/>
                  <a:p>
                    <a:pPr>
                      <a:defRPr sz="850" b="1">
                        <a:solidFill>
                          <a:srgbClr val="2E2E2E"/>
                        </a:solidFill>
                        <a:latin typeface="Calibri"/>
                      </a:defRPr>
                    </a:pPr>
                    <a:r>
                      <a:t>26.8%</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f>Sheet1!$B$2:$B$10</c:f>
              <c:numCache>
                <c:formatCode>General</c:formatCode>
                <c:ptCount val="9"/>
                <c:pt idx="0">
                  <c:v>18.37549448147982</c:v>
                </c:pt>
                <c:pt idx="1">
                  <c:v>13.506860544917368</c:v>
                </c:pt>
                <c:pt idx="2">
                  <c:v>9.018334357772934</c:v>
                </c:pt>
                <c:pt idx="3">
                  <c:v>8.012018797426348</c:v>
                </c:pt>
                <c:pt idx="4">
                  <c:v>8.659500702792569</c:v>
                </c:pt>
                <c:pt idx="5">
                  <c:v>7.446236638942668</c:v>
                </c:pt>
                <c:pt idx="6">
                  <c:v>5.048380480706809</c:v>
                </c:pt>
                <c:pt idx="7">
                  <c:v>3.083338281460257</c:v>
                </c:pt>
                <c:pt idx="8">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9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tx>
                <c:rich>
                  <a:bodyPr/>
                  <a:lstStyle/>
                  <a:p>
                    <a:pPr>
                      <a:defRPr sz="850" b="1">
                        <a:solidFill>
                          <a:srgbClr val="FFFFFF"/>
                        </a:solidFill>
                        <a:latin typeface="Calibri"/>
                      </a:defRPr>
                    </a:pPr>
                    <a:r>
                      <a:t>17.1%</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11.6%</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11.5%</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12.6%</a:t>
                    </a:r>
                  </a:p>
                </c:rich>
              </c:tx>
              <c:showLegendKey val="0"/>
              <c:showVal val="1"/>
              <c:showCatName val="0"/>
              <c:showSerName val="0"/>
              <c:showPercent val="0"/>
              <c:showBubbleSize val="0"/>
            </c:dLbl>
            <c:dLbl>
              <c:idx val="4"/>
              <c:tx>
                <c:rich>
                  <a:bodyPr/>
                  <a:lstStyle/>
                  <a:p>
                    <a:pPr>
                      <a:defRPr sz="850" b="1">
                        <a:solidFill>
                          <a:srgbClr val="FFFFFF"/>
                        </a:solidFill>
                        <a:latin typeface="Calibri"/>
                      </a:defRPr>
                    </a:pPr>
                    <a:r>
                      <a:t>10.6%</a:t>
                    </a:r>
                  </a:p>
                </c:rich>
              </c:tx>
              <c:showLegendKey val="0"/>
              <c:showVal val="1"/>
              <c:showCatName val="0"/>
              <c:showSerName val="0"/>
              <c:showPercent val="0"/>
              <c:showBubbleSize val="0"/>
            </c:dLbl>
            <c:dLbl>
              <c:idx val="5"/>
              <c:tx>
                <c:rich>
                  <a:bodyPr/>
                  <a:lstStyle/>
                  <a:p>
                    <a:pPr>
                      <a:defRPr sz="850" b="1">
                        <a:solidFill>
                          <a:srgbClr val="FFFFFF"/>
                        </a:solidFill>
                        <a:latin typeface="Calibri"/>
                      </a:defRPr>
                    </a:pPr>
                    <a:r>
                      <a:t>6.6%</a:t>
                    </a:r>
                  </a:p>
                </c:rich>
              </c:tx>
              <c:showLegendKey val="0"/>
              <c:showVal val="1"/>
              <c:showCatName val="0"/>
              <c:showSerName val="0"/>
              <c:showPercent val="0"/>
              <c:showBubbleSize val="0"/>
            </c:dLbl>
            <c:dLbl>
              <c:idx val="6"/>
              <c:tx>
                <c:rich>
                  <a:bodyPr/>
                  <a:lstStyle/>
                  <a:p>
                    <a:pPr>
                      <a:defRPr sz="850" b="1">
                        <a:solidFill>
                          <a:srgbClr val="FFFFFF"/>
                        </a:solidFill>
                        <a:latin typeface="Calibri"/>
                      </a:defRPr>
                    </a:pPr>
                    <a:r>
                      <a:t>4.5%</a:t>
                    </a:r>
                  </a:p>
                </c:rich>
              </c:tx>
              <c:showLegendKey val="0"/>
              <c:showVal val="1"/>
              <c:showCatName val="0"/>
              <c:showSerName val="0"/>
              <c:showPercent val="0"/>
              <c:showBubbleSize val="0"/>
            </c:dLbl>
            <c:dLbl>
              <c:idx val="7"/>
              <c:tx>
                <c:rich>
                  <a:bodyPr/>
                  <a:lstStyle/>
                  <a:p>
                    <a:pPr>
                      <a:defRPr sz="850" b="1">
                        <a:solidFill>
                          <a:srgbClr val="FFFFFF"/>
                        </a:solidFill>
                        <a:latin typeface="Calibri"/>
                      </a:defRPr>
                    </a:pPr>
                    <a:r>
                      <a:t>4.2%</a:t>
                    </a:r>
                  </a:p>
                </c:rich>
              </c:tx>
              <c:showLegendKey val="0"/>
              <c:showVal val="1"/>
              <c:showCatName val="0"/>
              <c:showSerName val="0"/>
              <c:showPercent val="0"/>
              <c:showBubbleSize val="0"/>
            </c:dLbl>
            <c:dLbl>
              <c:idx val="8"/>
              <c:tx>
                <c:rich>
                  <a:bodyPr/>
                  <a:lstStyle/>
                  <a:p>
                    <a:pPr>
                      <a:defRPr sz="850" b="1">
                        <a:solidFill>
                          <a:srgbClr val="2E2E2E"/>
                        </a:solidFill>
                        <a:latin typeface="Calibri"/>
                      </a:defRPr>
                    </a:pPr>
                    <a:r>
                      <a:t>21.3%</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f>Sheet1!$B$2:$B$10</c:f>
              <c:numCache>
                <c:formatCode>General</c:formatCode>
                <c:ptCount val="9"/>
                <c:pt idx="0">
                  <c:v>17.059182852443715</c:v>
                </c:pt>
                <c:pt idx="1">
                  <c:v>11.555110199289217</c:v>
                </c:pt>
                <c:pt idx="2">
                  <c:v>11.49241996011639</c:v>
                </c:pt>
                <c:pt idx="3">
                  <c:v>12.62567293240893</c:v>
                </c:pt>
                <c:pt idx="4">
                  <c:v>10.645270539100778</c:v>
                </c:pt>
                <c:pt idx="5">
                  <c:v>6.6195232003608835</c:v>
                </c:pt>
                <c:pt idx="6">
                  <c:v>4.493101603948456</c:v>
                </c:pt>
                <c:pt idx="7">
                  <c:v>4.22083041567492</c:v>
                </c:pt>
                <c:pt idx="8">
                  <c:v>21.288888296656708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9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tx>
                <c:rich>
                  <a:bodyPr/>
                  <a:lstStyle/>
                  <a:p>
                    <a:pPr>
                      <a:defRPr sz="850" b="1">
                        <a:solidFill>
                          <a:srgbClr val="FFFFFF"/>
                        </a:solidFill>
                        <a:latin typeface="Calibri"/>
                      </a:defRPr>
                    </a:pPr>
                    <a:r>
                      <a:t>14.5%</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12.1%</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13.7%</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13.3%</a:t>
                    </a:r>
                  </a:p>
                </c:rich>
              </c:tx>
              <c:showLegendKey val="0"/>
              <c:showVal val="1"/>
              <c:showCatName val="0"/>
              <c:showSerName val="0"/>
              <c:showPercent val="0"/>
              <c:showBubbleSize val="0"/>
            </c:dLbl>
            <c:dLbl>
              <c:idx val="4"/>
              <c:tx>
                <c:rich>
                  <a:bodyPr/>
                  <a:lstStyle/>
                  <a:p>
                    <a:pPr>
                      <a:defRPr sz="850" b="1">
                        <a:solidFill>
                          <a:srgbClr val="FFFFFF"/>
                        </a:solidFill>
                        <a:latin typeface="Calibri"/>
                      </a:defRPr>
                    </a:pPr>
                    <a:r>
                      <a:t>9.4%</a:t>
                    </a:r>
                  </a:p>
                </c:rich>
              </c:tx>
              <c:showLegendKey val="0"/>
              <c:showVal val="1"/>
              <c:showCatName val="0"/>
              <c:showSerName val="0"/>
              <c:showPercent val="0"/>
              <c:showBubbleSize val="0"/>
            </c:dLbl>
            <c:dLbl>
              <c:idx val="5"/>
              <c:tx>
                <c:rich>
                  <a:bodyPr/>
                  <a:lstStyle/>
                  <a:p>
                    <a:pPr>
                      <a:defRPr sz="850" b="1">
                        <a:solidFill>
                          <a:srgbClr val="FFFFFF"/>
                        </a:solidFill>
                        <a:latin typeface="Calibri"/>
                      </a:defRPr>
                    </a:pPr>
                    <a:r>
                      <a:t>5.7%</a:t>
                    </a:r>
                  </a:p>
                </c:rich>
              </c:tx>
              <c:showLegendKey val="0"/>
              <c:showVal val="1"/>
              <c:showCatName val="0"/>
              <c:showSerName val="0"/>
              <c:showPercent val="0"/>
              <c:showBubbleSize val="0"/>
            </c:dLbl>
            <c:dLbl>
              <c:idx val="6"/>
              <c:tx>
                <c:rich>
                  <a:bodyPr/>
                  <a:lstStyle/>
                  <a:p>
                    <a:pPr>
                      <a:defRPr sz="850" b="1">
                        <a:solidFill>
                          <a:srgbClr val="FFFFFF"/>
                        </a:solidFill>
                        <a:latin typeface="Calibri"/>
                      </a:defRPr>
                    </a:pPr>
                    <a:r>
                      <a:t>4.9%</a:t>
                    </a:r>
                  </a:p>
                </c:rich>
              </c:tx>
              <c:showLegendKey val="0"/>
              <c:showVal val="1"/>
              <c:showCatName val="0"/>
              <c:showSerName val="0"/>
              <c:showPercent val="0"/>
              <c:showBubbleSize val="0"/>
            </c:dLbl>
            <c:dLbl>
              <c:idx val="7"/>
              <c:tx>
                <c:rich>
                  <a:bodyPr/>
                  <a:lstStyle/>
                  <a:p>
                    <a:pPr>
                      <a:defRPr sz="850" b="1">
                        <a:solidFill>
                          <a:srgbClr val="FFFFFF"/>
                        </a:solidFill>
                        <a:latin typeface="Calibri"/>
                      </a:defRPr>
                    </a:pPr>
                    <a:r>
                      <a:t>5.0%</a:t>
                    </a:r>
                  </a:p>
                </c:rich>
              </c:tx>
              <c:showLegendKey val="0"/>
              <c:showVal val="1"/>
              <c:showCatName val="0"/>
              <c:showSerName val="0"/>
              <c:showPercent val="0"/>
              <c:showBubbleSize val="0"/>
            </c:dLbl>
            <c:dLbl>
              <c:idx val="8"/>
              <c:tx>
                <c:rich>
                  <a:bodyPr/>
                  <a:lstStyle/>
                  <a:p>
                    <a:pPr>
                      <a:defRPr sz="850" b="1">
                        <a:solidFill>
                          <a:srgbClr val="2E2E2E"/>
                        </a:solidFill>
                        <a:latin typeface="Calibri"/>
                      </a:defRPr>
                    </a:pPr>
                    <a:r>
                      <a:t>21.3%</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f>Sheet1!$B$2:$B$10</c:f>
              <c:numCache>
                <c:formatCode>General</c:formatCode>
                <c:ptCount val="9"/>
                <c:pt idx="0">
                  <c:v>14.470398026970203</c:v>
                </c:pt>
                <c:pt idx="1">
                  <c:v>12.081105054104471</c:v>
                </c:pt>
                <c:pt idx="2">
                  <c:v>13.74136022969141</c:v>
                </c:pt>
                <c:pt idx="3">
                  <c:v>13.33322308389427</c:v>
                </c:pt>
                <c:pt idx="4">
                  <c:v>9.443383956307105</c:v>
                </c:pt>
                <c:pt idx="5">
                  <c:v>5.704118782848437</c:v>
                </c:pt>
                <c:pt idx="6">
                  <c:v>4.904026703081899</c:v>
                </c:pt>
                <c:pt idx="7">
                  <c:v>5.004667599556202</c:v>
                </c:pt>
                <c:pt idx="8">
                  <c:v>21.317716563546018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1668A8"/>
            </a:solidFill>
            <a:ln>
              <a:noFill/>
            </a:ln>
          </c:spPr>
          <c:cat>
            <c:strRef>
              <c:f>Sheet1!$A$2:$A$5</c:f>
              <c:strCache>
                <c:ptCount val="4"/>
                <c:pt idx="0">
                  <c:v>Rheumatology</c:v>
                </c:pt>
                <c:pt idx="1">
                  <c:v>Dermatology</c:v>
                </c:pt>
                <c:pt idx="2">
                  <c:v>Gastroenterology</c:v>
                </c:pt>
                <c:pt idx="3">
                  <c:v>Ophthalmology</c:v>
                </c:pt>
              </c:strCache>
            </c:strRef>
          </c:cat>
          <c:val>
            <c:numRef>
              <c:f>Sheet1!$B$2:$B$5</c:f>
              <c:numCache>
                <c:formatCode>General</c:formatCode>
                <c:ptCount val="4"/>
                <c:pt idx="0">
                  <c:v>497.38289236345554</c:v>
                </c:pt>
                <c:pt idx="1">
                  <c:v>276.711730907406</c:v>
                </c:pt>
                <c:pt idx="2">
                  <c:v>348.30129715951676</c:v>
                </c:pt>
                <c:pt idx="3">
                  <c:v>657.9740346285369</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868.5257257096687"/>
          <c:min val="0.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E3A5F"/>
            </a:solidFill>
            <a:ln>
              <a:noFill/>
            </a:ln>
          </c:spPr>
          <c:cat>
            <c:strRef>
              <c:f>Sheet1!$A$2:$A$7</c:f>
              <c:strCache>
                <c:ptCount val="6"/>
                <c:pt idx="0">
                  <c:v>North America</c:v>
                </c:pt>
                <c:pt idx="1">
                  <c:v>Latin America</c:v>
                </c:pt>
                <c:pt idx="2">
                  <c:v>Europe</c:v>
                </c:pt>
                <c:pt idx="3">
                  <c:v>East Asia</c:v>
                </c:pt>
                <c:pt idx="4">
                  <c:v>South Asia &amp; Pacific</c:v>
                </c:pt>
                <c:pt idx="5">
                  <c:v>Middle East &amp; Africa</c:v>
                </c:pt>
              </c:strCache>
            </c:strRef>
          </c:cat>
          <c:val>
            <c:numRef>
              <c:f>Sheet1!$B$2:$B$7</c:f>
              <c:numCache>
                <c:formatCode>General</c:formatCode>
                <c:ptCount val="6"/>
                <c:pt idx="0">
                  <c:v>435.45725849860173</c:v>
                </c:pt>
                <c:pt idx="1">
                  <c:v>265.0618637099404</c:v>
                </c:pt>
                <c:pt idx="2">
                  <c:v>142.94017906904892</c:v>
                </c:pt>
                <c:pt idx="3">
                  <c:v>161.51146082814105</c:v>
                </c:pt>
                <c:pt idx="4">
                  <c:v>306.7213331990621</c:v>
                </c:pt>
                <c:pt idx="5">
                  <c:v>468.67785975412096</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618.6547748754397"/>
          <c:min val="0.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9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Lbls>
            <c:dLbl>
              <c:idx val="0"/>
              <c:tx>
                <c:rich>
                  <a:bodyPr/>
                  <a:lstStyle/>
                  <a:p>
                    <a:pPr>
                      <a:defRPr sz="850" b="1">
                        <a:solidFill>
                          <a:srgbClr val="FFFFFF"/>
                        </a:solidFill>
                        <a:latin typeface="Calibri"/>
                      </a:defRPr>
                    </a:pPr>
                    <a:r>
                      <a:t>11.5%</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16.0%</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29.9%</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42.6%</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Simlandi</c:v>
                </c:pt>
                <c:pt idx="1">
                  <c:v>Cyltezo</c:v>
                </c:pt>
                <c:pt idx="2">
                  <c:v>Hulio</c:v>
                </c:pt>
                <c:pt idx="3">
                  <c:v>Other approved adalimumab biosimilars</c:v>
                </c:pt>
              </c:strCache>
            </c:strRef>
          </c:cat>
          <c:val>
            <c:numRef>
              <c:f>Sheet1!$B$2:$B$5</c:f>
              <c:numCache>
                <c:formatCode>General</c:formatCode>
                <c:ptCount val="4"/>
                <c:pt idx="0">
                  <c:v>205.13193816926483</c:v>
                </c:pt>
                <c:pt idx="1">
                  <c:v>285.18106883893796</c:v>
                </c:pt>
                <c:pt idx="2">
                  <c:v>531.7705560432444</c:v>
                </c:pt>
                <c:pt idx="3">
                  <c:v>758.286392007468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SAM</c:v>
                </c:pt>
              </c:strCache>
            </c:strRef>
          </c:tx>
          <c:spPr>
            <a:solidFill>
              <a:srgbClr val="69B1E0"/>
            </a:solidFill>
            <a:ln>
              <a:noFill/>
            </a:ln>
          </c:spPr>
          <c:cat>
            <c:strRef>
              <c:f>Sheet1!$A$2:$A$7</c:f>
              <c:strCache>
                <c:ptCount val="6"/>
                <c:pt idx="0">
                  <c:v>North America</c:v>
                </c:pt>
                <c:pt idx="1">
                  <c:v>Latin America</c:v>
                </c:pt>
                <c:pt idx="2">
                  <c:v>Europe</c:v>
                </c:pt>
                <c:pt idx="3">
                  <c:v>East Asia</c:v>
                </c:pt>
                <c:pt idx="4">
                  <c:v>South Asia &amp; Pacific</c:v>
                </c:pt>
                <c:pt idx="5">
                  <c:v>Middle East &amp; Africa</c:v>
                </c:pt>
              </c:strCache>
            </c:strRef>
          </c:cat>
          <c:val>
            <c:numRef>
              <c:f>Sheet1!$B$2:$B$7</c:f>
              <c:numCache>
                <c:formatCode>General</c:formatCode>
                <c:ptCount val="6"/>
                <c:pt idx="0">
                  <c:v>1410.6908400000002</c:v>
                </c:pt>
                <c:pt idx="1">
                  <c:v>1268.0731510141964</c:v>
                </c:pt>
                <c:pt idx="2">
                  <c:v>926.7300604523989</c:v>
                </c:pt>
                <c:pt idx="3">
                  <c:v>593.7157066707997</c:v>
                </c:pt>
                <c:pt idx="4">
                  <c:v>471.03212805549606</c:v>
                </c:pt>
                <c:pt idx="5">
                  <c:v>633.0975371410901</c:v>
                </c:pt>
              </c:numCache>
            </c:numRef>
          </c:val>
        </c:ser>
        <c:ser>
          <c:idx val="1"/>
          <c:order val="1"/>
          <c:tx>
            <c:strRef>
              <c:f>Sheet1!$C$1</c:f>
              <c:strCache>
                <c:ptCount val="1"/>
                <c:pt idx="0">
                  <c:v>SOM</c:v>
                </c:pt>
              </c:strCache>
            </c:strRef>
          </c:tx>
          <c:spPr>
            <a:solidFill>
              <a:srgbClr val="0E72AE"/>
            </a:solidFill>
            <a:ln>
              <a:noFill/>
            </a:ln>
          </c:spPr>
          <c:cat>
            <c:strRef>
              <c:f>Sheet1!$A$2:$A$7</c:f>
              <c:strCache>
                <c:ptCount val="6"/>
                <c:pt idx="0">
                  <c:v>North America</c:v>
                </c:pt>
                <c:pt idx="1">
                  <c:v>Latin America</c:v>
                </c:pt>
                <c:pt idx="2">
                  <c:v>Europe</c:v>
                </c:pt>
                <c:pt idx="3">
                  <c:v>East Asia</c:v>
                </c:pt>
                <c:pt idx="4">
                  <c:v>South Asia &amp; Pacific</c:v>
                </c:pt>
                <c:pt idx="5">
                  <c:v>Middle East &amp; Africa</c:v>
                </c:pt>
              </c:strCache>
            </c:strRef>
          </c:cat>
          <c:val>
            <c:numRef>
              <c:f>Sheet1!$C$2:$C$7</c:f>
              <c:numCache>
                <c:formatCode>General</c:formatCode>
                <c:ptCount val="6"/>
                <c:pt idx="0">
                  <c:v>435.45725849860173</c:v>
                </c:pt>
                <c:pt idx="1">
                  <c:v>265.0618637099404</c:v>
                </c:pt>
                <c:pt idx="2">
                  <c:v>142.94017906904892</c:v>
                </c:pt>
                <c:pt idx="3">
                  <c:v>161.51146082814105</c:v>
                </c:pt>
                <c:pt idx="4">
                  <c:v>306.7213331990621</c:v>
                </c:pt>
                <c:pt idx="5">
                  <c:v>468.67785975412096</c:v>
                </c:pt>
              </c:numCache>
            </c:numRef>
          </c:val>
        </c:ser>
        <c:dLbls>
          <c:numFmt formatCode="0.0&quot;%&quot;"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1805.6842752000002"/>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1668A8"/>
            </a:solidFill>
            <a:ln>
              <a:noFill/>
            </a:ln>
          </c:spPr>
          <c:cat>
            <c:strRef>
              <c:f>Sheet1!$A$2:$A$5</c:f>
              <c:strCache>
                <c:ptCount val="4"/>
                <c:pt idx="0">
                  <c:v>Rheumatology</c:v>
                </c:pt>
                <c:pt idx="1">
                  <c:v>Dermatology</c:v>
                </c:pt>
                <c:pt idx="2">
                  <c:v>Gastroenterology</c:v>
                </c:pt>
                <c:pt idx="3">
                  <c:v>Ophthalmology</c:v>
                </c:pt>
              </c:strCache>
            </c:strRef>
          </c:cat>
          <c:val>
            <c:numRef>
              <c:f>Sheet1!$B$2:$B$5</c:f>
              <c:numCache>
                <c:formatCode>General</c:formatCode>
                <c:ptCount val="4"/>
                <c:pt idx="0">
                  <c:v>179.5848132106812</c:v>
                </c:pt>
                <c:pt idx="1">
                  <c:v>249.66462773048852</c:v>
                </c:pt>
                <c:pt idx="2">
                  <c:v>465.5438681575071</c:v>
                </c:pt>
                <c:pt idx="3">
                  <c:v>663.8494292219682</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876.281246572998"/>
          <c:min val="0.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E3A5F"/>
            </a:solidFill>
            <a:ln>
              <a:noFill/>
            </a:ln>
          </c:spPr>
          <c:cat>
            <c:strRef>
              <c:f>Sheet1!$A$2:$A$7</c:f>
              <c:strCache>
                <c:ptCount val="6"/>
                <c:pt idx="0">
                  <c:v>North America</c:v>
                </c:pt>
                <c:pt idx="1">
                  <c:v>Latin America</c:v>
                </c:pt>
                <c:pt idx="2">
                  <c:v>Europe</c:v>
                </c:pt>
                <c:pt idx="3">
                  <c:v>East Asia</c:v>
                </c:pt>
                <c:pt idx="4">
                  <c:v>South Asia &amp; Pacific</c:v>
                </c:pt>
                <c:pt idx="5">
                  <c:v>Middle East &amp; Africa</c:v>
                </c:pt>
              </c:strCache>
            </c:strRef>
          </c:cat>
          <c:val>
            <c:numRef>
              <c:f>Sheet1!$B$2:$B$7</c:f>
              <c:numCache>
                <c:formatCode>General</c:formatCode>
                <c:ptCount val="6"/>
                <c:pt idx="0">
                  <c:v>203.84610029478364</c:v>
                </c:pt>
                <c:pt idx="1">
                  <c:v>113.40681016040239</c:v>
                </c:pt>
                <c:pt idx="2">
                  <c:v>142.74689026035085</c:v>
                </c:pt>
                <c:pt idx="3">
                  <c:v>269.6623529147076</c:v>
                </c:pt>
                <c:pt idx="4">
                  <c:v>398.1061062420218</c:v>
                </c:pt>
                <c:pt idx="5">
                  <c:v>430.87447844837885</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568.7543115518602"/>
          <c:min val="0.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10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Lbls>
            <c:dLbl>
              <c:idx val="0"/>
              <c:tx>
                <c:rich>
                  <a:bodyPr/>
                  <a:lstStyle/>
                  <a:p>
                    <a:pPr>
                      <a:defRPr sz="850" b="1">
                        <a:solidFill>
                          <a:srgbClr val="FFFFFF"/>
                        </a:solidFill>
                        <a:latin typeface="Calibri"/>
                      </a:defRPr>
                    </a:pPr>
                    <a:r>
                      <a:t>12.7%</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23.2%</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31.9%</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32.3%</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Simlandi</c:v>
                </c:pt>
                <c:pt idx="1">
                  <c:v>Cyltezo</c:v>
                </c:pt>
                <c:pt idx="2">
                  <c:v>Hulio</c:v>
                </c:pt>
                <c:pt idx="3">
                  <c:v>Other approved adalimumab biosimilars</c:v>
                </c:pt>
              </c:strCache>
            </c:strRef>
          </c:cat>
          <c:val>
            <c:numRef>
              <c:f>Sheet1!$B$2:$B$5</c:f>
              <c:numCache>
                <c:formatCode>General</c:formatCode>
                <c:ptCount val="4"/>
                <c:pt idx="0">
                  <c:v>197.38149082753986</c:v>
                </c:pt>
                <c:pt idx="1">
                  <c:v>361.0808682280967</c:v>
                </c:pt>
                <c:pt idx="2">
                  <c:v>497.27823653868796</c:v>
                </c:pt>
                <c:pt idx="3">
                  <c:v>502.9021427263206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10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SAM</c:v>
                </c:pt>
              </c:strCache>
            </c:strRef>
          </c:tx>
          <c:spPr>
            <a:solidFill>
              <a:srgbClr val="69B1E0"/>
            </a:solidFill>
            <a:ln>
              <a:noFill/>
            </a:ln>
          </c:spPr>
          <c:cat>
            <c:strRef>
              <c:f>Sheet1!$A$2:$A$7</c:f>
              <c:strCache>
                <c:ptCount val="6"/>
                <c:pt idx="0">
                  <c:v>North America</c:v>
                </c:pt>
                <c:pt idx="1">
                  <c:v>Latin America</c:v>
                </c:pt>
                <c:pt idx="2">
                  <c:v>Europe</c:v>
                </c:pt>
                <c:pt idx="3">
                  <c:v>East Asia</c:v>
                </c:pt>
                <c:pt idx="4">
                  <c:v>South Asia &amp; Pacific</c:v>
                </c:pt>
                <c:pt idx="5">
                  <c:v>Middle East &amp; Africa</c:v>
                </c:pt>
              </c:strCache>
            </c:strRef>
          </c:cat>
          <c:val>
            <c:numRef>
              <c:f>Sheet1!$B$2:$B$7</c:f>
              <c:numCache>
                <c:formatCode>General</c:formatCode>
                <c:ptCount val="6"/>
                <c:pt idx="0">
                  <c:v>1492.0768500000001</c:v>
                </c:pt>
                <c:pt idx="1">
                  <c:v>1341.2312174188614</c:v>
                </c:pt>
                <c:pt idx="2">
                  <c:v>980.1952562477295</c:v>
                </c:pt>
                <c:pt idx="3">
                  <c:v>627.9685359018074</c:v>
                </c:pt>
                <c:pt idx="4">
                  <c:v>498.2070585202362</c:v>
                </c:pt>
                <c:pt idx="5">
                  <c:v>669.622395053076</c:v>
                </c:pt>
              </c:numCache>
            </c:numRef>
          </c:val>
        </c:ser>
        <c:ser>
          <c:idx val="1"/>
          <c:order val="1"/>
          <c:tx>
            <c:strRef>
              <c:f>Sheet1!$C$1</c:f>
              <c:strCache>
                <c:ptCount val="1"/>
                <c:pt idx="0">
                  <c:v>SOM</c:v>
                </c:pt>
              </c:strCache>
            </c:strRef>
          </c:tx>
          <c:spPr>
            <a:solidFill>
              <a:srgbClr val="0E72AE"/>
            </a:solidFill>
            <a:ln>
              <a:noFill/>
            </a:ln>
          </c:spPr>
          <c:cat>
            <c:strRef>
              <c:f>Sheet1!$A$2:$A$7</c:f>
              <c:strCache>
                <c:ptCount val="6"/>
                <c:pt idx="0">
                  <c:v>North America</c:v>
                </c:pt>
                <c:pt idx="1">
                  <c:v>Latin America</c:v>
                </c:pt>
                <c:pt idx="2">
                  <c:v>Europe</c:v>
                </c:pt>
                <c:pt idx="3">
                  <c:v>East Asia</c:v>
                </c:pt>
                <c:pt idx="4">
                  <c:v>South Asia &amp; Pacific</c:v>
                </c:pt>
                <c:pt idx="5">
                  <c:v>Middle East &amp; Africa</c:v>
                </c:pt>
              </c:strCache>
            </c:strRef>
          </c:cat>
          <c:val>
            <c:numRef>
              <c:f>Sheet1!$C$2:$C$7</c:f>
              <c:numCache>
                <c:formatCode>General</c:formatCode>
                <c:ptCount val="6"/>
                <c:pt idx="0">
                  <c:v>203.84610029478364</c:v>
                </c:pt>
                <c:pt idx="1">
                  <c:v>113.40681016040239</c:v>
                </c:pt>
                <c:pt idx="2">
                  <c:v>142.74689026035085</c:v>
                </c:pt>
                <c:pt idx="3">
                  <c:v>269.6623529147076</c:v>
                </c:pt>
                <c:pt idx="4">
                  <c:v>398.1061062420218</c:v>
                </c:pt>
                <c:pt idx="5">
                  <c:v>430.87447844837885</c:v>
                </c:pt>
              </c:numCache>
            </c:numRef>
          </c:val>
        </c:ser>
        <c:dLbls>
          <c:numFmt formatCode="0.0&quot;%&quot;"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1909.8583680000002"/>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1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1668A8"/>
            </a:solidFill>
            <a:ln>
              <a:noFill/>
            </a:ln>
          </c:spPr>
          <c:cat>
            <c:strRef>
              <c:f>Sheet1!$A$2:$A$5</c:f>
              <c:strCache>
                <c:ptCount val="4"/>
                <c:pt idx="0">
                  <c:v>Rheumatology</c:v>
                </c:pt>
                <c:pt idx="1">
                  <c:v>Dermatology</c:v>
                </c:pt>
                <c:pt idx="2">
                  <c:v>Gastroenterology</c:v>
                </c:pt>
                <c:pt idx="3">
                  <c:v>Ophthalmology</c:v>
                </c:pt>
              </c:strCache>
            </c:strRef>
          </c:cat>
          <c:val>
            <c:numRef>
              <c:f>Sheet1!$B$2:$B$5</c:f>
              <c:numCache>
                <c:formatCode>General</c:formatCode>
                <c:ptCount val="4"/>
                <c:pt idx="0">
                  <c:v>136.1341607763514</c:v>
                </c:pt>
                <c:pt idx="1">
                  <c:v>249.03774291368262</c:v>
                </c:pt>
                <c:pt idx="2">
                  <c:v>342.97316896186305</c:v>
                </c:pt>
                <c:pt idx="3">
                  <c:v>346.85198123513356</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457.84461523037635"/>
          <c:min val="0.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E3A5F"/>
            </a:solidFill>
            <a:ln>
              <a:noFill/>
            </a:ln>
          </c:spPr>
          <c:cat>
            <c:strRef>
              <c:f>Sheet1!$A$2:$A$7</c:f>
              <c:strCache>
                <c:ptCount val="6"/>
                <c:pt idx="0">
                  <c:v>North America</c:v>
                </c:pt>
                <c:pt idx="1">
                  <c:v>Latin America</c:v>
                </c:pt>
                <c:pt idx="2">
                  <c:v>Europe</c:v>
                </c:pt>
                <c:pt idx="3">
                  <c:v>East Asia</c:v>
                </c:pt>
                <c:pt idx="4">
                  <c:v>South Asia &amp; Pacific</c:v>
                </c:pt>
                <c:pt idx="5">
                  <c:v>Middle East &amp; Africa</c:v>
                </c:pt>
              </c:strCache>
            </c:strRef>
          </c:cat>
          <c:val>
            <c:numRef>
              <c:f>Sheet1!$B$2:$B$7</c:f>
              <c:numCache>
                <c:formatCode>General</c:formatCode>
                <c:ptCount val="6"/>
                <c:pt idx="0">
                  <c:v>69.25754668597286</c:v>
                </c:pt>
                <c:pt idx="1">
                  <c:v>96.28408606353085</c:v>
                </c:pt>
                <c:pt idx="2">
                  <c:v>179.53871269427168</c:v>
                </c:pt>
                <c:pt idx="3">
                  <c:v>256.0159849533553</c:v>
                </c:pt>
                <c:pt idx="4">
                  <c:v>267.8394278874064</c:v>
                </c:pt>
                <c:pt idx="5">
                  <c:v>206.0612956024937</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353.5480448113764"/>
          <c:min val="0.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10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Lbls>
            <c:dLbl>
              <c:idx val="0"/>
              <c:tx>
                <c:rich>
                  <a:bodyPr/>
                  <a:lstStyle/>
                  <a:p>
                    <a:pPr>
                      <a:defRPr sz="850" b="1">
                        <a:solidFill>
                          <a:srgbClr val="FFFFFF"/>
                        </a:solidFill>
                        <a:latin typeface="Calibri"/>
                      </a:defRPr>
                    </a:pPr>
                    <a:r>
                      <a:t>21.9%</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29.1%</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28.5%</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20.4%</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Simlandi</c:v>
                </c:pt>
                <c:pt idx="1">
                  <c:v>Cyltezo</c:v>
                </c:pt>
                <c:pt idx="2">
                  <c:v>Hulio</c:v>
                </c:pt>
                <c:pt idx="3">
                  <c:v>Other approved adalimumab biosimilars</c:v>
                </c:pt>
              </c:strCache>
            </c:strRef>
          </c:cat>
          <c:val>
            <c:numRef>
              <c:f>Sheet1!$B$2:$B$5</c:f>
              <c:numCache>
                <c:formatCode>General</c:formatCode>
                <c:ptCount val="4"/>
                <c:pt idx="0">
                  <c:v>235.557468347549</c:v>
                </c:pt>
                <c:pt idx="1">
                  <c:v>313.316521470182</c:v>
                </c:pt>
                <c:pt idx="2">
                  <c:v>306.30160228690465</c:v>
                </c:pt>
                <c:pt idx="3">
                  <c:v>219.82146178239518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1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SAM</c:v>
                </c:pt>
              </c:strCache>
            </c:strRef>
          </c:tx>
          <c:spPr>
            <a:solidFill>
              <a:srgbClr val="69B1E0"/>
            </a:solidFill>
            <a:ln>
              <a:noFill/>
            </a:ln>
          </c:spPr>
          <c:cat>
            <c:strRef>
              <c:f>Sheet1!$A$2:$A$7</c:f>
              <c:strCache>
                <c:ptCount val="6"/>
                <c:pt idx="0">
                  <c:v>North America</c:v>
                </c:pt>
                <c:pt idx="1">
                  <c:v>Latin America</c:v>
                </c:pt>
                <c:pt idx="2">
                  <c:v>Europe</c:v>
                </c:pt>
                <c:pt idx="3">
                  <c:v>East Asia</c:v>
                </c:pt>
                <c:pt idx="4">
                  <c:v>South Asia &amp; Pacific</c:v>
                </c:pt>
                <c:pt idx="5">
                  <c:v>Middle East &amp; Africa</c:v>
                </c:pt>
              </c:strCache>
            </c:strRef>
          </c:cat>
          <c:val>
            <c:numRef>
              <c:f>Sheet1!$B$2:$B$7</c:f>
              <c:numCache>
                <c:formatCode>General</c:formatCode>
                <c:ptCount val="6"/>
                <c:pt idx="0">
                  <c:v>1573.4628600000003</c:v>
                </c:pt>
                <c:pt idx="1">
                  <c:v>1414.3892838235267</c:v>
                </c:pt>
                <c:pt idx="2">
                  <c:v>1033.6604520430603</c:v>
                </c:pt>
                <c:pt idx="3">
                  <c:v>662.2213651328151</c:v>
                </c:pt>
                <c:pt idx="4">
                  <c:v>525.3819889849764</c:v>
                </c:pt>
                <c:pt idx="5">
                  <c:v>706.147252965062</c:v>
                </c:pt>
              </c:numCache>
            </c:numRef>
          </c:val>
        </c:ser>
        <c:ser>
          <c:idx val="1"/>
          <c:order val="1"/>
          <c:tx>
            <c:strRef>
              <c:f>Sheet1!$C$1</c:f>
              <c:strCache>
                <c:ptCount val="1"/>
                <c:pt idx="0">
                  <c:v>SOM</c:v>
                </c:pt>
              </c:strCache>
            </c:strRef>
          </c:tx>
          <c:spPr>
            <a:solidFill>
              <a:srgbClr val="0E72AE"/>
            </a:solidFill>
            <a:ln>
              <a:noFill/>
            </a:ln>
          </c:spPr>
          <c:cat>
            <c:strRef>
              <c:f>Sheet1!$A$2:$A$7</c:f>
              <c:strCache>
                <c:ptCount val="6"/>
                <c:pt idx="0">
                  <c:v>North America</c:v>
                </c:pt>
                <c:pt idx="1">
                  <c:v>Latin America</c:v>
                </c:pt>
                <c:pt idx="2">
                  <c:v>Europe</c:v>
                </c:pt>
                <c:pt idx="3">
                  <c:v>East Asia</c:v>
                </c:pt>
                <c:pt idx="4">
                  <c:v>South Asia &amp; Pacific</c:v>
                </c:pt>
                <c:pt idx="5">
                  <c:v>Middle East &amp; Africa</c:v>
                </c:pt>
              </c:strCache>
            </c:strRef>
          </c:cat>
          <c:val>
            <c:numRef>
              <c:f>Sheet1!$C$2:$C$7</c:f>
              <c:numCache>
                <c:formatCode>General</c:formatCode>
                <c:ptCount val="6"/>
                <c:pt idx="0">
                  <c:v>69.25754668597286</c:v>
                </c:pt>
                <c:pt idx="1">
                  <c:v>96.28408606353085</c:v>
                </c:pt>
                <c:pt idx="2">
                  <c:v>179.53871269427168</c:v>
                </c:pt>
                <c:pt idx="3">
                  <c:v>256.0159849533553</c:v>
                </c:pt>
                <c:pt idx="4">
                  <c:v>267.8394278874064</c:v>
                </c:pt>
                <c:pt idx="5">
                  <c:v>206.0612956024937</c:v>
                </c:pt>
              </c:numCache>
            </c:numRef>
          </c:val>
        </c:ser>
        <c:dLbls>
          <c:numFmt formatCode="0.0&quot;%&quot;"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2014.0324608000005"/>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North America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North America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North America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North America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North America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North America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North America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North America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North America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By Region North America Humira Biosimilars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By Product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Market Volume Analysis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YoY Analysis Volume  (1/2)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YoY Analysis Volume  (2/2)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YoY Analysis Value  (1/2)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YoY Analysis Value  (2/2)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Form Type By Form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Form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Form Type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Form Type Market Volume Analysis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Form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Form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Form Type YoY Analysis Volume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Form Type YoY Analysis Value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Dosage / Concentration By Dosage / Concentration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Dosage / Concentration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Dosage / Concentration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Dosage / Concentration Market Volume Analysis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Dosage / Concentration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Dosage / Concentration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Dosage / Concentration YoY Analysis Volume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Dosage / Concentration YoY Analysis Value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Therapeutic Application By Therapeutic Application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Therapeutic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Therapeutic Application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Therapeutic Application Market Volume Analysis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Therapeutic Application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Therapeutic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Therapeutic Application YoY Analysis Volume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Therapeutic Application YoY Analysis Value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Buyer Type By Buyer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Buyer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Buyer Type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Buyer Type Market Volume Analysis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Buyer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Buyer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Buyer Type YoY Analysis Volume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Buyer Type YoY Analysis Value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Sales / Distribution Channel By Sales / Distribution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Sales / Distribution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Sales / Distribution Channel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Sales / Distribution Channel Market Volume Analysis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Sales / Distribution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Sales / Distribution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Sales / Distribution Channel YoY Analysis Volume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Sales / Distribution Channel YoY Analysis Value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x Therapeutic Application By Product Type x Therapeutic Application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x Therapeutic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x Therapeutic Application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x Therapeutic Application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x Therapeutic Application Market Volume Analysis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x Therapeutic Application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x Therapeutic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x Therapeutic Application YoY Analysis Volume  (1/2)</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x Therapeutic Application YoY Analysis Volume  (2/2)</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x Therapeutic Application YoY Analysis Value  (1/2)</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Product Type x Therapeutic Application YoY Analysis Value  (2/2)</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Pricing North America Pricing Assessment  (1/2)</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Pricing North America Pricing Assessment  (2/2)</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Pricing North America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Pricing Price Forecast &amp; Dynamics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Overview Key Segments (Value)  (1/2)</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Overview Key Segments (Value)  (2/2)</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Product Type Segmental  (1/2)</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Product Type Segmental  (2/2)</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Product Type Table (Volume &amp; Value)  (1/2)</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Product Type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Product Type YoY  (1/2)</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Product Type YoY  (2/2)</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Form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Form Type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Form Type YoY</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Dosage / Concentration Segmental</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Dosage / Concentration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Dosage / Concentration YoY</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Therapeutic Application Segmental</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Therapeutic Application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Therapeutic Application YoY</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Buyer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Buyer Type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Buyer Type YoY</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Sales / Distribution Channel Segmental</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Sales / Distribution Channel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Sales / Distribution Channel YoY</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Product Type x Therapeutic Application Segmental  (1/2)</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Product Type x Therapeutic Application Segmental  (2/2)</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Product Type x Therapeutic Application Table (Volume &amp; Value)  (1/2)</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Product Type x Therapeutic Application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Product Type x Therapeutic Application YoY  (1/2)</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Country Product Type x Therapeutic Application YoY  (2/2)</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Market Dynamics North America Driving Factors Market Dynamics by Geography</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Market Dynamics North America Driving Factors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Market Dynamics North America Driving Factors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Market Dynamics Market Dynamics &amp; Forces Market Drivers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Market Share by Leading Players Industry Structure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Market Share by Leading Players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Company Profiles &amp; Strategic Benchmarking Company A Snapshot</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Company Profiles &amp; Strategic Benchmarking Company A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Company Profiles &amp; Strategic Benchmarking Company A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Company Profiles &amp; Strategic Benchmarking Company A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Company Profiles &amp; Strategic Benchmarking Company A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Company Profiles &amp; Strategic Benchmarking Company B Snapshot</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Company Profiles &amp; Strategic Benchmarking Company B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Company Profiles &amp; Strategic Benchmarking Company B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Company Profiles &amp; Strategic Benchmarking Company B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Company Profiles &amp; Strategic Benchmarking Company B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Company Profiles &amp; Strategic Benchmarking Company C Snapshot</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Company Profiles &amp; Strategic Benchmarking Company C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Company Profiles &amp; Strategic Benchmarking Company C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Company Profiles &amp; Strategic Benchmarking Company C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Humira Biosimilars Market Competitor Company Profiles &amp; Strategic Benchmarking Company C Strategy Analysis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10.xml"/><Relationship Id="rId8" Type="http://schemas.openxmlformats.org/officeDocument/2006/relationships/slide" Target="slide112.xml"/><Relationship Id="rId9" Type="http://schemas.openxmlformats.org/officeDocument/2006/relationships/slide" Target="slide97.xml"/><Relationship Id="rId10" Type="http://schemas.openxmlformats.org/officeDocument/2006/relationships/slide" Target="slide151.xml"/><Relationship Id="rId11" Type="http://schemas.openxmlformats.org/officeDocument/2006/relationships/slide" Target="slide108.xml"/><Relationship Id="rId12" Type="http://schemas.openxmlformats.org/officeDocument/2006/relationships/slide" Target="slide16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4.xml"/><Relationship Id="rId5" Type="http://schemas.openxmlformats.org/officeDocument/2006/relationships/slide" Target="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 Id="rId4" Type="http://schemas.openxmlformats.org/officeDocument/2006/relationships/slide" Target="slide2.xml"/><Relationship Id="rId5" Type="http://schemas.openxmlformats.org/officeDocument/2006/relationships/slide" Target="slide5.xml"/><Relationship Id="rId6"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 Id="rId4" Type="http://schemas.openxmlformats.org/officeDocument/2006/relationships/slide" Target="slide2.xml"/><Relationship Id="rId5" Type="http://schemas.openxmlformats.org/officeDocument/2006/relationships/slide" Target="slide6.xml"/><Relationship Id="rId6"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 Id="rId4" Type="http://schemas.openxmlformats.org/officeDocument/2006/relationships/slide" Target="slide2.xml"/><Relationship Id="rId5" Type="http://schemas.openxmlformats.org/officeDocument/2006/relationships/slide" Target="slide7.xml"/><Relationship Id="rId6"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8.xml"/><Relationship Id="rId5" Type="http://schemas.openxmlformats.org/officeDocument/2006/relationships/slide" Target="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5.xml"/><Relationship Id="rId6" Type="http://schemas.openxmlformats.org/officeDocument/2006/relationships/slide" Target="slide2.xml"/><Relationship Id="rId7" Type="http://schemas.openxmlformats.org/officeDocument/2006/relationships/slide" Target="slide9.xml"/><Relationship Id="rId8"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 Id="rId4" Type="http://schemas.openxmlformats.org/officeDocument/2006/relationships/slide" Target="slide2.xml"/><Relationship Id="rId5" Type="http://schemas.openxmlformats.org/officeDocument/2006/relationships/slide" Target="slide10.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7.xml"/><Relationship Id="rId6" Type="http://schemas.openxmlformats.org/officeDocument/2006/relationships/slide" Target="slide2.xml"/><Relationship Id="rId7" Type="http://schemas.openxmlformats.org/officeDocument/2006/relationships/slide" Target="slide11.xml"/><Relationship Id="rId8" Type="http://schemas.openxmlformats.org/officeDocument/2006/relationships/slide" Target="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8.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9.xml"/><Relationship Id="rId6" Type="http://schemas.openxmlformats.org/officeDocument/2006/relationships/slide" Target="slide2.xml"/><Relationship Id="rId7" Type="http://schemas.openxmlformats.org/officeDocument/2006/relationships/slide" Target="slide13.xml"/><Relationship Id="rId8" Type="http://schemas.openxmlformats.org/officeDocument/2006/relationships/slide" Target="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 Id="rId4" Type="http://schemas.openxmlformats.org/officeDocument/2006/relationships/slide" Target="slide2.xml"/><Relationship Id="rId5" Type="http://schemas.openxmlformats.org/officeDocument/2006/relationships/slide" Target="slide14.xml"/><Relationship Id="rId6" Type="http://schemas.openxmlformats.org/officeDocument/2006/relationships/slide" Target="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1.xml"/><Relationship Id="rId5" Type="http://schemas.openxmlformats.org/officeDocument/2006/relationships/slide" Target="slide2.xml"/><Relationship Id="rId6" Type="http://schemas.openxmlformats.org/officeDocument/2006/relationships/slide" Target="slide15.xml"/><Relationship Id="rId7" Type="http://schemas.openxmlformats.org/officeDocument/2006/relationships/slide" Target="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slide" Target="slide2.xml"/><Relationship Id="rId5" Type="http://schemas.openxmlformats.org/officeDocument/2006/relationships/slide" Target="slide16.xml"/><Relationship Id="rId6" Type="http://schemas.openxmlformats.org/officeDocument/2006/relationships/slide" Target="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notesSlide" Target="../notesSlides/notesSlide13.xml"/><Relationship Id="rId6" Type="http://schemas.openxmlformats.org/officeDocument/2006/relationships/slide" Target="slide2.xml"/><Relationship Id="rId7" Type="http://schemas.openxmlformats.org/officeDocument/2006/relationships/slide" Target="slide17.xml"/><Relationship Id="rId8" Type="http://schemas.openxmlformats.org/officeDocument/2006/relationships/slide" Target="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8.xml"/><Relationship Id="rId5" Type="http://schemas.openxmlformats.org/officeDocument/2006/relationships/slide" Target="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 Id="rId4" Type="http://schemas.openxmlformats.org/officeDocument/2006/relationships/slide" Target="slide2.xml"/><Relationship Id="rId5" Type="http://schemas.openxmlformats.org/officeDocument/2006/relationships/slide" Target="slide19.xml"/><Relationship Id="rId6" Type="http://schemas.openxmlformats.org/officeDocument/2006/relationships/slide" Target="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5.xml"/><Relationship Id="rId5" Type="http://schemas.openxmlformats.org/officeDocument/2006/relationships/slide" Target="slide2.xml"/><Relationship Id="rId6" Type="http://schemas.openxmlformats.org/officeDocument/2006/relationships/slide" Target="slide20.xml"/><Relationship Id="rId7" Type="http://schemas.openxmlformats.org/officeDocument/2006/relationships/slide" Target="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notesSlide" Target="../notesSlides/notesSlide16.xml"/><Relationship Id="rId5" Type="http://schemas.openxmlformats.org/officeDocument/2006/relationships/slide" Target="slide2.xml"/><Relationship Id="rId6" Type="http://schemas.openxmlformats.org/officeDocument/2006/relationships/slide" Target="slide21.xml"/><Relationship Id="rId7" Type="http://schemas.openxmlformats.org/officeDocument/2006/relationships/slide" Target="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slide" Target="slide2.xml"/><Relationship Id="rId5" Type="http://schemas.openxmlformats.org/officeDocument/2006/relationships/slide" Target="slide22.xml"/><Relationship Id="rId6" Type="http://schemas.openxmlformats.org/officeDocument/2006/relationships/slide" Target="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 Id="rId4" Type="http://schemas.openxmlformats.org/officeDocument/2006/relationships/slide" Target="slide2.xml"/><Relationship Id="rId5" Type="http://schemas.openxmlformats.org/officeDocument/2006/relationships/slide" Target="slide23.xml"/><Relationship Id="rId6" Type="http://schemas.openxmlformats.org/officeDocument/2006/relationships/slide" Target="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xml"/><Relationship Id="rId4" Type="http://schemas.openxmlformats.org/officeDocument/2006/relationships/chart" Target="../charts/chart15.xml"/><Relationship Id="rId5" Type="http://schemas.openxmlformats.org/officeDocument/2006/relationships/notesSlide" Target="../notesSlides/notesSlide19.xml"/><Relationship Id="rId6" Type="http://schemas.openxmlformats.org/officeDocument/2006/relationships/slide" Target="slide2.xml"/><Relationship Id="rId7" Type="http://schemas.openxmlformats.org/officeDocument/2006/relationships/slide" Target="slide24.xml"/><Relationship Id="rId8" Type="http://schemas.openxmlformats.org/officeDocument/2006/relationships/slide" Target="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slide" Target="slide2.xml"/><Relationship Id="rId5" Type="http://schemas.openxmlformats.org/officeDocument/2006/relationships/slide" Target="slide25.xml"/><Relationship Id="rId6" Type="http://schemas.openxmlformats.org/officeDocument/2006/relationships/slide" Target="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26.xml"/><Relationship Id="rId5" Type="http://schemas.openxmlformats.org/officeDocument/2006/relationships/slide" Target="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slide" Target="slide2.xml"/><Relationship Id="rId5" Type="http://schemas.openxmlformats.org/officeDocument/2006/relationships/slide" Target="slide27.xml"/><Relationship Id="rId6" Type="http://schemas.openxmlformats.org/officeDocument/2006/relationships/slide" Target="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xml"/><Relationship Id="rId4" Type="http://schemas.openxmlformats.org/officeDocument/2006/relationships/chart" Target="../charts/chart17.xml"/><Relationship Id="rId5" Type="http://schemas.openxmlformats.org/officeDocument/2006/relationships/notesSlide" Target="../notesSlides/notesSlide22.xml"/><Relationship Id="rId6" Type="http://schemas.openxmlformats.org/officeDocument/2006/relationships/slide" Target="slide2.xml"/><Relationship Id="rId7" Type="http://schemas.openxmlformats.org/officeDocument/2006/relationships/slide" Target="slide28.xml"/><Relationship Id="rId8" Type="http://schemas.openxmlformats.org/officeDocument/2006/relationships/slide" Target="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8.xml"/><Relationship Id="rId4" Type="http://schemas.openxmlformats.org/officeDocument/2006/relationships/chart" Target="../charts/chart19.xml"/><Relationship Id="rId5" Type="http://schemas.openxmlformats.org/officeDocument/2006/relationships/notesSlide" Target="../notesSlides/notesSlide23.xml"/><Relationship Id="rId6" Type="http://schemas.openxmlformats.org/officeDocument/2006/relationships/slide" Target="slide2.xml"/><Relationship Id="rId7" Type="http://schemas.openxmlformats.org/officeDocument/2006/relationships/slide" Target="slide29.xml"/><Relationship Id="rId8" Type="http://schemas.openxmlformats.org/officeDocument/2006/relationships/slide" Target="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0.xml"/><Relationship Id="rId4" Type="http://schemas.openxmlformats.org/officeDocument/2006/relationships/notesSlide" Target="../notesSlides/notesSlide24.xml"/><Relationship Id="rId5" Type="http://schemas.openxmlformats.org/officeDocument/2006/relationships/slide" Target="slide2.xml"/><Relationship Id="rId6" Type="http://schemas.openxmlformats.org/officeDocument/2006/relationships/slide" Target="slide30.xml"/><Relationship Id="rId7" Type="http://schemas.openxmlformats.org/officeDocument/2006/relationships/slide" Target="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 Id="rId4" Type="http://schemas.openxmlformats.org/officeDocument/2006/relationships/slide" Target="slide2.xml"/><Relationship Id="rId5" Type="http://schemas.openxmlformats.org/officeDocument/2006/relationships/slide" Target="slide31.xml"/><Relationship Id="rId6" Type="http://schemas.openxmlformats.org/officeDocument/2006/relationships/slide" Target="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 Id="rId4" Type="http://schemas.openxmlformats.org/officeDocument/2006/relationships/slide" Target="slide2.xml"/><Relationship Id="rId5" Type="http://schemas.openxmlformats.org/officeDocument/2006/relationships/slide" Target="slide32.xml"/><Relationship Id="rId6" Type="http://schemas.openxmlformats.org/officeDocument/2006/relationships/slide" Target="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notesSlide" Target="../notesSlides/notesSlide27.xml"/><Relationship Id="rId5" Type="http://schemas.openxmlformats.org/officeDocument/2006/relationships/slide" Target="slide2.xml"/><Relationship Id="rId6" Type="http://schemas.openxmlformats.org/officeDocument/2006/relationships/slide" Target="slide33.xml"/><Relationship Id="rId7" Type="http://schemas.openxmlformats.org/officeDocument/2006/relationships/slide" Target="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 Id="rId4" Type="http://schemas.openxmlformats.org/officeDocument/2006/relationships/slide" Target="slide2.xml"/><Relationship Id="rId5" Type="http://schemas.openxmlformats.org/officeDocument/2006/relationships/slide" Target="slide34.xml"/><Relationship Id="rId6" Type="http://schemas.openxmlformats.org/officeDocument/2006/relationships/slide" Target="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 Id="rId4" Type="http://schemas.openxmlformats.org/officeDocument/2006/relationships/slide" Target="slide2.xml"/><Relationship Id="rId5" Type="http://schemas.openxmlformats.org/officeDocument/2006/relationships/slide" Target="slide35.xml"/><Relationship Id="rId6" Type="http://schemas.openxmlformats.org/officeDocument/2006/relationships/slide" Target="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 Id="rId4" Type="http://schemas.openxmlformats.org/officeDocument/2006/relationships/slide" Target="slide2.xml"/><Relationship Id="rId5" Type="http://schemas.openxmlformats.org/officeDocument/2006/relationships/slide" Target="slide36.xml"/><Relationship Id="rId6" Type="http://schemas.openxmlformats.org/officeDocument/2006/relationships/slide" Target="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 Id="rId4" Type="http://schemas.openxmlformats.org/officeDocument/2006/relationships/slide" Target="slide2.xml"/><Relationship Id="rId5" Type="http://schemas.openxmlformats.org/officeDocument/2006/relationships/slide" Target="slide37.xml"/><Relationship Id="rId6" Type="http://schemas.openxmlformats.org/officeDocument/2006/relationships/slide" Target="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38.xml"/><Relationship Id="rId5" Type="http://schemas.openxmlformats.org/officeDocument/2006/relationships/slide" Target="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 Id="rId4" Type="http://schemas.openxmlformats.org/officeDocument/2006/relationships/slide" Target="slide2.xml"/><Relationship Id="rId5" Type="http://schemas.openxmlformats.org/officeDocument/2006/relationships/slide" Target="slide39.xml"/><Relationship Id="rId6" Type="http://schemas.openxmlformats.org/officeDocument/2006/relationships/slide" Target="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2.xml"/><Relationship Id="rId4" Type="http://schemas.openxmlformats.org/officeDocument/2006/relationships/chart" Target="../charts/chart23.xml"/><Relationship Id="rId5" Type="http://schemas.openxmlformats.org/officeDocument/2006/relationships/notesSlide" Target="../notesSlides/notesSlide33.xml"/><Relationship Id="rId6" Type="http://schemas.openxmlformats.org/officeDocument/2006/relationships/slide" Target="slide2.xml"/><Relationship Id="rId7" Type="http://schemas.openxmlformats.org/officeDocument/2006/relationships/slide" Target="slide40.xml"/><Relationship Id="rId8" Type="http://schemas.openxmlformats.org/officeDocument/2006/relationships/slide" Target="slide4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4.xml"/><Relationship Id="rId4" Type="http://schemas.openxmlformats.org/officeDocument/2006/relationships/chart" Target="../charts/chart25.xml"/><Relationship Id="rId5" Type="http://schemas.openxmlformats.org/officeDocument/2006/relationships/chart" Target="../charts/chart26.xml"/><Relationship Id="rId6" Type="http://schemas.openxmlformats.org/officeDocument/2006/relationships/notesSlide" Target="../notesSlides/notesSlide34.xml"/><Relationship Id="rId7" Type="http://schemas.openxmlformats.org/officeDocument/2006/relationships/slide" Target="slide2.xml"/><Relationship Id="rId8" Type="http://schemas.openxmlformats.org/officeDocument/2006/relationships/slide" Target="slide41.xml"/><Relationship Id="rId9" Type="http://schemas.openxmlformats.org/officeDocument/2006/relationships/slide" Target="slide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 Id="rId4" Type="http://schemas.openxmlformats.org/officeDocument/2006/relationships/slide" Target="slide2.xml"/><Relationship Id="rId5" Type="http://schemas.openxmlformats.org/officeDocument/2006/relationships/slide" Target="slide42.xml"/><Relationship Id="rId6" Type="http://schemas.openxmlformats.org/officeDocument/2006/relationships/slide" Target="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 Id="rId4" Type="http://schemas.openxmlformats.org/officeDocument/2006/relationships/slide" Target="slide2.xml"/><Relationship Id="rId5" Type="http://schemas.openxmlformats.org/officeDocument/2006/relationships/slide" Target="slide43.xml"/><Relationship Id="rId6" Type="http://schemas.openxmlformats.org/officeDocument/2006/relationships/slide" Target="slide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7.xml"/><Relationship Id="rId4" Type="http://schemas.openxmlformats.org/officeDocument/2006/relationships/notesSlide" Target="../notesSlides/notesSlide37.xml"/><Relationship Id="rId5" Type="http://schemas.openxmlformats.org/officeDocument/2006/relationships/slide" Target="slide2.xml"/><Relationship Id="rId6" Type="http://schemas.openxmlformats.org/officeDocument/2006/relationships/slide" Target="slide44.xml"/><Relationship Id="rId7" Type="http://schemas.openxmlformats.org/officeDocument/2006/relationships/slide" Target="slide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 Id="rId4" Type="http://schemas.openxmlformats.org/officeDocument/2006/relationships/slide" Target="slide2.xml"/><Relationship Id="rId5" Type="http://schemas.openxmlformats.org/officeDocument/2006/relationships/slide" Target="slide45.xml"/><Relationship Id="rId6" Type="http://schemas.openxmlformats.org/officeDocument/2006/relationships/slide" Target="slide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 Id="rId4" Type="http://schemas.openxmlformats.org/officeDocument/2006/relationships/slide" Target="slide2.xml"/><Relationship Id="rId5" Type="http://schemas.openxmlformats.org/officeDocument/2006/relationships/slide" Target="slide46.xml"/><Relationship Id="rId6" Type="http://schemas.openxmlformats.org/officeDocument/2006/relationships/slide" Target="slide4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47.xml"/><Relationship Id="rId5" Type="http://schemas.openxmlformats.org/officeDocument/2006/relationships/slide" Target="slide4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 Id="rId4" Type="http://schemas.openxmlformats.org/officeDocument/2006/relationships/slide" Target="slide2.xml"/><Relationship Id="rId5" Type="http://schemas.openxmlformats.org/officeDocument/2006/relationships/slide" Target="slide48.xml"/><Relationship Id="rId6" Type="http://schemas.openxmlformats.org/officeDocument/2006/relationships/slide" Target="slide5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8.xml"/><Relationship Id="rId4" Type="http://schemas.openxmlformats.org/officeDocument/2006/relationships/chart" Target="../charts/chart29.xml"/><Relationship Id="rId5" Type="http://schemas.openxmlformats.org/officeDocument/2006/relationships/notesSlide" Target="../notesSlides/notesSlide41.xml"/><Relationship Id="rId6" Type="http://schemas.openxmlformats.org/officeDocument/2006/relationships/slide" Target="slide2.xml"/><Relationship Id="rId7" Type="http://schemas.openxmlformats.org/officeDocument/2006/relationships/slide" Target="slide49.xml"/><Relationship Id="rId8" Type="http://schemas.openxmlformats.org/officeDocument/2006/relationships/slide" Target="slide5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0.xml"/><Relationship Id="rId4" Type="http://schemas.openxmlformats.org/officeDocument/2006/relationships/chart" Target="../charts/chart31.xml"/><Relationship Id="rId5" Type="http://schemas.openxmlformats.org/officeDocument/2006/relationships/chart" Target="../charts/chart32.xml"/><Relationship Id="rId6" Type="http://schemas.openxmlformats.org/officeDocument/2006/relationships/notesSlide" Target="../notesSlides/notesSlide42.xml"/><Relationship Id="rId7" Type="http://schemas.openxmlformats.org/officeDocument/2006/relationships/slide" Target="slide2.xml"/><Relationship Id="rId8" Type="http://schemas.openxmlformats.org/officeDocument/2006/relationships/slide" Target="slide50.xml"/><Relationship Id="rId9" Type="http://schemas.openxmlformats.org/officeDocument/2006/relationships/slide" Target="slide5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 Id="rId4" Type="http://schemas.openxmlformats.org/officeDocument/2006/relationships/slide" Target="slide2.xml"/><Relationship Id="rId5" Type="http://schemas.openxmlformats.org/officeDocument/2006/relationships/slide" Target="slide51.xml"/><Relationship Id="rId6" Type="http://schemas.openxmlformats.org/officeDocument/2006/relationships/slide" Target="slide5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 Id="rId4" Type="http://schemas.openxmlformats.org/officeDocument/2006/relationships/slide" Target="slide2.xml"/><Relationship Id="rId5" Type="http://schemas.openxmlformats.org/officeDocument/2006/relationships/slide" Target="slide52.xml"/><Relationship Id="rId6" Type="http://schemas.openxmlformats.org/officeDocument/2006/relationships/slide" Target="slide5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3.xml"/><Relationship Id="rId4" Type="http://schemas.openxmlformats.org/officeDocument/2006/relationships/notesSlide" Target="../notesSlides/notesSlide45.xml"/><Relationship Id="rId5" Type="http://schemas.openxmlformats.org/officeDocument/2006/relationships/slide" Target="slide2.xml"/><Relationship Id="rId6" Type="http://schemas.openxmlformats.org/officeDocument/2006/relationships/slide" Target="slide53.xml"/><Relationship Id="rId7" Type="http://schemas.openxmlformats.org/officeDocument/2006/relationships/slide" Target="slide5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 Id="rId4" Type="http://schemas.openxmlformats.org/officeDocument/2006/relationships/slide" Target="slide2.xml"/><Relationship Id="rId5" Type="http://schemas.openxmlformats.org/officeDocument/2006/relationships/slide" Target="slide54.xml"/><Relationship Id="rId6" Type="http://schemas.openxmlformats.org/officeDocument/2006/relationships/slide" Target="slide5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 Id="rId4" Type="http://schemas.openxmlformats.org/officeDocument/2006/relationships/slide" Target="slide2.xml"/><Relationship Id="rId5" Type="http://schemas.openxmlformats.org/officeDocument/2006/relationships/slide" Target="slide55.xml"/><Relationship Id="rId6" Type="http://schemas.openxmlformats.org/officeDocument/2006/relationships/slide" Target="slide5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56.xml"/><Relationship Id="rId5" Type="http://schemas.openxmlformats.org/officeDocument/2006/relationships/slide" Target="slide5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 Id="rId4" Type="http://schemas.openxmlformats.org/officeDocument/2006/relationships/slide" Target="slide2.xml"/><Relationship Id="rId5" Type="http://schemas.openxmlformats.org/officeDocument/2006/relationships/slide" Target="slide57.xml"/><Relationship Id="rId6" Type="http://schemas.openxmlformats.org/officeDocument/2006/relationships/slide" Target="slide5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4.xml"/><Relationship Id="rId4" Type="http://schemas.openxmlformats.org/officeDocument/2006/relationships/chart" Target="../charts/chart35.xml"/><Relationship Id="rId5" Type="http://schemas.openxmlformats.org/officeDocument/2006/relationships/notesSlide" Target="../notesSlides/notesSlide49.xml"/><Relationship Id="rId6" Type="http://schemas.openxmlformats.org/officeDocument/2006/relationships/slide" Target="slide2.xml"/><Relationship Id="rId7" Type="http://schemas.openxmlformats.org/officeDocument/2006/relationships/slide" Target="slide58.xml"/><Relationship Id="rId8" Type="http://schemas.openxmlformats.org/officeDocument/2006/relationships/slide" Target="slide6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6.xml"/><Relationship Id="rId4" Type="http://schemas.openxmlformats.org/officeDocument/2006/relationships/chart" Target="../charts/chart37.xml"/><Relationship Id="rId5" Type="http://schemas.openxmlformats.org/officeDocument/2006/relationships/chart" Target="../charts/chart38.xml"/><Relationship Id="rId6" Type="http://schemas.openxmlformats.org/officeDocument/2006/relationships/notesSlide" Target="../notesSlides/notesSlide50.xml"/><Relationship Id="rId7" Type="http://schemas.openxmlformats.org/officeDocument/2006/relationships/slide" Target="slide2.xml"/><Relationship Id="rId8" Type="http://schemas.openxmlformats.org/officeDocument/2006/relationships/slide" Target="slide59.xml"/><Relationship Id="rId9" Type="http://schemas.openxmlformats.org/officeDocument/2006/relationships/slide" Target="slide6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 Id="rId4" Type="http://schemas.openxmlformats.org/officeDocument/2006/relationships/slide" Target="slide2.xml"/><Relationship Id="rId5" Type="http://schemas.openxmlformats.org/officeDocument/2006/relationships/slide" Target="slide60.xml"/><Relationship Id="rId6" Type="http://schemas.openxmlformats.org/officeDocument/2006/relationships/slide" Target="slide6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 Id="rId4" Type="http://schemas.openxmlformats.org/officeDocument/2006/relationships/slide" Target="slide2.xml"/><Relationship Id="rId5" Type="http://schemas.openxmlformats.org/officeDocument/2006/relationships/slide" Target="slide61.xml"/><Relationship Id="rId6" Type="http://schemas.openxmlformats.org/officeDocument/2006/relationships/slide" Target="slide6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9.xml"/><Relationship Id="rId4" Type="http://schemas.openxmlformats.org/officeDocument/2006/relationships/notesSlide" Target="../notesSlides/notesSlide53.xml"/><Relationship Id="rId5" Type="http://schemas.openxmlformats.org/officeDocument/2006/relationships/slide" Target="slide2.xml"/><Relationship Id="rId6" Type="http://schemas.openxmlformats.org/officeDocument/2006/relationships/slide" Target="slide62.xml"/><Relationship Id="rId7" Type="http://schemas.openxmlformats.org/officeDocument/2006/relationships/slide" Target="slide6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xml"/><Relationship Id="rId4" Type="http://schemas.openxmlformats.org/officeDocument/2006/relationships/slide" Target="slide2.xml"/><Relationship Id="rId5" Type="http://schemas.openxmlformats.org/officeDocument/2006/relationships/slide" Target="slide63.xml"/><Relationship Id="rId6" Type="http://schemas.openxmlformats.org/officeDocument/2006/relationships/slide" Target="slide6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 Id="rId4" Type="http://schemas.openxmlformats.org/officeDocument/2006/relationships/slide" Target="slide2.xml"/><Relationship Id="rId5" Type="http://schemas.openxmlformats.org/officeDocument/2006/relationships/slide" Target="slide64.xml"/><Relationship Id="rId6" Type="http://schemas.openxmlformats.org/officeDocument/2006/relationships/slide" Target="slide6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65.xml"/><Relationship Id="rId5" Type="http://schemas.openxmlformats.org/officeDocument/2006/relationships/slide" Target="slide6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 Id="rId4" Type="http://schemas.openxmlformats.org/officeDocument/2006/relationships/slide" Target="slide2.xml"/><Relationship Id="rId5" Type="http://schemas.openxmlformats.org/officeDocument/2006/relationships/slide" Target="slide66.xml"/><Relationship Id="rId6" Type="http://schemas.openxmlformats.org/officeDocument/2006/relationships/slide" Target="slide6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0.xml"/><Relationship Id="rId4" Type="http://schemas.openxmlformats.org/officeDocument/2006/relationships/chart" Target="../charts/chart41.xml"/><Relationship Id="rId5" Type="http://schemas.openxmlformats.org/officeDocument/2006/relationships/notesSlide" Target="../notesSlides/notesSlide57.xml"/><Relationship Id="rId6" Type="http://schemas.openxmlformats.org/officeDocument/2006/relationships/slide" Target="slide2.xml"/><Relationship Id="rId7" Type="http://schemas.openxmlformats.org/officeDocument/2006/relationships/slide" Target="slide67.xml"/><Relationship Id="rId8" Type="http://schemas.openxmlformats.org/officeDocument/2006/relationships/slide" Target="slide6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2.xml"/><Relationship Id="rId4" Type="http://schemas.openxmlformats.org/officeDocument/2006/relationships/chart" Target="../charts/chart43.xml"/><Relationship Id="rId5" Type="http://schemas.openxmlformats.org/officeDocument/2006/relationships/chart" Target="../charts/chart44.xml"/><Relationship Id="rId6" Type="http://schemas.openxmlformats.org/officeDocument/2006/relationships/notesSlide" Target="../notesSlides/notesSlide58.xml"/><Relationship Id="rId7" Type="http://schemas.openxmlformats.org/officeDocument/2006/relationships/slide" Target="slide2.xml"/><Relationship Id="rId8" Type="http://schemas.openxmlformats.org/officeDocument/2006/relationships/slide" Target="slide68.xml"/><Relationship Id="rId9" Type="http://schemas.openxmlformats.org/officeDocument/2006/relationships/slide" Target="slide7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 Id="rId4" Type="http://schemas.openxmlformats.org/officeDocument/2006/relationships/slide" Target="slide2.xml"/><Relationship Id="rId5" Type="http://schemas.openxmlformats.org/officeDocument/2006/relationships/slide" Target="slide69.xml"/><Relationship Id="rId6" Type="http://schemas.openxmlformats.org/officeDocument/2006/relationships/slide" Target="slide7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 Id="rId4" Type="http://schemas.openxmlformats.org/officeDocument/2006/relationships/slide" Target="slide2.xml"/><Relationship Id="rId5" Type="http://schemas.openxmlformats.org/officeDocument/2006/relationships/slide" Target="slide70.xml"/><Relationship Id="rId6" Type="http://schemas.openxmlformats.org/officeDocument/2006/relationships/slide" Target="slide7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5.xml"/><Relationship Id="rId4" Type="http://schemas.openxmlformats.org/officeDocument/2006/relationships/notesSlide" Target="../notesSlides/notesSlide61.xml"/><Relationship Id="rId5" Type="http://schemas.openxmlformats.org/officeDocument/2006/relationships/slide" Target="slide2.xml"/><Relationship Id="rId6" Type="http://schemas.openxmlformats.org/officeDocument/2006/relationships/slide" Target="slide71.xml"/><Relationship Id="rId7" Type="http://schemas.openxmlformats.org/officeDocument/2006/relationships/slide" Target="slide7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 Id="rId4" Type="http://schemas.openxmlformats.org/officeDocument/2006/relationships/slide" Target="slide2.xml"/><Relationship Id="rId5" Type="http://schemas.openxmlformats.org/officeDocument/2006/relationships/slide" Target="slide72.xml"/><Relationship Id="rId6" Type="http://schemas.openxmlformats.org/officeDocument/2006/relationships/slide" Target="slide7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 Id="rId4" Type="http://schemas.openxmlformats.org/officeDocument/2006/relationships/slide" Target="slide2.xml"/><Relationship Id="rId5" Type="http://schemas.openxmlformats.org/officeDocument/2006/relationships/slide" Target="slide73.xml"/><Relationship Id="rId6" Type="http://schemas.openxmlformats.org/officeDocument/2006/relationships/slide" Target="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74.xml"/><Relationship Id="rId5" Type="http://schemas.openxmlformats.org/officeDocument/2006/relationships/slide" Target="slide7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 Id="rId4" Type="http://schemas.openxmlformats.org/officeDocument/2006/relationships/slide" Target="slide2.xml"/><Relationship Id="rId5" Type="http://schemas.openxmlformats.org/officeDocument/2006/relationships/slide" Target="slide75.xml"/><Relationship Id="rId6" Type="http://schemas.openxmlformats.org/officeDocument/2006/relationships/slide" Target="slide7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6.xml"/><Relationship Id="rId4" Type="http://schemas.openxmlformats.org/officeDocument/2006/relationships/chart" Target="../charts/chart47.xml"/><Relationship Id="rId5" Type="http://schemas.openxmlformats.org/officeDocument/2006/relationships/notesSlide" Target="../notesSlides/notesSlide65.xml"/><Relationship Id="rId6" Type="http://schemas.openxmlformats.org/officeDocument/2006/relationships/slide" Target="slide2.xml"/><Relationship Id="rId7" Type="http://schemas.openxmlformats.org/officeDocument/2006/relationships/slide" Target="slide76.xml"/><Relationship Id="rId8" Type="http://schemas.openxmlformats.org/officeDocument/2006/relationships/slide" Target="slide7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8.xml"/><Relationship Id="rId4" Type="http://schemas.openxmlformats.org/officeDocument/2006/relationships/chart" Target="../charts/chart49.xml"/><Relationship Id="rId5" Type="http://schemas.openxmlformats.org/officeDocument/2006/relationships/chart" Target="../charts/chart50.xml"/><Relationship Id="rId6" Type="http://schemas.openxmlformats.org/officeDocument/2006/relationships/notesSlide" Target="../notesSlides/notesSlide66.xml"/><Relationship Id="rId7" Type="http://schemas.openxmlformats.org/officeDocument/2006/relationships/slide" Target="slide2.xml"/><Relationship Id="rId8" Type="http://schemas.openxmlformats.org/officeDocument/2006/relationships/slide" Target="slide77.xml"/><Relationship Id="rId9" Type="http://schemas.openxmlformats.org/officeDocument/2006/relationships/slide" Target="slide7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 Id="rId4" Type="http://schemas.openxmlformats.org/officeDocument/2006/relationships/slide" Target="slide2.xml"/><Relationship Id="rId5" Type="http://schemas.openxmlformats.org/officeDocument/2006/relationships/slide" Target="slide78.xml"/><Relationship Id="rId6" Type="http://schemas.openxmlformats.org/officeDocument/2006/relationships/slide" Target="slide8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 Id="rId4" Type="http://schemas.openxmlformats.org/officeDocument/2006/relationships/slide" Target="slide2.xml"/><Relationship Id="rId5" Type="http://schemas.openxmlformats.org/officeDocument/2006/relationships/slide" Target="slide79.xml"/><Relationship Id="rId6" Type="http://schemas.openxmlformats.org/officeDocument/2006/relationships/slide" Target="slide8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1.xml"/><Relationship Id="rId4" Type="http://schemas.openxmlformats.org/officeDocument/2006/relationships/notesSlide" Target="../notesSlides/notesSlide69.xml"/><Relationship Id="rId5" Type="http://schemas.openxmlformats.org/officeDocument/2006/relationships/slide" Target="slide2.xml"/><Relationship Id="rId6" Type="http://schemas.openxmlformats.org/officeDocument/2006/relationships/slide" Target="slide80.xml"/><Relationship Id="rId7" Type="http://schemas.openxmlformats.org/officeDocument/2006/relationships/slide" Target="slide8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 Id="rId4" Type="http://schemas.openxmlformats.org/officeDocument/2006/relationships/slide" Target="slide2.xml"/><Relationship Id="rId5" Type="http://schemas.openxmlformats.org/officeDocument/2006/relationships/slide" Target="slide81.xml"/><Relationship Id="rId6" Type="http://schemas.openxmlformats.org/officeDocument/2006/relationships/slide" Target="slide8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 Id="rId4" Type="http://schemas.openxmlformats.org/officeDocument/2006/relationships/slide" Target="slide2.xml"/><Relationship Id="rId5" Type="http://schemas.openxmlformats.org/officeDocument/2006/relationships/slide" Target="slide82.xml"/><Relationship Id="rId6" Type="http://schemas.openxmlformats.org/officeDocument/2006/relationships/slide" Target="slide8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83.xml"/><Relationship Id="rId5" Type="http://schemas.openxmlformats.org/officeDocument/2006/relationships/slide" Target="slide8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 Id="rId4" Type="http://schemas.openxmlformats.org/officeDocument/2006/relationships/slide" Target="slide2.xml"/><Relationship Id="rId5" Type="http://schemas.openxmlformats.org/officeDocument/2006/relationships/slide" Target="slide84.xml"/><Relationship Id="rId6" Type="http://schemas.openxmlformats.org/officeDocument/2006/relationships/slide" Target="slide8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2.xml"/><Relationship Id="rId4" Type="http://schemas.openxmlformats.org/officeDocument/2006/relationships/chart" Target="../charts/chart53.xml"/><Relationship Id="rId5" Type="http://schemas.openxmlformats.org/officeDocument/2006/relationships/notesSlide" Target="../notesSlides/notesSlide73.xml"/><Relationship Id="rId6" Type="http://schemas.openxmlformats.org/officeDocument/2006/relationships/slide" Target="slide2.xml"/><Relationship Id="rId7" Type="http://schemas.openxmlformats.org/officeDocument/2006/relationships/slide" Target="slide85.xml"/><Relationship Id="rId8" Type="http://schemas.openxmlformats.org/officeDocument/2006/relationships/slide" Target="slide8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4.xml"/><Relationship Id="rId4" Type="http://schemas.openxmlformats.org/officeDocument/2006/relationships/chart" Target="../charts/chart55.xml"/><Relationship Id="rId5" Type="http://schemas.openxmlformats.org/officeDocument/2006/relationships/notesSlide" Target="../notesSlides/notesSlide74.xml"/><Relationship Id="rId6" Type="http://schemas.openxmlformats.org/officeDocument/2006/relationships/slide" Target="slide2.xml"/><Relationship Id="rId7" Type="http://schemas.openxmlformats.org/officeDocument/2006/relationships/slide" Target="slide86.xml"/><Relationship Id="rId8" Type="http://schemas.openxmlformats.org/officeDocument/2006/relationships/slide" Target="slide8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6.xml"/><Relationship Id="rId4" Type="http://schemas.openxmlformats.org/officeDocument/2006/relationships/notesSlide" Target="../notesSlides/notesSlide75.xml"/><Relationship Id="rId5" Type="http://schemas.openxmlformats.org/officeDocument/2006/relationships/slide" Target="slide2.xml"/><Relationship Id="rId6" Type="http://schemas.openxmlformats.org/officeDocument/2006/relationships/slide" Target="slide87.xml"/><Relationship Id="rId7" Type="http://schemas.openxmlformats.org/officeDocument/2006/relationships/slide" Target="slide8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 Id="rId4" Type="http://schemas.openxmlformats.org/officeDocument/2006/relationships/slide" Target="slide2.xml"/><Relationship Id="rId5" Type="http://schemas.openxmlformats.org/officeDocument/2006/relationships/slide" Target="slide88.xml"/><Relationship Id="rId6" Type="http://schemas.openxmlformats.org/officeDocument/2006/relationships/slide" Target="slide9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 Id="rId4" Type="http://schemas.openxmlformats.org/officeDocument/2006/relationships/slide" Target="slide2.xml"/><Relationship Id="rId5" Type="http://schemas.openxmlformats.org/officeDocument/2006/relationships/slide" Target="slide89.xml"/><Relationship Id="rId6" Type="http://schemas.openxmlformats.org/officeDocument/2006/relationships/slide" Target="slide9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7.xml"/><Relationship Id="rId4" Type="http://schemas.openxmlformats.org/officeDocument/2006/relationships/notesSlide" Target="../notesSlides/notesSlide78.xml"/><Relationship Id="rId5" Type="http://schemas.openxmlformats.org/officeDocument/2006/relationships/slide" Target="slide2.xml"/><Relationship Id="rId6" Type="http://schemas.openxmlformats.org/officeDocument/2006/relationships/slide" Target="slide90.xml"/><Relationship Id="rId7" Type="http://schemas.openxmlformats.org/officeDocument/2006/relationships/slide" Target="slide9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 Id="rId4" Type="http://schemas.openxmlformats.org/officeDocument/2006/relationships/slide" Target="slide2.xml"/><Relationship Id="rId5" Type="http://schemas.openxmlformats.org/officeDocument/2006/relationships/slide" Target="slide91.xml"/><Relationship Id="rId6" Type="http://schemas.openxmlformats.org/officeDocument/2006/relationships/slide" Target="slide9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 Id="rId4" Type="http://schemas.openxmlformats.org/officeDocument/2006/relationships/slide" Target="slide2.xml"/><Relationship Id="rId5" Type="http://schemas.openxmlformats.org/officeDocument/2006/relationships/slide" Target="slide92.xml"/><Relationship Id="rId6" Type="http://schemas.openxmlformats.org/officeDocument/2006/relationships/slide" Target="slide9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 Id="rId4" Type="http://schemas.openxmlformats.org/officeDocument/2006/relationships/slide" Target="slide2.xml"/><Relationship Id="rId5" Type="http://schemas.openxmlformats.org/officeDocument/2006/relationships/slide" Target="slide93.xml"/><Relationship Id="rId6" Type="http://schemas.openxmlformats.org/officeDocument/2006/relationships/slide" Target="slide9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 Id="rId4" Type="http://schemas.openxmlformats.org/officeDocument/2006/relationships/slide" Target="slide2.xml"/><Relationship Id="rId5" Type="http://schemas.openxmlformats.org/officeDocument/2006/relationships/slide" Target="slide94.xml"/><Relationship Id="rId6" Type="http://schemas.openxmlformats.org/officeDocument/2006/relationships/slide" Target="slide9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95.xml"/><Relationship Id="rId5" Type="http://schemas.openxmlformats.org/officeDocument/2006/relationships/slide" Target="slide9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 Id="rId4" Type="http://schemas.openxmlformats.org/officeDocument/2006/relationships/slide" Target="slide2.xml"/><Relationship Id="rId5" Type="http://schemas.openxmlformats.org/officeDocument/2006/relationships/slide" Target="slide96.xml"/><Relationship Id="rId6" Type="http://schemas.openxmlformats.org/officeDocument/2006/relationships/slide" Target="slide9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 Id="rId4" Type="http://schemas.openxmlformats.org/officeDocument/2006/relationships/slide" Target="slide2.xml"/><Relationship Id="rId5" Type="http://schemas.openxmlformats.org/officeDocument/2006/relationships/slide" Target="slide97.xml"/><Relationship Id="rId6" Type="http://schemas.openxmlformats.org/officeDocument/2006/relationships/slide" Target="slide9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 Id="rId4" Type="http://schemas.openxmlformats.org/officeDocument/2006/relationships/slide" Target="slide2.xml"/><Relationship Id="rId5" Type="http://schemas.openxmlformats.org/officeDocument/2006/relationships/slide" Target="slide98.xml"/><Relationship Id="rId6" Type="http://schemas.openxmlformats.org/officeDocument/2006/relationships/slide" Target="slide10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 Id="rId4" Type="http://schemas.openxmlformats.org/officeDocument/2006/relationships/slide" Target="slide2.xml"/><Relationship Id="rId5" Type="http://schemas.openxmlformats.org/officeDocument/2006/relationships/slide" Target="slide99.xml"/><Relationship Id="rId6" Type="http://schemas.openxmlformats.org/officeDocument/2006/relationships/slide" Target="slide10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 Id="rId4" Type="http://schemas.openxmlformats.org/officeDocument/2006/relationships/slide" Target="slide2.xml"/><Relationship Id="rId5" Type="http://schemas.openxmlformats.org/officeDocument/2006/relationships/slide" Target="slide100.xml"/><Relationship Id="rId6" Type="http://schemas.openxmlformats.org/officeDocument/2006/relationships/slide" Target="slide10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 Id="rId4" Type="http://schemas.openxmlformats.org/officeDocument/2006/relationships/slide" Target="slide2.xml"/><Relationship Id="rId5" Type="http://schemas.openxmlformats.org/officeDocument/2006/relationships/slide" Target="slide101.xml"/><Relationship Id="rId6" Type="http://schemas.openxmlformats.org/officeDocument/2006/relationships/slide" Target="slide10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 Id="rId4" Type="http://schemas.openxmlformats.org/officeDocument/2006/relationships/slide" Target="slide2.xml"/><Relationship Id="rId5" Type="http://schemas.openxmlformats.org/officeDocument/2006/relationships/slide" Target="slide102.xml"/><Relationship Id="rId6" Type="http://schemas.openxmlformats.org/officeDocument/2006/relationships/slide" Target="slide10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 Id="rId4" Type="http://schemas.openxmlformats.org/officeDocument/2006/relationships/slide" Target="slide2.xml"/><Relationship Id="rId5" Type="http://schemas.openxmlformats.org/officeDocument/2006/relationships/slide" Target="slide103.xml"/><Relationship Id="rId6" Type="http://schemas.openxmlformats.org/officeDocument/2006/relationships/slide" Target="slide10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 Id="rId4" Type="http://schemas.openxmlformats.org/officeDocument/2006/relationships/slide" Target="slide2.xml"/><Relationship Id="rId5" Type="http://schemas.openxmlformats.org/officeDocument/2006/relationships/slide" Target="slide104.xml"/><Relationship Id="rId6" Type="http://schemas.openxmlformats.org/officeDocument/2006/relationships/slide" Target="slide10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 Id="rId4" Type="http://schemas.openxmlformats.org/officeDocument/2006/relationships/slide" Target="slide2.xml"/><Relationship Id="rId5" Type="http://schemas.openxmlformats.org/officeDocument/2006/relationships/slide" Target="slide105.xml"/><Relationship Id="rId6" Type="http://schemas.openxmlformats.org/officeDocument/2006/relationships/slide" Target="slide10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06.xml"/><Relationship Id="rId5" Type="http://schemas.openxmlformats.org/officeDocument/2006/relationships/slide" Target="slide10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 Id="rId4" Type="http://schemas.openxmlformats.org/officeDocument/2006/relationships/slide" Target="slide2.xml"/><Relationship Id="rId5" Type="http://schemas.openxmlformats.org/officeDocument/2006/relationships/slide" Target="slide107.xml"/><Relationship Id="rId6" Type="http://schemas.openxmlformats.org/officeDocument/2006/relationships/slide" Target="slide10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 Id="rId4" Type="http://schemas.openxmlformats.org/officeDocument/2006/relationships/slide" Target="slide2.xml"/><Relationship Id="rId5" Type="http://schemas.openxmlformats.org/officeDocument/2006/relationships/slide" Target="slide108.xml"/><Relationship Id="rId6" Type="http://schemas.openxmlformats.org/officeDocument/2006/relationships/slide" Target="slide11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 Id="rId4" Type="http://schemas.openxmlformats.org/officeDocument/2006/relationships/slide" Target="slide2.xml"/><Relationship Id="rId5" Type="http://schemas.openxmlformats.org/officeDocument/2006/relationships/slide" Target="slide109.xml"/><Relationship Id="rId6" Type="http://schemas.openxmlformats.org/officeDocument/2006/relationships/slide" Target="slide11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10.xml"/><Relationship Id="rId5" Type="http://schemas.openxmlformats.org/officeDocument/2006/relationships/slide" Target="slide1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8.xml"/><Relationship Id="rId4" Type="http://schemas.openxmlformats.org/officeDocument/2006/relationships/chart" Target="../charts/chart59.xml"/><Relationship Id="rId5" Type="http://schemas.openxmlformats.org/officeDocument/2006/relationships/chart" Target="../charts/chart60.xml"/><Relationship Id="rId6" Type="http://schemas.openxmlformats.org/officeDocument/2006/relationships/chart" Target="../charts/chart61.xml"/><Relationship Id="rId7" Type="http://schemas.openxmlformats.org/officeDocument/2006/relationships/notesSlide" Target="../notesSlides/notesSlide96.xml"/><Relationship Id="rId8" Type="http://schemas.openxmlformats.org/officeDocument/2006/relationships/slide" Target="slide2.xml"/><Relationship Id="rId9" Type="http://schemas.openxmlformats.org/officeDocument/2006/relationships/slide" Target="slide111.xml"/><Relationship Id="rId10" Type="http://schemas.openxmlformats.org/officeDocument/2006/relationships/slide" Target="slide1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2.xml"/><Relationship Id="rId4" Type="http://schemas.openxmlformats.org/officeDocument/2006/relationships/chart" Target="../charts/chart63.xml"/><Relationship Id="rId5" Type="http://schemas.openxmlformats.org/officeDocument/2006/relationships/chart" Target="../charts/chart64.xml"/><Relationship Id="rId6" Type="http://schemas.openxmlformats.org/officeDocument/2006/relationships/chart" Target="../charts/chart65.xml"/><Relationship Id="rId7" Type="http://schemas.openxmlformats.org/officeDocument/2006/relationships/notesSlide" Target="../notesSlides/notesSlide97.xml"/><Relationship Id="rId8" Type="http://schemas.openxmlformats.org/officeDocument/2006/relationships/slide" Target="slide2.xml"/><Relationship Id="rId9" Type="http://schemas.openxmlformats.org/officeDocument/2006/relationships/slide" Target="slide112.xml"/><Relationship Id="rId10" Type="http://schemas.openxmlformats.org/officeDocument/2006/relationships/slide" Target="slide11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6.xml"/><Relationship Id="rId4" Type="http://schemas.openxmlformats.org/officeDocument/2006/relationships/chart" Target="../charts/chart67.xml"/><Relationship Id="rId5" Type="http://schemas.openxmlformats.org/officeDocument/2006/relationships/chart" Target="../charts/chart68.xml"/><Relationship Id="rId6" Type="http://schemas.openxmlformats.org/officeDocument/2006/relationships/chart" Target="../charts/chart69.xml"/><Relationship Id="rId7" Type="http://schemas.openxmlformats.org/officeDocument/2006/relationships/chart" Target="../charts/chart70.xml"/><Relationship Id="rId8" Type="http://schemas.openxmlformats.org/officeDocument/2006/relationships/chart" Target="../charts/chart71.xml"/><Relationship Id="rId9" Type="http://schemas.openxmlformats.org/officeDocument/2006/relationships/chart" Target="../charts/chart72.xml"/><Relationship Id="rId10" Type="http://schemas.openxmlformats.org/officeDocument/2006/relationships/notesSlide" Target="../notesSlides/notesSlide98.xml"/><Relationship Id="rId11" Type="http://schemas.openxmlformats.org/officeDocument/2006/relationships/slide" Target="slide2.xml"/><Relationship Id="rId12" Type="http://schemas.openxmlformats.org/officeDocument/2006/relationships/slide" Target="slide113.xml"/><Relationship Id="rId13" Type="http://schemas.openxmlformats.org/officeDocument/2006/relationships/slide" Target="slide11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 Id="rId4" Type="http://schemas.openxmlformats.org/officeDocument/2006/relationships/slide" Target="slide2.xml"/><Relationship Id="rId5" Type="http://schemas.openxmlformats.org/officeDocument/2006/relationships/slide" Target="slide114.xml"/><Relationship Id="rId6" Type="http://schemas.openxmlformats.org/officeDocument/2006/relationships/slide" Target="slide11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15.xml"/><Relationship Id="rId5" Type="http://schemas.openxmlformats.org/officeDocument/2006/relationships/slide" Target="slide11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3.xml"/><Relationship Id="rId4" Type="http://schemas.openxmlformats.org/officeDocument/2006/relationships/notesSlide" Target="../notesSlides/notesSlide100.xml"/><Relationship Id="rId5" Type="http://schemas.openxmlformats.org/officeDocument/2006/relationships/slide" Target="slide2.xml"/><Relationship Id="rId6" Type="http://schemas.openxmlformats.org/officeDocument/2006/relationships/slide" Target="slide116.xml"/><Relationship Id="rId7" Type="http://schemas.openxmlformats.org/officeDocument/2006/relationships/slide" Target="slide118.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4.xml"/><Relationship Id="rId4" Type="http://schemas.openxmlformats.org/officeDocument/2006/relationships/notesSlide" Target="../notesSlides/notesSlide101.xml"/><Relationship Id="rId5" Type="http://schemas.openxmlformats.org/officeDocument/2006/relationships/slide" Target="slide2.xml"/><Relationship Id="rId6" Type="http://schemas.openxmlformats.org/officeDocument/2006/relationships/slide" Target="slide117.xml"/><Relationship Id="rId7" Type="http://schemas.openxmlformats.org/officeDocument/2006/relationships/slide" Target="slide11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 Id="rId4" Type="http://schemas.openxmlformats.org/officeDocument/2006/relationships/slide" Target="slide2.xml"/><Relationship Id="rId5" Type="http://schemas.openxmlformats.org/officeDocument/2006/relationships/slide" Target="slide118.xml"/><Relationship Id="rId6" Type="http://schemas.openxmlformats.org/officeDocument/2006/relationships/slide" Target="slide12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 Id="rId4" Type="http://schemas.openxmlformats.org/officeDocument/2006/relationships/slide" Target="slide2.xml"/><Relationship Id="rId5" Type="http://schemas.openxmlformats.org/officeDocument/2006/relationships/slide" Target="slide119.xml"/><Relationship Id="rId6" Type="http://schemas.openxmlformats.org/officeDocument/2006/relationships/slide" Target="slide12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 Id="rId4" Type="http://schemas.openxmlformats.org/officeDocument/2006/relationships/slide" Target="slide2.xml"/><Relationship Id="rId5" Type="http://schemas.openxmlformats.org/officeDocument/2006/relationships/slide" Target="slide120.xml"/><Relationship Id="rId6" Type="http://schemas.openxmlformats.org/officeDocument/2006/relationships/slide" Target="slide12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 Id="rId4" Type="http://schemas.openxmlformats.org/officeDocument/2006/relationships/slide" Target="slide2.xml"/><Relationship Id="rId5" Type="http://schemas.openxmlformats.org/officeDocument/2006/relationships/slide" Target="slide121.xml"/><Relationship Id="rId6" Type="http://schemas.openxmlformats.org/officeDocument/2006/relationships/slide" Target="slide12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22.xml"/><Relationship Id="rId5" Type="http://schemas.openxmlformats.org/officeDocument/2006/relationships/slide" Target="slide12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5.xml"/><Relationship Id="rId4" Type="http://schemas.openxmlformats.org/officeDocument/2006/relationships/chart" Target="../charts/chart76.xml"/><Relationship Id="rId5" Type="http://schemas.openxmlformats.org/officeDocument/2006/relationships/notesSlide" Target="../notesSlides/notesSlide106.xml"/><Relationship Id="rId6" Type="http://schemas.openxmlformats.org/officeDocument/2006/relationships/slide" Target="slide2.xml"/><Relationship Id="rId7" Type="http://schemas.openxmlformats.org/officeDocument/2006/relationships/slide" Target="slide123.xml"/><Relationship Id="rId8" Type="http://schemas.openxmlformats.org/officeDocument/2006/relationships/slide" Target="slide12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 Id="rId4" Type="http://schemas.openxmlformats.org/officeDocument/2006/relationships/slide" Target="slide2.xml"/><Relationship Id="rId5" Type="http://schemas.openxmlformats.org/officeDocument/2006/relationships/slide" Target="slide124.xml"/><Relationship Id="rId6" Type="http://schemas.openxmlformats.org/officeDocument/2006/relationships/slide" Target="slide12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 Id="rId4" Type="http://schemas.openxmlformats.org/officeDocument/2006/relationships/slide" Target="slide2.xml"/><Relationship Id="rId5" Type="http://schemas.openxmlformats.org/officeDocument/2006/relationships/slide" Target="slide125.xml"/><Relationship Id="rId6" Type="http://schemas.openxmlformats.org/officeDocument/2006/relationships/slide" Target="slide12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26.xml"/><Relationship Id="rId5" Type="http://schemas.openxmlformats.org/officeDocument/2006/relationships/slide" Target="slide12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7.xml"/><Relationship Id="rId4" Type="http://schemas.openxmlformats.org/officeDocument/2006/relationships/chart" Target="../charts/chart78.xml"/><Relationship Id="rId5" Type="http://schemas.openxmlformats.org/officeDocument/2006/relationships/notesSlide" Target="../notesSlides/notesSlide109.xml"/><Relationship Id="rId6" Type="http://schemas.openxmlformats.org/officeDocument/2006/relationships/slide" Target="slide2.xml"/><Relationship Id="rId7" Type="http://schemas.openxmlformats.org/officeDocument/2006/relationships/slide" Target="slide127.xml"/><Relationship Id="rId8" Type="http://schemas.openxmlformats.org/officeDocument/2006/relationships/slide" Target="slide129.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 Id="rId4" Type="http://schemas.openxmlformats.org/officeDocument/2006/relationships/slide" Target="slide2.xml"/><Relationship Id="rId5" Type="http://schemas.openxmlformats.org/officeDocument/2006/relationships/slide" Target="slide128.xml"/><Relationship Id="rId6" Type="http://schemas.openxmlformats.org/officeDocument/2006/relationships/slide" Target="slide13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 Id="rId4" Type="http://schemas.openxmlformats.org/officeDocument/2006/relationships/slide" Target="slide2.xml"/><Relationship Id="rId5" Type="http://schemas.openxmlformats.org/officeDocument/2006/relationships/slide" Target="slide129.xml"/><Relationship Id="rId6" Type="http://schemas.openxmlformats.org/officeDocument/2006/relationships/slide" Target="slide13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30.xml"/><Relationship Id="rId5" Type="http://schemas.openxmlformats.org/officeDocument/2006/relationships/slide" Target="slide13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9.xml"/><Relationship Id="rId4" Type="http://schemas.openxmlformats.org/officeDocument/2006/relationships/chart" Target="../charts/chart80.xml"/><Relationship Id="rId5" Type="http://schemas.openxmlformats.org/officeDocument/2006/relationships/notesSlide" Target="../notesSlides/notesSlide112.xml"/><Relationship Id="rId6" Type="http://schemas.openxmlformats.org/officeDocument/2006/relationships/slide" Target="slide2.xml"/><Relationship Id="rId7" Type="http://schemas.openxmlformats.org/officeDocument/2006/relationships/slide" Target="slide131.xml"/><Relationship Id="rId8" Type="http://schemas.openxmlformats.org/officeDocument/2006/relationships/slide" Target="slide13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3.xml"/><Relationship Id="rId4" Type="http://schemas.openxmlformats.org/officeDocument/2006/relationships/slide" Target="slide2.xml"/><Relationship Id="rId5" Type="http://schemas.openxmlformats.org/officeDocument/2006/relationships/slide" Target="slide132.xml"/><Relationship Id="rId6" Type="http://schemas.openxmlformats.org/officeDocument/2006/relationships/slide" Target="slide13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4.xml"/><Relationship Id="rId4" Type="http://schemas.openxmlformats.org/officeDocument/2006/relationships/slide" Target="slide2.xml"/><Relationship Id="rId5" Type="http://schemas.openxmlformats.org/officeDocument/2006/relationships/slide" Target="slide133.xml"/><Relationship Id="rId6" Type="http://schemas.openxmlformats.org/officeDocument/2006/relationships/slide" Target="slide13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34.xml"/><Relationship Id="rId5" Type="http://schemas.openxmlformats.org/officeDocument/2006/relationships/slide" Target="slide13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1.xml"/><Relationship Id="rId4" Type="http://schemas.openxmlformats.org/officeDocument/2006/relationships/chart" Target="../charts/chart82.xml"/><Relationship Id="rId5" Type="http://schemas.openxmlformats.org/officeDocument/2006/relationships/notesSlide" Target="../notesSlides/notesSlide115.xml"/><Relationship Id="rId6" Type="http://schemas.openxmlformats.org/officeDocument/2006/relationships/slide" Target="slide2.xml"/><Relationship Id="rId7" Type="http://schemas.openxmlformats.org/officeDocument/2006/relationships/slide" Target="slide135.xml"/><Relationship Id="rId8" Type="http://schemas.openxmlformats.org/officeDocument/2006/relationships/slide" Target="slide13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 Id="rId4" Type="http://schemas.openxmlformats.org/officeDocument/2006/relationships/slide" Target="slide2.xml"/><Relationship Id="rId5" Type="http://schemas.openxmlformats.org/officeDocument/2006/relationships/slide" Target="slide136.xml"/><Relationship Id="rId6" Type="http://schemas.openxmlformats.org/officeDocument/2006/relationships/slide" Target="slide13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7.xml"/><Relationship Id="rId4" Type="http://schemas.openxmlformats.org/officeDocument/2006/relationships/slide" Target="slide2.xml"/><Relationship Id="rId5" Type="http://schemas.openxmlformats.org/officeDocument/2006/relationships/slide" Target="slide137.xml"/><Relationship Id="rId6" Type="http://schemas.openxmlformats.org/officeDocument/2006/relationships/slide" Target="slide139.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38.xml"/><Relationship Id="rId5" Type="http://schemas.openxmlformats.org/officeDocument/2006/relationships/slide" Target="slide140.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3.xml"/><Relationship Id="rId4" Type="http://schemas.openxmlformats.org/officeDocument/2006/relationships/chart" Target="../charts/chart84.xml"/><Relationship Id="rId5" Type="http://schemas.openxmlformats.org/officeDocument/2006/relationships/notesSlide" Target="../notesSlides/notesSlide118.xml"/><Relationship Id="rId6" Type="http://schemas.openxmlformats.org/officeDocument/2006/relationships/slide" Target="slide2.xml"/><Relationship Id="rId7" Type="http://schemas.openxmlformats.org/officeDocument/2006/relationships/slide" Target="slide139.xml"/><Relationship Id="rId8" Type="http://schemas.openxmlformats.org/officeDocument/2006/relationships/slide" Target="slide14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 Id="rId4" Type="http://schemas.openxmlformats.org/officeDocument/2006/relationships/slide" Target="slide2.xml"/><Relationship Id="rId5" Type="http://schemas.openxmlformats.org/officeDocument/2006/relationships/slide" Target="slide140.xml"/><Relationship Id="rId6" Type="http://schemas.openxmlformats.org/officeDocument/2006/relationships/slide" Target="slide14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 Id="rId4" Type="http://schemas.openxmlformats.org/officeDocument/2006/relationships/slide" Target="slide2.xml"/><Relationship Id="rId5" Type="http://schemas.openxmlformats.org/officeDocument/2006/relationships/slide" Target="slide141.xml"/><Relationship Id="rId6" Type="http://schemas.openxmlformats.org/officeDocument/2006/relationships/slide" Target="slide14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42.xml"/><Relationship Id="rId5" Type="http://schemas.openxmlformats.org/officeDocument/2006/relationships/slide" Target="slide14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5.xml"/><Relationship Id="rId4" Type="http://schemas.openxmlformats.org/officeDocument/2006/relationships/notesSlide" Target="../notesSlides/notesSlide121.xml"/><Relationship Id="rId5" Type="http://schemas.openxmlformats.org/officeDocument/2006/relationships/slide" Target="slide2.xml"/><Relationship Id="rId6" Type="http://schemas.openxmlformats.org/officeDocument/2006/relationships/slide" Target="slide143.xml"/><Relationship Id="rId7" Type="http://schemas.openxmlformats.org/officeDocument/2006/relationships/slide" Target="slide14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6.xml"/><Relationship Id="rId4" Type="http://schemas.openxmlformats.org/officeDocument/2006/relationships/notesSlide" Target="../notesSlides/notesSlide122.xml"/><Relationship Id="rId5" Type="http://schemas.openxmlformats.org/officeDocument/2006/relationships/slide" Target="slide2.xml"/><Relationship Id="rId6" Type="http://schemas.openxmlformats.org/officeDocument/2006/relationships/slide" Target="slide144.xml"/><Relationship Id="rId7" Type="http://schemas.openxmlformats.org/officeDocument/2006/relationships/slide" Target="slide14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 Id="rId4" Type="http://schemas.openxmlformats.org/officeDocument/2006/relationships/slide" Target="slide2.xml"/><Relationship Id="rId5" Type="http://schemas.openxmlformats.org/officeDocument/2006/relationships/slide" Target="slide145.xml"/><Relationship Id="rId6" Type="http://schemas.openxmlformats.org/officeDocument/2006/relationships/slide" Target="slide14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 Id="rId4" Type="http://schemas.openxmlformats.org/officeDocument/2006/relationships/slide" Target="slide2.xml"/><Relationship Id="rId5" Type="http://schemas.openxmlformats.org/officeDocument/2006/relationships/slide" Target="slide146.xml"/><Relationship Id="rId6" Type="http://schemas.openxmlformats.org/officeDocument/2006/relationships/slide" Target="slide14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 Id="rId4" Type="http://schemas.openxmlformats.org/officeDocument/2006/relationships/slide" Target="slide2.xml"/><Relationship Id="rId5" Type="http://schemas.openxmlformats.org/officeDocument/2006/relationships/slide" Target="slide147.xml"/><Relationship Id="rId6" Type="http://schemas.openxmlformats.org/officeDocument/2006/relationships/slide" Target="slide149.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 Id="rId4" Type="http://schemas.openxmlformats.org/officeDocument/2006/relationships/slide" Target="slide2.xml"/><Relationship Id="rId5" Type="http://schemas.openxmlformats.org/officeDocument/2006/relationships/slide" Target="slide148.xml"/><Relationship Id="rId6" Type="http://schemas.openxmlformats.org/officeDocument/2006/relationships/slide" Target="slide15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49.xml"/><Relationship Id="rId5" Type="http://schemas.openxmlformats.org/officeDocument/2006/relationships/slide" Target="slide15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7.xml"/><Relationship Id="rId4" Type="http://schemas.openxmlformats.org/officeDocument/2006/relationships/slide" Target="slide2.xml"/><Relationship Id="rId5" Type="http://schemas.openxmlformats.org/officeDocument/2006/relationships/slide" Target="slide150.xml"/><Relationship Id="rId6" Type="http://schemas.openxmlformats.org/officeDocument/2006/relationships/slide" Target="slide15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 Id="rId4" Type="http://schemas.openxmlformats.org/officeDocument/2006/relationships/slide" Target="slide2.xml"/><Relationship Id="rId5" Type="http://schemas.openxmlformats.org/officeDocument/2006/relationships/slide" Target="slide151.xml"/><Relationship Id="rId6" Type="http://schemas.openxmlformats.org/officeDocument/2006/relationships/slide" Target="slide15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 Id="rId4" Type="http://schemas.openxmlformats.org/officeDocument/2006/relationships/slide" Target="slide2.xml"/><Relationship Id="rId5" Type="http://schemas.openxmlformats.org/officeDocument/2006/relationships/slide" Target="slide152.xml"/><Relationship Id="rId6" Type="http://schemas.openxmlformats.org/officeDocument/2006/relationships/slide" Target="slide154.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53.xml"/><Relationship Id="rId5" Type="http://schemas.openxmlformats.org/officeDocument/2006/relationships/slide" Target="slide15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 Id="rId4" Type="http://schemas.openxmlformats.org/officeDocument/2006/relationships/slide" Target="slide2.xml"/><Relationship Id="rId5" Type="http://schemas.openxmlformats.org/officeDocument/2006/relationships/slide" Target="slide154.xml"/><Relationship Id="rId6" Type="http://schemas.openxmlformats.org/officeDocument/2006/relationships/slide" Target="slide15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 Id="rId4" Type="http://schemas.openxmlformats.org/officeDocument/2006/relationships/slide" Target="slide2.xml"/><Relationship Id="rId5" Type="http://schemas.openxmlformats.org/officeDocument/2006/relationships/slide" Target="slide155.xml"/><Relationship Id="rId6" Type="http://schemas.openxmlformats.org/officeDocument/2006/relationships/slide" Target="slide15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2.xml"/><Relationship Id="rId4" Type="http://schemas.openxmlformats.org/officeDocument/2006/relationships/slide" Target="slide2.xml"/><Relationship Id="rId5" Type="http://schemas.openxmlformats.org/officeDocument/2006/relationships/slide" Target="slide156.xml"/><Relationship Id="rId6" Type="http://schemas.openxmlformats.org/officeDocument/2006/relationships/slide" Target="slide15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 Id="rId4" Type="http://schemas.openxmlformats.org/officeDocument/2006/relationships/slide" Target="slide2.xml"/><Relationship Id="rId5" Type="http://schemas.openxmlformats.org/officeDocument/2006/relationships/slide" Target="slide157.xml"/><Relationship Id="rId6" Type="http://schemas.openxmlformats.org/officeDocument/2006/relationships/slide" Target="slide15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 Id="rId4" Type="http://schemas.openxmlformats.org/officeDocument/2006/relationships/slide" Target="slide2.xml"/><Relationship Id="rId5" Type="http://schemas.openxmlformats.org/officeDocument/2006/relationships/slide" Target="slide158.xml"/><Relationship Id="rId6" Type="http://schemas.openxmlformats.org/officeDocument/2006/relationships/slide" Target="slide160.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59.xml"/><Relationship Id="rId5" Type="http://schemas.openxmlformats.org/officeDocument/2006/relationships/slide" Target="slide16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 Id="rId4" Type="http://schemas.openxmlformats.org/officeDocument/2006/relationships/slide" Target="slide2.xml"/><Relationship Id="rId5" Type="http://schemas.openxmlformats.org/officeDocument/2006/relationships/slide" Target="slide160.xml"/><Relationship Id="rId6" Type="http://schemas.openxmlformats.org/officeDocument/2006/relationships/slide" Target="slide16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 Id="rId4" Type="http://schemas.openxmlformats.org/officeDocument/2006/relationships/slide" Target="slide2.xml"/><Relationship Id="rId5" Type="http://schemas.openxmlformats.org/officeDocument/2006/relationships/slide" Target="slide161.xml"/><Relationship Id="rId6" Type="http://schemas.openxmlformats.org/officeDocument/2006/relationships/slide" Target="slide16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7.xml"/><Relationship Id="rId4" Type="http://schemas.openxmlformats.org/officeDocument/2006/relationships/notesSlide" Target="../notesSlides/notesSlide137.xml"/><Relationship Id="rId5" Type="http://schemas.openxmlformats.org/officeDocument/2006/relationships/slide" Target="slide2.xml"/><Relationship Id="rId6" Type="http://schemas.openxmlformats.org/officeDocument/2006/relationships/slide" Target="slide162.xml"/><Relationship Id="rId7" Type="http://schemas.openxmlformats.org/officeDocument/2006/relationships/slide" Target="slide16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8.xml"/><Relationship Id="rId4" Type="http://schemas.openxmlformats.org/officeDocument/2006/relationships/chart" Target="../charts/chart89.xml"/><Relationship Id="rId5" Type="http://schemas.openxmlformats.org/officeDocument/2006/relationships/chart" Target="../charts/chart90.xml"/><Relationship Id="rId6" Type="http://schemas.openxmlformats.org/officeDocument/2006/relationships/notesSlide" Target="../notesSlides/notesSlide138.xml"/><Relationship Id="rId7" Type="http://schemas.openxmlformats.org/officeDocument/2006/relationships/slide" Target="slide2.xml"/><Relationship Id="rId8" Type="http://schemas.openxmlformats.org/officeDocument/2006/relationships/slide" Target="slide163.xml"/><Relationship Id="rId9" Type="http://schemas.openxmlformats.org/officeDocument/2006/relationships/slide" Target="slide16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1.xml"/><Relationship Id="rId4" Type="http://schemas.openxmlformats.org/officeDocument/2006/relationships/chart" Target="../charts/chart92.xml"/><Relationship Id="rId5" Type="http://schemas.openxmlformats.org/officeDocument/2006/relationships/chart" Target="../charts/chart93.xml"/><Relationship Id="rId6" Type="http://schemas.openxmlformats.org/officeDocument/2006/relationships/notesSlide" Target="../notesSlides/notesSlide139.xml"/><Relationship Id="rId7" Type="http://schemas.openxmlformats.org/officeDocument/2006/relationships/slide" Target="slide2.xml"/><Relationship Id="rId8" Type="http://schemas.openxmlformats.org/officeDocument/2006/relationships/slide" Target="slide164.xml"/><Relationship Id="rId9" Type="http://schemas.openxmlformats.org/officeDocument/2006/relationships/slide" Target="slide16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 Id="rId4" Type="http://schemas.openxmlformats.org/officeDocument/2006/relationships/slide" Target="slide2.xml"/><Relationship Id="rId5" Type="http://schemas.openxmlformats.org/officeDocument/2006/relationships/slide" Target="slide165.xml"/><Relationship Id="rId6" Type="http://schemas.openxmlformats.org/officeDocument/2006/relationships/slide" Target="slide16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1.xml"/><Relationship Id="rId4" Type="http://schemas.openxmlformats.org/officeDocument/2006/relationships/slide" Target="slide2.xml"/><Relationship Id="rId5" Type="http://schemas.openxmlformats.org/officeDocument/2006/relationships/slide" Target="slide166.xml"/><Relationship Id="rId6" Type="http://schemas.openxmlformats.org/officeDocument/2006/relationships/slide" Target="slide168.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67.xml"/><Relationship Id="rId5" Type="http://schemas.openxmlformats.org/officeDocument/2006/relationships/slide" Target="slide169.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4.xml"/><Relationship Id="rId4" Type="http://schemas.openxmlformats.org/officeDocument/2006/relationships/chart" Target="../charts/chart95.xml"/><Relationship Id="rId5" Type="http://schemas.openxmlformats.org/officeDocument/2006/relationships/chart" Target="../charts/chart96.xml"/><Relationship Id="rId6" Type="http://schemas.openxmlformats.org/officeDocument/2006/relationships/notesSlide" Target="../notesSlides/notesSlide142.xml"/><Relationship Id="rId7" Type="http://schemas.openxmlformats.org/officeDocument/2006/relationships/slide" Target="slide2.xml"/><Relationship Id="rId8" Type="http://schemas.openxmlformats.org/officeDocument/2006/relationships/slide" Target="slide168.xml"/><Relationship Id="rId9" Type="http://schemas.openxmlformats.org/officeDocument/2006/relationships/slide" Target="slide170.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7.xml"/><Relationship Id="rId4" Type="http://schemas.openxmlformats.org/officeDocument/2006/relationships/notesSlide" Target="../notesSlides/notesSlide143.xml"/><Relationship Id="rId5" Type="http://schemas.openxmlformats.org/officeDocument/2006/relationships/slide" Target="slide2.xml"/><Relationship Id="rId6" Type="http://schemas.openxmlformats.org/officeDocument/2006/relationships/slide" Target="slide169.xml"/><Relationship Id="rId7" Type="http://schemas.openxmlformats.org/officeDocument/2006/relationships/slide" Target="slide17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4.xml"/><Relationship Id="rId4" Type="http://schemas.openxmlformats.org/officeDocument/2006/relationships/slide" Target="slide2.xml"/><Relationship Id="rId5" Type="http://schemas.openxmlformats.org/officeDocument/2006/relationships/slide" Target="slide170.xml"/><Relationship Id="rId6" Type="http://schemas.openxmlformats.org/officeDocument/2006/relationships/slide" Target="slide17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5.xml"/><Relationship Id="rId4" Type="http://schemas.openxmlformats.org/officeDocument/2006/relationships/slide" Target="slide2.xml"/><Relationship Id="rId5" Type="http://schemas.openxmlformats.org/officeDocument/2006/relationships/slide" Target="slide171.xml"/><Relationship Id="rId6" Type="http://schemas.openxmlformats.org/officeDocument/2006/relationships/slide" Target="slide17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 Id="rId4" Type="http://schemas.openxmlformats.org/officeDocument/2006/relationships/slide" Target="slide2.xml"/><Relationship Id="rId5" Type="http://schemas.openxmlformats.org/officeDocument/2006/relationships/slide" Target="slide172.xml"/><Relationship Id="rId6" Type="http://schemas.openxmlformats.org/officeDocument/2006/relationships/slide" Target="slide174.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8.xml"/><Relationship Id="rId4" Type="http://schemas.openxmlformats.org/officeDocument/2006/relationships/chart" Target="../charts/chart99.xml"/><Relationship Id="rId5" Type="http://schemas.openxmlformats.org/officeDocument/2006/relationships/chart" Target="../charts/chart100.xml"/><Relationship Id="rId6" Type="http://schemas.openxmlformats.org/officeDocument/2006/relationships/notesSlide" Target="../notesSlides/notesSlide147.xml"/><Relationship Id="rId7" Type="http://schemas.openxmlformats.org/officeDocument/2006/relationships/slide" Target="slide2.xml"/><Relationship Id="rId8" Type="http://schemas.openxmlformats.org/officeDocument/2006/relationships/slide" Target="slide173.xml"/><Relationship Id="rId9" Type="http://schemas.openxmlformats.org/officeDocument/2006/relationships/slide" Target="slide175.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1.xml"/><Relationship Id="rId4" Type="http://schemas.openxmlformats.org/officeDocument/2006/relationships/notesSlide" Target="../notesSlides/notesSlide148.xml"/><Relationship Id="rId5" Type="http://schemas.openxmlformats.org/officeDocument/2006/relationships/slide" Target="slide2.xml"/><Relationship Id="rId6" Type="http://schemas.openxmlformats.org/officeDocument/2006/relationships/slide" Target="slide174.xml"/><Relationship Id="rId7" Type="http://schemas.openxmlformats.org/officeDocument/2006/relationships/slide" Target="slide17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 Id="rId4" Type="http://schemas.openxmlformats.org/officeDocument/2006/relationships/slide" Target="slide2.xml"/><Relationship Id="rId5" Type="http://schemas.openxmlformats.org/officeDocument/2006/relationships/slide" Target="slide175.xml"/><Relationship Id="rId6" Type="http://schemas.openxmlformats.org/officeDocument/2006/relationships/slide" Target="slide17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0.xml"/><Relationship Id="rId4" Type="http://schemas.openxmlformats.org/officeDocument/2006/relationships/slide" Target="slide2.xml"/><Relationship Id="rId5" Type="http://schemas.openxmlformats.org/officeDocument/2006/relationships/slide" Target="slide176.xml"/><Relationship Id="rId6" Type="http://schemas.openxmlformats.org/officeDocument/2006/relationships/slide" Target="slide178.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 Id="rId4" Type="http://schemas.openxmlformats.org/officeDocument/2006/relationships/slide" Target="slide2.xml"/><Relationship Id="rId5" Type="http://schemas.openxmlformats.org/officeDocument/2006/relationships/slide" Target="slide177.xml"/><Relationship Id="rId6" Type="http://schemas.openxmlformats.org/officeDocument/2006/relationships/slide" Target="slide179.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2.xml"/><Relationship Id="rId4" Type="http://schemas.openxmlformats.org/officeDocument/2006/relationships/chart" Target="../charts/chart103.xml"/><Relationship Id="rId5" Type="http://schemas.openxmlformats.org/officeDocument/2006/relationships/chart" Target="../charts/chart104.xml"/><Relationship Id="rId6" Type="http://schemas.openxmlformats.org/officeDocument/2006/relationships/notesSlide" Target="../notesSlides/notesSlide152.xml"/><Relationship Id="rId7" Type="http://schemas.openxmlformats.org/officeDocument/2006/relationships/slide" Target="slide2.xml"/><Relationship Id="rId8" Type="http://schemas.openxmlformats.org/officeDocument/2006/relationships/slide" Target="slide178.xml"/><Relationship Id="rId9" Type="http://schemas.openxmlformats.org/officeDocument/2006/relationships/slide" Target="slide180.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5.xml"/><Relationship Id="rId4" Type="http://schemas.openxmlformats.org/officeDocument/2006/relationships/notesSlide" Target="../notesSlides/notesSlide153.xml"/><Relationship Id="rId5" Type="http://schemas.openxmlformats.org/officeDocument/2006/relationships/slide" Target="slide2.xml"/><Relationship Id="rId6" Type="http://schemas.openxmlformats.org/officeDocument/2006/relationships/slide" Target="slide179.xml"/><Relationship Id="rId7" Type="http://schemas.openxmlformats.org/officeDocument/2006/relationships/slide" Target="slide18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 Id="rId4" Type="http://schemas.openxmlformats.org/officeDocument/2006/relationships/slide" Target="slide2.xml"/><Relationship Id="rId5" Type="http://schemas.openxmlformats.org/officeDocument/2006/relationships/slide" Target="slide180.xml"/><Relationship Id="rId6" Type="http://schemas.openxmlformats.org/officeDocument/2006/relationships/slide" Target="slide18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5.xml"/><Relationship Id="rId4" Type="http://schemas.openxmlformats.org/officeDocument/2006/relationships/slide" Target="slide2.xml"/><Relationship Id="rId5" Type="http://schemas.openxmlformats.org/officeDocument/2006/relationships/slide" Target="slide181.xml"/><Relationship Id="rId6" Type="http://schemas.openxmlformats.org/officeDocument/2006/relationships/slide" Target="slide18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6.xml"/><Relationship Id="rId4" Type="http://schemas.openxmlformats.org/officeDocument/2006/relationships/slide" Target="slide2.xml"/><Relationship Id="rId5" Type="http://schemas.openxmlformats.org/officeDocument/2006/relationships/slide" Target="slide18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905000" y="4476750"/>
            <a:ext cx="5334000" cy="5334000"/>
          </a:xfrm>
          <a:prstGeom prst="ellipse">
            <a:avLst/>
          </a:prstGeom>
          <a:solidFill>
            <a:srgbClr val="EA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01000" y="-2000250"/>
            <a:ext cx="5334000" cy="533400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715375" y="-1285875"/>
            <a:ext cx="3905250" cy="390525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82125" y="-619125"/>
            <a:ext cx="2571750" cy="257175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96500" y="95250"/>
            <a:ext cx="1143000" cy="1143000"/>
          </a:xfrm>
          <a:prstGeom prst="ellipse">
            <a:avLst/>
          </a:prstGeom>
          <a:solidFill>
            <a:srgbClr val="EAF6FB">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010650" y="5848350"/>
            <a:ext cx="228600" cy="2476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91650" y="5676900"/>
            <a:ext cx="228600" cy="4191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772650" y="5772150"/>
            <a:ext cx="228600" cy="3238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153650" y="5524500"/>
            <a:ext cx="228600" cy="5715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34650" y="5314950"/>
            <a:ext cx="228600" cy="7810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915650" y="5600700"/>
            <a:ext cx="228600" cy="4953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296650" y="5181600"/>
            <a:ext cx="228600" cy="9144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2743200"/>
            <a:ext cx="66675" cy="16002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4400" y="609600"/>
            <a:ext cx="1132901" cy="685800"/>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mi_logo_fmi.png"/>
          <p:cNvPicPr>
            <a:picLocks noChangeAspect="1"/>
          </p:cNvPicPr>
          <p:nvPr/>
        </p:nvPicPr>
        <p:blipFill>
          <a:blip r:embed="rId2"/>
          <a:stretch>
            <a:fillRect/>
          </a:stretch>
        </p:blipFill>
        <p:spPr>
          <a:xfrm>
            <a:off x="1019175" y="695325"/>
            <a:ext cx="923351" cy="514350"/>
          </a:xfrm>
          <a:prstGeom prst="rect">
            <a:avLst/>
          </a:prstGeom>
        </p:spPr>
      </p:pic>
      <p:sp>
        <p:nvSpPr>
          <p:cNvPr id="18" name="TextBox 17"/>
          <p:cNvSpPr txBox="1"/>
          <p:nvPr/>
        </p:nvSpPr>
        <p:spPr>
          <a:xfrm>
            <a:off x="1143000" y="2667000"/>
            <a:ext cx="9334500" cy="1809750"/>
          </a:xfrm>
          <a:prstGeom prst="rect">
            <a:avLst/>
          </a:prstGeom>
          <a:noFill/>
        </p:spPr>
        <p:txBody>
          <a:bodyPr wrap="square" lIns="28575" rIns="28575" tIns="9525" bIns="9525" anchor="ctr">
            <a:spAutoFit/>
          </a:bodyPr>
          <a:lstStyle/>
          <a:p>
            <a:pPr algn="l"/>
            <a:r>
              <a:rPr sz="3400" b="1">
                <a:solidFill>
                  <a:srgbClr val="0B2E4A"/>
                </a:solidFill>
                <a:latin typeface="Calibri"/>
              </a:rPr>
              <a:t>North America Humira Biosimilars Market</a:t>
            </a:r>
          </a:p>
        </p:txBody>
      </p:sp>
      <p:sp>
        <p:nvSpPr>
          <p:cNvPr id="19" name="Rectangle 18"/>
          <p:cNvSpPr/>
          <p:nvPr/>
        </p:nvSpPr>
        <p:spPr>
          <a:xfrm>
            <a:off x="1162050" y="4533900"/>
            <a:ext cx="1524000" cy="381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2050" y="4686300"/>
            <a:ext cx="9334500" cy="857250"/>
          </a:xfrm>
          <a:prstGeom prst="rect">
            <a:avLst/>
          </a:prstGeom>
          <a:noFill/>
        </p:spPr>
        <p:txBody>
          <a:bodyPr wrap="square" lIns="28575" rIns="28575" tIns="9525" bIns="9525">
            <a:spAutoFit/>
          </a:bodyPr>
          <a:lstStyle/>
          <a:p>
            <a:pPr algn="l"/>
            <a:r>
              <a:rPr sz="1600" b="0">
                <a:solidFill>
                  <a:srgbClr val="6C7A89"/>
                </a:solidFill>
                <a:latin typeface="Calibri"/>
              </a:rPr>
              <a:t>Value (US$ Mn) and Volume (Mn Doses) Analysis and Forecast, 2021–2036</a:t>
            </a:r>
          </a:p>
          <a:p>
            <a:pPr algn="l"/>
            <a:r>
              <a:rPr sz="1000" b="0">
                <a:solidFill>
                  <a:srgbClr val="8FCBE6"/>
                </a:solidFill>
                <a:latin typeface="Calibri"/>
              </a:rPr>
              <a:t>Region focus: North America   ·   Country focus: Canada   ·   Generated 01 Sep 2026   ·   Source: FMI Analysis, 2026</a:t>
            </a:r>
          </a:p>
        </p:txBody>
      </p:sp>
      <p:sp>
        <p:nvSpPr>
          <p:cNvPr id="21" name="Rectangle 2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Agenda click a section to jump</a:t>
            </a:r>
          </a:p>
        </p:txBody>
      </p:sp>
      <p:sp>
        <p:nvSpPr>
          <p:cNvPr id="10" name="Rounded Rectangle 9">
            <a:hlinkClick action="ppaction://hlinksldjump" r:id="rId3"/>
          </p:cNvPr>
          <p:cNvSpPr/>
          <p:nvPr/>
        </p:nvSpPr>
        <p:spPr>
          <a:xfrm>
            <a:off x="142875" y="95250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Market Signals</a:t>
            </a:r>
          </a:p>
        </p:txBody>
      </p:sp>
      <p:sp>
        <p:nvSpPr>
          <p:cNvPr id="11" name="Rounded Rectangle 10">
            <a:hlinkClick action="ppaction://hlinksldjump" r:id="rId4"/>
          </p:cNvPr>
          <p:cNvSpPr/>
          <p:nvPr/>
        </p:nvSpPr>
        <p:spPr>
          <a:xfrm>
            <a:off x="142875" y="169545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Geographic Coverage</a:t>
            </a:r>
          </a:p>
        </p:txBody>
      </p:sp>
      <p:sp>
        <p:nvSpPr>
          <p:cNvPr id="12" name="Rounded Rectangle 11">
            <a:hlinkClick action="ppaction://hlinksldjump" r:id="rId5"/>
          </p:cNvPr>
          <p:cNvSpPr/>
          <p:nvPr/>
        </p:nvSpPr>
        <p:spPr>
          <a:xfrm>
            <a:off x="142875" y="243840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Market Segments</a:t>
            </a:r>
          </a:p>
        </p:txBody>
      </p:sp>
      <p:sp>
        <p:nvSpPr>
          <p:cNvPr id="13" name="Rounded Rectangle 12">
            <a:hlinkClick action="ppaction://hlinksldjump" r:id="rId6"/>
          </p:cNvPr>
          <p:cNvSpPr/>
          <p:nvPr/>
        </p:nvSpPr>
        <p:spPr>
          <a:xfrm>
            <a:off x="142875" y="318135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Company Coverage</a:t>
            </a:r>
          </a:p>
        </p:txBody>
      </p:sp>
      <p:sp>
        <p:nvSpPr>
          <p:cNvPr id="14" name="Rounded Rectangle 13">
            <a:hlinkClick action="ppaction://hlinksldjump" r:id="rId7"/>
          </p:cNvPr>
          <p:cNvSpPr/>
          <p:nvPr/>
        </p:nvSpPr>
        <p:spPr>
          <a:xfrm>
            <a:off x="142875" y="392430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Humira Biosimilars North America Market Assessment</a:t>
            </a:r>
          </a:p>
        </p:txBody>
      </p:sp>
      <p:sp>
        <p:nvSpPr>
          <p:cNvPr id="15" name="Rounded Rectangle 14">
            <a:hlinkClick action="ppaction://hlinksldjump" r:id="rId8"/>
          </p:cNvPr>
          <p:cNvSpPr/>
          <p:nvPr/>
        </p:nvSpPr>
        <p:spPr>
          <a:xfrm>
            <a:off x="6219825" y="95250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Humira Biosimilars Country Assessment</a:t>
            </a:r>
          </a:p>
        </p:txBody>
      </p:sp>
      <p:sp>
        <p:nvSpPr>
          <p:cNvPr id="16" name="Rounded Rectangle 15">
            <a:hlinkClick action="ppaction://hlinksldjump" r:id="rId9"/>
          </p:cNvPr>
          <p:cNvSpPr/>
          <p:nvPr/>
        </p:nvSpPr>
        <p:spPr>
          <a:xfrm>
            <a:off x="6219825" y="169545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Humira Biosimilars Pricing Analysis</a:t>
            </a:r>
          </a:p>
        </p:txBody>
      </p:sp>
      <p:sp>
        <p:nvSpPr>
          <p:cNvPr id="17" name="Rounded Rectangle 16">
            <a:hlinkClick action="ppaction://hlinksldjump" r:id="rId10"/>
          </p:cNvPr>
          <p:cNvSpPr/>
          <p:nvPr/>
        </p:nvSpPr>
        <p:spPr>
          <a:xfrm>
            <a:off x="6219825" y="243840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Humira Biosimilars Market Dynamics and Trends</a:t>
            </a:r>
          </a:p>
        </p:txBody>
      </p:sp>
      <p:sp>
        <p:nvSpPr>
          <p:cNvPr id="18" name="Rounded Rectangle 17">
            <a:hlinkClick action="ppaction://hlinksldjump" r:id="rId11"/>
          </p:cNvPr>
          <p:cNvSpPr/>
          <p:nvPr/>
        </p:nvSpPr>
        <p:spPr>
          <a:xfrm>
            <a:off x="6219825" y="318135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Humira Biosimilars Supply Chain Analysis</a:t>
            </a:r>
          </a:p>
        </p:txBody>
      </p:sp>
      <p:sp>
        <p:nvSpPr>
          <p:cNvPr id="19" name="Rounded Rectangle 18">
            <a:hlinkClick action="ppaction://hlinksldjump" r:id="rId12"/>
          </p:cNvPr>
          <p:cNvSpPr/>
          <p:nvPr/>
        </p:nvSpPr>
        <p:spPr>
          <a:xfrm>
            <a:off x="6219825" y="392430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Humira Biosimilars Competition Assessment</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595562"/>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a:t>
            </a:r>
          </a:p>
        </p:txBody>
      </p:sp>
      <p:sp>
        <p:nvSpPr>
          <p:cNvPr id="7" name="TextBox 6"/>
          <p:cNvSpPr txBox="1"/>
          <p:nvPr/>
        </p:nvSpPr>
        <p:spPr>
          <a:xfrm>
            <a:off x="1219200" y="284321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Market Signals</a:t>
            </a:r>
          </a:p>
        </p:txBody>
      </p:sp>
      <p:sp>
        <p:nvSpPr>
          <p:cNvPr id="8" name="TextBox 7"/>
          <p:cNvSpPr txBox="1"/>
          <p:nvPr/>
        </p:nvSpPr>
        <p:spPr>
          <a:xfrm>
            <a:off x="1219200" y="3433762"/>
            <a:ext cx="6667500" cy="3333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Signals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01</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Market Signals Reshaping Humira Biosimilars Demand</a:t>
            </a:r>
          </a:p>
        </p:txBody>
      </p:sp>
      <p:graphicFrame>
        <p:nvGraphicFramePr>
          <p:cNvPr id="10" name="Table 9"/>
          <p:cNvGraphicFramePr>
            <a:graphicFrameLocks noGrp="1"/>
          </p:cNvGraphicFramePr>
          <p:nvPr/>
        </p:nvGraphicFramePr>
        <p:xfrm>
          <a:off x="142875" y="914400"/>
          <a:ext cx="11906250" cy="5791200"/>
        </p:xfrm>
        <a:graphic>
          <a:graphicData uri="http://schemas.openxmlformats.org/drawingml/2006/table">
            <a:tbl>
              <a:tblPr>
                <a:tableStyleId>{5C22544A-7EE6-4342-B048-85BDC9FD1C3A}</a:tableStyleId>
              </a:tblPr>
              <a:tblGrid>
                <a:gridCol w="3571875"/>
                <a:gridCol w="5000625"/>
                <a:gridCol w="3333750"/>
              </a:tblGrid>
              <a:tr h="361950">
                <a:tc>
                  <a:txBody>
                    <a:bodyPr wrap="square"/>
                    <a:lstStyle/>
                    <a:p>
                      <a:pPr algn="l"/>
                      <a:r>
                        <a:rPr sz="1100" b="1">
                          <a:solidFill>
                            <a:srgbClr val="0B2E4A"/>
                          </a:solidFill>
                          <a:latin typeface="Calibri"/>
                        </a:rPr>
                        <a:t>QUESTIONS WE'RE HEARING</a:t>
                      </a:r>
                    </a:p>
                  </a:txBody>
                  <a:tcPr marL="70000" marR="70000" marT="45000" marB="45000" anchor="t">
                    <a:solidFill>
                      <a:srgbClr val="EAF1F8"/>
                    </a:solidFill>
                  </a:tcPr>
                </a:tc>
                <a:tc>
                  <a:txBody>
                    <a:bodyPr wrap="square"/>
                    <a:lstStyle/>
                    <a:p>
                      <a:pPr algn="l"/>
                      <a:r>
                        <a:rPr sz="1100" b="1">
                          <a:solidFill>
                            <a:srgbClr val="0B2E4A"/>
                          </a:solidFill>
                          <a:latin typeface="Calibri"/>
                        </a:rPr>
                        <a:t>WHAT WE'RE OBSERVING</a:t>
                      </a:r>
                    </a:p>
                  </a:txBody>
                  <a:tcPr marL="70000" marR="70000" marT="45000" marB="45000" anchor="t">
                    <a:solidFill>
                      <a:srgbClr val="EAF1F8"/>
                    </a:solidFill>
                  </a:tcPr>
                </a:tc>
                <a:tc>
                  <a:txBody>
                    <a:bodyPr wrap="square"/>
                    <a:lstStyle/>
                    <a:p>
                      <a:pPr algn="l"/>
                      <a:r>
                        <a:rPr sz="1100" b="1">
                          <a:solidFill>
                            <a:srgbClr val="0B2E4A"/>
                          </a:solidFill>
                          <a:latin typeface="Calibri"/>
                        </a:rPr>
                        <a:t>SELECT DATA POINTS</a:t>
                      </a:r>
                    </a:p>
                  </a:txBody>
                  <a:tcPr marL="70000" marR="70000" marT="45000" marB="45000" anchor="t">
                    <a:solidFill>
                      <a:srgbClr val="EAF1F8"/>
                    </a:solidFill>
                  </a:tcPr>
                </a:tc>
              </a:tr>
              <a:tr h="1085850">
                <a:tc>
                  <a:txBody>
                    <a:bodyPr wrap="square"/>
                    <a:lstStyle/>
                    <a:p>
                      <a:pPr algn="l"/>
                      <a:r>
                        <a:rPr sz="1050" b="1">
                          <a:solidFill>
                            <a:srgbClr val="0B2E4A"/>
                          </a:solidFill>
                          <a:latin typeface="Calibri"/>
                        </a:rPr>
                        <a:t>How fast is Humira Biosimilars demand set to grow through 2036?</a:t>
                      </a:r>
                    </a:p>
                  </a:txBody>
                  <a:tcPr marL="70000" marR="70000" marT="45000" marB="45000" anchor="t">
                    <a:solidFill>
                      <a:srgbClr val="FFFFFF"/>
                    </a:solidFill>
                  </a:tcPr>
                </a:tc>
                <a:tc>
                  <a:txBody>
                    <a:bodyPr wrap="square"/>
                    <a:lstStyle/>
                    <a:p>
                      <a:pPr algn="l"/>
                      <a:r>
                        <a:rPr sz="1050" b="0">
                          <a:solidFill>
                            <a:srgbClr val="2E2E2E"/>
                          </a:solidFill>
                          <a:latin typeface="Calibri"/>
                        </a:rPr>
                        <a:t>North America demand expands at a 8.0% forecast CAGR (2026–2036), shifting from 18.1% across 2021–2025.</a:t>
                      </a:r>
                    </a:p>
                  </a:txBody>
                  <a:tcPr marL="70000" marR="70000" marT="45000" marB="45000" anchor="t">
                    <a:solidFill>
                      <a:srgbClr val="FFFFFF"/>
                    </a:solidFill>
                  </a:tcPr>
                </a:tc>
                <a:tc>
                  <a:txBody>
                    <a:bodyPr wrap="square"/>
                    <a:lstStyle/>
                    <a:p>
                      <a:pPr algn="l"/>
                      <a:r>
                        <a:rPr sz="1050" b="0">
                          <a:solidFill>
                            <a:srgbClr val="2E2E2E"/>
                          </a:solidFill>
                          <a:latin typeface="Calibri"/>
                        </a:rPr>
                        <a:t>5,003 → 10,851 US$ Mn  ·  CAGR 8.0%</a:t>
                      </a:r>
                    </a:p>
                  </a:txBody>
                  <a:tcPr marL="70000" marR="70000" marT="45000" marB="45000" anchor="t">
                    <a:solidFill>
                      <a:srgbClr val="FFFFFF"/>
                    </a:solidFill>
                  </a:tcPr>
                </a:tc>
              </a:tr>
              <a:tr h="1085850">
                <a:tc>
                  <a:txBody>
                    <a:bodyPr wrap="square"/>
                    <a:lstStyle/>
                    <a:p>
                      <a:pPr algn="l"/>
                      <a:r>
                        <a:rPr sz="1050" b="1">
                          <a:solidFill>
                            <a:srgbClr val="0B2E4A"/>
                          </a:solidFill>
                          <a:latin typeface="Calibri"/>
                        </a:rPr>
                        <a:t>Which product type categories are buyers prioritising?</a:t>
                      </a:r>
                    </a:p>
                  </a:txBody>
                  <a:tcPr marL="70000" marR="70000" marT="45000" marB="45000" anchor="t">
                    <a:solidFill>
                      <a:srgbClr val="F6F9FC"/>
                    </a:solidFill>
                  </a:tcPr>
                </a:tc>
                <a:tc>
                  <a:txBody>
                    <a:bodyPr wrap="square"/>
                    <a:lstStyle/>
                    <a:p>
                      <a:pPr algn="l"/>
                      <a:r>
                        <a:rPr sz="1050" b="0">
                          <a:solidFill>
                            <a:srgbClr val="2E2E2E"/>
                          </a:solidFill>
                          <a:latin typeface="Calibri"/>
                        </a:rPr>
                        <a:t>Simlandi leads Product Type, at 16.4% of 2036 value, within a mix of 11 tracked categories.</a:t>
                      </a:r>
                    </a:p>
                  </a:txBody>
                  <a:tcPr marL="70000" marR="70000" marT="45000" marB="45000" anchor="t">
                    <a:solidFill>
                      <a:srgbClr val="F6F9FC"/>
                    </a:solidFill>
                  </a:tcPr>
                </a:tc>
                <a:tc>
                  <a:txBody>
                    <a:bodyPr wrap="square"/>
                    <a:lstStyle/>
                    <a:p>
                      <a:pPr algn="l"/>
                      <a:r>
                        <a:rPr sz="1050" b="0">
                          <a:solidFill>
                            <a:srgbClr val="2E2E2E"/>
                          </a:solidFill>
                          <a:latin typeface="Calibri"/>
                        </a:rPr>
                        <a:t>Lead: Simlandi  ·  16.4% share (2036)</a:t>
                      </a:r>
                    </a:p>
                  </a:txBody>
                  <a:tcPr marL="70000" marR="70000" marT="45000" marB="45000" anchor="t">
                    <a:solidFill>
                      <a:srgbClr val="F6F9FC"/>
                    </a:solidFill>
                  </a:tcPr>
                </a:tc>
              </a:tr>
              <a:tr h="1085850">
                <a:tc>
                  <a:txBody>
                    <a:bodyPr wrap="square"/>
                    <a:lstStyle/>
                    <a:p>
                      <a:pPr algn="l"/>
                      <a:r>
                        <a:rPr sz="1050" b="1">
                          <a:solidFill>
                            <a:srgbClr val="0B2E4A"/>
                          </a:solidFill>
                          <a:latin typeface="Calibri"/>
                        </a:rPr>
                        <a:t>Where is incremental demand concentrating?</a:t>
                      </a:r>
                    </a:p>
                  </a:txBody>
                  <a:tcPr marL="70000" marR="70000" marT="45000" marB="45000" anchor="t">
                    <a:solidFill>
                      <a:srgbClr val="FFFFFF"/>
                    </a:solidFill>
                  </a:tcPr>
                </a:tc>
                <a:tc>
                  <a:txBody>
                    <a:bodyPr wrap="square"/>
                    <a:lstStyle/>
                    <a:p>
                      <a:pPr algn="l"/>
                      <a:r>
                        <a:rPr sz="1050" b="0">
                          <a:solidFill>
                            <a:srgbClr val="2E2E2E"/>
                          </a:solidFill>
                          <a:latin typeface="Calibri"/>
                        </a:rPr>
                        <a:t>Dermatology is the fastest-growing part of Therapeutic Application, at a 8.6% forecast CAGR outpacing the wider market.</a:t>
                      </a:r>
                    </a:p>
                  </a:txBody>
                  <a:tcPr marL="70000" marR="70000" marT="45000" marB="45000" anchor="t">
                    <a:solidFill>
                      <a:srgbClr val="FFFFFF"/>
                    </a:solidFill>
                  </a:tcPr>
                </a:tc>
                <a:tc>
                  <a:txBody>
                    <a:bodyPr wrap="square"/>
                    <a:lstStyle/>
                    <a:p>
                      <a:pPr algn="l"/>
                      <a:r>
                        <a:rPr sz="1050" b="0">
                          <a:solidFill>
                            <a:srgbClr val="2E2E2E"/>
                          </a:solidFill>
                          <a:latin typeface="Calibri"/>
                        </a:rPr>
                        <a:t>Fastest: Dermatology  ·  8.6% F-CAGR</a:t>
                      </a:r>
                    </a:p>
                  </a:txBody>
                  <a:tcPr marL="70000" marR="70000" marT="45000" marB="45000" anchor="t">
                    <a:solidFill>
                      <a:srgbClr val="FFFFFF"/>
                    </a:solidFill>
                  </a:tcPr>
                </a:tc>
              </a:tr>
              <a:tr h="1085850">
                <a:tc>
                  <a:txBody>
                    <a:bodyPr wrap="square"/>
                    <a:lstStyle/>
                    <a:p>
                      <a:pPr algn="l"/>
                      <a:r>
                        <a:rPr sz="1050" b="1">
                          <a:solidFill>
                            <a:srgbClr val="0B2E4A"/>
                          </a:solidFill>
                          <a:latin typeface="Calibri"/>
                        </a:rPr>
                        <a:t>Which regions will drive the next wave of Humira Biosimilars demand?</a:t>
                      </a:r>
                    </a:p>
                  </a:txBody>
                  <a:tcPr marL="70000" marR="70000" marT="45000" marB="45000" anchor="t">
                    <a:solidFill>
                      <a:srgbClr val="F6F9FC"/>
                    </a:solidFill>
                  </a:tcPr>
                </a:tc>
                <a:tc>
                  <a:txBody>
                    <a:bodyPr wrap="square"/>
                    <a:lstStyle/>
                    <a:p>
                      <a:pPr algn="l"/>
                      <a:r>
                        <a:rPr sz="1050" b="0">
                          <a:solidFill>
                            <a:srgbClr val="2E2E2E"/>
                          </a:solidFill>
                          <a:latin typeface="Calibri"/>
                        </a:rPr>
                        <a:t>North America is the largest regional market (41.2% of 2036 value), while South Asia &amp; Pacific grows fastest at 9.4%.</a:t>
                      </a:r>
                    </a:p>
                  </a:txBody>
                  <a:tcPr marL="70000" marR="70000" marT="45000" marB="45000" anchor="t">
                    <a:solidFill>
                      <a:srgbClr val="F6F9FC"/>
                    </a:solidFill>
                  </a:tcPr>
                </a:tc>
                <a:tc>
                  <a:txBody>
                    <a:bodyPr wrap="square"/>
                    <a:lstStyle/>
                    <a:p>
                      <a:pPr algn="l"/>
                      <a:r>
                        <a:rPr sz="1050" b="0">
                          <a:solidFill>
                            <a:srgbClr val="2E2E2E"/>
                          </a:solidFill>
                          <a:latin typeface="Calibri"/>
                        </a:rPr>
                        <a:t>Largest: North America (41.2%)  ·  Fastest: South Asia &amp; Pacific (9.4%)</a:t>
                      </a:r>
                    </a:p>
                  </a:txBody>
                  <a:tcPr marL="70000" marR="70000" marT="45000" marB="45000" anchor="t">
                    <a:solidFill>
                      <a:srgbClr val="F6F9FC"/>
                    </a:solidFill>
                  </a:tcPr>
                </a:tc>
              </a:tr>
              <a:tr h="1085850">
                <a:tc>
                  <a:txBody>
                    <a:bodyPr wrap="square"/>
                    <a:lstStyle/>
                    <a:p>
                      <a:pPr algn="l"/>
                      <a:r>
                        <a:rPr sz="1050" b="1">
                          <a:solidFill>
                            <a:srgbClr val="0B2E4A"/>
                          </a:solidFill>
                          <a:latin typeface="Calibri"/>
                        </a:rPr>
                        <a:t>Where should suppliers focus investment?</a:t>
                      </a:r>
                    </a:p>
                  </a:txBody>
                  <a:tcPr marL="70000" marR="70000" marT="45000" marB="45000" anchor="t">
                    <a:solidFill>
                      <a:srgbClr val="FFFFFF"/>
                    </a:solidFill>
                  </a:tcPr>
                </a:tc>
                <a:tc>
                  <a:txBody>
                    <a:bodyPr wrap="square"/>
                    <a:lstStyle/>
                    <a:p>
                      <a:pPr algn="l"/>
                      <a:r>
                        <a:rPr sz="1050" b="0">
                          <a:solidFill>
                            <a:srgbClr val="2E2E2E"/>
                          </a:solidFill>
                          <a:latin typeface="Calibri"/>
                        </a:rPr>
                        <a:t>An incremental 5,848 US$ Mn of demand is added between 2026 and 2036, front-loaded in the leading categories and regions above.</a:t>
                      </a:r>
                    </a:p>
                  </a:txBody>
                  <a:tcPr marL="70000" marR="70000" marT="45000" marB="45000" anchor="t">
                    <a:solidFill>
                      <a:srgbClr val="FFFFFF"/>
                    </a:solidFill>
                  </a:tcPr>
                </a:tc>
                <a:tc>
                  <a:txBody>
                    <a:bodyPr wrap="square"/>
                    <a:lstStyle/>
                    <a:p>
                      <a:pPr algn="l"/>
                      <a:r>
                        <a:rPr sz="1050" b="0">
                          <a:solidFill>
                            <a:srgbClr val="2E2E2E"/>
                          </a:solidFill>
                          <a:latin typeface="Calibri"/>
                        </a:rPr>
                        <a:t>$ opportunity 5,848 US$ Mn (2026–2036)  ·  3,254 by 2031</a:t>
                      </a:r>
                    </a:p>
                  </a:txBody>
                  <a:tcPr marL="70000" marR="70000" marT="45000" marB="45000" anchor="t">
                    <a:solidFill>
                      <a:srgbClr val="FFFFFF"/>
                    </a:solidFill>
                  </a:tcPr>
                </a:tc>
              </a:tr>
            </a:tbl>
          </a:graphicData>
        </a:graphic>
      </p:graphicFrame>
      <p:sp>
        <p:nvSpPr>
          <p:cNvPr id="11" name="Rectangle 1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3" name="Rounded Rectangle 12">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5" name="Rounded Rectangle 14">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Market Taxonomy</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Geographic Coverage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Segments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Coverage</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02</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Market Taxonomy Regions</a:t>
            </a:r>
          </a:p>
        </p:txBody>
      </p:sp>
      <p:cxnSp>
        <p:nvCxnSpPr>
          <p:cNvPr id="10" name="Connector 9"/>
          <p:cNvCxnSpPr/>
          <p:nvPr/>
        </p:nvCxnSpPr>
        <p:spPr>
          <a:xfrm>
            <a:off x="6096000" y="1314450"/>
            <a:ext cx="0" cy="1905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85850" y="1504950"/>
            <a:ext cx="10010775" cy="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85850" y="1504950"/>
            <a:ext cx="0" cy="1905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086100" y="1504950"/>
            <a:ext cx="0" cy="1905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86350" y="1504950"/>
            <a:ext cx="0" cy="1905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096125" y="1504950"/>
            <a:ext cx="0" cy="1905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96375" y="1504950"/>
            <a:ext cx="0" cy="1905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096625" y="1504950"/>
            <a:ext cx="0" cy="1905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2525" y="2009775"/>
            <a:ext cx="0" cy="1619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2525" y="248602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52775" y="2009775"/>
            <a:ext cx="0" cy="1619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152775" y="248602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52775" y="2876550"/>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152775" y="326707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53025" y="2009775"/>
            <a:ext cx="0" cy="1619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53025" y="2486025"/>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53025" y="2867025"/>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53025" y="3248025"/>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53025" y="3629025"/>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153025" y="4010025"/>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153025" y="439102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53025" y="4781550"/>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53025" y="5162550"/>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153025" y="5543550"/>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153025" y="5924550"/>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153025" y="6305550"/>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162800" y="2009775"/>
            <a:ext cx="0" cy="1619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162800" y="248602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162800" y="2876550"/>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163050" y="2009775"/>
            <a:ext cx="0" cy="1619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63050" y="248602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163050" y="2876550"/>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63050" y="326707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63050" y="3657600"/>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163050" y="404812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163050" y="4438650"/>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163050" y="482917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163050" y="5219700"/>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163300" y="2009775"/>
            <a:ext cx="0" cy="1619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163300" y="248602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163300" y="2876550"/>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163300" y="326707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163300" y="3657600"/>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163300" y="404812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1163300" y="4438650"/>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1163300" y="482917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4667250" y="933450"/>
            <a:ext cx="2857500" cy="381000"/>
          </a:xfrm>
          <a:prstGeom prst="roundRect">
            <a:avLst>
              <a:gd name="adj" fmla="val 17500"/>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Humira Biosimilars Market</a:t>
            </a:r>
          </a:p>
        </p:txBody>
      </p:sp>
      <p:sp>
        <p:nvSpPr>
          <p:cNvPr id="57" name="Rounded Rectangle 56"/>
          <p:cNvSpPr/>
          <p:nvPr/>
        </p:nvSpPr>
        <p:spPr>
          <a:xfrm>
            <a:off x="142875" y="1695450"/>
            <a:ext cx="1885950" cy="314325"/>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North America</a:t>
            </a:r>
          </a:p>
        </p:txBody>
      </p:sp>
      <p:sp>
        <p:nvSpPr>
          <p:cNvPr id="58" name="Rounded Rectangle 57"/>
          <p:cNvSpPr/>
          <p:nvPr/>
        </p:nvSpPr>
        <p:spPr>
          <a:xfrm>
            <a:off x="276225" y="21717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U.S.</a:t>
            </a:r>
          </a:p>
        </p:txBody>
      </p:sp>
      <p:sp>
        <p:nvSpPr>
          <p:cNvPr id="59" name="Rounded Rectangle 58"/>
          <p:cNvSpPr/>
          <p:nvPr/>
        </p:nvSpPr>
        <p:spPr>
          <a:xfrm>
            <a:off x="276225" y="256222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Canada</a:t>
            </a:r>
          </a:p>
        </p:txBody>
      </p:sp>
      <p:sp>
        <p:nvSpPr>
          <p:cNvPr id="60" name="Rounded Rectangle 59"/>
          <p:cNvSpPr/>
          <p:nvPr/>
        </p:nvSpPr>
        <p:spPr>
          <a:xfrm>
            <a:off x="2143125" y="1695450"/>
            <a:ext cx="1885950" cy="314325"/>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Latin America</a:t>
            </a:r>
          </a:p>
        </p:txBody>
      </p:sp>
      <p:sp>
        <p:nvSpPr>
          <p:cNvPr id="61" name="Rounded Rectangle 60"/>
          <p:cNvSpPr/>
          <p:nvPr/>
        </p:nvSpPr>
        <p:spPr>
          <a:xfrm>
            <a:off x="2276475" y="21717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Brazil</a:t>
            </a:r>
          </a:p>
        </p:txBody>
      </p:sp>
      <p:sp>
        <p:nvSpPr>
          <p:cNvPr id="62" name="Rounded Rectangle 61"/>
          <p:cNvSpPr/>
          <p:nvPr/>
        </p:nvSpPr>
        <p:spPr>
          <a:xfrm>
            <a:off x="2276475" y="256222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Mexico</a:t>
            </a:r>
          </a:p>
        </p:txBody>
      </p:sp>
      <p:sp>
        <p:nvSpPr>
          <p:cNvPr id="63" name="Rounded Rectangle 62"/>
          <p:cNvSpPr/>
          <p:nvPr/>
        </p:nvSpPr>
        <p:spPr>
          <a:xfrm>
            <a:off x="2276475" y="295275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Colombia</a:t>
            </a:r>
          </a:p>
        </p:txBody>
      </p:sp>
      <p:sp>
        <p:nvSpPr>
          <p:cNvPr id="64" name="Rounded Rectangle 63"/>
          <p:cNvSpPr/>
          <p:nvPr/>
        </p:nvSpPr>
        <p:spPr>
          <a:xfrm>
            <a:off x="2276475" y="334327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Latin America</a:t>
            </a:r>
          </a:p>
        </p:txBody>
      </p:sp>
      <p:sp>
        <p:nvSpPr>
          <p:cNvPr id="65" name="Rounded Rectangle 64"/>
          <p:cNvSpPr/>
          <p:nvPr/>
        </p:nvSpPr>
        <p:spPr>
          <a:xfrm>
            <a:off x="4143375" y="1695450"/>
            <a:ext cx="1885950" cy="314325"/>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Europe</a:t>
            </a:r>
          </a:p>
        </p:txBody>
      </p:sp>
      <p:sp>
        <p:nvSpPr>
          <p:cNvPr id="66" name="Rounded Rectangle 65"/>
          <p:cNvSpPr/>
          <p:nvPr/>
        </p:nvSpPr>
        <p:spPr>
          <a:xfrm>
            <a:off x="4276725" y="21717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Germany</a:t>
            </a:r>
          </a:p>
        </p:txBody>
      </p:sp>
      <p:sp>
        <p:nvSpPr>
          <p:cNvPr id="67" name="Rounded Rectangle 66"/>
          <p:cNvSpPr/>
          <p:nvPr/>
        </p:nvSpPr>
        <p:spPr>
          <a:xfrm>
            <a:off x="4276725" y="25527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U.K.</a:t>
            </a:r>
          </a:p>
        </p:txBody>
      </p:sp>
      <p:sp>
        <p:nvSpPr>
          <p:cNvPr id="68" name="Rounded Rectangle 67"/>
          <p:cNvSpPr/>
          <p:nvPr/>
        </p:nvSpPr>
        <p:spPr>
          <a:xfrm>
            <a:off x="4276725" y="29337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France</a:t>
            </a:r>
          </a:p>
        </p:txBody>
      </p:sp>
      <p:sp>
        <p:nvSpPr>
          <p:cNvPr id="69" name="Rounded Rectangle 68"/>
          <p:cNvSpPr/>
          <p:nvPr/>
        </p:nvSpPr>
        <p:spPr>
          <a:xfrm>
            <a:off x="4276725" y="33147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Italy</a:t>
            </a:r>
          </a:p>
        </p:txBody>
      </p:sp>
      <p:sp>
        <p:nvSpPr>
          <p:cNvPr id="70" name="Rounded Rectangle 69"/>
          <p:cNvSpPr/>
          <p:nvPr/>
        </p:nvSpPr>
        <p:spPr>
          <a:xfrm>
            <a:off x="4276725" y="36957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Spain</a:t>
            </a:r>
          </a:p>
        </p:txBody>
      </p:sp>
      <p:sp>
        <p:nvSpPr>
          <p:cNvPr id="71" name="Rounded Rectangle 70"/>
          <p:cNvSpPr/>
          <p:nvPr/>
        </p:nvSpPr>
        <p:spPr>
          <a:xfrm>
            <a:off x="4276725" y="40767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Belgium</a:t>
            </a:r>
          </a:p>
        </p:txBody>
      </p:sp>
      <p:sp>
        <p:nvSpPr>
          <p:cNvPr id="72" name="Rounded Rectangle 71"/>
          <p:cNvSpPr/>
          <p:nvPr/>
        </p:nvSpPr>
        <p:spPr>
          <a:xfrm>
            <a:off x="4276725" y="446722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Netherlands</a:t>
            </a:r>
          </a:p>
        </p:txBody>
      </p:sp>
      <p:sp>
        <p:nvSpPr>
          <p:cNvPr id="73" name="Rounded Rectangle 72"/>
          <p:cNvSpPr/>
          <p:nvPr/>
        </p:nvSpPr>
        <p:spPr>
          <a:xfrm>
            <a:off x="4276725" y="484822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Nordic Countries</a:t>
            </a:r>
          </a:p>
        </p:txBody>
      </p:sp>
      <p:sp>
        <p:nvSpPr>
          <p:cNvPr id="74" name="Rounded Rectangle 73"/>
          <p:cNvSpPr/>
          <p:nvPr/>
        </p:nvSpPr>
        <p:spPr>
          <a:xfrm>
            <a:off x="4276725" y="522922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Switzerland</a:t>
            </a:r>
          </a:p>
        </p:txBody>
      </p:sp>
      <p:sp>
        <p:nvSpPr>
          <p:cNvPr id="75" name="Rounded Rectangle 74"/>
          <p:cNvSpPr/>
          <p:nvPr/>
        </p:nvSpPr>
        <p:spPr>
          <a:xfrm>
            <a:off x="4276725" y="561022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Russia</a:t>
            </a:r>
          </a:p>
        </p:txBody>
      </p:sp>
      <p:sp>
        <p:nvSpPr>
          <p:cNvPr id="76" name="Rounded Rectangle 75"/>
          <p:cNvSpPr/>
          <p:nvPr/>
        </p:nvSpPr>
        <p:spPr>
          <a:xfrm>
            <a:off x="4276725" y="599122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Poland</a:t>
            </a:r>
          </a:p>
        </p:txBody>
      </p:sp>
      <p:sp>
        <p:nvSpPr>
          <p:cNvPr id="77" name="Rounded Rectangle 76"/>
          <p:cNvSpPr/>
          <p:nvPr/>
        </p:nvSpPr>
        <p:spPr>
          <a:xfrm>
            <a:off x="4276725" y="637222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Europe</a:t>
            </a:r>
          </a:p>
        </p:txBody>
      </p:sp>
      <p:sp>
        <p:nvSpPr>
          <p:cNvPr id="78" name="Rounded Rectangle 77"/>
          <p:cNvSpPr/>
          <p:nvPr/>
        </p:nvSpPr>
        <p:spPr>
          <a:xfrm>
            <a:off x="6153150" y="1695450"/>
            <a:ext cx="1885950" cy="314325"/>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 Asia</a:t>
            </a:r>
          </a:p>
        </p:txBody>
      </p:sp>
      <p:sp>
        <p:nvSpPr>
          <p:cNvPr id="79" name="Rounded Rectangle 78"/>
          <p:cNvSpPr/>
          <p:nvPr/>
        </p:nvSpPr>
        <p:spPr>
          <a:xfrm>
            <a:off x="6286500" y="21717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China</a:t>
            </a:r>
          </a:p>
        </p:txBody>
      </p:sp>
      <p:sp>
        <p:nvSpPr>
          <p:cNvPr id="80" name="Rounded Rectangle 79"/>
          <p:cNvSpPr/>
          <p:nvPr/>
        </p:nvSpPr>
        <p:spPr>
          <a:xfrm>
            <a:off x="6286500" y="256222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Japan</a:t>
            </a:r>
          </a:p>
        </p:txBody>
      </p:sp>
      <p:sp>
        <p:nvSpPr>
          <p:cNvPr id="81" name="Rounded Rectangle 80"/>
          <p:cNvSpPr/>
          <p:nvPr/>
        </p:nvSpPr>
        <p:spPr>
          <a:xfrm>
            <a:off x="6286500" y="295275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Korea</a:t>
            </a:r>
          </a:p>
        </p:txBody>
      </p:sp>
      <p:sp>
        <p:nvSpPr>
          <p:cNvPr id="82" name="Rounded Rectangle 81"/>
          <p:cNvSpPr/>
          <p:nvPr/>
        </p:nvSpPr>
        <p:spPr>
          <a:xfrm>
            <a:off x="8153400" y="1695450"/>
            <a:ext cx="1885950" cy="314325"/>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South Asia &amp; Pacific</a:t>
            </a:r>
          </a:p>
        </p:txBody>
      </p:sp>
      <p:sp>
        <p:nvSpPr>
          <p:cNvPr id="83" name="Rounded Rectangle 82"/>
          <p:cNvSpPr/>
          <p:nvPr/>
        </p:nvSpPr>
        <p:spPr>
          <a:xfrm>
            <a:off x="8286750" y="21717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India</a:t>
            </a:r>
          </a:p>
        </p:txBody>
      </p:sp>
      <p:sp>
        <p:nvSpPr>
          <p:cNvPr id="84" name="Rounded Rectangle 83"/>
          <p:cNvSpPr/>
          <p:nvPr/>
        </p:nvSpPr>
        <p:spPr>
          <a:xfrm>
            <a:off x="8286750" y="256222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Thailand</a:t>
            </a:r>
          </a:p>
        </p:txBody>
      </p:sp>
      <p:sp>
        <p:nvSpPr>
          <p:cNvPr id="85" name="Rounded Rectangle 84"/>
          <p:cNvSpPr/>
          <p:nvPr/>
        </p:nvSpPr>
        <p:spPr>
          <a:xfrm>
            <a:off x="8286750" y="295275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Malaysia</a:t>
            </a:r>
          </a:p>
        </p:txBody>
      </p:sp>
      <p:sp>
        <p:nvSpPr>
          <p:cNvPr id="86" name="Rounded Rectangle 85"/>
          <p:cNvSpPr/>
          <p:nvPr/>
        </p:nvSpPr>
        <p:spPr>
          <a:xfrm>
            <a:off x="8286750" y="334327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Indonesia</a:t>
            </a:r>
          </a:p>
        </p:txBody>
      </p:sp>
      <p:sp>
        <p:nvSpPr>
          <p:cNvPr id="87" name="Rounded Rectangle 86"/>
          <p:cNvSpPr/>
          <p:nvPr/>
        </p:nvSpPr>
        <p:spPr>
          <a:xfrm>
            <a:off x="8286750" y="37338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Singapore</a:t>
            </a:r>
          </a:p>
        </p:txBody>
      </p:sp>
      <p:sp>
        <p:nvSpPr>
          <p:cNvPr id="88" name="Rounded Rectangle 87"/>
          <p:cNvSpPr/>
          <p:nvPr/>
        </p:nvSpPr>
        <p:spPr>
          <a:xfrm>
            <a:off x="8286750" y="412432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Philippines</a:t>
            </a:r>
          </a:p>
        </p:txBody>
      </p:sp>
      <p:sp>
        <p:nvSpPr>
          <p:cNvPr id="89" name="Rounded Rectangle 88"/>
          <p:cNvSpPr/>
          <p:nvPr/>
        </p:nvSpPr>
        <p:spPr>
          <a:xfrm>
            <a:off x="8286750" y="451485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Australia</a:t>
            </a:r>
          </a:p>
        </p:txBody>
      </p:sp>
      <p:sp>
        <p:nvSpPr>
          <p:cNvPr id="90" name="Rounded Rectangle 89"/>
          <p:cNvSpPr/>
          <p:nvPr/>
        </p:nvSpPr>
        <p:spPr>
          <a:xfrm>
            <a:off x="8286750" y="490537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New Zealand</a:t>
            </a:r>
          </a:p>
        </p:txBody>
      </p:sp>
      <p:sp>
        <p:nvSpPr>
          <p:cNvPr id="91" name="Rounded Rectangle 90"/>
          <p:cNvSpPr/>
          <p:nvPr/>
        </p:nvSpPr>
        <p:spPr>
          <a:xfrm>
            <a:off x="8286750" y="5295900"/>
            <a:ext cx="175260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South Asia &amp; Pacific</a:t>
            </a:r>
          </a:p>
        </p:txBody>
      </p:sp>
      <p:sp>
        <p:nvSpPr>
          <p:cNvPr id="92" name="Rounded Rectangle 91"/>
          <p:cNvSpPr/>
          <p:nvPr/>
        </p:nvSpPr>
        <p:spPr>
          <a:xfrm>
            <a:off x="10153650" y="1695450"/>
            <a:ext cx="1885950" cy="314325"/>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Middle East &amp; Africa</a:t>
            </a:r>
          </a:p>
        </p:txBody>
      </p:sp>
      <p:sp>
        <p:nvSpPr>
          <p:cNvPr id="93" name="Rounded Rectangle 92"/>
          <p:cNvSpPr/>
          <p:nvPr/>
        </p:nvSpPr>
        <p:spPr>
          <a:xfrm>
            <a:off x="10287000" y="21717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Turkey</a:t>
            </a:r>
          </a:p>
        </p:txBody>
      </p:sp>
      <p:sp>
        <p:nvSpPr>
          <p:cNvPr id="94" name="Rounded Rectangle 93"/>
          <p:cNvSpPr/>
          <p:nvPr/>
        </p:nvSpPr>
        <p:spPr>
          <a:xfrm>
            <a:off x="10287000" y="256222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UAE</a:t>
            </a:r>
          </a:p>
        </p:txBody>
      </p:sp>
      <p:sp>
        <p:nvSpPr>
          <p:cNvPr id="95" name="Rounded Rectangle 94"/>
          <p:cNvSpPr/>
          <p:nvPr/>
        </p:nvSpPr>
        <p:spPr>
          <a:xfrm>
            <a:off x="10287000" y="295275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Saudi Arabia</a:t>
            </a:r>
          </a:p>
        </p:txBody>
      </p:sp>
      <p:sp>
        <p:nvSpPr>
          <p:cNvPr id="96" name="Rounded Rectangle 95"/>
          <p:cNvSpPr/>
          <p:nvPr/>
        </p:nvSpPr>
        <p:spPr>
          <a:xfrm>
            <a:off x="10287000" y="334327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Israel</a:t>
            </a:r>
          </a:p>
        </p:txBody>
      </p:sp>
      <p:sp>
        <p:nvSpPr>
          <p:cNvPr id="97" name="Rounded Rectangle 96"/>
          <p:cNvSpPr/>
          <p:nvPr/>
        </p:nvSpPr>
        <p:spPr>
          <a:xfrm>
            <a:off x="10287000" y="37338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Other GCC Countries</a:t>
            </a:r>
          </a:p>
        </p:txBody>
      </p:sp>
      <p:sp>
        <p:nvSpPr>
          <p:cNvPr id="98" name="Rounded Rectangle 97"/>
          <p:cNvSpPr/>
          <p:nvPr/>
        </p:nvSpPr>
        <p:spPr>
          <a:xfrm>
            <a:off x="10287000" y="412432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North Africa</a:t>
            </a:r>
          </a:p>
        </p:txBody>
      </p:sp>
      <p:sp>
        <p:nvSpPr>
          <p:cNvPr id="99" name="Rounded Rectangle 98"/>
          <p:cNvSpPr/>
          <p:nvPr/>
        </p:nvSpPr>
        <p:spPr>
          <a:xfrm>
            <a:off x="10287000" y="451485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Africa</a:t>
            </a:r>
          </a:p>
        </p:txBody>
      </p:sp>
      <p:sp>
        <p:nvSpPr>
          <p:cNvPr id="100" name="Rounded Rectangle 99"/>
          <p:cNvSpPr/>
          <p:nvPr/>
        </p:nvSpPr>
        <p:spPr>
          <a:xfrm>
            <a:off x="10287000" y="4905375"/>
            <a:ext cx="175260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Middle East &amp; Africa</a:t>
            </a:r>
          </a:p>
        </p:txBody>
      </p:sp>
      <p:sp>
        <p:nvSpPr>
          <p:cNvPr id="101" name="Rectangle 10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03" name="Rounded Rectangle 102">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04" name="Rounded Rectangle 103">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05" name="Rounded Rectangle 104">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Market Taxonomy Segments</a:t>
            </a:r>
          </a:p>
        </p:txBody>
      </p:sp>
      <p:cxnSp>
        <p:nvCxnSpPr>
          <p:cNvPr id="10" name="Connector 9"/>
          <p:cNvCxnSpPr/>
          <p:nvPr/>
        </p:nvCxnSpPr>
        <p:spPr>
          <a:xfrm>
            <a:off x="6096000" y="1314450"/>
            <a:ext cx="0" cy="1905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2975" y="1504950"/>
            <a:ext cx="10296525" cy="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42975" y="1504950"/>
            <a:ext cx="0" cy="1905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657475" y="1504950"/>
            <a:ext cx="0" cy="1905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371975" y="1504950"/>
            <a:ext cx="0" cy="1905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86475" y="1504950"/>
            <a:ext cx="0" cy="1905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810500" y="1504950"/>
            <a:ext cx="0" cy="1905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525000" y="1504950"/>
            <a:ext cx="0" cy="1905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239500" y="1504950"/>
            <a:ext cx="0" cy="1905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09650" y="2152650"/>
            <a:ext cx="0" cy="1524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09650" y="2600325"/>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09650" y="2962275"/>
            <a:ext cx="0" cy="571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09650" y="3314700"/>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9650" y="3838575"/>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09650" y="4200525"/>
            <a:ext cx="0" cy="571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09650" y="4552950"/>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09650" y="4914900"/>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09650" y="5276850"/>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09650" y="5638800"/>
            <a:ext cx="0" cy="571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09650" y="5991225"/>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724150" y="2152650"/>
            <a:ext cx="0" cy="1524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724150" y="260032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438650" y="2152650"/>
            <a:ext cx="0" cy="1524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438650" y="260032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438650" y="2971800"/>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438650" y="334327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153150" y="2152650"/>
            <a:ext cx="0" cy="1524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153150" y="260032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153150" y="2971800"/>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153150" y="334327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877175" y="2152650"/>
            <a:ext cx="0" cy="1524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877175" y="260032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877175" y="2971800"/>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877175" y="3505200"/>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591675" y="2152650"/>
            <a:ext cx="0" cy="1524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591675" y="2762250"/>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591675" y="3133725"/>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591675" y="3505200"/>
            <a:ext cx="0" cy="762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306175" y="2152650"/>
            <a:ext cx="0" cy="1524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306175" y="2600325"/>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306175" y="2962275"/>
            <a:ext cx="0" cy="571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306175" y="3314700"/>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306175" y="3838575"/>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306175" y="4200525"/>
            <a:ext cx="0" cy="571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1306175" y="4552950"/>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1306175" y="4914900"/>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1306175" y="5276850"/>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1306175" y="5638800"/>
            <a:ext cx="0" cy="571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1306175" y="5991225"/>
            <a:ext cx="0" cy="666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4667250" y="933450"/>
            <a:ext cx="2857500" cy="381000"/>
          </a:xfrm>
          <a:prstGeom prst="roundRect">
            <a:avLst>
              <a:gd name="adj" fmla="val 17500"/>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Humira Biosimilars Market</a:t>
            </a:r>
          </a:p>
        </p:txBody>
      </p:sp>
      <p:sp>
        <p:nvSpPr>
          <p:cNvPr id="60" name="Rounded Rectangle 59"/>
          <p:cNvSpPr/>
          <p:nvPr/>
        </p:nvSpPr>
        <p:spPr>
          <a:xfrm>
            <a:off x="142875" y="1695450"/>
            <a:ext cx="1600200" cy="457200"/>
          </a:xfrm>
          <a:prstGeom prst="roundRect">
            <a:avLst>
              <a:gd name="adj" fmla="val 14583"/>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000" b="1">
                <a:solidFill>
                  <a:srgbClr val="FFFFFF"/>
                </a:solidFill>
                <a:latin typeface="Calibri"/>
              </a:rPr>
              <a:t>Product Type</a:t>
            </a:r>
          </a:p>
        </p:txBody>
      </p:sp>
      <p:sp>
        <p:nvSpPr>
          <p:cNvPr id="61" name="Rounded Rectangle 60"/>
          <p:cNvSpPr/>
          <p:nvPr/>
        </p:nvSpPr>
        <p:spPr>
          <a:xfrm>
            <a:off x="276225" y="2305050"/>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Amjevita / Amgevita</a:t>
            </a:r>
          </a:p>
        </p:txBody>
      </p:sp>
      <p:sp>
        <p:nvSpPr>
          <p:cNvPr id="62" name="Rounded Rectangle 61"/>
          <p:cNvSpPr/>
          <p:nvPr/>
        </p:nvSpPr>
        <p:spPr>
          <a:xfrm>
            <a:off x="276225" y="2667000"/>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Cyltezo</a:t>
            </a:r>
          </a:p>
        </p:txBody>
      </p:sp>
      <p:sp>
        <p:nvSpPr>
          <p:cNvPr id="63" name="Rounded Rectangle 62"/>
          <p:cNvSpPr/>
          <p:nvPr/>
        </p:nvSpPr>
        <p:spPr>
          <a:xfrm>
            <a:off x="276225" y="301942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Hadlima / Imraldi</a:t>
            </a:r>
          </a:p>
        </p:txBody>
      </p:sp>
      <p:sp>
        <p:nvSpPr>
          <p:cNvPr id="64" name="Rounded Rectangle 63"/>
          <p:cNvSpPr/>
          <p:nvPr/>
        </p:nvSpPr>
        <p:spPr>
          <a:xfrm>
            <a:off x="276225" y="3381375"/>
            <a:ext cx="1466850" cy="457200"/>
          </a:xfrm>
          <a:prstGeom prst="roundRect">
            <a:avLst>
              <a:gd name="adj" fmla="val 14583"/>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Hyrimoz / Halimatoz / Hefiya</a:t>
            </a:r>
          </a:p>
        </p:txBody>
      </p:sp>
      <p:sp>
        <p:nvSpPr>
          <p:cNvPr id="65" name="Rounded Rectangle 64"/>
          <p:cNvSpPr/>
          <p:nvPr/>
        </p:nvSpPr>
        <p:spPr>
          <a:xfrm>
            <a:off x="276225" y="3905250"/>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Idacio</a:t>
            </a:r>
          </a:p>
        </p:txBody>
      </p:sp>
      <p:sp>
        <p:nvSpPr>
          <p:cNvPr id="66" name="Rounded Rectangle 65"/>
          <p:cNvSpPr/>
          <p:nvPr/>
        </p:nvSpPr>
        <p:spPr>
          <a:xfrm>
            <a:off x="276225" y="425767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Hulio</a:t>
            </a:r>
          </a:p>
        </p:txBody>
      </p:sp>
      <p:sp>
        <p:nvSpPr>
          <p:cNvPr id="67" name="Rounded Rectangle 66"/>
          <p:cNvSpPr/>
          <p:nvPr/>
        </p:nvSpPr>
        <p:spPr>
          <a:xfrm>
            <a:off x="276225" y="461962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Abrilada / Amsparity</a:t>
            </a:r>
          </a:p>
        </p:txBody>
      </p:sp>
      <p:sp>
        <p:nvSpPr>
          <p:cNvPr id="68" name="Rounded Rectangle 67"/>
          <p:cNvSpPr/>
          <p:nvPr/>
        </p:nvSpPr>
        <p:spPr>
          <a:xfrm>
            <a:off x="276225" y="498157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Yusimry</a:t>
            </a:r>
          </a:p>
        </p:txBody>
      </p:sp>
      <p:sp>
        <p:nvSpPr>
          <p:cNvPr id="69" name="Rounded Rectangle 68"/>
          <p:cNvSpPr/>
          <p:nvPr/>
        </p:nvSpPr>
        <p:spPr>
          <a:xfrm>
            <a:off x="276225" y="534352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Yuflyma</a:t>
            </a:r>
          </a:p>
        </p:txBody>
      </p:sp>
      <p:sp>
        <p:nvSpPr>
          <p:cNvPr id="70" name="Rounded Rectangle 69"/>
          <p:cNvSpPr/>
          <p:nvPr/>
        </p:nvSpPr>
        <p:spPr>
          <a:xfrm>
            <a:off x="276225" y="5695950"/>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Simlandi</a:t>
            </a:r>
          </a:p>
        </p:txBody>
      </p:sp>
      <p:sp>
        <p:nvSpPr>
          <p:cNvPr id="71" name="Rounded Rectangle 70"/>
          <p:cNvSpPr/>
          <p:nvPr/>
        </p:nvSpPr>
        <p:spPr>
          <a:xfrm>
            <a:off x="276225" y="6057900"/>
            <a:ext cx="1466850" cy="628650"/>
          </a:xfrm>
          <a:prstGeom prst="roundRect">
            <a:avLst>
              <a:gd name="adj" fmla="val 10606"/>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Other approved adalimumab biosimilars</a:t>
            </a:r>
          </a:p>
        </p:txBody>
      </p:sp>
      <p:sp>
        <p:nvSpPr>
          <p:cNvPr id="72" name="Rounded Rectangle 71"/>
          <p:cNvSpPr/>
          <p:nvPr/>
        </p:nvSpPr>
        <p:spPr>
          <a:xfrm>
            <a:off x="1857375" y="1695450"/>
            <a:ext cx="1600200" cy="457200"/>
          </a:xfrm>
          <a:prstGeom prst="roundRect">
            <a:avLst>
              <a:gd name="adj" fmla="val 14583"/>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000" b="1">
                <a:solidFill>
                  <a:srgbClr val="FFFFFF"/>
                </a:solidFill>
                <a:latin typeface="Calibri"/>
              </a:rPr>
              <a:t>Form Type</a:t>
            </a:r>
          </a:p>
        </p:txBody>
      </p:sp>
      <p:sp>
        <p:nvSpPr>
          <p:cNvPr id="73" name="Rounded Rectangle 72"/>
          <p:cNvSpPr/>
          <p:nvPr/>
        </p:nvSpPr>
        <p:spPr>
          <a:xfrm>
            <a:off x="1990725" y="2305050"/>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Prefilled Syringe</a:t>
            </a:r>
          </a:p>
        </p:txBody>
      </p:sp>
      <p:sp>
        <p:nvSpPr>
          <p:cNvPr id="74" name="Rounded Rectangle 73"/>
          <p:cNvSpPr/>
          <p:nvPr/>
        </p:nvSpPr>
        <p:spPr>
          <a:xfrm>
            <a:off x="1990725" y="267652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Autoinjector / Pen</a:t>
            </a:r>
          </a:p>
        </p:txBody>
      </p:sp>
      <p:sp>
        <p:nvSpPr>
          <p:cNvPr id="75" name="Rounded Rectangle 74"/>
          <p:cNvSpPr/>
          <p:nvPr/>
        </p:nvSpPr>
        <p:spPr>
          <a:xfrm>
            <a:off x="3571875" y="1695450"/>
            <a:ext cx="1600200" cy="457200"/>
          </a:xfrm>
          <a:prstGeom prst="roundRect">
            <a:avLst>
              <a:gd name="adj" fmla="val 14583"/>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000" b="1">
                <a:solidFill>
                  <a:srgbClr val="FFFFFF"/>
                </a:solidFill>
                <a:latin typeface="Calibri"/>
              </a:rPr>
              <a:t>Dosage / Concentration</a:t>
            </a:r>
          </a:p>
        </p:txBody>
      </p:sp>
      <p:sp>
        <p:nvSpPr>
          <p:cNvPr id="76" name="Rounded Rectangle 75"/>
          <p:cNvSpPr/>
          <p:nvPr/>
        </p:nvSpPr>
        <p:spPr>
          <a:xfrm>
            <a:off x="3705225" y="2305050"/>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20 mg</a:t>
            </a:r>
          </a:p>
        </p:txBody>
      </p:sp>
      <p:sp>
        <p:nvSpPr>
          <p:cNvPr id="77" name="Rounded Rectangle 76"/>
          <p:cNvSpPr/>
          <p:nvPr/>
        </p:nvSpPr>
        <p:spPr>
          <a:xfrm>
            <a:off x="3705225" y="267652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40 mg</a:t>
            </a:r>
          </a:p>
        </p:txBody>
      </p:sp>
      <p:sp>
        <p:nvSpPr>
          <p:cNvPr id="78" name="Rounded Rectangle 77"/>
          <p:cNvSpPr/>
          <p:nvPr/>
        </p:nvSpPr>
        <p:spPr>
          <a:xfrm>
            <a:off x="3705225" y="3048000"/>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80 mg</a:t>
            </a:r>
          </a:p>
        </p:txBody>
      </p:sp>
      <p:sp>
        <p:nvSpPr>
          <p:cNvPr id="79" name="Rounded Rectangle 78"/>
          <p:cNvSpPr/>
          <p:nvPr/>
        </p:nvSpPr>
        <p:spPr>
          <a:xfrm>
            <a:off x="3705225" y="341947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100 mg/mL</a:t>
            </a:r>
          </a:p>
        </p:txBody>
      </p:sp>
      <p:sp>
        <p:nvSpPr>
          <p:cNvPr id="80" name="Rounded Rectangle 79"/>
          <p:cNvSpPr/>
          <p:nvPr/>
        </p:nvSpPr>
        <p:spPr>
          <a:xfrm>
            <a:off x="5286375" y="1695450"/>
            <a:ext cx="1600200" cy="457200"/>
          </a:xfrm>
          <a:prstGeom prst="roundRect">
            <a:avLst>
              <a:gd name="adj" fmla="val 14583"/>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000" b="1">
                <a:solidFill>
                  <a:srgbClr val="FFFFFF"/>
                </a:solidFill>
                <a:latin typeface="Calibri"/>
              </a:rPr>
              <a:t>Therapeutic Application</a:t>
            </a:r>
          </a:p>
        </p:txBody>
      </p:sp>
      <p:sp>
        <p:nvSpPr>
          <p:cNvPr id="81" name="Rounded Rectangle 80"/>
          <p:cNvSpPr/>
          <p:nvPr/>
        </p:nvSpPr>
        <p:spPr>
          <a:xfrm>
            <a:off x="5419725" y="2305050"/>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Rheumatology</a:t>
            </a:r>
          </a:p>
        </p:txBody>
      </p:sp>
      <p:sp>
        <p:nvSpPr>
          <p:cNvPr id="82" name="Rounded Rectangle 81"/>
          <p:cNvSpPr/>
          <p:nvPr/>
        </p:nvSpPr>
        <p:spPr>
          <a:xfrm>
            <a:off x="5419725" y="267652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Dermatology</a:t>
            </a:r>
          </a:p>
        </p:txBody>
      </p:sp>
      <p:sp>
        <p:nvSpPr>
          <p:cNvPr id="83" name="Rounded Rectangle 82"/>
          <p:cNvSpPr/>
          <p:nvPr/>
        </p:nvSpPr>
        <p:spPr>
          <a:xfrm>
            <a:off x="5419725" y="3048000"/>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Gastroenterology</a:t>
            </a:r>
          </a:p>
        </p:txBody>
      </p:sp>
      <p:sp>
        <p:nvSpPr>
          <p:cNvPr id="84" name="Rounded Rectangle 83"/>
          <p:cNvSpPr/>
          <p:nvPr/>
        </p:nvSpPr>
        <p:spPr>
          <a:xfrm>
            <a:off x="5419725" y="341947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Ophthalmology</a:t>
            </a:r>
          </a:p>
        </p:txBody>
      </p:sp>
      <p:sp>
        <p:nvSpPr>
          <p:cNvPr id="85" name="Rounded Rectangle 84"/>
          <p:cNvSpPr/>
          <p:nvPr/>
        </p:nvSpPr>
        <p:spPr>
          <a:xfrm>
            <a:off x="7010400" y="1695450"/>
            <a:ext cx="1600200" cy="457200"/>
          </a:xfrm>
          <a:prstGeom prst="roundRect">
            <a:avLst>
              <a:gd name="adj" fmla="val 14583"/>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000" b="1">
                <a:solidFill>
                  <a:srgbClr val="FFFFFF"/>
                </a:solidFill>
                <a:latin typeface="Calibri"/>
              </a:rPr>
              <a:t>Buyer Type</a:t>
            </a:r>
          </a:p>
        </p:txBody>
      </p:sp>
      <p:sp>
        <p:nvSpPr>
          <p:cNvPr id="86" name="Rounded Rectangle 85"/>
          <p:cNvSpPr/>
          <p:nvPr/>
        </p:nvSpPr>
        <p:spPr>
          <a:xfrm>
            <a:off x="7143750" y="2305050"/>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Hospitals</a:t>
            </a:r>
          </a:p>
        </p:txBody>
      </p:sp>
      <p:sp>
        <p:nvSpPr>
          <p:cNvPr id="87" name="Rounded Rectangle 86"/>
          <p:cNvSpPr/>
          <p:nvPr/>
        </p:nvSpPr>
        <p:spPr>
          <a:xfrm>
            <a:off x="7143750" y="267652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Specialty Clinics</a:t>
            </a:r>
          </a:p>
        </p:txBody>
      </p:sp>
      <p:sp>
        <p:nvSpPr>
          <p:cNvPr id="88" name="Rounded Rectangle 87"/>
          <p:cNvSpPr/>
          <p:nvPr/>
        </p:nvSpPr>
        <p:spPr>
          <a:xfrm>
            <a:off x="7143750" y="3048000"/>
            <a:ext cx="1466850" cy="457200"/>
          </a:xfrm>
          <a:prstGeom prst="roundRect">
            <a:avLst>
              <a:gd name="adj" fmla="val 14583"/>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Retail / Specialty Pharmacies</a:t>
            </a:r>
          </a:p>
        </p:txBody>
      </p:sp>
      <p:sp>
        <p:nvSpPr>
          <p:cNvPr id="89" name="Rounded Rectangle 88"/>
          <p:cNvSpPr/>
          <p:nvPr/>
        </p:nvSpPr>
        <p:spPr>
          <a:xfrm>
            <a:off x="7143750" y="3581400"/>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Institutional Buyers</a:t>
            </a:r>
          </a:p>
        </p:txBody>
      </p:sp>
      <p:sp>
        <p:nvSpPr>
          <p:cNvPr id="90" name="Rounded Rectangle 89"/>
          <p:cNvSpPr/>
          <p:nvPr/>
        </p:nvSpPr>
        <p:spPr>
          <a:xfrm>
            <a:off x="8724900" y="1695450"/>
            <a:ext cx="1600200" cy="457200"/>
          </a:xfrm>
          <a:prstGeom prst="roundRect">
            <a:avLst>
              <a:gd name="adj" fmla="val 14583"/>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000" b="1">
                <a:solidFill>
                  <a:srgbClr val="FFFFFF"/>
                </a:solidFill>
                <a:latin typeface="Calibri"/>
              </a:rPr>
              <a:t>Sales / Distribution Channel</a:t>
            </a:r>
          </a:p>
        </p:txBody>
      </p:sp>
      <p:sp>
        <p:nvSpPr>
          <p:cNvPr id="91" name="Rounded Rectangle 90"/>
          <p:cNvSpPr/>
          <p:nvPr/>
        </p:nvSpPr>
        <p:spPr>
          <a:xfrm>
            <a:off x="8858250" y="2305050"/>
            <a:ext cx="1466850" cy="457200"/>
          </a:xfrm>
          <a:prstGeom prst="roundRect">
            <a:avLst>
              <a:gd name="adj" fmla="val 14583"/>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Direct Institutional Sales</a:t>
            </a:r>
          </a:p>
        </p:txBody>
      </p:sp>
      <p:sp>
        <p:nvSpPr>
          <p:cNvPr id="92" name="Rounded Rectangle 91"/>
          <p:cNvSpPr/>
          <p:nvPr/>
        </p:nvSpPr>
        <p:spPr>
          <a:xfrm>
            <a:off x="8858250" y="2838450"/>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Specialty Distribution</a:t>
            </a:r>
          </a:p>
        </p:txBody>
      </p:sp>
      <p:sp>
        <p:nvSpPr>
          <p:cNvPr id="93" name="Rounded Rectangle 92"/>
          <p:cNvSpPr/>
          <p:nvPr/>
        </p:nvSpPr>
        <p:spPr>
          <a:xfrm>
            <a:off x="8858250" y="320992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Pharmacy Channel</a:t>
            </a:r>
          </a:p>
        </p:txBody>
      </p:sp>
      <p:sp>
        <p:nvSpPr>
          <p:cNvPr id="94" name="Rounded Rectangle 93"/>
          <p:cNvSpPr/>
          <p:nvPr/>
        </p:nvSpPr>
        <p:spPr>
          <a:xfrm>
            <a:off x="8858250" y="3581400"/>
            <a:ext cx="1466850" cy="457200"/>
          </a:xfrm>
          <a:prstGeom prst="roundRect">
            <a:avLst>
              <a:gd name="adj" fmla="val 14583"/>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Online / Digital Pharmacy</a:t>
            </a:r>
          </a:p>
        </p:txBody>
      </p:sp>
      <p:sp>
        <p:nvSpPr>
          <p:cNvPr id="95" name="Rounded Rectangle 94"/>
          <p:cNvSpPr/>
          <p:nvPr/>
        </p:nvSpPr>
        <p:spPr>
          <a:xfrm>
            <a:off x="10439400" y="1695450"/>
            <a:ext cx="1600200" cy="457200"/>
          </a:xfrm>
          <a:prstGeom prst="roundRect">
            <a:avLst>
              <a:gd name="adj" fmla="val 14583"/>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000" b="1">
                <a:solidFill>
                  <a:srgbClr val="FFFFFF"/>
                </a:solidFill>
                <a:latin typeface="Calibri"/>
              </a:rPr>
              <a:t>Product Type x Therapeutic Application</a:t>
            </a:r>
          </a:p>
        </p:txBody>
      </p:sp>
      <p:sp>
        <p:nvSpPr>
          <p:cNvPr id="96" name="Rounded Rectangle 95"/>
          <p:cNvSpPr/>
          <p:nvPr/>
        </p:nvSpPr>
        <p:spPr>
          <a:xfrm>
            <a:off x="10572750" y="2305050"/>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Amjevita / Amgevita</a:t>
            </a:r>
          </a:p>
        </p:txBody>
      </p:sp>
      <p:sp>
        <p:nvSpPr>
          <p:cNvPr id="97" name="Rounded Rectangle 96"/>
          <p:cNvSpPr/>
          <p:nvPr/>
        </p:nvSpPr>
        <p:spPr>
          <a:xfrm>
            <a:off x="10572750" y="2667000"/>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Cyltezo</a:t>
            </a:r>
          </a:p>
        </p:txBody>
      </p:sp>
      <p:sp>
        <p:nvSpPr>
          <p:cNvPr id="98" name="Rounded Rectangle 97"/>
          <p:cNvSpPr/>
          <p:nvPr/>
        </p:nvSpPr>
        <p:spPr>
          <a:xfrm>
            <a:off x="10572750" y="301942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Hadlima / Imraldi</a:t>
            </a:r>
          </a:p>
        </p:txBody>
      </p:sp>
      <p:sp>
        <p:nvSpPr>
          <p:cNvPr id="99" name="Rounded Rectangle 98"/>
          <p:cNvSpPr/>
          <p:nvPr/>
        </p:nvSpPr>
        <p:spPr>
          <a:xfrm>
            <a:off x="10572750" y="3381375"/>
            <a:ext cx="1466850" cy="457200"/>
          </a:xfrm>
          <a:prstGeom prst="roundRect">
            <a:avLst>
              <a:gd name="adj" fmla="val 14583"/>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Hyrimoz / Halimatoz / Hefiya</a:t>
            </a:r>
          </a:p>
        </p:txBody>
      </p:sp>
      <p:sp>
        <p:nvSpPr>
          <p:cNvPr id="100" name="Rounded Rectangle 99"/>
          <p:cNvSpPr/>
          <p:nvPr/>
        </p:nvSpPr>
        <p:spPr>
          <a:xfrm>
            <a:off x="10572750" y="3905250"/>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Idacio</a:t>
            </a:r>
          </a:p>
        </p:txBody>
      </p:sp>
      <p:sp>
        <p:nvSpPr>
          <p:cNvPr id="101" name="Rounded Rectangle 100"/>
          <p:cNvSpPr/>
          <p:nvPr/>
        </p:nvSpPr>
        <p:spPr>
          <a:xfrm>
            <a:off x="10572750" y="425767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Hulio</a:t>
            </a:r>
          </a:p>
        </p:txBody>
      </p:sp>
      <p:sp>
        <p:nvSpPr>
          <p:cNvPr id="102" name="Rounded Rectangle 101"/>
          <p:cNvSpPr/>
          <p:nvPr/>
        </p:nvSpPr>
        <p:spPr>
          <a:xfrm>
            <a:off x="10572750" y="461962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Abrilada / Amsparity</a:t>
            </a:r>
          </a:p>
        </p:txBody>
      </p:sp>
      <p:sp>
        <p:nvSpPr>
          <p:cNvPr id="103" name="Rounded Rectangle 102"/>
          <p:cNvSpPr/>
          <p:nvPr/>
        </p:nvSpPr>
        <p:spPr>
          <a:xfrm>
            <a:off x="10572750" y="498157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Yusimry</a:t>
            </a:r>
          </a:p>
        </p:txBody>
      </p:sp>
      <p:sp>
        <p:nvSpPr>
          <p:cNvPr id="104" name="Rounded Rectangle 103"/>
          <p:cNvSpPr/>
          <p:nvPr/>
        </p:nvSpPr>
        <p:spPr>
          <a:xfrm>
            <a:off x="10572750" y="5343525"/>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Yuflyma</a:t>
            </a:r>
          </a:p>
        </p:txBody>
      </p:sp>
      <p:sp>
        <p:nvSpPr>
          <p:cNvPr id="105" name="Rounded Rectangle 104"/>
          <p:cNvSpPr/>
          <p:nvPr/>
        </p:nvSpPr>
        <p:spPr>
          <a:xfrm>
            <a:off x="10572750" y="5695950"/>
            <a:ext cx="1466850" cy="295275"/>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Simlandi</a:t>
            </a:r>
          </a:p>
        </p:txBody>
      </p:sp>
      <p:sp>
        <p:nvSpPr>
          <p:cNvPr id="106" name="Rounded Rectangle 105"/>
          <p:cNvSpPr/>
          <p:nvPr/>
        </p:nvSpPr>
        <p:spPr>
          <a:xfrm>
            <a:off x="10572750" y="6057900"/>
            <a:ext cx="1466850" cy="628650"/>
          </a:xfrm>
          <a:prstGeom prst="roundRect">
            <a:avLst>
              <a:gd name="adj" fmla="val 10606"/>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000" b="0">
                <a:solidFill>
                  <a:srgbClr val="0B2E4A"/>
                </a:solidFill>
                <a:latin typeface="Calibri"/>
              </a:rPr>
              <a:t>Other approved adalimumab biosimilars</a:t>
            </a:r>
          </a:p>
        </p:txBody>
      </p:sp>
      <p:sp>
        <p:nvSpPr>
          <p:cNvPr id="107" name="Rectangle 10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09" name="Rounded Rectangle 108">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10" name="Rounded Rectangle 109">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11" name="Rounded Rectangle 110">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Company Coverage</a:t>
            </a:r>
          </a:p>
        </p:txBody>
      </p:sp>
      <p:sp>
        <p:nvSpPr>
          <p:cNvPr id="10" name="TextBox 9"/>
          <p:cNvSpPr txBox="1"/>
          <p:nvPr/>
        </p:nvSpPr>
        <p:spPr>
          <a:xfrm>
            <a:off x="142875" y="857250"/>
            <a:ext cx="11906250" cy="190500"/>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Humira Biosimilars Market profiled and benchmarked in the Competition Assessment section.</a:t>
            </a:r>
          </a:p>
        </p:txBody>
      </p:sp>
      <p:sp>
        <p:nvSpPr>
          <p:cNvPr id="11" name="Rectangle 10"/>
          <p:cNvSpPr/>
          <p:nvPr/>
        </p:nvSpPr>
        <p:spPr>
          <a:xfrm>
            <a:off x="142875" y="2724150"/>
            <a:ext cx="5857875" cy="226695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2875" y="2724150"/>
            <a:ext cx="5857875" cy="28575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2875" y="2790825"/>
            <a:ext cx="5857875" cy="171450"/>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4" name="TextBox 13"/>
          <p:cNvSpPr txBox="1"/>
          <p:nvPr/>
        </p:nvSpPr>
        <p:spPr>
          <a:xfrm>
            <a:off x="352425" y="3009900"/>
            <a:ext cx="152400" cy="495300"/>
          </a:xfrm>
          <a:prstGeom prst="rect">
            <a:avLst/>
          </a:prstGeom>
          <a:noFill/>
        </p:spPr>
        <p:txBody>
          <a:bodyPr wrap="none" lIns="0" rIns="0" tIns="0" bIns="0" anchor="ctr">
            <a:spAutoFit/>
          </a:bodyPr>
          <a:lstStyle/>
          <a:p>
            <a:pPr algn="l"/>
            <a:r>
              <a:rPr sz="1000" b="0">
                <a:solidFill>
                  <a:srgbClr val="6C7A89"/>
                </a:solidFill>
                <a:latin typeface="Calibri"/>
              </a:rPr>
              <a:t>❑</a:t>
            </a:r>
          </a:p>
        </p:txBody>
      </p:sp>
      <p:sp>
        <p:nvSpPr>
          <p:cNvPr id="15" name="TextBox 14"/>
          <p:cNvSpPr txBox="1"/>
          <p:nvPr/>
        </p:nvSpPr>
        <p:spPr>
          <a:xfrm>
            <a:off x="581025" y="3009900"/>
            <a:ext cx="5286375" cy="495300"/>
          </a:xfrm>
          <a:prstGeom prst="rect">
            <a:avLst/>
          </a:prstGeom>
          <a:noFill/>
        </p:spPr>
        <p:txBody>
          <a:bodyPr wrap="square" lIns="28575" rIns="28575" tIns="9525" bIns="9525" anchor="ctr">
            <a:spAutoFit/>
          </a:bodyPr>
          <a:lstStyle/>
          <a:p>
            <a:pPr algn="l"/>
            <a:r>
              <a:rPr sz="1050" b="0">
                <a:solidFill>
                  <a:srgbClr val="2E2E2E"/>
                </a:solidFill>
                <a:latin typeface="Calibri"/>
              </a:rPr>
              <a:t>Company A</a:t>
            </a:r>
          </a:p>
        </p:txBody>
      </p:sp>
      <p:sp>
        <p:nvSpPr>
          <p:cNvPr id="16" name="Rectangle 15"/>
          <p:cNvSpPr/>
          <p:nvPr/>
        </p:nvSpPr>
        <p:spPr>
          <a:xfrm>
            <a:off x="152400" y="3505200"/>
            <a:ext cx="5838825" cy="49530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52400" y="350520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52425" y="3505200"/>
            <a:ext cx="152400" cy="495300"/>
          </a:xfrm>
          <a:prstGeom prst="rect">
            <a:avLst/>
          </a:prstGeom>
          <a:noFill/>
        </p:spPr>
        <p:txBody>
          <a:bodyPr wrap="none" lIns="0" rIns="0" tIns="0" bIns="0" anchor="ctr">
            <a:spAutoFit/>
          </a:bodyPr>
          <a:lstStyle/>
          <a:p>
            <a:pPr algn="l"/>
            <a:r>
              <a:rPr sz="1000" b="0">
                <a:solidFill>
                  <a:srgbClr val="6C7A89"/>
                </a:solidFill>
                <a:latin typeface="Calibri"/>
              </a:rPr>
              <a:t>❑</a:t>
            </a:r>
          </a:p>
        </p:txBody>
      </p:sp>
      <p:sp>
        <p:nvSpPr>
          <p:cNvPr id="19" name="TextBox 18"/>
          <p:cNvSpPr txBox="1"/>
          <p:nvPr/>
        </p:nvSpPr>
        <p:spPr>
          <a:xfrm>
            <a:off x="581025" y="3505200"/>
            <a:ext cx="5286375" cy="495300"/>
          </a:xfrm>
          <a:prstGeom prst="rect">
            <a:avLst/>
          </a:prstGeom>
          <a:noFill/>
        </p:spPr>
        <p:txBody>
          <a:bodyPr wrap="square" lIns="28575" rIns="28575" tIns="9525" bIns="9525" anchor="ctr">
            <a:spAutoFit/>
          </a:bodyPr>
          <a:lstStyle/>
          <a:p>
            <a:pPr algn="l"/>
            <a:r>
              <a:rPr sz="1050" b="0">
                <a:solidFill>
                  <a:srgbClr val="2E2E2E"/>
                </a:solidFill>
                <a:latin typeface="Calibri"/>
              </a:rPr>
              <a:t>Company B</a:t>
            </a:r>
          </a:p>
        </p:txBody>
      </p:sp>
      <p:cxnSp>
        <p:nvCxnSpPr>
          <p:cNvPr id="20" name="Connector 19"/>
          <p:cNvCxnSpPr/>
          <p:nvPr/>
        </p:nvCxnSpPr>
        <p:spPr>
          <a:xfrm>
            <a:off x="152400" y="400050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52425" y="4000500"/>
            <a:ext cx="152400" cy="495300"/>
          </a:xfrm>
          <a:prstGeom prst="rect">
            <a:avLst/>
          </a:prstGeom>
          <a:noFill/>
        </p:spPr>
        <p:txBody>
          <a:bodyPr wrap="none" lIns="0" rIns="0" tIns="0" bIns="0" anchor="ctr">
            <a:spAutoFit/>
          </a:bodyPr>
          <a:lstStyle/>
          <a:p>
            <a:pPr algn="l"/>
            <a:r>
              <a:rPr sz="1000" b="0">
                <a:solidFill>
                  <a:srgbClr val="6C7A89"/>
                </a:solidFill>
                <a:latin typeface="Calibri"/>
              </a:rPr>
              <a:t>❑</a:t>
            </a:r>
          </a:p>
        </p:txBody>
      </p:sp>
      <p:sp>
        <p:nvSpPr>
          <p:cNvPr id="22" name="TextBox 21"/>
          <p:cNvSpPr txBox="1"/>
          <p:nvPr/>
        </p:nvSpPr>
        <p:spPr>
          <a:xfrm>
            <a:off x="581025" y="4000500"/>
            <a:ext cx="5286375" cy="495300"/>
          </a:xfrm>
          <a:prstGeom prst="rect">
            <a:avLst/>
          </a:prstGeom>
          <a:noFill/>
        </p:spPr>
        <p:txBody>
          <a:bodyPr wrap="square" lIns="28575" rIns="28575" tIns="9525" bIns="9525" anchor="ctr">
            <a:spAutoFit/>
          </a:bodyPr>
          <a:lstStyle/>
          <a:p>
            <a:pPr algn="l"/>
            <a:r>
              <a:rPr sz="1050" b="0">
                <a:solidFill>
                  <a:srgbClr val="2E2E2E"/>
                </a:solidFill>
                <a:latin typeface="Calibri"/>
              </a:rPr>
              <a:t>Company C</a:t>
            </a:r>
          </a:p>
        </p:txBody>
      </p:sp>
      <p:sp>
        <p:nvSpPr>
          <p:cNvPr id="23" name="Rectangle 22"/>
          <p:cNvSpPr/>
          <p:nvPr/>
        </p:nvSpPr>
        <p:spPr>
          <a:xfrm>
            <a:off x="152400" y="4495800"/>
            <a:ext cx="5838825" cy="48577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52400" y="449580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52425" y="4495800"/>
            <a:ext cx="152400" cy="495300"/>
          </a:xfrm>
          <a:prstGeom prst="rect">
            <a:avLst/>
          </a:prstGeom>
          <a:noFill/>
        </p:spPr>
        <p:txBody>
          <a:bodyPr wrap="none" lIns="0" rIns="0" tIns="0" bIns="0" anchor="ctr">
            <a:spAutoFit/>
          </a:bodyPr>
          <a:lstStyle/>
          <a:p>
            <a:pPr algn="l"/>
            <a:r>
              <a:rPr sz="1000" b="0">
                <a:solidFill>
                  <a:srgbClr val="6C7A89"/>
                </a:solidFill>
                <a:latin typeface="Calibri"/>
              </a:rPr>
              <a:t>❑</a:t>
            </a:r>
          </a:p>
        </p:txBody>
      </p:sp>
      <p:sp>
        <p:nvSpPr>
          <p:cNvPr id="26" name="TextBox 25"/>
          <p:cNvSpPr txBox="1"/>
          <p:nvPr/>
        </p:nvSpPr>
        <p:spPr>
          <a:xfrm>
            <a:off x="581025" y="4495800"/>
            <a:ext cx="5286375" cy="495300"/>
          </a:xfrm>
          <a:prstGeom prst="rect">
            <a:avLst/>
          </a:prstGeom>
          <a:noFill/>
        </p:spPr>
        <p:txBody>
          <a:bodyPr wrap="square" lIns="28575" rIns="28575" tIns="9525" bIns="9525" anchor="ctr">
            <a:spAutoFit/>
          </a:bodyPr>
          <a:lstStyle/>
          <a:p>
            <a:pPr algn="l"/>
            <a:r>
              <a:rPr sz="1050" b="0">
                <a:solidFill>
                  <a:srgbClr val="2E2E2E"/>
                </a:solidFill>
                <a:latin typeface="Calibri"/>
              </a:rPr>
              <a:t>Company D</a:t>
            </a:r>
          </a:p>
        </p:txBody>
      </p:sp>
      <p:sp>
        <p:nvSpPr>
          <p:cNvPr id="27" name="Rectangle 26"/>
          <p:cNvSpPr/>
          <p:nvPr/>
        </p:nvSpPr>
        <p:spPr>
          <a:xfrm>
            <a:off x="6191250" y="2724150"/>
            <a:ext cx="5857875" cy="226695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91250" y="2724150"/>
            <a:ext cx="5857875" cy="28575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91250" y="2790825"/>
            <a:ext cx="5857875" cy="171450"/>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30" name="TextBox 29"/>
          <p:cNvSpPr txBox="1"/>
          <p:nvPr/>
        </p:nvSpPr>
        <p:spPr>
          <a:xfrm>
            <a:off x="6400800" y="3009900"/>
            <a:ext cx="152400" cy="495300"/>
          </a:xfrm>
          <a:prstGeom prst="rect">
            <a:avLst/>
          </a:prstGeom>
          <a:noFill/>
        </p:spPr>
        <p:txBody>
          <a:bodyPr wrap="none" lIns="0" rIns="0" tIns="0" bIns="0" anchor="ctr">
            <a:spAutoFit/>
          </a:bodyPr>
          <a:lstStyle/>
          <a:p>
            <a:pPr algn="l"/>
            <a:r>
              <a:rPr sz="1000" b="0">
                <a:solidFill>
                  <a:srgbClr val="6C7A89"/>
                </a:solidFill>
                <a:latin typeface="Calibri"/>
              </a:rPr>
              <a:t>❑</a:t>
            </a:r>
          </a:p>
        </p:txBody>
      </p:sp>
      <p:sp>
        <p:nvSpPr>
          <p:cNvPr id="31" name="TextBox 30"/>
          <p:cNvSpPr txBox="1"/>
          <p:nvPr/>
        </p:nvSpPr>
        <p:spPr>
          <a:xfrm>
            <a:off x="6629400" y="3009900"/>
            <a:ext cx="5286375" cy="495300"/>
          </a:xfrm>
          <a:prstGeom prst="rect">
            <a:avLst/>
          </a:prstGeom>
          <a:noFill/>
        </p:spPr>
        <p:txBody>
          <a:bodyPr wrap="square" lIns="28575" rIns="28575" tIns="9525" bIns="9525" anchor="ctr">
            <a:spAutoFit/>
          </a:bodyPr>
          <a:lstStyle/>
          <a:p>
            <a:pPr algn="l"/>
            <a:r>
              <a:rPr sz="1050" b="0">
                <a:solidFill>
                  <a:srgbClr val="2E2E2E"/>
                </a:solidFill>
                <a:latin typeface="Calibri"/>
              </a:rPr>
              <a:t>Company E</a:t>
            </a:r>
          </a:p>
        </p:txBody>
      </p:sp>
      <p:sp>
        <p:nvSpPr>
          <p:cNvPr id="32" name="Rectangle 31"/>
          <p:cNvSpPr/>
          <p:nvPr/>
        </p:nvSpPr>
        <p:spPr>
          <a:xfrm>
            <a:off x="6200775" y="3505200"/>
            <a:ext cx="5838825" cy="49530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6200775" y="350520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400800" y="3505200"/>
            <a:ext cx="152400" cy="495300"/>
          </a:xfrm>
          <a:prstGeom prst="rect">
            <a:avLst/>
          </a:prstGeom>
          <a:noFill/>
        </p:spPr>
        <p:txBody>
          <a:bodyPr wrap="none" lIns="0" rIns="0" tIns="0" bIns="0" anchor="ctr">
            <a:spAutoFit/>
          </a:bodyPr>
          <a:lstStyle/>
          <a:p>
            <a:pPr algn="l"/>
            <a:r>
              <a:rPr sz="1000" b="0">
                <a:solidFill>
                  <a:srgbClr val="6C7A89"/>
                </a:solidFill>
                <a:latin typeface="Calibri"/>
              </a:rPr>
              <a:t>❑</a:t>
            </a:r>
          </a:p>
        </p:txBody>
      </p:sp>
      <p:sp>
        <p:nvSpPr>
          <p:cNvPr id="35" name="TextBox 34"/>
          <p:cNvSpPr txBox="1"/>
          <p:nvPr/>
        </p:nvSpPr>
        <p:spPr>
          <a:xfrm>
            <a:off x="6629400" y="3505200"/>
            <a:ext cx="5286375" cy="495300"/>
          </a:xfrm>
          <a:prstGeom prst="rect">
            <a:avLst/>
          </a:prstGeom>
          <a:noFill/>
        </p:spPr>
        <p:txBody>
          <a:bodyPr wrap="square" lIns="28575" rIns="28575" tIns="9525" bIns="9525" anchor="ctr">
            <a:spAutoFit/>
          </a:bodyPr>
          <a:lstStyle/>
          <a:p>
            <a:pPr algn="l"/>
            <a:r>
              <a:rPr sz="1050" b="0">
                <a:solidFill>
                  <a:srgbClr val="2E2E2E"/>
                </a:solidFill>
                <a:latin typeface="Calibri"/>
              </a:rPr>
              <a:t>Company F</a:t>
            </a:r>
          </a:p>
        </p:txBody>
      </p:sp>
      <p:cxnSp>
        <p:nvCxnSpPr>
          <p:cNvPr id="36" name="Connector 35"/>
          <p:cNvCxnSpPr/>
          <p:nvPr/>
        </p:nvCxnSpPr>
        <p:spPr>
          <a:xfrm>
            <a:off x="6200775" y="400050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00800" y="4000500"/>
            <a:ext cx="152400" cy="495300"/>
          </a:xfrm>
          <a:prstGeom prst="rect">
            <a:avLst/>
          </a:prstGeom>
          <a:noFill/>
        </p:spPr>
        <p:txBody>
          <a:bodyPr wrap="none" lIns="0" rIns="0" tIns="0" bIns="0" anchor="ctr">
            <a:spAutoFit/>
          </a:bodyPr>
          <a:lstStyle/>
          <a:p>
            <a:pPr algn="l"/>
            <a:r>
              <a:rPr sz="1000" b="0">
                <a:solidFill>
                  <a:srgbClr val="6C7A89"/>
                </a:solidFill>
                <a:latin typeface="Calibri"/>
              </a:rPr>
              <a:t>❑</a:t>
            </a:r>
          </a:p>
        </p:txBody>
      </p:sp>
      <p:sp>
        <p:nvSpPr>
          <p:cNvPr id="38" name="TextBox 37"/>
          <p:cNvSpPr txBox="1"/>
          <p:nvPr/>
        </p:nvSpPr>
        <p:spPr>
          <a:xfrm>
            <a:off x="6629400" y="4000500"/>
            <a:ext cx="5286375" cy="495300"/>
          </a:xfrm>
          <a:prstGeom prst="rect">
            <a:avLst/>
          </a:prstGeom>
          <a:noFill/>
        </p:spPr>
        <p:txBody>
          <a:bodyPr wrap="square" lIns="28575" rIns="28575" tIns="9525" bIns="9525" anchor="ctr">
            <a:spAutoFit/>
          </a:bodyPr>
          <a:lstStyle/>
          <a:p>
            <a:pPr algn="l"/>
            <a:r>
              <a:rPr sz="1050" b="0">
                <a:solidFill>
                  <a:srgbClr val="2E2E2E"/>
                </a:solidFill>
                <a:latin typeface="Calibri"/>
              </a:rPr>
              <a:t>Company G</a:t>
            </a:r>
          </a:p>
        </p:txBody>
      </p:sp>
      <p:sp>
        <p:nvSpPr>
          <p:cNvPr id="39" name="Rectangle 38"/>
          <p:cNvSpPr/>
          <p:nvPr/>
        </p:nvSpPr>
        <p:spPr>
          <a:xfrm>
            <a:off x="6200775" y="4495800"/>
            <a:ext cx="5838825" cy="48577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6200775" y="449580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00800" y="4495800"/>
            <a:ext cx="152400" cy="495300"/>
          </a:xfrm>
          <a:prstGeom prst="rect">
            <a:avLst/>
          </a:prstGeom>
          <a:noFill/>
        </p:spPr>
        <p:txBody>
          <a:bodyPr wrap="none" lIns="0" rIns="0" tIns="0" bIns="0" anchor="ctr">
            <a:spAutoFit/>
          </a:bodyPr>
          <a:lstStyle/>
          <a:p>
            <a:pPr algn="l"/>
            <a:r>
              <a:rPr sz="1000" b="0">
                <a:solidFill>
                  <a:srgbClr val="6C7A89"/>
                </a:solidFill>
                <a:latin typeface="Calibri"/>
              </a:rPr>
              <a:t>❑</a:t>
            </a:r>
          </a:p>
        </p:txBody>
      </p:sp>
      <p:sp>
        <p:nvSpPr>
          <p:cNvPr id="42" name="TextBox 41"/>
          <p:cNvSpPr txBox="1"/>
          <p:nvPr/>
        </p:nvSpPr>
        <p:spPr>
          <a:xfrm>
            <a:off x="6629400" y="4495800"/>
            <a:ext cx="5286375" cy="495300"/>
          </a:xfrm>
          <a:prstGeom prst="rect">
            <a:avLst/>
          </a:prstGeom>
          <a:noFill/>
        </p:spPr>
        <p:txBody>
          <a:bodyPr wrap="square" lIns="28575" rIns="28575" tIns="9525" bIns="9525" anchor="ctr">
            <a:spAutoFit/>
          </a:bodyPr>
          <a:lstStyle/>
          <a:p>
            <a:pPr algn="l"/>
            <a:r>
              <a:rPr sz="1050" b="0">
                <a:solidFill>
                  <a:srgbClr val="2E2E2E"/>
                </a:solidFill>
                <a:latin typeface="Calibri"/>
              </a:rPr>
              <a:t>Company H</a:t>
            </a:r>
          </a:p>
        </p:txBody>
      </p:sp>
      <p:sp>
        <p:nvSpPr>
          <p:cNvPr id="43" name="TextBox 42"/>
          <p:cNvSpPr txBox="1"/>
          <p:nvPr/>
        </p:nvSpPr>
        <p:spPr>
          <a:xfrm>
            <a:off x="142875" y="6438900"/>
            <a:ext cx="11906250" cy="152400"/>
          </a:xfrm>
          <a:prstGeom prst="rect">
            <a:avLst/>
          </a:prstGeom>
          <a:noFill/>
        </p:spPr>
        <p:txBody>
          <a:bodyPr wrap="square" lIns="28575" rIns="28575" tIns="9525" bIns="9525" anchor="ctr">
            <a:spAutoFit/>
          </a:bodyPr>
          <a:lstStyle/>
          <a:p>
            <a:pPr algn="l"/>
            <a:r>
              <a:rPr sz="900" b="1">
                <a:solidFill>
                  <a:srgbClr val="B06A2C"/>
                </a:solidFill>
                <a:latin typeface="Calibri"/>
              </a:rPr>
              <a:t>Note: the list of companies is indicative and can be customised on request.</a:t>
            </a:r>
          </a:p>
        </p:txBody>
      </p:sp>
      <p:sp>
        <p:nvSpPr>
          <p:cNvPr id="44" name="Rectangle 4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46" name="Rounded Rectangle 4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47" name="Rounded Rectangle 4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48" name="Rounded Rectangle 4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North America Overview</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Volume Market Summary</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Pricing &amp; Price Index</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Value Market Summary</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Volume &amp; Value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Country Outlook</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03</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Summary, By Volume (Mn Doses)</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76300"/>
            <a:ext cx="2876550" cy="5334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2026 MARKET SIZE (MN DOSES)</a:t>
            </a:r>
          </a:p>
          <a:p>
            <a:pPr algn="ctr"/>
            <a:r>
              <a:rPr sz="1500" b="1">
                <a:solidFill>
                  <a:srgbClr val="0E72AE"/>
                </a:solidFill>
                <a:latin typeface="Calibri"/>
              </a:rPr>
              <a:t>4.16</a:t>
            </a:r>
          </a:p>
        </p:txBody>
      </p:sp>
      <p:sp>
        <p:nvSpPr>
          <p:cNvPr id="12" name="Rounded Rectangle 11"/>
          <p:cNvSpPr/>
          <p:nvPr/>
        </p:nvSpPr>
        <p:spPr>
          <a:xfrm>
            <a:off x="3143250" y="876300"/>
            <a:ext cx="2876550" cy="5334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2036 MARKET SIZE (MN DOSES)</a:t>
            </a:r>
          </a:p>
          <a:p>
            <a:pPr algn="ctr"/>
            <a:r>
              <a:rPr sz="1500" b="1">
                <a:solidFill>
                  <a:srgbClr val="0E72AE"/>
                </a:solidFill>
                <a:latin typeface="Calibri"/>
              </a:rPr>
              <a:t>14.1</a:t>
            </a:r>
          </a:p>
        </p:txBody>
      </p:sp>
      <p:sp>
        <p:nvSpPr>
          <p:cNvPr id="13" name="Rounded Rectangle 12"/>
          <p:cNvSpPr/>
          <p:nvPr/>
        </p:nvSpPr>
        <p:spPr>
          <a:xfrm>
            <a:off x="6153150" y="876300"/>
            <a:ext cx="2876550" cy="5334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CAGR 2021–2025</a:t>
            </a:r>
          </a:p>
          <a:p>
            <a:pPr algn="ctr"/>
            <a:r>
              <a:rPr sz="1500" b="1">
                <a:solidFill>
                  <a:srgbClr val="0E72AE"/>
                </a:solidFill>
                <a:latin typeface="Calibri"/>
              </a:rPr>
              <a:t>23.6%</a:t>
            </a:r>
          </a:p>
        </p:txBody>
      </p:sp>
      <p:sp>
        <p:nvSpPr>
          <p:cNvPr id="14" name="Rounded Rectangle 13"/>
          <p:cNvSpPr/>
          <p:nvPr/>
        </p:nvSpPr>
        <p:spPr>
          <a:xfrm>
            <a:off x="9163050" y="876300"/>
            <a:ext cx="2876550" cy="5334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CAGR 2026–2036</a:t>
            </a:r>
          </a:p>
          <a:p>
            <a:pPr algn="ctr"/>
            <a:r>
              <a:rPr sz="1500" b="1">
                <a:solidFill>
                  <a:srgbClr val="0E72AE"/>
                </a:solidFill>
                <a:latin typeface="Calibri"/>
              </a:rPr>
              <a:t>13.0%</a:t>
            </a:r>
          </a:p>
        </p:txBody>
      </p:sp>
      <p:sp>
        <p:nvSpPr>
          <p:cNvPr id="15" name="Rounded Rectangle 14"/>
          <p:cNvSpPr/>
          <p:nvPr/>
        </p:nvSpPr>
        <p:spPr>
          <a:xfrm>
            <a:off x="142875" y="1504950"/>
            <a:ext cx="7696200" cy="2457450"/>
          </a:xfrm>
          <a:prstGeom prst="roundRect">
            <a:avLst>
              <a:gd name="adj" fmla="val 31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562100"/>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7" name="Chart 16"/>
          <p:cNvGraphicFramePr>
            <a:graphicFrameLocks noGrp="1"/>
          </p:cNvGraphicFramePr>
          <p:nvPr/>
        </p:nvGraphicFramePr>
        <p:xfrm>
          <a:off x="238125" y="1790700"/>
          <a:ext cx="7505700" cy="2114550"/>
        </p:xfrm>
        <a:graphic>
          <a:graphicData uri="http://schemas.openxmlformats.org/drawingml/2006/chart">
            <c:chart xmlns:c="http://schemas.openxmlformats.org/drawingml/2006/chart" r:id="rId3"/>
          </a:graphicData>
        </a:graphic>
      </p:graphicFrame>
      <p:sp>
        <p:nvSpPr>
          <p:cNvPr id="18" name="Rounded Rectangle 17"/>
          <p:cNvSpPr/>
          <p:nvPr/>
        </p:nvSpPr>
        <p:spPr>
          <a:xfrm>
            <a:off x="142875" y="4019550"/>
            <a:ext cx="7696200" cy="2628900"/>
          </a:xfrm>
          <a:prstGeom prst="roundRect">
            <a:avLst>
              <a:gd name="adj" fmla="val 28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4076700"/>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(Mn Doses)</a:t>
            </a:r>
          </a:p>
        </p:txBody>
      </p:sp>
      <p:graphicFrame>
        <p:nvGraphicFramePr>
          <p:cNvPr id="20" name="Chart 19"/>
          <p:cNvGraphicFramePr>
            <a:graphicFrameLocks noGrp="1"/>
          </p:cNvGraphicFramePr>
          <p:nvPr/>
        </p:nvGraphicFramePr>
        <p:xfrm>
          <a:off x="238125" y="4305300"/>
          <a:ext cx="7505700" cy="2286000"/>
        </p:xfrm>
        <a:graphic>
          <a:graphicData uri="http://schemas.openxmlformats.org/drawingml/2006/chart">
            <c:chart xmlns:c="http://schemas.openxmlformats.org/drawingml/2006/chart" r:id="rId4"/>
          </a:graphicData>
        </a:graphic>
      </p:graphicFrame>
      <p:sp>
        <p:nvSpPr>
          <p:cNvPr id="21" name="Rounded Rectangle 20"/>
          <p:cNvSpPr/>
          <p:nvPr/>
        </p:nvSpPr>
        <p:spPr>
          <a:xfrm>
            <a:off x="7915275" y="1504950"/>
            <a:ext cx="4133850" cy="2457450"/>
          </a:xfrm>
          <a:prstGeom prst="roundRect">
            <a:avLst>
              <a:gd name="adj" fmla="val 31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1590675"/>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3" name="Rectangle 22"/>
          <p:cNvSpPr/>
          <p:nvPr/>
        </p:nvSpPr>
        <p:spPr>
          <a:xfrm>
            <a:off x="8048625" y="182880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1914525"/>
            <a:ext cx="3867150" cy="19716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market grows at 23.2% CAGR (2021–2026), moderating to 13.0% by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Incremental volume of 2.69 Mn Doses is added between 2021 and 2026.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 further 9.97 Mn Doses is added 2026–2036 more than the previous period.</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incremental volume: 12.7 Mn Doses over 2021–2036, a 9.6× expansion.</a:t>
            </a:r>
          </a:p>
        </p:txBody>
      </p:sp>
      <p:sp>
        <p:nvSpPr>
          <p:cNvPr id="25" name="Rounded Rectangle 24"/>
          <p:cNvSpPr/>
          <p:nvPr/>
        </p:nvSpPr>
        <p:spPr>
          <a:xfrm>
            <a:off x="7915275" y="4019550"/>
            <a:ext cx="4133850" cy="2628900"/>
          </a:xfrm>
          <a:prstGeom prst="roundRect">
            <a:avLst>
              <a:gd name="adj" fmla="val 28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105275"/>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7" name="Rectangle 26"/>
          <p:cNvSpPr/>
          <p:nvPr/>
        </p:nvSpPr>
        <p:spPr>
          <a:xfrm>
            <a:off x="8048625" y="434340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8625" y="4429125"/>
            <a:ext cx="3867150" cy="2143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'U.S.' leads regional growth at 13.6%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Demand concentrates in 'Simlandi' within Product Type.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Product innovation and premiumisation lifting value.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Expanding end-use applications and access.</a:t>
            </a:r>
          </a:p>
        </p:txBody>
      </p:sp>
      <p:sp>
        <p:nvSpPr>
          <p:cNvPr id="29" name="Rectangle 2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1" name="Rounded Rectangle 30">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2" name="Rounded Rectangle 31">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3" name="Rounded Rectangle 32">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Pricing &amp; Regional Price Index</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904875"/>
            <a:ext cx="7696200" cy="2781300"/>
          </a:xfrm>
          <a:prstGeom prst="roundRect">
            <a:avLst>
              <a:gd name="adj" fmla="val 27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620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Product Type  ·  range across 2021–2036 (US$/unit)</a:t>
            </a:r>
          </a:p>
        </p:txBody>
      </p:sp>
      <p:sp>
        <p:nvSpPr>
          <p:cNvPr id="13" name="TextBox 12"/>
          <p:cNvSpPr txBox="1"/>
          <p:nvPr/>
        </p:nvSpPr>
        <p:spPr>
          <a:xfrm>
            <a:off x="219075" y="3238500"/>
            <a:ext cx="381000" cy="133350"/>
          </a:xfrm>
          <a:prstGeom prst="rect">
            <a:avLst/>
          </a:prstGeom>
          <a:noFill/>
        </p:spPr>
        <p:txBody>
          <a:bodyPr wrap="none" lIns="0" rIns="0" tIns="0" bIns="0" anchor="ctr">
            <a:spAutoFit/>
          </a:bodyPr>
          <a:lstStyle/>
          <a:p>
            <a:pPr algn="r"/>
            <a:r>
              <a:rPr sz="750" b="0">
                <a:solidFill>
                  <a:srgbClr val="6C7A89"/>
                </a:solidFill>
                <a:latin typeface="Calibri"/>
              </a:rPr>
              <a:t>0</a:t>
            </a:r>
          </a:p>
        </p:txBody>
      </p:sp>
      <p:sp>
        <p:nvSpPr>
          <p:cNvPr id="14" name="TextBox 13"/>
          <p:cNvSpPr txBox="1"/>
          <p:nvPr/>
        </p:nvSpPr>
        <p:spPr>
          <a:xfrm>
            <a:off x="219075" y="2238375"/>
            <a:ext cx="381000" cy="133350"/>
          </a:xfrm>
          <a:prstGeom prst="rect">
            <a:avLst/>
          </a:prstGeom>
          <a:noFill/>
        </p:spPr>
        <p:txBody>
          <a:bodyPr wrap="none" lIns="0" rIns="0" tIns="0" bIns="0" anchor="ctr">
            <a:spAutoFit/>
          </a:bodyPr>
          <a:lstStyle/>
          <a:p>
            <a:pPr algn="r"/>
            <a:r>
              <a:rPr sz="750" b="0">
                <a:solidFill>
                  <a:srgbClr val="6C7A89"/>
                </a:solidFill>
                <a:latin typeface="Calibri"/>
              </a:rPr>
              <a:t>617</a:t>
            </a:r>
          </a:p>
        </p:txBody>
      </p:sp>
      <p:sp>
        <p:nvSpPr>
          <p:cNvPr id="15" name="TextBox 14"/>
          <p:cNvSpPr txBox="1"/>
          <p:nvPr/>
        </p:nvSpPr>
        <p:spPr>
          <a:xfrm>
            <a:off x="219075" y="1238250"/>
            <a:ext cx="381000" cy="133350"/>
          </a:xfrm>
          <a:prstGeom prst="rect">
            <a:avLst/>
          </a:prstGeom>
          <a:noFill/>
        </p:spPr>
        <p:txBody>
          <a:bodyPr wrap="square" lIns="28575" rIns="28575" tIns="9525" bIns="9525" anchor="ctr">
            <a:spAutoFit/>
          </a:bodyPr>
          <a:lstStyle/>
          <a:p>
            <a:pPr algn="r"/>
            <a:r>
              <a:rPr sz="750" b="0">
                <a:solidFill>
                  <a:srgbClr val="6C7A89"/>
                </a:solidFill>
                <a:latin typeface="Calibri"/>
              </a:rPr>
              <a:t>1,235</a:t>
            </a:r>
          </a:p>
        </p:txBody>
      </p:sp>
      <p:cxnSp>
        <p:nvCxnSpPr>
          <p:cNvPr id="16" name="Connector 15"/>
          <p:cNvCxnSpPr/>
          <p:nvPr/>
        </p:nvCxnSpPr>
        <p:spPr>
          <a:xfrm flipV="1">
            <a:off x="975880" y="1933044"/>
            <a:ext cx="0" cy="82309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80283" y="2756139"/>
            <a:ext cx="191193"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80283" y="1933044"/>
            <a:ext cx="191193"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816552" y="2217586"/>
            <a:ext cx="318655" cy="399626"/>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16552" y="2441166"/>
            <a:ext cx="318655"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7225" y="1780644"/>
            <a:ext cx="637309" cy="133350"/>
          </a:xfrm>
          <a:prstGeom prst="rect">
            <a:avLst/>
          </a:prstGeom>
          <a:noFill/>
        </p:spPr>
        <p:txBody>
          <a:bodyPr wrap="none" lIns="0" rIns="0" tIns="0" bIns="0">
            <a:spAutoFit/>
          </a:bodyPr>
          <a:lstStyle/>
          <a:p>
            <a:pPr algn="ctr"/>
            <a:r>
              <a:rPr sz="750" b="1">
                <a:solidFill>
                  <a:srgbClr val="0B2E4A"/>
                </a:solidFill>
                <a:latin typeface="Calibri"/>
              </a:rPr>
              <a:t>533</a:t>
            </a:r>
          </a:p>
        </p:txBody>
      </p:sp>
      <p:sp>
        <p:nvSpPr>
          <p:cNvPr id="22" name="TextBox 21"/>
          <p:cNvSpPr txBox="1"/>
          <p:nvPr/>
        </p:nvSpPr>
        <p:spPr>
          <a:xfrm>
            <a:off x="657225" y="3333750"/>
            <a:ext cx="637309" cy="285750"/>
          </a:xfrm>
          <a:prstGeom prst="rect">
            <a:avLst/>
          </a:prstGeom>
          <a:noFill/>
        </p:spPr>
        <p:txBody>
          <a:bodyPr wrap="square" lIns="28575" rIns="28575" tIns="9525" bIns="9525">
            <a:spAutoFit/>
          </a:bodyPr>
          <a:lstStyle/>
          <a:p>
            <a:pPr algn="ctr"/>
            <a:r>
              <a:rPr sz="750" b="0">
                <a:solidFill>
                  <a:srgbClr val="2E2E2E"/>
                </a:solidFill>
                <a:latin typeface="Calibri"/>
              </a:rPr>
              <a:t>Amjevita / Amgevita</a:t>
            </a:r>
          </a:p>
        </p:txBody>
      </p:sp>
      <p:cxnSp>
        <p:nvCxnSpPr>
          <p:cNvPr id="23" name="Connector 22"/>
          <p:cNvCxnSpPr/>
          <p:nvPr/>
        </p:nvCxnSpPr>
        <p:spPr>
          <a:xfrm flipV="1">
            <a:off x="1613189" y="1948848"/>
            <a:ext cx="0" cy="63185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517592" y="2580700"/>
            <a:ext cx="191193"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517592" y="1948848"/>
            <a:ext cx="191193"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453861" y="2149827"/>
            <a:ext cx="318655" cy="31095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453861" y="2318656"/>
            <a:ext cx="318655"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294534" y="1796448"/>
            <a:ext cx="637309" cy="133350"/>
          </a:xfrm>
          <a:prstGeom prst="rect">
            <a:avLst/>
          </a:prstGeom>
          <a:noFill/>
        </p:spPr>
        <p:txBody>
          <a:bodyPr wrap="none" lIns="0" rIns="0" tIns="0" bIns="0">
            <a:spAutoFit/>
          </a:bodyPr>
          <a:lstStyle/>
          <a:p>
            <a:pPr algn="ctr"/>
            <a:r>
              <a:rPr sz="750" b="1">
                <a:solidFill>
                  <a:srgbClr val="0B2E4A"/>
                </a:solidFill>
                <a:latin typeface="Calibri"/>
              </a:rPr>
              <a:t>609</a:t>
            </a:r>
          </a:p>
        </p:txBody>
      </p:sp>
      <p:sp>
        <p:nvSpPr>
          <p:cNvPr id="29" name="TextBox 28"/>
          <p:cNvSpPr txBox="1"/>
          <p:nvPr/>
        </p:nvSpPr>
        <p:spPr>
          <a:xfrm>
            <a:off x="1294534" y="3333750"/>
            <a:ext cx="637309" cy="285750"/>
          </a:xfrm>
          <a:prstGeom prst="rect">
            <a:avLst/>
          </a:prstGeom>
          <a:noFill/>
        </p:spPr>
        <p:txBody>
          <a:bodyPr wrap="square" lIns="28575" rIns="28575" tIns="9525" bIns="9525">
            <a:spAutoFit/>
          </a:bodyPr>
          <a:lstStyle/>
          <a:p>
            <a:pPr algn="ctr"/>
            <a:r>
              <a:rPr sz="750" b="0">
                <a:solidFill>
                  <a:srgbClr val="2E2E2E"/>
                </a:solidFill>
                <a:latin typeface="Calibri"/>
              </a:rPr>
              <a:t>Cyltezo</a:t>
            </a:r>
          </a:p>
        </p:txBody>
      </p:sp>
      <p:cxnSp>
        <p:nvCxnSpPr>
          <p:cNvPr id="30" name="Connector 29"/>
          <p:cNvCxnSpPr/>
          <p:nvPr/>
        </p:nvCxnSpPr>
        <p:spPr>
          <a:xfrm flipV="1">
            <a:off x="2250498" y="2404467"/>
            <a:ext cx="0" cy="44878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154901" y="2853255"/>
            <a:ext cx="191193"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154901" y="2404467"/>
            <a:ext cx="191193"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2091170" y="2549820"/>
            <a:ext cx="318655" cy="220308"/>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2091170" y="2670204"/>
            <a:ext cx="318655"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931843" y="2252067"/>
            <a:ext cx="637309" cy="133350"/>
          </a:xfrm>
          <a:prstGeom prst="rect">
            <a:avLst/>
          </a:prstGeom>
          <a:noFill/>
        </p:spPr>
        <p:txBody>
          <a:bodyPr wrap="none" lIns="0" rIns="0" tIns="0" bIns="0">
            <a:spAutoFit/>
          </a:bodyPr>
          <a:lstStyle/>
          <a:p>
            <a:pPr algn="ctr"/>
            <a:r>
              <a:rPr sz="750" b="1">
                <a:solidFill>
                  <a:srgbClr val="0B2E4A"/>
                </a:solidFill>
                <a:latin typeface="Calibri"/>
              </a:rPr>
              <a:t>392</a:t>
            </a:r>
          </a:p>
        </p:txBody>
      </p:sp>
      <p:sp>
        <p:nvSpPr>
          <p:cNvPr id="36" name="TextBox 35"/>
          <p:cNvSpPr txBox="1"/>
          <p:nvPr/>
        </p:nvSpPr>
        <p:spPr>
          <a:xfrm>
            <a:off x="1931843" y="3333750"/>
            <a:ext cx="637309" cy="285750"/>
          </a:xfrm>
          <a:prstGeom prst="rect">
            <a:avLst/>
          </a:prstGeom>
          <a:noFill/>
        </p:spPr>
        <p:txBody>
          <a:bodyPr wrap="square" lIns="28575" rIns="28575" tIns="9525" bIns="9525">
            <a:spAutoFit/>
          </a:bodyPr>
          <a:lstStyle/>
          <a:p>
            <a:pPr algn="ctr"/>
            <a:r>
              <a:rPr sz="750" b="0">
                <a:solidFill>
                  <a:srgbClr val="2E2E2E"/>
                </a:solidFill>
                <a:latin typeface="Calibri"/>
              </a:rPr>
              <a:t>Hadlima / Imraldi</a:t>
            </a:r>
          </a:p>
        </p:txBody>
      </p:sp>
      <p:cxnSp>
        <p:nvCxnSpPr>
          <p:cNvPr id="37" name="Connector 36"/>
          <p:cNvCxnSpPr/>
          <p:nvPr/>
        </p:nvCxnSpPr>
        <p:spPr>
          <a:xfrm flipV="1">
            <a:off x="2887807" y="2410888"/>
            <a:ext cx="0" cy="14948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792210" y="2560373"/>
            <a:ext cx="191193"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792210" y="2410888"/>
            <a:ext cx="191193"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2728480" y="2454065"/>
            <a:ext cx="318655" cy="7437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2728480" y="2493121"/>
            <a:ext cx="318654"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2569152" y="2258488"/>
            <a:ext cx="637309" cy="133350"/>
          </a:xfrm>
          <a:prstGeom prst="rect">
            <a:avLst/>
          </a:prstGeom>
          <a:noFill/>
        </p:spPr>
        <p:txBody>
          <a:bodyPr wrap="none" lIns="0" rIns="0" tIns="0" bIns="0">
            <a:spAutoFit/>
          </a:bodyPr>
          <a:lstStyle/>
          <a:p>
            <a:pPr algn="ctr"/>
            <a:r>
              <a:rPr sz="750" b="1">
                <a:solidFill>
                  <a:srgbClr val="0B2E4A"/>
                </a:solidFill>
                <a:latin typeface="Calibri"/>
              </a:rPr>
              <a:t>501</a:t>
            </a:r>
          </a:p>
        </p:txBody>
      </p:sp>
      <p:sp>
        <p:nvSpPr>
          <p:cNvPr id="43" name="TextBox 42"/>
          <p:cNvSpPr txBox="1"/>
          <p:nvPr/>
        </p:nvSpPr>
        <p:spPr>
          <a:xfrm>
            <a:off x="2569152" y="3333750"/>
            <a:ext cx="637309" cy="285750"/>
          </a:xfrm>
          <a:prstGeom prst="rect">
            <a:avLst/>
          </a:prstGeom>
          <a:noFill/>
        </p:spPr>
        <p:txBody>
          <a:bodyPr wrap="square" lIns="28575" rIns="28575" tIns="9525" bIns="9525">
            <a:spAutoFit/>
          </a:bodyPr>
          <a:lstStyle/>
          <a:p>
            <a:pPr algn="ctr"/>
            <a:r>
              <a:rPr sz="750" b="0">
                <a:solidFill>
                  <a:srgbClr val="2E2E2E"/>
                </a:solidFill>
                <a:latin typeface="Calibri"/>
              </a:rPr>
              <a:t>Hyrimoz / Halimatoz /…</a:t>
            </a:r>
          </a:p>
        </p:txBody>
      </p:sp>
      <p:cxnSp>
        <p:nvCxnSpPr>
          <p:cNvPr id="44" name="Connector 43"/>
          <p:cNvCxnSpPr/>
          <p:nvPr/>
        </p:nvCxnSpPr>
        <p:spPr>
          <a:xfrm flipV="1">
            <a:off x="3525116" y="1538649"/>
            <a:ext cx="0" cy="401791"/>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429520" y="1940440"/>
            <a:ext cx="191192"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429520" y="1538649"/>
            <a:ext cx="191192"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3365789" y="1655213"/>
            <a:ext cx="318655" cy="199707"/>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3365789" y="1760220"/>
            <a:ext cx="318654"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206461" y="1386249"/>
            <a:ext cx="637309" cy="133350"/>
          </a:xfrm>
          <a:prstGeom prst="rect">
            <a:avLst/>
          </a:prstGeom>
          <a:noFill/>
        </p:spPr>
        <p:txBody>
          <a:bodyPr wrap="none" lIns="0" rIns="0" tIns="0" bIns="0">
            <a:spAutoFit/>
          </a:bodyPr>
          <a:lstStyle/>
          <a:p>
            <a:pPr algn="ctr"/>
            <a:r>
              <a:rPr sz="750" b="1">
                <a:solidFill>
                  <a:srgbClr val="0B2E4A"/>
                </a:solidFill>
                <a:latin typeface="Calibri"/>
              </a:rPr>
              <a:t>954</a:t>
            </a:r>
          </a:p>
        </p:txBody>
      </p:sp>
      <p:sp>
        <p:nvSpPr>
          <p:cNvPr id="50" name="TextBox 49"/>
          <p:cNvSpPr txBox="1"/>
          <p:nvPr/>
        </p:nvSpPr>
        <p:spPr>
          <a:xfrm>
            <a:off x="3206461" y="3333750"/>
            <a:ext cx="637309" cy="285750"/>
          </a:xfrm>
          <a:prstGeom prst="rect">
            <a:avLst/>
          </a:prstGeom>
          <a:noFill/>
        </p:spPr>
        <p:txBody>
          <a:bodyPr wrap="square" lIns="28575" rIns="28575" tIns="9525" bIns="9525">
            <a:spAutoFit/>
          </a:bodyPr>
          <a:lstStyle/>
          <a:p>
            <a:pPr algn="ctr"/>
            <a:r>
              <a:rPr sz="750" b="0">
                <a:solidFill>
                  <a:srgbClr val="2E2E2E"/>
                </a:solidFill>
                <a:latin typeface="Calibri"/>
              </a:rPr>
              <a:t>Idacio</a:t>
            </a:r>
          </a:p>
        </p:txBody>
      </p:sp>
      <p:cxnSp>
        <p:nvCxnSpPr>
          <p:cNvPr id="51" name="Connector 50"/>
          <p:cNvCxnSpPr/>
          <p:nvPr/>
        </p:nvCxnSpPr>
        <p:spPr>
          <a:xfrm flipV="1">
            <a:off x="4162425" y="2636926"/>
            <a:ext cx="0" cy="322393"/>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066829" y="2959319"/>
            <a:ext cx="191192"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066829" y="2636926"/>
            <a:ext cx="191192"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4003098" y="2740406"/>
            <a:ext cx="318655" cy="158466"/>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4003098" y="2826722"/>
            <a:ext cx="318654"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843770" y="2484526"/>
            <a:ext cx="637309" cy="133350"/>
          </a:xfrm>
          <a:prstGeom prst="rect">
            <a:avLst/>
          </a:prstGeom>
          <a:noFill/>
        </p:spPr>
        <p:txBody>
          <a:bodyPr wrap="none" lIns="0" rIns="0" tIns="0" bIns="0">
            <a:spAutoFit/>
          </a:bodyPr>
          <a:lstStyle/>
          <a:p>
            <a:pPr algn="ctr"/>
            <a:r>
              <a:rPr sz="750" b="1">
                <a:solidFill>
                  <a:srgbClr val="0B2E4A"/>
                </a:solidFill>
                <a:latin typeface="Calibri"/>
              </a:rPr>
              <a:t>295</a:t>
            </a:r>
          </a:p>
        </p:txBody>
      </p:sp>
      <p:sp>
        <p:nvSpPr>
          <p:cNvPr id="57" name="TextBox 56"/>
          <p:cNvSpPr txBox="1"/>
          <p:nvPr/>
        </p:nvSpPr>
        <p:spPr>
          <a:xfrm>
            <a:off x="3843770" y="3333750"/>
            <a:ext cx="637309" cy="285750"/>
          </a:xfrm>
          <a:prstGeom prst="rect">
            <a:avLst/>
          </a:prstGeom>
          <a:noFill/>
        </p:spPr>
        <p:txBody>
          <a:bodyPr wrap="square" lIns="28575" rIns="28575" tIns="9525" bIns="9525">
            <a:spAutoFit/>
          </a:bodyPr>
          <a:lstStyle/>
          <a:p>
            <a:pPr algn="ctr"/>
            <a:r>
              <a:rPr sz="750" b="0">
                <a:solidFill>
                  <a:srgbClr val="2E2E2E"/>
                </a:solidFill>
                <a:latin typeface="Calibri"/>
              </a:rPr>
              <a:t>Hulio</a:t>
            </a:r>
          </a:p>
        </p:txBody>
      </p:sp>
      <p:cxnSp>
        <p:nvCxnSpPr>
          <p:cNvPr id="58" name="Connector 57"/>
          <p:cNvCxnSpPr/>
          <p:nvPr/>
        </p:nvCxnSpPr>
        <p:spPr>
          <a:xfrm flipV="1">
            <a:off x="4799734" y="2156321"/>
            <a:ext cx="0" cy="58593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4704138" y="2742257"/>
            <a:ext cx="191192"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4704138" y="2156321"/>
            <a:ext cx="191192"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4640407" y="2347399"/>
            <a:ext cx="318655" cy="287343"/>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4640407" y="2504799"/>
            <a:ext cx="318654"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4481080" y="2003921"/>
            <a:ext cx="637309" cy="133350"/>
          </a:xfrm>
          <a:prstGeom prst="rect">
            <a:avLst/>
          </a:prstGeom>
          <a:noFill/>
        </p:spPr>
        <p:txBody>
          <a:bodyPr wrap="none" lIns="0" rIns="0" tIns="0" bIns="0">
            <a:spAutoFit/>
          </a:bodyPr>
          <a:lstStyle/>
          <a:p>
            <a:pPr algn="ctr"/>
            <a:r>
              <a:rPr sz="750" b="1">
                <a:solidFill>
                  <a:srgbClr val="0B2E4A"/>
                </a:solidFill>
                <a:latin typeface="Calibri"/>
              </a:rPr>
              <a:t>494</a:t>
            </a:r>
          </a:p>
        </p:txBody>
      </p:sp>
      <p:sp>
        <p:nvSpPr>
          <p:cNvPr id="64" name="TextBox 63"/>
          <p:cNvSpPr txBox="1"/>
          <p:nvPr/>
        </p:nvSpPr>
        <p:spPr>
          <a:xfrm>
            <a:off x="4481080" y="3333750"/>
            <a:ext cx="637309" cy="285750"/>
          </a:xfrm>
          <a:prstGeom prst="rect">
            <a:avLst/>
          </a:prstGeom>
          <a:noFill/>
        </p:spPr>
        <p:txBody>
          <a:bodyPr wrap="square" lIns="28575" rIns="28575" tIns="9525" bIns="9525">
            <a:spAutoFit/>
          </a:bodyPr>
          <a:lstStyle/>
          <a:p>
            <a:pPr algn="ctr"/>
            <a:r>
              <a:rPr sz="750" b="0">
                <a:solidFill>
                  <a:srgbClr val="2E2E2E"/>
                </a:solidFill>
                <a:latin typeface="Calibri"/>
              </a:rPr>
              <a:t>Abrilada / Amsparity</a:t>
            </a:r>
          </a:p>
        </p:txBody>
      </p:sp>
      <p:cxnSp>
        <p:nvCxnSpPr>
          <p:cNvPr id="65" name="Connector 64"/>
          <p:cNvCxnSpPr/>
          <p:nvPr/>
        </p:nvCxnSpPr>
        <p:spPr>
          <a:xfrm flipV="1">
            <a:off x="5437043" y="2621636"/>
            <a:ext cx="0" cy="30918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341447" y="2930822"/>
            <a:ext cx="191193"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5341447" y="2621636"/>
            <a:ext cx="191193"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5277716" y="2719279"/>
            <a:ext cx="318655" cy="152302"/>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a:off x="5277716" y="2801759"/>
            <a:ext cx="318654"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118389" y="2469236"/>
            <a:ext cx="637309" cy="133350"/>
          </a:xfrm>
          <a:prstGeom prst="rect">
            <a:avLst/>
          </a:prstGeom>
          <a:noFill/>
        </p:spPr>
        <p:txBody>
          <a:bodyPr wrap="none" lIns="0" rIns="0" tIns="0" bIns="0">
            <a:spAutoFit/>
          </a:bodyPr>
          <a:lstStyle/>
          <a:p>
            <a:pPr algn="ctr"/>
            <a:r>
              <a:rPr sz="750" b="1">
                <a:solidFill>
                  <a:srgbClr val="0B2E4A"/>
                </a:solidFill>
                <a:latin typeface="Calibri"/>
              </a:rPr>
              <a:t>311</a:t>
            </a:r>
          </a:p>
        </p:txBody>
      </p:sp>
      <p:sp>
        <p:nvSpPr>
          <p:cNvPr id="71" name="TextBox 70"/>
          <p:cNvSpPr txBox="1"/>
          <p:nvPr/>
        </p:nvSpPr>
        <p:spPr>
          <a:xfrm>
            <a:off x="5118389" y="3333750"/>
            <a:ext cx="637309" cy="285750"/>
          </a:xfrm>
          <a:prstGeom prst="rect">
            <a:avLst/>
          </a:prstGeom>
          <a:noFill/>
        </p:spPr>
        <p:txBody>
          <a:bodyPr wrap="square" lIns="28575" rIns="28575" tIns="9525" bIns="9525">
            <a:spAutoFit/>
          </a:bodyPr>
          <a:lstStyle/>
          <a:p>
            <a:pPr algn="ctr"/>
            <a:r>
              <a:rPr sz="750" b="0">
                <a:solidFill>
                  <a:srgbClr val="2E2E2E"/>
                </a:solidFill>
                <a:latin typeface="Calibri"/>
              </a:rPr>
              <a:t>Yusimry</a:t>
            </a:r>
          </a:p>
        </p:txBody>
      </p:sp>
      <p:cxnSp>
        <p:nvCxnSpPr>
          <p:cNvPr id="72" name="Connector 71"/>
          <p:cNvCxnSpPr/>
          <p:nvPr/>
        </p:nvCxnSpPr>
        <p:spPr>
          <a:xfrm flipV="1">
            <a:off x="6074352" y="2632934"/>
            <a:ext cx="0" cy="263533"/>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5978756" y="2896467"/>
            <a:ext cx="191193"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5978756" y="2632934"/>
            <a:ext cx="191193"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5915025" y="2713745"/>
            <a:ext cx="318655" cy="130269"/>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a:off x="5915025" y="2783565"/>
            <a:ext cx="318655"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5755698" y="2480534"/>
            <a:ext cx="637309" cy="133350"/>
          </a:xfrm>
          <a:prstGeom prst="rect">
            <a:avLst/>
          </a:prstGeom>
          <a:noFill/>
        </p:spPr>
        <p:txBody>
          <a:bodyPr wrap="none" lIns="0" rIns="0" tIns="0" bIns="0">
            <a:spAutoFit/>
          </a:bodyPr>
          <a:lstStyle/>
          <a:p>
            <a:pPr algn="ctr"/>
            <a:r>
              <a:rPr sz="750" b="1">
                <a:solidFill>
                  <a:srgbClr val="0B2E4A"/>
                </a:solidFill>
                <a:latin typeface="Calibri"/>
              </a:rPr>
              <a:t>322</a:t>
            </a:r>
          </a:p>
        </p:txBody>
      </p:sp>
      <p:sp>
        <p:nvSpPr>
          <p:cNvPr id="78" name="TextBox 77"/>
          <p:cNvSpPr txBox="1"/>
          <p:nvPr/>
        </p:nvSpPr>
        <p:spPr>
          <a:xfrm>
            <a:off x="5755698" y="3333750"/>
            <a:ext cx="637309" cy="285750"/>
          </a:xfrm>
          <a:prstGeom prst="rect">
            <a:avLst/>
          </a:prstGeom>
          <a:noFill/>
        </p:spPr>
        <p:txBody>
          <a:bodyPr wrap="square" lIns="28575" rIns="28575" tIns="9525" bIns="9525">
            <a:spAutoFit/>
          </a:bodyPr>
          <a:lstStyle/>
          <a:p>
            <a:pPr algn="ctr"/>
            <a:r>
              <a:rPr sz="750" b="0">
                <a:solidFill>
                  <a:srgbClr val="2E2E2E"/>
                </a:solidFill>
                <a:latin typeface="Calibri"/>
              </a:rPr>
              <a:t>Yuflyma</a:t>
            </a:r>
          </a:p>
        </p:txBody>
      </p:sp>
      <p:cxnSp>
        <p:nvCxnSpPr>
          <p:cNvPr id="79" name="Connector 78"/>
          <p:cNvCxnSpPr/>
          <p:nvPr/>
        </p:nvCxnSpPr>
        <p:spPr>
          <a:xfrm flipV="1">
            <a:off x="6711661" y="2740440"/>
            <a:ext cx="0" cy="35637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6616065" y="3096812"/>
            <a:ext cx="191193"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6616065" y="2740440"/>
            <a:ext cx="191193"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6552334" y="2866506"/>
            <a:ext cx="318655" cy="172216"/>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a:off x="6552334" y="2963674"/>
            <a:ext cx="318655"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393007" y="2588040"/>
            <a:ext cx="637309" cy="133350"/>
          </a:xfrm>
          <a:prstGeom prst="rect">
            <a:avLst/>
          </a:prstGeom>
          <a:noFill/>
        </p:spPr>
        <p:txBody>
          <a:bodyPr wrap="none" lIns="0" rIns="0" tIns="0" bIns="0">
            <a:spAutoFit/>
          </a:bodyPr>
          <a:lstStyle/>
          <a:p>
            <a:pPr algn="ctr"/>
            <a:r>
              <a:rPr sz="750" b="1">
                <a:solidFill>
                  <a:srgbClr val="0B2E4A"/>
                </a:solidFill>
                <a:latin typeface="Calibri"/>
              </a:rPr>
              <a:t>211</a:t>
            </a:r>
          </a:p>
        </p:txBody>
      </p:sp>
      <p:sp>
        <p:nvSpPr>
          <p:cNvPr id="85" name="TextBox 84"/>
          <p:cNvSpPr txBox="1"/>
          <p:nvPr/>
        </p:nvSpPr>
        <p:spPr>
          <a:xfrm>
            <a:off x="6393007" y="3333750"/>
            <a:ext cx="637309" cy="285750"/>
          </a:xfrm>
          <a:prstGeom prst="rect">
            <a:avLst/>
          </a:prstGeom>
          <a:noFill/>
        </p:spPr>
        <p:txBody>
          <a:bodyPr wrap="square" lIns="28575" rIns="28575" tIns="9525" bIns="9525">
            <a:spAutoFit/>
          </a:bodyPr>
          <a:lstStyle/>
          <a:p>
            <a:pPr algn="ctr"/>
            <a:r>
              <a:rPr sz="750" b="0">
                <a:solidFill>
                  <a:srgbClr val="2E2E2E"/>
                </a:solidFill>
                <a:latin typeface="Calibri"/>
              </a:rPr>
              <a:t>Simlandi</a:t>
            </a:r>
          </a:p>
        </p:txBody>
      </p:sp>
      <p:cxnSp>
        <p:nvCxnSpPr>
          <p:cNvPr id="86" name="Connector 85"/>
          <p:cNvCxnSpPr/>
          <p:nvPr/>
        </p:nvCxnSpPr>
        <p:spPr>
          <a:xfrm flipV="1">
            <a:off x="7348970" y="2210906"/>
            <a:ext cx="0" cy="45689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253374" y="2667801"/>
            <a:ext cx="191193"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253374" y="2210906"/>
            <a:ext cx="191193"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7189643" y="2352686"/>
            <a:ext cx="318655" cy="225552"/>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0" name="Connector 89"/>
          <p:cNvCxnSpPr/>
          <p:nvPr/>
        </p:nvCxnSpPr>
        <p:spPr>
          <a:xfrm>
            <a:off x="7189643" y="2474083"/>
            <a:ext cx="318655"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7030316" y="2058506"/>
            <a:ext cx="637309" cy="133350"/>
          </a:xfrm>
          <a:prstGeom prst="rect">
            <a:avLst/>
          </a:prstGeom>
          <a:noFill/>
        </p:spPr>
        <p:txBody>
          <a:bodyPr wrap="none" lIns="0" rIns="0" tIns="0" bIns="0">
            <a:spAutoFit/>
          </a:bodyPr>
          <a:lstStyle/>
          <a:p>
            <a:pPr algn="ctr"/>
            <a:r>
              <a:rPr sz="750" b="1">
                <a:solidFill>
                  <a:srgbClr val="0B2E4A"/>
                </a:solidFill>
                <a:latin typeface="Calibri"/>
              </a:rPr>
              <a:t>513</a:t>
            </a:r>
          </a:p>
        </p:txBody>
      </p:sp>
      <p:sp>
        <p:nvSpPr>
          <p:cNvPr id="92" name="TextBox 91"/>
          <p:cNvSpPr txBox="1"/>
          <p:nvPr/>
        </p:nvSpPr>
        <p:spPr>
          <a:xfrm>
            <a:off x="7030316" y="3333750"/>
            <a:ext cx="637309" cy="285750"/>
          </a:xfrm>
          <a:prstGeom prst="rect">
            <a:avLst/>
          </a:prstGeom>
          <a:noFill/>
        </p:spPr>
        <p:txBody>
          <a:bodyPr wrap="square" lIns="28575" rIns="28575" tIns="9525" bIns="9525">
            <a:spAutoFit/>
          </a:bodyPr>
          <a:lstStyle/>
          <a:p>
            <a:pPr algn="ctr"/>
            <a:r>
              <a:rPr sz="750" b="0">
                <a:solidFill>
                  <a:srgbClr val="2E2E2E"/>
                </a:solidFill>
                <a:latin typeface="Calibri"/>
              </a:rPr>
              <a:t>Other approved adalim…</a:t>
            </a:r>
          </a:p>
        </p:txBody>
      </p:sp>
      <p:sp>
        <p:nvSpPr>
          <p:cNvPr id="93" name="Rounded Rectangle 92"/>
          <p:cNvSpPr/>
          <p:nvPr/>
        </p:nvSpPr>
        <p:spPr>
          <a:xfrm>
            <a:off x="142875" y="3743325"/>
            <a:ext cx="7696200" cy="2905125"/>
          </a:xfrm>
          <a:prstGeom prst="roundRect">
            <a:avLst>
              <a:gd name="adj" fmla="val 262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38125" y="380047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Country vs North America  ·  2026–2036</a:t>
            </a:r>
          </a:p>
        </p:txBody>
      </p:sp>
      <p:sp>
        <p:nvSpPr>
          <p:cNvPr id="95" name="TextBox 94"/>
          <p:cNvSpPr txBox="1"/>
          <p:nvPr/>
        </p:nvSpPr>
        <p:spPr>
          <a:xfrm>
            <a:off x="219075" y="4237310"/>
            <a:ext cx="361950" cy="133350"/>
          </a:xfrm>
          <a:prstGeom prst="rect">
            <a:avLst/>
          </a:prstGeom>
          <a:noFill/>
        </p:spPr>
        <p:txBody>
          <a:bodyPr wrap="none" lIns="0" rIns="0" tIns="0" bIns="0" anchor="ctr">
            <a:spAutoFit/>
          </a:bodyPr>
          <a:lstStyle/>
          <a:p>
            <a:pPr algn="r"/>
            <a:r>
              <a:rPr sz="750" b="0">
                <a:solidFill>
                  <a:srgbClr val="6C7A89"/>
                </a:solidFill>
                <a:latin typeface="Calibri"/>
              </a:rPr>
              <a:t>+19%</a:t>
            </a:r>
          </a:p>
        </p:txBody>
      </p:sp>
      <p:sp>
        <p:nvSpPr>
          <p:cNvPr id="96" name="TextBox 95"/>
          <p:cNvSpPr txBox="1"/>
          <p:nvPr/>
        </p:nvSpPr>
        <p:spPr>
          <a:xfrm>
            <a:off x="219075" y="5157788"/>
            <a:ext cx="361950" cy="133350"/>
          </a:xfrm>
          <a:prstGeom prst="rect">
            <a:avLst/>
          </a:prstGeom>
          <a:noFill/>
        </p:spPr>
        <p:txBody>
          <a:bodyPr wrap="square" lIns="28575" rIns="28575" tIns="9525" bIns="9525" anchor="ctr">
            <a:spAutoFit/>
          </a:bodyPr>
          <a:lstStyle/>
          <a:p>
            <a:pPr algn="r"/>
            <a:r>
              <a:rPr sz="750" b="1">
                <a:solidFill>
                  <a:srgbClr val="6C7A89"/>
                </a:solidFill>
                <a:latin typeface="Calibri"/>
              </a:rPr>
              <a:t>North America</a:t>
            </a:r>
          </a:p>
        </p:txBody>
      </p:sp>
      <p:sp>
        <p:nvSpPr>
          <p:cNvPr id="97" name="TextBox 96"/>
          <p:cNvSpPr txBox="1"/>
          <p:nvPr/>
        </p:nvSpPr>
        <p:spPr>
          <a:xfrm>
            <a:off x="219075" y="6078265"/>
            <a:ext cx="361950" cy="133350"/>
          </a:xfrm>
          <a:prstGeom prst="rect">
            <a:avLst/>
          </a:prstGeom>
          <a:noFill/>
        </p:spPr>
        <p:txBody>
          <a:bodyPr wrap="none" lIns="0" rIns="0" tIns="0" bIns="0" anchor="ctr">
            <a:spAutoFit/>
          </a:bodyPr>
          <a:lstStyle/>
          <a:p>
            <a:pPr algn="r"/>
            <a:r>
              <a:rPr sz="750" b="0">
                <a:solidFill>
                  <a:srgbClr val="6C7A89"/>
                </a:solidFill>
                <a:latin typeface="Calibri"/>
              </a:rPr>
              <a:t>-19%</a:t>
            </a:r>
          </a:p>
        </p:txBody>
      </p:sp>
      <p:cxnSp>
        <p:nvCxnSpPr>
          <p:cNvPr id="98" name="Connector 97"/>
          <p:cNvCxnSpPr/>
          <p:nvPr/>
        </p:nvCxnSpPr>
        <p:spPr>
          <a:xfrm>
            <a:off x="619125" y="5224462"/>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2152650" y="5224462"/>
            <a:ext cx="457200" cy="80080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19125" y="6034793"/>
            <a:ext cx="3524250" cy="133350"/>
          </a:xfrm>
          <a:prstGeom prst="rect">
            <a:avLst/>
          </a:prstGeom>
          <a:noFill/>
        </p:spPr>
        <p:txBody>
          <a:bodyPr wrap="square" lIns="28575" rIns="28575" tIns="9525" bIns="9525">
            <a:spAutoFit/>
          </a:bodyPr>
          <a:lstStyle/>
          <a:p>
            <a:pPr algn="ctr"/>
            <a:r>
              <a:rPr sz="800" b="1">
                <a:solidFill>
                  <a:srgbClr val="2E2E2E"/>
                </a:solidFill>
                <a:latin typeface="Calibri"/>
              </a:rPr>
              <a:t>-16.6%</a:t>
            </a:r>
          </a:p>
        </p:txBody>
      </p:sp>
      <p:sp>
        <p:nvSpPr>
          <p:cNvPr id="101" name="TextBox 100"/>
          <p:cNvSpPr txBox="1"/>
          <p:nvPr/>
        </p:nvSpPr>
        <p:spPr>
          <a:xfrm>
            <a:off x="619125" y="6334125"/>
            <a:ext cx="3524250" cy="247650"/>
          </a:xfrm>
          <a:prstGeom prst="rect">
            <a:avLst/>
          </a:prstGeom>
          <a:noFill/>
        </p:spPr>
        <p:txBody>
          <a:bodyPr wrap="square" lIns="28575" rIns="28575" tIns="9525" bIns="9525">
            <a:spAutoFit/>
          </a:bodyPr>
          <a:lstStyle/>
          <a:p>
            <a:pPr algn="ctr"/>
            <a:r>
              <a:rPr sz="750" b="0">
                <a:solidFill>
                  <a:srgbClr val="2E2E2E"/>
                </a:solidFill>
                <a:latin typeface="Calibri"/>
              </a:rPr>
              <a:t>U.S.</a:t>
            </a:r>
          </a:p>
        </p:txBody>
      </p:sp>
      <p:sp>
        <p:nvSpPr>
          <p:cNvPr id="102" name="Rectangle 101"/>
          <p:cNvSpPr/>
          <p:nvPr/>
        </p:nvSpPr>
        <p:spPr>
          <a:xfrm>
            <a:off x="5676900" y="4893038"/>
            <a:ext cx="457200" cy="3314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143375" y="4750163"/>
            <a:ext cx="3524250" cy="133350"/>
          </a:xfrm>
          <a:prstGeom prst="rect">
            <a:avLst/>
          </a:prstGeom>
          <a:noFill/>
        </p:spPr>
        <p:txBody>
          <a:bodyPr wrap="square" lIns="28575" rIns="28575" tIns="9525" bIns="9525">
            <a:spAutoFit/>
          </a:bodyPr>
          <a:lstStyle/>
          <a:p>
            <a:pPr algn="ctr"/>
            <a:r>
              <a:rPr sz="800" b="1">
                <a:solidFill>
                  <a:srgbClr val="2E2E2E"/>
                </a:solidFill>
                <a:latin typeface="Calibri"/>
              </a:rPr>
              <a:t>+6.9%</a:t>
            </a:r>
          </a:p>
        </p:txBody>
      </p:sp>
      <p:sp>
        <p:nvSpPr>
          <p:cNvPr id="104" name="TextBox 103"/>
          <p:cNvSpPr txBox="1"/>
          <p:nvPr/>
        </p:nvSpPr>
        <p:spPr>
          <a:xfrm>
            <a:off x="4143375" y="6334125"/>
            <a:ext cx="3524250" cy="247650"/>
          </a:xfrm>
          <a:prstGeom prst="rect">
            <a:avLst/>
          </a:prstGeom>
          <a:noFill/>
        </p:spPr>
        <p:txBody>
          <a:bodyPr wrap="square" lIns="28575" rIns="28575" tIns="9525" bIns="9525">
            <a:spAutoFit/>
          </a:bodyPr>
          <a:lstStyle/>
          <a:p>
            <a:pPr algn="ctr"/>
            <a:r>
              <a:rPr sz="750" b="0">
                <a:solidFill>
                  <a:srgbClr val="2E2E2E"/>
                </a:solidFill>
                <a:latin typeface="Calibri"/>
              </a:rPr>
              <a:t>Canada</a:t>
            </a:r>
          </a:p>
        </p:txBody>
      </p:sp>
      <p:sp>
        <p:nvSpPr>
          <p:cNvPr id="105" name="Rounded Rectangle 104"/>
          <p:cNvSpPr/>
          <p:nvPr/>
        </p:nvSpPr>
        <p:spPr>
          <a:xfrm>
            <a:off x="7915275" y="904875"/>
            <a:ext cx="4133850" cy="5743575"/>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048625" y="99060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07" name="Rectangle 106"/>
          <p:cNvSpPr/>
          <p:nvPr/>
        </p:nvSpPr>
        <p:spPr>
          <a:xfrm>
            <a:off x="8048625" y="12287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048625" y="1314450"/>
            <a:ext cx="3867150" cy="525780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Average selling price is derived as Value ÷ Volume; 'Idacio' commands the highest product type price at 842 US$/unit in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'Hyrimoz / Halimatoz / Hefiya' shows the steepest price uplift over 2026–2036 (-11.1%).</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Against the north america price of 373 US$/unit, 1 of 2 countries price above and 1 below.</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'Canada' is the dearest at +6.9% versus North America, 'U.S.' the cheapest at -16.6% pointing to premiumisation headroom in the lower-priced countries.</a:t>
            </a:r>
          </a:p>
        </p:txBody>
      </p:sp>
      <p:sp>
        <p:nvSpPr>
          <p:cNvPr id="109" name="Rectangle 10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11" name="Rounded Rectangle 11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12" name="Rounded Rectangle 11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13" name="Rounded Rectangle 11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Summary, By Value (US$ Mn)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76300"/>
            <a:ext cx="2876550" cy="5334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2026 MARKET SIZE (US$ MN)</a:t>
            </a:r>
          </a:p>
          <a:p>
            <a:pPr algn="ctr"/>
            <a:r>
              <a:rPr sz="1500" b="1">
                <a:solidFill>
                  <a:srgbClr val="0E72AE"/>
                </a:solidFill>
                <a:latin typeface="Calibri"/>
              </a:rPr>
              <a:t>1,974</a:t>
            </a:r>
          </a:p>
        </p:txBody>
      </p:sp>
      <p:sp>
        <p:nvSpPr>
          <p:cNvPr id="12" name="Rounded Rectangle 11"/>
          <p:cNvSpPr/>
          <p:nvPr/>
        </p:nvSpPr>
        <p:spPr>
          <a:xfrm>
            <a:off x="3143250" y="876300"/>
            <a:ext cx="2876550" cy="5334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2036 MARKET SIZE (US$ MN)</a:t>
            </a:r>
          </a:p>
          <a:p>
            <a:pPr algn="ctr"/>
            <a:r>
              <a:rPr sz="1500" b="1">
                <a:solidFill>
                  <a:srgbClr val="0E72AE"/>
                </a:solidFill>
                <a:latin typeface="Calibri"/>
              </a:rPr>
              <a:t>4,475</a:t>
            </a:r>
          </a:p>
        </p:txBody>
      </p:sp>
      <p:sp>
        <p:nvSpPr>
          <p:cNvPr id="13" name="Rounded Rectangle 12"/>
          <p:cNvSpPr/>
          <p:nvPr/>
        </p:nvSpPr>
        <p:spPr>
          <a:xfrm>
            <a:off x="6153150" y="876300"/>
            <a:ext cx="2876550" cy="5334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CAGR 2021–2025</a:t>
            </a:r>
          </a:p>
          <a:p>
            <a:pPr algn="ctr"/>
            <a:r>
              <a:rPr sz="1500" b="1">
                <a:solidFill>
                  <a:srgbClr val="0E72AE"/>
                </a:solidFill>
                <a:latin typeface="Calibri"/>
              </a:rPr>
              <a:t>18.7%</a:t>
            </a:r>
          </a:p>
        </p:txBody>
      </p:sp>
      <p:sp>
        <p:nvSpPr>
          <p:cNvPr id="14" name="Rounded Rectangle 13"/>
          <p:cNvSpPr/>
          <p:nvPr/>
        </p:nvSpPr>
        <p:spPr>
          <a:xfrm>
            <a:off x="9163050" y="876300"/>
            <a:ext cx="2876550" cy="5334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CAGR 2026–2036</a:t>
            </a:r>
          </a:p>
          <a:p>
            <a:pPr algn="ctr"/>
            <a:r>
              <a:rPr sz="1500" b="1">
                <a:solidFill>
                  <a:srgbClr val="0E72AE"/>
                </a:solidFill>
                <a:latin typeface="Calibri"/>
              </a:rPr>
              <a:t>8.5%</a:t>
            </a:r>
          </a:p>
        </p:txBody>
      </p:sp>
      <p:sp>
        <p:nvSpPr>
          <p:cNvPr id="15" name="Rounded Rectangle 14"/>
          <p:cNvSpPr/>
          <p:nvPr/>
        </p:nvSpPr>
        <p:spPr>
          <a:xfrm>
            <a:off x="142875" y="1504950"/>
            <a:ext cx="7696200" cy="2457450"/>
          </a:xfrm>
          <a:prstGeom prst="roundRect">
            <a:avLst>
              <a:gd name="adj" fmla="val 31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562100"/>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7" name="Chart 16"/>
          <p:cNvGraphicFramePr>
            <a:graphicFrameLocks noGrp="1"/>
          </p:cNvGraphicFramePr>
          <p:nvPr/>
        </p:nvGraphicFramePr>
        <p:xfrm>
          <a:off x="238125" y="1790700"/>
          <a:ext cx="7505700" cy="2114550"/>
        </p:xfrm>
        <a:graphic>
          <a:graphicData uri="http://schemas.openxmlformats.org/drawingml/2006/chart">
            <c:chart xmlns:c="http://schemas.openxmlformats.org/drawingml/2006/chart" r:id="rId3"/>
          </a:graphicData>
        </a:graphic>
      </p:graphicFrame>
      <p:sp>
        <p:nvSpPr>
          <p:cNvPr id="18" name="Rounded Rectangle 17"/>
          <p:cNvSpPr/>
          <p:nvPr/>
        </p:nvSpPr>
        <p:spPr>
          <a:xfrm>
            <a:off x="142875" y="4019550"/>
            <a:ext cx="7696200" cy="2628900"/>
          </a:xfrm>
          <a:prstGeom prst="roundRect">
            <a:avLst>
              <a:gd name="adj" fmla="val 28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4076700"/>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20" name="Chart 19"/>
          <p:cNvGraphicFramePr>
            <a:graphicFrameLocks noGrp="1"/>
          </p:cNvGraphicFramePr>
          <p:nvPr/>
        </p:nvGraphicFramePr>
        <p:xfrm>
          <a:off x="238125" y="4305300"/>
          <a:ext cx="7505700" cy="2286000"/>
        </p:xfrm>
        <a:graphic>
          <a:graphicData uri="http://schemas.openxmlformats.org/drawingml/2006/chart">
            <c:chart xmlns:c="http://schemas.openxmlformats.org/drawingml/2006/chart" r:id="rId4"/>
          </a:graphicData>
        </a:graphic>
      </p:graphicFrame>
      <p:sp>
        <p:nvSpPr>
          <p:cNvPr id="21" name="Rounded Rectangle 20"/>
          <p:cNvSpPr/>
          <p:nvPr/>
        </p:nvSpPr>
        <p:spPr>
          <a:xfrm>
            <a:off x="7915275" y="1504950"/>
            <a:ext cx="4133850" cy="2457450"/>
          </a:xfrm>
          <a:prstGeom prst="roundRect">
            <a:avLst>
              <a:gd name="adj" fmla="val 31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1590675"/>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3" name="Rectangle 22"/>
          <p:cNvSpPr/>
          <p:nvPr/>
        </p:nvSpPr>
        <p:spPr>
          <a:xfrm>
            <a:off x="8048625" y="182880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1914525"/>
            <a:ext cx="3867150" cy="19716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market grows at 18.3% CAGR (2021–2026), moderating to 8.5% by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Incremental value of 1,122 US$ Mn is added between 2021 and 2026.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 further 2,500 US$ Mn is added 2026–2036 more than the previous period.</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incremental value: 3,622 US$ Mn over 2021–2036, a 5.2× expansion.</a:t>
            </a:r>
          </a:p>
        </p:txBody>
      </p:sp>
      <p:sp>
        <p:nvSpPr>
          <p:cNvPr id="25" name="Rounded Rectangle 24"/>
          <p:cNvSpPr/>
          <p:nvPr/>
        </p:nvSpPr>
        <p:spPr>
          <a:xfrm>
            <a:off x="7915275" y="4019550"/>
            <a:ext cx="4133850" cy="2628900"/>
          </a:xfrm>
          <a:prstGeom prst="roundRect">
            <a:avLst>
              <a:gd name="adj" fmla="val 28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105275"/>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7" name="Rectangle 26"/>
          <p:cNvSpPr/>
          <p:nvPr/>
        </p:nvSpPr>
        <p:spPr>
          <a:xfrm>
            <a:off x="8048625" y="434340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8625" y="4429125"/>
            <a:ext cx="3867150" cy="2143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'Canada' leads regional growth at 9.0%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Demand concentrates in 'Idacio' within Product Type.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Product innovation and premiumisation lifting value.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Expanding end-use applications and access.</a:t>
            </a:r>
          </a:p>
        </p:txBody>
      </p:sp>
      <p:sp>
        <p:nvSpPr>
          <p:cNvPr id="29" name="Rectangle 2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1" name="Rounded Rectangle 30">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2" name="Rounded Rectangle 31">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3" name="Rounded Rectangle 32">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Volume &amp; Value Analysis</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4695825" cy="2647950"/>
          </a:xfrm>
          <a:prstGeom prst="roundRect">
            <a:avLst>
              <a:gd name="adj" fmla="val 2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2021–2025 (Historical)</a:t>
            </a:r>
          </a:p>
        </p:txBody>
      </p:sp>
      <p:graphicFrame>
        <p:nvGraphicFramePr>
          <p:cNvPr id="13" name="Chart 12"/>
          <p:cNvGraphicFramePr>
            <a:graphicFrameLocks noGrp="1"/>
          </p:cNvGraphicFramePr>
          <p:nvPr/>
        </p:nvGraphicFramePr>
        <p:xfrm>
          <a:off x="238125" y="1143000"/>
          <a:ext cx="4505325" cy="2305050"/>
        </p:xfrm>
        <a:graphic>
          <a:graphicData uri="http://schemas.openxmlformats.org/drawingml/2006/chart">
            <c:chart xmlns:c="http://schemas.openxmlformats.org/drawingml/2006/chart" r:id="rId3"/>
          </a:graphicData>
        </a:graphic>
      </p:graphicFrame>
      <p:sp>
        <p:nvSpPr>
          <p:cNvPr id="14" name="Rounded Rectangle 13"/>
          <p:cNvSpPr/>
          <p:nvPr/>
        </p:nvSpPr>
        <p:spPr>
          <a:xfrm>
            <a:off x="4991100" y="857250"/>
            <a:ext cx="7048500" cy="2647950"/>
          </a:xfrm>
          <a:prstGeom prst="roundRect">
            <a:avLst>
              <a:gd name="adj" fmla="val 2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6350" y="91440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2026–2036 (Forecast)</a:t>
            </a:r>
          </a:p>
        </p:txBody>
      </p:sp>
      <p:graphicFrame>
        <p:nvGraphicFramePr>
          <p:cNvPr id="16" name="Chart 15"/>
          <p:cNvGraphicFramePr>
            <a:graphicFrameLocks noGrp="1"/>
          </p:cNvGraphicFramePr>
          <p:nvPr/>
        </p:nvGraphicFramePr>
        <p:xfrm>
          <a:off x="5086350" y="1143000"/>
          <a:ext cx="6858000" cy="23050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638550"/>
            <a:ext cx="2514600" cy="8096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VALUE CAGR 2021–2025</a:t>
            </a:r>
          </a:p>
          <a:p>
            <a:pPr algn="ctr"/>
            <a:r>
              <a:rPr sz="2000" b="1">
                <a:solidFill>
                  <a:srgbClr val="0E72AE"/>
                </a:solidFill>
                <a:latin typeface="Calibri"/>
              </a:rPr>
              <a:t>18.7%</a:t>
            </a:r>
          </a:p>
        </p:txBody>
      </p:sp>
      <p:sp>
        <p:nvSpPr>
          <p:cNvPr id="18" name="Rounded Rectangle 17"/>
          <p:cNvSpPr/>
          <p:nvPr/>
        </p:nvSpPr>
        <p:spPr>
          <a:xfrm>
            <a:off x="2809875" y="3638550"/>
            <a:ext cx="2514600" cy="8096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VALUE CAGR 2026–2036</a:t>
            </a:r>
          </a:p>
          <a:p>
            <a:pPr algn="ctr"/>
            <a:r>
              <a:rPr sz="2000" b="1">
                <a:solidFill>
                  <a:srgbClr val="0E72AE"/>
                </a:solidFill>
                <a:latin typeface="Calibri"/>
              </a:rPr>
              <a:t>8.5%</a:t>
            </a:r>
          </a:p>
        </p:txBody>
      </p:sp>
      <p:sp>
        <p:nvSpPr>
          <p:cNvPr id="19" name="Rounded Rectangle 18"/>
          <p:cNvSpPr/>
          <p:nvPr/>
        </p:nvSpPr>
        <p:spPr>
          <a:xfrm>
            <a:off x="5476875" y="3638550"/>
            <a:ext cx="3200400" cy="8096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INCREMENTAL $ OPPORTUNITY 2026–2031</a:t>
            </a:r>
          </a:p>
          <a:p>
            <a:pPr algn="ctr"/>
            <a:r>
              <a:rPr sz="2000" b="1">
                <a:solidFill>
                  <a:srgbClr val="0E72AE"/>
                </a:solidFill>
                <a:latin typeface="Calibri"/>
              </a:rPr>
              <a:t>1,359 US$ Mn</a:t>
            </a:r>
          </a:p>
        </p:txBody>
      </p:sp>
      <p:sp>
        <p:nvSpPr>
          <p:cNvPr id="20" name="Rounded Rectangle 19"/>
          <p:cNvSpPr/>
          <p:nvPr/>
        </p:nvSpPr>
        <p:spPr>
          <a:xfrm>
            <a:off x="8829675" y="3638550"/>
            <a:ext cx="3200400" cy="8096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INCREMENTAL $ OPPORTUNITY 2026–2036</a:t>
            </a:r>
          </a:p>
          <a:p>
            <a:pPr algn="ctr"/>
            <a:r>
              <a:rPr sz="2000" b="1">
                <a:solidFill>
                  <a:srgbClr val="0E72AE"/>
                </a:solidFill>
                <a:latin typeface="Calibri"/>
              </a:rPr>
              <a:t>2,500 US$ Mn</a:t>
            </a:r>
          </a:p>
        </p:txBody>
      </p:sp>
      <p:sp>
        <p:nvSpPr>
          <p:cNvPr id="21" name="Rounded Rectangle 20"/>
          <p:cNvSpPr/>
          <p:nvPr/>
        </p:nvSpPr>
        <p:spPr>
          <a:xfrm>
            <a:off x="142875" y="4581525"/>
            <a:ext cx="11906250" cy="2133600"/>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672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&amp; Value Analysis</a:t>
            </a:r>
          </a:p>
        </p:txBody>
      </p:sp>
      <p:sp>
        <p:nvSpPr>
          <p:cNvPr id="23" name="Rectangle 22"/>
          <p:cNvSpPr/>
          <p:nvPr/>
        </p:nvSpPr>
        <p:spPr>
          <a:xfrm>
            <a:off x="276225" y="49053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4991100"/>
            <a:ext cx="11639550" cy="16478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Value expands from 1,974 to 4,475 US$ Mn by 2036 8.5% CAGR, moderating from 18.7% in 2021–2025.</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Volume rises from 4.16 to 14.1 Mn Doses over the same decade.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Volume grows 448 BPS of CAGR faster than value price/mix under pressure.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forecast decade adds 2,500 US$ Mn of incremental opportunity (1,359 in the first five years) the market reaches 2.3× its 2026 value.</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Summary Country Indices (Value)</a:t>
            </a:r>
          </a:p>
        </p:txBody>
      </p:sp>
      <p:sp>
        <p:nvSpPr>
          <p:cNvPr id="10" name="Rounded Rectangle 9"/>
          <p:cNvSpPr/>
          <p:nvPr/>
        </p:nvSpPr>
        <p:spPr>
          <a:xfrm>
            <a:off x="142875" y="857250"/>
            <a:ext cx="3933825" cy="2552700"/>
          </a:xfrm>
          <a:prstGeom prst="roundRect">
            <a:avLst>
              <a:gd name="adj" fmla="val 29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914400"/>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143000"/>
          <a:ext cx="3743325" cy="2209800"/>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48050"/>
            <a:ext cx="3933825" cy="2543175"/>
          </a:xfrm>
          <a:prstGeom prst="roundRect">
            <a:avLst>
              <a:gd name="adj" fmla="val 29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219075" y="3524250"/>
          <a:ext cx="3781424" cy="542925"/>
        </p:xfrm>
        <a:graphic>
          <a:graphicData uri="http://schemas.openxmlformats.org/drawingml/2006/table">
            <a:tbl>
              <a:tblPr>
                <a:tableStyleId>{5C22544A-7EE6-4342-B048-85BDC9FD1C3A}</a:tableStyleId>
              </a:tblPr>
              <a:tblGrid>
                <a:gridCol w="1134428"/>
                <a:gridCol w="882332"/>
                <a:gridCol w="882332"/>
                <a:gridCol w="882332"/>
              </a:tblGrid>
              <a:tr h="180975">
                <a:tc>
                  <a:txBody>
                    <a:bodyPr wrap="none"/>
                    <a:lstStyle/>
                    <a:p>
                      <a:pPr algn="l"/>
                      <a:r>
                        <a:rPr sz="900" b="1">
                          <a:solidFill>
                            <a:srgbClr val="0B2E4A"/>
                          </a:solidFill>
                          <a:latin typeface="Calibri"/>
                        </a:rPr>
                        <a:t>Country</a:t>
                      </a:r>
                    </a:p>
                  </a:txBody>
                  <a:tcPr marL="85725" marR="38100" marT="19050" marB="19050" anchor="ctr">
                    <a:solidFill>
                      <a:srgbClr val="E0E8EF"/>
                    </a:solidFill>
                  </a:tcPr>
                </a:tc>
                <a:tc>
                  <a:txBody>
                    <a:bodyPr wrap="none"/>
                    <a:lstStyle/>
                    <a:p>
                      <a:pPr algn="l"/>
                      <a:r>
                        <a:rPr sz="900" b="1">
                          <a:solidFill>
                            <a:srgbClr val="0B2E4A"/>
                          </a:solidFill>
                          <a:latin typeface="Calibri"/>
                        </a:rPr>
                        <a:t>CAGR Index</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c>
                  <a:txBody>
                    <a:bodyPr wrap="none"/>
                    <a:lstStyle/>
                    <a:p>
                      <a:pPr algn="l"/>
                      <a:r>
                        <a:rPr sz="900" b="1">
                          <a:solidFill>
                            <a:srgbClr val="0B2E4A"/>
                          </a:solidFill>
                          <a:latin typeface="Calibri"/>
                        </a:rPr>
                        <a:t>$ Opp (US$ Mn)</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Canada</a:t>
                      </a:r>
                    </a:p>
                  </a:txBody>
                  <a:tcPr marL="85725" marR="38100" marT="19050" marB="19050" anchor="ctr">
                    <a:solidFill>
                      <a:srgbClr val="FFFFFF"/>
                    </a:solidFill>
                  </a:tcPr>
                </a:tc>
                <a:tc>
                  <a:txBody>
                    <a:bodyPr wrap="none"/>
                    <a:lstStyle/>
                    <a:p>
                      <a:pPr algn="l"/>
                      <a:r>
                        <a:rPr sz="900" b="0">
                          <a:solidFill>
                            <a:srgbClr val="2E2E2E"/>
                          </a:solidFill>
                          <a:latin typeface="Calibri"/>
                        </a:rPr>
                        <a:t>106</a:t>
                      </a:r>
                    </a:p>
                  </a:txBody>
                  <a:tcPr marL="85725" marR="38100" marT="19050" marB="19050" anchor="ctr">
                    <a:solidFill>
                      <a:srgbClr val="FFFFFF"/>
                    </a:solidFill>
                  </a:tcPr>
                </a:tc>
                <a:tc>
                  <a:txBody>
                    <a:bodyPr wrap="none"/>
                    <a:lstStyle/>
                    <a:p>
                      <a:pPr algn="l"/>
                      <a:r>
                        <a:rPr sz="900" b="0">
                          <a:solidFill>
                            <a:srgbClr val="2E2E2E"/>
                          </a:solidFill>
                          <a:latin typeface="Calibri"/>
                        </a:rPr>
                        <a:t>9.0%</a:t>
                      </a:r>
                    </a:p>
                  </a:txBody>
                  <a:tcPr marL="85725" marR="38100" marT="19050" marB="19050" anchor="ctr">
                    <a:solidFill>
                      <a:srgbClr val="FFFFFF"/>
                    </a:solidFill>
                  </a:tcPr>
                </a:tc>
                <a:tc>
                  <a:txBody>
                    <a:bodyPr wrap="none"/>
                    <a:lstStyle/>
                    <a:p>
                      <a:pPr algn="l"/>
                      <a:r>
                        <a:rPr sz="900" b="0">
                          <a:solidFill>
                            <a:srgbClr val="2E2E2E"/>
                          </a:solidFill>
                          <a:latin typeface="Calibri"/>
                        </a:rPr>
                        <a:t>1,994</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U.S.</a:t>
                      </a:r>
                    </a:p>
                  </a:txBody>
                  <a:tcPr marL="85725" marR="38100" marT="19050" marB="19050" anchor="ctr">
                    <a:solidFill>
                      <a:srgbClr val="F5F8FA"/>
                    </a:solidFill>
                  </a:tcPr>
                </a:tc>
                <a:tc>
                  <a:txBody>
                    <a:bodyPr wrap="none"/>
                    <a:lstStyle/>
                    <a:p>
                      <a:pPr algn="l"/>
                      <a:r>
                        <a:rPr sz="900" b="0">
                          <a:solidFill>
                            <a:srgbClr val="2E2E2E"/>
                          </a:solidFill>
                          <a:latin typeface="Calibri"/>
                        </a:rPr>
                        <a:t>82</a:t>
                      </a:r>
                    </a:p>
                  </a:txBody>
                  <a:tcPr marL="85725" marR="38100" marT="19050" marB="19050" anchor="ctr">
                    <a:solidFill>
                      <a:srgbClr val="F5F8FA"/>
                    </a:solidFill>
                  </a:tcPr>
                </a:tc>
                <a:tc>
                  <a:txBody>
                    <a:bodyPr wrap="none"/>
                    <a:lstStyle/>
                    <a:p>
                      <a:pPr algn="l"/>
                      <a:r>
                        <a:rPr sz="900" b="0">
                          <a:solidFill>
                            <a:srgbClr val="2E2E2E"/>
                          </a:solidFill>
                          <a:latin typeface="Calibri"/>
                        </a:rPr>
                        <a:t>7.0%</a:t>
                      </a:r>
                    </a:p>
                  </a:txBody>
                  <a:tcPr marL="85725" marR="38100" marT="19050" marB="19050" anchor="ctr">
                    <a:solidFill>
                      <a:srgbClr val="F5F8FA"/>
                    </a:solidFill>
                  </a:tcPr>
                </a:tc>
                <a:tc>
                  <a:txBody>
                    <a:bodyPr wrap="none"/>
                    <a:lstStyle/>
                    <a:p>
                      <a:pPr algn="l"/>
                      <a:r>
                        <a:rPr sz="900" b="0">
                          <a:solidFill>
                            <a:srgbClr val="2E2E2E"/>
                          </a:solidFill>
                          <a:latin typeface="Calibri"/>
                        </a:rPr>
                        <a:t>506.4</a:t>
                      </a:r>
                    </a:p>
                  </a:txBody>
                  <a:tcPr marL="85725" marR="38100" marT="19050" marB="19050" anchor="ctr">
                    <a:solidFill>
                      <a:srgbClr val="F5F8FA"/>
                    </a:solidFill>
                  </a:tcPr>
                </a:tc>
              </a:tr>
            </a:tbl>
          </a:graphicData>
        </a:graphic>
      </p:graphicFrame>
      <p:sp>
        <p:nvSpPr>
          <p:cNvPr id="15" name="TextBox 14"/>
          <p:cNvSpPr txBox="1"/>
          <p:nvPr/>
        </p:nvSpPr>
        <p:spPr>
          <a:xfrm>
            <a:off x="219075" y="5848350"/>
            <a:ext cx="37814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4114800" y="857250"/>
            <a:ext cx="3933825" cy="5143500"/>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914400"/>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143000"/>
            <a:ext cx="3743325" cy="3697788"/>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Canada</a:t>
            </a:r>
          </a:p>
          <a:p>
            <a:pPr algn="ctr"/>
            <a:r>
              <a:rPr sz="700" b="0">
                <a:solidFill>
                  <a:srgbClr val="FFFFFF"/>
                </a:solidFill>
                <a:latin typeface="Calibri"/>
              </a:rPr>
              <a:t>3,447</a:t>
            </a:r>
          </a:p>
        </p:txBody>
      </p:sp>
      <p:sp>
        <p:nvSpPr>
          <p:cNvPr id="19" name="Rectangle 18"/>
          <p:cNvSpPr/>
          <p:nvPr/>
        </p:nvSpPr>
        <p:spPr>
          <a:xfrm>
            <a:off x="4210050" y="4840788"/>
            <a:ext cx="3743325" cy="1102812"/>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U.S.</a:t>
            </a:r>
          </a:p>
          <a:p>
            <a:pPr algn="ctr"/>
            <a:r>
              <a:rPr sz="700" b="0">
                <a:solidFill>
                  <a:srgbClr val="FFFFFF"/>
                </a:solidFill>
                <a:latin typeface="Calibri"/>
              </a:rPr>
              <a:t>1,028</a:t>
            </a:r>
          </a:p>
        </p:txBody>
      </p:sp>
      <p:sp>
        <p:nvSpPr>
          <p:cNvPr id="20" name="Rounded Rectangle 19"/>
          <p:cNvSpPr/>
          <p:nvPr/>
        </p:nvSpPr>
        <p:spPr>
          <a:xfrm>
            <a:off x="8086725" y="857250"/>
            <a:ext cx="3933825" cy="2543175"/>
          </a:xfrm>
          <a:prstGeom prst="roundRect">
            <a:avLst>
              <a:gd name="adj" fmla="val 29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1975" y="914400"/>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22" name="Chart 21"/>
          <p:cNvGraphicFramePr>
            <a:graphicFrameLocks noGrp="1"/>
          </p:cNvGraphicFramePr>
          <p:nvPr/>
        </p:nvGraphicFramePr>
        <p:xfrm>
          <a:off x="8181975" y="1143000"/>
          <a:ext cx="3743325" cy="2200275"/>
        </p:xfrm>
        <a:graphic>
          <a:graphicData uri="http://schemas.openxmlformats.org/drawingml/2006/chart">
            <c:chart xmlns:c="http://schemas.openxmlformats.org/drawingml/2006/chart" r:id="rId4"/>
          </a:graphicData>
        </a:graphic>
      </p:graphicFrame>
      <p:sp>
        <p:nvSpPr>
          <p:cNvPr id="23" name="Rounded Rectangle 22"/>
          <p:cNvSpPr/>
          <p:nvPr/>
        </p:nvSpPr>
        <p:spPr>
          <a:xfrm>
            <a:off x="8086725" y="3429000"/>
            <a:ext cx="3933825"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4" name="Table 23"/>
          <p:cNvGraphicFramePr>
            <a:graphicFrameLocks noGrp="1"/>
          </p:cNvGraphicFramePr>
          <p:nvPr/>
        </p:nvGraphicFramePr>
        <p:xfrm>
          <a:off x="8162925" y="3505200"/>
          <a:ext cx="3781424" cy="542925"/>
        </p:xfrm>
        <a:graphic>
          <a:graphicData uri="http://schemas.openxmlformats.org/drawingml/2006/table">
            <a:tbl>
              <a:tblPr>
                <a:tableStyleId>{5C22544A-7EE6-4342-B048-85BDC9FD1C3A}</a:tableStyleId>
              </a:tblPr>
              <a:tblGrid>
                <a:gridCol w="1134428"/>
                <a:gridCol w="882332"/>
                <a:gridCol w="882332"/>
                <a:gridCol w="882332"/>
              </a:tblGrid>
              <a:tr h="180975">
                <a:tc>
                  <a:txBody>
                    <a:bodyPr wrap="none"/>
                    <a:lstStyle/>
                    <a:p>
                      <a:pPr algn="l"/>
                      <a:r>
                        <a:rPr sz="900" b="1">
                          <a:solidFill>
                            <a:srgbClr val="0B2E4A"/>
                          </a:solidFill>
                          <a:latin typeface="Calibri"/>
                        </a:rPr>
                        <a:t>Country</a:t>
                      </a:r>
                    </a:p>
                  </a:txBody>
                  <a:tcPr marL="85725" marR="38100" marT="19050" marB="19050" anchor="ctr">
                    <a:solidFill>
                      <a:srgbClr val="E0E8EF"/>
                    </a:solidFill>
                  </a:tcPr>
                </a:tc>
                <a:tc>
                  <a:txBody>
                    <a:bodyPr wrap="none"/>
                    <a:lstStyle/>
                    <a:p>
                      <a:pPr algn="l"/>
                      <a:r>
                        <a:rPr sz="900" b="1">
                          <a:solidFill>
                            <a:srgbClr val="0B2E4A"/>
                          </a:solidFill>
                          <a:latin typeface="Calibri"/>
                        </a:rPr>
                        <a:t>Absolute Index</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c>
                  <a:txBody>
                    <a:bodyPr wrap="none"/>
                    <a:lstStyle/>
                    <a:p>
                      <a:pPr algn="l"/>
                      <a:r>
                        <a:rPr sz="900" b="1">
                          <a:solidFill>
                            <a:srgbClr val="0B2E4A"/>
                          </a:solidFill>
                          <a:latin typeface="Calibri"/>
                        </a:rPr>
                        <a:t>$ Opp (US$ Mn)</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Canada</a:t>
                      </a:r>
                    </a:p>
                  </a:txBody>
                  <a:tcPr marL="85725" marR="38100" marT="19050" marB="19050" anchor="ctr">
                    <a:solidFill>
                      <a:srgbClr val="FFFFFF"/>
                    </a:solidFill>
                  </a:tcPr>
                </a:tc>
                <a:tc>
                  <a:txBody>
                    <a:bodyPr wrap="none"/>
                    <a:lstStyle/>
                    <a:p>
                      <a:pPr algn="l"/>
                      <a:r>
                        <a:rPr sz="900" b="0">
                          <a:solidFill>
                            <a:srgbClr val="2E2E2E"/>
                          </a:solidFill>
                          <a:latin typeface="Calibri"/>
                        </a:rPr>
                        <a:t>80</a:t>
                      </a:r>
                    </a:p>
                  </a:txBody>
                  <a:tcPr marL="85725" marR="38100" marT="19050" marB="19050" anchor="ctr">
                    <a:solidFill>
                      <a:srgbClr val="FFFFFF"/>
                    </a:solidFill>
                  </a:tcPr>
                </a:tc>
                <a:tc>
                  <a:txBody>
                    <a:bodyPr wrap="none"/>
                    <a:lstStyle/>
                    <a:p>
                      <a:pPr algn="l"/>
                      <a:r>
                        <a:rPr sz="900" b="0">
                          <a:solidFill>
                            <a:srgbClr val="2E2E2E"/>
                          </a:solidFill>
                          <a:latin typeface="Calibri"/>
                        </a:rPr>
                        <a:t>9.0%</a:t>
                      </a:r>
                    </a:p>
                  </a:txBody>
                  <a:tcPr marL="85725" marR="38100" marT="19050" marB="19050" anchor="ctr">
                    <a:solidFill>
                      <a:srgbClr val="FFFFFF"/>
                    </a:solidFill>
                  </a:tcPr>
                </a:tc>
                <a:tc>
                  <a:txBody>
                    <a:bodyPr wrap="none"/>
                    <a:lstStyle/>
                    <a:p>
                      <a:pPr algn="l"/>
                      <a:r>
                        <a:rPr sz="900" b="0">
                          <a:solidFill>
                            <a:srgbClr val="2E2E2E"/>
                          </a:solidFill>
                          <a:latin typeface="Calibri"/>
                        </a:rPr>
                        <a:t>1,994</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U.S.</a:t>
                      </a:r>
                    </a:p>
                  </a:txBody>
                  <a:tcPr marL="85725" marR="38100" marT="19050" marB="19050" anchor="ctr">
                    <a:solidFill>
                      <a:srgbClr val="F5F8FA"/>
                    </a:solidFill>
                  </a:tcPr>
                </a:tc>
                <a:tc>
                  <a:txBody>
                    <a:bodyPr wrap="none"/>
                    <a:lstStyle/>
                    <a:p>
                      <a:pPr algn="l"/>
                      <a:r>
                        <a:rPr sz="900" b="0">
                          <a:solidFill>
                            <a:srgbClr val="2E2E2E"/>
                          </a:solidFill>
                          <a:latin typeface="Calibri"/>
                        </a:rPr>
                        <a:t>20</a:t>
                      </a:r>
                    </a:p>
                  </a:txBody>
                  <a:tcPr marL="85725" marR="38100" marT="19050" marB="19050" anchor="ctr">
                    <a:solidFill>
                      <a:srgbClr val="F5F8FA"/>
                    </a:solidFill>
                  </a:tcPr>
                </a:tc>
                <a:tc>
                  <a:txBody>
                    <a:bodyPr wrap="none"/>
                    <a:lstStyle/>
                    <a:p>
                      <a:pPr algn="l"/>
                      <a:r>
                        <a:rPr sz="900" b="0">
                          <a:solidFill>
                            <a:srgbClr val="2E2E2E"/>
                          </a:solidFill>
                          <a:latin typeface="Calibri"/>
                        </a:rPr>
                        <a:t>7.0%</a:t>
                      </a:r>
                    </a:p>
                  </a:txBody>
                  <a:tcPr marL="85725" marR="38100" marT="19050" marB="19050" anchor="ctr">
                    <a:solidFill>
                      <a:srgbClr val="F5F8FA"/>
                    </a:solidFill>
                  </a:tcPr>
                </a:tc>
                <a:tc>
                  <a:txBody>
                    <a:bodyPr wrap="none"/>
                    <a:lstStyle/>
                    <a:p>
                      <a:pPr algn="l"/>
                      <a:r>
                        <a:rPr sz="900" b="0">
                          <a:solidFill>
                            <a:srgbClr val="2E2E2E"/>
                          </a:solidFill>
                          <a:latin typeface="Calibri"/>
                        </a:rPr>
                        <a:t>506.4</a:t>
                      </a:r>
                    </a:p>
                  </a:txBody>
                  <a:tcPr marL="85725" marR="38100" marT="19050" marB="19050" anchor="ctr">
                    <a:solidFill>
                      <a:srgbClr val="F5F8FA"/>
                    </a:solidFill>
                  </a:tcPr>
                </a:tc>
              </a:tr>
            </a:tbl>
          </a:graphicData>
        </a:graphic>
      </p:graphicFrame>
      <p:sp>
        <p:nvSpPr>
          <p:cNvPr id="25" name="TextBox 24"/>
          <p:cNvSpPr txBox="1"/>
          <p:nvPr/>
        </p:nvSpPr>
        <p:spPr>
          <a:xfrm>
            <a:off x="8162925" y="5857875"/>
            <a:ext cx="37814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6" name="Rounded Rectangle 25"/>
          <p:cNvSpPr/>
          <p:nvPr/>
        </p:nvSpPr>
        <p:spPr>
          <a:xfrm>
            <a:off x="142875" y="6096000"/>
            <a:ext cx="10858500" cy="628650"/>
          </a:xfrm>
          <a:prstGeom prst="roundRect">
            <a:avLst>
              <a:gd name="adj" fmla="val 121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Canada posts the highest CAGR Index (106), growing at 9.0% against the North America benchmark, while Canada offers the largest absolute opportunity 1,994 US$ Mn of incremental market between 2026 and 2036 (80% of the North America increment).</a:t>
            </a:r>
          </a:p>
        </p:txBody>
      </p:sp>
      <p:sp>
        <p:nvSpPr>
          <p:cNvPr id="27" name="Rectangle 2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9" name="Rounded Rectangle 28">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0" name="Rounded Rectangle 29">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1" name="Rounded Rectangle 30">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Market Overview (1/4)</a:t>
            </a:r>
          </a:p>
        </p:txBody>
      </p:sp>
      <p:sp>
        <p:nvSpPr>
          <p:cNvPr id="10" name="Rounded Rectangle 9"/>
          <p:cNvSpPr/>
          <p:nvPr/>
        </p:nvSpPr>
        <p:spPr>
          <a:xfrm>
            <a:off x="142875" y="857250"/>
            <a:ext cx="11906250" cy="1866900"/>
          </a:xfrm>
          <a:prstGeom prst="roundRect">
            <a:avLst>
              <a:gd name="adj" fmla="val 40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942975"/>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1811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266825"/>
            <a:ext cx="11639550" cy="1381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North America Humira Biosimilars market is valued at 1,974 US$ Mn in 2026 and is forecast to reach 4,475 US$ Mn by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That implies a 8.5% forecast CAGR (2026–2036), versus 18.7% over 2021–2025.</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An incremental 2,500 US$ Mn of demand is created over the forecast a 2.3× expansion.</a:t>
            </a:r>
          </a:p>
        </p:txBody>
      </p:sp>
      <p:sp>
        <p:nvSpPr>
          <p:cNvPr id="14" name="Rounded Rectangle 13"/>
          <p:cNvSpPr/>
          <p:nvPr/>
        </p:nvSpPr>
        <p:spPr>
          <a:xfrm>
            <a:off x="142875" y="2857500"/>
            <a:ext cx="11906250" cy="1866900"/>
          </a:xfrm>
          <a:prstGeom prst="roundRect">
            <a:avLst>
              <a:gd name="adj" fmla="val 40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81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67075"/>
            <a:ext cx="11639550" cy="1381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market is fragmented: the leading product type category 'Idacio' holds 11.7% of 2036 value.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Demand spans 2 countries and 7 segmentation lenses (11 product type categories).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Canada is the largest country market at 77.0% of 2036 value.</a:t>
            </a:r>
          </a:p>
        </p:txBody>
      </p:sp>
      <p:sp>
        <p:nvSpPr>
          <p:cNvPr id="18" name="Rounded Rectangle 17"/>
          <p:cNvSpPr/>
          <p:nvPr/>
        </p:nvSpPr>
        <p:spPr>
          <a:xfrm>
            <a:off x="142875" y="4857750"/>
            <a:ext cx="3943350" cy="1866900"/>
          </a:xfrm>
          <a:prstGeom prst="roundRect">
            <a:avLst>
              <a:gd name="adj" fmla="val 40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943475"/>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5181600"/>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5267325"/>
            <a:ext cx="3676650" cy="1381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Accelerating uptake of 'Cyltezo' (10.1%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Fast-growing demand in Canada (9.0%).</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Momentum in Gastroenterology within therapeutic application (9.7%).</a:t>
            </a:r>
          </a:p>
        </p:txBody>
      </p:sp>
      <p:sp>
        <p:nvSpPr>
          <p:cNvPr id="22" name="Rounded Rectangle 21"/>
          <p:cNvSpPr/>
          <p:nvPr/>
        </p:nvSpPr>
        <p:spPr>
          <a:xfrm>
            <a:off x="4238625" y="4857750"/>
            <a:ext cx="3819525" cy="1866900"/>
          </a:xfrm>
          <a:prstGeom prst="roundRect">
            <a:avLst>
              <a:gd name="adj" fmla="val 40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943475"/>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5181600"/>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5267325"/>
            <a:ext cx="3552825" cy="1381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Slower momentum in 'Yusimry' (6.3%).</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Maturing demand in established categories caps the blended 8.5%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Value concentration in 'Idacio' raises barriers for new entrants.</a:t>
            </a:r>
          </a:p>
        </p:txBody>
      </p:sp>
      <p:sp>
        <p:nvSpPr>
          <p:cNvPr id="26" name="Rounded Rectangle 25"/>
          <p:cNvSpPr/>
          <p:nvPr/>
        </p:nvSpPr>
        <p:spPr>
          <a:xfrm>
            <a:off x="8210550" y="4857750"/>
            <a:ext cx="3819525" cy="1866900"/>
          </a:xfrm>
          <a:prstGeom prst="roundRect">
            <a:avLst>
              <a:gd name="adj" fmla="val 40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943475"/>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5181600"/>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5267325"/>
            <a:ext cx="3552825" cy="1381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Mix shifting toward 'Cyltezo' and higher-growth tiers.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Canada outpacing the North America average.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Demand broadening across 11 product type categories.</a:t>
            </a:r>
          </a:p>
        </p:txBody>
      </p:sp>
      <p:sp>
        <p:nvSpPr>
          <p:cNvPr id="30" name="Rectangle 2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2" name="Rounded Rectangle 3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3" name="Rounded Rectangle 3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4" name="Rounded Rectangle 3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Supply Side Trends</a:t>
            </a:r>
          </a:p>
        </p:txBody>
      </p:sp>
      <p:sp>
        <p:nvSpPr>
          <p:cNvPr id="10" name="Rounded Rectangle 9"/>
          <p:cNvSpPr/>
          <p:nvPr/>
        </p:nvSpPr>
        <p:spPr>
          <a:xfrm>
            <a:off x="142875" y="857250"/>
            <a:ext cx="5876925" cy="1828800"/>
          </a:xfrm>
          <a:prstGeom prst="roundRect">
            <a:avLst>
              <a:gd name="adj" fmla="val 41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942975"/>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1811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266825"/>
            <a:ext cx="5610225" cy="13430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Capacity and product development are concentrating in 'Cyltezo' and Canada.</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Portfolio expansion tracks the shift toward higher-growth product type categories.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Commercial focus is intensifying across Canada and Canada.</a:t>
            </a:r>
          </a:p>
        </p:txBody>
      </p:sp>
      <p:sp>
        <p:nvSpPr>
          <p:cNvPr id="14" name="Rounded Rectangle 13"/>
          <p:cNvSpPr/>
          <p:nvPr/>
        </p:nvSpPr>
        <p:spPr>
          <a:xfrm>
            <a:off x="6172200" y="857250"/>
            <a:ext cx="5876925" cy="1828800"/>
          </a:xfrm>
          <a:prstGeom prst="roundRect">
            <a:avLst>
              <a:gd name="adj" fmla="val 41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942975"/>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1811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266825"/>
            <a:ext cx="5610225" cy="13430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2026 size 1,974 US$ Mn; 2036 4,475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Forecast CAGR 8.5%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Lead category 'Idacio' 11.7% of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Lead country Canada 77.0%.</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Incremental opportunity 2,500 US$ Mn.</a:t>
            </a:r>
          </a:p>
        </p:txBody>
      </p:sp>
      <p:sp>
        <p:nvSpPr>
          <p:cNvPr id="18" name="Rounded Rectangle 17"/>
          <p:cNvSpPr/>
          <p:nvPr/>
        </p:nvSpPr>
        <p:spPr>
          <a:xfrm>
            <a:off x="142875" y="2819400"/>
            <a:ext cx="5876925" cy="1333500"/>
          </a:xfrm>
          <a:prstGeom prst="roundRect">
            <a:avLst>
              <a:gd name="adj" fmla="val 571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05125"/>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1432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28975"/>
            <a:ext cx="5610225" cy="8477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Investment is flowing toward the fastest-growing tier 'Cyltezo' (10.1%).</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Canada (9.0%) is a priority country for new capacity.</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Scale players anchor around 'Idacio' (11.7% share).</a:t>
            </a:r>
          </a:p>
        </p:txBody>
      </p:sp>
      <p:sp>
        <p:nvSpPr>
          <p:cNvPr id="22" name="Rounded Rectangle 21"/>
          <p:cNvSpPr/>
          <p:nvPr/>
        </p:nvSpPr>
        <p:spPr>
          <a:xfrm>
            <a:off x="6172200" y="2819400"/>
            <a:ext cx="5876925" cy="1333500"/>
          </a:xfrm>
          <a:prstGeom prst="roundRect">
            <a:avLst>
              <a:gd name="adj" fmla="val 571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05125"/>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1432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28975"/>
            <a:ext cx="5610225" cy="8477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R&amp;D aligns with the migration to 'Cyltezo' and adjacent premium tiers.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Development spend targets product type categories gaining share to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Innovation underpins the 8.5% forecast CAGR.</a:t>
            </a:r>
          </a:p>
        </p:txBody>
      </p:sp>
      <p:sp>
        <p:nvSpPr>
          <p:cNvPr id="26" name="Rounded Rectangle 25"/>
          <p:cNvSpPr/>
          <p:nvPr/>
        </p:nvSpPr>
        <p:spPr>
          <a:xfrm>
            <a:off x="142875" y="4286250"/>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343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product type share (2036)</a:t>
            </a:r>
          </a:p>
        </p:txBody>
      </p:sp>
      <p:graphicFrame>
        <p:nvGraphicFramePr>
          <p:cNvPr id="28" name="Chart 27"/>
          <p:cNvGraphicFramePr>
            <a:graphicFrameLocks noGrp="1"/>
          </p:cNvGraphicFramePr>
          <p:nvPr/>
        </p:nvGraphicFramePr>
        <p:xfrm>
          <a:off x="238125" y="4572000"/>
          <a:ext cx="11715750" cy="2095500"/>
        </p:xfrm>
        <a:graphic>
          <a:graphicData uri="http://schemas.openxmlformats.org/drawingml/2006/chart">
            <c:chart xmlns:c="http://schemas.openxmlformats.org/drawingml/2006/chart" r:id="rId3"/>
          </a:graphicData>
        </a:graphic>
      </p:graphicFrame>
      <p:sp>
        <p:nvSpPr>
          <p:cNvPr id="29" name="TextBox 28"/>
          <p:cNvSpPr txBox="1"/>
          <p:nvPr/>
        </p:nvSpPr>
        <p:spPr>
          <a:xfrm>
            <a:off x="3837394" y="5505450"/>
            <a:ext cx="1002487" cy="228600"/>
          </a:xfrm>
          <a:prstGeom prst="rect">
            <a:avLst/>
          </a:prstGeom>
          <a:noFill/>
        </p:spPr>
        <p:txBody>
          <a:bodyPr wrap="square" lIns="28575" rIns="28575" tIns="9525" bIns="9525" anchor="ctr">
            <a:spAutoFit/>
          </a:bodyPr>
          <a:lstStyle/>
          <a:p>
            <a:pPr algn="ctr"/>
            <a:r>
              <a:rPr sz="1300" b="1">
                <a:solidFill>
                  <a:srgbClr val="2E2E2E"/>
                </a:solidFill>
                <a:latin typeface="Calibri"/>
              </a:rPr>
              <a:t>2036</a:t>
            </a:r>
          </a:p>
        </p:txBody>
      </p:sp>
      <p:sp>
        <p:nvSpPr>
          <p:cNvPr id="30" name="Rectangle 2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2" name="Rounded Rectangle 31">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3" name="Rounded Rectangle 32">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4" name="Rounded Rectangle 33">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Analysis and Recommendation</a:t>
            </a:r>
          </a:p>
        </p:txBody>
      </p:sp>
      <p:sp>
        <p:nvSpPr>
          <p:cNvPr id="10" name="Rounded Rectangle 9"/>
          <p:cNvSpPr/>
          <p:nvPr/>
        </p:nvSpPr>
        <p:spPr>
          <a:xfrm>
            <a:off x="142875" y="857250"/>
            <a:ext cx="5876925"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942975"/>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1811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266825"/>
            <a:ext cx="5610225" cy="12096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Balance scale in 'Idacio' with targeted growth in 'Cyltezo', pursuing the 8.5% CAGR trajectory to 2036.</a:t>
            </a:r>
          </a:p>
        </p:txBody>
      </p:sp>
      <p:sp>
        <p:nvSpPr>
          <p:cNvPr id="14" name="Rounded Rectangle 13"/>
          <p:cNvSpPr/>
          <p:nvPr/>
        </p:nvSpPr>
        <p:spPr>
          <a:xfrm>
            <a:off x="6172200" y="857250"/>
            <a:ext cx="5876925"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942975"/>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1811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266825"/>
            <a:ext cx="5610225" cy="12096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Differentiate through the high-growth 'Cyltezo' tier and Gastroenterology within therapeutic application.</a:t>
            </a:r>
          </a:p>
        </p:txBody>
      </p:sp>
      <p:sp>
        <p:nvSpPr>
          <p:cNvPr id="18" name="Rounded Rectangle 17"/>
          <p:cNvSpPr/>
          <p:nvPr/>
        </p:nvSpPr>
        <p:spPr>
          <a:xfrm>
            <a:off x="142875" y="2686050"/>
            <a:ext cx="5876925"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7717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0099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095625"/>
            <a:ext cx="5610225" cy="12096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Prioritise 'Cyltezo' (10.1%); 'Idacio' anchors 11.7% of value.</a:t>
            </a:r>
          </a:p>
        </p:txBody>
      </p:sp>
      <p:sp>
        <p:nvSpPr>
          <p:cNvPr id="22" name="Rounded Rectangle 21"/>
          <p:cNvSpPr/>
          <p:nvPr/>
        </p:nvSpPr>
        <p:spPr>
          <a:xfrm>
            <a:off x="6172200" y="2686050"/>
            <a:ext cx="5876925"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7717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Country</a:t>
            </a:r>
          </a:p>
        </p:txBody>
      </p:sp>
      <p:sp>
        <p:nvSpPr>
          <p:cNvPr id="24" name="Rectangle 23"/>
          <p:cNvSpPr/>
          <p:nvPr/>
        </p:nvSpPr>
        <p:spPr>
          <a:xfrm>
            <a:off x="6305550" y="30099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095625"/>
            <a:ext cx="5610225" cy="12096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Lead with Canada (77.0%); capture upside in Canada (9.0%).</a:t>
            </a:r>
          </a:p>
        </p:txBody>
      </p:sp>
      <p:sp>
        <p:nvSpPr>
          <p:cNvPr id="26" name="Rounded Rectangle 25"/>
          <p:cNvSpPr/>
          <p:nvPr/>
        </p:nvSpPr>
        <p:spPr>
          <a:xfrm>
            <a:off x="142875" y="4514850"/>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600575"/>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8387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4924425"/>
            <a:ext cx="11639550" cy="17049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Humira Biosimilars adds 2,500 US$ Mn of demand to 2036 a 2.3× expansion.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Concentrate resources on the leading segment/country while seeding the fastest-growing pockets early.</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Defend share in 'Idacio' as the value anchor of the portfolio.</a:t>
            </a:r>
          </a:p>
        </p:txBody>
      </p:sp>
      <p:sp>
        <p:nvSpPr>
          <p:cNvPr id="30" name="Rectangle 2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2" name="Rounded Rectangle 3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3" name="Rounded Rectangle 3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4" name="Rounded Rectangle 3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Scenario Outlook (4/4)</a:t>
            </a:r>
          </a:p>
        </p:txBody>
      </p:sp>
      <p:sp>
        <p:nvSpPr>
          <p:cNvPr id="10" name="Rounded Rectangle 9"/>
          <p:cNvSpPr/>
          <p:nvPr/>
        </p:nvSpPr>
        <p:spPr>
          <a:xfrm>
            <a:off x="142875" y="857250"/>
            <a:ext cx="3943350" cy="9525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OPTIMISTIC (2036)</a:t>
            </a:r>
          </a:p>
          <a:p>
            <a:pPr algn="ctr"/>
            <a:r>
              <a:rPr sz="2000" b="1">
                <a:solidFill>
                  <a:srgbClr val="0E72AE"/>
                </a:solidFill>
                <a:latin typeface="Calibri"/>
              </a:rPr>
              <a:t>5,436 US$ Mn</a:t>
            </a:r>
          </a:p>
          <a:p>
            <a:pPr algn="ctr"/>
            <a:r>
              <a:rPr sz="750" b="0">
                <a:solidFill>
                  <a:srgbClr val="6C7A89"/>
                </a:solidFill>
                <a:latin typeface="Calibri"/>
              </a:rPr>
              <a:t>CAGR 10.7%</a:t>
            </a:r>
          </a:p>
        </p:txBody>
      </p:sp>
      <p:sp>
        <p:nvSpPr>
          <p:cNvPr id="11" name="Rounded Rectangle 10"/>
          <p:cNvSpPr/>
          <p:nvPr/>
        </p:nvSpPr>
        <p:spPr>
          <a:xfrm>
            <a:off x="4238625" y="857250"/>
            <a:ext cx="3819525" cy="9525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LIKELY (2036)</a:t>
            </a:r>
          </a:p>
          <a:p>
            <a:pPr algn="ctr"/>
            <a:r>
              <a:rPr sz="2000" b="1">
                <a:solidFill>
                  <a:srgbClr val="0E72AE"/>
                </a:solidFill>
                <a:latin typeface="Calibri"/>
              </a:rPr>
              <a:t>4,475 US$ Mn</a:t>
            </a:r>
          </a:p>
          <a:p>
            <a:pPr algn="ctr"/>
            <a:r>
              <a:rPr sz="750" b="0">
                <a:solidFill>
                  <a:srgbClr val="6C7A89"/>
                </a:solidFill>
                <a:latin typeface="Calibri"/>
              </a:rPr>
              <a:t>CAGR 8.5%</a:t>
            </a:r>
          </a:p>
        </p:txBody>
      </p:sp>
      <p:sp>
        <p:nvSpPr>
          <p:cNvPr id="12" name="Rounded Rectangle 11"/>
          <p:cNvSpPr/>
          <p:nvPr/>
        </p:nvSpPr>
        <p:spPr>
          <a:xfrm>
            <a:off x="8210550" y="857250"/>
            <a:ext cx="3819525" cy="9525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CONSERVATIVE (2036)</a:t>
            </a:r>
          </a:p>
          <a:p>
            <a:pPr algn="ctr"/>
            <a:r>
              <a:rPr sz="2000" b="1">
                <a:solidFill>
                  <a:srgbClr val="0E72AE"/>
                </a:solidFill>
                <a:latin typeface="Calibri"/>
              </a:rPr>
              <a:t>3,670 US$ Mn</a:t>
            </a:r>
          </a:p>
          <a:p>
            <a:pPr algn="ctr"/>
            <a:r>
              <a:rPr sz="750" b="0">
                <a:solidFill>
                  <a:srgbClr val="6C7A89"/>
                </a:solidFill>
                <a:latin typeface="Calibri"/>
              </a:rPr>
              <a:t>CAGR 6.4%</a:t>
            </a:r>
          </a:p>
        </p:txBody>
      </p:sp>
      <p:sp>
        <p:nvSpPr>
          <p:cNvPr id="13" name="Rounded Rectangle 12"/>
          <p:cNvSpPr/>
          <p:nvPr/>
        </p:nvSpPr>
        <p:spPr>
          <a:xfrm>
            <a:off x="142875" y="1943100"/>
            <a:ext cx="4457700" cy="2790825"/>
          </a:xfrm>
          <a:prstGeom prst="roundRect">
            <a:avLst>
              <a:gd name="adj" fmla="val 27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2000250"/>
            <a:ext cx="42672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Scenario CAGR (%)</a:t>
            </a:r>
          </a:p>
        </p:txBody>
      </p:sp>
      <p:graphicFrame>
        <p:nvGraphicFramePr>
          <p:cNvPr id="15" name="Chart 14"/>
          <p:cNvGraphicFramePr>
            <a:graphicFrameLocks noGrp="1"/>
          </p:cNvGraphicFramePr>
          <p:nvPr/>
        </p:nvGraphicFramePr>
        <p:xfrm>
          <a:off x="238125" y="2228850"/>
          <a:ext cx="4267200" cy="2447925"/>
        </p:xfrm>
        <a:graphic>
          <a:graphicData uri="http://schemas.openxmlformats.org/drawingml/2006/chart">
            <c:chart xmlns:c="http://schemas.openxmlformats.org/drawingml/2006/chart" r:id="rId3"/>
          </a:graphicData>
        </a:graphic>
      </p:graphicFrame>
      <p:sp>
        <p:nvSpPr>
          <p:cNvPr id="16" name="Rounded Rectangle 15"/>
          <p:cNvSpPr/>
          <p:nvPr/>
        </p:nvSpPr>
        <p:spPr>
          <a:xfrm>
            <a:off x="4752975" y="1943100"/>
            <a:ext cx="7286625" cy="2790825"/>
          </a:xfrm>
          <a:prstGeom prst="roundRect">
            <a:avLst>
              <a:gd name="adj" fmla="val 27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8225" y="20002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Scenario trajectories, 2026–2036 (US$ Mn)</a:t>
            </a:r>
          </a:p>
        </p:txBody>
      </p:sp>
      <p:graphicFrame>
        <p:nvGraphicFramePr>
          <p:cNvPr id="18" name="Chart 17"/>
          <p:cNvGraphicFramePr>
            <a:graphicFrameLocks noGrp="1"/>
          </p:cNvGraphicFramePr>
          <p:nvPr/>
        </p:nvGraphicFramePr>
        <p:xfrm>
          <a:off x="4848225" y="2228850"/>
          <a:ext cx="7096125" cy="2447925"/>
        </p:xfrm>
        <a:graphic>
          <a:graphicData uri="http://schemas.openxmlformats.org/drawingml/2006/chart">
            <c:chart xmlns:c="http://schemas.openxmlformats.org/drawingml/2006/chart" r:id="rId4"/>
          </a:graphicData>
        </a:graphic>
      </p:graphicFrame>
      <p:sp>
        <p:nvSpPr>
          <p:cNvPr id="19" name="Rounded Rectangle 18"/>
          <p:cNvSpPr/>
          <p:nvPr/>
        </p:nvSpPr>
        <p:spPr>
          <a:xfrm>
            <a:off x="142875" y="4867275"/>
            <a:ext cx="11906250"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953000"/>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21" name="Rectangle 20"/>
          <p:cNvSpPr/>
          <p:nvPr/>
        </p:nvSpPr>
        <p:spPr>
          <a:xfrm>
            <a:off x="276225" y="51911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5276850"/>
            <a:ext cx="11639550" cy="1352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Optimistic: 5,436 US$ Mn by 2036 at 10.7%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Likely (base forecast): 4,475 US$ Mn at 8.5%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Conservative: 3,670 US$ Mn at 6.4%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Scenarios flex the forecast CAGR by ±25% across the 2026–2036 horizon.</a:t>
            </a:r>
          </a:p>
        </p:txBody>
      </p:sp>
      <p:sp>
        <p:nvSpPr>
          <p:cNvPr id="23" name="Rectangle 2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5" name="Rounded Rectangle 24">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6" name="Rounded Rectangle 25">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By Region</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North America Humira Biosimilars – Regional Outlook</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Analysis By Region (1/2)</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Analysis By Region (2/2)</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Volume Share Analysis By Region</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Value Share Analysis By Region</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04</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 Regional Outlook</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TextBox 10"/>
          <p:cNvSpPr txBox="1"/>
          <p:nvPr/>
        </p:nvSpPr>
        <p:spPr>
          <a:xfrm>
            <a:off x="323850" y="857250"/>
            <a:ext cx="11544300" cy="323850"/>
          </a:xfrm>
          <a:prstGeom prst="rect">
            <a:avLst/>
          </a:prstGeom>
          <a:noFill/>
        </p:spPr>
        <p:txBody>
          <a:bodyPr wrap="square" lIns="28575" rIns="28575" tIns="9525" bIns="9525">
            <a:spAutoFit/>
          </a:bodyPr>
          <a:lstStyle/>
          <a:p>
            <a:pPr algn="l"/>
            <a:r>
              <a:rPr sz="1150" b="0">
                <a:solidFill>
                  <a:srgbClr val="2E2E2E"/>
                </a:solidFill>
                <a:latin typeface="Calibri"/>
              </a:rPr>
              <a:t>The By Country view breaks the North America market down geographically. Each country is evaluated on market size, growth outlook and adoption trends across the forecast period.</a:t>
            </a:r>
          </a:p>
        </p:txBody>
      </p:sp>
      <p:sp>
        <p:nvSpPr>
          <p:cNvPr id="12" name="Rectangle 11"/>
          <p:cNvSpPr/>
          <p:nvPr/>
        </p:nvSpPr>
        <p:spPr>
          <a:xfrm>
            <a:off x="323850" y="1657350"/>
            <a:ext cx="1428750" cy="457200"/>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657350"/>
            <a:ext cx="1295400" cy="457200"/>
          </a:xfrm>
          <a:prstGeom prst="rect">
            <a:avLst/>
          </a:prstGeom>
          <a:noFill/>
        </p:spPr>
        <p:txBody>
          <a:bodyPr wrap="square" lIns="28575" rIns="28575" tIns="9525" bIns="9525" anchor="ctr">
            <a:spAutoFit/>
          </a:bodyPr>
          <a:lstStyle/>
          <a:p>
            <a:pPr algn="l"/>
            <a:r>
              <a:rPr sz="1050" b="1">
                <a:solidFill>
                  <a:srgbClr val="0B2E4A"/>
                </a:solidFill>
                <a:latin typeface="Calibri"/>
              </a:rPr>
              <a:t>Country</a:t>
            </a:r>
          </a:p>
        </p:txBody>
      </p:sp>
      <p:sp>
        <p:nvSpPr>
          <p:cNvPr id="14" name="Rectangle 13"/>
          <p:cNvSpPr/>
          <p:nvPr/>
        </p:nvSpPr>
        <p:spPr>
          <a:xfrm>
            <a:off x="323850" y="21336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1336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2026 Value (US$ Mn)</a:t>
            </a:r>
          </a:p>
        </p:txBody>
      </p:sp>
      <p:sp>
        <p:nvSpPr>
          <p:cNvPr id="16" name="Rectangle 15"/>
          <p:cNvSpPr/>
          <p:nvPr/>
        </p:nvSpPr>
        <p:spPr>
          <a:xfrm>
            <a:off x="323850" y="264795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64795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2036 Value (US$ Mn)</a:t>
            </a:r>
          </a:p>
        </p:txBody>
      </p:sp>
      <p:sp>
        <p:nvSpPr>
          <p:cNvPr id="18" name="Rectangle 17"/>
          <p:cNvSpPr/>
          <p:nvPr/>
        </p:nvSpPr>
        <p:spPr>
          <a:xfrm>
            <a:off x="323850" y="31623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1623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CAGR (2026–2036)</a:t>
            </a:r>
          </a:p>
        </p:txBody>
      </p:sp>
      <p:sp>
        <p:nvSpPr>
          <p:cNvPr id="20" name="Rounded Rectangle 19"/>
          <p:cNvSpPr/>
          <p:nvPr/>
        </p:nvSpPr>
        <p:spPr>
          <a:xfrm>
            <a:off x="1866900" y="1657350"/>
            <a:ext cx="4943475"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885950"/>
            <a:ext cx="4943475"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657350"/>
            <a:ext cx="4867275" cy="457200"/>
          </a:xfrm>
          <a:prstGeom prst="rect">
            <a:avLst/>
          </a:prstGeom>
          <a:noFill/>
        </p:spPr>
        <p:txBody>
          <a:bodyPr wrap="square" lIns="28575" rIns="28575" tIns="9525" bIns="9525" anchor="ctr">
            <a:spAutoFit/>
          </a:bodyPr>
          <a:lstStyle/>
          <a:p>
            <a:pPr algn="ctr"/>
            <a:r>
              <a:rPr sz="1100" b="1">
                <a:solidFill>
                  <a:srgbClr val="FFFFFF"/>
                </a:solidFill>
                <a:latin typeface="Calibri"/>
              </a:rPr>
              <a:t>Canada</a:t>
            </a:r>
          </a:p>
        </p:txBody>
      </p:sp>
      <p:sp>
        <p:nvSpPr>
          <p:cNvPr id="23" name="Rectangle 22"/>
          <p:cNvSpPr/>
          <p:nvPr/>
        </p:nvSpPr>
        <p:spPr>
          <a:xfrm>
            <a:off x="1866900" y="2133600"/>
            <a:ext cx="494347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1,453</a:t>
            </a:r>
          </a:p>
        </p:txBody>
      </p:sp>
      <p:sp>
        <p:nvSpPr>
          <p:cNvPr id="24" name="Rectangle 23"/>
          <p:cNvSpPr/>
          <p:nvPr/>
        </p:nvSpPr>
        <p:spPr>
          <a:xfrm>
            <a:off x="1866900" y="2647950"/>
            <a:ext cx="494347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3,447</a:t>
            </a:r>
          </a:p>
        </p:txBody>
      </p:sp>
      <p:sp>
        <p:nvSpPr>
          <p:cNvPr id="25" name="Rectangle 24"/>
          <p:cNvSpPr/>
          <p:nvPr/>
        </p:nvSpPr>
        <p:spPr>
          <a:xfrm>
            <a:off x="1866900" y="3162300"/>
            <a:ext cx="494347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9.0%</a:t>
            </a:r>
          </a:p>
        </p:txBody>
      </p:sp>
      <p:sp>
        <p:nvSpPr>
          <p:cNvPr id="26" name="Oval 25"/>
          <p:cNvSpPr/>
          <p:nvPr/>
        </p:nvSpPr>
        <p:spPr>
          <a:xfrm>
            <a:off x="4176712"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6924675" y="1657350"/>
            <a:ext cx="4943475"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924675" y="1885950"/>
            <a:ext cx="4943475"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2775" y="1657350"/>
            <a:ext cx="4867275" cy="457200"/>
          </a:xfrm>
          <a:prstGeom prst="rect">
            <a:avLst/>
          </a:prstGeom>
          <a:noFill/>
        </p:spPr>
        <p:txBody>
          <a:bodyPr wrap="square" lIns="28575" rIns="28575" tIns="9525" bIns="9525" anchor="ctr">
            <a:spAutoFit/>
          </a:bodyPr>
          <a:lstStyle/>
          <a:p>
            <a:pPr algn="ctr"/>
            <a:r>
              <a:rPr sz="1100" b="1">
                <a:solidFill>
                  <a:srgbClr val="FFFFFF"/>
                </a:solidFill>
                <a:latin typeface="Calibri"/>
              </a:rPr>
              <a:t>U.S.</a:t>
            </a:r>
          </a:p>
        </p:txBody>
      </p:sp>
      <p:sp>
        <p:nvSpPr>
          <p:cNvPr id="30" name="Rectangle 29"/>
          <p:cNvSpPr/>
          <p:nvPr/>
        </p:nvSpPr>
        <p:spPr>
          <a:xfrm>
            <a:off x="6924675" y="2133600"/>
            <a:ext cx="494347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521.5</a:t>
            </a:r>
          </a:p>
        </p:txBody>
      </p:sp>
      <p:sp>
        <p:nvSpPr>
          <p:cNvPr id="31" name="Rectangle 30"/>
          <p:cNvSpPr/>
          <p:nvPr/>
        </p:nvSpPr>
        <p:spPr>
          <a:xfrm>
            <a:off x="6924675" y="2647950"/>
            <a:ext cx="494347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1,028</a:t>
            </a:r>
          </a:p>
        </p:txBody>
      </p:sp>
      <p:sp>
        <p:nvSpPr>
          <p:cNvPr id="32" name="Rectangle 31"/>
          <p:cNvSpPr/>
          <p:nvPr/>
        </p:nvSpPr>
        <p:spPr>
          <a:xfrm>
            <a:off x="6924675" y="3162300"/>
            <a:ext cx="494347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7.0%</a:t>
            </a:r>
          </a:p>
        </p:txBody>
      </p:sp>
      <p:sp>
        <p:nvSpPr>
          <p:cNvPr id="33" name="Oval 32"/>
          <p:cNvSpPr/>
          <p:nvPr/>
        </p:nvSpPr>
        <p:spPr>
          <a:xfrm>
            <a:off x="9234488"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323850" y="3829050"/>
            <a:ext cx="323850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3924300"/>
            <a:ext cx="2971800" cy="190500"/>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6" name="Rectangle 35"/>
          <p:cNvSpPr/>
          <p:nvPr/>
        </p:nvSpPr>
        <p:spPr>
          <a:xfrm>
            <a:off x="457200" y="4133850"/>
            <a:ext cx="2971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4210050"/>
            <a:ext cx="297180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'Canada' holds the largest share in 2026 74% of market value.</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'Canada' is the fastest-growing country at 9.0% CAGR through 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Market value expands from 1,974 to 4,475 US$ Mn across 2026–2036.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2 countries make up the geographic landscape.</a:t>
            </a:r>
          </a:p>
        </p:txBody>
      </p:sp>
      <p:sp>
        <p:nvSpPr>
          <p:cNvPr id="38" name="Rounded Rectangle 37"/>
          <p:cNvSpPr/>
          <p:nvPr/>
        </p:nvSpPr>
        <p:spPr>
          <a:xfrm>
            <a:off x="3676650" y="3829050"/>
            <a:ext cx="447675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10000" y="3924300"/>
            <a:ext cx="4210050" cy="190500"/>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0" name="Rectangle 39"/>
          <p:cNvSpPr/>
          <p:nvPr/>
        </p:nvSpPr>
        <p:spPr>
          <a:xfrm>
            <a:off x="3810000" y="4133850"/>
            <a:ext cx="42100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10000" y="4210050"/>
            <a:ext cx="42100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900" b="0">
                <a:solidFill>
                  <a:srgbClr val="0B2E4A"/>
                </a:solidFill>
                <a:latin typeface="Calibri"/>
              </a:rPr>
              <a:t>●  </a:t>
            </a:r>
            <a:r>
              <a:rPr sz="1000" b="1">
                <a:solidFill>
                  <a:srgbClr val="0B2E4A"/>
                </a:solidFill>
                <a:latin typeface="Calibri"/>
              </a:rPr>
              <a:t>Canada: </a:t>
            </a:r>
            <a:r>
              <a:rPr sz="1000" b="0">
                <a:solidFill>
                  <a:srgbClr val="2E2E2E"/>
                </a:solidFill>
                <a:latin typeface="Calibri"/>
              </a:rPr>
              <a:t>74% of 2026 value · 9.0% CAGR leads the market.</a:t>
            </a:r>
          </a:p>
          <a:p>
            <a:pPr algn="l">
              <a:lnSpc>
                <a:spcPct val="110000"/>
              </a:lnSpc>
              <a:spcBef>
                <a:spcPts val="0"/>
              </a:spcBef>
              <a:spcAft>
                <a:spcPts val="500"/>
              </a:spcAft>
            </a:pPr>
            <a:r>
              <a:rPr sz="900" b="0">
                <a:solidFill>
                  <a:srgbClr val="0E72AE"/>
                </a:solidFill>
                <a:latin typeface="Calibri"/>
              </a:rPr>
              <a:t>●  </a:t>
            </a:r>
            <a:r>
              <a:rPr sz="1000" b="1">
                <a:solidFill>
                  <a:srgbClr val="0E72AE"/>
                </a:solidFill>
                <a:latin typeface="Calibri"/>
              </a:rPr>
              <a:t>U.S.: </a:t>
            </a:r>
            <a:r>
              <a:rPr sz="1000" b="0">
                <a:solidFill>
                  <a:srgbClr val="2E2E2E"/>
                </a:solidFill>
                <a:latin typeface="Calibri"/>
              </a:rPr>
              <a:t>26% of 2026 value · 7.0% CAGR a smaller market.</a:t>
            </a:r>
          </a:p>
        </p:txBody>
      </p:sp>
      <p:sp>
        <p:nvSpPr>
          <p:cNvPr id="42" name="Rounded Rectangle 41"/>
          <p:cNvSpPr/>
          <p:nvPr/>
        </p:nvSpPr>
        <p:spPr>
          <a:xfrm>
            <a:off x="8267700" y="3829050"/>
            <a:ext cx="3600450" cy="2686050"/>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1050" y="3924300"/>
            <a:ext cx="3333750" cy="190500"/>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4" name="Rectangle 43"/>
          <p:cNvSpPr/>
          <p:nvPr/>
        </p:nvSpPr>
        <p:spPr>
          <a:xfrm>
            <a:off x="8401050" y="4133850"/>
            <a:ext cx="33337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01050" y="4210050"/>
            <a:ext cx="33337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Shifting demand and access dynamics are rebalancing the geographic mix through 2036.</a:t>
            </a:r>
          </a:p>
        </p:txBody>
      </p:sp>
      <p:sp>
        <p:nvSpPr>
          <p:cNvPr id="46" name="Rectangle 45"/>
          <p:cNvSpPr/>
          <p:nvPr/>
        </p:nvSpPr>
        <p:spPr>
          <a:xfrm>
            <a:off x="8401050" y="5810250"/>
            <a:ext cx="3333750" cy="552450"/>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401050" y="5810250"/>
            <a:ext cx="38100" cy="5524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96300" y="5848350"/>
            <a:ext cx="3219450" cy="476250"/>
          </a:xfrm>
          <a:prstGeom prst="rect">
            <a:avLst/>
          </a:prstGeom>
          <a:noFill/>
        </p:spPr>
        <p:txBody>
          <a:bodyPr wrap="square" lIns="28575" rIns="28575" tIns="9525" bIns="9525" anchor="ctr">
            <a:spAutoFit/>
          </a:bodyPr>
          <a:lstStyle/>
          <a:p>
            <a:pPr algn="l"/>
            <a:r>
              <a:rPr sz="1150" b="1">
                <a:solidFill>
                  <a:srgbClr val="0B2E4A"/>
                </a:solidFill>
                <a:latin typeface="Calibri"/>
              </a:rPr>
              <a:t>The North America market is projected to grow at a CAGR of 8.5% from 2026 to 2036.</a:t>
            </a:r>
          </a:p>
        </p:txBody>
      </p:sp>
      <p:sp>
        <p:nvSpPr>
          <p:cNvPr id="49" name="TextBox 48"/>
          <p:cNvSpPr txBox="1"/>
          <p:nvPr/>
        </p:nvSpPr>
        <p:spPr>
          <a:xfrm>
            <a:off x="323850" y="6591300"/>
            <a:ext cx="3048000" cy="133350"/>
          </a:xfrm>
          <a:prstGeom prst="rect">
            <a:avLst/>
          </a:prstGeom>
          <a:noFill/>
        </p:spPr>
        <p:txBody>
          <a:bodyPr wrap="none">
            <a:spAutoFit/>
          </a:bodyPr>
          <a:lstStyle/>
          <a:p>
            <a:r>
              <a:rPr sz="800" i="1">
                <a:solidFill>
                  <a:srgbClr val="6C7A89"/>
                </a:solidFill>
                <a:latin typeface="Calibri"/>
              </a:rPr>
              <a:t>Source: FMI Analysis, 2026</a:t>
            </a:r>
          </a:p>
        </p:txBody>
      </p:sp>
      <p:sp>
        <p:nvSpPr>
          <p:cNvPr id="50" name="Rectangle 4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52" name="Rounded Rectangle 5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3" name="Rounded Rectangle 5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4" name="Rounded Rectangle 5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Analysis, By Country Volume (Mn Doses)</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6810375" cy="4638675"/>
          </a:xfrm>
          <a:prstGeom prst="roundRect">
            <a:avLst>
              <a:gd name="adj" fmla="val 164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3" name="Chart 12"/>
          <p:cNvGraphicFramePr>
            <a:graphicFrameLocks noGrp="1"/>
          </p:cNvGraphicFramePr>
          <p:nvPr/>
        </p:nvGraphicFramePr>
        <p:xfrm>
          <a:off x="238125" y="1285875"/>
          <a:ext cx="5163502" cy="4152900"/>
        </p:xfrm>
        <a:graphic>
          <a:graphicData uri="http://schemas.openxmlformats.org/drawingml/2006/chart">
            <c:chart xmlns:c="http://schemas.openxmlformats.org/drawingml/2006/chart" r:id="rId3"/>
          </a:graphicData>
        </a:graphic>
      </p:graphicFrame>
      <p:sp>
        <p:nvSpPr>
          <p:cNvPr id="14" name="TextBox 13"/>
          <p:cNvSpPr txBox="1"/>
          <p:nvPr/>
        </p:nvSpPr>
        <p:spPr>
          <a:xfrm>
            <a:off x="6343650" y="1309116"/>
            <a:ext cx="552450" cy="114300"/>
          </a:xfrm>
          <a:prstGeom prst="rect">
            <a:avLst/>
          </a:prstGeom>
          <a:noFill/>
        </p:spPr>
        <p:txBody>
          <a:bodyPr wrap="square" lIns="28575" rIns="28575" tIns="9525" bIns="9525">
            <a:spAutoFit/>
          </a:bodyPr>
          <a:lstStyle/>
          <a:p>
            <a:pPr algn="l"/>
            <a:r>
              <a:rPr sz="750" b="1">
                <a:solidFill>
                  <a:srgbClr val="6C7A89"/>
                </a:solidFill>
                <a:latin typeface="Calibri"/>
              </a:rPr>
              <a:t>BPS Δ</a:t>
            </a:r>
          </a:p>
        </p:txBody>
      </p:sp>
      <p:cxnSp>
        <p:nvCxnSpPr>
          <p:cNvPr id="15" name="Connector 14"/>
          <p:cNvCxnSpPr/>
          <p:nvPr/>
        </p:nvCxnSpPr>
        <p:spPr>
          <a:xfrm>
            <a:off x="6419850" y="1451991"/>
            <a:ext cx="0" cy="3415284"/>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458778" y="3159633"/>
            <a:ext cx="961072"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48425" y="4406529"/>
            <a:ext cx="419100" cy="133350"/>
          </a:xfrm>
          <a:prstGeom prst="rect">
            <a:avLst/>
          </a:prstGeom>
          <a:noFill/>
        </p:spPr>
        <p:txBody>
          <a:bodyPr wrap="none" lIns="0" rIns="0" tIns="0" bIns="0" anchor="ctr">
            <a:spAutoFit/>
          </a:bodyPr>
          <a:lstStyle/>
          <a:p>
            <a:pPr algn="l"/>
            <a:r>
              <a:rPr sz="750" b="0">
                <a:solidFill>
                  <a:srgbClr val="6C7A89"/>
                </a:solidFill>
                <a:latin typeface="Calibri"/>
              </a:rPr>
              <a:t>-162</a:t>
            </a:r>
          </a:p>
        </p:txBody>
      </p:sp>
      <p:sp>
        <p:nvSpPr>
          <p:cNvPr id="18" name="TextBox 17"/>
          <p:cNvSpPr txBox="1"/>
          <p:nvPr/>
        </p:nvSpPr>
        <p:spPr>
          <a:xfrm>
            <a:off x="6448425" y="3092958"/>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19" name="TextBox 18"/>
          <p:cNvSpPr txBox="1"/>
          <p:nvPr/>
        </p:nvSpPr>
        <p:spPr>
          <a:xfrm>
            <a:off x="6448425" y="1779387"/>
            <a:ext cx="419100" cy="133350"/>
          </a:xfrm>
          <a:prstGeom prst="rect">
            <a:avLst/>
          </a:prstGeom>
          <a:noFill/>
        </p:spPr>
        <p:txBody>
          <a:bodyPr wrap="none" lIns="0" rIns="0" tIns="0" bIns="0" anchor="ctr">
            <a:spAutoFit/>
          </a:bodyPr>
          <a:lstStyle/>
          <a:p>
            <a:pPr algn="l"/>
            <a:r>
              <a:rPr sz="750" b="0">
                <a:solidFill>
                  <a:srgbClr val="6C7A89"/>
                </a:solidFill>
                <a:latin typeface="Calibri"/>
              </a:rPr>
              <a:t>+162</a:t>
            </a:r>
          </a:p>
        </p:txBody>
      </p:sp>
      <p:sp>
        <p:nvSpPr>
          <p:cNvPr id="20" name="Oval 19"/>
          <p:cNvSpPr/>
          <p:nvPr/>
        </p:nvSpPr>
        <p:spPr>
          <a:xfrm>
            <a:off x="5511165" y="1803200"/>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511165" y="4430341"/>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20702" y="1769862"/>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+162</a:t>
            </a:r>
          </a:p>
        </p:txBody>
      </p:sp>
      <p:sp>
        <p:nvSpPr>
          <p:cNvPr id="23" name="TextBox 22"/>
          <p:cNvSpPr txBox="1"/>
          <p:nvPr/>
        </p:nvSpPr>
        <p:spPr>
          <a:xfrm>
            <a:off x="5620702" y="4397004"/>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-162</a:t>
            </a:r>
          </a:p>
        </p:txBody>
      </p:sp>
      <p:sp>
        <p:nvSpPr>
          <p:cNvPr id="24" name="Rounded Rectangle 23"/>
          <p:cNvSpPr/>
          <p:nvPr/>
        </p:nvSpPr>
        <p:spPr>
          <a:xfrm>
            <a:off x="7105650" y="857250"/>
            <a:ext cx="4933950" cy="4638675"/>
          </a:xfrm>
          <a:prstGeom prst="roundRect">
            <a:avLst>
              <a:gd name="adj" fmla="val 164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9000" y="942975"/>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6" name="Rectangle 25"/>
          <p:cNvSpPr/>
          <p:nvPr/>
        </p:nvSpPr>
        <p:spPr>
          <a:xfrm>
            <a:off x="7239000" y="1181100"/>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0" y="1266825"/>
            <a:ext cx="4667250" cy="415290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Canada is the largest country, at 70.1% of 2036 volume.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'U.S.' gains the most share +162 BPS between 2026 and 2036 (</a:t>
            </a:r>
            <a:r>
              <a:rPr sz="1150" b="0">
                <a:solidFill>
                  <a:srgbClr val="2E7D32"/>
                </a:solidFill>
                <a:latin typeface="Calibri"/>
              </a:rPr>
              <a:t>▲</a:t>
            </a:r>
            <a:r>
              <a:rPr sz="1150" b="0">
                <a:solidFill>
                  <a:srgbClr val="2E2E2E"/>
                </a:solidFill>
                <a:latin typeface="Calibri"/>
              </a:rPr>
              <a:t> on the right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'Canada' cedes the most -162 BPS over the same window (</a:t>
            </a:r>
            <a:r>
              <a:rPr sz="1150" b="0">
                <a:solidFill>
                  <a:srgbClr val="E44D3A"/>
                </a:solidFill>
                <a:latin typeface="Calibri"/>
              </a:rPr>
              <a:t>▼</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U.S. grows fastest 13.6%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rises from 4.16 to 14.1 Mn Doses across 2 countries.</a:t>
            </a:r>
          </a:p>
        </p:txBody>
      </p:sp>
      <p:sp>
        <p:nvSpPr>
          <p:cNvPr id="28" name="Rounded Rectangle 27"/>
          <p:cNvSpPr/>
          <p:nvPr/>
        </p:nvSpPr>
        <p:spPr>
          <a:xfrm>
            <a:off x="142875" y="5629275"/>
            <a:ext cx="3943350" cy="1085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2026 TOTAL (MN DOSES)</a:t>
            </a:r>
          </a:p>
          <a:p>
            <a:pPr algn="ctr"/>
            <a:r>
              <a:rPr sz="2000" b="1">
                <a:solidFill>
                  <a:srgbClr val="0E72AE"/>
                </a:solidFill>
                <a:latin typeface="Calibri"/>
              </a:rPr>
              <a:t>4.16</a:t>
            </a:r>
          </a:p>
        </p:txBody>
      </p:sp>
      <p:sp>
        <p:nvSpPr>
          <p:cNvPr id="29" name="Rounded Rectangle 28"/>
          <p:cNvSpPr/>
          <p:nvPr/>
        </p:nvSpPr>
        <p:spPr>
          <a:xfrm>
            <a:off x="4238625" y="5629275"/>
            <a:ext cx="3819525" cy="1085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2036 TOTAL (MN DOSES)</a:t>
            </a:r>
          </a:p>
          <a:p>
            <a:pPr algn="ctr"/>
            <a:r>
              <a:rPr sz="2000" b="1">
                <a:solidFill>
                  <a:srgbClr val="0E72AE"/>
                </a:solidFill>
                <a:latin typeface="Calibri"/>
              </a:rPr>
              <a:t>14.1</a:t>
            </a:r>
          </a:p>
        </p:txBody>
      </p:sp>
      <p:sp>
        <p:nvSpPr>
          <p:cNvPr id="30" name="Rounded Rectangle 29"/>
          <p:cNvSpPr/>
          <p:nvPr/>
        </p:nvSpPr>
        <p:spPr>
          <a:xfrm>
            <a:off x="8210550" y="5629275"/>
            <a:ext cx="3819525" cy="1085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CAGR (2026–2036)</a:t>
            </a:r>
          </a:p>
          <a:p>
            <a:pPr algn="ctr"/>
            <a:r>
              <a:rPr sz="2000" b="1">
                <a:solidFill>
                  <a:srgbClr val="0E72AE"/>
                </a:solidFill>
                <a:latin typeface="Calibri"/>
              </a:rPr>
              <a:t>13.0%</a:t>
            </a:r>
          </a:p>
        </p:txBody>
      </p:sp>
      <p:sp>
        <p:nvSpPr>
          <p:cNvPr id="31" name="Rectangle 3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3" name="Rounded Rectangle 32">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4" name="Rounded Rectangle 33">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5" name="Rounded Rectangle 34">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Analysis, By Country Value (US$ Mn)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6810375" cy="4638675"/>
          </a:xfrm>
          <a:prstGeom prst="roundRect">
            <a:avLst>
              <a:gd name="adj" fmla="val 164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3" name="Chart 12"/>
          <p:cNvGraphicFramePr>
            <a:graphicFrameLocks noGrp="1"/>
          </p:cNvGraphicFramePr>
          <p:nvPr/>
        </p:nvGraphicFramePr>
        <p:xfrm>
          <a:off x="238125" y="1285875"/>
          <a:ext cx="5163502" cy="4152900"/>
        </p:xfrm>
        <a:graphic>
          <a:graphicData uri="http://schemas.openxmlformats.org/drawingml/2006/chart">
            <c:chart xmlns:c="http://schemas.openxmlformats.org/drawingml/2006/chart" r:id="rId3"/>
          </a:graphicData>
        </a:graphic>
      </p:graphicFrame>
      <p:sp>
        <p:nvSpPr>
          <p:cNvPr id="14" name="TextBox 13"/>
          <p:cNvSpPr txBox="1"/>
          <p:nvPr/>
        </p:nvSpPr>
        <p:spPr>
          <a:xfrm>
            <a:off x="6343650" y="1309116"/>
            <a:ext cx="552450" cy="114300"/>
          </a:xfrm>
          <a:prstGeom prst="rect">
            <a:avLst/>
          </a:prstGeom>
          <a:noFill/>
        </p:spPr>
        <p:txBody>
          <a:bodyPr wrap="square" lIns="28575" rIns="28575" tIns="9525" bIns="9525">
            <a:spAutoFit/>
          </a:bodyPr>
          <a:lstStyle/>
          <a:p>
            <a:pPr algn="l"/>
            <a:r>
              <a:rPr sz="750" b="1">
                <a:solidFill>
                  <a:srgbClr val="6C7A89"/>
                </a:solidFill>
                <a:latin typeface="Calibri"/>
              </a:rPr>
              <a:t>BPS Δ</a:t>
            </a:r>
          </a:p>
        </p:txBody>
      </p:sp>
      <p:cxnSp>
        <p:nvCxnSpPr>
          <p:cNvPr id="15" name="Connector 14"/>
          <p:cNvCxnSpPr/>
          <p:nvPr/>
        </p:nvCxnSpPr>
        <p:spPr>
          <a:xfrm>
            <a:off x="6419850" y="1451991"/>
            <a:ext cx="0" cy="3415284"/>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458778" y="3159633"/>
            <a:ext cx="961072"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48425" y="4406529"/>
            <a:ext cx="419100" cy="133350"/>
          </a:xfrm>
          <a:prstGeom prst="rect">
            <a:avLst/>
          </a:prstGeom>
          <a:noFill/>
        </p:spPr>
        <p:txBody>
          <a:bodyPr wrap="none" lIns="0" rIns="0" tIns="0" bIns="0" anchor="ctr">
            <a:spAutoFit/>
          </a:bodyPr>
          <a:lstStyle/>
          <a:p>
            <a:pPr algn="l"/>
            <a:r>
              <a:rPr sz="750" b="0">
                <a:solidFill>
                  <a:srgbClr val="6C7A89"/>
                </a:solidFill>
                <a:latin typeface="Calibri"/>
              </a:rPr>
              <a:t>-344</a:t>
            </a:r>
          </a:p>
        </p:txBody>
      </p:sp>
      <p:sp>
        <p:nvSpPr>
          <p:cNvPr id="18" name="TextBox 17"/>
          <p:cNvSpPr txBox="1"/>
          <p:nvPr/>
        </p:nvSpPr>
        <p:spPr>
          <a:xfrm>
            <a:off x="6448425" y="3092958"/>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19" name="TextBox 18"/>
          <p:cNvSpPr txBox="1"/>
          <p:nvPr/>
        </p:nvSpPr>
        <p:spPr>
          <a:xfrm>
            <a:off x="6448425" y="1779387"/>
            <a:ext cx="419100" cy="133350"/>
          </a:xfrm>
          <a:prstGeom prst="rect">
            <a:avLst/>
          </a:prstGeom>
          <a:noFill/>
        </p:spPr>
        <p:txBody>
          <a:bodyPr wrap="none" lIns="0" rIns="0" tIns="0" bIns="0" anchor="ctr">
            <a:spAutoFit/>
          </a:bodyPr>
          <a:lstStyle/>
          <a:p>
            <a:pPr algn="l"/>
            <a:r>
              <a:rPr sz="750" b="0">
                <a:solidFill>
                  <a:srgbClr val="6C7A89"/>
                </a:solidFill>
                <a:latin typeface="Calibri"/>
              </a:rPr>
              <a:t>+344</a:t>
            </a:r>
          </a:p>
        </p:txBody>
      </p:sp>
      <p:sp>
        <p:nvSpPr>
          <p:cNvPr id="20" name="Oval 19"/>
          <p:cNvSpPr/>
          <p:nvPr/>
        </p:nvSpPr>
        <p:spPr>
          <a:xfrm>
            <a:off x="5511165" y="1803200"/>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511165" y="4430341"/>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20702" y="1769862"/>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+344</a:t>
            </a:r>
          </a:p>
        </p:txBody>
      </p:sp>
      <p:sp>
        <p:nvSpPr>
          <p:cNvPr id="23" name="TextBox 22"/>
          <p:cNvSpPr txBox="1"/>
          <p:nvPr/>
        </p:nvSpPr>
        <p:spPr>
          <a:xfrm>
            <a:off x="5620702" y="4397004"/>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-344</a:t>
            </a:r>
          </a:p>
        </p:txBody>
      </p:sp>
      <p:sp>
        <p:nvSpPr>
          <p:cNvPr id="24" name="Rounded Rectangle 23"/>
          <p:cNvSpPr/>
          <p:nvPr/>
        </p:nvSpPr>
        <p:spPr>
          <a:xfrm>
            <a:off x="7105650" y="857250"/>
            <a:ext cx="4933950" cy="4638675"/>
          </a:xfrm>
          <a:prstGeom prst="roundRect">
            <a:avLst>
              <a:gd name="adj" fmla="val 164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9000" y="942975"/>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6" name="Rectangle 25"/>
          <p:cNvSpPr/>
          <p:nvPr/>
        </p:nvSpPr>
        <p:spPr>
          <a:xfrm>
            <a:off x="7239000" y="1181100"/>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0" y="1266825"/>
            <a:ext cx="4667250" cy="415290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Canada is the largest country, at 77.0% of 2036 value.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'Canada' gains the most share +344 BPS between 2026 and 2036 (</a:t>
            </a:r>
            <a:r>
              <a:rPr sz="1150" b="0">
                <a:solidFill>
                  <a:srgbClr val="2E7D32"/>
                </a:solidFill>
                <a:latin typeface="Calibri"/>
              </a:rPr>
              <a:t>▲</a:t>
            </a:r>
            <a:r>
              <a:rPr sz="1150" b="0">
                <a:solidFill>
                  <a:srgbClr val="2E2E2E"/>
                </a:solidFill>
                <a:latin typeface="Calibri"/>
              </a:rPr>
              <a:t> on the right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'U.S.' cedes the most -344 BPS over the same window (</a:t>
            </a:r>
            <a:r>
              <a:rPr sz="1150" b="0">
                <a:solidFill>
                  <a:srgbClr val="E44D3A"/>
                </a:solidFill>
                <a:latin typeface="Calibri"/>
              </a:rPr>
              <a:t>▼</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Canada grows fastest 9.0%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rises from 1,974 to 4,475 US$ Mn across 2 countries.</a:t>
            </a:r>
          </a:p>
        </p:txBody>
      </p:sp>
      <p:sp>
        <p:nvSpPr>
          <p:cNvPr id="28" name="Rounded Rectangle 27"/>
          <p:cNvSpPr/>
          <p:nvPr/>
        </p:nvSpPr>
        <p:spPr>
          <a:xfrm>
            <a:off x="142875" y="5629275"/>
            <a:ext cx="3943350" cy="1085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2026 TOTAL (US$ MN)</a:t>
            </a:r>
          </a:p>
          <a:p>
            <a:pPr algn="ctr"/>
            <a:r>
              <a:rPr sz="2000" b="1">
                <a:solidFill>
                  <a:srgbClr val="0E72AE"/>
                </a:solidFill>
                <a:latin typeface="Calibri"/>
              </a:rPr>
              <a:t>1,974</a:t>
            </a:r>
          </a:p>
        </p:txBody>
      </p:sp>
      <p:sp>
        <p:nvSpPr>
          <p:cNvPr id="29" name="Rounded Rectangle 28"/>
          <p:cNvSpPr/>
          <p:nvPr/>
        </p:nvSpPr>
        <p:spPr>
          <a:xfrm>
            <a:off x="4238625" y="5629275"/>
            <a:ext cx="3819525" cy="1085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2036 TOTAL (US$ MN)</a:t>
            </a:r>
          </a:p>
          <a:p>
            <a:pPr algn="ctr"/>
            <a:r>
              <a:rPr sz="2000" b="1">
                <a:solidFill>
                  <a:srgbClr val="0E72AE"/>
                </a:solidFill>
                <a:latin typeface="Calibri"/>
              </a:rPr>
              <a:t>4,475</a:t>
            </a:r>
          </a:p>
        </p:txBody>
      </p:sp>
      <p:sp>
        <p:nvSpPr>
          <p:cNvPr id="30" name="Rounded Rectangle 29"/>
          <p:cNvSpPr/>
          <p:nvPr/>
        </p:nvSpPr>
        <p:spPr>
          <a:xfrm>
            <a:off x="8210550" y="5629275"/>
            <a:ext cx="3819525" cy="1085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CAGR (2026–2036)</a:t>
            </a:r>
          </a:p>
          <a:p>
            <a:pPr algn="ctr"/>
            <a:r>
              <a:rPr sz="2000" b="1">
                <a:solidFill>
                  <a:srgbClr val="0E72AE"/>
                </a:solidFill>
                <a:latin typeface="Calibri"/>
              </a:rPr>
              <a:t>8.5%</a:t>
            </a:r>
          </a:p>
        </p:txBody>
      </p:sp>
      <p:sp>
        <p:nvSpPr>
          <p:cNvPr id="31" name="Rectangle 3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3" name="Rounded Rectangle 32">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4" name="Rounded Rectangle 33">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5" name="Rounded Rectangle 34">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Share Analysis, By Country Volume (Mn Doses)</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924175"/>
          </a:xfrm>
          <a:prstGeom prst="roundRect">
            <a:avLst>
              <a:gd name="adj" fmla="val 26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(Mn Doses)</a:t>
            </a:r>
          </a:p>
        </p:txBody>
      </p:sp>
      <p:graphicFrame>
        <p:nvGraphicFramePr>
          <p:cNvPr id="13" name="Table 12"/>
          <p:cNvGraphicFramePr>
            <a:graphicFrameLocks noGrp="1"/>
          </p:cNvGraphicFramePr>
          <p:nvPr/>
        </p:nvGraphicFramePr>
        <p:xfrm>
          <a:off x="238125" y="1143000"/>
          <a:ext cx="11715752" cy="72390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Country</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U.S.</a:t>
                      </a:r>
                    </a:p>
                  </a:txBody>
                  <a:tcPr marL="85725" marR="38100" marT="19050" marB="19050" anchor="ctr">
                    <a:solidFill>
                      <a:srgbClr val="FFFFFF"/>
                    </a:solidFill>
                  </a:tcPr>
                </a:tc>
                <a:tc>
                  <a:txBody>
                    <a:bodyPr wrap="none"/>
                    <a:lstStyle/>
                    <a:p>
                      <a:pPr algn="l"/>
                      <a:r>
                        <a:rPr sz="800" b="0">
                          <a:solidFill>
                            <a:srgbClr val="2E2E2E"/>
                          </a:solidFill>
                          <a:latin typeface="Calibri"/>
                        </a:rPr>
                        <a:t>0.40</a:t>
                      </a:r>
                    </a:p>
                  </a:txBody>
                  <a:tcPr marL="85725" marR="38100" marT="19050" marB="19050" anchor="ctr">
                    <a:solidFill>
                      <a:srgbClr val="FFFFFF"/>
                    </a:solidFill>
                  </a:tcPr>
                </a:tc>
                <a:tc>
                  <a:txBody>
                    <a:bodyPr wrap="none"/>
                    <a:lstStyle/>
                    <a:p>
                      <a:pPr algn="l"/>
                      <a:r>
                        <a:rPr sz="800" b="0">
                          <a:solidFill>
                            <a:srgbClr val="2E2E2E"/>
                          </a:solidFill>
                          <a:latin typeface="Calibri"/>
                        </a:rPr>
                        <a:t>0.47</a:t>
                      </a:r>
                    </a:p>
                  </a:txBody>
                  <a:tcPr marL="85725" marR="38100" marT="19050" marB="19050" anchor="ctr">
                    <a:solidFill>
                      <a:srgbClr val="FFFFFF"/>
                    </a:solidFill>
                  </a:tcPr>
                </a:tc>
                <a:tc>
                  <a:txBody>
                    <a:bodyPr wrap="none"/>
                    <a:lstStyle/>
                    <a:p>
                      <a:pPr algn="l"/>
                      <a:r>
                        <a:rPr sz="800" b="0">
                          <a:solidFill>
                            <a:srgbClr val="2E2E2E"/>
                          </a:solidFill>
                          <a:latin typeface="Calibri"/>
                        </a:rPr>
                        <a:t>0.59</a:t>
                      </a:r>
                    </a:p>
                  </a:txBody>
                  <a:tcPr marL="85725" marR="38100" marT="19050" marB="19050" anchor="ctr">
                    <a:solidFill>
                      <a:srgbClr val="FFFFFF"/>
                    </a:solidFill>
                  </a:tcPr>
                </a:tc>
                <a:tc>
                  <a:txBody>
                    <a:bodyPr wrap="none"/>
                    <a:lstStyle/>
                    <a:p>
                      <a:pPr algn="l"/>
                      <a:r>
                        <a:rPr sz="800" b="0">
                          <a:solidFill>
                            <a:srgbClr val="2E2E2E"/>
                          </a:solidFill>
                          <a:latin typeface="Calibri"/>
                        </a:rPr>
                        <a:t>0.76</a:t>
                      </a:r>
                    </a:p>
                  </a:txBody>
                  <a:tcPr marL="85725" marR="38100" marT="19050" marB="19050" anchor="ctr">
                    <a:solidFill>
                      <a:srgbClr val="FFFFFF"/>
                    </a:solidFill>
                  </a:tcPr>
                </a:tc>
                <a:tc>
                  <a:txBody>
                    <a:bodyPr wrap="none"/>
                    <a:lstStyle/>
                    <a:p>
                      <a:pPr algn="l"/>
                      <a:r>
                        <a:rPr sz="800" b="0">
                          <a:solidFill>
                            <a:srgbClr val="2E2E2E"/>
                          </a:solidFill>
                          <a:latin typeface="Calibri"/>
                        </a:rPr>
                        <a:t>0.96</a:t>
                      </a:r>
                    </a:p>
                  </a:txBody>
                  <a:tcPr marL="85725" marR="38100" marT="19050" marB="19050" anchor="ctr">
                    <a:solidFill>
                      <a:srgbClr val="FFFFFF"/>
                    </a:solidFill>
                  </a:tcPr>
                </a:tc>
                <a:tc>
                  <a:txBody>
                    <a:bodyPr wrap="none"/>
                    <a:lstStyle/>
                    <a:p>
                      <a:pPr algn="l"/>
                      <a:r>
                        <a:rPr sz="800" b="0">
                          <a:solidFill>
                            <a:srgbClr val="2E2E2E"/>
                          </a:solidFill>
                          <a:latin typeface="Calibri"/>
                        </a:rPr>
                        <a:t>1.18</a:t>
                      </a:r>
                    </a:p>
                  </a:txBody>
                  <a:tcPr marL="85725" marR="38100" marT="19050" marB="19050" anchor="ctr">
                    <a:solidFill>
                      <a:srgbClr val="FFFFFF"/>
                    </a:solidFill>
                  </a:tcPr>
                </a:tc>
                <a:tc>
                  <a:txBody>
                    <a:bodyPr wrap="none"/>
                    <a:lstStyle/>
                    <a:p>
                      <a:pPr algn="l"/>
                      <a:r>
                        <a:rPr sz="800" b="0">
                          <a:solidFill>
                            <a:srgbClr val="2E2E2E"/>
                          </a:solidFill>
                          <a:latin typeface="Calibri"/>
                        </a:rPr>
                        <a:t>1.41</a:t>
                      </a:r>
                    </a:p>
                  </a:txBody>
                  <a:tcPr marL="85725" marR="38100" marT="19050" marB="19050" anchor="ctr">
                    <a:solidFill>
                      <a:srgbClr val="FFFFFF"/>
                    </a:solidFill>
                  </a:tcPr>
                </a:tc>
                <a:tc>
                  <a:txBody>
                    <a:bodyPr wrap="none"/>
                    <a:lstStyle/>
                    <a:p>
                      <a:pPr algn="l"/>
                      <a:r>
                        <a:rPr sz="800" b="0">
                          <a:solidFill>
                            <a:srgbClr val="2E2E2E"/>
                          </a:solidFill>
                          <a:latin typeface="Calibri"/>
                        </a:rPr>
                        <a:t>1.66</a:t>
                      </a:r>
                    </a:p>
                  </a:txBody>
                  <a:tcPr marL="85725" marR="38100" marT="19050" marB="19050" anchor="ctr">
                    <a:solidFill>
                      <a:srgbClr val="FFFFFF"/>
                    </a:solidFill>
                  </a:tcPr>
                </a:tc>
                <a:tc>
                  <a:txBody>
                    <a:bodyPr wrap="none"/>
                    <a:lstStyle/>
                    <a:p>
                      <a:pPr algn="l"/>
                      <a:r>
                        <a:rPr sz="800" b="0">
                          <a:solidFill>
                            <a:srgbClr val="2E2E2E"/>
                          </a:solidFill>
                          <a:latin typeface="Calibri"/>
                        </a:rPr>
                        <a:t>1.93</a:t>
                      </a:r>
                    </a:p>
                  </a:txBody>
                  <a:tcPr marL="85725" marR="38100" marT="19050" marB="19050" anchor="ctr">
                    <a:solidFill>
                      <a:srgbClr val="FFFFFF"/>
                    </a:solidFill>
                  </a:tcPr>
                </a:tc>
                <a:tc>
                  <a:txBody>
                    <a:bodyPr wrap="none"/>
                    <a:lstStyle/>
                    <a:p>
                      <a:pPr algn="l"/>
                      <a:r>
                        <a:rPr sz="800" b="0">
                          <a:solidFill>
                            <a:srgbClr val="2E2E2E"/>
                          </a:solidFill>
                          <a:latin typeface="Calibri"/>
                        </a:rPr>
                        <a:t>2.21</a:t>
                      </a:r>
                    </a:p>
                  </a:txBody>
                  <a:tcPr marL="85725" marR="38100" marT="19050" marB="19050" anchor="ctr">
                    <a:solidFill>
                      <a:srgbClr val="FFFFFF"/>
                    </a:solidFill>
                  </a:tcPr>
                </a:tc>
                <a:tc>
                  <a:txBody>
                    <a:bodyPr wrap="none"/>
                    <a:lstStyle/>
                    <a:p>
                      <a:pPr algn="l"/>
                      <a:r>
                        <a:rPr sz="800" b="0">
                          <a:solidFill>
                            <a:srgbClr val="2E2E2E"/>
                          </a:solidFill>
                          <a:latin typeface="Calibri"/>
                        </a:rPr>
                        <a:t>2.50</a:t>
                      </a:r>
                    </a:p>
                  </a:txBody>
                  <a:tcPr marL="85725" marR="38100" marT="19050" marB="19050" anchor="ctr">
                    <a:solidFill>
                      <a:srgbClr val="FFFFFF"/>
                    </a:solidFill>
                  </a:tcPr>
                </a:tc>
                <a:tc>
                  <a:txBody>
                    <a:bodyPr wrap="none"/>
                    <a:lstStyle/>
                    <a:p>
                      <a:pPr algn="l"/>
                      <a:r>
                        <a:rPr sz="800" b="0">
                          <a:solidFill>
                            <a:srgbClr val="2E2E2E"/>
                          </a:solidFill>
                          <a:latin typeface="Calibri"/>
                        </a:rPr>
                        <a:t>2.81</a:t>
                      </a:r>
                    </a:p>
                  </a:txBody>
                  <a:tcPr marL="85725" marR="38100" marT="19050" marB="19050" anchor="ctr">
                    <a:solidFill>
                      <a:srgbClr val="FFFFFF"/>
                    </a:solidFill>
                  </a:tcPr>
                </a:tc>
                <a:tc>
                  <a:txBody>
                    <a:bodyPr wrap="none"/>
                    <a:lstStyle/>
                    <a:p>
                      <a:pPr algn="l"/>
                      <a:r>
                        <a:rPr sz="800" b="0">
                          <a:solidFill>
                            <a:srgbClr val="2E2E2E"/>
                          </a:solidFill>
                          <a:latin typeface="Calibri"/>
                        </a:rPr>
                        <a:t>3.14</a:t>
                      </a:r>
                    </a:p>
                  </a:txBody>
                  <a:tcPr marL="85725" marR="38100" marT="19050" marB="19050" anchor="ctr">
                    <a:solidFill>
                      <a:srgbClr val="FFFFFF"/>
                    </a:solidFill>
                  </a:tcPr>
                </a:tc>
                <a:tc>
                  <a:txBody>
                    <a:bodyPr wrap="none"/>
                    <a:lstStyle/>
                    <a:p>
                      <a:pPr algn="l"/>
                      <a:r>
                        <a:rPr sz="800" b="0">
                          <a:solidFill>
                            <a:srgbClr val="2E2E2E"/>
                          </a:solidFill>
                          <a:latin typeface="Calibri"/>
                        </a:rPr>
                        <a:t>3.48</a:t>
                      </a:r>
                    </a:p>
                  </a:txBody>
                  <a:tcPr marL="85725" marR="38100" marT="19050" marB="19050" anchor="ctr">
                    <a:solidFill>
                      <a:srgbClr val="FFFFFF"/>
                    </a:solidFill>
                  </a:tcPr>
                </a:tc>
                <a:tc>
                  <a:txBody>
                    <a:bodyPr wrap="none"/>
                    <a:lstStyle/>
                    <a:p>
                      <a:pPr algn="l"/>
                      <a:r>
                        <a:rPr sz="800" b="0">
                          <a:solidFill>
                            <a:srgbClr val="2E2E2E"/>
                          </a:solidFill>
                          <a:latin typeface="Calibri"/>
                        </a:rPr>
                        <a:t>3.84</a:t>
                      </a:r>
                    </a:p>
                  </a:txBody>
                  <a:tcPr marL="85725" marR="38100" marT="19050" marB="19050" anchor="ctr">
                    <a:solidFill>
                      <a:srgbClr val="FFFFFF"/>
                    </a:solidFill>
                  </a:tcPr>
                </a:tc>
                <a:tc>
                  <a:txBody>
                    <a:bodyPr wrap="none"/>
                    <a:lstStyle/>
                    <a:p>
                      <a:pPr algn="l"/>
                      <a:r>
                        <a:rPr sz="800" b="0">
                          <a:solidFill>
                            <a:srgbClr val="2E2E2E"/>
                          </a:solidFill>
                          <a:latin typeface="Calibri"/>
                        </a:rPr>
                        <a:t>4.23</a:t>
                      </a:r>
                    </a:p>
                  </a:txBody>
                  <a:tcPr marL="85725" marR="38100" marT="19050" marB="19050" anchor="ctr">
                    <a:solidFill>
                      <a:srgbClr val="FFFFFF"/>
                    </a:solidFill>
                  </a:tcPr>
                </a:tc>
                <a:tc>
                  <a:txBody>
                    <a:bodyPr wrap="none"/>
                    <a:lstStyle/>
                    <a:p>
                      <a:pPr algn="l"/>
                      <a:r>
                        <a:rPr sz="800" b="0">
                          <a:solidFill>
                            <a:srgbClr val="2E2E2E"/>
                          </a:solidFill>
                          <a:latin typeface="Calibri"/>
                        </a:rPr>
                        <a:t>13.6%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Canada</a:t>
                      </a:r>
                    </a:p>
                  </a:txBody>
                  <a:tcPr marL="85725" marR="38100" marT="19050" marB="19050" anchor="ctr">
                    <a:solidFill>
                      <a:srgbClr val="F5F8FA"/>
                    </a:solidFill>
                  </a:tcPr>
                </a:tc>
                <a:tc>
                  <a:txBody>
                    <a:bodyPr wrap="none"/>
                    <a:lstStyle/>
                    <a:p>
                      <a:pPr algn="l"/>
                      <a:r>
                        <a:rPr sz="800" b="0">
                          <a:solidFill>
                            <a:srgbClr val="2E2E2E"/>
                          </a:solidFill>
                          <a:latin typeface="Calibri"/>
                        </a:rPr>
                        <a:t>1.06</a:t>
                      </a:r>
                    </a:p>
                  </a:txBody>
                  <a:tcPr marL="85725" marR="38100" marT="19050" marB="19050" anchor="ctr">
                    <a:solidFill>
                      <a:srgbClr val="F5F8FA"/>
                    </a:solidFill>
                  </a:tcPr>
                </a:tc>
                <a:tc>
                  <a:txBody>
                    <a:bodyPr wrap="none"/>
                    <a:lstStyle/>
                    <a:p>
                      <a:pPr algn="l"/>
                      <a:r>
                        <a:rPr sz="800" b="0">
                          <a:solidFill>
                            <a:srgbClr val="2E2E2E"/>
                          </a:solidFill>
                          <a:latin typeface="Calibri"/>
                        </a:rPr>
                        <a:t>1.24</a:t>
                      </a:r>
                    </a:p>
                  </a:txBody>
                  <a:tcPr marL="85725" marR="38100" marT="19050" marB="19050" anchor="ctr">
                    <a:solidFill>
                      <a:srgbClr val="F5F8FA"/>
                    </a:solidFill>
                  </a:tcPr>
                </a:tc>
                <a:tc>
                  <a:txBody>
                    <a:bodyPr wrap="none"/>
                    <a:lstStyle/>
                    <a:p>
                      <a:pPr algn="l"/>
                      <a:r>
                        <a:rPr sz="800" b="0">
                          <a:solidFill>
                            <a:srgbClr val="2E2E2E"/>
                          </a:solidFill>
                          <a:latin typeface="Calibri"/>
                        </a:rPr>
                        <a:t>1.54</a:t>
                      </a:r>
                    </a:p>
                  </a:txBody>
                  <a:tcPr marL="85725" marR="38100" marT="19050" marB="19050" anchor="ctr">
                    <a:solidFill>
                      <a:srgbClr val="F5F8FA"/>
                    </a:solidFill>
                  </a:tcPr>
                </a:tc>
                <a:tc>
                  <a:txBody>
                    <a:bodyPr wrap="none"/>
                    <a:lstStyle/>
                    <a:p>
                      <a:pPr algn="l"/>
                      <a:r>
                        <a:rPr sz="800" b="0">
                          <a:solidFill>
                            <a:srgbClr val="2E2E2E"/>
                          </a:solidFill>
                          <a:latin typeface="Calibri"/>
                        </a:rPr>
                        <a:t>1.97</a:t>
                      </a:r>
                    </a:p>
                  </a:txBody>
                  <a:tcPr marL="85725" marR="38100" marT="19050" marB="19050" anchor="ctr">
                    <a:solidFill>
                      <a:srgbClr val="F5F8FA"/>
                    </a:solidFill>
                  </a:tcPr>
                </a:tc>
                <a:tc>
                  <a:txBody>
                    <a:bodyPr wrap="none"/>
                    <a:lstStyle/>
                    <a:p>
                      <a:pPr algn="l"/>
                      <a:r>
                        <a:rPr sz="800" b="0">
                          <a:solidFill>
                            <a:srgbClr val="2E2E2E"/>
                          </a:solidFill>
                          <a:latin typeface="Calibri"/>
                        </a:rPr>
                        <a:t>2.46</a:t>
                      </a:r>
                    </a:p>
                  </a:txBody>
                  <a:tcPr marL="85725" marR="38100" marT="19050" marB="19050" anchor="ctr">
                    <a:solidFill>
                      <a:srgbClr val="F5F8FA"/>
                    </a:solidFill>
                  </a:tcPr>
                </a:tc>
                <a:tc>
                  <a:txBody>
                    <a:bodyPr wrap="none"/>
                    <a:lstStyle/>
                    <a:p>
                      <a:pPr algn="l"/>
                      <a:r>
                        <a:rPr sz="800" b="0">
                          <a:solidFill>
                            <a:srgbClr val="2E2E2E"/>
                          </a:solidFill>
                          <a:latin typeface="Calibri"/>
                        </a:rPr>
                        <a:t>2.98</a:t>
                      </a:r>
                    </a:p>
                  </a:txBody>
                  <a:tcPr marL="85725" marR="38100" marT="19050" marB="19050" anchor="ctr">
                    <a:solidFill>
                      <a:srgbClr val="F5F8FA"/>
                    </a:solidFill>
                  </a:tcPr>
                </a:tc>
                <a:tc>
                  <a:txBody>
                    <a:bodyPr wrap="none"/>
                    <a:lstStyle/>
                    <a:p>
                      <a:pPr algn="l"/>
                      <a:r>
                        <a:rPr sz="800" b="0">
                          <a:solidFill>
                            <a:srgbClr val="2E2E2E"/>
                          </a:solidFill>
                          <a:latin typeface="Calibri"/>
                        </a:rPr>
                        <a:t>3.56</a:t>
                      </a:r>
                    </a:p>
                  </a:txBody>
                  <a:tcPr marL="85725" marR="38100" marT="19050" marB="19050" anchor="ctr">
                    <a:solidFill>
                      <a:srgbClr val="F5F8FA"/>
                    </a:solidFill>
                  </a:tcPr>
                </a:tc>
                <a:tc>
                  <a:txBody>
                    <a:bodyPr wrap="none"/>
                    <a:lstStyle/>
                    <a:p>
                      <a:pPr algn="l"/>
                      <a:r>
                        <a:rPr sz="800" b="0">
                          <a:solidFill>
                            <a:srgbClr val="2E2E2E"/>
                          </a:solidFill>
                          <a:latin typeface="Calibri"/>
                        </a:rPr>
                        <a:t>4.15</a:t>
                      </a:r>
                    </a:p>
                  </a:txBody>
                  <a:tcPr marL="85725" marR="38100" marT="19050" marB="19050" anchor="ctr">
                    <a:solidFill>
                      <a:srgbClr val="F5F8FA"/>
                    </a:solidFill>
                  </a:tcPr>
                </a:tc>
                <a:tc>
                  <a:txBody>
                    <a:bodyPr wrap="none"/>
                    <a:lstStyle/>
                    <a:p>
                      <a:pPr algn="l"/>
                      <a:r>
                        <a:rPr sz="800" b="0">
                          <a:solidFill>
                            <a:srgbClr val="2E2E2E"/>
                          </a:solidFill>
                          <a:latin typeface="Calibri"/>
                        </a:rPr>
                        <a:t>4.77</a:t>
                      </a:r>
                    </a:p>
                  </a:txBody>
                  <a:tcPr marL="85725" marR="38100" marT="19050" marB="19050" anchor="ctr">
                    <a:solidFill>
                      <a:srgbClr val="F5F8FA"/>
                    </a:solidFill>
                  </a:tcPr>
                </a:tc>
                <a:tc>
                  <a:txBody>
                    <a:bodyPr wrap="none"/>
                    <a:lstStyle/>
                    <a:p>
                      <a:pPr algn="l"/>
                      <a:r>
                        <a:rPr sz="800" b="0">
                          <a:solidFill>
                            <a:srgbClr val="2E2E2E"/>
                          </a:solidFill>
                          <a:latin typeface="Calibri"/>
                        </a:rPr>
                        <a:t>5.42</a:t>
                      </a:r>
                    </a:p>
                  </a:txBody>
                  <a:tcPr marL="85725" marR="38100" marT="19050" marB="19050" anchor="ctr">
                    <a:solidFill>
                      <a:srgbClr val="F5F8FA"/>
                    </a:solidFill>
                  </a:tcPr>
                </a:tc>
                <a:tc>
                  <a:txBody>
                    <a:bodyPr wrap="none"/>
                    <a:lstStyle/>
                    <a:p>
                      <a:pPr algn="l"/>
                      <a:r>
                        <a:rPr sz="800" b="0">
                          <a:solidFill>
                            <a:srgbClr val="2E2E2E"/>
                          </a:solidFill>
                          <a:latin typeface="Calibri"/>
                        </a:rPr>
                        <a:t>6.10</a:t>
                      </a:r>
                    </a:p>
                  </a:txBody>
                  <a:tcPr marL="85725" marR="38100" marT="19050" marB="19050" anchor="ctr">
                    <a:solidFill>
                      <a:srgbClr val="F5F8FA"/>
                    </a:solidFill>
                  </a:tcPr>
                </a:tc>
                <a:tc>
                  <a:txBody>
                    <a:bodyPr wrap="none"/>
                    <a:lstStyle/>
                    <a:p>
                      <a:pPr algn="l"/>
                      <a:r>
                        <a:rPr sz="800" b="0">
                          <a:solidFill>
                            <a:srgbClr val="2E2E2E"/>
                          </a:solidFill>
                          <a:latin typeface="Calibri"/>
                        </a:rPr>
                        <a:t>6.81</a:t>
                      </a:r>
                    </a:p>
                  </a:txBody>
                  <a:tcPr marL="85725" marR="38100" marT="19050" marB="19050" anchor="ctr">
                    <a:solidFill>
                      <a:srgbClr val="F5F8FA"/>
                    </a:solidFill>
                  </a:tcPr>
                </a:tc>
                <a:tc>
                  <a:txBody>
                    <a:bodyPr wrap="none"/>
                    <a:lstStyle/>
                    <a:p>
                      <a:pPr algn="l"/>
                      <a:r>
                        <a:rPr sz="800" b="0">
                          <a:solidFill>
                            <a:srgbClr val="2E2E2E"/>
                          </a:solidFill>
                          <a:latin typeface="Calibri"/>
                        </a:rPr>
                        <a:t>7.53</a:t>
                      </a:r>
                    </a:p>
                  </a:txBody>
                  <a:tcPr marL="85725" marR="38100" marT="19050" marB="19050" anchor="ctr">
                    <a:solidFill>
                      <a:srgbClr val="F5F8FA"/>
                    </a:solidFill>
                  </a:tcPr>
                </a:tc>
                <a:tc>
                  <a:txBody>
                    <a:bodyPr wrap="none"/>
                    <a:lstStyle/>
                    <a:p>
                      <a:pPr algn="l"/>
                      <a:r>
                        <a:rPr sz="800" b="0">
                          <a:solidFill>
                            <a:srgbClr val="2E2E2E"/>
                          </a:solidFill>
                          <a:latin typeface="Calibri"/>
                        </a:rPr>
                        <a:t>8.29</a:t>
                      </a:r>
                    </a:p>
                  </a:txBody>
                  <a:tcPr marL="85725" marR="38100" marT="19050" marB="19050" anchor="ctr">
                    <a:solidFill>
                      <a:srgbClr val="F5F8FA"/>
                    </a:solidFill>
                  </a:tcPr>
                </a:tc>
                <a:tc>
                  <a:txBody>
                    <a:bodyPr wrap="none"/>
                    <a:lstStyle/>
                    <a:p>
                      <a:pPr algn="l"/>
                      <a:r>
                        <a:rPr sz="800" b="0">
                          <a:solidFill>
                            <a:srgbClr val="2E2E2E"/>
                          </a:solidFill>
                          <a:latin typeface="Calibri"/>
                        </a:rPr>
                        <a:t>9.08</a:t>
                      </a:r>
                    </a:p>
                  </a:txBody>
                  <a:tcPr marL="85725" marR="38100" marT="19050" marB="19050" anchor="ctr">
                    <a:solidFill>
                      <a:srgbClr val="F5F8FA"/>
                    </a:solidFill>
                  </a:tcPr>
                </a:tc>
                <a:tc>
                  <a:txBody>
                    <a:bodyPr wrap="none"/>
                    <a:lstStyle/>
                    <a:p>
                      <a:pPr algn="l"/>
                      <a:r>
                        <a:rPr sz="800" b="0">
                          <a:solidFill>
                            <a:srgbClr val="2E2E2E"/>
                          </a:solidFill>
                          <a:latin typeface="Calibri"/>
                        </a:rPr>
                        <a:t>9.91</a:t>
                      </a:r>
                    </a:p>
                  </a:txBody>
                  <a:tcPr marL="85725" marR="38100" marT="19050" marB="19050" anchor="ctr">
                    <a:solidFill>
                      <a:srgbClr val="F5F8FA"/>
                    </a:solidFill>
                  </a:tcPr>
                </a:tc>
                <a:tc>
                  <a:txBody>
                    <a:bodyPr wrap="none"/>
                    <a:lstStyle/>
                    <a:p>
                      <a:pPr algn="l"/>
                      <a:r>
                        <a:rPr sz="800" b="0">
                          <a:solidFill>
                            <a:srgbClr val="2E2E2E"/>
                          </a:solidFill>
                          <a:latin typeface="Calibri"/>
                        </a:rPr>
                        <a:t>12.7%</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1.47</a:t>
                      </a:r>
                    </a:p>
                  </a:txBody>
                  <a:tcPr marL="85725" marR="38100" marT="19050" marB="19050" anchor="ctr">
                    <a:solidFill>
                      <a:srgbClr val="E0E8EF"/>
                    </a:solidFill>
                  </a:tcPr>
                </a:tc>
                <a:tc>
                  <a:txBody>
                    <a:bodyPr wrap="none"/>
                    <a:lstStyle/>
                    <a:p>
                      <a:pPr algn="l"/>
                      <a:r>
                        <a:rPr sz="800" b="1">
                          <a:solidFill>
                            <a:srgbClr val="2E2E2E"/>
                          </a:solidFill>
                          <a:latin typeface="Calibri"/>
                        </a:rPr>
                        <a:t>1.72</a:t>
                      </a:r>
                    </a:p>
                  </a:txBody>
                  <a:tcPr marL="85725" marR="38100" marT="19050" marB="19050" anchor="ctr">
                    <a:solidFill>
                      <a:srgbClr val="E0E8EF"/>
                    </a:solidFill>
                  </a:tcPr>
                </a:tc>
                <a:tc>
                  <a:txBody>
                    <a:bodyPr wrap="none"/>
                    <a:lstStyle/>
                    <a:p>
                      <a:pPr algn="l"/>
                      <a:r>
                        <a:rPr sz="800" b="1">
                          <a:solidFill>
                            <a:srgbClr val="2E2E2E"/>
                          </a:solidFill>
                          <a:latin typeface="Calibri"/>
                        </a:rPr>
                        <a:t>2.13</a:t>
                      </a:r>
                    </a:p>
                  </a:txBody>
                  <a:tcPr marL="85725" marR="38100" marT="19050" marB="19050" anchor="ctr">
                    <a:solidFill>
                      <a:srgbClr val="E0E8EF"/>
                    </a:solidFill>
                  </a:tcPr>
                </a:tc>
                <a:tc>
                  <a:txBody>
                    <a:bodyPr wrap="none"/>
                    <a:lstStyle/>
                    <a:p>
                      <a:pPr algn="l"/>
                      <a:r>
                        <a:rPr sz="800" b="1">
                          <a:solidFill>
                            <a:srgbClr val="2E2E2E"/>
                          </a:solidFill>
                          <a:latin typeface="Calibri"/>
                        </a:rPr>
                        <a:t>2.73</a:t>
                      </a:r>
                    </a:p>
                  </a:txBody>
                  <a:tcPr marL="85725" marR="38100" marT="19050" marB="19050" anchor="ctr">
                    <a:solidFill>
                      <a:srgbClr val="E0E8EF"/>
                    </a:solidFill>
                  </a:tcPr>
                </a:tc>
                <a:tc>
                  <a:txBody>
                    <a:bodyPr wrap="none"/>
                    <a:lstStyle/>
                    <a:p>
                      <a:pPr algn="l"/>
                      <a:r>
                        <a:rPr sz="800" b="1">
                          <a:solidFill>
                            <a:srgbClr val="2E2E2E"/>
                          </a:solidFill>
                          <a:latin typeface="Calibri"/>
                        </a:rPr>
                        <a:t>3.42</a:t>
                      </a:r>
                    </a:p>
                  </a:txBody>
                  <a:tcPr marL="85725" marR="38100" marT="19050" marB="19050" anchor="ctr">
                    <a:solidFill>
                      <a:srgbClr val="E0E8EF"/>
                    </a:solidFill>
                  </a:tcPr>
                </a:tc>
                <a:tc>
                  <a:txBody>
                    <a:bodyPr wrap="none"/>
                    <a:lstStyle/>
                    <a:p>
                      <a:pPr algn="l"/>
                      <a:r>
                        <a:rPr sz="800" b="1">
                          <a:solidFill>
                            <a:srgbClr val="2E2E2E"/>
                          </a:solidFill>
                          <a:latin typeface="Calibri"/>
                        </a:rPr>
                        <a:t>4.16</a:t>
                      </a:r>
                    </a:p>
                  </a:txBody>
                  <a:tcPr marL="85725" marR="38100" marT="19050" marB="19050" anchor="ctr">
                    <a:solidFill>
                      <a:srgbClr val="E0E8EF"/>
                    </a:solidFill>
                  </a:tcPr>
                </a:tc>
                <a:tc>
                  <a:txBody>
                    <a:bodyPr wrap="none"/>
                    <a:lstStyle/>
                    <a:p>
                      <a:pPr algn="l"/>
                      <a:r>
                        <a:rPr sz="800" b="1">
                          <a:solidFill>
                            <a:srgbClr val="2E2E2E"/>
                          </a:solidFill>
                          <a:latin typeface="Calibri"/>
                        </a:rPr>
                        <a:t>4.97</a:t>
                      </a:r>
                    </a:p>
                  </a:txBody>
                  <a:tcPr marL="85725" marR="38100" marT="19050" marB="19050" anchor="ctr">
                    <a:solidFill>
                      <a:srgbClr val="E0E8EF"/>
                    </a:solidFill>
                  </a:tcPr>
                </a:tc>
                <a:tc>
                  <a:txBody>
                    <a:bodyPr wrap="none"/>
                    <a:lstStyle/>
                    <a:p>
                      <a:pPr algn="l"/>
                      <a:r>
                        <a:rPr sz="800" b="1">
                          <a:solidFill>
                            <a:srgbClr val="2E2E2E"/>
                          </a:solidFill>
                          <a:latin typeface="Calibri"/>
                        </a:rPr>
                        <a:t>5.81</a:t>
                      </a:r>
                    </a:p>
                  </a:txBody>
                  <a:tcPr marL="85725" marR="38100" marT="19050" marB="19050" anchor="ctr">
                    <a:solidFill>
                      <a:srgbClr val="E0E8EF"/>
                    </a:solidFill>
                  </a:tcPr>
                </a:tc>
                <a:tc>
                  <a:txBody>
                    <a:bodyPr wrap="none"/>
                    <a:lstStyle/>
                    <a:p>
                      <a:pPr algn="l"/>
                      <a:r>
                        <a:rPr sz="800" b="1">
                          <a:solidFill>
                            <a:srgbClr val="2E2E2E"/>
                          </a:solidFill>
                          <a:latin typeface="Calibri"/>
                        </a:rPr>
                        <a:t>6.70</a:t>
                      </a:r>
                    </a:p>
                  </a:txBody>
                  <a:tcPr marL="85725" marR="38100" marT="19050" marB="19050" anchor="ctr">
                    <a:solidFill>
                      <a:srgbClr val="E0E8EF"/>
                    </a:solidFill>
                  </a:tcPr>
                </a:tc>
                <a:tc>
                  <a:txBody>
                    <a:bodyPr wrap="none"/>
                    <a:lstStyle/>
                    <a:p>
                      <a:pPr algn="l"/>
                      <a:r>
                        <a:rPr sz="800" b="1">
                          <a:solidFill>
                            <a:srgbClr val="2E2E2E"/>
                          </a:solidFill>
                          <a:latin typeface="Calibri"/>
                        </a:rPr>
                        <a:t>7.63</a:t>
                      </a:r>
                    </a:p>
                  </a:txBody>
                  <a:tcPr marL="85725" marR="38100" marT="19050" marB="19050" anchor="ctr">
                    <a:solidFill>
                      <a:srgbClr val="E0E8EF"/>
                    </a:solidFill>
                  </a:tcPr>
                </a:tc>
                <a:tc>
                  <a:txBody>
                    <a:bodyPr wrap="none"/>
                    <a:lstStyle/>
                    <a:p>
                      <a:pPr algn="l"/>
                      <a:r>
                        <a:rPr sz="800" b="1">
                          <a:solidFill>
                            <a:srgbClr val="2E2E2E"/>
                          </a:solidFill>
                          <a:latin typeface="Calibri"/>
                        </a:rPr>
                        <a:t>8.60</a:t>
                      </a:r>
                    </a:p>
                  </a:txBody>
                  <a:tcPr marL="85725" marR="38100" marT="19050" marB="19050" anchor="ctr">
                    <a:solidFill>
                      <a:srgbClr val="E0E8EF"/>
                    </a:solidFill>
                  </a:tcPr>
                </a:tc>
                <a:tc>
                  <a:txBody>
                    <a:bodyPr wrap="none"/>
                    <a:lstStyle/>
                    <a:p>
                      <a:pPr algn="l"/>
                      <a:r>
                        <a:rPr sz="800" b="1">
                          <a:solidFill>
                            <a:srgbClr val="2E2E2E"/>
                          </a:solidFill>
                          <a:latin typeface="Calibri"/>
                        </a:rPr>
                        <a:t>9.62</a:t>
                      </a:r>
                    </a:p>
                  </a:txBody>
                  <a:tcPr marL="85725" marR="38100" marT="19050" marB="19050" anchor="ctr">
                    <a:solidFill>
                      <a:srgbClr val="E0E8EF"/>
                    </a:solidFill>
                  </a:tcPr>
                </a:tc>
                <a:tc>
                  <a:txBody>
                    <a:bodyPr wrap="none"/>
                    <a:lstStyle/>
                    <a:p>
                      <a:pPr algn="l"/>
                      <a:r>
                        <a:rPr sz="800" b="1">
                          <a:solidFill>
                            <a:srgbClr val="2E2E2E"/>
                          </a:solidFill>
                          <a:latin typeface="Calibri"/>
                        </a:rPr>
                        <a:t>10.7</a:t>
                      </a:r>
                    </a:p>
                  </a:txBody>
                  <a:tcPr marL="85725" marR="38100" marT="19050" marB="19050" anchor="ctr">
                    <a:solidFill>
                      <a:srgbClr val="E0E8EF"/>
                    </a:solidFill>
                  </a:tcPr>
                </a:tc>
                <a:tc>
                  <a:txBody>
                    <a:bodyPr wrap="none"/>
                    <a:lstStyle/>
                    <a:p>
                      <a:pPr algn="l"/>
                      <a:r>
                        <a:rPr sz="800" b="1">
                          <a:solidFill>
                            <a:srgbClr val="2E2E2E"/>
                          </a:solidFill>
                          <a:latin typeface="Calibri"/>
                        </a:rPr>
                        <a:t>11.8</a:t>
                      </a:r>
                    </a:p>
                  </a:txBody>
                  <a:tcPr marL="85725" marR="38100" marT="19050" marB="19050" anchor="ctr">
                    <a:solidFill>
                      <a:srgbClr val="E0E8EF"/>
                    </a:solidFill>
                  </a:tcPr>
                </a:tc>
                <a:tc>
                  <a:txBody>
                    <a:bodyPr wrap="none"/>
                    <a:lstStyle/>
                    <a:p>
                      <a:pPr algn="l"/>
                      <a:r>
                        <a:rPr sz="800" b="1">
                          <a:solidFill>
                            <a:srgbClr val="2E2E2E"/>
                          </a:solidFill>
                          <a:latin typeface="Calibri"/>
                        </a:rPr>
                        <a:t>12.9</a:t>
                      </a:r>
                    </a:p>
                  </a:txBody>
                  <a:tcPr marL="85725" marR="38100" marT="19050" marB="19050" anchor="ctr">
                    <a:solidFill>
                      <a:srgbClr val="E0E8EF"/>
                    </a:solidFill>
                  </a:tcPr>
                </a:tc>
                <a:tc>
                  <a:txBody>
                    <a:bodyPr wrap="none"/>
                    <a:lstStyle/>
                    <a:p>
                      <a:pPr algn="l"/>
                      <a:r>
                        <a:rPr sz="800" b="1">
                          <a:solidFill>
                            <a:srgbClr val="2E2E2E"/>
                          </a:solidFill>
                          <a:latin typeface="Calibri"/>
                        </a:rPr>
                        <a:t>14.1</a:t>
                      </a:r>
                    </a:p>
                  </a:txBody>
                  <a:tcPr marL="85725" marR="38100" marT="19050" marB="19050" anchor="ctr">
                    <a:solidFill>
                      <a:srgbClr val="E0E8EF"/>
                    </a:solidFill>
                  </a:tcPr>
                </a:tc>
                <a:tc>
                  <a:txBody>
                    <a:bodyPr wrap="none"/>
                    <a:lstStyle/>
                    <a:p>
                      <a:pPr algn="l"/>
                      <a:r>
                        <a:rPr sz="800" b="1">
                          <a:solidFill>
                            <a:srgbClr val="2E2E2E"/>
                          </a:solidFill>
                          <a:latin typeface="Calibri"/>
                        </a:rPr>
                        <a:t>13.0%</a:t>
                      </a:r>
                    </a:p>
                  </a:txBody>
                  <a:tcPr marL="85725" marR="38100" marT="19050" marB="19050" anchor="ctr">
                    <a:solidFill>
                      <a:srgbClr val="E0E8EF"/>
                    </a:solidFill>
                  </a:tcPr>
                </a:tc>
              </a:tr>
            </a:tbl>
          </a:graphicData>
        </a:graphic>
      </p:graphicFrame>
      <p:sp>
        <p:nvSpPr>
          <p:cNvPr id="14" name="TextBox 13"/>
          <p:cNvSpPr txBox="1"/>
          <p:nvPr/>
        </p:nvSpPr>
        <p:spPr>
          <a:xfrm>
            <a:off x="219075" y="363855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914775"/>
            <a:ext cx="11906250" cy="2809875"/>
          </a:xfrm>
          <a:prstGeom prst="roundRect">
            <a:avLst>
              <a:gd name="adj" fmla="val 27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0005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Share Read-out, By Country</a:t>
            </a:r>
          </a:p>
        </p:txBody>
      </p:sp>
      <p:sp>
        <p:nvSpPr>
          <p:cNvPr id="17" name="Rectangle 16"/>
          <p:cNvSpPr/>
          <p:nvPr/>
        </p:nvSpPr>
        <p:spPr>
          <a:xfrm>
            <a:off x="276225" y="4238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324350"/>
            <a:ext cx="11639550" cy="232410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'Canada' is the largest country 70.1% of 2036 volume (9.91 Mn Doses).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'U.S.' grows fastest at 13.6%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'U.S.' (+162 BPS) and away from 'Canada' (-162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volume rises from 4.16 to 14.1 Mn Doses across 2 countries.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Share Analysis, By Country Value (US$ Mn)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924175"/>
          </a:xfrm>
          <a:prstGeom prst="roundRect">
            <a:avLst>
              <a:gd name="adj" fmla="val 26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(US$ Mn)</a:t>
            </a:r>
          </a:p>
        </p:txBody>
      </p:sp>
      <p:graphicFrame>
        <p:nvGraphicFramePr>
          <p:cNvPr id="13" name="Table 12"/>
          <p:cNvGraphicFramePr>
            <a:graphicFrameLocks noGrp="1"/>
          </p:cNvGraphicFramePr>
          <p:nvPr/>
        </p:nvGraphicFramePr>
        <p:xfrm>
          <a:off x="238125" y="1143000"/>
          <a:ext cx="11715752" cy="72390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Country</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U.S.</a:t>
                      </a:r>
                    </a:p>
                  </a:txBody>
                  <a:tcPr marL="85725" marR="38100" marT="19050" marB="19050" anchor="ctr">
                    <a:solidFill>
                      <a:srgbClr val="FFFFFF"/>
                    </a:solidFill>
                  </a:tcPr>
                </a:tc>
                <a:tc>
                  <a:txBody>
                    <a:bodyPr wrap="none"/>
                    <a:lstStyle/>
                    <a:p>
                      <a:pPr algn="l"/>
                      <a:r>
                        <a:rPr sz="800" b="0">
                          <a:solidFill>
                            <a:srgbClr val="2E2E2E"/>
                          </a:solidFill>
                          <a:latin typeface="Calibri"/>
                        </a:rPr>
                        <a:t>240.9</a:t>
                      </a:r>
                    </a:p>
                  </a:txBody>
                  <a:tcPr marL="85725" marR="38100" marT="19050" marB="19050" anchor="ctr">
                    <a:solidFill>
                      <a:srgbClr val="FFFFFF"/>
                    </a:solidFill>
                  </a:tcPr>
                </a:tc>
                <a:tc>
                  <a:txBody>
                    <a:bodyPr wrap="none"/>
                    <a:lstStyle/>
                    <a:p>
                      <a:pPr algn="l"/>
                      <a:r>
                        <a:rPr sz="800" b="0">
                          <a:solidFill>
                            <a:srgbClr val="2E2E2E"/>
                          </a:solidFill>
                          <a:latin typeface="Calibri"/>
                        </a:rPr>
                        <a:t>267.1</a:t>
                      </a:r>
                    </a:p>
                  </a:txBody>
                  <a:tcPr marL="85725" marR="38100" marT="19050" marB="19050" anchor="ctr">
                    <a:solidFill>
                      <a:srgbClr val="FFFFFF"/>
                    </a:solidFill>
                  </a:tcPr>
                </a:tc>
                <a:tc>
                  <a:txBody>
                    <a:bodyPr wrap="none"/>
                    <a:lstStyle/>
                    <a:p>
                      <a:pPr algn="l"/>
                      <a:r>
                        <a:rPr sz="800" b="0">
                          <a:solidFill>
                            <a:srgbClr val="2E2E2E"/>
                          </a:solidFill>
                          <a:latin typeface="Calibri"/>
                        </a:rPr>
                        <a:t>314.2</a:t>
                      </a:r>
                    </a:p>
                  </a:txBody>
                  <a:tcPr marL="85725" marR="38100" marT="19050" marB="19050" anchor="ctr">
                    <a:solidFill>
                      <a:srgbClr val="FFFFFF"/>
                    </a:solidFill>
                  </a:tcPr>
                </a:tc>
                <a:tc>
                  <a:txBody>
                    <a:bodyPr wrap="none"/>
                    <a:lstStyle/>
                    <a:p>
                      <a:pPr algn="l"/>
                      <a:r>
                        <a:rPr sz="800" b="0">
                          <a:solidFill>
                            <a:srgbClr val="2E2E2E"/>
                          </a:solidFill>
                          <a:latin typeface="Calibri"/>
                        </a:rPr>
                        <a:t>381.3</a:t>
                      </a:r>
                    </a:p>
                  </a:txBody>
                  <a:tcPr marL="85725" marR="38100" marT="19050" marB="19050" anchor="ctr">
                    <a:solidFill>
                      <a:srgbClr val="FFFFFF"/>
                    </a:solidFill>
                  </a:tcPr>
                </a:tc>
                <a:tc>
                  <a:txBody>
                    <a:bodyPr wrap="none"/>
                    <a:lstStyle/>
                    <a:p>
                      <a:pPr algn="l"/>
                      <a:r>
                        <a:rPr sz="800" b="0">
                          <a:solidFill>
                            <a:srgbClr val="2E2E2E"/>
                          </a:solidFill>
                          <a:latin typeface="Calibri"/>
                        </a:rPr>
                        <a:t>452.8</a:t>
                      </a:r>
                    </a:p>
                  </a:txBody>
                  <a:tcPr marL="85725" marR="38100" marT="19050" marB="19050" anchor="ctr">
                    <a:solidFill>
                      <a:srgbClr val="FFFFFF"/>
                    </a:solidFill>
                  </a:tcPr>
                </a:tc>
                <a:tc>
                  <a:txBody>
                    <a:bodyPr wrap="none"/>
                    <a:lstStyle/>
                    <a:p>
                      <a:pPr algn="l"/>
                      <a:r>
                        <a:rPr sz="800" b="0">
                          <a:solidFill>
                            <a:srgbClr val="2E2E2E"/>
                          </a:solidFill>
                          <a:latin typeface="Calibri"/>
                        </a:rPr>
                        <a:t>521.5</a:t>
                      </a:r>
                    </a:p>
                  </a:txBody>
                  <a:tcPr marL="85725" marR="38100" marT="19050" marB="19050" anchor="ctr">
                    <a:solidFill>
                      <a:srgbClr val="FFFFFF"/>
                    </a:solidFill>
                  </a:tcPr>
                </a:tc>
                <a:tc>
                  <a:txBody>
                    <a:bodyPr wrap="none"/>
                    <a:lstStyle/>
                    <a:p>
                      <a:pPr algn="l"/>
                      <a:r>
                        <a:rPr sz="800" b="0">
                          <a:solidFill>
                            <a:srgbClr val="2E2E2E"/>
                          </a:solidFill>
                          <a:latin typeface="Calibri"/>
                        </a:rPr>
                        <a:t>589.7</a:t>
                      </a:r>
                    </a:p>
                  </a:txBody>
                  <a:tcPr marL="85725" marR="38100" marT="19050" marB="19050" anchor="ctr">
                    <a:solidFill>
                      <a:srgbClr val="FFFFFF"/>
                    </a:solidFill>
                  </a:tcPr>
                </a:tc>
                <a:tc>
                  <a:txBody>
                    <a:bodyPr wrap="none"/>
                    <a:lstStyle/>
                    <a:p>
                      <a:pPr algn="l"/>
                      <a:r>
                        <a:rPr sz="800" b="0">
                          <a:solidFill>
                            <a:srgbClr val="2E2E2E"/>
                          </a:solidFill>
                          <a:latin typeface="Calibri"/>
                        </a:rPr>
                        <a:t>653.4</a:t>
                      </a:r>
                    </a:p>
                  </a:txBody>
                  <a:tcPr marL="85725" marR="38100" marT="19050" marB="19050" anchor="ctr">
                    <a:solidFill>
                      <a:srgbClr val="FFFFFF"/>
                    </a:solidFill>
                  </a:tcPr>
                </a:tc>
                <a:tc>
                  <a:txBody>
                    <a:bodyPr wrap="none"/>
                    <a:lstStyle/>
                    <a:p>
                      <a:pPr algn="l"/>
                      <a:r>
                        <a:rPr sz="800" b="0">
                          <a:solidFill>
                            <a:srgbClr val="2E2E2E"/>
                          </a:solidFill>
                          <a:latin typeface="Calibri"/>
                        </a:rPr>
                        <a:t>713.4</a:t>
                      </a:r>
                    </a:p>
                  </a:txBody>
                  <a:tcPr marL="85725" marR="38100" marT="19050" marB="19050" anchor="ctr">
                    <a:solidFill>
                      <a:srgbClr val="FFFFFF"/>
                    </a:solidFill>
                  </a:tcPr>
                </a:tc>
                <a:tc>
                  <a:txBody>
                    <a:bodyPr wrap="none"/>
                    <a:lstStyle/>
                    <a:p>
                      <a:pPr algn="l"/>
                      <a:r>
                        <a:rPr sz="800" b="0">
                          <a:solidFill>
                            <a:srgbClr val="2E2E2E"/>
                          </a:solidFill>
                          <a:latin typeface="Calibri"/>
                        </a:rPr>
                        <a:t>769.6</a:t>
                      </a:r>
                    </a:p>
                  </a:txBody>
                  <a:tcPr marL="85725" marR="38100" marT="19050" marB="19050" anchor="ctr">
                    <a:solidFill>
                      <a:srgbClr val="FFFFFF"/>
                    </a:solidFill>
                  </a:tcPr>
                </a:tc>
                <a:tc>
                  <a:txBody>
                    <a:bodyPr wrap="none"/>
                    <a:lstStyle/>
                    <a:p>
                      <a:pPr algn="l"/>
                      <a:r>
                        <a:rPr sz="800" b="0">
                          <a:solidFill>
                            <a:srgbClr val="2E2E2E"/>
                          </a:solidFill>
                          <a:latin typeface="Calibri"/>
                        </a:rPr>
                        <a:t>821.8</a:t>
                      </a:r>
                    </a:p>
                  </a:txBody>
                  <a:tcPr marL="85725" marR="38100" marT="19050" marB="19050" anchor="ctr">
                    <a:solidFill>
                      <a:srgbClr val="FFFFFF"/>
                    </a:solidFill>
                  </a:tcPr>
                </a:tc>
                <a:tc>
                  <a:txBody>
                    <a:bodyPr wrap="none"/>
                    <a:lstStyle/>
                    <a:p>
                      <a:pPr algn="l"/>
                      <a:r>
                        <a:rPr sz="800" b="0">
                          <a:solidFill>
                            <a:srgbClr val="2E2E2E"/>
                          </a:solidFill>
                          <a:latin typeface="Calibri"/>
                        </a:rPr>
                        <a:t>870.1</a:t>
                      </a:r>
                    </a:p>
                  </a:txBody>
                  <a:tcPr marL="85725" marR="38100" marT="19050" marB="19050" anchor="ctr">
                    <a:solidFill>
                      <a:srgbClr val="FFFFFF"/>
                    </a:solidFill>
                  </a:tcPr>
                </a:tc>
                <a:tc>
                  <a:txBody>
                    <a:bodyPr wrap="none"/>
                    <a:lstStyle/>
                    <a:p>
                      <a:pPr algn="l"/>
                      <a:r>
                        <a:rPr sz="800" b="0">
                          <a:solidFill>
                            <a:srgbClr val="2E2E2E"/>
                          </a:solidFill>
                          <a:latin typeface="Calibri"/>
                        </a:rPr>
                        <a:t>914.2</a:t>
                      </a:r>
                    </a:p>
                  </a:txBody>
                  <a:tcPr marL="85725" marR="38100" marT="19050" marB="19050" anchor="ctr">
                    <a:solidFill>
                      <a:srgbClr val="FFFFFF"/>
                    </a:solidFill>
                  </a:tcPr>
                </a:tc>
                <a:tc>
                  <a:txBody>
                    <a:bodyPr wrap="none"/>
                    <a:lstStyle/>
                    <a:p>
                      <a:pPr algn="l"/>
                      <a:r>
                        <a:rPr sz="800" b="0">
                          <a:solidFill>
                            <a:srgbClr val="2E2E2E"/>
                          </a:solidFill>
                          <a:latin typeface="Calibri"/>
                        </a:rPr>
                        <a:t>955.0</a:t>
                      </a:r>
                    </a:p>
                  </a:txBody>
                  <a:tcPr marL="85725" marR="38100" marT="19050" marB="19050" anchor="ctr">
                    <a:solidFill>
                      <a:srgbClr val="FFFFFF"/>
                    </a:solidFill>
                  </a:tcPr>
                </a:tc>
                <a:tc>
                  <a:txBody>
                    <a:bodyPr wrap="none"/>
                    <a:lstStyle/>
                    <a:p>
                      <a:pPr algn="l"/>
                      <a:r>
                        <a:rPr sz="800" b="0">
                          <a:solidFill>
                            <a:srgbClr val="2E2E2E"/>
                          </a:solidFill>
                          <a:latin typeface="Calibri"/>
                        </a:rPr>
                        <a:t>992.8</a:t>
                      </a:r>
                    </a:p>
                  </a:txBody>
                  <a:tcPr marL="85725" marR="38100" marT="19050" marB="19050" anchor="ctr">
                    <a:solidFill>
                      <a:srgbClr val="FFFFFF"/>
                    </a:solidFill>
                  </a:tcPr>
                </a:tc>
                <a:tc>
                  <a:txBody>
                    <a:bodyPr wrap="none"/>
                    <a:lstStyle/>
                    <a:p>
                      <a:pPr algn="l"/>
                      <a:r>
                        <a:rPr sz="800" b="0">
                          <a:solidFill>
                            <a:srgbClr val="2E2E2E"/>
                          </a:solidFill>
                          <a:latin typeface="Calibri"/>
                        </a:rPr>
                        <a:t>1,028</a:t>
                      </a:r>
                    </a:p>
                  </a:txBody>
                  <a:tcPr marL="85725" marR="38100" marT="19050" marB="19050" anchor="ctr">
                    <a:solidFill>
                      <a:srgbClr val="FFFFFF"/>
                    </a:solidFill>
                  </a:tcPr>
                </a:tc>
                <a:tc>
                  <a:txBody>
                    <a:bodyPr wrap="none"/>
                    <a:lstStyle/>
                    <a:p>
                      <a:pPr algn="l"/>
                      <a:r>
                        <a:rPr sz="800" b="0">
                          <a:solidFill>
                            <a:srgbClr val="2E2E2E"/>
                          </a:solidFill>
                          <a:latin typeface="Calibri"/>
                        </a:rPr>
                        <a:t>7.0%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Canada</a:t>
                      </a:r>
                    </a:p>
                  </a:txBody>
                  <a:tcPr marL="85725" marR="38100" marT="19050" marB="19050" anchor="ctr">
                    <a:solidFill>
                      <a:srgbClr val="F5F8FA"/>
                    </a:solidFill>
                  </a:tcPr>
                </a:tc>
                <a:tc>
                  <a:txBody>
                    <a:bodyPr wrap="none"/>
                    <a:lstStyle/>
                    <a:p>
                      <a:pPr algn="l"/>
                      <a:r>
                        <a:rPr sz="800" b="0">
                          <a:solidFill>
                            <a:srgbClr val="2E2E2E"/>
                          </a:solidFill>
                          <a:latin typeface="Calibri"/>
                        </a:rPr>
                        <a:t>611.7</a:t>
                      </a:r>
                    </a:p>
                  </a:txBody>
                  <a:tcPr marL="85725" marR="38100" marT="19050" marB="19050" anchor="ctr">
                    <a:solidFill>
                      <a:srgbClr val="F5F8FA"/>
                    </a:solidFill>
                  </a:tcPr>
                </a:tc>
                <a:tc>
                  <a:txBody>
                    <a:bodyPr wrap="none"/>
                    <a:lstStyle/>
                    <a:p>
                      <a:pPr algn="l"/>
                      <a:r>
                        <a:rPr sz="800" b="0">
                          <a:solidFill>
                            <a:srgbClr val="2E2E2E"/>
                          </a:solidFill>
                          <a:latin typeface="Calibri"/>
                        </a:rPr>
                        <a:t>690.9</a:t>
                      </a:r>
                    </a:p>
                  </a:txBody>
                  <a:tcPr marL="85725" marR="38100" marT="19050" marB="19050" anchor="ctr">
                    <a:solidFill>
                      <a:srgbClr val="F5F8FA"/>
                    </a:solidFill>
                  </a:tcPr>
                </a:tc>
                <a:tc>
                  <a:txBody>
                    <a:bodyPr wrap="none"/>
                    <a:lstStyle/>
                    <a:p>
                      <a:pPr algn="l"/>
                      <a:r>
                        <a:rPr sz="800" b="0">
                          <a:solidFill>
                            <a:srgbClr val="2E2E2E"/>
                          </a:solidFill>
                          <a:latin typeface="Calibri"/>
                        </a:rPr>
                        <a:t>827.8</a:t>
                      </a:r>
                    </a:p>
                  </a:txBody>
                  <a:tcPr marL="85725" marR="38100" marT="19050" marB="19050" anchor="ctr">
                    <a:solidFill>
                      <a:srgbClr val="F5F8FA"/>
                    </a:solidFill>
                  </a:tcPr>
                </a:tc>
                <a:tc>
                  <a:txBody>
                    <a:bodyPr wrap="none"/>
                    <a:lstStyle/>
                    <a:p>
                      <a:pPr algn="l"/>
                      <a:r>
                        <a:rPr sz="800" b="0">
                          <a:solidFill>
                            <a:srgbClr val="2E2E2E"/>
                          </a:solidFill>
                          <a:latin typeface="Calibri"/>
                        </a:rPr>
                        <a:t>1,023</a:t>
                      </a:r>
                    </a:p>
                  </a:txBody>
                  <a:tcPr marL="85725" marR="38100" marT="19050" marB="19050" anchor="ctr">
                    <a:solidFill>
                      <a:srgbClr val="F5F8FA"/>
                    </a:solidFill>
                  </a:tcPr>
                </a:tc>
                <a:tc>
                  <a:txBody>
                    <a:bodyPr wrap="none"/>
                    <a:lstStyle/>
                    <a:p>
                      <a:pPr algn="l"/>
                      <a:r>
                        <a:rPr sz="800" b="0">
                          <a:solidFill>
                            <a:srgbClr val="2E2E2E"/>
                          </a:solidFill>
                          <a:latin typeface="Calibri"/>
                        </a:rPr>
                        <a:t>1,238</a:t>
                      </a:r>
                    </a:p>
                  </a:txBody>
                  <a:tcPr marL="85725" marR="38100" marT="19050" marB="19050" anchor="ctr">
                    <a:solidFill>
                      <a:srgbClr val="F5F8FA"/>
                    </a:solidFill>
                  </a:tcPr>
                </a:tc>
                <a:tc>
                  <a:txBody>
                    <a:bodyPr wrap="none"/>
                    <a:lstStyle/>
                    <a:p>
                      <a:pPr algn="l"/>
                      <a:r>
                        <a:rPr sz="800" b="0">
                          <a:solidFill>
                            <a:srgbClr val="2E2E2E"/>
                          </a:solidFill>
                          <a:latin typeface="Calibri"/>
                        </a:rPr>
                        <a:t>1,453</a:t>
                      </a:r>
                    </a:p>
                  </a:txBody>
                  <a:tcPr marL="85725" marR="38100" marT="19050" marB="19050" anchor="ctr">
                    <a:solidFill>
                      <a:srgbClr val="F5F8FA"/>
                    </a:solidFill>
                  </a:tcPr>
                </a:tc>
                <a:tc>
                  <a:txBody>
                    <a:bodyPr wrap="none"/>
                    <a:lstStyle/>
                    <a:p>
                      <a:pPr algn="l"/>
                      <a:r>
                        <a:rPr sz="800" b="0">
                          <a:solidFill>
                            <a:srgbClr val="2E2E2E"/>
                          </a:solidFill>
                          <a:latin typeface="Calibri"/>
                        </a:rPr>
                        <a:t>1,674</a:t>
                      </a:r>
                    </a:p>
                  </a:txBody>
                  <a:tcPr marL="85725" marR="38100" marT="19050" marB="19050" anchor="ctr">
                    <a:solidFill>
                      <a:srgbClr val="F5F8FA"/>
                    </a:solidFill>
                  </a:tcPr>
                </a:tc>
                <a:tc>
                  <a:txBody>
                    <a:bodyPr wrap="none"/>
                    <a:lstStyle/>
                    <a:p>
                      <a:pPr algn="l"/>
                      <a:r>
                        <a:rPr sz="800" b="0">
                          <a:solidFill>
                            <a:srgbClr val="2E2E2E"/>
                          </a:solidFill>
                          <a:latin typeface="Calibri"/>
                        </a:rPr>
                        <a:t>1,889</a:t>
                      </a:r>
                    </a:p>
                  </a:txBody>
                  <a:tcPr marL="85725" marR="38100" marT="19050" marB="19050" anchor="ctr">
                    <a:solidFill>
                      <a:srgbClr val="F5F8FA"/>
                    </a:solidFill>
                  </a:tcPr>
                </a:tc>
                <a:tc>
                  <a:txBody>
                    <a:bodyPr wrap="none"/>
                    <a:lstStyle/>
                    <a:p>
                      <a:pPr algn="l"/>
                      <a:r>
                        <a:rPr sz="800" b="0">
                          <a:solidFill>
                            <a:srgbClr val="2E2E2E"/>
                          </a:solidFill>
                          <a:latin typeface="Calibri"/>
                        </a:rPr>
                        <a:t>2,101</a:t>
                      </a:r>
                    </a:p>
                  </a:txBody>
                  <a:tcPr marL="85725" marR="38100" marT="19050" marB="19050" anchor="ctr">
                    <a:solidFill>
                      <a:srgbClr val="F5F8FA"/>
                    </a:solidFill>
                  </a:tcPr>
                </a:tc>
                <a:tc>
                  <a:txBody>
                    <a:bodyPr wrap="none"/>
                    <a:lstStyle/>
                    <a:p>
                      <a:pPr algn="l"/>
                      <a:r>
                        <a:rPr sz="800" b="0">
                          <a:solidFill>
                            <a:srgbClr val="2E2E2E"/>
                          </a:solidFill>
                          <a:latin typeface="Calibri"/>
                        </a:rPr>
                        <a:t>2,309</a:t>
                      </a:r>
                    </a:p>
                  </a:txBody>
                  <a:tcPr marL="85725" marR="38100" marT="19050" marB="19050" anchor="ctr">
                    <a:solidFill>
                      <a:srgbClr val="F5F8FA"/>
                    </a:solidFill>
                  </a:tcPr>
                </a:tc>
                <a:tc>
                  <a:txBody>
                    <a:bodyPr wrap="none"/>
                    <a:lstStyle/>
                    <a:p>
                      <a:pPr algn="l"/>
                      <a:r>
                        <a:rPr sz="800" b="0">
                          <a:solidFill>
                            <a:srgbClr val="2E2E2E"/>
                          </a:solidFill>
                          <a:latin typeface="Calibri"/>
                        </a:rPr>
                        <a:t>2,512</a:t>
                      </a:r>
                    </a:p>
                  </a:txBody>
                  <a:tcPr marL="85725" marR="38100" marT="19050" marB="19050" anchor="ctr">
                    <a:solidFill>
                      <a:srgbClr val="F5F8FA"/>
                    </a:solidFill>
                  </a:tcPr>
                </a:tc>
                <a:tc>
                  <a:txBody>
                    <a:bodyPr wrap="none"/>
                    <a:lstStyle/>
                    <a:p>
                      <a:pPr algn="l"/>
                      <a:r>
                        <a:rPr sz="800" b="0">
                          <a:solidFill>
                            <a:srgbClr val="2E2E2E"/>
                          </a:solidFill>
                          <a:latin typeface="Calibri"/>
                        </a:rPr>
                        <a:t>2,709</a:t>
                      </a:r>
                    </a:p>
                  </a:txBody>
                  <a:tcPr marL="85725" marR="38100" marT="19050" marB="19050" anchor="ctr">
                    <a:solidFill>
                      <a:srgbClr val="F5F8FA"/>
                    </a:solidFill>
                  </a:tcPr>
                </a:tc>
                <a:tc>
                  <a:txBody>
                    <a:bodyPr wrap="none"/>
                    <a:lstStyle/>
                    <a:p>
                      <a:pPr algn="l"/>
                      <a:r>
                        <a:rPr sz="800" b="0">
                          <a:solidFill>
                            <a:srgbClr val="2E2E2E"/>
                          </a:solidFill>
                          <a:latin typeface="Calibri"/>
                        </a:rPr>
                        <a:t>2,900</a:t>
                      </a:r>
                    </a:p>
                  </a:txBody>
                  <a:tcPr marL="85725" marR="38100" marT="19050" marB="19050" anchor="ctr">
                    <a:solidFill>
                      <a:srgbClr val="F5F8FA"/>
                    </a:solidFill>
                  </a:tcPr>
                </a:tc>
                <a:tc>
                  <a:txBody>
                    <a:bodyPr wrap="none"/>
                    <a:lstStyle/>
                    <a:p>
                      <a:pPr algn="l"/>
                      <a:r>
                        <a:rPr sz="800" b="0">
                          <a:solidFill>
                            <a:srgbClr val="2E2E2E"/>
                          </a:solidFill>
                          <a:latin typeface="Calibri"/>
                        </a:rPr>
                        <a:t>3,086</a:t>
                      </a:r>
                    </a:p>
                  </a:txBody>
                  <a:tcPr marL="85725" marR="38100" marT="19050" marB="19050" anchor="ctr">
                    <a:solidFill>
                      <a:srgbClr val="F5F8FA"/>
                    </a:solidFill>
                  </a:tcPr>
                </a:tc>
                <a:tc>
                  <a:txBody>
                    <a:bodyPr wrap="none"/>
                    <a:lstStyle/>
                    <a:p>
                      <a:pPr algn="l"/>
                      <a:r>
                        <a:rPr sz="800" b="0">
                          <a:solidFill>
                            <a:srgbClr val="2E2E2E"/>
                          </a:solidFill>
                          <a:latin typeface="Calibri"/>
                        </a:rPr>
                        <a:t>3,268</a:t>
                      </a:r>
                    </a:p>
                  </a:txBody>
                  <a:tcPr marL="85725" marR="38100" marT="19050" marB="19050" anchor="ctr">
                    <a:solidFill>
                      <a:srgbClr val="F5F8FA"/>
                    </a:solidFill>
                  </a:tcPr>
                </a:tc>
                <a:tc>
                  <a:txBody>
                    <a:bodyPr wrap="none"/>
                    <a:lstStyle/>
                    <a:p>
                      <a:pPr algn="l"/>
                      <a:r>
                        <a:rPr sz="800" b="0">
                          <a:solidFill>
                            <a:srgbClr val="2E2E2E"/>
                          </a:solidFill>
                          <a:latin typeface="Calibri"/>
                        </a:rPr>
                        <a:t>3,447</a:t>
                      </a:r>
                    </a:p>
                  </a:txBody>
                  <a:tcPr marL="85725" marR="38100" marT="19050" marB="19050" anchor="ctr">
                    <a:solidFill>
                      <a:srgbClr val="F5F8FA"/>
                    </a:solidFill>
                  </a:tcPr>
                </a:tc>
                <a:tc>
                  <a:txBody>
                    <a:bodyPr wrap="none"/>
                    <a:lstStyle/>
                    <a:p>
                      <a:pPr algn="l"/>
                      <a:r>
                        <a:rPr sz="800" b="0">
                          <a:solidFill>
                            <a:srgbClr val="2E2E2E"/>
                          </a:solidFill>
                          <a:latin typeface="Calibri"/>
                        </a:rPr>
                        <a:t>9.0%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852.6</a:t>
                      </a:r>
                    </a:p>
                  </a:txBody>
                  <a:tcPr marL="85725" marR="38100" marT="19050" marB="19050" anchor="ctr">
                    <a:solidFill>
                      <a:srgbClr val="E0E8EF"/>
                    </a:solidFill>
                  </a:tcPr>
                </a:tc>
                <a:tc>
                  <a:txBody>
                    <a:bodyPr wrap="none"/>
                    <a:lstStyle/>
                    <a:p>
                      <a:pPr algn="l"/>
                      <a:r>
                        <a:rPr sz="800" b="1">
                          <a:solidFill>
                            <a:srgbClr val="2E2E2E"/>
                          </a:solidFill>
                          <a:latin typeface="Calibri"/>
                        </a:rPr>
                        <a:t>958.1</a:t>
                      </a:r>
                    </a:p>
                  </a:txBody>
                  <a:tcPr marL="85725" marR="38100" marT="19050" marB="19050" anchor="ctr">
                    <a:solidFill>
                      <a:srgbClr val="E0E8EF"/>
                    </a:solidFill>
                  </a:tcPr>
                </a:tc>
                <a:tc>
                  <a:txBody>
                    <a:bodyPr wrap="none"/>
                    <a:lstStyle/>
                    <a:p>
                      <a:pPr algn="l"/>
                      <a:r>
                        <a:rPr sz="800" b="1">
                          <a:solidFill>
                            <a:srgbClr val="2E2E2E"/>
                          </a:solidFill>
                          <a:latin typeface="Calibri"/>
                        </a:rPr>
                        <a:t>1,142</a:t>
                      </a:r>
                    </a:p>
                  </a:txBody>
                  <a:tcPr marL="85725" marR="38100" marT="19050" marB="19050" anchor="ctr">
                    <a:solidFill>
                      <a:srgbClr val="E0E8EF"/>
                    </a:solidFill>
                  </a:tcPr>
                </a:tc>
                <a:tc>
                  <a:txBody>
                    <a:bodyPr wrap="none"/>
                    <a:lstStyle/>
                    <a:p>
                      <a:pPr algn="l"/>
                      <a:r>
                        <a:rPr sz="800" b="1">
                          <a:solidFill>
                            <a:srgbClr val="2E2E2E"/>
                          </a:solidFill>
                          <a:latin typeface="Calibri"/>
                        </a:rPr>
                        <a:t>1,405</a:t>
                      </a:r>
                    </a:p>
                  </a:txBody>
                  <a:tcPr marL="85725" marR="38100" marT="19050" marB="19050" anchor="ctr">
                    <a:solidFill>
                      <a:srgbClr val="E0E8EF"/>
                    </a:solidFill>
                  </a:tcPr>
                </a:tc>
                <a:tc>
                  <a:txBody>
                    <a:bodyPr wrap="none"/>
                    <a:lstStyle/>
                    <a:p>
                      <a:pPr algn="l"/>
                      <a:r>
                        <a:rPr sz="800" b="1">
                          <a:solidFill>
                            <a:srgbClr val="2E2E2E"/>
                          </a:solidFill>
                          <a:latin typeface="Calibri"/>
                        </a:rPr>
                        <a:t>1,691</a:t>
                      </a:r>
                    </a:p>
                  </a:txBody>
                  <a:tcPr marL="85725" marR="38100" marT="19050" marB="19050" anchor="ctr">
                    <a:solidFill>
                      <a:srgbClr val="E0E8EF"/>
                    </a:solidFill>
                  </a:tcPr>
                </a:tc>
                <a:tc>
                  <a:txBody>
                    <a:bodyPr wrap="none"/>
                    <a:lstStyle/>
                    <a:p>
                      <a:pPr algn="l"/>
                      <a:r>
                        <a:rPr sz="800" b="1">
                          <a:solidFill>
                            <a:srgbClr val="2E2E2E"/>
                          </a:solidFill>
                          <a:latin typeface="Calibri"/>
                        </a:rPr>
                        <a:t>1,974</a:t>
                      </a:r>
                    </a:p>
                  </a:txBody>
                  <a:tcPr marL="85725" marR="38100" marT="19050" marB="19050" anchor="ctr">
                    <a:solidFill>
                      <a:srgbClr val="E0E8EF"/>
                    </a:solidFill>
                  </a:tcPr>
                </a:tc>
                <a:tc>
                  <a:txBody>
                    <a:bodyPr wrap="none"/>
                    <a:lstStyle/>
                    <a:p>
                      <a:pPr algn="l"/>
                      <a:r>
                        <a:rPr sz="800" b="1">
                          <a:solidFill>
                            <a:srgbClr val="2E2E2E"/>
                          </a:solidFill>
                          <a:latin typeface="Calibri"/>
                        </a:rPr>
                        <a:t>2,263</a:t>
                      </a:r>
                    </a:p>
                  </a:txBody>
                  <a:tcPr marL="85725" marR="38100" marT="19050" marB="19050" anchor="ctr">
                    <a:solidFill>
                      <a:srgbClr val="E0E8EF"/>
                    </a:solidFill>
                  </a:tcPr>
                </a:tc>
                <a:tc>
                  <a:txBody>
                    <a:bodyPr wrap="none"/>
                    <a:lstStyle/>
                    <a:p>
                      <a:pPr algn="l"/>
                      <a:r>
                        <a:rPr sz="800" b="1">
                          <a:solidFill>
                            <a:srgbClr val="2E2E2E"/>
                          </a:solidFill>
                          <a:latin typeface="Calibri"/>
                        </a:rPr>
                        <a:t>2,542</a:t>
                      </a:r>
                    </a:p>
                  </a:txBody>
                  <a:tcPr marL="85725" marR="38100" marT="19050" marB="19050" anchor="ctr">
                    <a:solidFill>
                      <a:srgbClr val="E0E8EF"/>
                    </a:solidFill>
                  </a:tcPr>
                </a:tc>
                <a:tc>
                  <a:txBody>
                    <a:bodyPr wrap="none"/>
                    <a:lstStyle/>
                    <a:p>
                      <a:pPr algn="l"/>
                      <a:r>
                        <a:rPr sz="800" b="1">
                          <a:solidFill>
                            <a:srgbClr val="2E2E2E"/>
                          </a:solidFill>
                          <a:latin typeface="Calibri"/>
                        </a:rPr>
                        <a:t>2,814</a:t>
                      </a:r>
                    </a:p>
                  </a:txBody>
                  <a:tcPr marL="85725" marR="38100" marT="19050" marB="19050" anchor="ctr">
                    <a:solidFill>
                      <a:srgbClr val="E0E8EF"/>
                    </a:solidFill>
                  </a:tcPr>
                </a:tc>
                <a:tc>
                  <a:txBody>
                    <a:bodyPr wrap="none"/>
                    <a:lstStyle/>
                    <a:p>
                      <a:pPr algn="l"/>
                      <a:r>
                        <a:rPr sz="800" b="1">
                          <a:solidFill>
                            <a:srgbClr val="2E2E2E"/>
                          </a:solidFill>
                          <a:latin typeface="Calibri"/>
                        </a:rPr>
                        <a:t>3,079</a:t>
                      </a:r>
                    </a:p>
                  </a:txBody>
                  <a:tcPr marL="85725" marR="38100" marT="19050" marB="19050" anchor="ctr">
                    <a:solidFill>
                      <a:srgbClr val="E0E8EF"/>
                    </a:solidFill>
                  </a:tcPr>
                </a:tc>
                <a:tc>
                  <a:txBody>
                    <a:bodyPr wrap="none"/>
                    <a:lstStyle/>
                    <a:p>
                      <a:pPr algn="l"/>
                      <a:r>
                        <a:rPr sz="800" b="1">
                          <a:solidFill>
                            <a:srgbClr val="2E2E2E"/>
                          </a:solidFill>
                          <a:latin typeface="Calibri"/>
                        </a:rPr>
                        <a:t>3,334</a:t>
                      </a:r>
                    </a:p>
                  </a:txBody>
                  <a:tcPr marL="85725" marR="38100" marT="19050" marB="19050" anchor="ctr">
                    <a:solidFill>
                      <a:srgbClr val="E0E8EF"/>
                    </a:solidFill>
                  </a:tcPr>
                </a:tc>
                <a:tc>
                  <a:txBody>
                    <a:bodyPr wrap="none"/>
                    <a:lstStyle/>
                    <a:p>
                      <a:pPr algn="l"/>
                      <a:r>
                        <a:rPr sz="800" b="1">
                          <a:solidFill>
                            <a:srgbClr val="2E2E2E"/>
                          </a:solidFill>
                          <a:latin typeface="Calibri"/>
                        </a:rPr>
                        <a:t>3,579</a:t>
                      </a:r>
                    </a:p>
                  </a:txBody>
                  <a:tcPr marL="85725" marR="38100" marT="19050" marB="19050" anchor="ctr">
                    <a:solidFill>
                      <a:srgbClr val="E0E8EF"/>
                    </a:solidFill>
                  </a:tcPr>
                </a:tc>
                <a:tc>
                  <a:txBody>
                    <a:bodyPr wrap="none"/>
                    <a:lstStyle/>
                    <a:p>
                      <a:pPr algn="l"/>
                      <a:r>
                        <a:rPr sz="800" b="1">
                          <a:solidFill>
                            <a:srgbClr val="2E2E2E"/>
                          </a:solidFill>
                          <a:latin typeface="Calibri"/>
                        </a:rPr>
                        <a:t>3,814</a:t>
                      </a:r>
                    </a:p>
                  </a:txBody>
                  <a:tcPr marL="85725" marR="38100" marT="19050" marB="19050" anchor="ctr">
                    <a:solidFill>
                      <a:srgbClr val="E0E8EF"/>
                    </a:solidFill>
                  </a:tcPr>
                </a:tc>
                <a:tc>
                  <a:txBody>
                    <a:bodyPr wrap="none"/>
                    <a:lstStyle/>
                    <a:p>
                      <a:pPr algn="l"/>
                      <a:r>
                        <a:rPr sz="800" b="1">
                          <a:solidFill>
                            <a:srgbClr val="2E2E2E"/>
                          </a:solidFill>
                          <a:latin typeface="Calibri"/>
                        </a:rPr>
                        <a:t>4,041</a:t>
                      </a:r>
                    </a:p>
                  </a:txBody>
                  <a:tcPr marL="85725" marR="38100" marT="19050" marB="19050" anchor="ctr">
                    <a:solidFill>
                      <a:srgbClr val="E0E8EF"/>
                    </a:solidFill>
                  </a:tcPr>
                </a:tc>
                <a:tc>
                  <a:txBody>
                    <a:bodyPr wrap="none"/>
                    <a:lstStyle/>
                    <a:p>
                      <a:pPr algn="l"/>
                      <a:r>
                        <a:rPr sz="800" b="1">
                          <a:solidFill>
                            <a:srgbClr val="2E2E2E"/>
                          </a:solidFill>
                          <a:latin typeface="Calibri"/>
                        </a:rPr>
                        <a:t>4,260</a:t>
                      </a:r>
                    </a:p>
                  </a:txBody>
                  <a:tcPr marL="85725" marR="38100" marT="19050" marB="19050" anchor="ctr">
                    <a:solidFill>
                      <a:srgbClr val="E0E8EF"/>
                    </a:solidFill>
                  </a:tcPr>
                </a:tc>
                <a:tc>
                  <a:txBody>
                    <a:bodyPr wrap="none"/>
                    <a:lstStyle/>
                    <a:p>
                      <a:pPr algn="l"/>
                      <a:r>
                        <a:rPr sz="800" b="1">
                          <a:solidFill>
                            <a:srgbClr val="2E2E2E"/>
                          </a:solidFill>
                          <a:latin typeface="Calibri"/>
                        </a:rPr>
                        <a:t>4,475</a:t>
                      </a:r>
                    </a:p>
                  </a:txBody>
                  <a:tcPr marL="85725" marR="38100" marT="19050" marB="19050" anchor="ctr">
                    <a:solidFill>
                      <a:srgbClr val="E0E8EF"/>
                    </a:solidFill>
                  </a:tcPr>
                </a:tc>
                <a:tc>
                  <a:txBody>
                    <a:bodyPr wrap="none"/>
                    <a:lstStyle/>
                    <a:p>
                      <a:pPr algn="l"/>
                      <a:r>
                        <a:rPr sz="800" b="1">
                          <a:solidFill>
                            <a:srgbClr val="2E2E2E"/>
                          </a:solidFill>
                          <a:latin typeface="Calibri"/>
                        </a:rPr>
                        <a:t>8.5%</a:t>
                      </a:r>
                    </a:p>
                  </a:txBody>
                  <a:tcPr marL="85725" marR="38100" marT="19050" marB="19050" anchor="ctr">
                    <a:solidFill>
                      <a:srgbClr val="E0E8EF"/>
                    </a:solidFill>
                  </a:tcPr>
                </a:tc>
              </a:tr>
            </a:tbl>
          </a:graphicData>
        </a:graphic>
      </p:graphicFrame>
      <p:sp>
        <p:nvSpPr>
          <p:cNvPr id="14" name="TextBox 13"/>
          <p:cNvSpPr txBox="1"/>
          <p:nvPr/>
        </p:nvSpPr>
        <p:spPr>
          <a:xfrm>
            <a:off x="219075" y="363855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914775"/>
            <a:ext cx="11906250" cy="2809875"/>
          </a:xfrm>
          <a:prstGeom prst="roundRect">
            <a:avLst>
              <a:gd name="adj" fmla="val 27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0005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Share Read-out, By Country</a:t>
            </a:r>
          </a:p>
        </p:txBody>
      </p:sp>
      <p:sp>
        <p:nvSpPr>
          <p:cNvPr id="17" name="Rectangle 16"/>
          <p:cNvSpPr/>
          <p:nvPr/>
        </p:nvSpPr>
        <p:spPr>
          <a:xfrm>
            <a:off x="276225" y="4238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324350"/>
            <a:ext cx="11639550" cy="232410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'Canada' is the largest country 77.0% of 2036 value (3,447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'Canada' grows fastest at 9.0%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'Canada' (+344 BPS) and away from 'U.S.' (-344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rises from 1,974 to 4,475 US$ Mn across 2 countries.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Trends, By Country</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Country (Mn Doses)</a:t>
            </a:r>
          </a:p>
        </p:txBody>
      </p:sp>
      <p:graphicFrame>
        <p:nvGraphicFramePr>
          <p:cNvPr id="13" name="Chart 12"/>
          <p:cNvGraphicFramePr>
            <a:graphicFrameLocks noGrp="1"/>
          </p:cNvGraphicFramePr>
          <p:nvPr/>
        </p:nvGraphicFramePr>
        <p:xfrm>
          <a:off x="238125" y="1143000"/>
          <a:ext cx="11715750" cy="2524125"/>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Country (US$ Mn)</a:t>
            </a:r>
          </a:p>
        </p:txBody>
      </p:sp>
      <p:graphicFrame>
        <p:nvGraphicFramePr>
          <p:cNvPr id="16" name="Chart 15"/>
          <p:cNvGraphicFramePr>
            <a:graphicFrameLocks noGrp="1"/>
          </p:cNvGraphicFramePr>
          <p:nvPr/>
        </p:nvGraphicFramePr>
        <p:xfrm>
          <a:off x="238125" y="4143375"/>
          <a:ext cx="11715750" cy="2524125"/>
        </p:xfrm>
        <a:graphic>
          <a:graphicData uri="http://schemas.openxmlformats.org/drawingml/2006/chart">
            <c:chart xmlns:c="http://schemas.openxmlformats.org/drawingml/2006/chart" r:id="rId4"/>
          </a:graphicData>
        </a:graphic>
      </p:graphicFrame>
      <p:sp>
        <p:nvSpPr>
          <p:cNvPr id="17" name="Rectangle 1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9" name="Rounded Rectangle 18">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0" name="Rounded Rectangle 19">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Top 2 Countries (2036)</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by country  ·  2036 (US$ Mn)  ·  tile size = market value</a:t>
            </a:r>
          </a:p>
        </p:txBody>
      </p:sp>
      <p:sp>
        <p:nvSpPr>
          <p:cNvPr id="13" name="Rectangle 12"/>
          <p:cNvSpPr/>
          <p:nvPr/>
        </p:nvSpPr>
        <p:spPr>
          <a:xfrm>
            <a:off x="238125" y="1143000"/>
            <a:ext cx="9024365" cy="5524500"/>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Canada</a:t>
            </a:r>
          </a:p>
          <a:p>
            <a:pPr algn="ctr"/>
            <a:r>
              <a:rPr sz="700" b="0">
                <a:solidFill>
                  <a:srgbClr val="FFFFFF"/>
                </a:solidFill>
                <a:latin typeface="Calibri"/>
              </a:rPr>
              <a:t>3,447</a:t>
            </a:r>
          </a:p>
        </p:txBody>
      </p:sp>
      <p:sp>
        <p:nvSpPr>
          <p:cNvPr id="14" name="Rectangle 13"/>
          <p:cNvSpPr/>
          <p:nvPr/>
        </p:nvSpPr>
        <p:spPr>
          <a:xfrm>
            <a:off x="9262490" y="1143000"/>
            <a:ext cx="2691385" cy="5524500"/>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U.S.</a:t>
            </a:r>
          </a:p>
          <a:p>
            <a:pPr algn="ctr"/>
            <a:r>
              <a:rPr sz="700" b="0">
                <a:solidFill>
                  <a:srgbClr val="FFFFFF"/>
                </a:solidFill>
                <a:latin typeface="Calibri"/>
              </a:rPr>
              <a:t>1,028</a:t>
            </a:r>
          </a:p>
        </p:txBody>
      </p:sp>
      <p:sp>
        <p:nvSpPr>
          <p:cNvPr id="15" name="Rectangle 1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7" name="Rounded Rectangle 1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9" name="Rounded Rectangle 1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Product Type</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By Product Type Segment Outlook</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Structure &amp; Attractiveness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Absolute $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Volume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Value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05</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By Product Type Segment Outlook</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TextBox 10"/>
          <p:cNvSpPr txBox="1"/>
          <p:nvPr/>
        </p:nvSpPr>
        <p:spPr>
          <a:xfrm>
            <a:off x="323850" y="857250"/>
            <a:ext cx="11544300" cy="323850"/>
          </a:xfrm>
          <a:prstGeom prst="rect">
            <a:avLst/>
          </a:prstGeom>
          <a:noFill/>
        </p:spPr>
        <p:txBody>
          <a:bodyPr wrap="square" lIns="28575" rIns="28575" tIns="9525" bIns="9525">
            <a:spAutoFit/>
          </a:bodyPr>
          <a:lstStyle/>
          <a:p>
            <a:pPr algn="l"/>
            <a:r>
              <a:rPr sz="1150" b="0">
                <a:solidFill>
                  <a:srgbClr val="2E2E2E"/>
                </a:solidFill>
                <a:latin typeface="Calibri"/>
              </a:rPr>
              <a:t>The Product Type segment categorizes the market by product type. Each sub-category is evaluated on market size, growth outlook and adoption trends across the forecast period.</a:t>
            </a:r>
          </a:p>
        </p:txBody>
      </p:sp>
      <p:sp>
        <p:nvSpPr>
          <p:cNvPr id="12" name="Rectangle 11"/>
          <p:cNvSpPr/>
          <p:nvPr/>
        </p:nvSpPr>
        <p:spPr>
          <a:xfrm>
            <a:off x="323850" y="1657350"/>
            <a:ext cx="1428750" cy="457200"/>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657350"/>
            <a:ext cx="1295400" cy="457200"/>
          </a:xfrm>
          <a:prstGeom prst="rect">
            <a:avLst/>
          </a:prstGeom>
          <a:noFill/>
        </p:spPr>
        <p:txBody>
          <a:bodyPr wrap="square" lIns="28575" rIns="28575" tIns="9525" bIns="9525" anchor="ctr">
            <a:spAutoFit/>
          </a:bodyPr>
          <a:lstStyle/>
          <a:p>
            <a:pPr algn="l"/>
            <a:r>
              <a:rPr sz="1050" b="1">
                <a:solidFill>
                  <a:srgbClr val="0B2E4A"/>
                </a:solidFill>
                <a:latin typeface="Calibri"/>
              </a:rPr>
              <a:t>Sub-Segment</a:t>
            </a:r>
          </a:p>
        </p:txBody>
      </p:sp>
      <p:sp>
        <p:nvSpPr>
          <p:cNvPr id="14" name="Rectangle 13"/>
          <p:cNvSpPr/>
          <p:nvPr/>
        </p:nvSpPr>
        <p:spPr>
          <a:xfrm>
            <a:off x="323850" y="21336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1336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2026 Value (US$ Mn)</a:t>
            </a:r>
          </a:p>
        </p:txBody>
      </p:sp>
      <p:sp>
        <p:nvSpPr>
          <p:cNvPr id="16" name="Rectangle 15"/>
          <p:cNvSpPr/>
          <p:nvPr/>
        </p:nvSpPr>
        <p:spPr>
          <a:xfrm>
            <a:off x="323850" y="264795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64795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2036 Value (US$ Mn)</a:t>
            </a:r>
          </a:p>
        </p:txBody>
      </p:sp>
      <p:sp>
        <p:nvSpPr>
          <p:cNvPr id="18" name="Rectangle 17"/>
          <p:cNvSpPr/>
          <p:nvPr/>
        </p:nvSpPr>
        <p:spPr>
          <a:xfrm>
            <a:off x="323850" y="31623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1623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CAGR (2026–2036)</a:t>
            </a:r>
          </a:p>
        </p:txBody>
      </p:sp>
      <p:sp>
        <p:nvSpPr>
          <p:cNvPr id="20" name="Rounded Rectangle 19"/>
          <p:cNvSpPr/>
          <p:nvPr/>
        </p:nvSpPr>
        <p:spPr>
          <a:xfrm>
            <a:off x="1866900" y="1657350"/>
            <a:ext cx="805295"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885950"/>
            <a:ext cx="805295"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Hyrimoz / Halimatoz / Hefiya</a:t>
            </a:r>
          </a:p>
        </p:txBody>
      </p:sp>
      <p:sp>
        <p:nvSpPr>
          <p:cNvPr id="23" name="Rectangle 22"/>
          <p:cNvSpPr/>
          <p:nvPr/>
        </p:nvSpPr>
        <p:spPr>
          <a:xfrm>
            <a:off x="1866900"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221.1</a:t>
            </a:r>
          </a:p>
        </p:txBody>
      </p:sp>
      <p:sp>
        <p:nvSpPr>
          <p:cNvPr id="24" name="Rectangle 23"/>
          <p:cNvSpPr/>
          <p:nvPr/>
        </p:nvSpPr>
        <p:spPr>
          <a:xfrm>
            <a:off x="1866900"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517.9</a:t>
            </a:r>
          </a:p>
        </p:txBody>
      </p:sp>
      <p:sp>
        <p:nvSpPr>
          <p:cNvPr id="25" name="Rectangle 24"/>
          <p:cNvSpPr/>
          <p:nvPr/>
        </p:nvSpPr>
        <p:spPr>
          <a:xfrm>
            <a:off x="1866900"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8.9%</a:t>
            </a:r>
          </a:p>
        </p:txBody>
      </p:sp>
      <p:sp>
        <p:nvSpPr>
          <p:cNvPr id="26" name="Oval 25"/>
          <p:cNvSpPr/>
          <p:nvPr/>
        </p:nvSpPr>
        <p:spPr>
          <a:xfrm>
            <a:off x="2107623"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2786495" y="1657350"/>
            <a:ext cx="805295"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86495" y="1885950"/>
            <a:ext cx="805295"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24595"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Amjevita / Amgevita</a:t>
            </a:r>
          </a:p>
        </p:txBody>
      </p:sp>
      <p:sp>
        <p:nvSpPr>
          <p:cNvPr id="30" name="Rectangle 29"/>
          <p:cNvSpPr/>
          <p:nvPr/>
        </p:nvSpPr>
        <p:spPr>
          <a:xfrm>
            <a:off x="2786495"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218.7</a:t>
            </a:r>
          </a:p>
        </p:txBody>
      </p:sp>
      <p:sp>
        <p:nvSpPr>
          <p:cNvPr id="31" name="Rectangle 30"/>
          <p:cNvSpPr/>
          <p:nvPr/>
        </p:nvSpPr>
        <p:spPr>
          <a:xfrm>
            <a:off x="2786495"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463.2</a:t>
            </a:r>
          </a:p>
        </p:txBody>
      </p:sp>
      <p:sp>
        <p:nvSpPr>
          <p:cNvPr id="32" name="Rectangle 31"/>
          <p:cNvSpPr/>
          <p:nvPr/>
        </p:nvSpPr>
        <p:spPr>
          <a:xfrm>
            <a:off x="2786495"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7.8%</a:t>
            </a:r>
          </a:p>
        </p:txBody>
      </p:sp>
      <p:sp>
        <p:nvSpPr>
          <p:cNvPr id="33" name="Oval 32"/>
          <p:cNvSpPr/>
          <p:nvPr/>
        </p:nvSpPr>
        <p:spPr>
          <a:xfrm>
            <a:off x="3027218"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3706091" y="1657350"/>
            <a:ext cx="805295" cy="457200"/>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06091" y="1885950"/>
            <a:ext cx="805295" cy="22860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44191"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Idacio</a:t>
            </a:r>
          </a:p>
        </p:txBody>
      </p:sp>
      <p:sp>
        <p:nvSpPr>
          <p:cNvPr id="37" name="Rectangle 36"/>
          <p:cNvSpPr/>
          <p:nvPr/>
        </p:nvSpPr>
        <p:spPr>
          <a:xfrm>
            <a:off x="3706091"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212.9</a:t>
            </a:r>
          </a:p>
        </p:txBody>
      </p:sp>
      <p:sp>
        <p:nvSpPr>
          <p:cNvPr id="38" name="Rectangle 37"/>
          <p:cNvSpPr/>
          <p:nvPr/>
        </p:nvSpPr>
        <p:spPr>
          <a:xfrm>
            <a:off x="3706091"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525.8</a:t>
            </a:r>
          </a:p>
        </p:txBody>
      </p:sp>
      <p:sp>
        <p:nvSpPr>
          <p:cNvPr id="39" name="Rectangle 38"/>
          <p:cNvSpPr/>
          <p:nvPr/>
        </p:nvSpPr>
        <p:spPr>
          <a:xfrm>
            <a:off x="3706091"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9.5%</a:t>
            </a:r>
          </a:p>
        </p:txBody>
      </p:sp>
      <p:sp>
        <p:nvSpPr>
          <p:cNvPr id="40" name="Oval 39"/>
          <p:cNvSpPr/>
          <p:nvPr/>
        </p:nvSpPr>
        <p:spPr>
          <a:xfrm>
            <a:off x="3946814" y="1314450"/>
            <a:ext cx="323850" cy="323850"/>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4625686" y="1657350"/>
            <a:ext cx="805295" cy="457200"/>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625686" y="1885950"/>
            <a:ext cx="805295" cy="2286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63786"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Abrilada / Amsparity</a:t>
            </a:r>
          </a:p>
        </p:txBody>
      </p:sp>
      <p:sp>
        <p:nvSpPr>
          <p:cNvPr id="44" name="Rectangle 43"/>
          <p:cNvSpPr/>
          <p:nvPr/>
        </p:nvSpPr>
        <p:spPr>
          <a:xfrm>
            <a:off x="4625686"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211.3</a:t>
            </a:r>
          </a:p>
        </p:txBody>
      </p:sp>
      <p:sp>
        <p:nvSpPr>
          <p:cNvPr id="45" name="Rectangle 44"/>
          <p:cNvSpPr/>
          <p:nvPr/>
        </p:nvSpPr>
        <p:spPr>
          <a:xfrm>
            <a:off x="4625686"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499.1</a:t>
            </a:r>
          </a:p>
        </p:txBody>
      </p:sp>
      <p:sp>
        <p:nvSpPr>
          <p:cNvPr id="46" name="Rectangle 45"/>
          <p:cNvSpPr/>
          <p:nvPr/>
        </p:nvSpPr>
        <p:spPr>
          <a:xfrm>
            <a:off x="4625686"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9.0%</a:t>
            </a:r>
          </a:p>
        </p:txBody>
      </p:sp>
      <p:sp>
        <p:nvSpPr>
          <p:cNvPr id="47" name="Oval 46"/>
          <p:cNvSpPr/>
          <p:nvPr/>
        </p:nvSpPr>
        <p:spPr>
          <a:xfrm>
            <a:off x="4866409" y="1314450"/>
            <a:ext cx="323850" cy="323850"/>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5545282" y="1657350"/>
            <a:ext cx="805295" cy="457200"/>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545282" y="1885950"/>
            <a:ext cx="805295" cy="2286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83382"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Hadlima / Imraldi</a:t>
            </a:r>
          </a:p>
        </p:txBody>
      </p:sp>
      <p:sp>
        <p:nvSpPr>
          <p:cNvPr id="51" name="Rectangle 50"/>
          <p:cNvSpPr/>
          <p:nvPr/>
        </p:nvSpPr>
        <p:spPr>
          <a:xfrm>
            <a:off x="5545282"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198.2</a:t>
            </a:r>
          </a:p>
        </p:txBody>
      </p:sp>
      <p:sp>
        <p:nvSpPr>
          <p:cNvPr id="52" name="Rectangle 51"/>
          <p:cNvSpPr/>
          <p:nvPr/>
        </p:nvSpPr>
        <p:spPr>
          <a:xfrm>
            <a:off x="5545282"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493.3</a:t>
            </a:r>
          </a:p>
        </p:txBody>
      </p:sp>
      <p:sp>
        <p:nvSpPr>
          <p:cNvPr id="53" name="Rectangle 52"/>
          <p:cNvSpPr/>
          <p:nvPr/>
        </p:nvSpPr>
        <p:spPr>
          <a:xfrm>
            <a:off x="5545282"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9.5%</a:t>
            </a:r>
          </a:p>
        </p:txBody>
      </p:sp>
      <p:sp>
        <p:nvSpPr>
          <p:cNvPr id="54" name="Oval 53"/>
          <p:cNvSpPr/>
          <p:nvPr/>
        </p:nvSpPr>
        <p:spPr>
          <a:xfrm>
            <a:off x="5786005" y="1314450"/>
            <a:ext cx="323850" cy="323850"/>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5" name="Rounded Rectangle 54"/>
          <p:cNvSpPr/>
          <p:nvPr/>
        </p:nvSpPr>
        <p:spPr>
          <a:xfrm>
            <a:off x="6464877" y="1657350"/>
            <a:ext cx="805295" cy="457200"/>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464877" y="1885950"/>
            <a:ext cx="805295" cy="22860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02977"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Cyltezo</a:t>
            </a:r>
          </a:p>
        </p:txBody>
      </p:sp>
      <p:sp>
        <p:nvSpPr>
          <p:cNvPr id="58" name="Rectangle 57"/>
          <p:cNvSpPr/>
          <p:nvPr/>
        </p:nvSpPr>
        <p:spPr>
          <a:xfrm>
            <a:off x="6464877"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193.2</a:t>
            </a:r>
          </a:p>
        </p:txBody>
      </p:sp>
      <p:sp>
        <p:nvSpPr>
          <p:cNvPr id="59" name="Rectangle 58"/>
          <p:cNvSpPr/>
          <p:nvPr/>
        </p:nvSpPr>
        <p:spPr>
          <a:xfrm>
            <a:off x="6464877"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506.1</a:t>
            </a:r>
          </a:p>
        </p:txBody>
      </p:sp>
      <p:sp>
        <p:nvSpPr>
          <p:cNvPr id="60" name="Rectangle 59"/>
          <p:cNvSpPr/>
          <p:nvPr/>
        </p:nvSpPr>
        <p:spPr>
          <a:xfrm>
            <a:off x="6464877"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10.1%</a:t>
            </a:r>
          </a:p>
        </p:txBody>
      </p:sp>
      <p:sp>
        <p:nvSpPr>
          <p:cNvPr id="61" name="Oval 60"/>
          <p:cNvSpPr/>
          <p:nvPr/>
        </p:nvSpPr>
        <p:spPr>
          <a:xfrm>
            <a:off x="6705600" y="1314450"/>
            <a:ext cx="323850" cy="323850"/>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2" name="Rounded Rectangle 61"/>
          <p:cNvSpPr/>
          <p:nvPr/>
        </p:nvSpPr>
        <p:spPr>
          <a:xfrm>
            <a:off x="7384473" y="1657350"/>
            <a:ext cx="805295" cy="457200"/>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384473" y="1885950"/>
            <a:ext cx="805295" cy="228600"/>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22573"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Yusimry</a:t>
            </a:r>
          </a:p>
        </p:txBody>
      </p:sp>
      <p:sp>
        <p:nvSpPr>
          <p:cNvPr id="65" name="Rectangle 64"/>
          <p:cNvSpPr/>
          <p:nvPr/>
        </p:nvSpPr>
        <p:spPr>
          <a:xfrm>
            <a:off x="7384473"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188.6</a:t>
            </a:r>
          </a:p>
        </p:txBody>
      </p:sp>
      <p:sp>
        <p:nvSpPr>
          <p:cNvPr id="66" name="Rectangle 65"/>
          <p:cNvSpPr/>
          <p:nvPr/>
        </p:nvSpPr>
        <p:spPr>
          <a:xfrm>
            <a:off x="7384473"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348.4</a:t>
            </a:r>
          </a:p>
        </p:txBody>
      </p:sp>
      <p:sp>
        <p:nvSpPr>
          <p:cNvPr id="67" name="Rectangle 66"/>
          <p:cNvSpPr/>
          <p:nvPr/>
        </p:nvSpPr>
        <p:spPr>
          <a:xfrm>
            <a:off x="7384473"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6.3%</a:t>
            </a:r>
          </a:p>
        </p:txBody>
      </p:sp>
      <p:sp>
        <p:nvSpPr>
          <p:cNvPr id="68" name="Oval 67"/>
          <p:cNvSpPr/>
          <p:nvPr/>
        </p:nvSpPr>
        <p:spPr>
          <a:xfrm>
            <a:off x="7625195" y="1314450"/>
            <a:ext cx="323850" cy="323850"/>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69" name="Rounded Rectangle 68"/>
          <p:cNvSpPr/>
          <p:nvPr/>
        </p:nvSpPr>
        <p:spPr>
          <a:xfrm>
            <a:off x="8304068" y="1657350"/>
            <a:ext cx="805295"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304068" y="1885950"/>
            <a:ext cx="805295"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342168"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Other approved adalimumab biosimi…</a:t>
            </a:r>
          </a:p>
        </p:txBody>
      </p:sp>
      <p:sp>
        <p:nvSpPr>
          <p:cNvPr id="72" name="Rectangle 71"/>
          <p:cNvSpPr/>
          <p:nvPr/>
        </p:nvSpPr>
        <p:spPr>
          <a:xfrm>
            <a:off x="8304068"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184.7</a:t>
            </a:r>
          </a:p>
        </p:txBody>
      </p:sp>
      <p:sp>
        <p:nvSpPr>
          <p:cNvPr id="73" name="Rectangle 72"/>
          <p:cNvSpPr/>
          <p:nvPr/>
        </p:nvSpPr>
        <p:spPr>
          <a:xfrm>
            <a:off x="8304068"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408.3</a:t>
            </a:r>
          </a:p>
        </p:txBody>
      </p:sp>
      <p:sp>
        <p:nvSpPr>
          <p:cNvPr id="74" name="Rectangle 73"/>
          <p:cNvSpPr/>
          <p:nvPr/>
        </p:nvSpPr>
        <p:spPr>
          <a:xfrm>
            <a:off x="8304068"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8.3%</a:t>
            </a:r>
          </a:p>
        </p:txBody>
      </p:sp>
      <p:sp>
        <p:nvSpPr>
          <p:cNvPr id="75" name="Oval 74"/>
          <p:cNvSpPr/>
          <p:nvPr/>
        </p:nvSpPr>
        <p:spPr>
          <a:xfrm>
            <a:off x="8544791"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76" name="Rounded Rectangle 75"/>
          <p:cNvSpPr/>
          <p:nvPr/>
        </p:nvSpPr>
        <p:spPr>
          <a:xfrm>
            <a:off x="9223664" y="1657350"/>
            <a:ext cx="805295"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223664" y="1885950"/>
            <a:ext cx="805295"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261764"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Simlandi</a:t>
            </a:r>
          </a:p>
        </p:txBody>
      </p:sp>
      <p:sp>
        <p:nvSpPr>
          <p:cNvPr id="79" name="Rectangle 78"/>
          <p:cNvSpPr/>
          <p:nvPr/>
        </p:nvSpPr>
        <p:spPr>
          <a:xfrm>
            <a:off x="9223664"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146.3</a:t>
            </a:r>
          </a:p>
        </p:txBody>
      </p:sp>
      <p:sp>
        <p:nvSpPr>
          <p:cNvPr id="80" name="Rectangle 79"/>
          <p:cNvSpPr/>
          <p:nvPr/>
        </p:nvSpPr>
        <p:spPr>
          <a:xfrm>
            <a:off x="9223664"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307.1</a:t>
            </a:r>
          </a:p>
        </p:txBody>
      </p:sp>
      <p:sp>
        <p:nvSpPr>
          <p:cNvPr id="81" name="Rectangle 80"/>
          <p:cNvSpPr/>
          <p:nvPr/>
        </p:nvSpPr>
        <p:spPr>
          <a:xfrm>
            <a:off x="9223664"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7.7%</a:t>
            </a:r>
          </a:p>
        </p:txBody>
      </p:sp>
      <p:sp>
        <p:nvSpPr>
          <p:cNvPr id="82" name="Oval 81"/>
          <p:cNvSpPr/>
          <p:nvPr/>
        </p:nvSpPr>
        <p:spPr>
          <a:xfrm>
            <a:off x="9464386"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9</a:t>
            </a:r>
          </a:p>
        </p:txBody>
      </p:sp>
      <p:sp>
        <p:nvSpPr>
          <p:cNvPr id="83" name="Rounded Rectangle 82"/>
          <p:cNvSpPr/>
          <p:nvPr/>
        </p:nvSpPr>
        <p:spPr>
          <a:xfrm>
            <a:off x="10143259" y="1657350"/>
            <a:ext cx="805295" cy="457200"/>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0143259" y="1885950"/>
            <a:ext cx="805295" cy="22860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181359"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Hulio</a:t>
            </a:r>
          </a:p>
        </p:txBody>
      </p:sp>
      <p:sp>
        <p:nvSpPr>
          <p:cNvPr id="86" name="Rectangle 85"/>
          <p:cNvSpPr/>
          <p:nvPr/>
        </p:nvSpPr>
        <p:spPr>
          <a:xfrm>
            <a:off x="10143259"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104.7</a:t>
            </a:r>
          </a:p>
        </p:txBody>
      </p:sp>
      <p:sp>
        <p:nvSpPr>
          <p:cNvPr id="87" name="Rectangle 86"/>
          <p:cNvSpPr/>
          <p:nvPr/>
        </p:nvSpPr>
        <p:spPr>
          <a:xfrm>
            <a:off x="10143259"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197.6</a:t>
            </a:r>
          </a:p>
        </p:txBody>
      </p:sp>
      <p:sp>
        <p:nvSpPr>
          <p:cNvPr id="88" name="Rectangle 87"/>
          <p:cNvSpPr/>
          <p:nvPr/>
        </p:nvSpPr>
        <p:spPr>
          <a:xfrm>
            <a:off x="10143259"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6.6%</a:t>
            </a:r>
          </a:p>
        </p:txBody>
      </p:sp>
      <p:sp>
        <p:nvSpPr>
          <p:cNvPr id="89" name="Oval 88"/>
          <p:cNvSpPr/>
          <p:nvPr/>
        </p:nvSpPr>
        <p:spPr>
          <a:xfrm>
            <a:off x="10383982" y="1314450"/>
            <a:ext cx="323850" cy="323850"/>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10</a:t>
            </a:r>
          </a:p>
        </p:txBody>
      </p:sp>
      <p:sp>
        <p:nvSpPr>
          <p:cNvPr id="90" name="Rounded Rectangle 89"/>
          <p:cNvSpPr/>
          <p:nvPr/>
        </p:nvSpPr>
        <p:spPr>
          <a:xfrm>
            <a:off x="11062855" y="1657350"/>
            <a:ext cx="805295" cy="457200"/>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1062855" y="1885950"/>
            <a:ext cx="805295" cy="2286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1100955"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Yuflyma</a:t>
            </a:r>
          </a:p>
        </p:txBody>
      </p:sp>
      <p:sp>
        <p:nvSpPr>
          <p:cNvPr id="93" name="Rectangle 92"/>
          <p:cNvSpPr/>
          <p:nvPr/>
        </p:nvSpPr>
        <p:spPr>
          <a:xfrm>
            <a:off x="11062855"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94.4</a:t>
            </a:r>
          </a:p>
        </p:txBody>
      </p:sp>
      <p:sp>
        <p:nvSpPr>
          <p:cNvPr id="94" name="Rectangle 93"/>
          <p:cNvSpPr/>
          <p:nvPr/>
        </p:nvSpPr>
        <p:spPr>
          <a:xfrm>
            <a:off x="11062855"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208.0</a:t>
            </a:r>
          </a:p>
        </p:txBody>
      </p:sp>
      <p:sp>
        <p:nvSpPr>
          <p:cNvPr id="95" name="Rectangle 94"/>
          <p:cNvSpPr/>
          <p:nvPr/>
        </p:nvSpPr>
        <p:spPr>
          <a:xfrm>
            <a:off x="11062855"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8.2%</a:t>
            </a:r>
          </a:p>
        </p:txBody>
      </p:sp>
      <p:sp>
        <p:nvSpPr>
          <p:cNvPr id="96" name="Oval 95"/>
          <p:cNvSpPr/>
          <p:nvPr/>
        </p:nvSpPr>
        <p:spPr>
          <a:xfrm>
            <a:off x="11303577" y="1314450"/>
            <a:ext cx="323850" cy="323850"/>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11</a:t>
            </a:r>
          </a:p>
        </p:txBody>
      </p:sp>
      <p:sp>
        <p:nvSpPr>
          <p:cNvPr id="97" name="Rounded Rectangle 96"/>
          <p:cNvSpPr/>
          <p:nvPr/>
        </p:nvSpPr>
        <p:spPr>
          <a:xfrm>
            <a:off x="323850" y="3829050"/>
            <a:ext cx="323850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57200" y="3924300"/>
            <a:ext cx="2971800" cy="190500"/>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99" name="Rectangle 98"/>
          <p:cNvSpPr/>
          <p:nvPr/>
        </p:nvSpPr>
        <p:spPr>
          <a:xfrm>
            <a:off x="457200" y="4133850"/>
            <a:ext cx="2971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57200" y="4210050"/>
            <a:ext cx="297180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'Hyrimoz / Halimatoz / Hefiya' holds the largest share in 2026 11% of segment value.</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'Cyltezo' is the fastest-growing sub-segment at 10.1% CAGR through 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Segment value expands from 1,974 to 4,475 US$ Mn across 2026–2036.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11 sub-segments make up the product type landscape.</a:t>
            </a:r>
          </a:p>
        </p:txBody>
      </p:sp>
      <p:sp>
        <p:nvSpPr>
          <p:cNvPr id="101" name="Rounded Rectangle 100"/>
          <p:cNvSpPr/>
          <p:nvPr/>
        </p:nvSpPr>
        <p:spPr>
          <a:xfrm>
            <a:off x="3676650" y="3829050"/>
            <a:ext cx="447675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810000" y="3924300"/>
            <a:ext cx="4210050" cy="190500"/>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103" name="Rectangle 102"/>
          <p:cNvSpPr/>
          <p:nvPr/>
        </p:nvSpPr>
        <p:spPr>
          <a:xfrm>
            <a:off x="3810000" y="4133850"/>
            <a:ext cx="42100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3810000" y="4210050"/>
            <a:ext cx="4210050" cy="2209800"/>
          </a:xfrm>
          <a:prstGeom prst="rect">
            <a:avLst/>
          </a:prstGeom>
          <a:noFill/>
        </p:spPr>
        <p:txBody>
          <a:bodyPr wrap="square" lIns="28575" rIns="28575" tIns="9525" bIns="9525">
            <a:spAutoFit/>
          </a:bodyPr>
          <a:lstStyle/>
          <a:p>
            <a:pPr algn="l">
              <a:lnSpc>
                <a:spcPct val="105000"/>
              </a:lnSpc>
              <a:spcBef>
                <a:spcPts val="0"/>
              </a:spcBef>
              <a:spcAft>
                <a:spcPts val="300"/>
              </a:spcAft>
            </a:pPr>
            <a:r>
              <a:rPr sz="765" b="0">
                <a:solidFill>
                  <a:srgbClr val="0B2E4A"/>
                </a:solidFill>
                <a:latin typeface="Calibri"/>
              </a:rPr>
              <a:t>●  </a:t>
            </a:r>
            <a:r>
              <a:rPr sz="850" b="1">
                <a:solidFill>
                  <a:srgbClr val="0B2E4A"/>
                </a:solidFill>
                <a:latin typeface="Calibri"/>
              </a:rPr>
              <a:t>Hyrimoz / Halimatoz / Hefiya: </a:t>
            </a:r>
            <a:r>
              <a:rPr sz="850" b="0">
                <a:solidFill>
                  <a:srgbClr val="2E2E2E"/>
                </a:solidFill>
                <a:latin typeface="Calibri"/>
              </a:rPr>
              <a:t>11% of 2026 value · 8.9% CAGR leads the segment.</a:t>
            </a:r>
          </a:p>
          <a:p>
            <a:pPr algn="l">
              <a:lnSpc>
                <a:spcPct val="105000"/>
              </a:lnSpc>
              <a:spcBef>
                <a:spcPts val="0"/>
              </a:spcBef>
              <a:spcAft>
                <a:spcPts val="300"/>
              </a:spcAft>
            </a:pPr>
            <a:r>
              <a:rPr sz="765" b="0">
                <a:solidFill>
                  <a:srgbClr val="0E72AE"/>
                </a:solidFill>
                <a:latin typeface="Calibri"/>
              </a:rPr>
              <a:t>●  </a:t>
            </a:r>
            <a:r>
              <a:rPr sz="850" b="1">
                <a:solidFill>
                  <a:srgbClr val="0E72AE"/>
                </a:solidFill>
                <a:latin typeface="Calibri"/>
              </a:rPr>
              <a:t>Amjevita / Amgevita: </a:t>
            </a:r>
            <a:r>
              <a:rPr sz="850" b="0">
                <a:solidFill>
                  <a:srgbClr val="2E2E2E"/>
                </a:solidFill>
                <a:latin typeface="Calibri"/>
              </a:rPr>
              <a:t>11% of 2026 value · 7.8% CAGR serves a niche.</a:t>
            </a:r>
          </a:p>
          <a:p>
            <a:pPr algn="l">
              <a:lnSpc>
                <a:spcPct val="105000"/>
              </a:lnSpc>
              <a:spcBef>
                <a:spcPts val="0"/>
              </a:spcBef>
              <a:spcAft>
                <a:spcPts val="300"/>
              </a:spcAft>
            </a:pPr>
            <a:r>
              <a:rPr sz="765" b="0">
                <a:solidFill>
                  <a:srgbClr val="008189"/>
                </a:solidFill>
                <a:latin typeface="Calibri"/>
              </a:rPr>
              <a:t>●  </a:t>
            </a:r>
            <a:r>
              <a:rPr sz="850" b="1">
                <a:solidFill>
                  <a:srgbClr val="008189"/>
                </a:solidFill>
                <a:latin typeface="Calibri"/>
              </a:rPr>
              <a:t>Idacio: </a:t>
            </a:r>
            <a:r>
              <a:rPr sz="850" b="0">
                <a:solidFill>
                  <a:srgbClr val="2E2E2E"/>
                </a:solidFill>
                <a:latin typeface="Calibri"/>
              </a:rPr>
              <a:t>11% of 2026 value · 9.5% CAGR serves a niche.</a:t>
            </a:r>
          </a:p>
          <a:p>
            <a:pPr algn="l">
              <a:lnSpc>
                <a:spcPct val="105000"/>
              </a:lnSpc>
              <a:spcBef>
                <a:spcPts val="0"/>
              </a:spcBef>
              <a:spcAft>
                <a:spcPts val="300"/>
              </a:spcAft>
            </a:pPr>
            <a:r>
              <a:rPr sz="765" b="0">
                <a:solidFill>
                  <a:srgbClr val="6F3CC2"/>
                </a:solidFill>
                <a:latin typeface="Calibri"/>
              </a:rPr>
              <a:t>●  </a:t>
            </a:r>
            <a:r>
              <a:rPr sz="850" b="1">
                <a:solidFill>
                  <a:srgbClr val="6F3CC2"/>
                </a:solidFill>
                <a:latin typeface="Calibri"/>
              </a:rPr>
              <a:t>Abrilada / Amsparity: </a:t>
            </a:r>
            <a:r>
              <a:rPr sz="850" b="0">
                <a:solidFill>
                  <a:srgbClr val="2E2E2E"/>
                </a:solidFill>
                <a:latin typeface="Calibri"/>
              </a:rPr>
              <a:t>11% of 2026 value · 9.0% CAGR serves a niche.</a:t>
            </a:r>
          </a:p>
          <a:p>
            <a:pPr algn="l">
              <a:lnSpc>
                <a:spcPct val="105000"/>
              </a:lnSpc>
              <a:spcBef>
                <a:spcPts val="0"/>
              </a:spcBef>
              <a:spcAft>
                <a:spcPts val="300"/>
              </a:spcAft>
            </a:pPr>
            <a:r>
              <a:rPr sz="765" b="0">
                <a:solidFill>
                  <a:srgbClr val="A86F00"/>
                </a:solidFill>
                <a:latin typeface="Calibri"/>
              </a:rPr>
              <a:t>●  </a:t>
            </a:r>
            <a:r>
              <a:rPr sz="850" b="1">
                <a:solidFill>
                  <a:srgbClr val="A86F00"/>
                </a:solidFill>
                <a:latin typeface="Calibri"/>
              </a:rPr>
              <a:t>Hadlima / Imraldi: </a:t>
            </a:r>
            <a:r>
              <a:rPr sz="850" b="0">
                <a:solidFill>
                  <a:srgbClr val="2E2E2E"/>
                </a:solidFill>
                <a:latin typeface="Calibri"/>
              </a:rPr>
              <a:t>10% of 2026 value · 9.5% CAGR serves a niche.</a:t>
            </a:r>
          </a:p>
          <a:p>
            <a:pPr algn="l">
              <a:lnSpc>
                <a:spcPct val="105000"/>
              </a:lnSpc>
              <a:spcBef>
                <a:spcPts val="0"/>
              </a:spcBef>
              <a:spcAft>
                <a:spcPts val="300"/>
              </a:spcAft>
            </a:pPr>
            <a:r>
              <a:rPr sz="765" b="0">
                <a:solidFill>
                  <a:srgbClr val="A35313"/>
                </a:solidFill>
                <a:latin typeface="Calibri"/>
              </a:rPr>
              <a:t>●  </a:t>
            </a:r>
            <a:r>
              <a:rPr sz="850" b="1">
                <a:solidFill>
                  <a:srgbClr val="A35313"/>
                </a:solidFill>
                <a:latin typeface="Calibri"/>
              </a:rPr>
              <a:t>Cyltezo: </a:t>
            </a:r>
            <a:r>
              <a:rPr sz="850" b="0">
                <a:solidFill>
                  <a:srgbClr val="2E2E2E"/>
                </a:solidFill>
                <a:latin typeface="Calibri"/>
              </a:rPr>
              <a:t>10% of 2026 value · 10.1% CAGR grows fastest.</a:t>
            </a:r>
          </a:p>
          <a:p>
            <a:pPr algn="l">
              <a:lnSpc>
                <a:spcPct val="105000"/>
              </a:lnSpc>
              <a:spcBef>
                <a:spcPts val="0"/>
              </a:spcBef>
              <a:spcAft>
                <a:spcPts val="300"/>
              </a:spcAft>
            </a:pPr>
            <a:r>
              <a:rPr sz="765" b="0">
                <a:solidFill>
                  <a:srgbClr val="6C7A89"/>
                </a:solidFill>
                <a:latin typeface="Calibri"/>
              </a:rPr>
              <a:t>●  </a:t>
            </a:r>
            <a:r>
              <a:rPr sz="850" b="1">
                <a:solidFill>
                  <a:srgbClr val="6C7A89"/>
                </a:solidFill>
                <a:latin typeface="Calibri"/>
              </a:rPr>
              <a:t>Yusimry: </a:t>
            </a:r>
            <a:r>
              <a:rPr sz="850" b="0">
                <a:solidFill>
                  <a:srgbClr val="2E2E2E"/>
                </a:solidFill>
                <a:latin typeface="Calibri"/>
              </a:rPr>
              <a:t>10% of 2026 value · 6.3% CAGR serves a niche.</a:t>
            </a:r>
          </a:p>
          <a:p>
            <a:pPr algn="l">
              <a:lnSpc>
                <a:spcPct val="105000"/>
              </a:lnSpc>
              <a:spcBef>
                <a:spcPts val="0"/>
              </a:spcBef>
              <a:spcAft>
                <a:spcPts val="300"/>
              </a:spcAft>
            </a:pPr>
            <a:r>
              <a:rPr sz="765" b="0">
                <a:solidFill>
                  <a:srgbClr val="0B2E4A"/>
                </a:solidFill>
                <a:latin typeface="Calibri"/>
              </a:rPr>
              <a:t>●  </a:t>
            </a:r>
            <a:r>
              <a:rPr sz="850" b="1">
                <a:solidFill>
                  <a:srgbClr val="0B2E4A"/>
                </a:solidFill>
                <a:latin typeface="Calibri"/>
              </a:rPr>
              <a:t>Other approved adalimumab biosimilars: </a:t>
            </a:r>
            <a:r>
              <a:rPr sz="850" b="0">
                <a:solidFill>
                  <a:srgbClr val="2E2E2E"/>
                </a:solidFill>
                <a:latin typeface="Calibri"/>
              </a:rPr>
              <a:t>9% of 2026 value · 8.3% CAGR serves a niche.</a:t>
            </a:r>
          </a:p>
          <a:p>
            <a:pPr algn="l">
              <a:lnSpc>
                <a:spcPct val="105000"/>
              </a:lnSpc>
              <a:spcBef>
                <a:spcPts val="0"/>
              </a:spcBef>
              <a:spcAft>
                <a:spcPts val="300"/>
              </a:spcAft>
            </a:pPr>
            <a:r>
              <a:rPr sz="765" b="0">
                <a:solidFill>
                  <a:srgbClr val="0E72AE"/>
                </a:solidFill>
                <a:latin typeface="Calibri"/>
              </a:rPr>
              <a:t>●  </a:t>
            </a:r>
            <a:r>
              <a:rPr sz="850" b="1">
                <a:solidFill>
                  <a:srgbClr val="0E72AE"/>
                </a:solidFill>
                <a:latin typeface="Calibri"/>
              </a:rPr>
              <a:t>Simlandi: </a:t>
            </a:r>
            <a:r>
              <a:rPr sz="850" b="0">
                <a:solidFill>
                  <a:srgbClr val="2E2E2E"/>
                </a:solidFill>
                <a:latin typeface="Calibri"/>
              </a:rPr>
              <a:t>7% of 2026 value · 7.7% CAGR serves a niche.</a:t>
            </a:r>
          </a:p>
          <a:p>
            <a:pPr algn="l">
              <a:lnSpc>
                <a:spcPct val="105000"/>
              </a:lnSpc>
              <a:spcBef>
                <a:spcPts val="0"/>
              </a:spcBef>
              <a:spcAft>
                <a:spcPts val="300"/>
              </a:spcAft>
            </a:pPr>
            <a:r>
              <a:rPr sz="765" b="0">
                <a:solidFill>
                  <a:srgbClr val="008189"/>
                </a:solidFill>
                <a:latin typeface="Calibri"/>
              </a:rPr>
              <a:t>●  </a:t>
            </a:r>
            <a:r>
              <a:rPr sz="850" b="1">
                <a:solidFill>
                  <a:srgbClr val="008189"/>
                </a:solidFill>
                <a:latin typeface="Calibri"/>
              </a:rPr>
              <a:t>Hulio: </a:t>
            </a:r>
            <a:r>
              <a:rPr sz="850" b="0">
                <a:solidFill>
                  <a:srgbClr val="2E2E2E"/>
                </a:solidFill>
                <a:latin typeface="Calibri"/>
              </a:rPr>
              <a:t>5% of 2026 value · 6.6% CAGR serves a niche.</a:t>
            </a:r>
          </a:p>
          <a:p>
            <a:pPr algn="l">
              <a:lnSpc>
                <a:spcPct val="105000"/>
              </a:lnSpc>
              <a:spcBef>
                <a:spcPts val="0"/>
              </a:spcBef>
              <a:spcAft>
                <a:spcPts val="300"/>
              </a:spcAft>
            </a:pPr>
            <a:r>
              <a:rPr sz="765" b="0">
                <a:solidFill>
                  <a:srgbClr val="6F3CC2"/>
                </a:solidFill>
                <a:latin typeface="Calibri"/>
              </a:rPr>
              <a:t>●  </a:t>
            </a:r>
            <a:r>
              <a:rPr sz="850" b="1">
                <a:solidFill>
                  <a:srgbClr val="6F3CC2"/>
                </a:solidFill>
                <a:latin typeface="Calibri"/>
              </a:rPr>
              <a:t>Yuflyma: </a:t>
            </a:r>
            <a:r>
              <a:rPr sz="850" b="0">
                <a:solidFill>
                  <a:srgbClr val="2E2E2E"/>
                </a:solidFill>
                <a:latin typeface="Calibri"/>
              </a:rPr>
              <a:t>5% of 2026 value · 8.2% CAGR serves a niche.</a:t>
            </a:r>
          </a:p>
        </p:txBody>
      </p:sp>
      <p:sp>
        <p:nvSpPr>
          <p:cNvPr id="105" name="Rounded Rectangle 104"/>
          <p:cNvSpPr/>
          <p:nvPr/>
        </p:nvSpPr>
        <p:spPr>
          <a:xfrm>
            <a:off x="8267700" y="3829050"/>
            <a:ext cx="3600450" cy="2686050"/>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401050" y="3924300"/>
            <a:ext cx="3333750" cy="190500"/>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107" name="Rectangle 106"/>
          <p:cNvSpPr/>
          <p:nvPr/>
        </p:nvSpPr>
        <p:spPr>
          <a:xfrm>
            <a:off x="8401050" y="4133850"/>
            <a:ext cx="33337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401050" y="4210050"/>
            <a:ext cx="33337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The Product Type split shows how demand is distributed across product type types and where growth concentrates.</a:t>
            </a:r>
          </a:p>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Shifting preferences and product innovation are reshaping the mix through 2036.</a:t>
            </a:r>
          </a:p>
        </p:txBody>
      </p:sp>
      <p:sp>
        <p:nvSpPr>
          <p:cNvPr id="109" name="Rectangle 108"/>
          <p:cNvSpPr/>
          <p:nvPr/>
        </p:nvSpPr>
        <p:spPr>
          <a:xfrm>
            <a:off x="8401050" y="5810250"/>
            <a:ext cx="3333750" cy="552450"/>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8401050" y="5810250"/>
            <a:ext cx="38100" cy="5524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496300" y="5848350"/>
            <a:ext cx="3219450" cy="476250"/>
          </a:xfrm>
          <a:prstGeom prst="rect">
            <a:avLst/>
          </a:prstGeom>
          <a:noFill/>
        </p:spPr>
        <p:txBody>
          <a:bodyPr wrap="square" lIns="28575" rIns="28575" tIns="9525" bIns="9525" anchor="ctr">
            <a:spAutoFit/>
          </a:bodyPr>
          <a:lstStyle/>
          <a:p>
            <a:pPr algn="l"/>
            <a:r>
              <a:rPr sz="1150" b="1">
                <a:solidFill>
                  <a:srgbClr val="0B2E4A"/>
                </a:solidFill>
                <a:latin typeface="Calibri"/>
              </a:rPr>
              <a:t>The Product Type segment is projected to grow at a CAGR of 8.5% from 2026 to 2036.</a:t>
            </a:r>
          </a:p>
        </p:txBody>
      </p:sp>
      <p:sp>
        <p:nvSpPr>
          <p:cNvPr id="112" name="TextBox 111"/>
          <p:cNvSpPr txBox="1"/>
          <p:nvPr/>
        </p:nvSpPr>
        <p:spPr>
          <a:xfrm>
            <a:off x="323850" y="6591300"/>
            <a:ext cx="3048000" cy="133350"/>
          </a:xfrm>
          <a:prstGeom prst="rect">
            <a:avLst/>
          </a:prstGeom>
          <a:noFill/>
        </p:spPr>
        <p:txBody>
          <a:bodyPr wrap="none">
            <a:spAutoFit/>
          </a:bodyPr>
          <a:lstStyle/>
          <a:p>
            <a:r>
              <a:rPr sz="800" i="1">
                <a:solidFill>
                  <a:srgbClr val="6C7A89"/>
                </a:solidFill>
                <a:latin typeface="Calibri"/>
              </a:rPr>
              <a:t>Source: FMI Analysis, 2026</a:t>
            </a:r>
          </a:p>
        </p:txBody>
      </p:sp>
      <p:sp>
        <p:nvSpPr>
          <p:cNvPr id="113" name="Rectangle 11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15" name="Rounded Rectangle 114">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16" name="Rounded Rectangle 115">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17" name="Rounded Rectangle 116">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Structure &amp; Attractiveness, By Product Type (Value)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6343650"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mix within each country (share of 2036 value) · row label = country size (US$ Mn), largest first</a:t>
            </a:r>
          </a:p>
        </p:txBody>
      </p:sp>
      <p:graphicFrame>
        <p:nvGraphicFramePr>
          <p:cNvPr id="13" name="Chart 12"/>
          <p:cNvGraphicFramePr>
            <a:graphicFrameLocks noGrp="1"/>
          </p:cNvGraphicFramePr>
          <p:nvPr/>
        </p:nvGraphicFramePr>
        <p:xfrm>
          <a:off x="238125" y="1314450"/>
          <a:ext cx="6153150" cy="39243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857250"/>
            <a:ext cx="5400675"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914400"/>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Type (bubble = 2036 size)</a:t>
            </a:r>
          </a:p>
        </p:txBody>
      </p:sp>
      <p:graphicFrame>
        <p:nvGraphicFramePr>
          <p:cNvPr id="16" name="Chart 15"/>
          <p:cNvGraphicFramePr>
            <a:graphicFrameLocks noGrp="1"/>
          </p:cNvGraphicFramePr>
          <p:nvPr/>
        </p:nvGraphicFramePr>
        <p:xfrm>
          <a:off x="6734175" y="1143000"/>
          <a:ext cx="5210175" cy="40957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29250"/>
            <a:ext cx="11906250" cy="1295400"/>
          </a:xfrm>
          <a:prstGeom prst="roundRect">
            <a:avLst>
              <a:gd name="adj" fmla="val 58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Between 2026 and 2036, 'Cyltezo' gains the most share in the North America market (+152 BPS) while 'Yusimry' cedes 177 BPS. Bubbles right of the CAGR-Index line grow faster than the segment average.</a:t>
            </a:r>
          </a:p>
        </p:txBody>
      </p:sp>
      <p:sp>
        <p:nvSpPr>
          <p:cNvPr id="18" name="Rectangle 1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0" name="Rounded Rectangle 19">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Absolute $ Opportunity Analysis, By Product Type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5876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2021–2025 (US$ Mn)</a:t>
            </a:r>
          </a:p>
        </p:txBody>
      </p:sp>
      <p:graphicFrame>
        <p:nvGraphicFramePr>
          <p:cNvPr id="13" name="Chart 12"/>
          <p:cNvGraphicFramePr>
            <a:graphicFrameLocks noGrp="1"/>
          </p:cNvGraphicFramePr>
          <p:nvPr/>
        </p:nvGraphicFramePr>
        <p:xfrm>
          <a:off x="238125" y="1143000"/>
          <a:ext cx="5686425" cy="5524500"/>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857250"/>
            <a:ext cx="5876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2026–2031 (US$ Mn)</a:t>
            </a:r>
          </a:p>
        </p:txBody>
      </p:sp>
      <p:graphicFrame>
        <p:nvGraphicFramePr>
          <p:cNvPr id="16" name="Chart 15"/>
          <p:cNvGraphicFramePr>
            <a:graphicFrameLocks noGrp="1"/>
          </p:cNvGraphicFramePr>
          <p:nvPr/>
        </p:nvGraphicFramePr>
        <p:xfrm>
          <a:off x="6267450" y="1143000"/>
          <a:ext cx="5686425" cy="5524500"/>
        </p:xfrm>
        <a:graphic>
          <a:graphicData uri="http://schemas.openxmlformats.org/drawingml/2006/chart">
            <c:chart xmlns:c="http://schemas.openxmlformats.org/drawingml/2006/chart" r:id="rId4"/>
          </a:graphicData>
        </a:graphic>
      </p:graphicFrame>
      <p:sp>
        <p:nvSpPr>
          <p:cNvPr id="17" name="Rectangle 1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9" name="Rounded Rectangle 18">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0" name="Rounded Rectangle 19">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Absolute $ Opportunity Analysis, By Product Type   ·   (continued 2/2)</a:t>
            </a:r>
          </a:p>
        </p:txBody>
      </p:sp>
      <p:sp>
        <p:nvSpPr>
          <p:cNvPr id="10" name="Rounded Rectangle 9"/>
          <p:cNvSpPr/>
          <p:nvPr/>
        </p:nvSpPr>
        <p:spPr>
          <a:xfrm>
            <a:off x="142875" y="857250"/>
            <a:ext cx="5876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2031–2036 (US$ Mn)</a:t>
            </a:r>
          </a:p>
        </p:txBody>
      </p:sp>
      <p:graphicFrame>
        <p:nvGraphicFramePr>
          <p:cNvPr id="12" name="Chart 11"/>
          <p:cNvGraphicFramePr>
            <a:graphicFrameLocks noGrp="1"/>
          </p:cNvGraphicFramePr>
          <p:nvPr/>
        </p:nvGraphicFramePr>
        <p:xfrm>
          <a:off x="238125" y="1143000"/>
          <a:ext cx="5686425" cy="5524500"/>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857250"/>
            <a:ext cx="5876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Product Type (2026–2036)</a:t>
            </a:r>
          </a:p>
        </p:txBody>
      </p:sp>
      <p:graphicFrame>
        <p:nvGraphicFramePr>
          <p:cNvPr id="15" name="Table 14"/>
          <p:cNvGraphicFramePr>
            <a:graphicFrameLocks noGrp="1"/>
          </p:cNvGraphicFramePr>
          <p:nvPr/>
        </p:nvGraphicFramePr>
        <p:xfrm>
          <a:off x="6267450" y="1143000"/>
          <a:ext cx="5686426" cy="2171700"/>
        </p:xfrm>
        <a:graphic>
          <a:graphicData uri="http://schemas.openxmlformats.org/drawingml/2006/table">
            <a:tbl>
              <a:tblPr>
                <a:tableStyleId>{5C22544A-7EE6-4342-B048-85BDC9FD1C3A}</a:tableStyleId>
              </a:tblPr>
              <a:tblGrid>
                <a:gridCol w="1705928"/>
                <a:gridCol w="1990249"/>
                <a:gridCol w="1990249"/>
              </a:tblGrid>
              <a:tr h="180975">
                <a:tc>
                  <a:txBody>
                    <a:bodyPr wrap="none"/>
                    <a:lstStyle/>
                    <a:p>
                      <a:pPr algn="l"/>
                      <a:r>
                        <a:rPr sz="900" b="1">
                          <a:solidFill>
                            <a:srgbClr val="0B2E4A"/>
                          </a:solidFill>
                          <a:latin typeface="Calibri"/>
                        </a:rPr>
                        <a:t>Product Type</a:t>
                      </a:r>
                    </a:p>
                  </a:txBody>
                  <a:tcPr marL="85725" marR="38100" marT="19050" marB="19050" anchor="ctr">
                    <a:solidFill>
                      <a:srgbClr val="E0E8EF"/>
                    </a:solidFill>
                  </a:tcPr>
                </a:tc>
                <a:tc>
                  <a:txBody>
                    <a:bodyPr wrap="none"/>
                    <a:lstStyle/>
                    <a:p>
                      <a:pPr algn="l"/>
                      <a:r>
                        <a:rPr sz="900" b="1">
                          <a:solidFill>
                            <a:srgbClr val="0B2E4A"/>
                          </a:solidFill>
                          <a:latin typeface="Calibri"/>
                        </a:rPr>
                        <a:t>Absolute $ Opportunity (US$ Mn)</a:t>
                      </a:r>
                    </a:p>
                  </a:txBody>
                  <a:tcPr marL="85725" marR="38100" marT="19050" marB="19050" anchor="ctr">
                    <a:solidFill>
                      <a:srgbClr val="E0E8EF"/>
                    </a:solidFill>
                  </a:tcPr>
                </a:tc>
                <a:tc>
                  <a:txBody>
                    <a:bodyPr wrap="none"/>
                    <a:lstStyle/>
                    <a:p>
                      <a:pPr algn="l"/>
                      <a:r>
                        <a:rPr sz="900" b="1">
                          <a:solidFill>
                            <a:srgbClr val="0B2E4A"/>
                          </a:solidFill>
                          <a:latin typeface="Calibri"/>
                        </a:rPr>
                        <a:t>Share of Increment</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900" b="0">
                          <a:solidFill>
                            <a:srgbClr val="2E2E2E"/>
                          </a:solidFill>
                          <a:latin typeface="Calibri"/>
                        </a:rPr>
                        <a:t>244.5</a:t>
                      </a:r>
                    </a:p>
                  </a:txBody>
                  <a:tcPr marL="85725" marR="38100" marT="19050" marB="19050" anchor="ctr">
                    <a:solidFill>
                      <a:srgbClr val="FFFFFF"/>
                    </a:solidFill>
                  </a:tcPr>
                </a:tc>
                <a:tc>
                  <a:txBody>
                    <a:bodyPr wrap="none"/>
                    <a:lstStyle/>
                    <a:p>
                      <a:pPr algn="l"/>
                      <a:r>
                        <a:rPr sz="900" b="0">
                          <a:solidFill>
                            <a:srgbClr val="2E2E2E"/>
                          </a:solidFill>
                          <a:latin typeface="Calibri"/>
                        </a:rPr>
                        <a:t>9.8%</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Cyltezo</a:t>
                      </a:r>
                    </a:p>
                  </a:txBody>
                  <a:tcPr marL="85725" marR="38100" marT="19050" marB="19050" anchor="ctr">
                    <a:solidFill>
                      <a:srgbClr val="F5F8FA"/>
                    </a:solidFill>
                  </a:tcPr>
                </a:tc>
                <a:tc>
                  <a:txBody>
                    <a:bodyPr wrap="none"/>
                    <a:lstStyle/>
                    <a:p>
                      <a:pPr algn="l"/>
                      <a:r>
                        <a:rPr sz="900" b="0">
                          <a:solidFill>
                            <a:srgbClr val="2E2E2E"/>
                          </a:solidFill>
                          <a:latin typeface="Calibri"/>
                        </a:rPr>
                        <a:t>312.9</a:t>
                      </a:r>
                    </a:p>
                  </a:txBody>
                  <a:tcPr marL="85725" marR="38100" marT="19050" marB="19050" anchor="ctr">
                    <a:solidFill>
                      <a:srgbClr val="F5F8FA"/>
                    </a:solidFill>
                  </a:tcPr>
                </a:tc>
                <a:tc>
                  <a:txBody>
                    <a:bodyPr wrap="none"/>
                    <a:lstStyle/>
                    <a:p>
                      <a:pPr algn="l"/>
                      <a:r>
                        <a:rPr sz="900" b="0">
                          <a:solidFill>
                            <a:srgbClr val="2E2E2E"/>
                          </a:solidFill>
                          <a:latin typeface="Calibri"/>
                        </a:rPr>
                        <a:t>12.5%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900" b="0">
                          <a:solidFill>
                            <a:srgbClr val="2E2E2E"/>
                          </a:solidFill>
                          <a:latin typeface="Calibri"/>
                        </a:rPr>
                        <a:t>295.1</a:t>
                      </a:r>
                    </a:p>
                  </a:txBody>
                  <a:tcPr marL="85725" marR="38100" marT="19050" marB="19050" anchor="ctr">
                    <a:solidFill>
                      <a:srgbClr val="FFFFFF"/>
                    </a:solidFill>
                  </a:tcPr>
                </a:tc>
                <a:tc>
                  <a:txBody>
                    <a:bodyPr wrap="none"/>
                    <a:lstStyle/>
                    <a:p>
                      <a:pPr algn="l"/>
                      <a:r>
                        <a:rPr sz="900" b="0">
                          <a:solidFill>
                            <a:srgbClr val="2E2E2E"/>
                          </a:solidFill>
                          <a:latin typeface="Calibri"/>
                        </a:rPr>
                        <a:t>11.8%</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900" b="0">
                          <a:solidFill>
                            <a:srgbClr val="2E2E2E"/>
                          </a:solidFill>
                          <a:latin typeface="Calibri"/>
                        </a:rPr>
                        <a:t>296.7</a:t>
                      </a:r>
                    </a:p>
                  </a:txBody>
                  <a:tcPr marL="85725" marR="38100" marT="19050" marB="19050" anchor="ctr">
                    <a:solidFill>
                      <a:srgbClr val="F5F8FA"/>
                    </a:solidFill>
                  </a:tcPr>
                </a:tc>
                <a:tc>
                  <a:txBody>
                    <a:bodyPr wrap="none"/>
                    <a:lstStyle/>
                    <a:p>
                      <a:pPr algn="l"/>
                      <a:r>
                        <a:rPr sz="900" b="0">
                          <a:solidFill>
                            <a:srgbClr val="2E2E2E"/>
                          </a:solidFill>
                          <a:latin typeface="Calibri"/>
                        </a:rPr>
                        <a:t>11.9%</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Idacio</a:t>
                      </a:r>
                    </a:p>
                  </a:txBody>
                  <a:tcPr marL="85725" marR="38100" marT="19050" marB="19050" anchor="ctr">
                    <a:solidFill>
                      <a:srgbClr val="FFFFFF"/>
                    </a:solidFill>
                  </a:tcPr>
                </a:tc>
                <a:tc>
                  <a:txBody>
                    <a:bodyPr wrap="none"/>
                    <a:lstStyle/>
                    <a:p>
                      <a:pPr algn="l"/>
                      <a:r>
                        <a:rPr sz="900" b="0">
                          <a:solidFill>
                            <a:srgbClr val="2E2E2E"/>
                          </a:solidFill>
                          <a:latin typeface="Calibri"/>
                        </a:rPr>
                        <a:t>312.8</a:t>
                      </a:r>
                    </a:p>
                  </a:txBody>
                  <a:tcPr marL="85725" marR="38100" marT="19050" marB="19050" anchor="ctr">
                    <a:solidFill>
                      <a:srgbClr val="FFFFFF"/>
                    </a:solidFill>
                  </a:tcPr>
                </a:tc>
                <a:tc>
                  <a:txBody>
                    <a:bodyPr wrap="none"/>
                    <a:lstStyle/>
                    <a:p>
                      <a:pPr algn="l"/>
                      <a:r>
                        <a:rPr sz="900" b="0">
                          <a:solidFill>
                            <a:srgbClr val="2E2E2E"/>
                          </a:solidFill>
                          <a:latin typeface="Calibri"/>
                        </a:rPr>
                        <a:t>12.5%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Hulio</a:t>
                      </a:r>
                    </a:p>
                  </a:txBody>
                  <a:tcPr marL="85725" marR="38100" marT="19050" marB="19050" anchor="ctr">
                    <a:solidFill>
                      <a:srgbClr val="F5F8FA"/>
                    </a:solidFill>
                  </a:tcPr>
                </a:tc>
                <a:tc>
                  <a:txBody>
                    <a:bodyPr wrap="none"/>
                    <a:lstStyle/>
                    <a:p>
                      <a:pPr algn="l"/>
                      <a:r>
                        <a:rPr sz="900" b="0">
                          <a:solidFill>
                            <a:srgbClr val="2E2E2E"/>
                          </a:solidFill>
                          <a:latin typeface="Calibri"/>
                        </a:rPr>
                        <a:t>92.9</a:t>
                      </a:r>
                    </a:p>
                  </a:txBody>
                  <a:tcPr marL="85725" marR="38100" marT="19050" marB="19050" anchor="ctr">
                    <a:solidFill>
                      <a:srgbClr val="F5F8FA"/>
                    </a:solidFill>
                  </a:tcPr>
                </a:tc>
                <a:tc>
                  <a:txBody>
                    <a:bodyPr wrap="none"/>
                    <a:lstStyle/>
                    <a:p>
                      <a:pPr algn="l"/>
                      <a:r>
                        <a:rPr sz="900" b="0">
                          <a:solidFill>
                            <a:srgbClr val="2E2E2E"/>
                          </a:solidFill>
                          <a:latin typeface="Calibri"/>
                        </a:rPr>
                        <a:t>3.7%</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900" b="0">
                          <a:solidFill>
                            <a:srgbClr val="2E2E2E"/>
                          </a:solidFill>
                          <a:latin typeface="Calibri"/>
                        </a:rPr>
                        <a:t>287.8</a:t>
                      </a:r>
                    </a:p>
                  </a:txBody>
                  <a:tcPr marL="85725" marR="38100" marT="19050" marB="19050" anchor="ctr">
                    <a:solidFill>
                      <a:srgbClr val="FFFFFF"/>
                    </a:solidFill>
                  </a:tcPr>
                </a:tc>
                <a:tc>
                  <a:txBody>
                    <a:bodyPr wrap="none"/>
                    <a:lstStyle/>
                    <a:p>
                      <a:pPr algn="l"/>
                      <a:r>
                        <a:rPr sz="900" b="0">
                          <a:solidFill>
                            <a:srgbClr val="2E2E2E"/>
                          </a:solidFill>
                          <a:latin typeface="Calibri"/>
                        </a:rPr>
                        <a:t>11.5%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Yusimry</a:t>
                      </a:r>
                    </a:p>
                  </a:txBody>
                  <a:tcPr marL="85725" marR="38100" marT="19050" marB="19050" anchor="ctr">
                    <a:solidFill>
                      <a:srgbClr val="F5F8FA"/>
                    </a:solidFill>
                  </a:tcPr>
                </a:tc>
                <a:tc>
                  <a:txBody>
                    <a:bodyPr wrap="none"/>
                    <a:lstStyle/>
                    <a:p>
                      <a:pPr algn="l"/>
                      <a:r>
                        <a:rPr sz="900" b="0">
                          <a:solidFill>
                            <a:srgbClr val="2E2E2E"/>
                          </a:solidFill>
                          <a:latin typeface="Calibri"/>
                        </a:rPr>
                        <a:t>159.8</a:t>
                      </a:r>
                    </a:p>
                  </a:txBody>
                  <a:tcPr marL="85725" marR="38100" marT="19050" marB="19050" anchor="ctr">
                    <a:solidFill>
                      <a:srgbClr val="F5F8FA"/>
                    </a:solidFill>
                  </a:tcPr>
                </a:tc>
                <a:tc>
                  <a:txBody>
                    <a:bodyPr wrap="none"/>
                    <a:lstStyle/>
                    <a:p>
                      <a:pPr algn="l"/>
                      <a:r>
                        <a:rPr sz="900" b="0">
                          <a:solidFill>
                            <a:srgbClr val="2E2E2E"/>
                          </a:solidFill>
                          <a:latin typeface="Calibri"/>
                        </a:rPr>
                        <a:t>6.4%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Yuflyma</a:t>
                      </a:r>
                    </a:p>
                  </a:txBody>
                  <a:tcPr marL="85725" marR="38100" marT="19050" marB="19050" anchor="ctr">
                    <a:solidFill>
                      <a:srgbClr val="FFFFFF"/>
                    </a:solidFill>
                  </a:tcPr>
                </a:tc>
                <a:tc>
                  <a:txBody>
                    <a:bodyPr wrap="none"/>
                    <a:lstStyle/>
                    <a:p>
                      <a:pPr algn="l"/>
                      <a:r>
                        <a:rPr sz="900" b="0">
                          <a:solidFill>
                            <a:srgbClr val="2E2E2E"/>
                          </a:solidFill>
                          <a:latin typeface="Calibri"/>
                        </a:rPr>
                        <a:t>113.6</a:t>
                      </a:r>
                    </a:p>
                  </a:txBody>
                  <a:tcPr marL="85725" marR="38100" marT="19050" marB="19050" anchor="ctr">
                    <a:solidFill>
                      <a:srgbClr val="FFFFFF"/>
                    </a:solidFill>
                  </a:tcPr>
                </a:tc>
                <a:tc>
                  <a:txBody>
                    <a:bodyPr wrap="none"/>
                    <a:lstStyle/>
                    <a:p>
                      <a:pPr algn="l"/>
                      <a:r>
                        <a:rPr sz="900" b="0">
                          <a:solidFill>
                            <a:srgbClr val="2E2E2E"/>
                          </a:solidFill>
                          <a:latin typeface="Calibri"/>
                        </a:rPr>
                        <a:t>4.5%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Simlandi</a:t>
                      </a:r>
                    </a:p>
                  </a:txBody>
                  <a:tcPr marL="85725" marR="38100" marT="19050" marB="19050" anchor="ctr">
                    <a:solidFill>
                      <a:srgbClr val="F5F8FA"/>
                    </a:solidFill>
                  </a:tcPr>
                </a:tc>
                <a:tc>
                  <a:txBody>
                    <a:bodyPr wrap="none"/>
                    <a:lstStyle/>
                    <a:p>
                      <a:pPr algn="l"/>
                      <a:r>
                        <a:rPr sz="900" b="0">
                          <a:solidFill>
                            <a:srgbClr val="2E2E2E"/>
                          </a:solidFill>
                          <a:latin typeface="Calibri"/>
                        </a:rPr>
                        <a:t>160.8</a:t>
                      </a:r>
                    </a:p>
                  </a:txBody>
                  <a:tcPr marL="85725" marR="38100" marT="19050" marB="19050" anchor="ctr">
                    <a:solidFill>
                      <a:srgbClr val="F5F8FA"/>
                    </a:solidFill>
                  </a:tcPr>
                </a:tc>
                <a:tc>
                  <a:txBody>
                    <a:bodyPr wrap="none"/>
                    <a:lstStyle/>
                    <a:p>
                      <a:pPr algn="l"/>
                      <a:r>
                        <a:rPr sz="900" b="0">
                          <a:solidFill>
                            <a:srgbClr val="2E2E2E"/>
                          </a:solidFill>
                          <a:latin typeface="Calibri"/>
                        </a:rPr>
                        <a:t>6.4%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900" b="0">
                          <a:solidFill>
                            <a:srgbClr val="2E2E2E"/>
                          </a:solidFill>
                          <a:latin typeface="Calibri"/>
                        </a:rPr>
                        <a:t>223.5</a:t>
                      </a:r>
                    </a:p>
                  </a:txBody>
                  <a:tcPr marL="85725" marR="38100" marT="19050" marB="19050" anchor="ctr">
                    <a:solidFill>
                      <a:srgbClr val="FFFFFF"/>
                    </a:solidFill>
                  </a:tcPr>
                </a:tc>
                <a:tc>
                  <a:txBody>
                    <a:bodyPr wrap="none"/>
                    <a:lstStyle/>
                    <a:p>
                      <a:pPr algn="l"/>
                      <a:r>
                        <a:rPr sz="900" b="0">
                          <a:solidFill>
                            <a:srgbClr val="2E2E2E"/>
                          </a:solidFill>
                          <a:latin typeface="Calibri"/>
                        </a:rPr>
                        <a:t>8.9%</a:t>
                      </a:r>
                    </a:p>
                  </a:txBody>
                  <a:tcPr marL="85725" marR="38100" marT="19050" marB="19050" anchor="ctr">
                    <a:solidFill>
                      <a:srgbClr val="FFFFFF"/>
                    </a:solidFill>
                  </a:tcPr>
                </a:tc>
              </a:tr>
            </a:tbl>
          </a:graphicData>
        </a:graphic>
      </p:graphicFrame>
      <p:sp>
        <p:nvSpPr>
          <p:cNvPr id="16" name="TextBox 15"/>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7" name="Rectangle 1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9" name="Rounded Rectangle 18">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0" name="Rounded Rectangle 19">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Volume Analysis, By Product Type (Mn Doses)</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3867150"/>
          </a:xfrm>
          <a:prstGeom prst="roundRect">
            <a:avLst>
              <a:gd name="adj" fmla="val 1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Product Type (Mn Doses)</a:t>
            </a:r>
          </a:p>
        </p:txBody>
      </p:sp>
      <p:graphicFrame>
        <p:nvGraphicFramePr>
          <p:cNvPr id="13" name="Table 12"/>
          <p:cNvGraphicFramePr>
            <a:graphicFrameLocks noGrp="1"/>
          </p:cNvGraphicFramePr>
          <p:nvPr/>
        </p:nvGraphicFramePr>
        <p:xfrm>
          <a:off x="238125" y="1143000"/>
          <a:ext cx="11715752" cy="2352675"/>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Product Type</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800" b="0">
                          <a:solidFill>
                            <a:srgbClr val="2E2E2E"/>
                          </a:solidFill>
                          <a:latin typeface="Calibri"/>
                        </a:rPr>
                        <a:t>0.11</a:t>
                      </a:r>
                    </a:p>
                  </a:txBody>
                  <a:tcPr marL="85725" marR="38100" marT="19050" marB="19050" anchor="ctr">
                    <a:solidFill>
                      <a:srgbClr val="FFFFFF"/>
                    </a:solidFill>
                  </a:tcPr>
                </a:tc>
                <a:tc>
                  <a:txBody>
                    <a:bodyPr wrap="none"/>
                    <a:lstStyle/>
                    <a:p>
                      <a:pPr algn="l"/>
                      <a:r>
                        <a:rPr sz="800" b="0">
                          <a:solidFill>
                            <a:srgbClr val="2E2E2E"/>
                          </a:solidFill>
                          <a:latin typeface="Calibri"/>
                        </a:rPr>
                        <a:t>0.14</a:t>
                      </a:r>
                    </a:p>
                  </a:txBody>
                  <a:tcPr marL="85725" marR="38100" marT="19050" marB="19050" anchor="ctr">
                    <a:solidFill>
                      <a:srgbClr val="FFFFFF"/>
                    </a:solidFill>
                  </a:tcPr>
                </a:tc>
                <a:tc>
                  <a:txBody>
                    <a:bodyPr wrap="none"/>
                    <a:lstStyle/>
                    <a:p>
                      <a:pPr algn="l"/>
                      <a:r>
                        <a:rPr sz="800" b="0">
                          <a:solidFill>
                            <a:srgbClr val="2E2E2E"/>
                          </a:solidFill>
                          <a:latin typeface="Calibri"/>
                        </a:rPr>
                        <a:t>0.17</a:t>
                      </a:r>
                    </a:p>
                  </a:txBody>
                  <a:tcPr marL="85725" marR="38100" marT="19050" marB="19050" anchor="ctr">
                    <a:solidFill>
                      <a:srgbClr val="FFFFFF"/>
                    </a:solidFill>
                  </a:tcPr>
                </a:tc>
                <a:tc>
                  <a:txBody>
                    <a:bodyPr wrap="none"/>
                    <a:lstStyle/>
                    <a:p>
                      <a:pPr algn="l"/>
                      <a:r>
                        <a:rPr sz="800" b="0">
                          <a:solidFill>
                            <a:srgbClr val="2E2E2E"/>
                          </a:solidFill>
                          <a:latin typeface="Calibri"/>
                        </a:rPr>
                        <a:t>0.22</a:t>
                      </a:r>
                    </a:p>
                  </a:txBody>
                  <a:tcPr marL="85725" marR="38100" marT="19050" marB="19050" anchor="ctr">
                    <a:solidFill>
                      <a:srgbClr val="FFFFFF"/>
                    </a:solidFill>
                  </a:tcPr>
                </a:tc>
                <a:tc>
                  <a:txBody>
                    <a:bodyPr wrap="none"/>
                    <a:lstStyle/>
                    <a:p>
                      <a:pPr algn="l"/>
                      <a:r>
                        <a:rPr sz="800" b="0">
                          <a:solidFill>
                            <a:srgbClr val="2E2E2E"/>
                          </a:solidFill>
                          <a:latin typeface="Calibri"/>
                        </a:rPr>
                        <a:t>0.29</a:t>
                      </a:r>
                    </a:p>
                  </a:txBody>
                  <a:tcPr marL="85725" marR="38100" marT="19050" marB="19050" anchor="ctr">
                    <a:solidFill>
                      <a:srgbClr val="FFFFFF"/>
                    </a:solidFill>
                  </a:tcPr>
                </a:tc>
                <a:tc>
                  <a:txBody>
                    <a:bodyPr wrap="none"/>
                    <a:lstStyle/>
                    <a:p>
                      <a:pPr algn="l"/>
                      <a:r>
                        <a:rPr sz="800" b="0">
                          <a:solidFill>
                            <a:srgbClr val="2E2E2E"/>
                          </a:solidFill>
                          <a:latin typeface="Calibri"/>
                        </a:rPr>
                        <a:t>0.35</a:t>
                      </a:r>
                    </a:p>
                  </a:txBody>
                  <a:tcPr marL="85725" marR="38100" marT="19050" marB="19050" anchor="ctr">
                    <a:solidFill>
                      <a:srgbClr val="FFFFFF"/>
                    </a:solidFill>
                  </a:tcPr>
                </a:tc>
                <a:tc>
                  <a:txBody>
                    <a:bodyPr wrap="none"/>
                    <a:lstStyle/>
                    <a:p>
                      <a:pPr algn="l"/>
                      <a:r>
                        <a:rPr sz="800" b="0">
                          <a:solidFill>
                            <a:srgbClr val="2E2E2E"/>
                          </a:solidFill>
                          <a:latin typeface="Calibri"/>
                        </a:rPr>
                        <a:t>0.43</a:t>
                      </a:r>
                    </a:p>
                  </a:txBody>
                  <a:tcPr marL="85725" marR="38100" marT="19050" marB="19050" anchor="ctr">
                    <a:solidFill>
                      <a:srgbClr val="FFFFFF"/>
                    </a:solidFill>
                  </a:tcPr>
                </a:tc>
                <a:tc>
                  <a:txBody>
                    <a:bodyPr wrap="none"/>
                    <a:lstStyle/>
                    <a:p>
                      <a:pPr algn="l"/>
                      <a:r>
                        <a:rPr sz="800" b="0">
                          <a:solidFill>
                            <a:srgbClr val="2E2E2E"/>
                          </a:solidFill>
                          <a:latin typeface="Calibri"/>
                        </a:rPr>
                        <a:t>0.51</a:t>
                      </a:r>
                    </a:p>
                  </a:txBody>
                  <a:tcPr marL="85725" marR="38100" marT="19050" marB="19050" anchor="ctr">
                    <a:solidFill>
                      <a:srgbClr val="FFFFFF"/>
                    </a:solidFill>
                  </a:tcPr>
                </a:tc>
                <a:tc>
                  <a:txBody>
                    <a:bodyPr wrap="none"/>
                    <a:lstStyle/>
                    <a:p>
                      <a:pPr algn="l"/>
                      <a:r>
                        <a:rPr sz="800" b="0">
                          <a:solidFill>
                            <a:srgbClr val="2E2E2E"/>
                          </a:solidFill>
                          <a:latin typeface="Calibri"/>
                        </a:rPr>
                        <a:t>0.59</a:t>
                      </a:r>
                    </a:p>
                  </a:txBody>
                  <a:tcPr marL="85725" marR="38100" marT="19050" marB="19050" anchor="ctr">
                    <a:solidFill>
                      <a:srgbClr val="FFFFFF"/>
                    </a:solidFill>
                  </a:tcPr>
                </a:tc>
                <a:tc>
                  <a:txBody>
                    <a:bodyPr wrap="none"/>
                    <a:lstStyle/>
                    <a:p>
                      <a:pPr algn="l"/>
                      <a:r>
                        <a:rPr sz="800" b="0">
                          <a:solidFill>
                            <a:srgbClr val="2E2E2E"/>
                          </a:solidFill>
                          <a:latin typeface="Calibri"/>
                        </a:rPr>
                        <a:t>0.68</a:t>
                      </a:r>
                    </a:p>
                  </a:txBody>
                  <a:tcPr marL="85725" marR="38100" marT="19050" marB="19050" anchor="ctr">
                    <a:solidFill>
                      <a:srgbClr val="FFFFFF"/>
                    </a:solidFill>
                  </a:tcPr>
                </a:tc>
                <a:tc>
                  <a:txBody>
                    <a:bodyPr wrap="none"/>
                    <a:lstStyle/>
                    <a:p>
                      <a:pPr algn="l"/>
                      <a:r>
                        <a:rPr sz="800" b="0">
                          <a:solidFill>
                            <a:srgbClr val="2E2E2E"/>
                          </a:solidFill>
                          <a:latin typeface="Calibri"/>
                        </a:rPr>
                        <a:t>0.78</a:t>
                      </a:r>
                    </a:p>
                  </a:txBody>
                  <a:tcPr marL="85725" marR="38100" marT="19050" marB="19050" anchor="ctr">
                    <a:solidFill>
                      <a:srgbClr val="FFFFFF"/>
                    </a:solidFill>
                  </a:tcPr>
                </a:tc>
                <a:tc>
                  <a:txBody>
                    <a:bodyPr wrap="none"/>
                    <a:lstStyle/>
                    <a:p>
                      <a:pPr algn="l"/>
                      <a:r>
                        <a:rPr sz="800" b="0">
                          <a:solidFill>
                            <a:srgbClr val="2E2E2E"/>
                          </a:solidFill>
                          <a:latin typeface="Calibri"/>
                        </a:rPr>
                        <a:t>0.88</a:t>
                      </a:r>
                    </a:p>
                  </a:txBody>
                  <a:tcPr marL="85725" marR="38100" marT="19050" marB="19050" anchor="ctr">
                    <a:solidFill>
                      <a:srgbClr val="FFFFFF"/>
                    </a:solidFill>
                  </a:tcPr>
                </a:tc>
                <a:tc>
                  <a:txBody>
                    <a:bodyPr wrap="none"/>
                    <a:lstStyle/>
                    <a:p>
                      <a:pPr algn="l"/>
                      <a:r>
                        <a:rPr sz="800" b="0">
                          <a:solidFill>
                            <a:srgbClr val="2E2E2E"/>
                          </a:solidFill>
                          <a:latin typeface="Calibri"/>
                        </a:rPr>
                        <a:t>0.99</a:t>
                      </a:r>
                    </a:p>
                  </a:txBody>
                  <a:tcPr marL="85725" marR="38100" marT="19050" marB="19050" anchor="ctr">
                    <a:solidFill>
                      <a:srgbClr val="FFFFFF"/>
                    </a:solidFill>
                  </a:tcPr>
                </a:tc>
                <a:tc>
                  <a:txBody>
                    <a:bodyPr wrap="none"/>
                    <a:lstStyle/>
                    <a:p>
                      <a:pPr algn="l"/>
                      <a:r>
                        <a:rPr sz="800" b="0">
                          <a:solidFill>
                            <a:srgbClr val="2E2E2E"/>
                          </a:solidFill>
                          <a:latin typeface="Calibri"/>
                        </a:rPr>
                        <a:t>1.11</a:t>
                      </a:r>
                    </a:p>
                  </a:txBody>
                  <a:tcPr marL="85725" marR="38100" marT="19050" marB="19050" anchor="ctr">
                    <a:solidFill>
                      <a:srgbClr val="FFFFFF"/>
                    </a:solidFill>
                  </a:tcPr>
                </a:tc>
                <a:tc>
                  <a:txBody>
                    <a:bodyPr wrap="none"/>
                    <a:lstStyle/>
                    <a:p>
                      <a:pPr algn="l"/>
                      <a:r>
                        <a:rPr sz="800" b="0">
                          <a:solidFill>
                            <a:srgbClr val="2E2E2E"/>
                          </a:solidFill>
                          <a:latin typeface="Calibri"/>
                        </a:rPr>
                        <a:t>1.23</a:t>
                      </a:r>
                    </a:p>
                  </a:txBody>
                  <a:tcPr marL="85725" marR="38100" marT="19050" marB="19050" anchor="ctr">
                    <a:solidFill>
                      <a:srgbClr val="FFFFFF"/>
                    </a:solidFill>
                  </a:tcPr>
                </a:tc>
                <a:tc>
                  <a:txBody>
                    <a:bodyPr wrap="none"/>
                    <a:lstStyle/>
                    <a:p>
                      <a:pPr algn="l"/>
                      <a:r>
                        <a:rPr sz="800" b="0">
                          <a:solidFill>
                            <a:srgbClr val="2E2E2E"/>
                          </a:solidFill>
                          <a:latin typeface="Calibri"/>
                        </a:rPr>
                        <a:t>1.37</a:t>
                      </a:r>
                    </a:p>
                  </a:txBody>
                  <a:tcPr marL="85725" marR="38100" marT="19050" marB="19050" anchor="ctr">
                    <a:solidFill>
                      <a:srgbClr val="FFFFFF"/>
                    </a:solidFill>
                  </a:tcPr>
                </a:tc>
                <a:tc>
                  <a:txBody>
                    <a:bodyPr wrap="none"/>
                    <a:lstStyle/>
                    <a:p>
                      <a:pPr algn="l"/>
                      <a:r>
                        <a:rPr sz="800" b="0">
                          <a:solidFill>
                            <a:srgbClr val="2E2E2E"/>
                          </a:solidFill>
                          <a:latin typeface="Calibri"/>
                        </a:rPr>
                        <a:t>14.5%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Cyltezo</a:t>
                      </a:r>
                    </a:p>
                  </a:txBody>
                  <a:tcPr marL="85725" marR="38100" marT="19050" marB="19050" anchor="ctr">
                    <a:solidFill>
                      <a:srgbClr val="F5F8FA"/>
                    </a:solidFill>
                  </a:tcPr>
                </a:tc>
                <a:tc>
                  <a:txBody>
                    <a:bodyPr wrap="none"/>
                    <a:lstStyle/>
                    <a:p>
                      <a:pPr algn="l"/>
                      <a:r>
                        <a:rPr sz="800" b="0">
                          <a:solidFill>
                            <a:srgbClr val="2E2E2E"/>
                          </a:solidFill>
                          <a:latin typeface="Calibri"/>
                        </a:rPr>
                        <a:t>0.09</a:t>
                      </a:r>
                    </a:p>
                  </a:txBody>
                  <a:tcPr marL="85725" marR="38100" marT="19050" marB="19050" anchor="ctr">
                    <a:solidFill>
                      <a:srgbClr val="F5F8FA"/>
                    </a:solidFill>
                  </a:tcPr>
                </a:tc>
                <a:tc>
                  <a:txBody>
                    <a:bodyPr wrap="none"/>
                    <a:lstStyle/>
                    <a:p>
                      <a:pPr algn="l"/>
                      <a:r>
                        <a:rPr sz="800" b="0">
                          <a:solidFill>
                            <a:srgbClr val="2E2E2E"/>
                          </a:solidFill>
                          <a:latin typeface="Calibri"/>
                        </a:rPr>
                        <a:t>0.11</a:t>
                      </a:r>
                    </a:p>
                  </a:txBody>
                  <a:tcPr marL="85725" marR="38100" marT="19050" marB="19050" anchor="ctr">
                    <a:solidFill>
                      <a:srgbClr val="F5F8FA"/>
                    </a:solidFill>
                  </a:tcPr>
                </a:tc>
                <a:tc>
                  <a:txBody>
                    <a:bodyPr wrap="none"/>
                    <a:lstStyle/>
                    <a:p>
                      <a:pPr algn="l"/>
                      <a:r>
                        <a:rPr sz="800" b="0">
                          <a:solidFill>
                            <a:srgbClr val="2E2E2E"/>
                          </a:solidFill>
                          <a:latin typeface="Calibri"/>
                        </a:rPr>
                        <a:t>0.14</a:t>
                      </a:r>
                    </a:p>
                  </a:txBody>
                  <a:tcPr marL="85725" marR="38100" marT="19050" marB="19050" anchor="ctr">
                    <a:solidFill>
                      <a:srgbClr val="F5F8FA"/>
                    </a:solidFill>
                  </a:tcPr>
                </a:tc>
                <a:tc>
                  <a:txBody>
                    <a:bodyPr wrap="none"/>
                    <a:lstStyle/>
                    <a:p>
                      <a:pPr algn="l"/>
                      <a:r>
                        <a:rPr sz="800" b="0">
                          <a:solidFill>
                            <a:srgbClr val="2E2E2E"/>
                          </a:solidFill>
                          <a:latin typeface="Calibri"/>
                        </a:rPr>
                        <a:t>0.18</a:t>
                      </a:r>
                    </a:p>
                  </a:txBody>
                  <a:tcPr marL="85725" marR="38100" marT="19050" marB="19050" anchor="ctr">
                    <a:solidFill>
                      <a:srgbClr val="F5F8FA"/>
                    </a:solidFill>
                  </a:tcPr>
                </a:tc>
                <a:tc>
                  <a:txBody>
                    <a:bodyPr wrap="none"/>
                    <a:lstStyle/>
                    <a:p>
                      <a:pPr algn="l"/>
                      <a:r>
                        <a:rPr sz="800" b="0">
                          <a:solidFill>
                            <a:srgbClr val="2E2E2E"/>
                          </a:solidFill>
                          <a:latin typeface="Calibri"/>
                        </a:rPr>
                        <a:t>0.23</a:t>
                      </a:r>
                    </a:p>
                  </a:txBody>
                  <a:tcPr marL="85725" marR="38100" marT="19050" marB="19050" anchor="ctr">
                    <a:solidFill>
                      <a:srgbClr val="F5F8FA"/>
                    </a:solidFill>
                  </a:tcPr>
                </a:tc>
                <a:tc>
                  <a:txBody>
                    <a:bodyPr wrap="none"/>
                    <a:lstStyle/>
                    <a:p>
                      <a:pPr algn="l"/>
                      <a:r>
                        <a:rPr sz="800" b="0">
                          <a:solidFill>
                            <a:srgbClr val="2E2E2E"/>
                          </a:solidFill>
                          <a:latin typeface="Calibri"/>
                        </a:rPr>
                        <a:t>0.29</a:t>
                      </a:r>
                    </a:p>
                  </a:txBody>
                  <a:tcPr marL="85725" marR="38100" marT="19050" marB="19050" anchor="ctr">
                    <a:solidFill>
                      <a:srgbClr val="F5F8FA"/>
                    </a:solidFill>
                  </a:tcPr>
                </a:tc>
                <a:tc>
                  <a:txBody>
                    <a:bodyPr wrap="none"/>
                    <a:lstStyle/>
                    <a:p>
                      <a:pPr algn="l"/>
                      <a:r>
                        <a:rPr sz="800" b="0">
                          <a:solidFill>
                            <a:srgbClr val="2E2E2E"/>
                          </a:solidFill>
                          <a:latin typeface="Calibri"/>
                        </a:rPr>
                        <a:t>0.35</a:t>
                      </a:r>
                    </a:p>
                  </a:txBody>
                  <a:tcPr marL="85725" marR="38100" marT="19050" marB="19050" anchor="ctr">
                    <a:solidFill>
                      <a:srgbClr val="F5F8FA"/>
                    </a:solidFill>
                  </a:tcPr>
                </a:tc>
                <a:tc>
                  <a:txBody>
                    <a:bodyPr wrap="none"/>
                    <a:lstStyle/>
                    <a:p>
                      <a:pPr algn="l"/>
                      <a:r>
                        <a:rPr sz="800" b="0">
                          <a:solidFill>
                            <a:srgbClr val="2E2E2E"/>
                          </a:solidFill>
                          <a:latin typeface="Calibri"/>
                        </a:rPr>
                        <a:t>0.41</a:t>
                      </a:r>
                    </a:p>
                  </a:txBody>
                  <a:tcPr marL="85725" marR="38100" marT="19050" marB="19050" anchor="ctr">
                    <a:solidFill>
                      <a:srgbClr val="F5F8FA"/>
                    </a:solidFill>
                  </a:tcPr>
                </a:tc>
                <a:tc>
                  <a:txBody>
                    <a:bodyPr wrap="none"/>
                    <a:lstStyle/>
                    <a:p>
                      <a:pPr algn="l"/>
                      <a:r>
                        <a:rPr sz="800" b="0">
                          <a:solidFill>
                            <a:srgbClr val="2E2E2E"/>
                          </a:solidFill>
                          <a:latin typeface="Calibri"/>
                        </a:rPr>
                        <a:t>0.48</a:t>
                      </a:r>
                    </a:p>
                  </a:txBody>
                  <a:tcPr marL="85725" marR="38100" marT="19050" marB="19050" anchor="ctr">
                    <a:solidFill>
                      <a:srgbClr val="F5F8FA"/>
                    </a:solidFill>
                  </a:tcPr>
                </a:tc>
                <a:tc>
                  <a:txBody>
                    <a:bodyPr wrap="none"/>
                    <a:lstStyle/>
                    <a:p>
                      <a:pPr algn="l"/>
                      <a:r>
                        <a:rPr sz="800" b="0">
                          <a:solidFill>
                            <a:srgbClr val="2E2E2E"/>
                          </a:solidFill>
                          <a:latin typeface="Calibri"/>
                        </a:rPr>
                        <a:t>0.56</a:t>
                      </a:r>
                    </a:p>
                  </a:txBody>
                  <a:tcPr marL="85725" marR="38100" marT="19050" marB="19050" anchor="ctr">
                    <a:solidFill>
                      <a:srgbClr val="F5F8FA"/>
                    </a:solidFill>
                  </a:tcPr>
                </a:tc>
                <a:tc>
                  <a:txBody>
                    <a:bodyPr wrap="none"/>
                    <a:lstStyle/>
                    <a:p>
                      <a:pPr algn="l"/>
                      <a:r>
                        <a:rPr sz="800" b="0">
                          <a:solidFill>
                            <a:srgbClr val="2E2E2E"/>
                          </a:solidFill>
                          <a:latin typeface="Calibri"/>
                        </a:rPr>
                        <a:t>0.64</a:t>
                      </a:r>
                    </a:p>
                  </a:txBody>
                  <a:tcPr marL="85725" marR="38100" marT="19050" marB="19050" anchor="ctr">
                    <a:solidFill>
                      <a:srgbClr val="F5F8FA"/>
                    </a:solidFill>
                  </a:tcPr>
                </a:tc>
                <a:tc>
                  <a:txBody>
                    <a:bodyPr wrap="none"/>
                    <a:lstStyle/>
                    <a:p>
                      <a:pPr algn="l"/>
                      <a:r>
                        <a:rPr sz="800" b="0">
                          <a:solidFill>
                            <a:srgbClr val="2E2E2E"/>
                          </a:solidFill>
                          <a:latin typeface="Calibri"/>
                        </a:rPr>
                        <a:t>0.73</a:t>
                      </a:r>
                    </a:p>
                  </a:txBody>
                  <a:tcPr marL="85725" marR="38100" marT="19050" marB="19050" anchor="ctr">
                    <a:solidFill>
                      <a:srgbClr val="F5F8FA"/>
                    </a:solidFill>
                  </a:tcPr>
                </a:tc>
                <a:tc>
                  <a:txBody>
                    <a:bodyPr wrap="none"/>
                    <a:lstStyle/>
                    <a:p>
                      <a:pPr algn="l"/>
                      <a:r>
                        <a:rPr sz="800" b="0">
                          <a:solidFill>
                            <a:srgbClr val="2E2E2E"/>
                          </a:solidFill>
                          <a:latin typeface="Calibri"/>
                        </a:rPr>
                        <a:t>0.82</a:t>
                      </a:r>
                    </a:p>
                  </a:txBody>
                  <a:tcPr marL="85725" marR="38100" marT="19050" marB="19050" anchor="ctr">
                    <a:solidFill>
                      <a:srgbClr val="F5F8FA"/>
                    </a:solidFill>
                  </a:tcPr>
                </a:tc>
                <a:tc>
                  <a:txBody>
                    <a:bodyPr wrap="none"/>
                    <a:lstStyle/>
                    <a:p>
                      <a:pPr algn="l"/>
                      <a:r>
                        <a:rPr sz="800" b="0">
                          <a:solidFill>
                            <a:srgbClr val="2E2E2E"/>
                          </a:solidFill>
                          <a:latin typeface="Calibri"/>
                        </a:rPr>
                        <a:t>0.92</a:t>
                      </a:r>
                    </a:p>
                  </a:txBody>
                  <a:tcPr marL="85725" marR="38100" marT="19050" marB="19050" anchor="ctr">
                    <a:solidFill>
                      <a:srgbClr val="F5F8FA"/>
                    </a:solidFill>
                  </a:tcPr>
                </a:tc>
                <a:tc>
                  <a:txBody>
                    <a:bodyPr wrap="none"/>
                    <a:lstStyle/>
                    <a:p>
                      <a:pPr algn="l"/>
                      <a:r>
                        <a:rPr sz="800" b="0">
                          <a:solidFill>
                            <a:srgbClr val="2E2E2E"/>
                          </a:solidFill>
                          <a:latin typeface="Calibri"/>
                        </a:rPr>
                        <a:t>1.02</a:t>
                      </a:r>
                    </a:p>
                  </a:txBody>
                  <a:tcPr marL="85725" marR="38100" marT="19050" marB="19050" anchor="ctr">
                    <a:solidFill>
                      <a:srgbClr val="F5F8FA"/>
                    </a:solidFill>
                  </a:tcPr>
                </a:tc>
                <a:tc>
                  <a:txBody>
                    <a:bodyPr wrap="none"/>
                    <a:lstStyle/>
                    <a:p>
                      <a:pPr algn="l"/>
                      <a:r>
                        <a:rPr sz="800" b="0">
                          <a:solidFill>
                            <a:srgbClr val="2E2E2E"/>
                          </a:solidFill>
                          <a:latin typeface="Calibri"/>
                        </a:rPr>
                        <a:t>1.13</a:t>
                      </a:r>
                    </a:p>
                  </a:txBody>
                  <a:tcPr marL="85725" marR="38100" marT="19050" marB="19050" anchor="ctr">
                    <a:solidFill>
                      <a:srgbClr val="F5F8FA"/>
                    </a:solidFill>
                  </a:tcPr>
                </a:tc>
                <a:tc>
                  <a:txBody>
                    <a:bodyPr wrap="none"/>
                    <a:lstStyle/>
                    <a:p>
                      <a:pPr algn="l"/>
                      <a:r>
                        <a:rPr sz="800" b="0">
                          <a:solidFill>
                            <a:srgbClr val="2E2E2E"/>
                          </a:solidFill>
                          <a:latin typeface="Calibri"/>
                        </a:rPr>
                        <a:t>14.8%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800" b="0">
                          <a:solidFill>
                            <a:srgbClr val="2E2E2E"/>
                          </a:solidFill>
                          <a:latin typeface="Calibri"/>
                        </a:rPr>
                        <a:t>0.15</a:t>
                      </a:r>
                    </a:p>
                  </a:txBody>
                  <a:tcPr marL="85725" marR="38100" marT="19050" marB="19050" anchor="ctr">
                    <a:solidFill>
                      <a:srgbClr val="FFFFFF"/>
                    </a:solidFill>
                  </a:tcPr>
                </a:tc>
                <a:tc>
                  <a:txBody>
                    <a:bodyPr wrap="none"/>
                    <a:lstStyle/>
                    <a:p>
                      <a:pPr algn="l"/>
                      <a:r>
                        <a:rPr sz="800" b="0">
                          <a:solidFill>
                            <a:srgbClr val="2E2E2E"/>
                          </a:solidFill>
                          <a:latin typeface="Calibri"/>
                        </a:rPr>
                        <a:t>0.17</a:t>
                      </a:r>
                    </a:p>
                  </a:txBody>
                  <a:tcPr marL="85725" marR="38100" marT="19050" marB="19050" anchor="ctr">
                    <a:solidFill>
                      <a:srgbClr val="FFFFFF"/>
                    </a:solidFill>
                  </a:tcPr>
                </a:tc>
                <a:tc>
                  <a:txBody>
                    <a:bodyPr wrap="none"/>
                    <a:lstStyle/>
                    <a:p>
                      <a:pPr algn="l"/>
                      <a:r>
                        <a:rPr sz="800" b="0">
                          <a:solidFill>
                            <a:srgbClr val="2E2E2E"/>
                          </a:solidFill>
                          <a:latin typeface="Calibri"/>
                        </a:rPr>
                        <a:t>0.22</a:t>
                      </a:r>
                    </a:p>
                  </a:txBody>
                  <a:tcPr marL="85725" marR="38100" marT="19050" marB="19050" anchor="ctr">
                    <a:solidFill>
                      <a:srgbClr val="FFFFFF"/>
                    </a:solidFill>
                  </a:tcPr>
                </a:tc>
                <a:tc>
                  <a:txBody>
                    <a:bodyPr wrap="none"/>
                    <a:lstStyle/>
                    <a:p>
                      <a:pPr algn="l"/>
                      <a:r>
                        <a:rPr sz="800" b="0">
                          <a:solidFill>
                            <a:srgbClr val="2E2E2E"/>
                          </a:solidFill>
                          <a:latin typeface="Calibri"/>
                        </a:rPr>
                        <a:t>0.29</a:t>
                      </a:r>
                    </a:p>
                  </a:txBody>
                  <a:tcPr marL="85725" marR="38100" marT="19050" marB="19050" anchor="ctr">
                    <a:solidFill>
                      <a:srgbClr val="FFFFFF"/>
                    </a:solidFill>
                  </a:tcPr>
                </a:tc>
                <a:tc>
                  <a:txBody>
                    <a:bodyPr wrap="none"/>
                    <a:lstStyle/>
                    <a:p>
                      <a:pPr algn="l"/>
                      <a:r>
                        <a:rPr sz="800" b="0">
                          <a:solidFill>
                            <a:srgbClr val="2E2E2E"/>
                          </a:solidFill>
                          <a:latin typeface="Calibri"/>
                        </a:rPr>
                        <a:t>0.36</a:t>
                      </a:r>
                    </a:p>
                  </a:txBody>
                  <a:tcPr marL="85725" marR="38100" marT="19050" marB="19050" anchor="ctr">
                    <a:solidFill>
                      <a:srgbClr val="FFFFFF"/>
                    </a:solidFill>
                  </a:tcPr>
                </a:tc>
                <a:tc>
                  <a:txBody>
                    <a:bodyPr wrap="none"/>
                    <a:lstStyle/>
                    <a:p>
                      <a:pPr algn="l"/>
                      <a:r>
                        <a:rPr sz="800" b="0">
                          <a:solidFill>
                            <a:srgbClr val="2E2E2E"/>
                          </a:solidFill>
                          <a:latin typeface="Calibri"/>
                        </a:rPr>
                        <a:t>0.45</a:t>
                      </a:r>
                    </a:p>
                  </a:txBody>
                  <a:tcPr marL="85725" marR="38100" marT="19050" marB="19050" anchor="ctr">
                    <a:solidFill>
                      <a:srgbClr val="FFFFFF"/>
                    </a:solidFill>
                  </a:tcPr>
                </a:tc>
                <a:tc>
                  <a:txBody>
                    <a:bodyPr wrap="none"/>
                    <a:lstStyle/>
                    <a:p>
                      <a:pPr algn="l"/>
                      <a:r>
                        <a:rPr sz="800" b="0">
                          <a:solidFill>
                            <a:srgbClr val="2E2E2E"/>
                          </a:solidFill>
                          <a:latin typeface="Calibri"/>
                        </a:rPr>
                        <a:t>0.55</a:t>
                      </a:r>
                    </a:p>
                  </a:txBody>
                  <a:tcPr marL="85725" marR="38100" marT="19050" marB="19050" anchor="ctr">
                    <a:solidFill>
                      <a:srgbClr val="FFFFFF"/>
                    </a:solidFill>
                  </a:tcPr>
                </a:tc>
                <a:tc>
                  <a:txBody>
                    <a:bodyPr wrap="none"/>
                    <a:lstStyle/>
                    <a:p>
                      <a:pPr algn="l"/>
                      <a:r>
                        <a:rPr sz="800" b="0">
                          <a:solidFill>
                            <a:srgbClr val="2E2E2E"/>
                          </a:solidFill>
                          <a:latin typeface="Calibri"/>
                        </a:rPr>
                        <a:t>0.65</a:t>
                      </a:r>
                    </a:p>
                  </a:txBody>
                  <a:tcPr marL="85725" marR="38100" marT="19050" marB="19050" anchor="ctr">
                    <a:solidFill>
                      <a:srgbClr val="FFFFFF"/>
                    </a:solidFill>
                  </a:tcPr>
                </a:tc>
                <a:tc>
                  <a:txBody>
                    <a:bodyPr wrap="none"/>
                    <a:lstStyle/>
                    <a:p>
                      <a:pPr algn="l"/>
                      <a:r>
                        <a:rPr sz="800" b="0">
                          <a:solidFill>
                            <a:srgbClr val="2E2E2E"/>
                          </a:solidFill>
                          <a:latin typeface="Calibri"/>
                        </a:rPr>
                        <a:t>0.76</a:t>
                      </a:r>
                    </a:p>
                  </a:txBody>
                  <a:tcPr marL="85725" marR="38100" marT="19050" marB="19050" anchor="ctr">
                    <a:solidFill>
                      <a:srgbClr val="FFFFFF"/>
                    </a:solidFill>
                  </a:tcPr>
                </a:tc>
                <a:tc>
                  <a:txBody>
                    <a:bodyPr wrap="none"/>
                    <a:lstStyle/>
                    <a:p>
                      <a:pPr algn="l"/>
                      <a:r>
                        <a:rPr sz="800" b="0">
                          <a:solidFill>
                            <a:srgbClr val="2E2E2E"/>
                          </a:solidFill>
                          <a:latin typeface="Calibri"/>
                        </a:rPr>
                        <a:t>0.88</a:t>
                      </a:r>
                    </a:p>
                  </a:txBody>
                  <a:tcPr marL="85725" marR="38100" marT="19050" marB="19050" anchor="ctr">
                    <a:solidFill>
                      <a:srgbClr val="FFFFFF"/>
                    </a:solidFill>
                  </a:tcPr>
                </a:tc>
                <a:tc>
                  <a:txBody>
                    <a:bodyPr wrap="none"/>
                    <a:lstStyle/>
                    <a:p>
                      <a:pPr algn="l"/>
                      <a:r>
                        <a:rPr sz="800" b="0">
                          <a:solidFill>
                            <a:srgbClr val="2E2E2E"/>
                          </a:solidFill>
                          <a:latin typeface="Calibri"/>
                        </a:rPr>
                        <a:t>1.00</a:t>
                      </a:r>
                    </a:p>
                  </a:txBody>
                  <a:tcPr marL="85725" marR="38100" marT="19050" marB="19050" anchor="ctr">
                    <a:solidFill>
                      <a:srgbClr val="FFFFFF"/>
                    </a:solidFill>
                  </a:tcPr>
                </a:tc>
                <a:tc>
                  <a:txBody>
                    <a:bodyPr wrap="none"/>
                    <a:lstStyle/>
                    <a:p>
                      <a:pPr algn="l"/>
                      <a:r>
                        <a:rPr sz="800" b="0">
                          <a:solidFill>
                            <a:srgbClr val="2E2E2E"/>
                          </a:solidFill>
                          <a:latin typeface="Calibri"/>
                        </a:rPr>
                        <a:t>1.14</a:t>
                      </a:r>
                    </a:p>
                  </a:txBody>
                  <a:tcPr marL="85725" marR="38100" marT="19050" marB="19050" anchor="ctr">
                    <a:solidFill>
                      <a:srgbClr val="FFFFFF"/>
                    </a:solidFill>
                  </a:tcPr>
                </a:tc>
                <a:tc>
                  <a:txBody>
                    <a:bodyPr wrap="none"/>
                    <a:lstStyle/>
                    <a:p>
                      <a:pPr algn="l"/>
                      <a:r>
                        <a:rPr sz="800" b="0">
                          <a:solidFill>
                            <a:srgbClr val="2E2E2E"/>
                          </a:solidFill>
                          <a:latin typeface="Calibri"/>
                        </a:rPr>
                        <a:t>1.28</a:t>
                      </a:r>
                    </a:p>
                  </a:txBody>
                  <a:tcPr marL="85725" marR="38100" marT="19050" marB="19050" anchor="ctr">
                    <a:solidFill>
                      <a:srgbClr val="FFFFFF"/>
                    </a:solidFill>
                  </a:tcPr>
                </a:tc>
                <a:tc>
                  <a:txBody>
                    <a:bodyPr wrap="none"/>
                    <a:lstStyle/>
                    <a:p>
                      <a:pPr algn="l"/>
                      <a:r>
                        <a:rPr sz="800" b="0">
                          <a:solidFill>
                            <a:srgbClr val="2E2E2E"/>
                          </a:solidFill>
                          <a:latin typeface="Calibri"/>
                        </a:rPr>
                        <a:t>1.43</a:t>
                      </a:r>
                    </a:p>
                  </a:txBody>
                  <a:tcPr marL="85725" marR="38100" marT="19050" marB="19050" anchor="ctr">
                    <a:solidFill>
                      <a:srgbClr val="FFFFFF"/>
                    </a:solidFill>
                  </a:tcPr>
                </a:tc>
                <a:tc>
                  <a:txBody>
                    <a:bodyPr wrap="none"/>
                    <a:lstStyle/>
                    <a:p>
                      <a:pPr algn="l"/>
                      <a:r>
                        <a:rPr sz="800" b="0">
                          <a:solidFill>
                            <a:srgbClr val="2E2E2E"/>
                          </a:solidFill>
                          <a:latin typeface="Calibri"/>
                        </a:rPr>
                        <a:t>1.60</a:t>
                      </a:r>
                    </a:p>
                  </a:txBody>
                  <a:tcPr marL="85725" marR="38100" marT="19050" marB="19050" anchor="ctr">
                    <a:solidFill>
                      <a:srgbClr val="FFFFFF"/>
                    </a:solidFill>
                  </a:tcPr>
                </a:tc>
                <a:tc>
                  <a:txBody>
                    <a:bodyPr wrap="none"/>
                    <a:lstStyle/>
                    <a:p>
                      <a:pPr algn="l"/>
                      <a:r>
                        <a:rPr sz="800" b="0">
                          <a:solidFill>
                            <a:srgbClr val="2E2E2E"/>
                          </a:solidFill>
                          <a:latin typeface="Calibri"/>
                        </a:rPr>
                        <a:t>1.77</a:t>
                      </a:r>
                    </a:p>
                  </a:txBody>
                  <a:tcPr marL="85725" marR="38100" marT="19050" marB="19050" anchor="ctr">
                    <a:solidFill>
                      <a:srgbClr val="FFFFFF"/>
                    </a:solidFill>
                  </a:tcPr>
                </a:tc>
                <a:tc>
                  <a:txBody>
                    <a:bodyPr wrap="none"/>
                    <a:lstStyle/>
                    <a:p>
                      <a:pPr algn="l"/>
                      <a:r>
                        <a:rPr sz="800" b="0">
                          <a:solidFill>
                            <a:srgbClr val="2E2E2E"/>
                          </a:solidFill>
                          <a:latin typeface="Calibri"/>
                        </a:rPr>
                        <a:t>14.6%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800" b="0">
                          <a:solidFill>
                            <a:srgbClr val="2E2E2E"/>
                          </a:solidFill>
                          <a:latin typeface="Calibri"/>
                        </a:rPr>
                        <a:t>0.17</a:t>
                      </a:r>
                    </a:p>
                  </a:txBody>
                  <a:tcPr marL="85725" marR="38100" marT="19050" marB="19050" anchor="ctr">
                    <a:solidFill>
                      <a:srgbClr val="F5F8FA"/>
                    </a:solidFill>
                  </a:tcPr>
                </a:tc>
                <a:tc>
                  <a:txBody>
                    <a:bodyPr wrap="none"/>
                    <a:lstStyle/>
                    <a:p>
                      <a:pPr algn="l"/>
                      <a:r>
                        <a:rPr sz="800" b="0">
                          <a:solidFill>
                            <a:srgbClr val="2E2E2E"/>
                          </a:solidFill>
                          <a:latin typeface="Calibri"/>
                        </a:rPr>
                        <a:t>0.19</a:t>
                      </a:r>
                    </a:p>
                  </a:txBody>
                  <a:tcPr marL="85725" marR="38100" marT="19050" marB="19050" anchor="ctr">
                    <a:solidFill>
                      <a:srgbClr val="F5F8FA"/>
                    </a:solidFill>
                  </a:tcPr>
                </a:tc>
                <a:tc>
                  <a:txBody>
                    <a:bodyPr wrap="none"/>
                    <a:lstStyle/>
                    <a:p>
                      <a:pPr algn="l"/>
                      <a:r>
                        <a:rPr sz="800" b="0">
                          <a:solidFill>
                            <a:srgbClr val="2E2E2E"/>
                          </a:solidFill>
                          <a:latin typeface="Calibri"/>
                        </a:rPr>
                        <a:t>0.24</a:t>
                      </a:r>
                    </a:p>
                  </a:txBody>
                  <a:tcPr marL="85725" marR="38100" marT="19050" marB="19050" anchor="ctr">
                    <a:solidFill>
                      <a:srgbClr val="F5F8FA"/>
                    </a:solidFill>
                  </a:tcPr>
                </a:tc>
                <a:tc>
                  <a:txBody>
                    <a:bodyPr wrap="none"/>
                    <a:lstStyle/>
                    <a:p>
                      <a:pPr algn="l"/>
                      <a:r>
                        <a:rPr sz="800" b="0">
                          <a:solidFill>
                            <a:srgbClr val="2E2E2E"/>
                          </a:solidFill>
                          <a:latin typeface="Calibri"/>
                        </a:rPr>
                        <a:t>0.29</a:t>
                      </a:r>
                    </a:p>
                  </a:txBody>
                  <a:tcPr marL="85725" marR="38100" marT="19050" marB="19050" anchor="ctr">
                    <a:solidFill>
                      <a:srgbClr val="F5F8FA"/>
                    </a:solidFill>
                  </a:tcPr>
                </a:tc>
                <a:tc>
                  <a:txBody>
                    <a:bodyPr wrap="none"/>
                    <a:lstStyle/>
                    <a:p>
                      <a:pPr algn="l"/>
                      <a:r>
                        <a:rPr sz="800" b="0">
                          <a:solidFill>
                            <a:srgbClr val="2E2E2E"/>
                          </a:solidFill>
                          <a:latin typeface="Calibri"/>
                        </a:rPr>
                        <a:t>0.36</a:t>
                      </a:r>
                    </a:p>
                  </a:txBody>
                  <a:tcPr marL="85725" marR="38100" marT="19050" marB="19050" anchor="ctr">
                    <a:solidFill>
                      <a:srgbClr val="F5F8FA"/>
                    </a:solidFill>
                  </a:tcPr>
                </a:tc>
                <a:tc>
                  <a:txBody>
                    <a:bodyPr wrap="none"/>
                    <a:lstStyle/>
                    <a:p>
                      <a:pPr algn="l"/>
                      <a:r>
                        <a:rPr sz="800" b="0">
                          <a:solidFill>
                            <a:srgbClr val="2E2E2E"/>
                          </a:solidFill>
                          <a:latin typeface="Calibri"/>
                        </a:rPr>
                        <a:t>0.43</a:t>
                      </a:r>
                    </a:p>
                  </a:txBody>
                  <a:tcPr marL="85725" marR="38100" marT="19050" marB="19050" anchor="ctr">
                    <a:solidFill>
                      <a:srgbClr val="F5F8FA"/>
                    </a:solidFill>
                  </a:tcPr>
                </a:tc>
                <a:tc>
                  <a:txBody>
                    <a:bodyPr wrap="none"/>
                    <a:lstStyle/>
                    <a:p>
                      <a:pPr algn="l"/>
                      <a:r>
                        <a:rPr sz="800" b="0">
                          <a:solidFill>
                            <a:srgbClr val="2E2E2E"/>
                          </a:solidFill>
                          <a:latin typeface="Calibri"/>
                        </a:rPr>
                        <a:t>0.50</a:t>
                      </a:r>
                    </a:p>
                  </a:txBody>
                  <a:tcPr marL="85725" marR="38100" marT="19050" marB="19050" anchor="ctr">
                    <a:solidFill>
                      <a:srgbClr val="F5F8FA"/>
                    </a:solidFill>
                  </a:tcPr>
                </a:tc>
                <a:tc>
                  <a:txBody>
                    <a:bodyPr wrap="none"/>
                    <a:lstStyle/>
                    <a:p>
                      <a:pPr algn="l"/>
                      <a:r>
                        <a:rPr sz="800" b="0">
                          <a:solidFill>
                            <a:srgbClr val="2E2E2E"/>
                          </a:solidFill>
                          <a:latin typeface="Calibri"/>
                        </a:rPr>
                        <a:t>0.57</a:t>
                      </a:r>
                    </a:p>
                  </a:txBody>
                  <a:tcPr marL="85725" marR="38100" marT="19050" marB="19050" anchor="ctr">
                    <a:solidFill>
                      <a:srgbClr val="F5F8FA"/>
                    </a:solidFill>
                  </a:tcPr>
                </a:tc>
                <a:tc>
                  <a:txBody>
                    <a:bodyPr wrap="none"/>
                    <a:lstStyle/>
                    <a:p>
                      <a:pPr algn="l"/>
                      <a:r>
                        <a:rPr sz="800" b="0">
                          <a:solidFill>
                            <a:srgbClr val="2E2E2E"/>
                          </a:solidFill>
                          <a:latin typeface="Calibri"/>
                        </a:rPr>
                        <a:t>0.64</a:t>
                      </a:r>
                    </a:p>
                  </a:txBody>
                  <a:tcPr marL="85725" marR="38100" marT="19050" marB="19050" anchor="ctr">
                    <a:solidFill>
                      <a:srgbClr val="F5F8FA"/>
                    </a:solidFill>
                  </a:tcPr>
                </a:tc>
                <a:tc>
                  <a:txBody>
                    <a:bodyPr wrap="none"/>
                    <a:lstStyle/>
                    <a:p>
                      <a:pPr algn="l"/>
                      <a:r>
                        <a:rPr sz="800" b="0">
                          <a:solidFill>
                            <a:srgbClr val="2E2E2E"/>
                          </a:solidFill>
                          <a:latin typeface="Calibri"/>
                        </a:rPr>
                        <a:t>0.71</a:t>
                      </a:r>
                    </a:p>
                  </a:txBody>
                  <a:tcPr marL="85725" marR="38100" marT="19050" marB="19050" anchor="ctr">
                    <a:solidFill>
                      <a:srgbClr val="F5F8FA"/>
                    </a:solidFill>
                  </a:tcPr>
                </a:tc>
                <a:tc>
                  <a:txBody>
                    <a:bodyPr wrap="none"/>
                    <a:lstStyle/>
                    <a:p>
                      <a:pPr algn="l"/>
                      <a:r>
                        <a:rPr sz="800" b="0">
                          <a:solidFill>
                            <a:srgbClr val="2E2E2E"/>
                          </a:solidFill>
                          <a:latin typeface="Calibri"/>
                        </a:rPr>
                        <a:t>0.78</a:t>
                      </a:r>
                    </a:p>
                  </a:txBody>
                  <a:tcPr marL="85725" marR="38100" marT="19050" marB="19050" anchor="ctr">
                    <a:solidFill>
                      <a:srgbClr val="F5F8FA"/>
                    </a:solidFill>
                  </a:tcPr>
                </a:tc>
                <a:tc>
                  <a:txBody>
                    <a:bodyPr wrap="none"/>
                    <a:lstStyle/>
                    <a:p>
                      <a:pPr algn="l"/>
                      <a:r>
                        <a:rPr sz="800" b="0">
                          <a:solidFill>
                            <a:srgbClr val="2E2E2E"/>
                          </a:solidFill>
                          <a:latin typeface="Calibri"/>
                        </a:rPr>
                        <a:t>0.85</a:t>
                      </a:r>
                    </a:p>
                  </a:txBody>
                  <a:tcPr marL="85725" marR="38100" marT="19050" marB="19050" anchor="ctr">
                    <a:solidFill>
                      <a:srgbClr val="F5F8FA"/>
                    </a:solidFill>
                  </a:tcPr>
                </a:tc>
                <a:tc>
                  <a:txBody>
                    <a:bodyPr wrap="none"/>
                    <a:lstStyle/>
                    <a:p>
                      <a:pPr algn="l"/>
                      <a:r>
                        <a:rPr sz="800" b="0">
                          <a:solidFill>
                            <a:srgbClr val="2E2E2E"/>
                          </a:solidFill>
                          <a:latin typeface="Calibri"/>
                        </a:rPr>
                        <a:t>0.92</a:t>
                      </a:r>
                    </a:p>
                  </a:txBody>
                  <a:tcPr marL="85725" marR="38100" marT="19050" marB="19050" anchor="ctr">
                    <a:solidFill>
                      <a:srgbClr val="F5F8FA"/>
                    </a:solidFill>
                  </a:tcPr>
                </a:tc>
                <a:tc>
                  <a:txBody>
                    <a:bodyPr wrap="none"/>
                    <a:lstStyle/>
                    <a:p>
                      <a:pPr algn="l"/>
                      <a:r>
                        <a:rPr sz="800" b="0">
                          <a:solidFill>
                            <a:srgbClr val="2E2E2E"/>
                          </a:solidFill>
                          <a:latin typeface="Calibri"/>
                        </a:rPr>
                        <a:t>0.99</a:t>
                      </a:r>
                    </a:p>
                  </a:txBody>
                  <a:tcPr marL="85725" marR="38100" marT="19050" marB="19050" anchor="ctr">
                    <a:solidFill>
                      <a:srgbClr val="F5F8FA"/>
                    </a:solidFill>
                  </a:tcPr>
                </a:tc>
                <a:tc>
                  <a:txBody>
                    <a:bodyPr wrap="none"/>
                    <a:lstStyle/>
                    <a:p>
                      <a:pPr algn="l"/>
                      <a:r>
                        <a:rPr sz="800" b="0">
                          <a:solidFill>
                            <a:srgbClr val="2E2E2E"/>
                          </a:solidFill>
                          <a:latin typeface="Calibri"/>
                        </a:rPr>
                        <a:t>1.06</a:t>
                      </a:r>
                    </a:p>
                  </a:txBody>
                  <a:tcPr marL="85725" marR="38100" marT="19050" marB="19050" anchor="ctr">
                    <a:solidFill>
                      <a:srgbClr val="F5F8FA"/>
                    </a:solidFill>
                  </a:tcPr>
                </a:tc>
                <a:tc>
                  <a:txBody>
                    <a:bodyPr wrap="none"/>
                    <a:lstStyle/>
                    <a:p>
                      <a:pPr algn="l"/>
                      <a:r>
                        <a:rPr sz="800" b="0">
                          <a:solidFill>
                            <a:srgbClr val="2E2E2E"/>
                          </a:solidFill>
                          <a:latin typeface="Calibri"/>
                        </a:rPr>
                        <a:t>1.13</a:t>
                      </a:r>
                    </a:p>
                  </a:txBody>
                  <a:tcPr marL="85725" marR="38100" marT="19050" marB="19050" anchor="ctr">
                    <a:solidFill>
                      <a:srgbClr val="F5F8FA"/>
                    </a:solidFill>
                  </a:tcPr>
                </a:tc>
                <a:tc>
                  <a:txBody>
                    <a:bodyPr wrap="none"/>
                    <a:lstStyle/>
                    <a:p>
                      <a:pPr algn="l"/>
                      <a:r>
                        <a:rPr sz="800" b="0">
                          <a:solidFill>
                            <a:srgbClr val="2E2E2E"/>
                          </a:solidFill>
                          <a:latin typeface="Calibri"/>
                        </a:rPr>
                        <a:t>10.2%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Idacio</a:t>
                      </a:r>
                    </a:p>
                  </a:txBody>
                  <a:tcPr marL="85725" marR="38100" marT="19050" marB="19050" anchor="ctr">
                    <a:solidFill>
                      <a:srgbClr val="FFFFFF"/>
                    </a:solidFill>
                  </a:tcPr>
                </a:tc>
                <a:tc>
                  <a:txBody>
                    <a:bodyPr wrap="none"/>
                    <a:lstStyle/>
                    <a:p>
                      <a:pPr algn="l"/>
                      <a:r>
                        <a:rPr sz="800" b="0">
                          <a:solidFill>
                            <a:srgbClr val="2E2E2E"/>
                          </a:solidFill>
                          <a:latin typeface="Calibri"/>
                        </a:rPr>
                        <a:t>0.08</a:t>
                      </a:r>
                    </a:p>
                  </a:txBody>
                  <a:tcPr marL="85725" marR="38100" marT="19050" marB="19050" anchor="ctr">
                    <a:solidFill>
                      <a:srgbClr val="FFFFFF"/>
                    </a:solidFill>
                  </a:tcPr>
                </a:tc>
                <a:tc>
                  <a:txBody>
                    <a:bodyPr wrap="none"/>
                    <a:lstStyle/>
                    <a:p>
                      <a:pPr algn="l"/>
                      <a:r>
                        <a:rPr sz="800" b="0">
                          <a:solidFill>
                            <a:srgbClr val="2E2E2E"/>
                          </a:solidFill>
                          <a:latin typeface="Calibri"/>
                        </a:rPr>
                        <a:t>0.09</a:t>
                      </a:r>
                    </a:p>
                  </a:txBody>
                  <a:tcPr marL="85725" marR="38100" marT="19050" marB="19050" anchor="ctr">
                    <a:solidFill>
                      <a:srgbClr val="FFFFFF"/>
                    </a:solidFill>
                  </a:tcPr>
                </a:tc>
                <a:tc>
                  <a:txBody>
                    <a:bodyPr wrap="none"/>
                    <a:lstStyle/>
                    <a:p>
                      <a:pPr algn="l"/>
                      <a:r>
                        <a:rPr sz="800" b="0">
                          <a:solidFill>
                            <a:srgbClr val="2E2E2E"/>
                          </a:solidFill>
                          <a:latin typeface="Calibri"/>
                        </a:rPr>
                        <a:t>0.11</a:t>
                      </a:r>
                    </a:p>
                  </a:txBody>
                  <a:tcPr marL="85725" marR="38100" marT="19050" marB="19050" anchor="ctr">
                    <a:solidFill>
                      <a:srgbClr val="FFFFFF"/>
                    </a:solidFill>
                  </a:tcPr>
                </a:tc>
                <a:tc>
                  <a:txBody>
                    <a:bodyPr wrap="none"/>
                    <a:lstStyle/>
                    <a:p>
                      <a:pPr algn="l"/>
                      <a:r>
                        <a:rPr sz="800" b="0">
                          <a:solidFill>
                            <a:srgbClr val="2E2E2E"/>
                          </a:solidFill>
                          <a:latin typeface="Calibri"/>
                        </a:rPr>
                        <a:t>0.14</a:t>
                      </a:r>
                    </a:p>
                  </a:txBody>
                  <a:tcPr marL="85725" marR="38100" marT="19050" marB="19050" anchor="ctr">
                    <a:solidFill>
                      <a:srgbClr val="FFFFFF"/>
                    </a:solidFill>
                  </a:tcPr>
                </a:tc>
                <a:tc>
                  <a:txBody>
                    <a:bodyPr wrap="none"/>
                    <a:lstStyle/>
                    <a:p>
                      <a:pPr algn="l"/>
                      <a:r>
                        <a:rPr sz="800" b="0">
                          <a:solidFill>
                            <a:srgbClr val="2E2E2E"/>
                          </a:solidFill>
                          <a:latin typeface="Calibri"/>
                        </a:rPr>
                        <a:t>0.18</a:t>
                      </a:r>
                    </a:p>
                  </a:txBody>
                  <a:tcPr marL="85725" marR="38100" marT="19050" marB="19050" anchor="ctr">
                    <a:solidFill>
                      <a:srgbClr val="FFFFFF"/>
                    </a:solidFill>
                  </a:tcPr>
                </a:tc>
                <a:tc>
                  <a:txBody>
                    <a:bodyPr wrap="none"/>
                    <a:lstStyle/>
                    <a:p>
                      <a:pPr algn="l"/>
                      <a:r>
                        <a:rPr sz="800" b="0">
                          <a:solidFill>
                            <a:srgbClr val="2E2E2E"/>
                          </a:solidFill>
                          <a:latin typeface="Calibri"/>
                        </a:rPr>
                        <a:t>0.21</a:t>
                      </a:r>
                    </a:p>
                  </a:txBody>
                  <a:tcPr marL="85725" marR="38100" marT="19050" marB="19050" anchor="ctr">
                    <a:solidFill>
                      <a:srgbClr val="FFFFFF"/>
                    </a:solidFill>
                  </a:tcPr>
                </a:tc>
                <a:tc>
                  <a:txBody>
                    <a:bodyPr wrap="none"/>
                    <a:lstStyle/>
                    <a:p>
                      <a:pPr algn="l"/>
                      <a:r>
                        <a:rPr sz="800" b="0">
                          <a:solidFill>
                            <a:srgbClr val="2E2E2E"/>
                          </a:solidFill>
                          <a:latin typeface="Calibri"/>
                        </a:rPr>
                        <a:t>0.25</a:t>
                      </a:r>
                    </a:p>
                  </a:txBody>
                  <a:tcPr marL="85725" marR="38100" marT="19050" marB="19050" anchor="ctr">
                    <a:solidFill>
                      <a:srgbClr val="FFFFFF"/>
                    </a:solidFill>
                  </a:tcPr>
                </a:tc>
                <a:tc>
                  <a:txBody>
                    <a:bodyPr wrap="none"/>
                    <a:lstStyle/>
                    <a:p>
                      <a:pPr algn="l"/>
                      <a:r>
                        <a:rPr sz="800" b="0">
                          <a:solidFill>
                            <a:srgbClr val="2E2E2E"/>
                          </a:solidFill>
                          <a:latin typeface="Calibri"/>
                        </a:rPr>
                        <a:t>0.29</a:t>
                      </a:r>
                    </a:p>
                  </a:txBody>
                  <a:tcPr marL="85725" marR="38100" marT="19050" marB="19050" anchor="ctr">
                    <a:solidFill>
                      <a:srgbClr val="FFFFFF"/>
                    </a:solidFill>
                  </a:tcPr>
                </a:tc>
                <a:tc>
                  <a:txBody>
                    <a:bodyPr wrap="none"/>
                    <a:lstStyle/>
                    <a:p>
                      <a:pPr algn="l"/>
                      <a:r>
                        <a:rPr sz="800" b="0">
                          <a:solidFill>
                            <a:srgbClr val="2E2E2E"/>
                          </a:solidFill>
                          <a:latin typeface="Calibri"/>
                        </a:rPr>
                        <a:t>0.33</a:t>
                      </a:r>
                    </a:p>
                  </a:txBody>
                  <a:tcPr marL="85725" marR="38100" marT="19050" marB="19050" anchor="ctr">
                    <a:solidFill>
                      <a:srgbClr val="FFFFFF"/>
                    </a:solidFill>
                  </a:tcPr>
                </a:tc>
                <a:tc>
                  <a:txBody>
                    <a:bodyPr wrap="none"/>
                    <a:lstStyle/>
                    <a:p>
                      <a:pPr algn="l"/>
                      <a:r>
                        <a:rPr sz="800" b="0">
                          <a:solidFill>
                            <a:srgbClr val="2E2E2E"/>
                          </a:solidFill>
                          <a:latin typeface="Calibri"/>
                        </a:rPr>
                        <a:t>0.37</a:t>
                      </a:r>
                    </a:p>
                  </a:txBody>
                  <a:tcPr marL="85725" marR="38100" marT="19050" marB="19050" anchor="ctr">
                    <a:solidFill>
                      <a:srgbClr val="FFFFFF"/>
                    </a:solidFill>
                  </a:tcPr>
                </a:tc>
                <a:tc>
                  <a:txBody>
                    <a:bodyPr wrap="none"/>
                    <a:lstStyle/>
                    <a:p>
                      <a:pPr algn="l"/>
                      <a:r>
                        <a:rPr sz="800" b="0">
                          <a:solidFill>
                            <a:srgbClr val="2E2E2E"/>
                          </a:solidFill>
                          <a:latin typeface="Calibri"/>
                        </a:rPr>
                        <a:t>0.41</a:t>
                      </a:r>
                    </a:p>
                  </a:txBody>
                  <a:tcPr marL="85725" marR="38100" marT="19050" marB="19050" anchor="ctr">
                    <a:solidFill>
                      <a:srgbClr val="FFFFFF"/>
                    </a:solidFill>
                  </a:tcPr>
                </a:tc>
                <a:tc>
                  <a:txBody>
                    <a:bodyPr wrap="none"/>
                    <a:lstStyle/>
                    <a:p>
                      <a:pPr algn="l"/>
                      <a:r>
                        <a:rPr sz="800" b="0">
                          <a:solidFill>
                            <a:srgbClr val="2E2E2E"/>
                          </a:solidFill>
                          <a:latin typeface="Calibri"/>
                        </a:rPr>
                        <a:t>0.45</a:t>
                      </a:r>
                    </a:p>
                  </a:txBody>
                  <a:tcPr marL="85725" marR="38100" marT="19050" marB="19050" anchor="ctr">
                    <a:solidFill>
                      <a:srgbClr val="FFFFFF"/>
                    </a:solidFill>
                  </a:tcPr>
                </a:tc>
                <a:tc>
                  <a:txBody>
                    <a:bodyPr wrap="none"/>
                    <a:lstStyle/>
                    <a:p>
                      <a:pPr algn="l"/>
                      <a:r>
                        <a:rPr sz="800" b="0">
                          <a:solidFill>
                            <a:srgbClr val="2E2E2E"/>
                          </a:solidFill>
                          <a:latin typeface="Calibri"/>
                        </a:rPr>
                        <a:t>0.49</a:t>
                      </a:r>
                    </a:p>
                  </a:txBody>
                  <a:tcPr marL="85725" marR="38100" marT="19050" marB="19050" anchor="ctr">
                    <a:solidFill>
                      <a:srgbClr val="FFFFFF"/>
                    </a:solidFill>
                  </a:tcPr>
                </a:tc>
                <a:tc>
                  <a:txBody>
                    <a:bodyPr wrap="none"/>
                    <a:lstStyle/>
                    <a:p>
                      <a:pPr algn="l"/>
                      <a:r>
                        <a:rPr sz="800" b="0">
                          <a:solidFill>
                            <a:srgbClr val="2E2E2E"/>
                          </a:solidFill>
                          <a:latin typeface="Calibri"/>
                        </a:rPr>
                        <a:t>0.54</a:t>
                      </a:r>
                    </a:p>
                  </a:txBody>
                  <a:tcPr marL="85725" marR="38100" marT="19050" marB="19050" anchor="ctr">
                    <a:solidFill>
                      <a:srgbClr val="FFFFFF"/>
                    </a:solidFill>
                  </a:tcPr>
                </a:tc>
                <a:tc>
                  <a:txBody>
                    <a:bodyPr wrap="none"/>
                    <a:lstStyle/>
                    <a:p>
                      <a:pPr algn="l"/>
                      <a:r>
                        <a:rPr sz="800" b="0">
                          <a:solidFill>
                            <a:srgbClr val="2E2E2E"/>
                          </a:solidFill>
                          <a:latin typeface="Calibri"/>
                        </a:rPr>
                        <a:t>0.58</a:t>
                      </a:r>
                    </a:p>
                  </a:txBody>
                  <a:tcPr marL="85725" marR="38100" marT="19050" marB="19050" anchor="ctr">
                    <a:solidFill>
                      <a:srgbClr val="FFFFFF"/>
                    </a:solidFill>
                  </a:tcPr>
                </a:tc>
                <a:tc>
                  <a:txBody>
                    <a:bodyPr wrap="none"/>
                    <a:lstStyle/>
                    <a:p>
                      <a:pPr algn="l"/>
                      <a:r>
                        <a:rPr sz="800" b="0">
                          <a:solidFill>
                            <a:srgbClr val="2E2E2E"/>
                          </a:solidFill>
                          <a:latin typeface="Calibri"/>
                        </a:rPr>
                        <a:t>0.62</a:t>
                      </a:r>
                    </a:p>
                  </a:txBody>
                  <a:tcPr marL="85725" marR="38100" marT="19050" marB="19050" anchor="ctr">
                    <a:solidFill>
                      <a:srgbClr val="FFFFFF"/>
                    </a:solidFill>
                  </a:tcPr>
                </a:tc>
                <a:tc>
                  <a:txBody>
                    <a:bodyPr wrap="none"/>
                    <a:lstStyle/>
                    <a:p>
                      <a:pPr algn="l"/>
                      <a:r>
                        <a:rPr sz="800" b="0">
                          <a:solidFill>
                            <a:srgbClr val="2E2E2E"/>
                          </a:solidFill>
                          <a:latin typeface="Calibri"/>
                        </a:rPr>
                        <a:t>11.3%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Hulio</a:t>
                      </a:r>
                    </a:p>
                  </a:txBody>
                  <a:tcPr marL="85725" marR="38100" marT="19050" marB="19050" anchor="ctr">
                    <a:solidFill>
                      <a:srgbClr val="F5F8FA"/>
                    </a:solidFill>
                  </a:tcPr>
                </a:tc>
                <a:tc>
                  <a:txBody>
                    <a:bodyPr wrap="none"/>
                    <a:lstStyle/>
                    <a:p>
                      <a:pPr algn="l"/>
                      <a:r>
                        <a:rPr sz="800" b="0">
                          <a:solidFill>
                            <a:srgbClr val="2E2E2E"/>
                          </a:solidFill>
                          <a:latin typeface="Calibri"/>
                        </a:rPr>
                        <a:t>0.12</a:t>
                      </a:r>
                    </a:p>
                  </a:txBody>
                  <a:tcPr marL="85725" marR="38100" marT="19050" marB="19050" anchor="ctr">
                    <a:solidFill>
                      <a:srgbClr val="F5F8FA"/>
                    </a:solidFill>
                  </a:tcPr>
                </a:tc>
                <a:tc>
                  <a:txBody>
                    <a:bodyPr wrap="none"/>
                    <a:lstStyle/>
                    <a:p>
                      <a:pPr algn="l"/>
                      <a:r>
                        <a:rPr sz="800" b="0">
                          <a:solidFill>
                            <a:srgbClr val="2E2E2E"/>
                          </a:solidFill>
                          <a:latin typeface="Calibri"/>
                        </a:rPr>
                        <a:t>0.14</a:t>
                      </a:r>
                    </a:p>
                  </a:txBody>
                  <a:tcPr marL="85725" marR="38100" marT="19050" marB="19050" anchor="ctr">
                    <a:solidFill>
                      <a:srgbClr val="F5F8FA"/>
                    </a:solidFill>
                  </a:tcPr>
                </a:tc>
                <a:tc>
                  <a:txBody>
                    <a:bodyPr wrap="none"/>
                    <a:lstStyle/>
                    <a:p>
                      <a:pPr algn="l"/>
                      <a:r>
                        <a:rPr sz="800" b="0">
                          <a:solidFill>
                            <a:srgbClr val="2E2E2E"/>
                          </a:solidFill>
                          <a:latin typeface="Calibri"/>
                        </a:rPr>
                        <a:t>0.17</a:t>
                      </a:r>
                    </a:p>
                  </a:txBody>
                  <a:tcPr marL="85725" marR="38100" marT="19050" marB="19050" anchor="ctr">
                    <a:solidFill>
                      <a:srgbClr val="F5F8FA"/>
                    </a:solidFill>
                  </a:tcPr>
                </a:tc>
                <a:tc>
                  <a:txBody>
                    <a:bodyPr wrap="none"/>
                    <a:lstStyle/>
                    <a:p>
                      <a:pPr algn="l"/>
                      <a:r>
                        <a:rPr sz="800" b="0">
                          <a:solidFill>
                            <a:srgbClr val="2E2E2E"/>
                          </a:solidFill>
                          <a:latin typeface="Calibri"/>
                        </a:rPr>
                        <a:t>0.21</a:t>
                      </a:r>
                    </a:p>
                  </a:txBody>
                  <a:tcPr marL="85725" marR="38100" marT="19050" marB="19050" anchor="ctr">
                    <a:solidFill>
                      <a:srgbClr val="F5F8FA"/>
                    </a:solidFill>
                  </a:tcPr>
                </a:tc>
                <a:tc>
                  <a:txBody>
                    <a:bodyPr wrap="none"/>
                    <a:lstStyle/>
                    <a:p>
                      <a:pPr algn="l"/>
                      <a:r>
                        <a:rPr sz="800" b="0">
                          <a:solidFill>
                            <a:srgbClr val="2E2E2E"/>
                          </a:solidFill>
                          <a:latin typeface="Calibri"/>
                        </a:rPr>
                        <a:t>0.26</a:t>
                      </a:r>
                    </a:p>
                  </a:txBody>
                  <a:tcPr marL="85725" marR="38100" marT="19050" marB="19050" anchor="ctr">
                    <a:solidFill>
                      <a:srgbClr val="F5F8FA"/>
                    </a:solidFill>
                  </a:tcPr>
                </a:tc>
                <a:tc>
                  <a:txBody>
                    <a:bodyPr wrap="none"/>
                    <a:lstStyle/>
                    <a:p>
                      <a:pPr algn="l"/>
                      <a:r>
                        <a:rPr sz="800" b="0">
                          <a:solidFill>
                            <a:srgbClr val="2E2E2E"/>
                          </a:solidFill>
                          <a:latin typeface="Calibri"/>
                        </a:rPr>
                        <a:t>0.32</a:t>
                      </a:r>
                    </a:p>
                  </a:txBody>
                  <a:tcPr marL="85725" marR="38100" marT="19050" marB="19050" anchor="ctr">
                    <a:solidFill>
                      <a:srgbClr val="F5F8FA"/>
                    </a:solidFill>
                  </a:tcPr>
                </a:tc>
                <a:tc>
                  <a:txBody>
                    <a:bodyPr wrap="none"/>
                    <a:lstStyle/>
                    <a:p>
                      <a:pPr algn="l"/>
                      <a:r>
                        <a:rPr sz="800" b="0">
                          <a:solidFill>
                            <a:srgbClr val="2E2E2E"/>
                          </a:solidFill>
                          <a:latin typeface="Calibri"/>
                        </a:rPr>
                        <a:t>0.37</a:t>
                      </a:r>
                    </a:p>
                  </a:txBody>
                  <a:tcPr marL="85725" marR="38100" marT="19050" marB="19050" anchor="ctr">
                    <a:solidFill>
                      <a:srgbClr val="F5F8FA"/>
                    </a:solidFill>
                  </a:tcPr>
                </a:tc>
                <a:tc>
                  <a:txBody>
                    <a:bodyPr wrap="none"/>
                    <a:lstStyle/>
                    <a:p>
                      <a:pPr algn="l"/>
                      <a:r>
                        <a:rPr sz="800" b="0">
                          <a:solidFill>
                            <a:srgbClr val="2E2E2E"/>
                          </a:solidFill>
                          <a:latin typeface="Calibri"/>
                        </a:rPr>
                        <a:t>0.43</a:t>
                      </a:r>
                    </a:p>
                  </a:txBody>
                  <a:tcPr marL="85725" marR="38100" marT="19050" marB="19050" anchor="ctr">
                    <a:solidFill>
                      <a:srgbClr val="F5F8FA"/>
                    </a:solidFill>
                  </a:tcPr>
                </a:tc>
                <a:tc>
                  <a:txBody>
                    <a:bodyPr wrap="none"/>
                    <a:lstStyle/>
                    <a:p>
                      <a:pPr algn="l"/>
                      <a:r>
                        <a:rPr sz="800" b="0">
                          <a:solidFill>
                            <a:srgbClr val="2E2E2E"/>
                          </a:solidFill>
                          <a:latin typeface="Calibri"/>
                        </a:rPr>
                        <a:t>0.49</a:t>
                      </a:r>
                    </a:p>
                  </a:txBody>
                  <a:tcPr marL="85725" marR="38100" marT="19050" marB="19050" anchor="ctr">
                    <a:solidFill>
                      <a:srgbClr val="F5F8FA"/>
                    </a:solidFill>
                  </a:tcPr>
                </a:tc>
                <a:tc>
                  <a:txBody>
                    <a:bodyPr wrap="none"/>
                    <a:lstStyle/>
                    <a:p>
                      <a:pPr algn="l"/>
                      <a:r>
                        <a:rPr sz="800" b="0">
                          <a:solidFill>
                            <a:srgbClr val="2E2E2E"/>
                          </a:solidFill>
                          <a:latin typeface="Calibri"/>
                        </a:rPr>
                        <a:t>0.55</a:t>
                      </a:r>
                    </a:p>
                  </a:txBody>
                  <a:tcPr marL="85725" marR="38100" marT="19050" marB="19050" anchor="ctr">
                    <a:solidFill>
                      <a:srgbClr val="F5F8FA"/>
                    </a:solidFill>
                  </a:tcPr>
                </a:tc>
                <a:tc>
                  <a:txBody>
                    <a:bodyPr wrap="none"/>
                    <a:lstStyle/>
                    <a:p>
                      <a:pPr algn="l"/>
                      <a:r>
                        <a:rPr sz="800" b="0">
                          <a:solidFill>
                            <a:srgbClr val="2E2E2E"/>
                          </a:solidFill>
                          <a:latin typeface="Calibri"/>
                        </a:rPr>
                        <a:t>0.61</a:t>
                      </a:r>
                    </a:p>
                  </a:txBody>
                  <a:tcPr marL="85725" marR="38100" marT="19050" marB="19050" anchor="ctr">
                    <a:solidFill>
                      <a:srgbClr val="F5F8FA"/>
                    </a:solidFill>
                  </a:tcPr>
                </a:tc>
                <a:tc>
                  <a:txBody>
                    <a:bodyPr wrap="none"/>
                    <a:lstStyle/>
                    <a:p>
                      <a:pPr algn="l"/>
                      <a:r>
                        <a:rPr sz="800" b="0">
                          <a:solidFill>
                            <a:srgbClr val="2E2E2E"/>
                          </a:solidFill>
                          <a:latin typeface="Calibri"/>
                        </a:rPr>
                        <a:t>0.67</a:t>
                      </a:r>
                    </a:p>
                  </a:txBody>
                  <a:tcPr marL="85725" marR="38100" marT="19050" marB="19050" anchor="ctr">
                    <a:solidFill>
                      <a:srgbClr val="F5F8FA"/>
                    </a:solidFill>
                  </a:tcPr>
                </a:tc>
                <a:tc>
                  <a:txBody>
                    <a:bodyPr wrap="none"/>
                    <a:lstStyle/>
                    <a:p>
                      <a:pPr algn="l"/>
                      <a:r>
                        <a:rPr sz="800" b="0">
                          <a:solidFill>
                            <a:srgbClr val="2E2E2E"/>
                          </a:solidFill>
                          <a:latin typeface="Calibri"/>
                        </a:rPr>
                        <a:t>0.73</a:t>
                      </a:r>
                    </a:p>
                  </a:txBody>
                  <a:tcPr marL="85725" marR="38100" marT="19050" marB="19050" anchor="ctr">
                    <a:solidFill>
                      <a:srgbClr val="F5F8FA"/>
                    </a:solidFill>
                  </a:tcPr>
                </a:tc>
                <a:tc>
                  <a:txBody>
                    <a:bodyPr wrap="none"/>
                    <a:lstStyle/>
                    <a:p>
                      <a:pPr algn="l"/>
                      <a:r>
                        <a:rPr sz="800" b="0">
                          <a:solidFill>
                            <a:srgbClr val="2E2E2E"/>
                          </a:solidFill>
                          <a:latin typeface="Calibri"/>
                        </a:rPr>
                        <a:t>0.80</a:t>
                      </a:r>
                    </a:p>
                  </a:txBody>
                  <a:tcPr marL="85725" marR="38100" marT="19050" marB="19050" anchor="ctr">
                    <a:solidFill>
                      <a:srgbClr val="F5F8FA"/>
                    </a:solidFill>
                  </a:tcPr>
                </a:tc>
                <a:tc>
                  <a:txBody>
                    <a:bodyPr wrap="none"/>
                    <a:lstStyle/>
                    <a:p>
                      <a:pPr algn="l"/>
                      <a:r>
                        <a:rPr sz="800" b="0">
                          <a:solidFill>
                            <a:srgbClr val="2E2E2E"/>
                          </a:solidFill>
                          <a:latin typeface="Calibri"/>
                        </a:rPr>
                        <a:t>0.86</a:t>
                      </a:r>
                    </a:p>
                  </a:txBody>
                  <a:tcPr marL="85725" marR="38100" marT="19050" marB="19050" anchor="ctr">
                    <a:solidFill>
                      <a:srgbClr val="F5F8FA"/>
                    </a:solidFill>
                  </a:tcPr>
                </a:tc>
                <a:tc>
                  <a:txBody>
                    <a:bodyPr wrap="none"/>
                    <a:lstStyle/>
                    <a:p>
                      <a:pPr algn="l"/>
                      <a:r>
                        <a:rPr sz="800" b="0">
                          <a:solidFill>
                            <a:srgbClr val="2E2E2E"/>
                          </a:solidFill>
                          <a:latin typeface="Calibri"/>
                        </a:rPr>
                        <a:t>0.93</a:t>
                      </a:r>
                    </a:p>
                  </a:txBody>
                  <a:tcPr marL="85725" marR="38100" marT="19050" marB="19050" anchor="ctr">
                    <a:solidFill>
                      <a:srgbClr val="F5F8FA"/>
                    </a:solidFill>
                  </a:tcPr>
                </a:tc>
                <a:tc>
                  <a:txBody>
                    <a:bodyPr wrap="none"/>
                    <a:lstStyle/>
                    <a:p>
                      <a:pPr algn="l"/>
                      <a:r>
                        <a:rPr sz="800" b="0">
                          <a:solidFill>
                            <a:srgbClr val="2E2E2E"/>
                          </a:solidFill>
                          <a:latin typeface="Calibri"/>
                        </a:rPr>
                        <a:t>11.3%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800" b="0">
                          <a:solidFill>
                            <a:srgbClr val="2E2E2E"/>
                          </a:solidFill>
                          <a:latin typeface="Calibri"/>
                        </a:rPr>
                        <a:t>0.13</a:t>
                      </a:r>
                    </a:p>
                  </a:txBody>
                  <a:tcPr marL="85725" marR="38100" marT="19050" marB="19050" anchor="ctr">
                    <a:solidFill>
                      <a:srgbClr val="FFFFFF"/>
                    </a:solidFill>
                  </a:tcPr>
                </a:tc>
                <a:tc>
                  <a:txBody>
                    <a:bodyPr wrap="none"/>
                    <a:lstStyle/>
                    <a:p>
                      <a:pPr algn="l"/>
                      <a:r>
                        <a:rPr sz="800" b="0">
                          <a:solidFill>
                            <a:srgbClr val="2E2E2E"/>
                          </a:solidFill>
                          <a:latin typeface="Calibri"/>
                        </a:rPr>
                        <a:t>0.15</a:t>
                      </a:r>
                    </a:p>
                  </a:txBody>
                  <a:tcPr marL="85725" marR="38100" marT="19050" marB="19050" anchor="ctr">
                    <a:solidFill>
                      <a:srgbClr val="FFFFFF"/>
                    </a:solidFill>
                  </a:tcPr>
                </a:tc>
                <a:tc>
                  <a:txBody>
                    <a:bodyPr wrap="none"/>
                    <a:lstStyle/>
                    <a:p>
                      <a:pPr algn="l"/>
                      <a:r>
                        <a:rPr sz="800" b="0">
                          <a:solidFill>
                            <a:srgbClr val="2E2E2E"/>
                          </a:solidFill>
                          <a:latin typeface="Calibri"/>
                        </a:rPr>
                        <a:t>0.19</a:t>
                      </a:r>
                    </a:p>
                  </a:txBody>
                  <a:tcPr marL="85725" marR="38100" marT="19050" marB="19050" anchor="ctr">
                    <a:solidFill>
                      <a:srgbClr val="FFFFFF"/>
                    </a:solidFill>
                  </a:tcPr>
                </a:tc>
                <a:tc>
                  <a:txBody>
                    <a:bodyPr wrap="none"/>
                    <a:lstStyle/>
                    <a:p>
                      <a:pPr algn="l"/>
                      <a:r>
                        <a:rPr sz="800" b="0">
                          <a:solidFill>
                            <a:srgbClr val="2E2E2E"/>
                          </a:solidFill>
                          <a:latin typeface="Calibri"/>
                        </a:rPr>
                        <a:t>0.24</a:t>
                      </a:r>
                    </a:p>
                  </a:txBody>
                  <a:tcPr marL="85725" marR="38100" marT="19050" marB="19050" anchor="ctr">
                    <a:solidFill>
                      <a:srgbClr val="FFFFFF"/>
                    </a:solidFill>
                  </a:tcPr>
                </a:tc>
                <a:tc>
                  <a:txBody>
                    <a:bodyPr wrap="none"/>
                    <a:lstStyle/>
                    <a:p>
                      <a:pPr algn="l"/>
                      <a:r>
                        <a:rPr sz="800" b="0">
                          <a:solidFill>
                            <a:srgbClr val="2E2E2E"/>
                          </a:solidFill>
                          <a:latin typeface="Calibri"/>
                        </a:rPr>
                        <a:t>0.31</a:t>
                      </a:r>
                    </a:p>
                  </a:txBody>
                  <a:tcPr marL="85725" marR="38100" marT="19050" marB="19050" anchor="ctr">
                    <a:solidFill>
                      <a:srgbClr val="FFFFFF"/>
                    </a:solidFill>
                  </a:tcPr>
                </a:tc>
                <a:tc>
                  <a:txBody>
                    <a:bodyPr wrap="none"/>
                    <a:lstStyle/>
                    <a:p>
                      <a:pPr algn="l"/>
                      <a:r>
                        <a:rPr sz="800" b="0">
                          <a:solidFill>
                            <a:srgbClr val="2E2E2E"/>
                          </a:solidFill>
                          <a:latin typeface="Calibri"/>
                        </a:rPr>
                        <a:t>0.38</a:t>
                      </a:r>
                    </a:p>
                  </a:txBody>
                  <a:tcPr marL="85725" marR="38100" marT="19050" marB="19050" anchor="ctr">
                    <a:solidFill>
                      <a:srgbClr val="FFFFFF"/>
                    </a:solidFill>
                  </a:tcPr>
                </a:tc>
                <a:tc>
                  <a:txBody>
                    <a:bodyPr wrap="none"/>
                    <a:lstStyle/>
                    <a:p>
                      <a:pPr algn="l"/>
                      <a:r>
                        <a:rPr sz="800" b="0">
                          <a:solidFill>
                            <a:srgbClr val="2E2E2E"/>
                          </a:solidFill>
                          <a:latin typeface="Calibri"/>
                        </a:rPr>
                        <a:t>0.46</a:t>
                      </a:r>
                    </a:p>
                  </a:txBody>
                  <a:tcPr marL="85725" marR="38100" marT="19050" marB="19050" anchor="ctr">
                    <a:solidFill>
                      <a:srgbClr val="FFFFFF"/>
                    </a:solidFill>
                  </a:tcPr>
                </a:tc>
                <a:tc>
                  <a:txBody>
                    <a:bodyPr wrap="none"/>
                    <a:lstStyle/>
                    <a:p>
                      <a:pPr algn="l"/>
                      <a:r>
                        <a:rPr sz="800" b="0">
                          <a:solidFill>
                            <a:srgbClr val="2E2E2E"/>
                          </a:solidFill>
                          <a:latin typeface="Calibri"/>
                        </a:rPr>
                        <a:t>0.54</a:t>
                      </a:r>
                    </a:p>
                  </a:txBody>
                  <a:tcPr marL="85725" marR="38100" marT="19050" marB="19050" anchor="ctr">
                    <a:solidFill>
                      <a:srgbClr val="FFFFFF"/>
                    </a:solidFill>
                  </a:tcPr>
                </a:tc>
                <a:tc>
                  <a:txBody>
                    <a:bodyPr wrap="none"/>
                    <a:lstStyle/>
                    <a:p>
                      <a:pPr algn="l"/>
                      <a:r>
                        <a:rPr sz="800" b="0">
                          <a:solidFill>
                            <a:srgbClr val="2E2E2E"/>
                          </a:solidFill>
                          <a:latin typeface="Calibri"/>
                        </a:rPr>
                        <a:t>0.63</a:t>
                      </a:r>
                    </a:p>
                  </a:txBody>
                  <a:tcPr marL="85725" marR="38100" marT="19050" marB="19050" anchor="ctr">
                    <a:solidFill>
                      <a:srgbClr val="FFFFFF"/>
                    </a:solidFill>
                  </a:tcPr>
                </a:tc>
                <a:tc>
                  <a:txBody>
                    <a:bodyPr wrap="none"/>
                    <a:lstStyle/>
                    <a:p>
                      <a:pPr algn="l"/>
                      <a:r>
                        <a:rPr sz="800" b="0">
                          <a:solidFill>
                            <a:srgbClr val="2E2E2E"/>
                          </a:solidFill>
                          <a:latin typeface="Calibri"/>
                        </a:rPr>
                        <a:t>0.73</a:t>
                      </a:r>
                    </a:p>
                  </a:txBody>
                  <a:tcPr marL="85725" marR="38100" marT="19050" marB="19050" anchor="ctr">
                    <a:solidFill>
                      <a:srgbClr val="FFFFFF"/>
                    </a:solidFill>
                  </a:tcPr>
                </a:tc>
                <a:tc>
                  <a:txBody>
                    <a:bodyPr wrap="none"/>
                    <a:lstStyle/>
                    <a:p>
                      <a:pPr algn="l"/>
                      <a:r>
                        <a:rPr sz="800" b="0">
                          <a:solidFill>
                            <a:srgbClr val="2E2E2E"/>
                          </a:solidFill>
                          <a:latin typeface="Calibri"/>
                        </a:rPr>
                        <a:t>0.83</a:t>
                      </a:r>
                    </a:p>
                  </a:txBody>
                  <a:tcPr marL="85725" marR="38100" marT="19050" marB="19050" anchor="ctr">
                    <a:solidFill>
                      <a:srgbClr val="FFFFFF"/>
                    </a:solidFill>
                  </a:tcPr>
                </a:tc>
                <a:tc>
                  <a:txBody>
                    <a:bodyPr wrap="none"/>
                    <a:lstStyle/>
                    <a:p>
                      <a:pPr algn="l"/>
                      <a:r>
                        <a:rPr sz="800" b="0">
                          <a:solidFill>
                            <a:srgbClr val="2E2E2E"/>
                          </a:solidFill>
                          <a:latin typeface="Calibri"/>
                        </a:rPr>
                        <a:t>0.94</a:t>
                      </a:r>
                    </a:p>
                  </a:txBody>
                  <a:tcPr marL="85725" marR="38100" marT="19050" marB="19050" anchor="ctr">
                    <a:solidFill>
                      <a:srgbClr val="FFFFFF"/>
                    </a:solidFill>
                  </a:tcPr>
                </a:tc>
                <a:tc>
                  <a:txBody>
                    <a:bodyPr wrap="none"/>
                    <a:lstStyle/>
                    <a:p>
                      <a:pPr algn="l"/>
                      <a:r>
                        <a:rPr sz="800" b="0">
                          <a:solidFill>
                            <a:srgbClr val="2E2E2E"/>
                          </a:solidFill>
                          <a:latin typeface="Calibri"/>
                        </a:rPr>
                        <a:t>1.05</a:t>
                      </a:r>
                    </a:p>
                  </a:txBody>
                  <a:tcPr marL="85725" marR="38100" marT="19050" marB="19050" anchor="ctr">
                    <a:solidFill>
                      <a:srgbClr val="FFFFFF"/>
                    </a:solidFill>
                  </a:tcPr>
                </a:tc>
                <a:tc>
                  <a:txBody>
                    <a:bodyPr wrap="none"/>
                    <a:lstStyle/>
                    <a:p>
                      <a:pPr algn="l"/>
                      <a:r>
                        <a:rPr sz="800" b="0">
                          <a:solidFill>
                            <a:srgbClr val="2E2E2E"/>
                          </a:solidFill>
                          <a:latin typeface="Calibri"/>
                        </a:rPr>
                        <a:t>1.17</a:t>
                      </a:r>
                    </a:p>
                  </a:txBody>
                  <a:tcPr marL="85725" marR="38100" marT="19050" marB="19050" anchor="ctr">
                    <a:solidFill>
                      <a:srgbClr val="FFFFFF"/>
                    </a:solidFill>
                  </a:tcPr>
                </a:tc>
                <a:tc>
                  <a:txBody>
                    <a:bodyPr wrap="none"/>
                    <a:lstStyle/>
                    <a:p>
                      <a:pPr algn="l"/>
                      <a:r>
                        <a:rPr sz="800" b="0">
                          <a:solidFill>
                            <a:srgbClr val="2E2E2E"/>
                          </a:solidFill>
                          <a:latin typeface="Calibri"/>
                        </a:rPr>
                        <a:t>1.30</a:t>
                      </a:r>
                    </a:p>
                  </a:txBody>
                  <a:tcPr marL="85725" marR="38100" marT="19050" marB="19050" anchor="ctr">
                    <a:solidFill>
                      <a:srgbClr val="FFFFFF"/>
                    </a:solidFill>
                  </a:tcPr>
                </a:tc>
                <a:tc>
                  <a:txBody>
                    <a:bodyPr wrap="none"/>
                    <a:lstStyle/>
                    <a:p>
                      <a:pPr algn="l"/>
                      <a:r>
                        <a:rPr sz="800" b="0">
                          <a:solidFill>
                            <a:srgbClr val="2E2E2E"/>
                          </a:solidFill>
                          <a:latin typeface="Calibri"/>
                        </a:rPr>
                        <a:t>1.44</a:t>
                      </a:r>
                    </a:p>
                  </a:txBody>
                  <a:tcPr marL="85725" marR="38100" marT="19050" marB="19050" anchor="ctr">
                    <a:solidFill>
                      <a:srgbClr val="FFFFFF"/>
                    </a:solidFill>
                  </a:tcPr>
                </a:tc>
                <a:tc>
                  <a:txBody>
                    <a:bodyPr wrap="none"/>
                    <a:lstStyle/>
                    <a:p>
                      <a:pPr algn="l"/>
                      <a:r>
                        <a:rPr sz="800" b="0">
                          <a:solidFill>
                            <a:srgbClr val="2E2E2E"/>
                          </a:solidFill>
                          <a:latin typeface="Calibri"/>
                        </a:rPr>
                        <a:t>14.2%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Yusimry</a:t>
                      </a:r>
                    </a:p>
                  </a:txBody>
                  <a:tcPr marL="85725" marR="38100" marT="19050" marB="19050" anchor="ctr">
                    <a:solidFill>
                      <a:srgbClr val="F5F8FA"/>
                    </a:solidFill>
                  </a:tcPr>
                </a:tc>
                <a:tc>
                  <a:txBody>
                    <a:bodyPr wrap="none"/>
                    <a:lstStyle/>
                    <a:p>
                      <a:pPr algn="l"/>
                      <a:r>
                        <a:rPr sz="800" b="0">
                          <a:solidFill>
                            <a:srgbClr val="2E2E2E"/>
                          </a:solidFill>
                          <a:latin typeface="Calibri"/>
                        </a:rPr>
                        <a:t>0.21</a:t>
                      </a:r>
                    </a:p>
                  </a:txBody>
                  <a:tcPr marL="85725" marR="38100" marT="19050" marB="19050" anchor="ctr">
                    <a:solidFill>
                      <a:srgbClr val="F5F8FA"/>
                    </a:solidFill>
                  </a:tcPr>
                </a:tc>
                <a:tc>
                  <a:txBody>
                    <a:bodyPr wrap="none"/>
                    <a:lstStyle/>
                    <a:p>
                      <a:pPr algn="l"/>
                      <a:r>
                        <a:rPr sz="800" b="0">
                          <a:solidFill>
                            <a:srgbClr val="2E2E2E"/>
                          </a:solidFill>
                          <a:latin typeface="Calibri"/>
                        </a:rPr>
                        <a:t>0.24</a:t>
                      </a:r>
                    </a:p>
                  </a:txBody>
                  <a:tcPr marL="85725" marR="38100" marT="19050" marB="19050" anchor="ctr">
                    <a:solidFill>
                      <a:srgbClr val="F5F8FA"/>
                    </a:solidFill>
                  </a:tcPr>
                </a:tc>
                <a:tc>
                  <a:txBody>
                    <a:bodyPr wrap="none"/>
                    <a:lstStyle/>
                    <a:p>
                      <a:pPr algn="l"/>
                      <a:r>
                        <a:rPr sz="800" b="0">
                          <a:solidFill>
                            <a:srgbClr val="2E2E2E"/>
                          </a:solidFill>
                          <a:latin typeface="Calibri"/>
                        </a:rPr>
                        <a:t>0.30</a:t>
                      </a:r>
                    </a:p>
                  </a:txBody>
                  <a:tcPr marL="85725" marR="38100" marT="19050" marB="19050" anchor="ctr">
                    <a:solidFill>
                      <a:srgbClr val="F5F8FA"/>
                    </a:solidFill>
                  </a:tcPr>
                </a:tc>
                <a:tc>
                  <a:txBody>
                    <a:bodyPr wrap="none"/>
                    <a:lstStyle/>
                    <a:p>
                      <a:pPr algn="l"/>
                      <a:r>
                        <a:rPr sz="800" b="0">
                          <a:solidFill>
                            <a:srgbClr val="2E2E2E"/>
                          </a:solidFill>
                          <a:latin typeface="Calibri"/>
                        </a:rPr>
                        <a:t>0.37</a:t>
                      </a:r>
                    </a:p>
                  </a:txBody>
                  <a:tcPr marL="85725" marR="38100" marT="19050" marB="19050" anchor="ctr">
                    <a:solidFill>
                      <a:srgbClr val="F5F8FA"/>
                    </a:solidFill>
                  </a:tcPr>
                </a:tc>
                <a:tc>
                  <a:txBody>
                    <a:bodyPr wrap="none"/>
                    <a:lstStyle/>
                    <a:p>
                      <a:pPr algn="l"/>
                      <a:r>
                        <a:rPr sz="800" b="0">
                          <a:solidFill>
                            <a:srgbClr val="2E2E2E"/>
                          </a:solidFill>
                          <a:latin typeface="Calibri"/>
                        </a:rPr>
                        <a:t>0.46</a:t>
                      </a:r>
                    </a:p>
                  </a:txBody>
                  <a:tcPr marL="85725" marR="38100" marT="19050" marB="19050" anchor="ctr">
                    <a:solidFill>
                      <a:srgbClr val="F5F8FA"/>
                    </a:solidFill>
                  </a:tcPr>
                </a:tc>
                <a:tc>
                  <a:txBody>
                    <a:bodyPr wrap="none"/>
                    <a:lstStyle/>
                    <a:p>
                      <a:pPr algn="l"/>
                      <a:r>
                        <a:rPr sz="800" b="0">
                          <a:solidFill>
                            <a:srgbClr val="2E2E2E"/>
                          </a:solidFill>
                          <a:latin typeface="Calibri"/>
                        </a:rPr>
                        <a:t>0.55</a:t>
                      </a:r>
                    </a:p>
                  </a:txBody>
                  <a:tcPr marL="85725" marR="38100" marT="19050" marB="19050" anchor="ctr">
                    <a:solidFill>
                      <a:srgbClr val="F5F8FA"/>
                    </a:solidFill>
                  </a:tcPr>
                </a:tc>
                <a:tc>
                  <a:txBody>
                    <a:bodyPr wrap="none"/>
                    <a:lstStyle/>
                    <a:p>
                      <a:pPr algn="l"/>
                      <a:r>
                        <a:rPr sz="800" b="0">
                          <a:solidFill>
                            <a:srgbClr val="2E2E2E"/>
                          </a:solidFill>
                          <a:latin typeface="Calibri"/>
                        </a:rPr>
                        <a:t>0.64</a:t>
                      </a:r>
                    </a:p>
                  </a:txBody>
                  <a:tcPr marL="85725" marR="38100" marT="19050" marB="19050" anchor="ctr">
                    <a:solidFill>
                      <a:srgbClr val="F5F8FA"/>
                    </a:solidFill>
                  </a:tcPr>
                </a:tc>
                <a:tc>
                  <a:txBody>
                    <a:bodyPr wrap="none"/>
                    <a:lstStyle/>
                    <a:p>
                      <a:pPr algn="l"/>
                      <a:r>
                        <a:rPr sz="800" b="0">
                          <a:solidFill>
                            <a:srgbClr val="2E2E2E"/>
                          </a:solidFill>
                          <a:latin typeface="Calibri"/>
                        </a:rPr>
                        <a:t>0.74</a:t>
                      </a:r>
                    </a:p>
                  </a:txBody>
                  <a:tcPr marL="85725" marR="38100" marT="19050" marB="19050" anchor="ctr">
                    <a:solidFill>
                      <a:srgbClr val="F5F8FA"/>
                    </a:solidFill>
                  </a:tcPr>
                </a:tc>
                <a:tc>
                  <a:txBody>
                    <a:bodyPr wrap="none"/>
                    <a:lstStyle/>
                    <a:p>
                      <a:pPr algn="l"/>
                      <a:r>
                        <a:rPr sz="800" b="0">
                          <a:solidFill>
                            <a:srgbClr val="2E2E2E"/>
                          </a:solidFill>
                          <a:latin typeface="Calibri"/>
                        </a:rPr>
                        <a:t>0.83</a:t>
                      </a:r>
                    </a:p>
                  </a:txBody>
                  <a:tcPr marL="85725" marR="38100" marT="19050" marB="19050" anchor="ctr">
                    <a:solidFill>
                      <a:srgbClr val="F5F8FA"/>
                    </a:solidFill>
                  </a:tcPr>
                </a:tc>
                <a:tc>
                  <a:txBody>
                    <a:bodyPr wrap="none"/>
                    <a:lstStyle/>
                    <a:p>
                      <a:pPr algn="l"/>
                      <a:r>
                        <a:rPr sz="800" b="0">
                          <a:solidFill>
                            <a:srgbClr val="2E2E2E"/>
                          </a:solidFill>
                          <a:latin typeface="Calibri"/>
                        </a:rPr>
                        <a:t>0.93</a:t>
                      </a:r>
                    </a:p>
                  </a:txBody>
                  <a:tcPr marL="85725" marR="38100" marT="19050" marB="19050" anchor="ctr">
                    <a:solidFill>
                      <a:srgbClr val="F5F8FA"/>
                    </a:solidFill>
                  </a:tcPr>
                </a:tc>
                <a:tc>
                  <a:txBody>
                    <a:bodyPr wrap="none"/>
                    <a:lstStyle/>
                    <a:p>
                      <a:pPr algn="l"/>
                      <a:r>
                        <a:rPr sz="800" b="0">
                          <a:solidFill>
                            <a:srgbClr val="2E2E2E"/>
                          </a:solidFill>
                          <a:latin typeface="Calibri"/>
                        </a:rPr>
                        <a:t>1.02</a:t>
                      </a:r>
                    </a:p>
                  </a:txBody>
                  <a:tcPr marL="85725" marR="38100" marT="19050" marB="19050" anchor="ctr">
                    <a:solidFill>
                      <a:srgbClr val="F5F8FA"/>
                    </a:solidFill>
                  </a:tcPr>
                </a:tc>
                <a:tc>
                  <a:txBody>
                    <a:bodyPr wrap="none"/>
                    <a:lstStyle/>
                    <a:p>
                      <a:pPr algn="l"/>
                      <a:r>
                        <a:rPr sz="800" b="0">
                          <a:solidFill>
                            <a:srgbClr val="2E2E2E"/>
                          </a:solidFill>
                          <a:latin typeface="Calibri"/>
                        </a:rPr>
                        <a:t>1.12</a:t>
                      </a:r>
                    </a:p>
                  </a:txBody>
                  <a:tcPr marL="85725" marR="38100" marT="19050" marB="19050" anchor="ctr">
                    <a:solidFill>
                      <a:srgbClr val="F5F8FA"/>
                    </a:solidFill>
                  </a:tcPr>
                </a:tc>
                <a:tc>
                  <a:txBody>
                    <a:bodyPr wrap="none"/>
                    <a:lstStyle/>
                    <a:p>
                      <a:pPr algn="l"/>
                      <a:r>
                        <a:rPr sz="800" b="0">
                          <a:solidFill>
                            <a:srgbClr val="2E2E2E"/>
                          </a:solidFill>
                          <a:latin typeface="Calibri"/>
                        </a:rPr>
                        <a:t>1.22</a:t>
                      </a:r>
                    </a:p>
                  </a:txBody>
                  <a:tcPr marL="85725" marR="38100" marT="19050" marB="19050" anchor="ctr">
                    <a:solidFill>
                      <a:srgbClr val="F5F8FA"/>
                    </a:solidFill>
                  </a:tcPr>
                </a:tc>
                <a:tc>
                  <a:txBody>
                    <a:bodyPr wrap="none"/>
                    <a:lstStyle/>
                    <a:p>
                      <a:pPr algn="l"/>
                      <a:r>
                        <a:rPr sz="800" b="0">
                          <a:solidFill>
                            <a:srgbClr val="2E2E2E"/>
                          </a:solidFill>
                          <a:latin typeface="Calibri"/>
                        </a:rPr>
                        <a:t>1.31</a:t>
                      </a:r>
                    </a:p>
                  </a:txBody>
                  <a:tcPr marL="85725" marR="38100" marT="19050" marB="19050" anchor="ctr">
                    <a:solidFill>
                      <a:srgbClr val="F5F8FA"/>
                    </a:solidFill>
                  </a:tcPr>
                </a:tc>
                <a:tc>
                  <a:txBody>
                    <a:bodyPr wrap="none"/>
                    <a:lstStyle/>
                    <a:p>
                      <a:pPr algn="l"/>
                      <a:r>
                        <a:rPr sz="800" b="0">
                          <a:solidFill>
                            <a:srgbClr val="2E2E2E"/>
                          </a:solidFill>
                          <a:latin typeface="Calibri"/>
                        </a:rPr>
                        <a:t>1.41</a:t>
                      </a:r>
                    </a:p>
                  </a:txBody>
                  <a:tcPr marL="85725" marR="38100" marT="19050" marB="19050" anchor="ctr">
                    <a:solidFill>
                      <a:srgbClr val="F5F8FA"/>
                    </a:solidFill>
                  </a:tcPr>
                </a:tc>
                <a:tc>
                  <a:txBody>
                    <a:bodyPr wrap="none"/>
                    <a:lstStyle/>
                    <a:p>
                      <a:pPr algn="l"/>
                      <a:r>
                        <a:rPr sz="800" b="0">
                          <a:solidFill>
                            <a:srgbClr val="2E2E2E"/>
                          </a:solidFill>
                          <a:latin typeface="Calibri"/>
                        </a:rPr>
                        <a:t>1.51</a:t>
                      </a:r>
                    </a:p>
                  </a:txBody>
                  <a:tcPr marL="85725" marR="38100" marT="19050" marB="19050" anchor="ctr">
                    <a:solidFill>
                      <a:srgbClr val="F5F8FA"/>
                    </a:solidFill>
                  </a:tcPr>
                </a:tc>
                <a:tc>
                  <a:txBody>
                    <a:bodyPr wrap="none"/>
                    <a:lstStyle/>
                    <a:p>
                      <a:pPr algn="l"/>
                      <a:r>
                        <a:rPr sz="800" b="0">
                          <a:solidFill>
                            <a:srgbClr val="2E2E2E"/>
                          </a:solidFill>
                          <a:latin typeface="Calibri"/>
                        </a:rPr>
                        <a:t>10.6%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Yuflyma</a:t>
                      </a:r>
                    </a:p>
                  </a:txBody>
                  <a:tcPr marL="85725" marR="38100" marT="19050" marB="19050" anchor="ctr">
                    <a:solidFill>
                      <a:srgbClr val="FFFFFF"/>
                    </a:solidFill>
                  </a:tcPr>
                </a:tc>
                <a:tc>
                  <a:txBody>
                    <a:bodyPr wrap="none"/>
                    <a:lstStyle/>
                    <a:p>
                      <a:pPr algn="l"/>
                      <a:r>
                        <a:rPr sz="800" b="0">
                          <a:solidFill>
                            <a:srgbClr val="2E2E2E"/>
                          </a:solidFill>
                          <a:latin typeface="Calibri"/>
                        </a:rPr>
                        <a:t>0.10</a:t>
                      </a:r>
                    </a:p>
                  </a:txBody>
                  <a:tcPr marL="85725" marR="38100" marT="19050" marB="19050" anchor="ctr">
                    <a:solidFill>
                      <a:srgbClr val="FFFFFF"/>
                    </a:solidFill>
                  </a:tcPr>
                </a:tc>
                <a:tc>
                  <a:txBody>
                    <a:bodyPr wrap="none"/>
                    <a:lstStyle/>
                    <a:p>
                      <a:pPr algn="l"/>
                      <a:r>
                        <a:rPr sz="800" b="0">
                          <a:solidFill>
                            <a:srgbClr val="2E2E2E"/>
                          </a:solidFill>
                          <a:latin typeface="Calibri"/>
                        </a:rPr>
                        <a:t>0.12</a:t>
                      </a:r>
                    </a:p>
                  </a:txBody>
                  <a:tcPr marL="85725" marR="38100" marT="19050" marB="19050" anchor="ctr">
                    <a:solidFill>
                      <a:srgbClr val="FFFFFF"/>
                    </a:solidFill>
                  </a:tcPr>
                </a:tc>
                <a:tc>
                  <a:txBody>
                    <a:bodyPr wrap="none"/>
                    <a:lstStyle/>
                    <a:p>
                      <a:pPr algn="l"/>
                      <a:r>
                        <a:rPr sz="800" b="0">
                          <a:solidFill>
                            <a:srgbClr val="2E2E2E"/>
                          </a:solidFill>
                          <a:latin typeface="Calibri"/>
                        </a:rPr>
                        <a:t>0.14</a:t>
                      </a:r>
                    </a:p>
                  </a:txBody>
                  <a:tcPr marL="85725" marR="38100" marT="19050" marB="19050" anchor="ctr">
                    <a:solidFill>
                      <a:srgbClr val="FFFFFF"/>
                    </a:solidFill>
                  </a:tcPr>
                </a:tc>
                <a:tc>
                  <a:txBody>
                    <a:bodyPr wrap="none"/>
                    <a:lstStyle/>
                    <a:p>
                      <a:pPr algn="l"/>
                      <a:r>
                        <a:rPr sz="800" b="0">
                          <a:solidFill>
                            <a:srgbClr val="2E2E2E"/>
                          </a:solidFill>
                          <a:latin typeface="Calibri"/>
                        </a:rPr>
                        <a:t>0.18</a:t>
                      </a:r>
                    </a:p>
                  </a:txBody>
                  <a:tcPr marL="85725" marR="38100" marT="19050" marB="19050" anchor="ctr">
                    <a:solidFill>
                      <a:srgbClr val="FFFFFF"/>
                    </a:solidFill>
                  </a:tcPr>
                </a:tc>
                <a:tc>
                  <a:txBody>
                    <a:bodyPr wrap="none"/>
                    <a:lstStyle/>
                    <a:p>
                      <a:pPr algn="l"/>
                      <a:r>
                        <a:rPr sz="800" b="0">
                          <a:solidFill>
                            <a:srgbClr val="2E2E2E"/>
                          </a:solidFill>
                          <a:latin typeface="Calibri"/>
                        </a:rPr>
                        <a:t>0.22</a:t>
                      </a:r>
                    </a:p>
                  </a:txBody>
                  <a:tcPr marL="85725" marR="38100" marT="19050" marB="19050" anchor="ctr">
                    <a:solidFill>
                      <a:srgbClr val="FFFFFF"/>
                    </a:solidFill>
                  </a:tcPr>
                </a:tc>
                <a:tc>
                  <a:txBody>
                    <a:bodyPr wrap="none"/>
                    <a:lstStyle/>
                    <a:p>
                      <a:pPr algn="l"/>
                      <a:r>
                        <a:rPr sz="800" b="0">
                          <a:solidFill>
                            <a:srgbClr val="2E2E2E"/>
                          </a:solidFill>
                          <a:latin typeface="Calibri"/>
                        </a:rPr>
                        <a:t>0.27</a:t>
                      </a:r>
                    </a:p>
                  </a:txBody>
                  <a:tcPr marL="85725" marR="38100" marT="19050" marB="19050" anchor="ctr">
                    <a:solidFill>
                      <a:srgbClr val="FFFFFF"/>
                    </a:solidFill>
                  </a:tcPr>
                </a:tc>
                <a:tc>
                  <a:txBody>
                    <a:bodyPr wrap="none"/>
                    <a:lstStyle/>
                    <a:p>
                      <a:pPr algn="l"/>
                      <a:r>
                        <a:rPr sz="800" b="0">
                          <a:solidFill>
                            <a:srgbClr val="2E2E2E"/>
                          </a:solidFill>
                          <a:latin typeface="Calibri"/>
                        </a:rPr>
                        <a:t>0.32</a:t>
                      </a:r>
                    </a:p>
                  </a:txBody>
                  <a:tcPr marL="85725" marR="38100" marT="19050" marB="19050" anchor="ctr">
                    <a:solidFill>
                      <a:srgbClr val="FFFFFF"/>
                    </a:solidFill>
                  </a:tcPr>
                </a:tc>
                <a:tc>
                  <a:txBody>
                    <a:bodyPr wrap="none"/>
                    <a:lstStyle/>
                    <a:p>
                      <a:pPr algn="l"/>
                      <a:r>
                        <a:rPr sz="800" b="0">
                          <a:solidFill>
                            <a:srgbClr val="2E2E2E"/>
                          </a:solidFill>
                          <a:latin typeface="Calibri"/>
                        </a:rPr>
                        <a:t>0.37</a:t>
                      </a:r>
                    </a:p>
                  </a:txBody>
                  <a:tcPr marL="85725" marR="38100" marT="19050" marB="19050" anchor="ctr">
                    <a:solidFill>
                      <a:srgbClr val="FFFFFF"/>
                    </a:solidFill>
                  </a:tcPr>
                </a:tc>
                <a:tc>
                  <a:txBody>
                    <a:bodyPr wrap="none"/>
                    <a:lstStyle/>
                    <a:p>
                      <a:pPr algn="l"/>
                      <a:r>
                        <a:rPr sz="800" b="0">
                          <a:solidFill>
                            <a:srgbClr val="2E2E2E"/>
                          </a:solidFill>
                          <a:latin typeface="Calibri"/>
                        </a:rPr>
                        <a:t>0.42</a:t>
                      </a:r>
                    </a:p>
                  </a:txBody>
                  <a:tcPr marL="85725" marR="38100" marT="19050" marB="19050" anchor="ctr">
                    <a:solidFill>
                      <a:srgbClr val="FFFFFF"/>
                    </a:solidFill>
                  </a:tcPr>
                </a:tc>
                <a:tc>
                  <a:txBody>
                    <a:bodyPr wrap="none"/>
                    <a:lstStyle/>
                    <a:p>
                      <a:pPr algn="l"/>
                      <a:r>
                        <a:rPr sz="800" b="0">
                          <a:solidFill>
                            <a:srgbClr val="2E2E2E"/>
                          </a:solidFill>
                          <a:latin typeface="Calibri"/>
                        </a:rPr>
                        <a:t>0.48</a:t>
                      </a:r>
                    </a:p>
                  </a:txBody>
                  <a:tcPr marL="85725" marR="38100" marT="19050" marB="19050" anchor="ctr">
                    <a:solidFill>
                      <a:srgbClr val="FFFFFF"/>
                    </a:solidFill>
                  </a:tcPr>
                </a:tc>
                <a:tc>
                  <a:txBody>
                    <a:bodyPr wrap="none"/>
                    <a:lstStyle/>
                    <a:p>
                      <a:pPr algn="l"/>
                      <a:r>
                        <a:rPr sz="800" b="0">
                          <a:solidFill>
                            <a:srgbClr val="2E2E2E"/>
                          </a:solidFill>
                          <a:latin typeface="Calibri"/>
                        </a:rPr>
                        <a:t>0.53</a:t>
                      </a:r>
                    </a:p>
                  </a:txBody>
                  <a:tcPr marL="85725" marR="38100" marT="19050" marB="19050" anchor="ctr">
                    <a:solidFill>
                      <a:srgbClr val="FFFFFF"/>
                    </a:solidFill>
                  </a:tcPr>
                </a:tc>
                <a:tc>
                  <a:txBody>
                    <a:bodyPr wrap="none"/>
                    <a:lstStyle/>
                    <a:p>
                      <a:pPr algn="l"/>
                      <a:r>
                        <a:rPr sz="800" b="0">
                          <a:solidFill>
                            <a:srgbClr val="2E2E2E"/>
                          </a:solidFill>
                          <a:latin typeface="Calibri"/>
                        </a:rPr>
                        <a:t>0.59</a:t>
                      </a:r>
                    </a:p>
                  </a:txBody>
                  <a:tcPr marL="85725" marR="38100" marT="19050" marB="19050" anchor="ctr">
                    <a:solidFill>
                      <a:srgbClr val="FFFFFF"/>
                    </a:solidFill>
                  </a:tcPr>
                </a:tc>
                <a:tc>
                  <a:txBody>
                    <a:bodyPr wrap="none"/>
                    <a:lstStyle/>
                    <a:p>
                      <a:pPr algn="l"/>
                      <a:r>
                        <a:rPr sz="800" b="0">
                          <a:solidFill>
                            <a:srgbClr val="2E2E2E"/>
                          </a:solidFill>
                          <a:latin typeface="Calibri"/>
                        </a:rPr>
                        <a:t>0.64</a:t>
                      </a:r>
                    </a:p>
                  </a:txBody>
                  <a:tcPr marL="85725" marR="38100" marT="19050" marB="19050" anchor="ctr">
                    <a:solidFill>
                      <a:srgbClr val="FFFFFF"/>
                    </a:solidFill>
                  </a:tcPr>
                </a:tc>
                <a:tc>
                  <a:txBody>
                    <a:bodyPr wrap="none"/>
                    <a:lstStyle/>
                    <a:p>
                      <a:pPr algn="l"/>
                      <a:r>
                        <a:rPr sz="800" b="0">
                          <a:solidFill>
                            <a:srgbClr val="2E2E2E"/>
                          </a:solidFill>
                          <a:latin typeface="Calibri"/>
                        </a:rPr>
                        <a:t>0.70</a:t>
                      </a:r>
                    </a:p>
                  </a:txBody>
                  <a:tcPr marL="85725" marR="38100" marT="19050" marB="19050" anchor="ctr">
                    <a:solidFill>
                      <a:srgbClr val="FFFFFF"/>
                    </a:solidFill>
                  </a:tcPr>
                </a:tc>
                <a:tc>
                  <a:txBody>
                    <a:bodyPr wrap="none"/>
                    <a:lstStyle/>
                    <a:p>
                      <a:pPr algn="l"/>
                      <a:r>
                        <a:rPr sz="800" b="0">
                          <a:solidFill>
                            <a:srgbClr val="2E2E2E"/>
                          </a:solidFill>
                          <a:latin typeface="Calibri"/>
                        </a:rPr>
                        <a:t>0.76</a:t>
                      </a:r>
                    </a:p>
                  </a:txBody>
                  <a:tcPr marL="85725" marR="38100" marT="19050" marB="19050" anchor="ctr">
                    <a:solidFill>
                      <a:srgbClr val="FFFFFF"/>
                    </a:solidFill>
                  </a:tcPr>
                </a:tc>
                <a:tc>
                  <a:txBody>
                    <a:bodyPr wrap="none"/>
                    <a:lstStyle/>
                    <a:p>
                      <a:pPr algn="l"/>
                      <a:r>
                        <a:rPr sz="800" b="0">
                          <a:solidFill>
                            <a:srgbClr val="2E2E2E"/>
                          </a:solidFill>
                          <a:latin typeface="Calibri"/>
                        </a:rPr>
                        <a:t>0.82</a:t>
                      </a:r>
                    </a:p>
                  </a:txBody>
                  <a:tcPr marL="85725" marR="38100" marT="19050" marB="19050" anchor="ctr">
                    <a:solidFill>
                      <a:srgbClr val="FFFFFF"/>
                    </a:solidFill>
                  </a:tcPr>
                </a:tc>
                <a:tc>
                  <a:txBody>
                    <a:bodyPr wrap="none"/>
                    <a:lstStyle/>
                    <a:p>
                      <a:pPr algn="l"/>
                      <a:r>
                        <a:rPr sz="800" b="0">
                          <a:solidFill>
                            <a:srgbClr val="2E2E2E"/>
                          </a:solidFill>
                          <a:latin typeface="Calibri"/>
                        </a:rPr>
                        <a:t>11.8%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Simlandi</a:t>
                      </a:r>
                    </a:p>
                  </a:txBody>
                  <a:tcPr marL="85725" marR="38100" marT="19050" marB="19050" anchor="ctr">
                    <a:solidFill>
                      <a:srgbClr val="F5F8FA"/>
                    </a:solidFill>
                  </a:tcPr>
                </a:tc>
                <a:tc>
                  <a:txBody>
                    <a:bodyPr wrap="none"/>
                    <a:lstStyle/>
                    <a:p>
                      <a:pPr algn="l"/>
                      <a:r>
                        <a:rPr sz="800" b="0">
                          <a:solidFill>
                            <a:srgbClr val="2E2E2E"/>
                          </a:solidFill>
                          <a:latin typeface="Calibri"/>
                        </a:rPr>
                        <a:t>0.19</a:t>
                      </a:r>
                    </a:p>
                  </a:txBody>
                  <a:tcPr marL="85725" marR="38100" marT="19050" marB="19050" anchor="ctr">
                    <a:solidFill>
                      <a:srgbClr val="F5F8FA"/>
                    </a:solidFill>
                  </a:tcPr>
                </a:tc>
                <a:tc>
                  <a:txBody>
                    <a:bodyPr wrap="none"/>
                    <a:lstStyle/>
                    <a:p>
                      <a:pPr algn="l"/>
                      <a:r>
                        <a:rPr sz="800" b="0">
                          <a:solidFill>
                            <a:srgbClr val="2E2E2E"/>
                          </a:solidFill>
                          <a:latin typeface="Calibri"/>
                        </a:rPr>
                        <a:t>0.22</a:t>
                      </a:r>
                    </a:p>
                  </a:txBody>
                  <a:tcPr marL="85725" marR="38100" marT="19050" marB="19050" anchor="ctr">
                    <a:solidFill>
                      <a:srgbClr val="F5F8FA"/>
                    </a:solidFill>
                  </a:tcPr>
                </a:tc>
                <a:tc>
                  <a:txBody>
                    <a:bodyPr wrap="none"/>
                    <a:lstStyle/>
                    <a:p>
                      <a:pPr algn="l"/>
                      <a:r>
                        <a:rPr sz="800" b="0">
                          <a:solidFill>
                            <a:srgbClr val="2E2E2E"/>
                          </a:solidFill>
                          <a:latin typeface="Calibri"/>
                        </a:rPr>
                        <a:t>0.28</a:t>
                      </a:r>
                    </a:p>
                  </a:txBody>
                  <a:tcPr marL="85725" marR="38100" marT="19050" marB="19050" anchor="ctr">
                    <a:solidFill>
                      <a:srgbClr val="F5F8FA"/>
                    </a:solidFill>
                  </a:tcPr>
                </a:tc>
                <a:tc>
                  <a:txBody>
                    <a:bodyPr wrap="none"/>
                    <a:lstStyle/>
                    <a:p>
                      <a:pPr algn="l"/>
                      <a:r>
                        <a:rPr sz="800" b="0">
                          <a:solidFill>
                            <a:srgbClr val="2E2E2E"/>
                          </a:solidFill>
                          <a:latin typeface="Calibri"/>
                        </a:rPr>
                        <a:t>0.37</a:t>
                      </a:r>
                    </a:p>
                  </a:txBody>
                  <a:tcPr marL="85725" marR="38100" marT="19050" marB="19050" anchor="ctr">
                    <a:solidFill>
                      <a:srgbClr val="F5F8FA"/>
                    </a:solidFill>
                  </a:tcPr>
                </a:tc>
                <a:tc>
                  <a:txBody>
                    <a:bodyPr wrap="none"/>
                    <a:lstStyle/>
                    <a:p>
                      <a:pPr algn="l"/>
                      <a:r>
                        <a:rPr sz="800" b="0">
                          <a:solidFill>
                            <a:srgbClr val="2E2E2E"/>
                          </a:solidFill>
                          <a:latin typeface="Calibri"/>
                        </a:rPr>
                        <a:t>0.47</a:t>
                      </a:r>
                    </a:p>
                  </a:txBody>
                  <a:tcPr marL="85725" marR="38100" marT="19050" marB="19050" anchor="ctr">
                    <a:solidFill>
                      <a:srgbClr val="F5F8FA"/>
                    </a:solidFill>
                  </a:tcPr>
                </a:tc>
                <a:tc>
                  <a:txBody>
                    <a:bodyPr wrap="none"/>
                    <a:lstStyle/>
                    <a:p>
                      <a:pPr algn="l"/>
                      <a:r>
                        <a:rPr sz="800" b="0">
                          <a:solidFill>
                            <a:srgbClr val="2E2E2E"/>
                          </a:solidFill>
                          <a:latin typeface="Calibri"/>
                        </a:rPr>
                        <a:t>0.59</a:t>
                      </a:r>
                    </a:p>
                  </a:txBody>
                  <a:tcPr marL="85725" marR="38100" marT="19050" marB="19050" anchor="ctr">
                    <a:solidFill>
                      <a:srgbClr val="F5F8FA"/>
                    </a:solidFill>
                  </a:tcPr>
                </a:tc>
                <a:tc>
                  <a:txBody>
                    <a:bodyPr wrap="none"/>
                    <a:lstStyle/>
                    <a:p>
                      <a:pPr algn="l"/>
                      <a:r>
                        <a:rPr sz="800" b="0">
                          <a:solidFill>
                            <a:srgbClr val="2E2E2E"/>
                          </a:solidFill>
                          <a:latin typeface="Calibri"/>
                        </a:rPr>
                        <a:t>0.72</a:t>
                      </a:r>
                    </a:p>
                  </a:txBody>
                  <a:tcPr marL="85725" marR="38100" marT="19050" marB="19050" anchor="ctr">
                    <a:solidFill>
                      <a:srgbClr val="F5F8FA"/>
                    </a:solidFill>
                  </a:tcPr>
                </a:tc>
                <a:tc>
                  <a:txBody>
                    <a:bodyPr wrap="none"/>
                    <a:lstStyle/>
                    <a:p>
                      <a:pPr algn="l"/>
                      <a:r>
                        <a:rPr sz="800" b="0">
                          <a:solidFill>
                            <a:srgbClr val="2E2E2E"/>
                          </a:solidFill>
                          <a:latin typeface="Calibri"/>
                        </a:rPr>
                        <a:t>0.85</a:t>
                      </a:r>
                    </a:p>
                  </a:txBody>
                  <a:tcPr marL="85725" marR="38100" marT="19050" marB="19050" anchor="ctr">
                    <a:solidFill>
                      <a:srgbClr val="F5F8FA"/>
                    </a:solidFill>
                  </a:tcPr>
                </a:tc>
                <a:tc>
                  <a:txBody>
                    <a:bodyPr wrap="none"/>
                    <a:lstStyle/>
                    <a:p>
                      <a:pPr algn="l"/>
                      <a:r>
                        <a:rPr sz="800" b="0">
                          <a:solidFill>
                            <a:srgbClr val="2E2E2E"/>
                          </a:solidFill>
                          <a:latin typeface="Calibri"/>
                        </a:rPr>
                        <a:t>1.00</a:t>
                      </a:r>
                    </a:p>
                  </a:txBody>
                  <a:tcPr marL="85725" marR="38100" marT="19050" marB="19050" anchor="ctr">
                    <a:solidFill>
                      <a:srgbClr val="F5F8FA"/>
                    </a:solidFill>
                  </a:tcPr>
                </a:tc>
                <a:tc>
                  <a:txBody>
                    <a:bodyPr wrap="none"/>
                    <a:lstStyle/>
                    <a:p>
                      <a:pPr algn="l"/>
                      <a:r>
                        <a:rPr sz="800" b="0">
                          <a:solidFill>
                            <a:srgbClr val="2E2E2E"/>
                          </a:solidFill>
                          <a:latin typeface="Calibri"/>
                        </a:rPr>
                        <a:t>1.16</a:t>
                      </a:r>
                    </a:p>
                  </a:txBody>
                  <a:tcPr marL="85725" marR="38100" marT="19050" marB="19050" anchor="ctr">
                    <a:solidFill>
                      <a:srgbClr val="F5F8FA"/>
                    </a:solidFill>
                  </a:tcPr>
                </a:tc>
                <a:tc>
                  <a:txBody>
                    <a:bodyPr wrap="none"/>
                    <a:lstStyle/>
                    <a:p>
                      <a:pPr algn="l"/>
                      <a:r>
                        <a:rPr sz="800" b="0">
                          <a:solidFill>
                            <a:srgbClr val="2E2E2E"/>
                          </a:solidFill>
                          <a:latin typeface="Calibri"/>
                        </a:rPr>
                        <a:t>1.33</a:t>
                      </a:r>
                    </a:p>
                  </a:txBody>
                  <a:tcPr marL="85725" marR="38100" marT="19050" marB="19050" anchor="ctr">
                    <a:solidFill>
                      <a:srgbClr val="F5F8FA"/>
                    </a:solidFill>
                  </a:tcPr>
                </a:tc>
                <a:tc>
                  <a:txBody>
                    <a:bodyPr wrap="none"/>
                    <a:lstStyle/>
                    <a:p>
                      <a:pPr algn="l"/>
                      <a:r>
                        <a:rPr sz="800" b="0">
                          <a:solidFill>
                            <a:srgbClr val="2E2E2E"/>
                          </a:solidFill>
                          <a:latin typeface="Calibri"/>
                        </a:rPr>
                        <a:t>1.52</a:t>
                      </a:r>
                    </a:p>
                  </a:txBody>
                  <a:tcPr marL="85725" marR="38100" marT="19050" marB="19050" anchor="ctr">
                    <a:solidFill>
                      <a:srgbClr val="F5F8FA"/>
                    </a:solidFill>
                  </a:tcPr>
                </a:tc>
                <a:tc>
                  <a:txBody>
                    <a:bodyPr wrap="none"/>
                    <a:lstStyle/>
                    <a:p>
                      <a:pPr algn="l"/>
                      <a:r>
                        <a:rPr sz="800" b="0">
                          <a:solidFill>
                            <a:srgbClr val="2E2E2E"/>
                          </a:solidFill>
                          <a:latin typeface="Calibri"/>
                        </a:rPr>
                        <a:t>1.71</a:t>
                      </a:r>
                    </a:p>
                  </a:txBody>
                  <a:tcPr marL="85725" marR="38100" marT="19050" marB="19050" anchor="ctr">
                    <a:solidFill>
                      <a:srgbClr val="F5F8FA"/>
                    </a:solidFill>
                  </a:tcPr>
                </a:tc>
                <a:tc>
                  <a:txBody>
                    <a:bodyPr wrap="none"/>
                    <a:lstStyle/>
                    <a:p>
                      <a:pPr algn="l"/>
                      <a:r>
                        <a:rPr sz="800" b="0">
                          <a:solidFill>
                            <a:srgbClr val="2E2E2E"/>
                          </a:solidFill>
                          <a:latin typeface="Calibri"/>
                        </a:rPr>
                        <a:t>1.92</a:t>
                      </a:r>
                    </a:p>
                  </a:txBody>
                  <a:tcPr marL="85725" marR="38100" marT="19050" marB="19050" anchor="ctr">
                    <a:solidFill>
                      <a:srgbClr val="F5F8FA"/>
                    </a:solidFill>
                  </a:tcPr>
                </a:tc>
                <a:tc>
                  <a:txBody>
                    <a:bodyPr wrap="none"/>
                    <a:lstStyle/>
                    <a:p>
                      <a:pPr algn="l"/>
                      <a:r>
                        <a:rPr sz="800" b="0">
                          <a:solidFill>
                            <a:srgbClr val="2E2E2E"/>
                          </a:solidFill>
                          <a:latin typeface="Calibri"/>
                        </a:rPr>
                        <a:t>2.15</a:t>
                      </a:r>
                    </a:p>
                  </a:txBody>
                  <a:tcPr marL="85725" marR="38100" marT="19050" marB="19050" anchor="ctr">
                    <a:solidFill>
                      <a:srgbClr val="F5F8FA"/>
                    </a:solidFill>
                  </a:tcPr>
                </a:tc>
                <a:tc>
                  <a:txBody>
                    <a:bodyPr wrap="none"/>
                    <a:lstStyle/>
                    <a:p>
                      <a:pPr algn="l"/>
                      <a:r>
                        <a:rPr sz="800" b="0">
                          <a:solidFill>
                            <a:srgbClr val="2E2E2E"/>
                          </a:solidFill>
                          <a:latin typeface="Calibri"/>
                        </a:rPr>
                        <a:t>2.39</a:t>
                      </a:r>
                    </a:p>
                  </a:txBody>
                  <a:tcPr marL="85725" marR="38100" marT="19050" marB="19050" anchor="ctr">
                    <a:solidFill>
                      <a:srgbClr val="F5F8FA"/>
                    </a:solidFill>
                  </a:tcPr>
                </a:tc>
                <a:tc>
                  <a:txBody>
                    <a:bodyPr wrap="none"/>
                    <a:lstStyle/>
                    <a:p>
                      <a:pPr algn="l"/>
                      <a:r>
                        <a:rPr sz="800" b="0">
                          <a:solidFill>
                            <a:srgbClr val="2E2E2E"/>
                          </a:solidFill>
                          <a:latin typeface="Calibri"/>
                        </a:rPr>
                        <a:t>15.0%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800" b="0">
                          <a:solidFill>
                            <a:srgbClr val="2E2E2E"/>
                          </a:solidFill>
                          <a:latin typeface="Calibri"/>
                        </a:rPr>
                        <a:t>0.12</a:t>
                      </a:r>
                    </a:p>
                  </a:txBody>
                  <a:tcPr marL="85725" marR="38100" marT="19050" marB="19050" anchor="ctr">
                    <a:solidFill>
                      <a:srgbClr val="FFFFFF"/>
                    </a:solidFill>
                  </a:tcPr>
                </a:tc>
                <a:tc>
                  <a:txBody>
                    <a:bodyPr wrap="none"/>
                    <a:lstStyle/>
                    <a:p>
                      <a:pPr algn="l"/>
                      <a:r>
                        <a:rPr sz="800" b="0">
                          <a:solidFill>
                            <a:srgbClr val="2E2E2E"/>
                          </a:solidFill>
                          <a:latin typeface="Calibri"/>
                        </a:rPr>
                        <a:t>0.14</a:t>
                      </a:r>
                    </a:p>
                  </a:txBody>
                  <a:tcPr marL="85725" marR="38100" marT="19050" marB="19050" anchor="ctr">
                    <a:solidFill>
                      <a:srgbClr val="FFFFFF"/>
                    </a:solidFill>
                  </a:tcPr>
                </a:tc>
                <a:tc>
                  <a:txBody>
                    <a:bodyPr wrap="none"/>
                    <a:lstStyle/>
                    <a:p>
                      <a:pPr algn="l"/>
                      <a:r>
                        <a:rPr sz="800" b="0">
                          <a:solidFill>
                            <a:srgbClr val="2E2E2E"/>
                          </a:solidFill>
                          <a:latin typeface="Calibri"/>
                        </a:rPr>
                        <a:t>0.17</a:t>
                      </a:r>
                    </a:p>
                  </a:txBody>
                  <a:tcPr marL="85725" marR="38100" marT="19050" marB="19050" anchor="ctr">
                    <a:solidFill>
                      <a:srgbClr val="FFFFFF"/>
                    </a:solidFill>
                  </a:tcPr>
                </a:tc>
                <a:tc>
                  <a:txBody>
                    <a:bodyPr wrap="none"/>
                    <a:lstStyle/>
                    <a:p>
                      <a:pPr algn="l"/>
                      <a:r>
                        <a:rPr sz="800" b="0">
                          <a:solidFill>
                            <a:srgbClr val="2E2E2E"/>
                          </a:solidFill>
                          <a:latin typeface="Calibri"/>
                        </a:rPr>
                        <a:t>0.22</a:t>
                      </a:r>
                    </a:p>
                  </a:txBody>
                  <a:tcPr marL="85725" marR="38100" marT="19050" marB="19050" anchor="ctr">
                    <a:solidFill>
                      <a:srgbClr val="FFFFFF"/>
                    </a:solidFill>
                  </a:tcPr>
                </a:tc>
                <a:tc>
                  <a:txBody>
                    <a:bodyPr wrap="none"/>
                    <a:lstStyle/>
                    <a:p>
                      <a:pPr algn="l"/>
                      <a:r>
                        <a:rPr sz="800" b="0">
                          <a:solidFill>
                            <a:srgbClr val="2E2E2E"/>
                          </a:solidFill>
                          <a:latin typeface="Calibri"/>
                        </a:rPr>
                        <a:t>0.27</a:t>
                      </a:r>
                    </a:p>
                  </a:txBody>
                  <a:tcPr marL="85725" marR="38100" marT="19050" marB="19050" anchor="ctr">
                    <a:solidFill>
                      <a:srgbClr val="FFFFFF"/>
                    </a:solidFill>
                  </a:tcPr>
                </a:tc>
                <a:tc>
                  <a:txBody>
                    <a:bodyPr wrap="none"/>
                    <a:lstStyle/>
                    <a:p>
                      <a:pPr algn="l"/>
                      <a:r>
                        <a:rPr sz="800" b="0">
                          <a:solidFill>
                            <a:srgbClr val="2E2E2E"/>
                          </a:solidFill>
                          <a:latin typeface="Calibri"/>
                        </a:rPr>
                        <a:t>0.33</a:t>
                      </a:r>
                    </a:p>
                  </a:txBody>
                  <a:tcPr marL="85725" marR="38100" marT="19050" marB="19050" anchor="ctr">
                    <a:solidFill>
                      <a:srgbClr val="FFFFFF"/>
                    </a:solidFill>
                  </a:tcPr>
                </a:tc>
                <a:tc>
                  <a:txBody>
                    <a:bodyPr wrap="none"/>
                    <a:lstStyle/>
                    <a:p>
                      <a:pPr algn="l"/>
                      <a:r>
                        <a:rPr sz="800" b="0">
                          <a:solidFill>
                            <a:srgbClr val="2E2E2E"/>
                          </a:solidFill>
                          <a:latin typeface="Calibri"/>
                        </a:rPr>
                        <a:t>0.39</a:t>
                      </a:r>
                    </a:p>
                  </a:txBody>
                  <a:tcPr marL="85725" marR="38100" marT="19050" marB="19050" anchor="ctr">
                    <a:solidFill>
                      <a:srgbClr val="FFFFFF"/>
                    </a:solidFill>
                  </a:tcPr>
                </a:tc>
                <a:tc>
                  <a:txBody>
                    <a:bodyPr wrap="none"/>
                    <a:lstStyle/>
                    <a:p>
                      <a:pPr algn="l"/>
                      <a:r>
                        <a:rPr sz="800" b="0">
                          <a:solidFill>
                            <a:srgbClr val="2E2E2E"/>
                          </a:solidFill>
                          <a:latin typeface="Calibri"/>
                        </a:rPr>
                        <a:t>0.45</a:t>
                      </a:r>
                    </a:p>
                  </a:txBody>
                  <a:tcPr marL="85725" marR="38100" marT="19050" marB="19050" anchor="ctr">
                    <a:solidFill>
                      <a:srgbClr val="FFFFFF"/>
                    </a:solidFill>
                  </a:tcPr>
                </a:tc>
                <a:tc>
                  <a:txBody>
                    <a:bodyPr wrap="none"/>
                    <a:lstStyle/>
                    <a:p>
                      <a:pPr algn="l"/>
                      <a:r>
                        <a:rPr sz="800" b="0">
                          <a:solidFill>
                            <a:srgbClr val="2E2E2E"/>
                          </a:solidFill>
                          <a:latin typeface="Calibri"/>
                        </a:rPr>
                        <a:t>0.52</a:t>
                      </a:r>
                    </a:p>
                  </a:txBody>
                  <a:tcPr marL="85725" marR="38100" marT="19050" marB="19050" anchor="ctr">
                    <a:solidFill>
                      <a:srgbClr val="FFFFFF"/>
                    </a:solidFill>
                  </a:tcPr>
                </a:tc>
                <a:tc>
                  <a:txBody>
                    <a:bodyPr wrap="none"/>
                    <a:lstStyle/>
                    <a:p>
                      <a:pPr algn="l"/>
                      <a:r>
                        <a:rPr sz="800" b="0">
                          <a:solidFill>
                            <a:srgbClr val="2E2E2E"/>
                          </a:solidFill>
                          <a:latin typeface="Calibri"/>
                        </a:rPr>
                        <a:t>0.59</a:t>
                      </a:r>
                    </a:p>
                  </a:txBody>
                  <a:tcPr marL="85725" marR="38100" marT="19050" marB="19050" anchor="ctr">
                    <a:solidFill>
                      <a:srgbClr val="FFFFFF"/>
                    </a:solidFill>
                  </a:tcPr>
                </a:tc>
                <a:tc>
                  <a:txBody>
                    <a:bodyPr wrap="none"/>
                    <a:lstStyle/>
                    <a:p>
                      <a:pPr algn="l"/>
                      <a:r>
                        <a:rPr sz="800" b="0">
                          <a:solidFill>
                            <a:srgbClr val="2E2E2E"/>
                          </a:solidFill>
                          <a:latin typeface="Calibri"/>
                        </a:rPr>
                        <a:t>0.66</a:t>
                      </a:r>
                    </a:p>
                  </a:txBody>
                  <a:tcPr marL="85725" marR="38100" marT="19050" marB="19050" anchor="ctr">
                    <a:solidFill>
                      <a:srgbClr val="FFFFFF"/>
                    </a:solidFill>
                  </a:tcPr>
                </a:tc>
                <a:tc>
                  <a:txBody>
                    <a:bodyPr wrap="none"/>
                    <a:lstStyle/>
                    <a:p>
                      <a:pPr algn="l"/>
                      <a:r>
                        <a:rPr sz="800" b="0">
                          <a:solidFill>
                            <a:srgbClr val="2E2E2E"/>
                          </a:solidFill>
                          <a:latin typeface="Calibri"/>
                        </a:rPr>
                        <a:t>0.73</a:t>
                      </a:r>
                    </a:p>
                  </a:txBody>
                  <a:tcPr marL="85725" marR="38100" marT="19050" marB="19050" anchor="ctr">
                    <a:solidFill>
                      <a:srgbClr val="FFFFFF"/>
                    </a:solidFill>
                  </a:tcPr>
                </a:tc>
                <a:tc>
                  <a:txBody>
                    <a:bodyPr wrap="none"/>
                    <a:lstStyle/>
                    <a:p>
                      <a:pPr algn="l"/>
                      <a:r>
                        <a:rPr sz="800" b="0">
                          <a:solidFill>
                            <a:srgbClr val="2E2E2E"/>
                          </a:solidFill>
                          <a:latin typeface="Calibri"/>
                        </a:rPr>
                        <a:t>0.80</a:t>
                      </a:r>
                    </a:p>
                  </a:txBody>
                  <a:tcPr marL="85725" marR="38100" marT="19050" marB="19050" anchor="ctr">
                    <a:solidFill>
                      <a:srgbClr val="FFFFFF"/>
                    </a:solidFill>
                  </a:tcPr>
                </a:tc>
                <a:tc>
                  <a:txBody>
                    <a:bodyPr wrap="none"/>
                    <a:lstStyle/>
                    <a:p>
                      <a:pPr algn="l"/>
                      <a:r>
                        <a:rPr sz="800" b="0">
                          <a:solidFill>
                            <a:srgbClr val="2E2E2E"/>
                          </a:solidFill>
                          <a:latin typeface="Calibri"/>
                        </a:rPr>
                        <a:t>0.88</a:t>
                      </a:r>
                    </a:p>
                  </a:txBody>
                  <a:tcPr marL="85725" marR="38100" marT="19050" marB="19050" anchor="ctr">
                    <a:solidFill>
                      <a:srgbClr val="FFFFFF"/>
                    </a:solidFill>
                  </a:tcPr>
                </a:tc>
                <a:tc>
                  <a:txBody>
                    <a:bodyPr wrap="none"/>
                    <a:lstStyle/>
                    <a:p>
                      <a:pPr algn="l"/>
                      <a:r>
                        <a:rPr sz="800" b="0">
                          <a:solidFill>
                            <a:srgbClr val="2E2E2E"/>
                          </a:solidFill>
                          <a:latin typeface="Calibri"/>
                        </a:rPr>
                        <a:t>0.96</a:t>
                      </a:r>
                    </a:p>
                  </a:txBody>
                  <a:tcPr marL="85725" marR="38100" marT="19050" marB="19050" anchor="ctr">
                    <a:solidFill>
                      <a:srgbClr val="FFFFFF"/>
                    </a:solidFill>
                  </a:tcPr>
                </a:tc>
                <a:tc>
                  <a:txBody>
                    <a:bodyPr wrap="none"/>
                    <a:lstStyle/>
                    <a:p>
                      <a:pPr algn="l"/>
                      <a:r>
                        <a:rPr sz="800" b="0">
                          <a:solidFill>
                            <a:srgbClr val="2E2E2E"/>
                          </a:solidFill>
                          <a:latin typeface="Calibri"/>
                        </a:rPr>
                        <a:t>1.04</a:t>
                      </a:r>
                    </a:p>
                  </a:txBody>
                  <a:tcPr marL="85725" marR="38100" marT="19050" marB="19050" anchor="ctr">
                    <a:solidFill>
                      <a:srgbClr val="FFFFFF"/>
                    </a:solidFill>
                  </a:tcPr>
                </a:tc>
                <a:tc>
                  <a:txBody>
                    <a:bodyPr wrap="none"/>
                    <a:lstStyle/>
                    <a:p>
                      <a:pPr algn="l"/>
                      <a:r>
                        <a:rPr sz="800" b="0">
                          <a:solidFill>
                            <a:srgbClr val="2E2E2E"/>
                          </a:solidFill>
                          <a:latin typeface="Calibri"/>
                        </a:rPr>
                        <a:t>12.2%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1.47</a:t>
                      </a:r>
                    </a:p>
                  </a:txBody>
                  <a:tcPr marL="85725" marR="38100" marT="19050" marB="19050" anchor="ctr">
                    <a:solidFill>
                      <a:srgbClr val="E0E8EF"/>
                    </a:solidFill>
                  </a:tcPr>
                </a:tc>
                <a:tc>
                  <a:txBody>
                    <a:bodyPr wrap="none"/>
                    <a:lstStyle/>
                    <a:p>
                      <a:pPr algn="l"/>
                      <a:r>
                        <a:rPr sz="800" b="1">
                          <a:solidFill>
                            <a:srgbClr val="2E2E2E"/>
                          </a:solidFill>
                          <a:latin typeface="Calibri"/>
                        </a:rPr>
                        <a:t>1.72</a:t>
                      </a:r>
                    </a:p>
                  </a:txBody>
                  <a:tcPr marL="85725" marR="38100" marT="19050" marB="19050" anchor="ctr">
                    <a:solidFill>
                      <a:srgbClr val="E0E8EF"/>
                    </a:solidFill>
                  </a:tcPr>
                </a:tc>
                <a:tc>
                  <a:txBody>
                    <a:bodyPr wrap="none"/>
                    <a:lstStyle/>
                    <a:p>
                      <a:pPr algn="l"/>
                      <a:r>
                        <a:rPr sz="800" b="1">
                          <a:solidFill>
                            <a:srgbClr val="2E2E2E"/>
                          </a:solidFill>
                          <a:latin typeface="Calibri"/>
                        </a:rPr>
                        <a:t>2.13</a:t>
                      </a:r>
                    </a:p>
                  </a:txBody>
                  <a:tcPr marL="85725" marR="38100" marT="19050" marB="19050" anchor="ctr">
                    <a:solidFill>
                      <a:srgbClr val="E0E8EF"/>
                    </a:solidFill>
                  </a:tcPr>
                </a:tc>
                <a:tc>
                  <a:txBody>
                    <a:bodyPr wrap="none"/>
                    <a:lstStyle/>
                    <a:p>
                      <a:pPr algn="l"/>
                      <a:r>
                        <a:rPr sz="800" b="1">
                          <a:solidFill>
                            <a:srgbClr val="2E2E2E"/>
                          </a:solidFill>
                          <a:latin typeface="Calibri"/>
                        </a:rPr>
                        <a:t>2.73</a:t>
                      </a:r>
                    </a:p>
                  </a:txBody>
                  <a:tcPr marL="85725" marR="38100" marT="19050" marB="19050" anchor="ctr">
                    <a:solidFill>
                      <a:srgbClr val="E0E8EF"/>
                    </a:solidFill>
                  </a:tcPr>
                </a:tc>
                <a:tc>
                  <a:txBody>
                    <a:bodyPr wrap="none"/>
                    <a:lstStyle/>
                    <a:p>
                      <a:pPr algn="l"/>
                      <a:r>
                        <a:rPr sz="800" b="1">
                          <a:solidFill>
                            <a:srgbClr val="2E2E2E"/>
                          </a:solidFill>
                          <a:latin typeface="Calibri"/>
                        </a:rPr>
                        <a:t>3.42</a:t>
                      </a:r>
                    </a:p>
                  </a:txBody>
                  <a:tcPr marL="85725" marR="38100" marT="19050" marB="19050" anchor="ctr">
                    <a:solidFill>
                      <a:srgbClr val="E0E8EF"/>
                    </a:solidFill>
                  </a:tcPr>
                </a:tc>
                <a:tc>
                  <a:txBody>
                    <a:bodyPr wrap="none"/>
                    <a:lstStyle/>
                    <a:p>
                      <a:pPr algn="l"/>
                      <a:r>
                        <a:rPr sz="800" b="1">
                          <a:solidFill>
                            <a:srgbClr val="2E2E2E"/>
                          </a:solidFill>
                          <a:latin typeface="Calibri"/>
                        </a:rPr>
                        <a:t>4.16</a:t>
                      </a:r>
                    </a:p>
                  </a:txBody>
                  <a:tcPr marL="85725" marR="38100" marT="19050" marB="19050" anchor="ctr">
                    <a:solidFill>
                      <a:srgbClr val="E0E8EF"/>
                    </a:solidFill>
                  </a:tcPr>
                </a:tc>
                <a:tc>
                  <a:txBody>
                    <a:bodyPr wrap="none"/>
                    <a:lstStyle/>
                    <a:p>
                      <a:pPr algn="l"/>
                      <a:r>
                        <a:rPr sz="800" b="1">
                          <a:solidFill>
                            <a:srgbClr val="2E2E2E"/>
                          </a:solidFill>
                          <a:latin typeface="Calibri"/>
                        </a:rPr>
                        <a:t>4.97</a:t>
                      </a:r>
                    </a:p>
                  </a:txBody>
                  <a:tcPr marL="85725" marR="38100" marT="19050" marB="19050" anchor="ctr">
                    <a:solidFill>
                      <a:srgbClr val="E0E8EF"/>
                    </a:solidFill>
                  </a:tcPr>
                </a:tc>
                <a:tc>
                  <a:txBody>
                    <a:bodyPr wrap="none"/>
                    <a:lstStyle/>
                    <a:p>
                      <a:pPr algn="l"/>
                      <a:r>
                        <a:rPr sz="800" b="1">
                          <a:solidFill>
                            <a:srgbClr val="2E2E2E"/>
                          </a:solidFill>
                          <a:latin typeface="Calibri"/>
                        </a:rPr>
                        <a:t>5.81</a:t>
                      </a:r>
                    </a:p>
                  </a:txBody>
                  <a:tcPr marL="85725" marR="38100" marT="19050" marB="19050" anchor="ctr">
                    <a:solidFill>
                      <a:srgbClr val="E0E8EF"/>
                    </a:solidFill>
                  </a:tcPr>
                </a:tc>
                <a:tc>
                  <a:txBody>
                    <a:bodyPr wrap="none"/>
                    <a:lstStyle/>
                    <a:p>
                      <a:pPr algn="l"/>
                      <a:r>
                        <a:rPr sz="800" b="1">
                          <a:solidFill>
                            <a:srgbClr val="2E2E2E"/>
                          </a:solidFill>
                          <a:latin typeface="Calibri"/>
                        </a:rPr>
                        <a:t>6.70</a:t>
                      </a:r>
                    </a:p>
                  </a:txBody>
                  <a:tcPr marL="85725" marR="38100" marT="19050" marB="19050" anchor="ctr">
                    <a:solidFill>
                      <a:srgbClr val="E0E8EF"/>
                    </a:solidFill>
                  </a:tcPr>
                </a:tc>
                <a:tc>
                  <a:txBody>
                    <a:bodyPr wrap="none"/>
                    <a:lstStyle/>
                    <a:p>
                      <a:pPr algn="l"/>
                      <a:r>
                        <a:rPr sz="800" b="1">
                          <a:solidFill>
                            <a:srgbClr val="2E2E2E"/>
                          </a:solidFill>
                          <a:latin typeface="Calibri"/>
                        </a:rPr>
                        <a:t>7.63</a:t>
                      </a:r>
                    </a:p>
                  </a:txBody>
                  <a:tcPr marL="85725" marR="38100" marT="19050" marB="19050" anchor="ctr">
                    <a:solidFill>
                      <a:srgbClr val="E0E8EF"/>
                    </a:solidFill>
                  </a:tcPr>
                </a:tc>
                <a:tc>
                  <a:txBody>
                    <a:bodyPr wrap="none"/>
                    <a:lstStyle/>
                    <a:p>
                      <a:pPr algn="l"/>
                      <a:r>
                        <a:rPr sz="800" b="1">
                          <a:solidFill>
                            <a:srgbClr val="2E2E2E"/>
                          </a:solidFill>
                          <a:latin typeface="Calibri"/>
                        </a:rPr>
                        <a:t>8.60</a:t>
                      </a:r>
                    </a:p>
                  </a:txBody>
                  <a:tcPr marL="85725" marR="38100" marT="19050" marB="19050" anchor="ctr">
                    <a:solidFill>
                      <a:srgbClr val="E0E8EF"/>
                    </a:solidFill>
                  </a:tcPr>
                </a:tc>
                <a:tc>
                  <a:txBody>
                    <a:bodyPr wrap="none"/>
                    <a:lstStyle/>
                    <a:p>
                      <a:pPr algn="l"/>
                      <a:r>
                        <a:rPr sz="800" b="1">
                          <a:solidFill>
                            <a:srgbClr val="2E2E2E"/>
                          </a:solidFill>
                          <a:latin typeface="Calibri"/>
                        </a:rPr>
                        <a:t>9.62</a:t>
                      </a:r>
                    </a:p>
                  </a:txBody>
                  <a:tcPr marL="85725" marR="38100" marT="19050" marB="19050" anchor="ctr">
                    <a:solidFill>
                      <a:srgbClr val="E0E8EF"/>
                    </a:solidFill>
                  </a:tcPr>
                </a:tc>
                <a:tc>
                  <a:txBody>
                    <a:bodyPr wrap="none"/>
                    <a:lstStyle/>
                    <a:p>
                      <a:pPr algn="l"/>
                      <a:r>
                        <a:rPr sz="800" b="1">
                          <a:solidFill>
                            <a:srgbClr val="2E2E2E"/>
                          </a:solidFill>
                          <a:latin typeface="Calibri"/>
                        </a:rPr>
                        <a:t>10.7</a:t>
                      </a:r>
                    </a:p>
                  </a:txBody>
                  <a:tcPr marL="85725" marR="38100" marT="19050" marB="19050" anchor="ctr">
                    <a:solidFill>
                      <a:srgbClr val="E0E8EF"/>
                    </a:solidFill>
                  </a:tcPr>
                </a:tc>
                <a:tc>
                  <a:txBody>
                    <a:bodyPr wrap="none"/>
                    <a:lstStyle/>
                    <a:p>
                      <a:pPr algn="l"/>
                      <a:r>
                        <a:rPr sz="800" b="1">
                          <a:solidFill>
                            <a:srgbClr val="2E2E2E"/>
                          </a:solidFill>
                          <a:latin typeface="Calibri"/>
                        </a:rPr>
                        <a:t>11.8</a:t>
                      </a:r>
                    </a:p>
                  </a:txBody>
                  <a:tcPr marL="85725" marR="38100" marT="19050" marB="19050" anchor="ctr">
                    <a:solidFill>
                      <a:srgbClr val="E0E8EF"/>
                    </a:solidFill>
                  </a:tcPr>
                </a:tc>
                <a:tc>
                  <a:txBody>
                    <a:bodyPr wrap="none"/>
                    <a:lstStyle/>
                    <a:p>
                      <a:pPr algn="l"/>
                      <a:r>
                        <a:rPr sz="800" b="1">
                          <a:solidFill>
                            <a:srgbClr val="2E2E2E"/>
                          </a:solidFill>
                          <a:latin typeface="Calibri"/>
                        </a:rPr>
                        <a:t>12.9</a:t>
                      </a:r>
                    </a:p>
                  </a:txBody>
                  <a:tcPr marL="85725" marR="38100" marT="19050" marB="19050" anchor="ctr">
                    <a:solidFill>
                      <a:srgbClr val="E0E8EF"/>
                    </a:solidFill>
                  </a:tcPr>
                </a:tc>
                <a:tc>
                  <a:txBody>
                    <a:bodyPr wrap="none"/>
                    <a:lstStyle/>
                    <a:p>
                      <a:pPr algn="l"/>
                      <a:r>
                        <a:rPr sz="800" b="1">
                          <a:solidFill>
                            <a:srgbClr val="2E2E2E"/>
                          </a:solidFill>
                          <a:latin typeface="Calibri"/>
                        </a:rPr>
                        <a:t>14.1</a:t>
                      </a:r>
                    </a:p>
                  </a:txBody>
                  <a:tcPr marL="85725" marR="38100" marT="19050" marB="19050" anchor="ctr">
                    <a:solidFill>
                      <a:srgbClr val="E0E8EF"/>
                    </a:solidFill>
                  </a:tcPr>
                </a:tc>
                <a:tc>
                  <a:txBody>
                    <a:bodyPr wrap="none"/>
                    <a:lstStyle/>
                    <a:p>
                      <a:pPr algn="l"/>
                      <a:r>
                        <a:rPr sz="800" b="1">
                          <a:solidFill>
                            <a:srgbClr val="2E2E2E"/>
                          </a:solidFill>
                          <a:latin typeface="Calibri"/>
                        </a:rPr>
                        <a:t>13.0%</a:t>
                      </a:r>
                    </a:p>
                  </a:txBody>
                  <a:tcPr marL="85725" marR="38100" marT="19050" marB="19050" anchor="ctr">
                    <a:solidFill>
                      <a:srgbClr val="E0E8EF"/>
                    </a:solidFill>
                  </a:tcPr>
                </a:tc>
              </a:tr>
            </a:tbl>
          </a:graphicData>
        </a:graphic>
      </p:graphicFrame>
      <p:sp>
        <p:nvSpPr>
          <p:cNvPr id="14" name="TextBox 13"/>
          <p:cNvSpPr txBox="1"/>
          <p:nvPr/>
        </p:nvSpPr>
        <p:spPr>
          <a:xfrm>
            <a:off x="219075" y="458152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4857750"/>
            <a:ext cx="11906250" cy="1866900"/>
          </a:xfrm>
          <a:prstGeom prst="roundRect">
            <a:avLst>
              <a:gd name="adj" fmla="val 40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943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Analysis, By Product Type</a:t>
            </a:r>
          </a:p>
        </p:txBody>
      </p:sp>
      <p:sp>
        <p:nvSpPr>
          <p:cNvPr id="17" name="Rectangle 16"/>
          <p:cNvSpPr/>
          <p:nvPr/>
        </p:nvSpPr>
        <p:spPr>
          <a:xfrm>
            <a:off x="276225" y="5181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267325"/>
            <a:ext cx="11639550" cy="1381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'Simlandi' is the largest product type at 16.9% of 2036 volume (2.39 Mn Doses).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'Simlandi' grows fastest 15.0%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'Simlandi' (+277 BPS) and away from 'Yusimry' (-252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volume rises from 4.16 to 14.1 Mn Doses across 11 categories.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Value Analysis, By Product Type (US$ Mn)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3867150"/>
          </a:xfrm>
          <a:prstGeom prst="roundRect">
            <a:avLst>
              <a:gd name="adj" fmla="val 1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Product Type (US$ Mn)</a:t>
            </a:r>
          </a:p>
        </p:txBody>
      </p:sp>
      <p:graphicFrame>
        <p:nvGraphicFramePr>
          <p:cNvPr id="13" name="Table 12"/>
          <p:cNvGraphicFramePr>
            <a:graphicFrameLocks noGrp="1"/>
          </p:cNvGraphicFramePr>
          <p:nvPr/>
        </p:nvGraphicFramePr>
        <p:xfrm>
          <a:off x="238125" y="1143000"/>
          <a:ext cx="11715752" cy="2352675"/>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Product Type</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800" b="0">
                          <a:solidFill>
                            <a:srgbClr val="2E2E2E"/>
                          </a:solidFill>
                          <a:latin typeface="Calibri"/>
                        </a:rPr>
                        <a:t>97.3</a:t>
                      </a:r>
                    </a:p>
                  </a:txBody>
                  <a:tcPr marL="85725" marR="38100" marT="19050" marB="19050" anchor="ctr">
                    <a:solidFill>
                      <a:srgbClr val="FFFFFF"/>
                    </a:solidFill>
                  </a:tcPr>
                </a:tc>
                <a:tc>
                  <a:txBody>
                    <a:bodyPr wrap="none"/>
                    <a:lstStyle/>
                    <a:p>
                      <a:pPr algn="l"/>
                      <a:r>
                        <a:rPr sz="800" b="0">
                          <a:solidFill>
                            <a:srgbClr val="2E2E2E"/>
                          </a:solidFill>
                          <a:latin typeface="Calibri"/>
                        </a:rPr>
                        <a:t>108.7</a:t>
                      </a:r>
                    </a:p>
                  </a:txBody>
                  <a:tcPr marL="85725" marR="38100" marT="19050" marB="19050" anchor="ctr">
                    <a:solidFill>
                      <a:srgbClr val="FFFFFF"/>
                    </a:solidFill>
                  </a:tcPr>
                </a:tc>
                <a:tc>
                  <a:txBody>
                    <a:bodyPr wrap="none"/>
                    <a:lstStyle/>
                    <a:p>
                      <a:pPr algn="l"/>
                      <a:r>
                        <a:rPr sz="800" b="0">
                          <a:solidFill>
                            <a:srgbClr val="2E2E2E"/>
                          </a:solidFill>
                          <a:latin typeface="Calibri"/>
                        </a:rPr>
                        <a:t>128.8</a:t>
                      </a:r>
                    </a:p>
                  </a:txBody>
                  <a:tcPr marL="85725" marR="38100" marT="19050" marB="19050" anchor="ctr">
                    <a:solidFill>
                      <a:srgbClr val="FFFFFF"/>
                    </a:solidFill>
                  </a:tcPr>
                </a:tc>
                <a:tc>
                  <a:txBody>
                    <a:bodyPr wrap="none"/>
                    <a:lstStyle/>
                    <a:p>
                      <a:pPr algn="l"/>
                      <a:r>
                        <a:rPr sz="800" b="0">
                          <a:solidFill>
                            <a:srgbClr val="2E2E2E"/>
                          </a:solidFill>
                          <a:latin typeface="Calibri"/>
                        </a:rPr>
                        <a:t>157.5</a:t>
                      </a:r>
                    </a:p>
                  </a:txBody>
                  <a:tcPr marL="85725" marR="38100" marT="19050" marB="19050" anchor="ctr">
                    <a:solidFill>
                      <a:srgbClr val="FFFFFF"/>
                    </a:solidFill>
                  </a:tcPr>
                </a:tc>
                <a:tc>
                  <a:txBody>
                    <a:bodyPr wrap="none"/>
                    <a:lstStyle/>
                    <a:p>
                      <a:pPr algn="l"/>
                      <a:r>
                        <a:rPr sz="800" b="0">
                          <a:solidFill>
                            <a:srgbClr val="2E2E2E"/>
                          </a:solidFill>
                          <a:latin typeface="Calibri"/>
                        </a:rPr>
                        <a:t>188.5</a:t>
                      </a:r>
                    </a:p>
                  </a:txBody>
                  <a:tcPr marL="85725" marR="38100" marT="19050" marB="19050" anchor="ctr">
                    <a:solidFill>
                      <a:srgbClr val="FFFFFF"/>
                    </a:solidFill>
                  </a:tcPr>
                </a:tc>
                <a:tc>
                  <a:txBody>
                    <a:bodyPr wrap="none"/>
                    <a:lstStyle/>
                    <a:p>
                      <a:pPr algn="l"/>
                      <a:r>
                        <a:rPr sz="800" b="0">
                          <a:solidFill>
                            <a:srgbClr val="2E2E2E"/>
                          </a:solidFill>
                          <a:latin typeface="Calibri"/>
                        </a:rPr>
                        <a:t>218.7</a:t>
                      </a:r>
                    </a:p>
                  </a:txBody>
                  <a:tcPr marL="85725" marR="38100" marT="19050" marB="19050" anchor="ctr">
                    <a:solidFill>
                      <a:srgbClr val="FFFFFF"/>
                    </a:solidFill>
                  </a:tcPr>
                </a:tc>
                <a:tc>
                  <a:txBody>
                    <a:bodyPr wrap="none"/>
                    <a:lstStyle/>
                    <a:p>
                      <a:pPr algn="l"/>
                      <a:r>
                        <a:rPr sz="800" b="0">
                          <a:solidFill>
                            <a:srgbClr val="2E2E2E"/>
                          </a:solidFill>
                          <a:latin typeface="Calibri"/>
                        </a:rPr>
                        <a:t>249.2</a:t>
                      </a:r>
                    </a:p>
                  </a:txBody>
                  <a:tcPr marL="85725" marR="38100" marT="19050" marB="19050" anchor="ctr">
                    <a:solidFill>
                      <a:srgbClr val="FFFFFF"/>
                    </a:solidFill>
                  </a:tcPr>
                </a:tc>
                <a:tc>
                  <a:txBody>
                    <a:bodyPr wrap="none"/>
                    <a:lstStyle/>
                    <a:p>
                      <a:pPr algn="l"/>
                      <a:r>
                        <a:rPr sz="800" b="0">
                          <a:solidFill>
                            <a:srgbClr val="2E2E2E"/>
                          </a:solidFill>
                          <a:latin typeface="Calibri"/>
                        </a:rPr>
                        <a:t>278.1</a:t>
                      </a:r>
                    </a:p>
                  </a:txBody>
                  <a:tcPr marL="85725" marR="38100" marT="19050" marB="19050" anchor="ctr">
                    <a:solidFill>
                      <a:srgbClr val="FFFFFF"/>
                    </a:solidFill>
                  </a:tcPr>
                </a:tc>
                <a:tc>
                  <a:txBody>
                    <a:bodyPr wrap="none"/>
                    <a:lstStyle/>
                    <a:p>
                      <a:pPr algn="l"/>
                      <a:r>
                        <a:rPr sz="800" b="0">
                          <a:solidFill>
                            <a:srgbClr val="2E2E2E"/>
                          </a:solidFill>
                          <a:latin typeface="Calibri"/>
                        </a:rPr>
                        <a:t>305.8</a:t>
                      </a:r>
                    </a:p>
                  </a:txBody>
                  <a:tcPr marL="85725" marR="38100" marT="19050" marB="19050" anchor="ctr">
                    <a:solidFill>
                      <a:srgbClr val="FFFFFF"/>
                    </a:solidFill>
                  </a:tcPr>
                </a:tc>
                <a:tc>
                  <a:txBody>
                    <a:bodyPr wrap="none"/>
                    <a:lstStyle/>
                    <a:p>
                      <a:pPr algn="l"/>
                      <a:r>
                        <a:rPr sz="800" b="0">
                          <a:solidFill>
                            <a:srgbClr val="2E2E2E"/>
                          </a:solidFill>
                          <a:latin typeface="Calibri"/>
                        </a:rPr>
                        <a:t>332.4</a:t>
                      </a:r>
                    </a:p>
                  </a:txBody>
                  <a:tcPr marL="85725" marR="38100" marT="19050" marB="19050" anchor="ctr">
                    <a:solidFill>
                      <a:srgbClr val="FFFFFF"/>
                    </a:solidFill>
                  </a:tcPr>
                </a:tc>
                <a:tc>
                  <a:txBody>
                    <a:bodyPr wrap="none"/>
                    <a:lstStyle/>
                    <a:p>
                      <a:pPr algn="l"/>
                      <a:r>
                        <a:rPr sz="800" b="0">
                          <a:solidFill>
                            <a:srgbClr val="2E2E2E"/>
                          </a:solidFill>
                          <a:latin typeface="Calibri"/>
                        </a:rPr>
                        <a:t>357.5</a:t>
                      </a:r>
                    </a:p>
                  </a:txBody>
                  <a:tcPr marL="85725" marR="38100" marT="19050" marB="19050" anchor="ctr">
                    <a:solidFill>
                      <a:srgbClr val="FFFFFF"/>
                    </a:solidFill>
                  </a:tcPr>
                </a:tc>
                <a:tc>
                  <a:txBody>
                    <a:bodyPr wrap="none"/>
                    <a:lstStyle/>
                    <a:p>
                      <a:pPr algn="l"/>
                      <a:r>
                        <a:rPr sz="800" b="0">
                          <a:solidFill>
                            <a:srgbClr val="2E2E2E"/>
                          </a:solidFill>
                          <a:latin typeface="Calibri"/>
                        </a:rPr>
                        <a:t>381.2</a:t>
                      </a:r>
                    </a:p>
                  </a:txBody>
                  <a:tcPr marL="85725" marR="38100" marT="19050" marB="19050" anchor="ctr">
                    <a:solidFill>
                      <a:srgbClr val="FFFFFF"/>
                    </a:solidFill>
                  </a:tcPr>
                </a:tc>
                <a:tc>
                  <a:txBody>
                    <a:bodyPr wrap="none"/>
                    <a:lstStyle/>
                    <a:p>
                      <a:pPr algn="l"/>
                      <a:r>
                        <a:rPr sz="800" b="0">
                          <a:solidFill>
                            <a:srgbClr val="2E2E2E"/>
                          </a:solidFill>
                          <a:latin typeface="Calibri"/>
                        </a:rPr>
                        <a:t>403.4</a:t>
                      </a:r>
                    </a:p>
                  </a:txBody>
                  <a:tcPr marL="85725" marR="38100" marT="19050" marB="19050" anchor="ctr">
                    <a:solidFill>
                      <a:srgbClr val="FFFFFF"/>
                    </a:solidFill>
                  </a:tcPr>
                </a:tc>
                <a:tc>
                  <a:txBody>
                    <a:bodyPr wrap="none"/>
                    <a:lstStyle/>
                    <a:p>
                      <a:pPr algn="l"/>
                      <a:r>
                        <a:rPr sz="800" b="0">
                          <a:solidFill>
                            <a:srgbClr val="2E2E2E"/>
                          </a:solidFill>
                          <a:latin typeface="Calibri"/>
                        </a:rPr>
                        <a:t>424.3</a:t>
                      </a:r>
                    </a:p>
                  </a:txBody>
                  <a:tcPr marL="85725" marR="38100" marT="19050" marB="19050" anchor="ctr">
                    <a:solidFill>
                      <a:srgbClr val="FFFFFF"/>
                    </a:solidFill>
                  </a:tcPr>
                </a:tc>
                <a:tc>
                  <a:txBody>
                    <a:bodyPr wrap="none"/>
                    <a:lstStyle/>
                    <a:p>
                      <a:pPr algn="l"/>
                      <a:r>
                        <a:rPr sz="800" b="0">
                          <a:solidFill>
                            <a:srgbClr val="2E2E2E"/>
                          </a:solidFill>
                          <a:latin typeface="Calibri"/>
                        </a:rPr>
                        <a:t>444.2</a:t>
                      </a:r>
                    </a:p>
                  </a:txBody>
                  <a:tcPr marL="85725" marR="38100" marT="19050" marB="19050" anchor="ctr">
                    <a:solidFill>
                      <a:srgbClr val="FFFFFF"/>
                    </a:solidFill>
                  </a:tcPr>
                </a:tc>
                <a:tc>
                  <a:txBody>
                    <a:bodyPr wrap="none"/>
                    <a:lstStyle/>
                    <a:p>
                      <a:pPr algn="l"/>
                      <a:r>
                        <a:rPr sz="800" b="0">
                          <a:solidFill>
                            <a:srgbClr val="2E2E2E"/>
                          </a:solidFill>
                          <a:latin typeface="Calibri"/>
                        </a:rPr>
                        <a:t>463.2</a:t>
                      </a:r>
                    </a:p>
                  </a:txBody>
                  <a:tcPr marL="85725" marR="38100" marT="19050" marB="19050" anchor="ctr">
                    <a:solidFill>
                      <a:srgbClr val="FFFFFF"/>
                    </a:solidFill>
                  </a:tcPr>
                </a:tc>
                <a:tc>
                  <a:txBody>
                    <a:bodyPr wrap="none"/>
                    <a:lstStyle/>
                    <a:p>
                      <a:pPr algn="l"/>
                      <a:r>
                        <a:rPr sz="800" b="0">
                          <a:solidFill>
                            <a:srgbClr val="2E2E2E"/>
                          </a:solidFill>
                          <a:latin typeface="Calibri"/>
                        </a:rPr>
                        <a:t>7.8%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Cyltezo</a:t>
                      </a:r>
                    </a:p>
                  </a:txBody>
                  <a:tcPr marL="85725" marR="38100" marT="19050" marB="19050" anchor="ctr">
                    <a:solidFill>
                      <a:srgbClr val="F5F8FA"/>
                    </a:solidFill>
                  </a:tcPr>
                </a:tc>
                <a:tc>
                  <a:txBody>
                    <a:bodyPr wrap="none"/>
                    <a:lstStyle/>
                    <a:p>
                      <a:pPr algn="l"/>
                      <a:r>
                        <a:rPr sz="800" b="0">
                          <a:solidFill>
                            <a:srgbClr val="2E2E2E"/>
                          </a:solidFill>
                          <a:latin typeface="Calibri"/>
                        </a:rPr>
                        <a:t>77.3</a:t>
                      </a:r>
                    </a:p>
                  </a:txBody>
                  <a:tcPr marL="85725" marR="38100" marT="19050" marB="19050" anchor="ctr">
                    <a:solidFill>
                      <a:srgbClr val="F5F8FA"/>
                    </a:solidFill>
                  </a:tcPr>
                </a:tc>
                <a:tc>
                  <a:txBody>
                    <a:bodyPr wrap="none"/>
                    <a:lstStyle/>
                    <a:p>
                      <a:pPr algn="l"/>
                      <a:r>
                        <a:rPr sz="800" b="0">
                          <a:solidFill>
                            <a:srgbClr val="2E2E2E"/>
                          </a:solidFill>
                          <a:latin typeface="Calibri"/>
                        </a:rPr>
                        <a:t>88.2</a:t>
                      </a:r>
                    </a:p>
                  </a:txBody>
                  <a:tcPr marL="85725" marR="38100" marT="19050" marB="19050" anchor="ctr">
                    <a:solidFill>
                      <a:srgbClr val="F5F8FA"/>
                    </a:solidFill>
                  </a:tcPr>
                </a:tc>
                <a:tc>
                  <a:txBody>
                    <a:bodyPr wrap="none"/>
                    <a:lstStyle/>
                    <a:p>
                      <a:pPr algn="l"/>
                      <a:r>
                        <a:rPr sz="800" b="0">
                          <a:solidFill>
                            <a:srgbClr val="2E2E2E"/>
                          </a:solidFill>
                          <a:latin typeface="Calibri"/>
                        </a:rPr>
                        <a:t>106.8</a:t>
                      </a:r>
                    </a:p>
                  </a:txBody>
                  <a:tcPr marL="85725" marR="38100" marT="19050" marB="19050" anchor="ctr">
                    <a:solidFill>
                      <a:srgbClr val="F5F8FA"/>
                    </a:solidFill>
                  </a:tcPr>
                </a:tc>
                <a:tc>
                  <a:txBody>
                    <a:bodyPr wrap="none"/>
                    <a:lstStyle/>
                    <a:p>
                      <a:pPr algn="l"/>
                      <a:r>
                        <a:rPr sz="800" b="0">
                          <a:solidFill>
                            <a:srgbClr val="2E2E2E"/>
                          </a:solidFill>
                          <a:latin typeface="Calibri"/>
                        </a:rPr>
                        <a:t>133.4</a:t>
                      </a:r>
                    </a:p>
                  </a:txBody>
                  <a:tcPr marL="85725" marR="38100" marT="19050" marB="19050" anchor="ctr">
                    <a:solidFill>
                      <a:srgbClr val="F5F8FA"/>
                    </a:solidFill>
                  </a:tcPr>
                </a:tc>
                <a:tc>
                  <a:txBody>
                    <a:bodyPr wrap="none"/>
                    <a:lstStyle/>
                    <a:p>
                      <a:pPr algn="l"/>
                      <a:r>
                        <a:rPr sz="800" b="0">
                          <a:solidFill>
                            <a:srgbClr val="2E2E2E"/>
                          </a:solidFill>
                          <a:latin typeface="Calibri"/>
                        </a:rPr>
                        <a:t>163.0</a:t>
                      </a:r>
                    </a:p>
                  </a:txBody>
                  <a:tcPr marL="85725" marR="38100" marT="19050" marB="19050" anchor="ctr">
                    <a:solidFill>
                      <a:srgbClr val="F5F8FA"/>
                    </a:solidFill>
                  </a:tcPr>
                </a:tc>
                <a:tc>
                  <a:txBody>
                    <a:bodyPr wrap="none"/>
                    <a:lstStyle/>
                    <a:p>
                      <a:pPr algn="l"/>
                      <a:r>
                        <a:rPr sz="800" b="0">
                          <a:solidFill>
                            <a:srgbClr val="2E2E2E"/>
                          </a:solidFill>
                          <a:latin typeface="Calibri"/>
                        </a:rPr>
                        <a:t>193.2</a:t>
                      </a:r>
                    </a:p>
                  </a:txBody>
                  <a:tcPr marL="85725" marR="38100" marT="19050" marB="19050" anchor="ctr">
                    <a:solidFill>
                      <a:srgbClr val="F5F8FA"/>
                    </a:solidFill>
                  </a:tcPr>
                </a:tc>
                <a:tc>
                  <a:txBody>
                    <a:bodyPr wrap="none"/>
                    <a:lstStyle/>
                    <a:p>
                      <a:pPr algn="l"/>
                      <a:r>
                        <a:rPr sz="800" b="0">
                          <a:solidFill>
                            <a:srgbClr val="2E2E2E"/>
                          </a:solidFill>
                          <a:latin typeface="Calibri"/>
                        </a:rPr>
                        <a:t>224.8</a:t>
                      </a:r>
                    </a:p>
                  </a:txBody>
                  <a:tcPr marL="85725" marR="38100" marT="19050" marB="19050" anchor="ctr">
                    <a:solidFill>
                      <a:srgbClr val="F5F8FA"/>
                    </a:solidFill>
                  </a:tcPr>
                </a:tc>
                <a:tc>
                  <a:txBody>
                    <a:bodyPr wrap="none"/>
                    <a:lstStyle/>
                    <a:p>
                      <a:pPr algn="l"/>
                      <a:r>
                        <a:rPr sz="800" b="0">
                          <a:solidFill>
                            <a:srgbClr val="2E2E2E"/>
                          </a:solidFill>
                          <a:latin typeface="Calibri"/>
                        </a:rPr>
                        <a:t>256.3</a:t>
                      </a:r>
                    </a:p>
                  </a:txBody>
                  <a:tcPr marL="85725" marR="38100" marT="19050" marB="19050" anchor="ctr">
                    <a:solidFill>
                      <a:srgbClr val="F5F8FA"/>
                    </a:solidFill>
                  </a:tcPr>
                </a:tc>
                <a:tc>
                  <a:txBody>
                    <a:bodyPr wrap="none"/>
                    <a:lstStyle/>
                    <a:p>
                      <a:pPr algn="l"/>
                      <a:r>
                        <a:rPr sz="800" b="0">
                          <a:solidFill>
                            <a:srgbClr val="2E2E2E"/>
                          </a:solidFill>
                          <a:latin typeface="Calibri"/>
                        </a:rPr>
                        <a:t>287.9</a:t>
                      </a:r>
                    </a:p>
                  </a:txBody>
                  <a:tcPr marL="85725" marR="38100" marT="19050" marB="19050" anchor="ctr">
                    <a:solidFill>
                      <a:srgbClr val="F5F8FA"/>
                    </a:solidFill>
                  </a:tcPr>
                </a:tc>
                <a:tc>
                  <a:txBody>
                    <a:bodyPr wrap="none"/>
                    <a:lstStyle/>
                    <a:p>
                      <a:pPr algn="l"/>
                      <a:r>
                        <a:rPr sz="800" b="0">
                          <a:solidFill>
                            <a:srgbClr val="2E2E2E"/>
                          </a:solidFill>
                          <a:latin typeface="Calibri"/>
                        </a:rPr>
                        <a:t>319.6</a:t>
                      </a:r>
                    </a:p>
                  </a:txBody>
                  <a:tcPr marL="85725" marR="38100" marT="19050" marB="19050" anchor="ctr">
                    <a:solidFill>
                      <a:srgbClr val="F5F8FA"/>
                    </a:solidFill>
                  </a:tcPr>
                </a:tc>
                <a:tc>
                  <a:txBody>
                    <a:bodyPr wrap="none"/>
                    <a:lstStyle/>
                    <a:p>
                      <a:pPr algn="l"/>
                      <a:r>
                        <a:rPr sz="800" b="0">
                          <a:solidFill>
                            <a:srgbClr val="2E2E2E"/>
                          </a:solidFill>
                          <a:latin typeface="Calibri"/>
                        </a:rPr>
                        <a:t>351.1</a:t>
                      </a:r>
                    </a:p>
                  </a:txBody>
                  <a:tcPr marL="85725" marR="38100" marT="19050" marB="19050" anchor="ctr">
                    <a:solidFill>
                      <a:srgbClr val="F5F8FA"/>
                    </a:solidFill>
                  </a:tcPr>
                </a:tc>
                <a:tc>
                  <a:txBody>
                    <a:bodyPr wrap="none"/>
                    <a:lstStyle/>
                    <a:p>
                      <a:pPr algn="l"/>
                      <a:r>
                        <a:rPr sz="800" b="0">
                          <a:solidFill>
                            <a:srgbClr val="2E2E2E"/>
                          </a:solidFill>
                          <a:latin typeface="Calibri"/>
                        </a:rPr>
                        <a:t>382.5</a:t>
                      </a:r>
                    </a:p>
                  </a:txBody>
                  <a:tcPr marL="85725" marR="38100" marT="19050" marB="19050" anchor="ctr">
                    <a:solidFill>
                      <a:srgbClr val="F5F8FA"/>
                    </a:solidFill>
                  </a:tcPr>
                </a:tc>
                <a:tc>
                  <a:txBody>
                    <a:bodyPr wrap="none"/>
                    <a:lstStyle/>
                    <a:p>
                      <a:pPr algn="l"/>
                      <a:r>
                        <a:rPr sz="800" b="0">
                          <a:solidFill>
                            <a:srgbClr val="2E2E2E"/>
                          </a:solidFill>
                          <a:latin typeface="Calibri"/>
                        </a:rPr>
                        <a:t>413.5</a:t>
                      </a:r>
                    </a:p>
                  </a:txBody>
                  <a:tcPr marL="85725" marR="38100" marT="19050" marB="19050" anchor="ctr">
                    <a:solidFill>
                      <a:srgbClr val="F5F8FA"/>
                    </a:solidFill>
                  </a:tcPr>
                </a:tc>
                <a:tc>
                  <a:txBody>
                    <a:bodyPr wrap="none"/>
                    <a:lstStyle/>
                    <a:p>
                      <a:pPr algn="l"/>
                      <a:r>
                        <a:rPr sz="800" b="0">
                          <a:solidFill>
                            <a:srgbClr val="2E2E2E"/>
                          </a:solidFill>
                          <a:latin typeface="Calibri"/>
                        </a:rPr>
                        <a:t>444.3</a:t>
                      </a:r>
                    </a:p>
                  </a:txBody>
                  <a:tcPr marL="85725" marR="38100" marT="19050" marB="19050" anchor="ctr">
                    <a:solidFill>
                      <a:srgbClr val="F5F8FA"/>
                    </a:solidFill>
                  </a:tcPr>
                </a:tc>
                <a:tc>
                  <a:txBody>
                    <a:bodyPr wrap="none"/>
                    <a:lstStyle/>
                    <a:p>
                      <a:pPr algn="l"/>
                      <a:r>
                        <a:rPr sz="800" b="0">
                          <a:solidFill>
                            <a:srgbClr val="2E2E2E"/>
                          </a:solidFill>
                          <a:latin typeface="Calibri"/>
                        </a:rPr>
                        <a:t>475.1</a:t>
                      </a:r>
                    </a:p>
                  </a:txBody>
                  <a:tcPr marL="85725" marR="38100" marT="19050" marB="19050" anchor="ctr">
                    <a:solidFill>
                      <a:srgbClr val="F5F8FA"/>
                    </a:solidFill>
                  </a:tcPr>
                </a:tc>
                <a:tc>
                  <a:txBody>
                    <a:bodyPr wrap="none"/>
                    <a:lstStyle/>
                    <a:p>
                      <a:pPr algn="l"/>
                      <a:r>
                        <a:rPr sz="800" b="0">
                          <a:solidFill>
                            <a:srgbClr val="2E2E2E"/>
                          </a:solidFill>
                          <a:latin typeface="Calibri"/>
                        </a:rPr>
                        <a:t>506.1</a:t>
                      </a:r>
                    </a:p>
                  </a:txBody>
                  <a:tcPr marL="85725" marR="38100" marT="19050" marB="19050" anchor="ctr">
                    <a:solidFill>
                      <a:srgbClr val="F5F8FA"/>
                    </a:solidFill>
                  </a:tcPr>
                </a:tc>
                <a:tc>
                  <a:txBody>
                    <a:bodyPr wrap="none"/>
                    <a:lstStyle/>
                    <a:p>
                      <a:pPr algn="l"/>
                      <a:r>
                        <a:rPr sz="800" b="0">
                          <a:solidFill>
                            <a:srgbClr val="2E2E2E"/>
                          </a:solidFill>
                          <a:latin typeface="Calibri"/>
                        </a:rPr>
                        <a:t>10.1%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800" b="0">
                          <a:solidFill>
                            <a:srgbClr val="2E2E2E"/>
                          </a:solidFill>
                          <a:latin typeface="Calibri"/>
                        </a:rPr>
                        <a:t>81.4</a:t>
                      </a:r>
                    </a:p>
                  </a:txBody>
                  <a:tcPr marL="85725" marR="38100" marT="19050" marB="19050" anchor="ctr">
                    <a:solidFill>
                      <a:srgbClr val="FFFFFF"/>
                    </a:solidFill>
                  </a:tcPr>
                </a:tc>
                <a:tc>
                  <a:txBody>
                    <a:bodyPr wrap="none"/>
                    <a:lstStyle/>
                    <a:p>
                      <a:pPr algn="l"/>
                      <a:r>
                        <a:rPr sz="800" b="0">
                          <a:solidFill>
                            <a:srgbClr val="2E2E2E"/>
                          </a:solidFill>
                          <a:latin typeface="Calibri"/>
                        </a:rPr>
                        <a:t>92.4</a:t>
                      </a:r>
                    </a:p>
                  </a:txBody>
                  <a:tcPr marL="85725" marR="38100" marT="19050" marB="19050" anchor="ctr">
                    <a:solidFill>
                      <a:srgbClr val="FFFFFF"/>
                    </a:solidFill>
                  </a:tcPr>
                </a:tc>
                <a:tc>
                  <a:txBody>
                    <a:bodyPr wrap="none"/>
                    <a:lstStyle/>
                    <a:p>
                      <a:pPr algn="l"/>
                      <a:r>
                        <a:rPr sz="800" b="0">
                          <a:solidFill>
                            <a:srgbClr val="2E2E2E"/>
                          </a:solidFill>
                          <a:latin typeface="Calibri"/>
                        </a:rPr>
                        <a:t>111.3</a:t>
                      </a:r>
                    </a:p>
                  </a:txBody>
                  <a:tcPr marL="85725" marR="38100" marT="19050" marB="19050" anchor="ctr">
                    <a:solidFill>
                      <a:srgbClr val="FFFFFF"/>
                    </a:solidFill>
                  </a:tcPr>
                </a:tc>
                <a:tc>
                  <a:txBody>
                    <a:bodyPr wrap="none"/>
                    <a:lstStyle/>
                    <a:p>
                      <a:pPr algn="l"/>
                      <a:r>
                        <a:rPr sz="800" b="0">
                          <a:solidFill>
                            <a:srgbClr val="2E2E2E"/>
                          </a:solidFill>
                          <a:latin typeface="Calibri"/>
                        </a:rPr>
                        <a:t>138.3</a:t>
                      </a:r>
                    </a:p>
                  </a:txBody>
                  <a:tcPr marL="85725" marR="38100" marT="19050" marB="19050" anchor="ctr">
                    <a:solidFill>
                      <a:srgbClr val="FFFFFF"/>
                    </a:solidFill>
                  </a:tcPr>
                </a:tc>
                <a:tc>
                  <a:txBody>
                    <a:bodyPr wrap="none"/>
                    <a:lstStyle/>
                    <a:p>
                      <a:pPr algn="l"/>
                      <a:r>
                        <a:rPr sz="800" b="0">
                          <a:solidFill>
                            <a:srgbClr val="2E2E2E"/>
                          </a:solidFill>
                          <a:latin typeface="Calibri"/>
                        </a:rPr>
                        <a:t>168.1</a:t>
                      </a:r>
                    </a:p>
                  </a:txBody>
                  <a:tcPr marL="85725" marR="38100" marT="19050" marB="19050" anchor="ctr">
                    <a:solidFill>
                      <a:srgbClr val="FFFFFF"/>
                    </a:solidFill>
                  </a:tcPr>
                </a:tc>
                <a:tc>
                  <a:txBody>
                    <a:bodyPr wrap="none"/>
                    <a:lstStyle/>
                    <a:p>
                      <a:pPr algn="l"/>
                      <a:r>
                        <a:rPr sz="800" b="0">
                          <a:solidFill>
                            <a:srgbClr val="2E2E2E"/>
                          </a:solidFill>
                          <a:latin typeface="Calibri"/>
                        </a:rPr>
                        <a:t>198.2</a:t>
                      </a:r>
                    </a:p>
                  </a:txBody>
                  <a:tcPr marL="85725" marR="38100" marT="19050" marB="19050" anchor="ctr">
                    <a:solidFill>
                      <a:srgbClr val="FFFFFF"/>
                    </a:solidFill>
                  </a:tcPr>
                </a:tc>
                <a:tc>
                  <a:txBody>
                    <a:bodyPr wrap="none"/>
                    <a:lstStyle/>
                    <a:p>
                      <a:pPr algn="l"/>
                      <a:r>
                        <a:rPr sz="800" b="0">
                          <a:solidFill>
                            <a:srgbClr val="2E2E2E"/>
                          </a:solidFill>
                          <a:latin typeface="Calibri"/>
                        </a:rPr>
                        <a:t>229.5</a:t>
                      </a:r>
                    </a:p>
                  </a:txBody>
                  <a:tcPr marL="85725" marR="38100" marT="19050" marB="19050" anchor="ctr">
                    <a:solidFill>
                      <a:srgbClr val="FFFFFF"/>
                    </a:solidFill>
                  </a:tcPr>
                </a:tc>
                <a:tc>
                  <a:txBody>
                    <a:bodyPr wrap="none"/>
                    <a:lstStyle/>
                    <a:p>
                      <a:pPr algn="l"/>
                      <a:r>
                        <a:rPr sz="800" b="0">
                          <a:solidFill>
                            <a:srgbClr val="2E2E2E"/>
                          </a:solidFill>
                          <a:latin typeface="Calibri"/>
                        </a:rPr>
                        <a:t>260.3</a:t>
                      </a:r>
                    </a:p>
                  </a:txBody>
                  <a:tcPr marL="85725" marR="38100" marT="19050" marB="19050" anchor="ctr">
                    <a:solidFill>
                      <a:srgbClr val="FFFFFF"/>
                    </a:solidFill>
                  </a:tcPr>
                </a:tc>
                <a:tc>
                  <a:txBody>
                    <a:bodyPr wrap="none"/>
                    <a:lstStyle/>
                    <a:p>
                      <a:pPr algn="l"/>
                      <a:r>
                        <a:rPr sz="800" b="0">
                          <a:solidFill>
                            <a:srgbClr val="2E2E2E"/>
                          </a:solidFill>
                          <a:latin typeface="Calibri"/>
                        </a:rPr>
                        <a:t>290.9</a:t>
                      </a:r>
                    </a:p>
                  </a:txBody>
                  <a:tcPr marL="85725" marR="38100" marT="19050" marB="19050" anchor="ctr">
                    <a:solidFill>
                      <a:srgbClr val="FFFFFF"/>
                    </a:solidFill>
                  </a:tcPr>
                </a:tc>
                <a:tc>
                  <a:txBody>
                    <a:bodyPr wrap="none"/>
                    <a:lstStyle/>
                    <a:p>
                      <a:pPr algn="l"/>
                      <a:r>
                        <a:rPr sz="800" b="0">
                          <a:solidFill>
                            <a:srgbClr val="2E2E2E"/>
                          </a:solidFill>
                          <a:latin typeface="Calibri"/>
                        </a:rPr>
                        <a:t>321.3</a:t>
                      </a:r>
                    </a:p>
                  </a:txBody>
                  <a:tcPr marL="85725" marR="38100" marT="19050" marB="19050" anchor="ctr">
                    <a:solidFill>
                      <a:srgbClr val="FFFFFF"/>
                    </a:solidFill>
                  </a:tcPr>
                </a:tc>
                <a:tc>
                  <a:txBody>
                    <a:bodyPr wrap="none"/>
                    <a:lstStyle/>
                    <a:p>
                      <a:pPr algn="l"/>
                      <a:r>
                        <a:rPr sz="800" b="0">
                          <a:solidFill>
                            <a:srgbClr val="2E2E2E"/>
                          </a:solidFill>
                          <a:latin typeface="Calibri"/>
                        </a:rPr>
                        <a:t>351.2</a:t>
                      </a:r>
                    </a:p>
                  </a:txBody>
                  <a:tcPr marL="85725" marR="38100" marT="19050" marB="19050" anchor="ctr">
                    <a:solidFill>
                      <a:srgbClr val="FFFFFF"/>
                    </a:solidFill>
                  </a:tcPr>
                </a:tc>
                <a:tc>
                  <a:txBody>
                    <a:bodyPr wrap="none"/>
                    <a:lstStyle/>
                    <a:p>
                      <a:pPr algn="l"/>
                      <a:r>
                        <a:rPr sz="800" b="0">
                          <a:solidFill>
                            <a:srgbClr val="2E2E2E"/>
                          </a:solidFill>
                          <a:latin typeface="Calibri"/>
                        </a:rPr>
                        <a:t>380.6</a:t>
                      </a:r>
                    </a:p>
                  </a:txBody>
                  <a:tcPr marL="85725" marR="38100" marT="19050" marB="19050" anchor="ctr">
                    <a:solidFill>
                      <a:srgbClr val="FFFFFF"/>
                    </a:solidFill>
                  </a:tcPr>
                </a:tc>
                <a:tc>
                  <a:txBody>
                    <a:bodyPr wrap="none"/>
                    <a:lstStyle/>
                    <a:p>
                      <a:pPr algn="l"/>
                      <a:r>
                        <a:rPr sz="800" b="0">
                          <a:solidFill>
                            <a:srgbClr val="2E2E2E"/>
                          </a:solidFill>
                          <a:latin typeface="Calibri"/>
                        </a:rPr>
                        <a:t>409.3</a:t>
                      </a:r>
                    </a:p>
                  </a:txBody>
                  <a:tcPr marL="85725" marR="38100" marT="19050" marB="19050" anchor="ctr">
                    <a:solidFill>
                      <a:srgbClr val="FFFFFF"/>
                    </a:solidFill>
                  </a:tcPr>
                </a:tc>
                <a:tc>
                  <a:txBody>
                    <a:bodyPr wrap="none"/>
                    <a:lstStyle/>
                    <a:p>
                      <a:pPr algn="l"/>
                      <a:r>
                        <a:rPr sz="800" b="0">
                          <a:solidFill>
                            <a:srgbClr val="2E2E2E"/>
                          </a:solidFill>
                          <a:latin typeface="Calibri"/>
                        </a:rPr>
                        <a:t>437.6</a:t>
                      </a:r>
                    </a:p>
                  </a:txBody>
                  <a:tcPr marL="85725" marR="38100" marT="19050" marB="19050" anchor="ctr">
                    <a:solidFill>
                      <a:srgbClr val="FFFFFF"/>
                    </a:solidFill>
                  </a:tcPr>
                </a:tc>
                <a:tc>
                  <a:txBody>
                    <a:bodyPr wrap="none"/>
                    <a:lstStyle/>
                    <a:p>
                      <a:pPr algn="l"/>
                      <a:r>
                        <a:rPr sz="800" b="0">
                          <a:solidFill>
                            <a:srgbClr val="2E2E2E"/>
                          </a:solidFill>
                          <a:latin typeface="Calibri"/>
                        </a:rPr>
                        <a:t>465.5</a:t>
                      </a:r>
                    </a:p>
                  </a:txBody>
                  <a:tcPr marL="85725" marR="38100" marT="19050" marB="19050" anchor="ctr">
                    <a:solidFill>
                      <a:srgbClr val="FFFFFF"/>
                    </a:solidFill>
                  </a:tcPr>
                </a:tc>
                <a:tc>
                  <a:txBody>
                    <a:bodyPr wrap="none"/>
                    <a:lstStyle/>
                    <a:p>
                      <a:pPr algn="l"/>
                      <a:r>
                        <a:rPr sz="800" b="0">
                          <a:solidFill>
                            <a:srgbClr val="2E2E2E"/>
                          </a:solidFill>
                          <a:latin typeface="Calibri"/>
                        </a:rPr>
                        <a:t>493.3</a:t>
                      </a:r>
                    </a:p>
                  </a:txBody>
                  <a:tcPr marL="85725" marR="38100" marT="19050" marB="19050" anchor="ctr">
                    <a:solidFill>
                      <a:srgbClr val="FFFFFF"/>
                    </a:solidFill>
                  </a:tcPr>
                </a:tc>
                <a:tc>
                  <a:txBody>
                    <a:bodyPr wrap="none"/>
                    <a:lstStyle/>
                    <a:p>
                      <a:pPr algn="l"/>
                      <a:r>
                        <a:rPr sz="800" b="0">
                          <a:solidFill>
                            <a:srgbClr val="2E2E2E"/>
                          </a:solidFill>
                          <a:latin typeface="Calibri"/>
                        </a:rPr>
                        <a:t>9.5%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800" b="0">
                          <a:solidFill>
                            <a:srgbClr val="2E2E2E"/>
                          </a:solidFill>
                          <a:latin typeface="Calibri"/>
                        </a:rPr>
                        <a:t>93.6</a:t>
                      </a:r>
                    </a:p>
                  </a:txBody>
                  <a:tcPr marL="85725" marR="38100" marT="19050" marB="19050" anchor="ctr">
                    <a:solidFill>
                      <a:srgbClr val="F5F8FA"/>
                    </a:solidFill>
                  </a:tcPr>
                </a:tc>
                <a:tc>
                  <a:txBody>
                    <a:bodyPr wrap="none"/>
                    <a:lstStyle/>
                    <a:p>
                      <a:pPr algn="l"/>
                      <a:r>
                        <a:rPr sz="800" b="0">
                          <a:solidFill>
                            <a:srgbClr val="2E2E2E"/>
                          </a:solidFill>
                          <a:latin typeface="Calibri"/>
                        </a:rPr>
                        <a:t>105.6</a:t>
                      </a:r>
                    </a:p>
                  </a:txBody>
                  <a:tcPr marL="85725" marR="38100" marT="19050" marB="19050" anchor="ctr">
                    <a:solidFill>
                      <a:srgbClr val="F5F8FA"/>
                    </a:solidFill>
                  </a:tcPr>
                </a:tc>
                <a:tc>
                  <a:txBody>
                    <a:bodyPr wrap="none"/>
                    <a:lstStyle/>
                    <a:p>
                      <a:pPr algn="l"/>
                      <a:r>
                        <a:rPr sz="800" b="0">
                          <a:solidFill>
                            <a:srgbClr val="2E2E2E"/>
                          </a:solidFill>
                          <a:latin typeface="Calibri"/>
                        </a:rPr>
                        <a:t>126.4</a:t>
                      </a:r>
                    </a:p>
                  </a:txBody>
                  <a:tcPr marL="85725" marR="38100" marT="19050" marB="19050" anchor="ctr">
                    <a:solidFill>
                      <a:srgbClr val="F5F8FA"/>
                    </a:solidFill>
                  </a:tcPr>
                </a:tc>
                <a:tc>
                  <a:txBody>
                    <a:bodyPr wrap="none"/>
                    <a:lstStyle/>
                    <a:p>
                      <a:pPr algn="l"/>
                      <a:r>
                        <a:rPr sz="800" b="0">
                          <a:solidFill>
                            <a:srgbClr val="2E2E2E"/>
                          </a:solidFill>
                          <a:latin typeface="Calibri"/>
                        </a:rPr>
                        <a:t>156.1</a:t>
                      </a:r>
                    </a:p>
                  </a:txBody>
                  <a:tcPr marL="85725" marR="38100" marT="19050" marB="19050" anchor="ctr">
                    <a:solidFill>
                      <a:srgbClr val="F5F8FA"/>
                    </a:solidFill>
                  </a:tcPr>
                </a:tc>
                <a:tc>
                  <a:txBody>
                    <a:bodyPr wrap="none"/>
                    <a:lstStyle/>
                    <a:p>
                      <a:pPr algn="l"/>
                      <a:r>
                        <a:rPr sz="800" b="0">
                          <a:solidFill>
                            <a:srgbClr val="2E2E2E"/>
                          </a:solidFill>
                          <a:latin typeface="Calibri"/>
                        </a:rPr>
                        <a:t>188.7</a:t>
                      </a:r>
                    </a:p>
                  </a:txBody>
                  <a:tcPr marL="85725" marR="38100" marT="19050" marB="19050" anchor="ctr">
                    <a:solidFill>
                      <a:srgbClr val="F5F8FA"/>
                    </a:solidFill>
                  </a:tcPr>
                </a:tc>
                <a:tc>
                  <a:txBody>
                    <a:bodyPr wrap="none"/>
                    <a:lstStyle/>
                    <a:p>
                      <a:pPr algn="l"/>
                      <a:r>
                        <a:rPr sz="800" b="0">
                          <a:solidFill>
                            <a:srgbClr val="2E2E2E"/>
                          </a:solidFill>
                          <a:latin typeface="Calibri"/>
                        </a:rPr>
                        <a:t>221.1</a:t>
                      </a:r>
                    </a:p>
                  </a:txBody>
                  <a:tcPr marL="85725" marR="38100" marT="19050" marB="19050" anchor="ctr">
                    <a:solidFill>
                      <a:srgbClr val="F5F8FA"/>
                    </a:solidFill>
                  </a:tcPr>
                </a:tc>
                <a:tc>
                  <a:txBody>
                    <a:bodyPr wrap="none"/>
                    <a:lstStyle/>
                    <a:p>
                      <a:pPr algn="l"/>
                      <a:r>
                        <a:rPr sz="800" b="0">
                          <a:solidFill>
                            <a:srgbClr val="2E2E2E"/>
                          </a:solidFill>
                          <a:latin typeface="Calibri"/>
                        </a:rPr>
                        <a:t>254.4</a:t>
                      </a:r>
                    </a:p>
                  </a:txBody>
                  <a:tcPr marL="85725" marR="38100" marT="19050" marB="19050" anchor="ctr">
                    <a:solidFill>
                      <a:srgbClr val="F5F8FA"/>
                    </a:solidFill>
                  </a:tcPr>
                </a:tc>
                <a:tc>
                  <a:txBody>
                    <a:bodyPr wrap="none"/>
                    <a:lstStyle/>
                    <a:p>
                      <a:pPr algn="l"/>
                      <a:r>
                        <a:rPr sz="800" b="0">
                          <a:solidFill>
                            <a:srgbClr val="2E2E2E"/>
                          </a:solidFill>
                          <a:latin typeface="Calibri"/>
                        </a:rPr>
                        <a:t>286.8</a:t>
                      </a:r>
                    </a:p>
                  </a:txBody>
                  <a:tcPr marL="85725" marR="38100" marT="19050" marB="19050" anchor="ctr">
                    <a:solidFill>
                      <a:srgbClr val="F5F8FA"/>
                    </a:solidFill>
                  </a:tcPr>
                </a:tc>
                <a:tc>
                  <a:txBody>
                    <a:bodyPr wrap="none"/>
                    <a:lstStyle/>
                    <a:p>
                      <a:pPr algn="l"/>
                      <a:r>
                        <a:rPr sz="800" b="0">
                          <a:solidFill>
                            <a:srgbClr val="2E2E2E"/>
                          </a:solidFill>
                          <a:latin typeface="Calibri"/>
                        </a:rPr>
                        <a:t>318.7</a:t>
                      </a:r>
                    </a:p>
                  </a:txBody>
                  <a:tcPr marL="85725" marR="38100" marT="19050" marB="19050" anchor="ctr">
                    <a:solidFill>
                      <a:srgbClr val="F5F8FA"/>
                    </a:solidFill>
                  </a:tcPr>
                </a:tc>
                <a:tc>
                  <a:txBody>
                    <a:bodyPr wrap="none"/>
                    <a:lstStyle/>
                    <a:p>
                      <a:pPr algn="l"/>
                      <a:r>
                        <a:rPr sz="800" b="0">
                          <a:solidFill>
                            <a:srgbClr val="2E2E2E"/>
                          </a:solidFill>
                          <a:latin typeface="Calibri"/>
                        </a:rPr>
                        <a:t>349.8</a:t>
                      </a:r>
                    </a:p>
                  </a:txBody>
                  <a:tcPr marL="85725" marR="38100" marT="19050" marB="19050" anchor="ctr">
                    <a:solidFill>
                      <a:srgbClr val="F5F8FA"/>
                    </a:solidFill>
                  </a:tcPr>
                </a:tc>
                <a:tc>
                  <a:txBody>
                    <a:bodyPr wrap="none"/>
                    <a:lstStyle/>
                    <a:p>
                      <a:pPr algn="l"/>
                      <a:r>
                        <a:rPr sz="800" b="0">
                          <a:solidFill>
                            <a:srgbClr val="2E2E2E"/>
                          </a:solidFill>
                          <a:latin typeface="Calibri"/>
                        </a:rPr>
                        <a:t>380.0</a:t>
                      </a:r>
                    </a:p>
                  </a:txBody>
                  <a:tcPr marL="85725" marR="38100" marT="19050" marB="19050" anchor="ctr">
                    <a:solidFill>
                      <a:srgbClr val="F5F8FA"/>
                    </a:solidFill>
                  </a:tcPr>
                </a:tc>
                <a:tc>
                  <a:txBody>
                    <a:bodyPr wrap="none"/>
                    <a:lstStyle/>
                    <a:p>
                      <a:pPr algn="l"/>
                      <a:r>
                        <a:rPr sz="800" b="0">
                          <a:solidFill>
                            <a:srgbClr val="2E2E2E"/>
                          </a:solidFill>
                          <a:latin typeface="Calibri"/>
                        </a:rPr>
                        <a:t>409.3</a:t>
                      </a:r>
                    </a:p>
                  </a:txBody>
                  <a:tcPr marL="85725" marR="38100" marT="19050" marB="19050" anchor="ctr">
                    <a:solidFill>
                      <a:srgbClr val="F5F8FA"/>
                    </a:solidFill>
                  </a:tcPr>
                </a:tc>
                <a:tc>
                  <a:txBody>
                    <a:bodyPr wrap="none"/>
                    <a:lstStyle/>
                    <a:p>
                      <a:pPr algn="l"/>
                      <a:r>
                        <a:rPr sz="800" b="0">
                          <a:solidFill>
                            <a:srgbClr val="2E2E2E"/>
                          </a:solidFill>
                          <a:latin typeface="Calibri"/>
                        </a:rPr>
                        <a:t>437.5</a:t>
                      </a:r>
                    </a:p>
                  </a:txBody>
                  <a:tcPr marL="85725" marR="38100" marT="19050" marB="19050" anchor="ctr">
                    <a:solidFill>
                      <a:srgbClr val="F5F8FA"/>
                    </a:solidFill>
                  </a:tcPr>
                </a:tc>
                <a:tc>
                  <a:txBody>
                    <a:bodyPr wrap="none"/>
                    <a:lstStyle/>
                    <a:p>
                      <a:pPr algn="l"/>
                      <a:r>
                        <a:rPr sz="800" b="0">
                          <a:solidFill>
                            <a:srgbClr val="2E2E2E"/>
                          </a:solidFill>
                          <a:latin typeface="Calibri"/>
                        </a:rPr>
                        <a:t>465.0</a:t>
                      </a:r>
                    </a:p>
                  </a:txBody>
                  <a:tcPr marL="85725" marR="38100" marT="19050" marB="19050" anchor="ctr">
                    <a:solidFill>
                      <a:srgbClr val="F5F8FA"/>
                    </a:solidFill>
                  </a:tcPr>
                </a:tc>
                <a:tc>
                  <a:txBody>
                    <a:bodyPr wrap="none"/>
                    <a:lstStyle/>
                    <a:p>
                      <a:pPr algn="l"/>
                      <a:r>
                        <a:rPr sz="800" b="0">
                          <a:solidFill>
                            <a:srgbClr val="2E2E2E"/>
                          </a:solidFill>
                          <a:latin typeface="Calibri"/>
                        </a:rPr>
                        <a:t>491.7</a:t>
                      </a:r>
                    </a:p>
                  </a:txBody>
                  <a:tcPr marL="85725" marR="38100" marT="19050" marB="19050" anchor="ctr">
                    <a:solidFill>
                      <a:srgbClr val="F5F8FA"/>
                    </a:solidFill>
                  </a:tcPr>
                </a:tc>
                <a:tc>
                  <a:txBody>
                    <a:bodyPr wrap="none"/>
                    <a:lstStyle/>
                    <a:p>
                      <a:pPr algn="l"/>
                      <a:r>
                        <a:rPr sz="800" b="0">
                          <a:solidFill>
                            <a:srgbClr val="2E2E2E"/>
                          </a:solidFill>
                          <a:latin typeface="Calibri"/>
                        </a:rPr>
                        <a:t>517.9</a:t>
                      </a:r>
                    </a:p>
                  </a:txBody>
                  <a:tcPr marL="85725" marR="38100" marT="19050" marB="19050" anchor="ctr">
                    <a:solidFill>
                      <a:srgbClr val="F5F8FA"/>
                    </a:solidFill>
                  </a:tcPr>
                </a:tc>
                <a:tc>
                  <a:txBody>
                    <a:bodyPr wrap="none"/>
                    <a:lstStyle/>
                    <a:p>
                      <a:pPr algn="l"/>
                      <a:r>
                        <a:rPr sz="800" b="0">
                          <a:solidFill>
                            <a:srgbClr val="2E2E2E"/>
                          </a:solidFill>
                          <a:latin typeface="Calibri"/>
                        </a:rPr>
                        <a:t>8.9%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Idacio</a:t>
                      </a:r>
                    </a:p>
                  </a:txBody>
                  <a:tcPr marL="85725" marR="38100" marT="19050" marB="19050" anchor="ctr">
                    <a:solidFill>
                      <a:srgbClr val="FFFFFF"/>
                    </a:solidFill>
                  </a:tcPr>
                </a:tc>
                <a:tc>
                  <a:txBody>
                    <a:bodyPr wrap="none"/>
                    <a:lstStyle/>
                    <a:p>
                      <a:pPr algn="l"/>
                      <a:r>
                        <a:rPr sz="800" b="0">
                          <a:solidFill>
                            <a:srgbClr val="2E2E2E"/>
                          </a:solidFill>
                          <a:latin typeface="Calibri"/>
                        </a:rPr>
                        <a:t>87.8</a:t>
                      </a:r>
                    </a:p>
                  </a:txBody>
                  <a:tcPr marL="85725" marR="38100" marT="19050" marB="19050" anchor="ctr">
                    <a:solidFill>
                      <a:srgbClr val="FFFFFF"/>
                    </a:solidFill>
                  </a:tcPr>
                </a:tc>
                <a:tc>
                  <a:txBody>
                    <a:bodyPr wrap="none"/>
                    <a:lstStyle/>
                    <a:p>
                      <a:pPr algn="l"/>
                      <a:r>
                        <a:rPr sz="800" b="0">
                          <a:solidFill>
                            <a:srgbClr val="2E2E2E"/>
                          </a:solidFill>
                          <a:latin typeface="Calibri"/>
                        </a:rPr>
                        <a:t>99.6</a:t>
                      </a:r>
                    </a:p>
                  </a:txBody>
                  <a:tcPr marL="85725" marR="38100" marT="19050" marB="19050" anchor="ctr">
                    <a:solidFill>
                      <a:srgbClr val="FFFFFF"/>
                    </a:solidFill>
                  </a:tcPr>
                </a:tc>
                <a:tc>
                  <a:txBody>
                    <a:bodyPr wrap="none"/>
                    <a:lstStyle/>
                    <a:p>
                      <a:pPr algn="l"/>
                      <a:r>
                        <a:rPr sz="800" b="0">
                          <a:solidFill>
                            <a:srgbClr val="2E2E2E"/>
                          </a:solidFill>
                          <a:latin typeface="Calibri"/>
                        </a:rPr>
                        <a:t>119.8</a:t>
                      </a:r>
                    </a:p>
                  </a:txBody>
                  <a:tcPr marL="85725" marR="38100" marT="19050" marB="19050" anchor="ctr">
                    <a:solidFill>
                      <a:srgbClr val="FFFFFF"/>
                    </a:solidFill>
                  </a:tcPr>
                </a:tc>
                <a:tc>
                  <a:txBody>
                    <a:bodyPr wrap="none"/>
                    <a:lstStyle/>
                    <a:p>
                      <a:pPr algn="l"/>
                      <a:r>
                        <a:rPr sz="800" b="0">
                          <a:solidFill>
                            <a:srgbClr val="2E2E2E"/>
                          </a:solidFill>
                          <a:latin typeface="Calibri"/>
                        </a:rPr>
                        <a:t>148.7</a:t>
                      </a:r>
                    </a:p>
                  </a:txBody>
                  <a:tcPr marL="85725" marR="38100" marT="19050" marB="19050" anchor="ctr">
                    <a:solidFill>
                      <a:srgbClr val="FFFFFF"/>
                    </a:solidFill>
                  </a:tcPr>
                </a:tc>
                <a:tc>
                  <a:txBody>
                    <a:bodyPr wrap="none"/>
                    <a:lstStyle/>
                    <a:p>
                      <a:pPr algn="l"/>
                      <a:r>
                        <a:rPr sz="800" b="0">
                          <a:solidFill>
                            <a:srgbClr val="2E2E2E"/>
                          </a:solidFill>
                          <a:latin typeface="Calibri"/>
                        </a:rPr>
                        <a:t>180.7</a:t>
                      </a:r>
                    </a:p>
                  </a:txBody>
                  <a:tcPr marL="85725" marR="38100" marT="19050" marB="19050" anchor="ctr">
                    <a:solidFill>
                      <a:srgbClr val="FFFFFF"/>
                    </a:solidFill>
                  </a:tcPr>
                </a:tc>
                <a:tc>
                  <a:txBody>
                    <a:bodyPr wrap="none"/>
                    <a:lstStyle/>
                    <a:p>
                      <a:pPr algn="l"/>
                      <a:r>
                        <a:rPr sz="800" b="0">
                          <a:solidFill>
                            <a:srgbClr val="2E2E2E"/>
                          </a:solidFill>
                          <a:latin typeface="Calibri"/>
                        </a:rPr>
                        <a:t>212.9</a:t>
                      </a:r>
                    </a:p>
                  </a:txBody>
                  <a:tcPr marL="85725" marR="38100" marT="19050" marB="19050" anchor="ctr">
                    <a:solidFill>
                      <a:srgbClr val="FFFFFF"/>
                    </a:solidFill>
                  </a:tcPr>
                </a:tc>
                <a:tc>
                  <a:txBody>
                    <a:bodyPr wrap="none"/>
                    <a:lstStyle/>
                    <a:p>
                      <a:pPr algn="l"/>
                      <a:r>
                        <a:rPr sz="800" b="0">
                          <a:solidFill>
                            <a:srgbClr val="2E2E2E"/>
                          </a:solidFill>
                          <a:latin typeface="Calibri"/>
                        </a:rPr>
                        <a:t>246.3</a:t>
                      </a:r>
                    </a:p>
                  </a:txBody>
                  <a:tcPr marL="85725" marR="38100" marT="19050" marB="19050" anchor="ctr">
                    <a:solidFill>
                      <a:srgbClr val="FFFFFF"/>
                    </a:solidFill>
                  </a:tcPr>
                </a:tc>
                <a:tc>
                  <a:txBody>
                    <a:bodyPr wrap="none"/>
                    <a:lstStyle/>
                    <a:p>
                      <a:pPr algn="l"/>
                      <a:r>
                        <a:rPr sz="800" b="0">
                          <a:solidFill>
                            <a:srgbClr val="2E2E2E"/>
                          </a:solidFill>
                          <a:latin typeface="Calibri"/>
                        </a:rPr>
                        <a:t>279.2</a:t>
                      </a:r>
                    </a:p>
                  </a:txBody>
                  <a:tcPr marL="85725" marR="38100" marT="19050" marB="19050" anchor="ctr">
                    <a:solidFill>
                      <a:srgbClr val="FFFFFF"/>
                    </a:solidFill>
                  </a:tcPr>
                </a:tc>
                <a:tc>
                  <a:txBody>
                    <a:bodyPr wrap="none"/>
                    <a:lstStyle/>
                    <a:p>
                      <a:pPr algn="l"/>
                      <a:r>
                        <a:rPr sz="800" b="0">
                          <a:solidFill>
                            <a:srgbClr val="2E2E2E"/>
                          </a:solidFill>
                          <a:latin typeface="Calibri"/>
                        </a:rPr>
                        <a:t>311.8</a:t>
                      </a:r>
                    </a:p>
                  </a:txBody>
                  <a:tcPr marL="85725" marR="38100" marT="19050" marB="19050" anchor="ctr">
                    <a:solidFill>
                      <a:srgbClr val="FFFFFF"/>
                    </a:solidFill>
                  </a:tcPr>
                </a:tc>
                <a:tc>
                  <a:txBody>
                    <a:bodyPr wrap="none"/>
                    <a:lstStyle/>
                    <a:p>
                      <a:pPr algn="l"/>
                      <a:r>
                        <a:rPr sz="800" b="0">
                          <a:solidFill>
                            <a:srgbClr val="2E2E2E"/>
                          </a:solidFill>
                          <a:latin typeface="Calibri"/>
                        </a:rPr>
                        <a:t>344.1</a:t>
                      </a:r>
                    </a:p>
                  </a:txBody>
                  <a:tcPr marL="85725" marR="38100" marT="19050" marB="19050" anchor="ctr">
                    <a:solidFill>
                      <a:srgbClr val="FFFFFF"/>
                    </a:solidFill>
                  </a:tcPr>
                </a:tc>
                <a:tc>
                  <a:txBody>
                    <a:bodyPr wrap="none"/>
                    <a:lstStyle/>
                    <a:p>
                      <a:pPr algn="l"/>
                      <a:r>
                        <a:rPr sz="800" b="0">
                          <a:solidFill>
                            <a:srgbClr val="2E2E2E"/>
                          </a:solidFill>
                          <a:latin typeface="Calibri"/>
                        </a:rPr>
                        <a:t>375.8</a:t>
                      </a:r>
                    </a:p>
                  </a:txBody>
                  <a:tcPr marL="85725" marR="38100" marT="19050" marB="19050" anchor="ctr">
                    <a:solidFill>
                      <a:srgbClr val="FFFFFF"/>
                    </a:solidFill>
                  </a:tcPr>
                </a:tc>
                <a:tc>
                  <a:txBody>
                    <a:bodyPr wrap="none"/>
                    <a:lstStyle/>
                    <a:p>
                      <a:pPr algn="l"/>
                      <a:r>
                        <a:rPr sz="800" b="0">
                          <a:solidFill>
                            <a:srgbClr val="2E2E2E"/>
                          </a:solidFill>
                          <a:latin typeface="Calibri"/>
                        </a:rPr>
                        <a:t>406.9</a:t>
                      </a:r>
                    </a:p>
                  </a:txBody>
                  <a:tcPr marL="85725" marR="38100" marT="19050" marB="19050" anchor="ctr">
                    <a:solidFill>
                      <a:srgbClr val="FFFFFF"/>
                    </a:solidFill>
                  </a:tcPr>
                </a:tc>
                <a:tc>
                  <a:txBody>
                    <a:bodyPr wrap="none"/>
                    <a:lstStyle/>
                    <a:p>
                      <a:pPr algn="l"/>
                      <a:r>
                        <a:rPr sz="800" b="0">
                          <a:solidFill>
                            <a:srgbClr val="2E2E2E"/>
                          </a:solidFill>
                          <a:latin typeface="Calibri"/>
                        </a:rPr>
                        <a:t>437.2</a:t>
                      </a:r>
                    </a:p>
                  </a:txBody>
                  <a:tcPr marL="85725" marR="38100" marT="19050" marB="19050" anchor="ctr">
                    <a:solidFill>
                      <a:srgbClr val="FFFFFF"/>
                    </a:solidFill>
                  </a:tcPr>
                </a:tc>
                <a:tc>
                  <a:txBody>
                    <a:bodyPr wrap="none"/>
                    <a:lstStyle/>
                    <a:p>
                      <a:pPr algn="l"/>
                      <a:r>
                        <a:rPr sz="800" b="0">
                          <a:solidFill>
                            <a:srgbClr val="2E2E2E"/>
                          </a:solidFill>
                          <a:latin typeface="Calibri"/>
                        </a:rPr>
                        <a:t>467.1</a:t>
                      </a:r>
                    </a:p>
                  </a:txBody>
                  <a:tcPr marL="85725" marR="38100" marT="19050" marB="19050" anchor="ctr">
                    <a:solidFill>
                      <a:srgbClr val="FFFFFF"/>
                    </a:solidFill>
                  </a:tcPr>
                </a:tc>
                <a:tc>
                  <a:txBody>
                    <a:bodyPr wrap="none"/>
                    <a:lstStyle/>
                    <a:p>
                      <a:pPr algn="l"/>
                      <a:r>
                        <a:rPr sz="800" b="0">
                          <a:solidFill>
                            <a:srgbClr val="2E2E2E"/>
                          </a:solidFill>
                          <a:latin typeface="Calibri"/>
                        </a:rPr>
                        <a:t>496.6</a:t>
                      </a:r>
                    </a:p>
                  </a:txBody>
                  <a:tcPr marL="85725" marR="38100" marT="19050" marB="19050" anchor="ctr">
                    <a:solidFill>
                      <a:srgbClr val="FFFFFF"/>
                    </a:solidFill>
                  </a:tcPr>
                </a:tc>
                <a:tc>
                  <a:txBody>
                    <a:bodyPr wrap="none"/>
                    <a:lstStyle/>
                    <a:p>
                      <a:pPr algn="l"/>
                      <a:r>
                        <a:rPr sz="800" b="0">
                          <a:solidFill>
                            <a:srgbClr val="2E2E2E"/>
                          </a:solidFill>
                          <a:latin typeface="Calibri"/>
                        </a:rPr>
                        <a:t>525.8</a:t>
                      </a:r>
                    </a:p>
                  </a:txBody>
                  <a:tcPr marL="85725" marR="38100" marT="19050" marB="19050" anchor="ctr">
                    <a:solidFill>
                      <a:srgbClr val="FFFFFF"/>
                    </a:solidFill>
                  </a:tcPr>
                </a:tc>
                <a:tc>
                  <a:txBody>
                    <a:bodyPr wrap="none"/>
                    <a:lstStyle/>
                    <a:p>
                      <a:pPr algn="l"/>
                      <a:r>
                        <a:rPr sz="800" b="0">
                          <a:solidFill>
                            <a:srgbClr val="2E2E2E"/>
                          </a:solidFill>
                          <a:latin typeface="Calibri"/>
                        </a:rPr>
                        <a:t>9.5%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Hulio</a:t>
                      </a:r>
                    </a:p>
                  </a:txBody>
                  <a:tcPr marL="85725" marR="38100" marT="19050" marB="19050" anchor="ctr">
                    <a:solidFill>
                      <a:srgbClr val="F5F8FA"/>
                    </a:solidFill>
                  </a:tcPr>
                </a:tc>
                <a:tc>
                  <a:txBody>
                    <a:bodyPr wrap="none"/>
                    <a:lstStyle/>
                    <a:p>
                      <a:pPr algn="l"/>
                      <a:r>
                        <a:rPr sz="800" b="0">
                          <a:solidFill>
                            <a:srgbClr val="2E2E2E"/>
                          </a:solidFill>
                          <a:latin typeface="Calibri"/>
                        </a:rPr>
                        <a:t>49.3</a:t>
                      </a:r>
                    </a:p>
                  </a:txBody>
                  <a:tcPr marL="85725" marR="38100" marT="19050" marB="19050" anchor="ctr">
                    <a:solidFill>
                      <a:srgbClr val="F5F8FA"/>
                    </a:solidFill>
                  </a:tcPr>
                </a:tc>
                <a:tc>
                  <a:txBody>
                    <a:bodyPr wrap="none"/>
                    <a:lstStyle/>
                    <a:p>
                      <a:pPr algn="l"/>
                      <a:r>
                        <a:rPr sz="800" b="0">
                          <a:solidFill>
                            <a:srgbClr val="2E2E2E"/>
                          </a:solidFill>
                          <a:latin typeface="Calibri"/>
                        </a:rPr>
                        <a:t>54.5</a:t>
                      </a:r>
                    </a:p>
                  </a:txBody>
                  <a:tcPr marL="85725" marR="38100" marT="19050" marB="19050" anchor="ctr">
                    <a:solidFill>
                      <a:srgbClr val="F5F8FA"/>
                    </a:solidFill>
                  </a:tcPr>
                </a:tc>
                <a:tc>
                  <a:txBody>
                    <a:bodyPr wrap="none"/>
                    <a:lstStyle/>
                    <a:p>
                      <a:pPr algn="l"/>
                      <a:r>
                        <a:rPr sz="800" b="0">
                          <a:solidFill>
                            <a:srgbClr val="2E2E2E"/>
                          </a:solidFill>
                          <a:latin typeface="Calibri"/>
                        </a:rPr>
                        <a:t>63.8</a:t>
                      </a:r>
                    </a:p>
                  </a:txBody>
                  <a:tcPr marL="85725" marR="38100" marT="19050" marB="19050" anchor="ctr">
                    <a:solidFill>
                      <a:srgbClr val="F5F8FA"/>
                    </a:solidFill>
                  </a:tcPr>
                </a:tc>
                <a:tc>
                  <a:txBody>
                    <a:bodyPr wrap="none"/>
                    <a:lstStyle/>
                    <a:p>
                      <a:pPr algn="l"/>
                      <a:r>
                        <a:rPr sz="800" b="0">
                          <a:solidFill>
                            <a:srgbClr val="2E2E2E"/>
                          </a:solidFill>
                          <a:latin typeface="Calibri"/>
                        </a:rPr>
                        <a:t>77.1</a:t>
                      </a:r>
                    </a:p>
                  </a:txBody>
                  <a:tcPr marL="85725" marR="38100" marT="19050" marB="19050" anchor="ctr">
                    <a:solidFill>
                      <a:srgbClr val="F5F8FA"/>
                    </a:solidFill>
                  </a:tcPr>
                </a:tc>
                <a:tc>
                  <a:txBody>
                    <a:bodyPr wrap="none"/>
                    <a:lstStyle/>
                    <a:p>
                      <a:pPr algn="l"/>
                      <a:r>
                        <a:rPr sz="800" b="0">
                          <a:solidFill>
                            <a:srgbClr val="2E2E2E"/>
                          </a:solidFill>
                          <a:latin typeface="Calibri"/>
                        </a:rPr>
                        <a:t>91.2</a:t>
                      </a:r>
                    </a:p>
                  </a:txBody>
                  <a:tcPr marL="85725" marR="38100" marT="19050" marB="19050" anchor="ctr">
                    <a:solidFill>
                      <a:srgbClr val="F5F8FA"/>
                    </a:solidFill>
                  </a:tcPr>
                </a:tc>
                <a:tc>
                  <a:txBody>
                    <a:bodyPr wrap="none"/>
                    <a:lstStyle/>
                    <a:p>
                      <a:pPr algn="l"/>
                      <a:r>
                        <a:rPr sz="800" b="0">
                          <a:solidFill>
                            <a:srgbClr val="2E2E2E"/>
                          </a:solidFill>
                          <a:latin typeface="Calibri"/>
                        </a:rPr>
                        <a:t>104.7</a:t>
                      </a:r>
                    </a:p>
                  </a:txBody>
                  <a:tcPr marL="85725" marR="38100" marT="19050" marB="19050" anchor="ctr">
                    <a:solidFill>
                      <a:srgbClr val="F5F8FA"/>
                    </a:solidFill>
                  </a:tcPr>
                </a:tc>
                <a:tc>
                  <a:txBody>
                    <a:bodyPr wrap="none"/>
                    <a:lstStyle/>
                    <a:p>
                      <a:pPr algn="l"/>
                      <a:r>
                        <a:rPr sz="800" b="0">
                          <a:solidFill>
                            <a:srgbClr val="2E2E2E"/>
                          </a:solidFill>
                          <a:latin typeface="Calibri"/>
                        </a:rPr>
                        <a:t>117.9</a:t>
                      </a:r>
                    </a:p>
                  </a:txBody>
                  <a:tcPr marL="85725" marR="38100" marT="19050" marB="19050" anchor="ctr">
                    <a:solidFill>
                      <a:srgbClr val="F5F8FA"/>
                    </a:solidFill>
                  </a:tcPr>
                </a:tc>
                <a:tc>
                  <a:txBody>
                    <a:bodyPr wrap="none"/>
                    <a:lstStyle/>
                    <a:p>
                      <a:pPr algn="l"/>
                      <a:r>
                        <a:rPr sz="800" b="0">
                          <a:solidFill>
                            <a:srgbClr val="2E2E2E"/>
                          </a:solidFill>
                          <a:latin typeface="Calibri"/>
                        </a:rPr>
                        <a:t>130.0</a:t>
                      </a:r>
                    </a:p>
                  </a:txBody>
                  <a:tcPr marL="85725" marR="38100" marT="19050" marB="19050" anchor="ctr">
                    <a:solidFill>
                      <a:srgbClr val="F5F8FA"/>
                    </a:solidFill>
                  </a:tcPr>
                </a:tc>
                <a:tc>
                  <a:txBody>
                    <a:bodyPr wrap="none"/>
                    <a:lstStyle/>
                    <a:p>
                      <a:pPr algn="l"/>
                      <a:r>
                        <a:rPr sz="800" b="0">
                          <a:solidFill>
                            <a:srgbClr val="2E2E2E"/>
                          </a:solidFill>
                          <a:latin typeface="Calibri"/>
                        </a:rPr>
                        <a:t>141.4</a:t>
                      </a:r>
                    </a:p>
                  </a:txBody>
                  <a:tcPr marL="85725" marR="38100" marT="19050" marB="19050" anchor="ctr">
                    <a:solidFill>
                      <a:srgbClr val="F5F8FA"/>
                    </a:solidFill>
                  </a:tcPr>
                </a:tc>
                <a:tc>
                  <a:txBody>
                    <a:bodyPr wrap="none"/>
                    <a:lstStyle/>
                    <a:p>
                      <a:pPr algn="l"/>
                      <a:r>
                        <a:rPr sz="800" b="0">
                          <a:solidFill>
                            <a:srgbClr val="2E2E2E"/>
                          </a:solidFill>
                          <a:latin typeface="Calibri"/>
                        </a:rPr>
                        <a:t>151.9</a:t>
                      </a:r>
                    </a:p>
                  </a:txBody>
                  <a:tcPr marL="85725" marR="38100" marT="19050" marB="19050" anchor="ctr">
                    <a:solidFill>
                      <a:srgbClr val="F5F8FA"/>
                    </a:solidFill>
                  </a:tcPr>
                </a:tc>
                <a:tc>
                  <a:txBody>
                    <a:bodyPr wrap="none"/>
                    <a:lstStyle/>
                    <a:p>
                      <a:pPr algn="l"/>
                      <a:r>
                        <a:rPr sz="800" b="0">
                          <a:solidFill>
                            <a:srgbClr val="2E2E2E"/>
                          </a:solidFill>
                          <a:latin typeface="Calibri"/>
                        </a:rPr>
                        <a:t>161.5</a:t>
                      </a:r>
                    </a:p>
                  </a:txBody>
                  <a:tcPr marL="85725" marR="38100" marT="19050" marB="19050" anchor="ctr">
                    <a:solidFill>
                      <a:srgbClr val="F5F8FA"/>
                    </a:solidFill>
                  </a:tcPr>
                </a:tc>
                <a:tc>
                  <a:txBody>
                    <a:bodyPr wrap="none"/>
                    <a:lstStyle/>
                    <a:p>
                      <a:pPr algn="l"/>
                      <a:r>
                        <a:rPr sz="800" b="0">
                          <a:solidFill>
                            <a:srgbClr val="2E2E2E"/>
                          </a:solidFill>
                          <a:latin typeface="Calibri"/>
                        </a:rPr>
                        <a:t>170.2</a:t>
                      </a:r>
                    </a:p>
                  </a:txBody>
                  <a:tcPr marL="85725" marR="38100" marT="19050" marB="19050" anchor="ctr">
                    <a:solidFill>
                      <a:srgbClr val="F5F8FA"/>
                    </a:solidFill>
                  </a:tcPr>
                </a:tc>
                <a:tc>
                  <a:txBody>
                    <a:bodyPr wrap="none"/>
                    <a:lstStyle/>
                    <a:p>
                      <a:pPr algn="l"/>
                      <a:r>
                        <a:rPr sz="800" b="0">
                          <a:solidFill>
                            <a:srgbClr val="2E2E2E"/>
                          </a:solidFill>
                          <a:latin typeface="Calibri"/>
                        </a:rPr>
                        <a:t>178.1</a:t>
                      </a:r>
                    </a:p>
                  </a:txBody>
                  <a:tcPr marL="85725" marR="38100" marT="19050" marB="19050" anchor="ctr">
                    <a:solidFill>
                      <a:srgbClr val="F5F8FA"/>
                    </a:solidFill>
                  </a:tcPr>
                </a:tc>
                <a:tc>
                  <a:txBody>
                    <a:bodyPr wrap="none"/>
                    <a:lstStyle/>
                    <a:p>
                      <a:pPr algn="l"/>
                      <a:r>
                        <a:rPr sz="800" b="0">
                          <a:solidFill>
                            <a:srgbClr val="2E2E2E"/>
                          </a:solidFill>
                          <a:latin typeface="Calibri"/>
                        </a:rPr>
                        <a:t>185.2</a:t>
                      </a:r>
                    </a:p>
                  </a:txBody>
                  <a:tcPr marL="85725" marR="38100" marT="19050" marB="19050" anchor="ctr">
                    <a:solidFill>
                      <a:srgbClr val="F5F8FA"/>
                    </a:solidFill>
                  </a:tcPr>
                </a:tc>
                <a:tc>
                  <a:txBody>
                    <a:bodyPr wrap="none"/>
                    <a:lstStyle/>
                    <a:p>
                      <a:pPr algn="l"/>
                      <a:r>
                        <a:rPr sz="800" b="0">
                          <a:solidFill>
                            <a:srgbClr val="2E2E2E"/>
                          </a:solidFill>
                          <a:latin typeface="Calibri"/>
                        </a:rPr>
                        <a:t>191.7</a:t>
                      </a:r>
                    </a:p>
                  </a:txBody>
                  <a:tcPr marL="85725" marR="38100" marT="19050" marB="19050" anchor="ctr">
                    <a:solidFill>
                      <a:srgbClr val="F5F8FA"/>
                    </a:solidFill>
                  </a:tcPr>
                </a:tc>
                <a:tc>
                  <a:txBody>
                    <a:bodyPr wrap="none"/>
                    <a:lstStyle/>
                    <a:p>
                      <a:pPr algn="l"/>
                      <a:r>
                        <a:rPr sz="800" b="0">
                          <a:solidFill>
                            <a:srgbClr val="2E2E2E"/>
                          </a:solidFill>
                          <a:latin typeface="Calibri"/>
                        </a:rPr>
                        <a:t>197.6</a:t>
                      </a:r>
                    </a:p>
                  </a:txBody>
                  <a:tcPr marL="85725" marR="38100" marT="19050" marB="19050" anchor="ctr">
                    <a:solidFill>
                      <a:srgbClr val="F5F8FA"/>
                    </a:solidFill>
                  </a:tcPr>
                </a:tc>
                <a:tc>
                  <a:txBody>
                    <a:bodyPr wrap="none"/>
                    <a:lstStyle/>
                    <a:p>
                      <a:pPr algn="l"/>
                      <a:r>
                        <a:rPr sz="800" b="0">
                          <a:solidFill>
                            <a:srgbClr val="2E2E2E"/>
                          </a:solidFill>
                          <a:latin typeface="Calibri"/>
                        </a:rPr>
                        <a:t>6.6%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800" b="0">
                          <a:solidFill>
                            <a:srgbClr val="2E2E2E"/>
                          </a:solidFill>
                          <a:latin typeface="Calibri"/>
                        </a:rPr>
                        <a:t>89.0</a:t>
                      </a:r>
                    </a:p>
                  </a:txBody>
                  <a:tcPr marL="85725" marR="38100" marT="19050" marB="19050" anchor="ctr">
                    <a:solidFill>
                      <a:srgbClr val="FFFFFF"/>
                    </a:solidFill>
                  </a:tcPr>
                </a:tc>
                <a:tc>
                  <a:txBody>
                    <a:bodyPr wrap="none"/>
                    <a:lstStyle/>
                    <a:p>
                      <a:pPr algn="l"/>
                      <a:r>
                        <a:rPr sz="800" b="0">
                          <a:solidFill>
                            <a:srgbClr val="2E2E2E"/>
                          </a:solidFill>
                          <a:latin typeface="Calibri"/>
                        </a:rPr>
                        <a:t>100.6</a:t>
                      </a:r>
                    </a:p>
                  </a:txBody>
                  <a:tcPr marL="85725" marR="38100" marT="19050" marB="19050" anchor="ctr">
                    <a:solidFill>
                      <a:srgbClr val="FFFFFF"/>
                    </a:solidFill>
                  </a:tcPr>
                </a:tc>
                <a:tc>
                  <a:txBody>
                    <a:bodyPr wrap="none"/>
                    <a:lstStyle/>
                    <a:p>
                      <a:pPr algn="l"/>
                      <a:r>
                        <a:rPr sz="800" b="0">
                          <a:solidFill>
                            <a:srgbClr val="2E2E2E"/>
                          </a:solidFill>
                          <a:latin typeface="Calibri"/>
                        </a:rPr>
                        <a:t>120.5</a:t>
                      </a:r>
                    </a:p>
                  </a:txBody>
                  <a:tcPr marL="85725" marR="38100" marT="19050" marB="19050" anchor="ctr">
                    <a:solidFill>
                      <a:srgbClr val="FFFFFF"/>
                    </a:solidFill>
                  </a:tcPr>
                </a:tc>
                <a:tc>
                  <a:txBody>
                    <a:bodyPr wrap="none"/>
                    <a:lstStyle/>
                    <a:p>
                      <a:pPr algn="l"/>
                      <a:r>
                        <a:rPr sz="800" b="0">
                          <a:solidFill>
                            <a:srgbClr val="2E2E2E"/>
                          </a:solidFill>
                          <a:latin typeface="Calibri"/>
                        </a:rPr>
                        <a:t>148.9</a:t>
                      </a:r>
                    </a:p>
                  </a:txBody>
                  <a:tcPr marL="85725" marR="38100" marT="19050" marB="19050" anchor="ctr">
                    <a:solidFill>
                      <a:srgbClr val="FFFFFF"/>
                    </a:solidFill>
                  </a:tcPr>
                </a:tc>
                <a:tc>
                  <a:txBody>
                    <a:bodyPr wrap="none"/>
                    <a:lstStyle/>
                    <a:p>
                      <a:pPr algn="l"/>
                      <a:r>
                        <a:rPr sz="800" b="0">
                          <a:solidFill>
                            <a:srgbClr val="2E2E2E"/>
                          </a:solidFill>
                          <a:latin typeface="Calibri"/>
                        </a:rPr>
                        <a:t>180.2</a:t>
                      </a:r>
                    </a:p>
                  </a:txBody>
                  <a:tcPr marL="85725" marR="38100" marT="19050" marB="19050" anchor="ctr">
                    <a:solidFill>
                      <a:srgbClr val="FFFFFF"/>
                    </a:solidFill>
                  </a:tcPr>
                </a:tc>
                <a:tc>
                  <a:txBody>
                    <a:bodyPr wrap="none"/>
                    <a:lstStyle/>
                    <a:p>
                      <a:pPr algn="l"/>
                      <a:r>
                        <a:rPr sz="800" b="0">
                          <a:solidFill>
                            <a:srgbClr val="2E2E2E"/>
                          </a:solidFill>
                          <a:latin typeface="Calibri"/>
                        </a:rPr>
                        <a:t>211.3</a:t>
                      </a:r>
                    </a:p>
                  </a:txBody>
                  <a:tcPr marL="85725" marR="38100" marT="19050" marB="19050" anchor="ctr">
                    <a:solidFill>
                      <a:srgbClr val="FFFFFF"/>
                    </a:solidFill>
                  </a:tcPr>
                </a:tc>
                <a:tc>
                  <a:txBody>
                    <a:bodyPr wrap="none"/>
                    <a:lstStyle/>
                    <a:p>
                      <a:pPr algn="l"/>
                      <a:r>
                        <a:rPr sz="800" b="0">
                          <a:solidFill>
                            <a:srgbClr val="2E2E2E"/>
                          </a:solidFill>
                          <a:latin typeface="Calibri"/>
                        </a:rPr>
                        <a:t>243.4</a:t>
                      </a:r>
                    </a:p>
                  </a:txBody>
                  <a:tcPr marL="85725" marR="38100" marT="19050" marB="19050" anchor="ctr">
                    <a:solidFill>
                      <a:srgbClr val="FFFFFF"/>
                    </a:solidFill>
                  </a:tcPr>
                </a:tc>
                <a:tc>
                  <a:txBody>
                    <a:bodyPr wrap="none"/>
                    <a:lstStyle/>
                    <a:p>
                      <a:pPr algn="l"/>
                      <a:r>
                        <a:rPr sz="800" b="0">
                          <a:solidFill>
                            <a:srgbClr val="2E2E2E"/>
                          </a:solidFill>
                          <a:latin typeface="Calibri"/>
                        </a:rPr>
                        <a:t>274.6</a:t>
                      </a:r>
                    </a:p>
                  </a:txBody>
                  <a:tcPr marL="85725" marR="38100" marT="19050" marB="19050" anchor="ctr">
                    <a:solidFill>
                      <a:srgbClr val="FFFFFF"/>
                    </a:solidFill>
                  </a:tcPr>
                </a:tc>
                <a:tc>
                  <a:txBody>
                    <a:bodyPr wrap="none"/>
                    <a:lstStyle/>
                    <a:p>
                      <a:pPr algn="l"/>
                      <a:r>
                        <a:rPr sz="800" b="0">
                          <a:solidFill>
                            <a:srgbClr val="2E2E2E"/>
                          </a:solidFill>
                          <a:latin typeface="Calibri"/>
                        </a:rPr>
                        <a:t>305.3</a:t>
                      </a:r>
                    </a:p>
                  </a:txBody>
                  <a:tcPr marL="85725" marR="38100" marT="19050" marB="19050" anchor="ctr">
                    <a:solidFill>
                      <a:srgbClr val="FFFFFF"/>
                    </a:solidFill>
                  </a:tcPr>
                </a:tc>
                <a:tc>
                  <a:txBody>
                    <a:bodyPr wrap="none"/>
                    <a:lstStyle/>
                    <a:p>
                      <a:pPr algn="l"/>
                      <a:r>
                        <a:rPr sz="800" b="0">
                          <a:solidFill>
                            <a:srgbClr val="2E2E2E"/>
                          </a:solidFill>
                          <a:latin typeface="Calibri"/>
                        </a:rPr>
                        <a:t>335.4</a:t>
                      </a:r>
                    </a:p>
                  </a:txBody>
                  <a:tcPr marL="85725" marR="38100" marT="19050" marB="19050" anchor="ctr">
                    <a:solidFill>
                      <a:srgbClr val="FFFFFF"/>
                    </a:solidFill>
                  </a:tcPr>
                </a:tc>
                <a:tc>
                  <a:txBody>
                    <a:bodyPr wrap="none"/>
                    <a:lstStyle/>
                    <a:p>
                      <a:pPr algn="l"/>
                      <a:r>
                        <a:rPr sz="800" b="0">
                          <a:solidFill>
                            <a:srgbClr val="2E2E2E"/>
                          </a:solidFill>
                          <a:latin typeface="Calibri"/>
                        </a:rPr>
                        <a:t>364.7</a:t>
                      </a:r>
                    </a:p>
                  </a:txBody>
                  <a:tcPr marL="85725" marR="38100" marT="19050" marB="19050" anchor="ctr">
                    <a:solidFill>
                      <a:srgbClr val="FFFFFF"/>
                    </a:solidFill>
                  </a:tcPr>
                </a:tc>
                <a:tc>
                  <a:txBody>
                    <a:bodyPr wrap="none"/>
                    <a:lstStyle/>
                    <a:p>
                      <a:pPr algn="l"/>
                      <a:r>
                        <a:rPr sz="800" b="0">
                          <a:solidFill>
                            <a:srgbClr val="2E2E2E"/>
                          </a:solidFill>
                          <a:latin typeface="Calibri"/>
                        </a:rPr>
                        <a:t>393.2</a:t>
                      </a:r>
                    </a:p>
                  </a:txBody>
                  <a:tcPr marL="85725" marR="38100" marT="19050" marB="19050" anchor="ctr">
                    <a:solidFill>
                      <a:srgbClr val="FFFFFF"/>
                    </a:solidFill>
                  </a:tcPr>
                </a:tc>
                <a:tc>
                  <a:txBody>
                    <a:bodyPr wrap="none"/>
                    <a:lstStyle/>
                    <a:p>
                      <a:pPr algn="l"/>
                      <a:r>
                        <a:rPr sz="800" b="0">
                          <a:solidFill>
                            <a:srgbClr val="2E2E2E"/>
                          </a:solidFill>
                          <a:latin typeface="Calibri"/>
                        </a:rPr>
                        <a:t>420.6</a:t>
                      </a:r>
                    </a:p>
                  </a:txBody>
                  <a:tcPr marL="85725" marR="38100" marT="19050" marB="19050" anchor="ctr">
                    <a:solidFill>
                      <a:srgbClr val="FFFFFF"/>
                    </a:solidFill>
                  </a:tcPr>
                </a:tc>
                <a:tc>
                  <a:txBody>
                    <a:bodyPr wrap="none"/>
                    <a:lstStyle/>
                    <a:p>
                      <a:pPr algn="l"/>
                      <a:r>
                        <a:rPr sz="800" b="0">
                          <a:solidFill>
                            <a:srgbClr val="2E2E2E"/>
                          </a:solidFill>
                          <a:latin typeface="Calibri"/>
                        </a:rPr>
                        <a:t>447.4</a:t>
                      </a:r>
                    </a:p>
                  </a:txBody>
                  <a:tcPr marL="85725" marR="38100" marT="19050" marB="19050" anchor="ctr">
                    <a:solidFill>
                      <a:srgbClr val="FFFFFF"/>
                    </a:solidFill>
                  </a:tcPr>
                </a:tc>
                <a:tc>
                  <a:txBody>
                    <a:bodyPr wrap="none"/>
                    <a:lstStyle/>
                    <a:p>
                      <a:pPr algn="l"/>
                      <a:r>
                        <a:rPr sz="800" b="0">
                          <a:solidFill>
                            <a:srgbClr val="2E2E2E"/>
                          </a:solidFill>
                          <a:latin typeface="Calibri"/>
                        </a:rPr>
                        <a:t>473.5</a:t>
                      </a:r>
                    </a:p>
                  </a:txBody>
                  <a:tcPr marL="85725" marR="38100" marT="19050" marB="19050" anchor="ctr">
                    <a:solidFill>
                      <a:srgbClr val="FFFFFF"/>
                    </a:solidFill>
                  </a:tcPr>
                </a:tc>
                <a:tc>
                  <a:txBody>
                    <a:bodyPr wrap="none"/>
                    <a:lstStyle/>
                    <a:p>
                      <a:pPr algn="l"/>
                      <a:r>
                        <a:rPr sz="800" b="0">
                          <a:solidFill>
                            <a:srgbClr val="2E2E2E"/>
                          </a:solidFill>
                          <a:latin typeface="Calibri"/>
                        </a:rPr>
                        <a:t>499.1</a:t>
                      </a:r>
                    </a:p>
                  </a:txBody>
                  <a:tcPr marL="85725" marR="38100" marT="19050" marB="19050" anchor="ctr">
                    <a:solidFill>
                      <a:srgbClr val="FFFFFF"/>
                    </a:solidFill>
                  </a:tcPr>
                </a:tc>
                <a:tc>
                  <a:txBody>
                    <a:bodyPr wrap="none"/>
                    <a:lstStyle/>
                    <a:p>
                      <a:pPr algn="l"/>
                      <a:r>
                        <a:rPr sz="800" b="0">
                          <a:solidFill>
                            <a:srgbClr val="2E2E2E"/>
                          </a:solidFill>
                          <a:latin typeface="Calibri"/>
                        </a:rPr>
                        <a:t>9.0%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Yusimry</a:t>
                      </a:r>
                    </a:p>
                  </a:txBody>
                  <a:tcPr marL="85725" marR="38100" marT="19050" marB="19050" anchor="ctr">
                    <a:solidFill>
                      <a:srgbClr val="F5F8FA"/>
                    </a:solidFill>
                  </a:tcPr>
                </a:tc>
                <a:tc>
                  <a:txBody>
                    <a:bodyPr wrap="none"/>
                    <a:lstStyle/>
                    <a:p>
                      <a:pPr algn="l"/>
                      <a:r>
                        <a:rPr sz="800" b="0">
                          <a:solidFill>
                            <a:srgbClr val="2E2E2E"/>
                          </a:solidFill>
                          <a:latin typeface="Calibri"/>
                        </a:rPr>
                        <a:t>89.8</a:t>
                      </a:r>
                    </a:p>
                  </a:txBody>
                  <a:tcPr marL="85725" marR="38100" marT="19050" marB="19050" anchor="ctr">
                    <a:solidFill>
                      <a:srgbClr val="F5F8FA"/>
                    </a:solidFill>
                  </a:tcPr>
                </a:tc>
                <a:tc>
                  <a:txBody>
                    <a:bodyPr wrap="none"/>
                    <a:lstStyle/>
                    <a:p>
                      <a:pPr algn="l"/>
                      <a:r>
                        <a:rPr sz="800" b="0">
                          <a:solidFill>
                            <a:srgbClr val="2E2E2E"/>
                          </a:solidFill>
                          <a:latin typeface="Calibri"/>
                        </a:rPr>
                        <a:t>99.0</a:t>
                      </a:r>
                    </a:p>
                  </a:txBody>
                  <a:tcPr marL="85725" marR="38100" marT="19050" marB="19050" anchor="ctr">
                    <a:solidFill>
                      <a:srgbClr val="F5F8FA"/>
                    </a:solidFill>
                  </a:tcPr>
                </a:tc>
                <a:tc>
                  <a:txBody>
                    <a:bodyPr wrap="none"/>
                    <a:lstStyle/>
                    <a:p>
                      <a:pPr algn="l"/>
                      <a:r>
                        <a:rPr sz="800" b="0">
                          <a:solidFill>
                            <a:srgbClr val="2E2E2E"/>
                          </a:solidFill>
                          <a:latin typeface="Calibri"/>
                        </a:rPr>
                        <a:t>115.7</a:t>
                      </a:r>
                    </a:p>
                  </a:txBody>
                  <a:tcPr marL="85725" marR="38100" marT="19050" marB="19050" anchor="ctr">
                    <a:solidFill>
                      <a:srgbClr val="F5F8FA"/>
                    </a:solidFill>
                  </a:tcPr>
                </a:tc>
                <a:tc>
                  <a:txBody>
                    <a:bodyPr wrap="none"/>
                    <a:lstStyle/>
                    <a:p>
                      <a:pPr algn="l"/>
                      <a:r>
                        <a:rPr sz="800" b="0">
                          <a:solidFill>
                            <a:srgbClr val="2E2E2E"/>
                          </a:solidFill>
                          <a:latin typeface="Calibri"/>
                        </a:rPr>
                        <a:t>139.6</a:t>
                      </a:r>
                    </a:p>
                  </a:txBody>
                  <a:tcPr marL="85725" marR="38100" marT="19050" marB="19050" anchor="ctr">
                    <a:solidFill>
                      <a:srgbClr val="F5F8FA"/>
                    </a:solidFill>
                  </a:tcPr>
                </a:tc>
                <a:tc>
                  <a:txBody>
                    <a:bodyPr wrap="none"/>
                    <a:lstStyle/>
                    <a:p>
                      <a:pPr algn="l"/>
                      <a:r>
                        <a:rPr sz="800" b="0">
                          <a:solidFill>
                            <a:srgbClr val="2E2E2E"/>
                          </a:solidFill>
                          <a:latin typeface="Calibri"/>
                        </a:rPr>
                        <a:t>164.8</a:t>
                      </a:r>
                    </a:p>
                  </a:txBody>
                  <a:tcPr marL="85725" marR="38100" marT="19050" marB="19050" anchor="ctr">
                    <a:solidFill>
                      <a:srgbClr val="F5F8FA"/>
                    </a:solidFill>
                  </a:tcPr>
                </a:tc>
                <a:tc>
                  <a:txBody>
                    <a:bodyPr wrap="none"/>
                    <a:lstStyle/>
                    <a:p>
                      <a:pPr algn="l"/>
                      <a:r>
                        <a:rPr sz="800" b="0">
                          <a:solidFill>
                            <a:srgbClr val="2E2E2E"/>
                          </a:solidFill>
                          <a:latin typeface="Calibri"/>
                        </a:rPr>
                        <a:t>188.6</a:t>
                      </a:r>
                    </a:p>
                  </a:txBody>
                  <a:tcPr marL="85725" marR="38100" marT="19050" marB="19050" anchor="ctr">
                    <a:solidFill>
                      <a:srgbClr val="F5F8FA"/>
                    </a:solidFill>
                  </a:tcPr>
                </a:tc>
                <a:tc>
                  <a:txBody>
                    <a:bodyPr wrap="none"/>
                    <a:lstStyle/>
                    <a:p>
                      <a:pPr algn="l"/>
                      <a:r>
                        <a:rPr sz="800" b="0">
                          <a:solidFill>
                            <a:srgbClr val="2E2E2E"/>
                          </a:solidFill>
                          <a:latin typeface="Calibri"/>
                        </a:rPr>
                        <a:t>211.9</a:t>
                      </a:r>
                    </a:p>
                  </a:txBody>
                  <a:tcPr marL="85725" marR="38100" marT="19050" marB="19050" anchor="ctr">
                    <a:solidFill>
                      <a:srgbClr val="F5F8FA"/>
                    </a:solidFill>
                  </a:tcPr>
                </a:tc>
                <a:tc>
                  <a:txBody>
                    <a:bodyPr wrap="none"/>
                    <a:lstStyle/>
                    <a:p>
                      <a:pPr algn="l"/>
                      <a:r>
                        <a:rPr sz="800" b="0">
                          <a:solidFill>
                            <a:srgbClr val="2E2E2E"/>
                          </a:solidFill>
                          <a:latin typeface="Calibri"/>
                        </a:rPr>
                        <a:t>233.3</a:t>
                      </a:r>
                    </a:p>
                  </a:txBody>
                  <a:tcPr marL="85725" marR="38100" marT="19050" marB="19050" anchor="ctr">
                    <a:solidFill>
                      <a:srgbClr val="F5F8FA"/>
                    </a:solidFill>
                  </a:tcPr>
                </a:tc>
                <a:tc>
                  <a:txBody>
                    <a:bodyPr wrap="none"/>
                    <a:lstStyle/>
                    <a:p>
                      <a:pPr algn="l"/>
                      <a:r>
                        <a:rPr sz="800" b="0">
                          <a:solidFill>
                            <a:srgbClr val="2E2E2E"/>
                          </a:solidFill>
                          <a:latin typeface="Calibri"/>
                        </a:rPr>
                        <a:t>253.1</a:t>
                      </a:r>
                    </a:p>
                  </a:txBody>
                  <a:tcPr marL="85725" marR="38100" marT="19050" marB="19050" anchor="ctr">
                    <a:solidFill>
                      <a:srgbClr val="F5F8FA"/>
                    </a:solidFill>
                  </a:tcPr>
                </a:tc>
                <a:tc>
                  <a:txBody>
                    <a:bodyPr wrap="none"/>
                    <a:lstStyle/>
                    <a:p>
                      <a:pPr algn="l"/>
                      <a:r>
                        <a:rPr sz="800" b="0">
                          <a:solidFill>
                            <a:srgbClr val="2E2E2E"/>
                          </a:solidFill>
                          <a:latin typeface="Calibri"/>
                        </a:rPr>
                        <a:t>271.3</a:t>
                      </a:r>
                    </a:p>
                  </a:txBody>
                  <a:tcPr marL="85725" marR="38100" marT="19050" marB="19050" anchor="ctr">
                    <a:solidFill>
                      <a:srgbClr val="F5F8FA"/>
                    </a:solidFill>
                  </a:tcPr>
                </a:tc>
                <a:tc>
                  <a:txBody>
                    <a:bodyPr wrap="none"/>
                    <a:lstStyle/>
                    <a:p>
                      <a:pPr algn="l"/>
                      <a:r>
                        <a:rPr sz="800" b="0">
                          <a:solidFill>
                            <a:srgbClr val="2E2E2E"/>
                          </a:solidFill>
                          <a:latin typeface="Calibri"/>
                        </a:rPr>
                        <a:t>287.9</a:t>
                      </a:r>
                    </a:p>
                  </a:txBody>
                  <a:tcPr marL="85725" marR="38100" marT="19050" marB="19050" anchor="ctr">
                    <a:solidFill>
                      <a:srgbClr val="F5F8FA"/>
                    </a:solidFill>
                  </a:tcPr>
                </a:tc>
                <a:tc>
                  <a:txBody>
                    <a:bodyPr wrap="none"/>
                    <a:lstStyle/>
                    <a:p>
                      <a:pPr algn="l"/>
                      <a:r>
                        <a:rPr sz="800" b="0">
                          <a:solidFill>
                            <a:srgbClr val="2E2E2E"/>
                          </a:solidFill>
                          <a:latin typeface="Calibri"/>
                        </a:rPr>
                        <a:t>302.8</a:t>
                      </a:r>
                    </a:p>
                  </a:txBody>
                  <a:tcPr marL="85725" marR="38100" marT="19050" marB="19050" anchor="ctr">
                    <a:solidFill>
                      <a:srgbClr val="F5F8FA"/>
                    </a:solidFill>
                  </a:tcPr>
                </a:tc>
                <a:tc>
                  <a:txBody>
                    <a:bodyPr wrap="none"/>
                    <a:lstStyle/>
                    <a:p>
                      <a:pPr algn="l"/>
                      <a:r>
                        <a:rPr sz="800" b="0">
                          <a:solidFill>
                            <a:srgbClr val="2E2E2E"/>
                          </a:solidFill>
                          <a:latin typeface="Calibri"/>
                        </a:rPr>
                        <a:t>316.1</a:t>
                      </a:r>
                    </a:p>
                  </a:txBody>
                  <a:tcPr marL="85725" marR="38100" marT="19050" marB="19050" anchor="ctr">
                    <a:solidFill>
                      <a:srgbClr val="F5F8FA"/>
                    </a:solidFill>
                  </a:tcPr>
                </a:tc>
                <a:tc>
                  <a:txBody>
                    <a:bodyPr wrap="none"/>
                    <a:lstStyle/>
                    <a:p>
                      <a:pPr algn="l"/>
                      <a:r>
                        <a:rPr sz="800" b="0">
                          <a:solidFill>
                            <a:srgbClr val="2E2E2E"/>
                          </a:solidFill>
                          <a:latin typeface="Calibri"/>
                        </a:rPr>
                        <a:t>328.0</a:t>
                      </a:r>
                    </a:p>
                  </a:txBody>
                  <a:tcPr marL="85725" marR="38100" marT="19050" marB="19050" anchor="ctr">
                    <a:solidFill>
                      <a:srgbClr val="F5F8FA"/>
                    </a:solidFill>
                  </a:tcPr>
                </a:tc>
                <a:tc>
                  <a:txBody>
                    <a:bodyPr wrap="none"/>
                    <a:lstStyle/>
                    <a:p>
                      <a:pPr algn="l"/>
                      <a:r>
                        <a:rPr sz="800" b="0">
                          <a:solidFill>
                            <a:srgbClr val="2E2E2E"/>
                          </a:solidFill>
                          <a:latin typeface="Calibri"/>
                        </a:rPr>
                        <a:t>338.7</a:t>
                      </a:r>
                    </a:p>
                  </a:txBody>
                  <a:tcPr marL="85725" marR="38100" marT="19050" marB="19050" anchor="ctr">
                    <a:solidFill>
                      <a:srgbClr val="F5F8FA"/>
                    </a:solidFill>
                  </a:tcPr>
                </a:tc>
                <a:tc>
                  <a:txBody>
                    <a:bodyPr wrap="none"/>
                    <a:lstStyle/>
                    <a:p>
                      <a:pPr algn="l"/>
                      <a:r>
                        <a:rPr sz="800" b="0">
                          <a:solidFill>
                            <a:srgbClr val="2E2E2E"/>
                          </a:solidFill>
                          <a:latin typeface="Calibri"/>
                        </a:rPr>
                        <a:t>348.4</a:t>
                      </a:r>
                    </a:p>
                  </a:txBody>
                  <a:tcPr marL="85725" marR="38100" marT="19050" marB="19050" anchor="ctr">
                    <a:solidFill>
                      <a:srgbClr val="F5F8FA"/>
                    </a:solidFill>
                  </a:tcPr>
                </a:tc>
                <a:tc>
                  <a:txBody>
                    <a:bodyPr wrap="none"/>
                    <a:lstStyle/>
                    <a:p>
                      <a:pPr algn="l"/>
                      <a:r>
                        <a:rPr sz="800" b="0">
                          <a:solidFill>
                            <a:srgbClr val="2E2E2E"/>
                          </a:solidFill>
                          <a:latin typeface="Calibri"/>
                        </a:rPr>
                        <a:t>6.3%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Yuflyma</a:t>
                      </a:r>
                    </a:p>
                  </a:txBody>
                  <a:tcPr marL="85725" marR="38100" marT="19050" marB="19050" anchor="ctr">
                    <a:solidFill>
                      <a:srgbClr val="FFFFFF"/>
                    </a:solidFill>
                  </a:tcPr>
                </a:tc>
                <a:tc>
                  <a:txBody>
                    <a:bodyPr wrap="none"/>
                    <a:lstStyle/>
                    <a:p>
                      <a:pPr algn="l"/>
                      <a:r>
                        <a:rPr sz="800" b="0">
                          <a:solidFill>
                            <a:srgbClr val="2E2E2E"/>
                          </a:solidFill>
                          <a:latin typeface="Calibri"/>
                        </a:rPr>
                        <a:t>41.2</a:t>
                      </a:r>
                    </a:p>
                  </a:txBody>
                  <a:tcPr marL="85725" marR="38100" marT="19050" marB="19050" anchor="ctr">
                    <a:solidFill>
                      <a:srgbClr val="FFFFFF"/>
                    </a:solidFill>
                  </a:tcPr>
                </a:tc>
                <a:tc>
                  <a:txBody>
                    <a:bodyPr wrap="none"/>
                    <a:lstStyle/>
                    <a:p>
                      <a:pPr algn="l"/>
                      <a:r>
                        <a:rPr sz="800" b="0">
                          <a:solidFill>
                            <a:srgbClr val="2E2E2E"/>
                          </a:solidFill>
                          <a:latin typeface="Calibri"/>
                        </a:rPr>
                        <a:t>46.2</a:t>
                      </a:r>
                    </a:p>
                  </a:txBody>
                  <a:tcPr marL="85725" marR="38100" marT="19050" marB="19050" anchor="ctr">
                    <a:solidFill>
                      <a:srgbClr val="FFFFFF"/>
                    </a:solidFill>
                  </a:tcPr>
                </a:tc>
                <a:tc>
                  <a:txBody>
                    <a:bodyPr wrap="none"/>
                    <a:lstStyle/>
                    <a:p>
                      <a:pPr algn="l"/>
                      <a:r>
                        <a:rPr sz="800" b="0">
                          <a:solidFill>
                            <a:srgbClr val="2E2E2E"/>
                          </a:solidFill>
                          <a:latin typeface="Calibri"/>
                        </a:rPr>
                        <a:t>55.0</a:t>
                      </a:r>
                    </a:p>
                  </a:txBody>
                  <a:tcPr marL="85725" marR="38100" marT="19050" marB="19050" anchor="ctr">
                    <a:solidFill>
                      <a:srgbClr val="FFFFFF"/>
                    </a:solidFill>
                  </a:tcPr>
                </a:tc>
                <a:tc>
                  <a:txBody>
                    <a:bodyPr wrap="none"/>
                    <a:lstStyle/>
                    <a:p>
                      <a:pPr algn="l"/>
                      <a:r>
                        <a:rPr sz="800" b="0">
                          <a:solidFill>
                            <a:srgbClr val="2E2E2E"/>
                          </a:solidFill>
                          <a:latin typeface="Calibri"/>
                        </a:rPr>
                        <a:t>67.5</a:t>
                      </a:r>
                    </a:p>
                  </a:txBody>
                  <a:tcPr marL="85725" marR="38100" marT="19050" marB="19050" anchor="ctr">
                    <a:solidFill>
                      <a:srgbClr val="FFFFFF"/>
                    </a:solidFill>
                  </a:tcPr>
                </a:tc>
                <a:tc>
                  <a:txBody>
                    <a:bodyPr wrap="none"/>
                    <a:lstStyle/>
                    <a:p>
                      <a:pPr algn="l"/>
                      <a:r>
                        <a:rPr sz="800" b="0">
                          <a:solidFill>
                            <a:srgbClr val="2E2E2E"/>
                          </a:solidFill>
                          <a:latin typeface="Calibri"/>
                        </a:rPr>
                        <a:t>81.1</a:t>
                      </a:r>
                    </a:p>
                  </a:txBody>
                  <a:tcPr marL="85725" marR="38100" marT="19050" marB="19050" anchor="ctr">
                    <a:solidFill>
                      <a:srgbClr val="FFFFFF"/>
                    </a:solidFill>
                  </a:tcPr>
                </a:tc>
                <a:tc>
                  <a:txBody>
                    <a:bodyPr wrap="none"/>
                    <a:lstStyle/>
                    <a:p>
                      <a:pPr algn="l"/>
                      <a:r>
                        <a:rPr sz="800" b="0">
                          <a:solidFill>
                            <a:srgbClr val="2E2E2E"/>
                          </a:solidFill>
                          <a:latin typeface="Calibri"/>
                        </a:rPr>
                        <a:t>94.4</a:t>
                      </a:r>
                    </a:p>
                  </a:txBody>
                  <a:tcPr marL="85725" marR="38100" marT="19050" marB="19050" anchor="ctr">
                    <a:solidFill>
                      <a:srgbClr val="FFFFFF"/>
                    </a:solidFill>
                  </a:tcPr>
                </a:tc>
                <a:tc>
                  <a:txBody>
                    <a:bodyPr wrap="none"/>
                    <a:lstStyle/>
                    <a:p>
                      <a:pPr algn="l"/>
                      <a:r>
                        <a:rPr sz="800" b="0">
                          <a:solidFill>
                            <a:srgbClr val="2E2E2E"/>
                          </a:solidFill>
                          <a:latin typeface="Calibri"/>
                        </a:rPr>
                        <a:t>108.0</a:t>
                      </a:r>
                    </a:p>
                  </a:txBody>
                  <a:tcPr marL="85725" marR="38100" marT="19050" marB="19050" anchor="ctr">
                    <a:solidFill>
                      <a:srgbClr val="FFFFFF"/>
                    </a:solidFill>
                  </a:tcPr>
                </a:tc>
                <a:tc>
                  <a:txBody>
                    <a:bodyPr wrap="none"/>
                    <a:lstStyle/>
                    <a:p>
                      <a:pPr algn="l"/>
                      <a:r>
                        <a:rPr sz="800" b="0">
                          <a:solidFill>
                            <a:srgbClr val="2E2E2E"/>
                          </a:solidFill>
                          <a:latin typeface="Calibri"/>
                        </a:rPr>
                        <a:t>121.0</a:t>
                      </a:r>
                    </a:p>
                  </a:txBody>
                  <a:tcPr marL="85725" marR="38100" marT="19050" marB="19050" anchor="ctr">
                    <a:solidFill>
                      <a:srgbClr val="FFFFFF"/>
                    </a:solidFill>
                  </a:tcPr>
                </a:tc>
                <a:tc>
                  <a:txBody>
                    <a:bodyPr wrap="none"/>
                    <a:lstStyle/>
                    <a:p>
                      <a:pPr algn="l"/>
                      <a:r>
                        <a:rPr sz="800" b="0">
                          <a:solidFill>
                            <a:srgbClr val="2E2E2E"/>
                          </a:solidFill>
                          <a:latin typeface="Calibri"/>
                        </a:rPr>
                        <a:t>133.6</a:t>
                      </a:r>
                    </a:p>
                  </a:txBody>
                  <a:tcPr marL="85725" marR="38100" marT="19050" marB="19050" anchor="ctr">
                    <a:solidFill>
                      <a:srgbClr val="FFFFFF"/>
                    </a:solidFill>
                  </a:tcPr>
                </a:tc>
                <a:tc>
                  <a:txBody>
                    <a:bodyPr wrap="none"/>
                    <a:lstStyle/>
                    <a:p>
                      <a:pPr algn="l"/>
                      <a:r>
                        <a:rPr sz="800" b="0">
                          <a:solidFill>
                            <a:srgbClr val="2E2E2E"/>
                          </a:solidFill>
                          <a:latin typeface="Calibri"/>
                        </a:rPr>
                        <a:t>145.8</a:t>
                      </a:r>
                    </a:p>
                  </a:txBody>
                  <a:tcPr marL="85725" marR="38100" marT="19050" marB="19050" anchor="ctr">
                    <a:solidFill>
                      <a:srgbClr val="FFFFFF"/>
                    </a:solidFill>
                  </a:tcPr>
                </a:tc>
                <a:tc>
                  <a:txBody>
                    <a:bodyPr wrap="none"/>
                    <a:lstStyle/>
                    <a:p>
                      <a:pPr algn="l"/>
                      <a:r>
                        <a:rPr sz="800" b="0">
                          <a:solidFill>
                            <a:srgbClr val="2E2E2E"/>
                          </a:solidFill>
                          <a:latin typeface="Calibri"/>
                        </a:rPr>
                        <a:t>157.4</a:t>
                      </a:r>
                    </a:p>
                  </a:txBody>
                  <a:tcPr marL="85725" marR="38100" marT="19050" marB="19050" anchor="ctr">
                    <a:solidFill>
                      <a:srgbClr val="FFFFFF"/>
                    </a:solidFill>
                  </a:tcPr>
                </a:tc>
                <a:tc>
                  <a:txBody>
                    <a:bodyPr wrap="none"/>
                    <a:lstStyle/>
                    <a:p>
                      <a:pPr algn="l"/>
                      <a:r>
                        <a:rPr sz="800" b="0">
                          <a:solidFill>
                            <a:srgbClr val="2E2E2E"/>
                          </a:solidFill>
                          <a:latin typeface="Calibri"/>
                        </a:rPr>
                        <a:t>168.5</a:t>
                      </a:r>
                    </a:p>
                  </a:txBody>
                  <a:tcPr marL="85725" marR="38100" marT="19050" marB="19050" anchor="ctr">
                    <a:solidFill>
                      <a:srgbClr val="FFFFFF"/>
                    </a:solidFill>
                  </a:tcPr>
                </a:tc>
                <a:tc>
                  <a:txBody>
                    <a:bodyPr wrap="none"/>
                    <a:lstStyle/>
                    <a:p>
                      <a:pPr algn="l"/>
                      <a:r>
                        <a:rPr sz="800" b="0">
                          <a:solidFill>
                            <a:srgbClr val="2E2E2E"/>
                          </a:solidFill>
                          <a:latin typeface="Calibri"/>
                        </a:rPr>
                        <a:t>179.0</a:t>
                      </a:r>
                    </a:p>
                  </a:txBody>
                  <a:tcPr marL="85725" marR="38100" marT="19050" marB="19050" anchor="ctr">
                    <a:solidFill>
                      <a:srgbClr val="FFFFFF"/>
                    </a:solidFill>
                  </a:tcPr>
                </a:tc>
                <a:tc>
                  <a:txBody>
                    <a:bodyPr wrap="none"/>
                    <a:lstStyle/>
                    <a:p>
                      <a:pPr algn="l"/>
                      <a:r>
                        <a:rPr sz="800" b="0">
                          <a:solidFill>
                            <a:srgbClr val="2E2E2E"/>
                          </a:solidFill>
                          <a:latin typeface="Calibri"/>
                        </a:rPr>
                        <a:t>189.1</a:t>
                      </a:r>
                    </a:p>
                  </a:txBody>
                  <a:tcPr marL="85725" marR="38100" marT="19050" marB="19050" anchor="ctr">
                    <a:solidFill>
                      <a:srgbClr val="FFFFFF"/>
                    </a:solidFill>
                  </a:tcPr>
                </a:tc>
                <a:tc>
                  <a:txBody>
                    <a:bodyPr wrap="none"/>
                    <a:lstStyle/>
                    <a:p>
                      <a:pPr algn="l"/>
                      <a:r>
                        <a:rPr sz="800" b="0">
                          <a:solidFill>
                            <a:srgbClr val="2E2E2E"/>
                          </a:solidFill>
                          <a:latin typeface="Calibri"/>
                        </a:rPr>
                        <a:t>198.7</a:t>
                      </a:r>
                    </a:p>
                  </a:txBody>
                  <a:tcPr marL="85725" marR="38100" marT="19050" marB="19050" anchor="ctr">
                    <a:solidFill>
                      <a:srgbClr val="FFFFFF"/>
                    </a:solidFill>
                  </a:tcPr>
                </a:tc>
                <a:tc>
                  <a:txBody>
                    <a:bodyPr wrap="none"/>
                    <a:lstStyle/>
                    <a:p>
                      <a:pPr algn="l"/>
                      <a:r>
                        <a:rPr sz="800" b="0">
                          <a:solidFill>
                            <a:srgbClr val="2E2E2E"/>
                          </a:solidFill>
                          <a:latin typeface="Calibri"/>
                        </a:rPr>
                        <a:t>208.0</a:t>
                      </a:r>
                    </a:p>
                  </a:txBody>
                  <a:tcPr marL="85725" marR="38100" marT="19050" marB="19050" anchor="ctr">
                    <a:solidFill>
                      <a:srgbClr val="FFFFFF"/>
                    </a:solidFill>
                  </a:tcPr>
                </a:tc>
                <a:tc>
                  <a:txBody>
                    <a:bodyPr wrap="none"/>
                    <a:lstStyle/>
                    <a:p>
                      <a:pPr algn="l"/>
                      <a:r>
                        <a:rPr sz="800" b="0">
                          <a:solidFill>
                            <a:srgbClr val="2E2E2E"/>
                          </a:solidFill>
                          <a:latin typeface="Calibri"/>
                        </a:rPr>
                        <a:t>8.2%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Simlandi</a:t>
                      </a:r>
                    </a:p>
                  </a:txBody>
                  <a:tcPr marL="85725" marR="38100" marT="19050" marB="19050" anchor="ctr">
                    <a:solidFill>
                      <a:srgbClr val="F5F8FA"/>
                    </a:solidFill>
                  </a:tcPr>
                </a:tc>
                <a:tc>
                  <a:txBody>
                    <a:bodyPr wrap="none"/>
                    <a:lstStyle/>
                    <a:p>
                      <a:pPr algn="l"/>
                      <a:r>
                        <a:rPr sz="800" b="0">
                          <a:solidFill>
                            <a:srgbClr val="2E2E2E"/>
                          </a:solidFill>
                          <a:latin typeface="Calibri"/>
                        </a:rPr>
                        <a:t>65.4</a:t>
                      </a:r>
                    </a:p>
                  </a:txBody>
                  <a:tcPr marL="85725" marR="38100" marT="19050" marB="19050" anchor="ctr">
                    <a:solidFill>
                      <a:srgbClr val="F5F8FA"/>
                    </a:solidFill>
                  </a:tcPr>
                </a:tc>
                <a:tc>
                  <a:txBody>
                    <a:bodyPr wrap="none"/>
                    <a:lstStyle/>
                    <a:p>
                      <a:pPr algn="l"/>
                      <a:r>
                        <a:rPr sz="800" b="0">
                          <a:solidFill>
                            <a:srgbClr val="2E2E2E"/>
                          </a:solidFill>
                          <a:latin typeface="Calibri"/>
                        </a:rPr>
                        <a:t>73.0</a:t>
                      </a:r>
                    </a:p>
                  </a:txBody>
                  <a:tcPr marL="85725" marR="38100" marT="19050" marB="19050" anchor="ctr">
                    <a:solidFill>
                      <a:srgbClr val="F5F8FA"/>
                    </a:solidFill>
                  </a:tcPr>
                </a:tc>
                <a:tc>
                  <a:txBody>
                    <a:bodyPr wrap="none"/>
                    <a:lstStyle/>
                    <a:p>
                      <a:pPr algn="l"/>
                      <a:r>
                        <a:rPr sz="800" b="0">
                          <a:solidFill>
                            <a:srgbClr val="2E2E2E"/>
                          </a:solidFill>
                          <a:latin typeface="Calibri"/>
                        </a:rPr>
                        <a:t>86.4</a:t>
                      </a:r>
                    </a:p>
                  </a:txBody>
                  <a:tcPr marL="85725" marR="38100" marT="19050" marB="19050" anchor="ctr">
                    <a:solidFill>
                      <a:srgbClr val="F5F8FA"/>
                    </a:solidFill>
                  </a:tcPr>
                </a:tc>
                <a:tc>
                  <a:txBody>
                    <a:bodyPr wrap="none"/>
                    <a:lstStyle/>
                    <a:p>
                      <a:pPr algn="l"/>
                      <a:r>
                        <a:rPr sz="800" b="0">
                          <a:solidFill>
                            <a:srgbClr val="2E2E2E"/>
                          </a:solidFill>
                          <a:latin typeface="Calibri"/>
                        </a:rPr>
                        <a:t>105.6</a:t>
                      </a:r>
                    </a:p>
                  </a:txBody>
                  <a:tcPr marL="85725" marR="38100" marT="19050" marB="19050" anchor="ctr">
                    <a:solidFill>
                      <a:srgbClr val="F5F8FA"/>
                    </a:solidFill>
                  </a:tcPr>
                </a:tc>
                <a:tc>
                  <a:txBody>
                    <a:bodyPr wrap="none"/>
                    <a:lstStyle/>
                    <a:p>
                      <a:pPr algn="l"/>
                      <a:r>
                        <a:rPr sz="800" b="0">
                          <a:solidFill>
                            <a:srgbClr val="2E2E2E"/>
                          </a:solidFill>
                          <a:latin typeface="Calibri"/>
                        </a:rPr>
                        <a:t>126.2</a:t>
                      </a:r>
                    </a:p>
                  </a:txBody>
                  <a:tcPr marL="85725" marR="38100" marT="19050" marB="19050" anchor="ctr">
                    <a:solidFill>
                      <a:srgbClr val="F5F8FA"/>
                    </a:solidFill>
                  </a:tcPr>
                </a:tc>
                <a:tc>
                  <a:txBody>
                    <a:bodyPr wrap="none"/>
                    <a:lstStyle/>
                    <a:p>
                      <a:pPr algn="l"/>
                      <a:r>
                        <a:rPr sz="800" b="0">
                          <a:solidFill>
                            <a:srgbClr val="2E2E2E"/>
                          </a:solidFill>
                          <a:latin typeface="Calibri"/>
                        </a:rPr>
                        <a:t>146.3</a:t>
                      </a:r>
                    </a:p>
                  </a:txBody>
                  <a:tcPr marL="85725" marR="38100" marT="19050" marB="19050" anchor="ctr">
                    <a:solidFill>
                      <a:srgbClr val="F5F8FA"/>
                    </a:solidFill>
                  </a:tcPr>
                </a:tc>
                <a:tc>
                  <a:txBody>
                    <a:bodyPr wrap="none"/>
                    <a:lstStyle/>
                    <a:p>
                      <a:pPr algn="l"/>
                      <a:r>
                        <a:rPr sz="800" b="0">
                          <a:solidFill>
                            <a:srgbClr val="2E2E2E"/>
                          </a:solidFill>
                          <a:latin typeface="Calibri"/>
                        </a:rPr>
                        <a:t>166.5</a:t>
                      </a:r>
                    </a:p>
                  </a:txBody>
                  <a:tcPr marL="85725" marR="38100" marT="19050" marB="19050" anchor="ctr">
                    <a:solidFill>
                      <a:srgbClr val="F5F8FA"/>
                    </a:solidFill>
                  </a:tcPr>
                </a:tc>
                <a:tc>
                  <a:txBody>
                    <a:bodyPr wrap="none"/>
                    <a:lstStyle/>
                    <a:p>
                      <a:pPr algn="l"/>
                      <a:r>
                        <a:rPr sz="800" b="0">
                          <a:solidFill>
                            <a:srgbClr val="2E2E2E"/>
                          </a:solidFill>
                          <a:latin typeface="Calibri"/>
                        </a:rPr>
                        <a:t>185.7</a:t>
                      </a:r>
                    </a:p>
                  </a:txBody>
                  <a:tcPr marL="85725" marR="38100" marT="19050" marB="19050" anchor="ctr">
                    <a:solidFill>
                      <a:srgbClr val="F5F8FA"/>
                    </a:solidFill>
                  </a:tcPr>
                </a:tc>
                <a:tc>
                  <a:txBody>
                    <a:bodyPr wrap="none"/>
                    <a:lstStyle/>
                    <a:p>
                      <a:pPr algn="l"/>
                      <a:r>
                        <a:rPr sz="800" b="0">
                          <a:solidFill>
                            <a:srgbClr val="2E2E2E"/>
                          </a:solidFill>
                          <a:latin typeface="Calibri"/>
                        </a:rPr>
                        <a:t>204.1</a:t>
                      </a:r>
                    </a:p>
                  </a:txBody>
                  <a:tcPr marL="85725" marR="38100" marT="19050" marB="19050" anchor="ctr">
                    <a:solidFill>
                      <a:srgbClr val="F5F8FA"/>
                    </a:solidFill>
                  </a:tcPr>
                </a:tc>
                <a:tc>
                  <a:txBody>
                    <a:bodyPr wrap="none"/>
                    <a:lstStyle/>
                    <a:p>
                      <a:pPr algn="l"/>
                      <a:r>
                        <a:rPr sz="800" b="0">
                          <a:solidFill>
                            <a:srgbClr val="2E2E2E"/>
                          </a:solidFill>
                          <a:latin typeface="Calibri"/>
                        </a:rPr>
                        <a:t>221.5</a:t>
                      </a:r>
                    </a:p>
                  </a:txBody>
                  <a:tcPr marL="85725" marR="38100" marT="19050" marB="19050" anchor="ctr">
                    <a:solidFill>
                      <a:srgbClr val="F5F8FA"/>
                    </a:solidFill>
                  </a:tcPr>
                </a:tc>
                <a:tc>
                  <a:txBody>
                    <a:bodyPr wrap="none"/>
                    <a:lstStyle/>
                    <a:p>
                      <a:pPr algn="l"/>
                      <a:r>
                        <a:rPr sz="800" b="0">
                          <a:solidFill>
                            <a:srgbClr val="2E2E2E"/>
                          </a:solidFill>
                          <a:latin typeface="Calibri"/>
                        </a:rPr>
                        <a:t>238.1</a:t>
                      </a:r>
                    </a:p>
                  </a:txBody>
                  <a:tcPr marL="85725" marR="38100" marT="19050" marB="19050" anchor="ctr">
                    <a:solidFill>
                      <a:srgbClr val="F5F8FA"/>
                    </a:solidFill>
                  </a:tcPr>
                </a:tc>
                <a:tc>
                  <a:txBody>
                    <a:bodyPr wrap="none"/>
                    <a:lstStyle/>
                    <a:p>
                      <a:pPr algn="l"/>
                      <a:r>
                        <a:rPr sz="800" b="0">
                          <a:solidFill>
                            <a:srgbClr val="2E2E2E"/>
                          </a:solidFill>
                          <a:latin typeface="Calibri"/>
                        </a:rPr>
                        <a:t>253.6</a:t>
                      </a:r>
                    </a:p>
                  </a:txBody>
                  <a:tcPr marL="85725" marR="38100" marT="19050" marB="19050" anchor="ctr">
                    <a:solidFill>
                      <a:srgbClr val="F5F8FA"/>
                    </a:solidFill>
                  </a:tcPr>
                </a:tc>
                <a:tc>
                  <a:txBody>
                    <a:bodyPr wrap="none"/>
                    <a:lstStyle/>
                    <a:p>
                      <a:pPr algn="l"/>
                      <a:r>
                        <a:rPr sz="800" b="0">
                          <a:solidFill>
                            <a:srgbClr val="2E2E2E"/>
                          </a:solidFill>
                          <a:latin typeface="Calibri"/>
                        </a:rPr>
                        <a:t>268.2</a:t>
                      </a:r>
                    </a:p>
                  </a:txBody>
                  <a:tcPr marL="85725" marR="38100" marT="19050" marB="19050" anchor="ctr">
                    <a:solidFill>
                      <a:srgbClr val="F5F8FA"/>
                    </a:solidFill>
                  </a:tcPr>
                </a:tc>
                <a:tc>
                  <a:txBody>
                    <a:bodyPr wrap="none"/>
                    <a:lstStyle/>
                    <a:p>
                      <a:pPr algn="l"/>
                      <a:r>
                        <a:rPr sz="800" b="0">
                          <a:solidFill>
                            <a:srgbClr val="2E2E2E"/>
                          </a:solidFill>
                          <a:latin typeface="Calibri"/>
                        </a:rPr>
                        <a:t>281.9</a:t>
                      </a:r>
                    </a:p>
                  </a:txBody>
                  <a:tcPr marL="85725" marR="38100" marT="19050" marB="19050" anchor="ctr">
                    <a:solidFill>
                      <a:srgbClr val="F5F8FA"/>
                    </a:solidFill>
                  </a:tcPr>
                </a:tc>
                <a:tc>
                  <a:txBody>
                    <a:bodyPr wrap="none"/>
                    <a:lstStyle/>
                    <a:p>
                      <a:pPr algn="l"/>
                      <a:r>
                        <a:rPr sz="800" b="0">
                          <a:solidFill>
                            <a:srgbClr val="2E2E2E"/>
                          </a:solidFill>
                          <a:latin typeface="Calibri"/>
                        </a:rPr>
                        <a:t>294.8</a:t>
                      </a:r>
                    </a:p>
                  </a:txBody>
                  <a:tcPr marL="85725" marR="38100" marT="19050" marB="19050" anchor="ctr">
                    <a:solidFill>
                      <a:srgbClr val="F5F8FA"/>
                    </a:solidFill>
                  </a:tcPr>
                </a:tc>
                <a:tc>
                  <a:txBody>
                    <a:bodyPr wrap="none"/>
                    <a:lstStyle/>
                    <a:p>
                      <a:pPr algn="l"/>
                      <a:r>
                        <a:rPr sz="800" b="0">
                          <a:solidFill>
                            <a:srgbClr val="2E2E2E"/>
                          </a:solidFill>
                          <a:latin typeface="Calibri"/>
                        </a:rPr>
                        <a:t>307.1</a:t>
                      </a:r>
                    </a:p>
                  </a:txBody>
                  <a:tcPr marL="85725" marR="38100" marT="19050" marB="19050" anchor="ctr">
                    <a:solidFill>
                      <a:srgbClr val="F5F8FA"/>
                    </a:solidFill>
                  </a:tcPr>
                </a:tc>
                <a:tc>
                  <a:txBody>
                    <a:bodyPr wrap="none"/>
                    <a:lstStyle/>
                    <a:p>
                      <a:pPr algn="l"/>
                      <a:r>
                        <a:rPr sz="800" b="0">
                          <a:solidFill>
                            <a:srgbClr val="2E2E2E"/>
                          </a:solidFill>
                          <a:latin typeface="Calibri"/>
                        </a:rPr>
                        <a:t>7.7%</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800" b="0">
                          <a:solidFill>
                            <a:srgbClr val="2E2E2E"/>
                          </a:solidFill>
                          <a:latin typeface="Calibri"/>
                        </a:rPr>
                        <a:t>80.5</a:t>
                      </a:r>
                    </a:p>
                  </a:txBody>
                  <a:tcPr marL="85725" marR="38100" marT="19050" marB="19050" anchor="ctr">
                    <a:solidFill>
                      <a:srgbClr val="FFFFFF"/>
                    </a:solidFill>
                  </a:tcPr>
                </a:tc>
                <a:tc>
                  <a:txBody>
                    <a:bodyPr wrap="none"/>
                    <a:lstStyle/>
                    <a:p>
                      <a:pPr algn="l"/>
                      <a:r>
                        <a:rPr sz="800" b="0">
                          <a:solidFill>
                            <a:srgbClr val="2E2E2E"/>
                          </a:solidFill>
                          <a:latin typeface="Calibri"/>
                        </a:rPr>
                        <a:t>90.3</a:t>
                      </a:r>
                    </a:p>
                  </a:txBody>
                  <a:tcPr marL="85725" marR="38100" marT="19050" marB="19050" anchor="ctr">
                    <a:solidFill>
                      <a:srgbClr val="FFFFFF"/>
                    </a:solidFill>
                  </a:tcPr>
                </a:tc>
                <a:tc>
                  <a:txBody>
                    <a:bodyPr wrap="none"/>
                    <a:lstStyle/>
                    <a:p>
                      <a:pPr algn="l"/>
                      <a:r>
                        <a:rPr sz="800" b="0">
                          <a:solidFill>
                            <a:srgbClr val="2E2E2E"/>
                          </a:solidFill>
                          <a:latin typeface="Calibri"/>
                        </a:rPr>
                        <a:t>107.4</a:t>
                      </a:r>
                    </a:p>
                  </a:txBody>
                  <a:tcPr marL="85725" marR="38100" marT="19050" marB="19050" anchor="ctr">
                    <a:solidFill>
                      <a:srgbClr val="FFFFFF"/>
                    </a:solidFill>
                  </a:tcPr>
                </a:tc>
                <a:tc>
                  <a:txBody>
                    <a:bodyPr wrap="none"/>
                    <a:lstStyle/>
                    <a:p>
                      <a:pPr algn="l"/>
                      <a:r>
                        <a:rPr sz="800" b="0">
                          <a:solidFill>
                            <a:srgbClr val="2E2E2E"/>
                          </a:solidFill>
                          <a:latin typeface="Calibri"/>
                        </a:rPr>
                        <a:t>131.9</a:t>
                      </a:r>
                    </a:p>
                  </a:txBody>
                  <a:tcPr marL="85725" marR="38100" marT="19050" marB="19050" anchor="ctr">
                    <a:solidFill>
                      <a:srgbClr val="FFFFFF"/>
                    </a:solidFill>
                  </a:tcPr>
                </a:tc>
                <a:tc>
                  <a:txBody>
                    <a:bodyPr wrap="none"/>
                    <a:lstStyle/>
                    <a:p>
                      <a:pPr algn="l"/>
                      <a:r>
                        <a:rPr sz="800" b="0">
                          <a:solidFill>
                            <a:srgbClr val="2E2E2E"/>
                          </a:solidFill>
                          <a:latin typeface="Calibri"/>
                        </a:rPr>
                        <a:t>158.5</a:t>
                      </a:r>
                    </a:p>
                  </a:txBody>
                  <a:tcPr marL="85725" marR="38100" marT="19050" marB="19050" anchor="ctr">
                    <a:solidFill>
                      <a:srgbClr val="FFFFFF"/>
                    </a:solidFill>
                  </a:tcPr>
                </a:tc>
                <a:tc>
                  <a:txBody>
                    <a:bodyPr wrap="none"/>
                    <a:lstStyle/>
                    <a:p>
                      <a:pPr algn="l"/>
                      <a:r>
                        <a:rPr sz="800" b="0">
                          <a:solidFill>
                            <a:srgbClr val="2E2E2E"/>
                          </a:solidFill>
                          <a:latin typeface="Calibri"/>
                        </a:rPr>
                        <a:t>184.7</a:t>
                      </a:r>
                    </a:p>
                  </a:txBody>
                  <a:tcPr marL="85725" marR="38100" marT="19050" marB="19050" anchor="ctr">
                    <a:solidFill>
                      <a:srgbClr val="FFFFFF"/>
                    </a:solidFill>
                  </a:tcPr>
                </a:tc>
                <a:tc>
                  <a:txBody>
                    <a:bodyPr wrap="none"/>
                    <a:lstStyle/>
                    <a:p>
                      <a:pPr algn="l"/>
                      <a:r>
                        <a:rPr sz="800" b="0">
                          <a:solidFill>
                            <a:srgbClr val="2E2E2E"/>
                          </a:solidFill>
                          <a:latin typeface="Calibri"/>
                        </a:rPr>
                        <a:t>211.3</a:t>
                      </a:r>
                    </a:p>
                  </a:txBody>
                  <a:tcPr marL="85725" marR="38100" marT="19050" marB="19050" anchor="ctr">
                    <a:solidFill>
                      <a:srgbClr val="FFFFFF"/>
                    </a:solidFill>
                  </a:tcPr>
                </a:tc>
                <a:tc>
                  <a:txBody>
                    <a:bodyPr wrap="none"/>
                    <a:lstStyle/>
                    <a:p>
                      <a:pPr algn="l"/>
                      <a:r>
                        <a:rPr sz="800" b="0">
                          <a:solidFill>
                            <a:srgbClr val="2E2E2E"/>
                          </a:solidFill>
                          <a:latin typeface="Calibri"/>
                        </a:rPr>
                        <a:t>236.9</a:t>
                      </a:r>
                    </a:p>
                  </a:txBody>
                  <a:tcPr marL="85725" marR="38100" marT="19050" marB="19050" anchor="ctr">
                    <a:solidFill>
                      <a:srgbClr val="FFFFFF"/>
                    </a:solidFill>
                  </a:tcPr>
                </a:tc>
                <a:tc>
                  <a:txBody>
                    <a:bodyPr wrap="none"/>
                    <a:lstStyle/>
                    <a:p>
                      <a:pPr algn="l"/>
                      <a:r>
                        <a:rPr sz="800" b="0">
                          <a:solidFill>
                            <a:srgbClr val="2E2E2E"/>
                          </a:solidFill>
                          <a:latin typeface="Calibri"/>
                        </a:rPr>
                        <a:t>261.6</a:t>
                      </a:r>
                    </a:p>
                  </a:txBody>
                  <a:tcPr marL="85725" marR="38100" marT="19050" marB="19050" anchor="ctr">
                    <a:solidFill>
                      <a:srgbClr val="FFFFFF"/>
                    </a:solidFill>
                  </a:tcPr>
                </a:tc>
                <a:tc>
                  <a:txBody>
                    <a:bodyPr wrap="none"/>
                    <a:lstStyle/>
                    <a:p>
                      <a:pPr algn="l"/>
                      <a:r>
                        <a:rPr sz="800" b="0">
                          <a:solidFill>
                            <a:srgbClr val="2E2E2E"/>
                          </a:solidFill>
                          <a:latin typeface="Calibri"/>
                        </a:rPr>
                        <a:t>285.5</a:t>
                      </a:r>
                    </a:p>
                  </a:txBody>
                  <a:tcPr marL="85725" marR="38100" marT="19050" marB="19050" anchor="ctr">
                    <a:solidFill>
                      <a:srgbClr val="FFFFFF"/>
                    </a:solidFill>
                  </a:tcPr>
                </a:tc>
                <a:tc>
                  <a:txBody>
                    <a:bodyPr wrap="none"/>
                    <a:lstStyle/>
                    <a:p>
                      <a:pPr algn="l"/>
                      <a:r>
                        <a:rPr sz="800" b="0">
                          <a:solidFill>
                            <a:srgbClr val="2E2E2E"/>
                          </a:solidFill>
                          <a:latin typeface="Calibri"/>
                        </a:rPr>
                        <a:t>308.4</a:t>
                      </a:r>
                    </a:p>
                  </a:txBody>
                  <a:tcPr marL="85725" marR="38100" marT="19050" marB="19050" anchor="ctr">
                    <a:solidFill>
                      <a:srgbClr val="FFFFFF"/>
                    </a:solidFill>
                  </a:tcPr>
                </a:tc>
                <a:tc>
                  <a:txBody>
                    <a:bodyPr wrap="none"/>
                    <a:lstStyle/>
                    <a:p>
                      <a:pPr algn="l"/>
                      <a:r>
                        <a:rPr sz="800" b="0">
                          <a:solidFill>
                            <a:srgbClr val="2E2E2E"/>
                          </a:solidFill>
                          <a:latin typeface="Calibri"/>
                        </a:rPr>
                        <a:t>330.3</a:t>
                      </a:r>
                    </a:p>
                  </a:txBody>
                  <a:tcPr marL="85725" marR="38100" marT="19050" marB="19050" anchor="ctr">
                    <a:solidFill>
                      <a:srgbClr val="FFFFFF"/>
                    </a:solidFill>
                  </a:tcPr>
                </a:tc>
                <a:tc>
                  <a:txBody>
                    <a:bodyPr wrap="none"/>
                    <a:lstStyle/>
                    <a:p>
                      <a:pPr algn="l"/>
                      <a:r>
                        <a:rPr sz="800" b="0">
                          <a:solidFill>
                            <a:srgbClr val="2E2E2E"/>
                          </a:solidFill>
                          <a:latin typeface="Calibri"/>
                        </a:rPr>
                        <a:t>351.0</a:t>
                      </a:r>
                    </a:p>
                  </a:txBody>
                  <a:tcPr marL="85725" marR="38100" marT="19050" marB="19050" anchor="ctr">
                    <a:solidFill>
                      <a:srgbClr val="FFFFFF"/>
                    </a:solidFill>
                  </a:tcPr>
                </a:tc>
                <a:tc>
                  <a:txBody>
                    <a:bodyPr wrap="none"/>
                    <a:lstStyle/>
                    <a:p>
                      <a:pPr algn="l"/>
                      <a:r>
                        <a:rPr sz="800" b="0">
                          <a:solidFill>
                            <a:srgbClr val="2E2E2E"/>
                          </a:solidFill>
                          <a:latin typeface="Calibri"/>
                        </a:rPr>
                        <a:t>370.8</a:t>
                      </a:r>
                    </a:p>
                  </a:txBody>
                  <a:tcPr marL="85725" marR="38100" marT="19050" marB="19050" anchor="ctr">
                    <a:solidFill>
                      <a:srgbClr val="FFFFFF"/>
                    </a:solidFill>
                  </a:tcPr>
                </a:tc>
                <a:tc>
                  <a:txBody>
                    <a:bodyPr wrap="none"/>
                    <a:lstStyle/>
                    <a:p>
                      <a:pPr algn="l"/>
                      <a:r>
                        <a:rPr sz="800" b="0">
                          <a:solidFill>
                            <a:srgbClr val="2E2E2E"/>
                          </a:solidFill>
                          <a:latin typeface="Calibri"/>
                        </a:rPr>
                        <a:t>389.9</a:t>
                      </a:r>
                    </a:p>
                  </a:txBody>
                  <a:tcPr marL="85725" marR="38100" marT="19050" marB="19050" anchor="ctr">
                    <a:solidFill>
                      <a:srgbClr val="FFFFFF"/>
                    </a:solidFill>
                  </a:tcPr>
                </a:tc>
                <a:tc>
                  <a:txBody>
                    <a:bodyPr wrap="none"/>
                    <a:lstStyle/>
                    <a:p>
                      <a:pPr algn="l"/>
                      <a:r>
                        <a:rPr sz="800" b="0">
                          <a:solidFill>
                            <a:srgbClr val="2E2E2E"/>
                          </a:solidFill>
                          <a:latin typeface="Calibri"/>
                        </a:rPr>
                        <a:t>408.3</a:t>
                      </a:r>
                    </a:p>
                  </a:txBody>
                  <a:tcPr marL="85725" marR="38100" marT="19050" marB="19050" anchor="ctr">
                    <a:solidFill>
                      <a:srgbClr val="FFFFFF"/>
                    </a:solidFill>
                  </a:tcPr>
                </a:tc>
                <a:tc>
                  <a:txBody>
                    <a:bodyPr wrap="none"/>
                    <a:lstStyle/>
                    <a:p>
                      <a:pPr algn="l"/>
                      <a:r>
                        <a:rPr sz="800" b="0">
                          <a:solidFill>
                            <a:srgbClr val="2E2E2E"/>
                          </a:solidFill>
                          <a:latin typeface="Calibri"/>
                        </a:rPr>
                        <a:t>8.3%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852.6</a:t>
                      </a:r>
                    </a:p>
                  </a:txBody>
                  <a:tcPr marL="85725" marR="38100" marT="19050" marB="19050" anchor="ctr">
                    <a:solidFill>
                      <a:srgbClr val="E0E8EF"/>
                    </a:solidFill>
                  </a:tcPr>
                </a:tc>
                <a:tc>
                  <a:txBody>
                    <a:bodyPr wrap="none"/>
                    <a:lstStyle/>
                    <a:p>
                      <a:pPr algn="l"/>
                      <a:r>
                        <a:rPr sz="800" b="1">
                          <a:solidFill>
                            <a:srgbClr val="2E2E2E"/>
                          </a:solidFill>
                          <a:latin typeface="Calibri"/>
                        </a:rPr>
                        <a:t>958.1</a:t>
                      </a:r>
                    </a:p>
                  </a:txBody>
                  <a:tcPr marL="85725" marR="38100" marT="19050" marB="19050" anchor="ctr">
                    <a:solidFill>
                      <a:srgbClr val="E0E8EF"/>
                    </a:solidFill>
                  </a:tcPr>
                </a:tc>
                <a:tc>
                  <a:txBody>
                    <a:bodyPr wrap="none"/>
                    <a:lstStyle/>
                    <a:p>
                      <a:pPr algn="l"/>
                      <a:r>
                        <a:rPr sz="800" b="1">
                          <a:solidFill>
                            <a:srgbClr val="2E2E2E"/>
                          </a:solidFill>
                          <a:latin typeface="Calibri"/>
                        </a:rPr>
                        <a:t>1,142</a:t>
                      </a:r>
                    </a:p>
                  </a:txBody>
                  <a:tcPr marL="85725" marR="38100" marT="19050" marB="19050" anchor="ctr">
                    <a:solidFill>
                      <a:srgbClr val="E0E8EF"/>
                    </a:solidFill>
                  </a:tcPr>
                </a:tc>
                <a:tc>
                  <a:txBody>
                    <a:bodyPr wrap="none"/>
                    <a:lstStyle/>
                    <a:p>
                      <a:pPr algn="l"/>
                      <a:r>
                        <a:rPr sz="800" b="1">
                          <a:solidFill>
                            <a:srgbClr val="2E2E2E"/>
                          </a:solidFill>
                          <a:latin typeface="Calibri"/>
                        </a:rPr>
                        <a:t>1,405</a:t>
                      </a:r>
                    </a:p>
                  </a:txBody>
                  <a:tcPr marL="85725" marR="38100" marT="19050" marB="19050" anchor="ctr">
                    <a:solidFill>
                      <a:srgbClr val="E0E8EF"/>
                    </a:solidFill>
                  </a:tcPr>
                </a:tc>
                <a:tc>
                  <a:txBody>
                    <a:bodyPr wrap="none"/>
                    <a:lstStyle/>
                    <a:p>
                      <a:pPr algn="l"/>
                      <a:r>
                        <a:rPr sz="800" b="1">
                          <a:solidFill>
                            <a:srgbClr val="2E2E2E"/>
                          </a:solidFill>
                          <a:latin typeface="Calibri"/>
                        </a:rPr>
                        <a:t>1,691</a:t>
                      </a:r>
                    </a:p>
                  </a:txBody>
                  <a:tcPr marL="85725" marR="38100" marT="19050" marB="19050" anchor="ctr">
                    <a:solidFill>
                      <a:srgbClr val="E0E8EF"/>
                    </a:solidFill>
                  </a:tcPr>
                </a:tc>
                <a:tc>
                  <a:txBody>
                    <a:bodyPr wrap="none"/>
                    <a:lstStyle/>
                    <a:p>
                      <a:pPr algn="l"/>
                      <a:r>
                        <a:rPr sz="800" b="1">
                          <a:solidFill>
                            <a:srgbClr val="2E2E2E"/>
                          </a:solidFill>
                          <a:latin typeface="Calibri"/>
                        </a:rPr>
                        <a:t>1,974</a:t>
                      </a:r>
                    </a:p>
                  </a:txBody>
                  <a:tcPr marL="85725" marR="38100" marT="19050" marB="19050" anchor="ctr">
                    <a:solidFill>
                      <a:srgbClr val="E0E8EF"/>
                    </a:solidFill>
                  </a:tcPr>
                </a:tc>
                <a:tc>
                  <a:txBody>
                    <a:bodyPr wrap="none"/>
                    <a:lstStyle/>
                    <a:p>
                      <a:pPr algn="l"/>
                      <a:r>
                        <a:rPr sz="800" b="1">
                          <a:solidFill>
                            <a:srgbClr val="2E2E2E"/>
                          </a:solidFill>
                          <a:latin typeface="Calibri"/>
                        </a:rPr>
                        <a:t>2,263</a:t>
                      </a:r>
                    </a:p>
                  </a:txBody>
                  <a:tcPr marL="85725" marR="38100" marT="19050" marB="19050" anchor="ctr">
                    <a:solidFill>
                      <a:srgbClr val="E0E8EF"/>
                    </a:solidFill>
                  </a:tcPr>
                </a:tc>
                <a:tc>
                  <a:txBody>
                    <a:bodyPr wrap="none"/>
                    <a:lstStyle/>
                    <a:p>
                      <a:pPr algn="l"/>
                      <a:r>
                        <a:rPr sz="800" b="1">
                          <a:solidFill>
                            <a:srgbClr val="2E2E2E"/>
                          </a:solidFill>
                          <a:latin typeface="Calibri"/>
                        </a:rPr>
                        <a:t>2,542</a:t>
                      </a:r>
                    </a:p>
                  </a:txBody>
                  <a:tcPr marL="85725" marR="38100" marT="19050" marB="19050" anchor="ctr">
                    <a:solidFill>
                      <a:srgbClr val="E0E8EF"/>
                    </a:solidFill>
                  </a:tcPr>
                </a:tc>
                <a:tc>
                  <a:txBody>
                    <a:bodyPr wrap="none"/>
                    <a:lstStyle/>
                    <a:p>
                      <a:pPr algn="l"/>
                      <a:r>
                        <a:rPr sz="800" b="1">
                          <a:solidFill>
                            <a:srgbClr val="2E2E2E"/>
                          </a:solidFill>
                          <a:latin typeface="Calibri"/>
                        </a:rPr>
                        <a:t>2,814</a:t>
                      </a:r>
                    </a:p>
                  </a:txBody>
                  <a:tcPr marL="85725" marR="38100" marT="19050" marB="19050" anchor="ctr">
                    <a:solidFill>
                      <a:srgbClr val="E0E8EF"/>
                    </a:solidFill>
                  </a:tcPr>
                </a:tc>
                <a:tc>
                  <a:txBody>
                    <a:bodyPr wrap="none"/>
                    <a:lstStyle/>
                    <a:p>
                      <a:pPr algn="l"/>
                      <a:r>
                        <a:rPr sz="800" b="1">
                          <a:solidFill>
                            <a:srgbClr val="2E2E2E"/>
                          </a:solidFill>
                          <a:latin typeface="Calibri"/>
                        </a:rPr>
                        <a:t>3,079</a:t>
                      </a:r>
                    </a:p>
                  </a:txBody>
                  <a:tcPr marL="85725" marR="38100" marT="19050" marB="19050" anchor="ctr">
                    <a:solidFill>
                      <a:srgbClr val="E0E8EF"/>
                    </a:solidFill>
                  </a:tcPr>
                </a:tc>
                <a:tc>
                  <a:txBody>
                    <a:bodyPr wrap="none"/>
                    <a:lstStyle/>
                    <a:p>
                      <a:pPr algn="l"/>
                      <a:r>
                        <a:rPr sz="800" b="1">
                          <a:solidFill>
                            <a:srgbClr val="2E2E2E"/>
                          </a:solidFill>
                          <a:latin typeface="Calibri"/>
                        </a:rPr>
                        <a:t>3,334</a:t>
                      </a:r>
                    </a:p>
                  </a:txBody>
                  <a:tcPr marL="85725" marR="38100" marT="19050" marB="19050" anchor="ctr">
                    <a:solidFill>
                      <a:srgbClr val="E0E8EF"/>
                    </a:solidFill>
                  </a:tcPr>
                </a:tc>
                <a:tc>
                  <a:txBody>
                    <a:bodyPr wrap="none"/>
                    <a:lstStyle/>
                    <a:p>
                      <a:pPr algn="l"/>
                      <a:r>
                        <a:rPr sz="800" b="1">
                          <a:solidFill>
                            <a:srgbClr val="2E2E2E"/>
                          </a:solidFill>
                          <a:latin typeface="Calibri"/>
                        </a:rPr>
                        <a:t>3,579</a:t>
                      </a:r>
                    </a:p>
                  </a:txBody>
                  <a:tcPr marL="85725" marR="38100" marT="19050" marB="19050" anchor="ctr">
                    <a:solidFill>
                      <a:srgbClr val="E0E8EF"/>
                    </a:solidFill>
                  </a:tcPr>
                </a:tc>
                <a:tc>
                  <a:txBody>
                    <a:bodyPr wrap="none"/>
                    <a:lstStyle/>
                    <a:p>
                      <a:pPr algn="l"/>
                      <a:r>
                        <a:rPr sz="800" b="1">
                          <a:solidFill>
                            <a:srgbClr val="2E2E2E"/>
                          </a:solidFill>
                          <a:latin typeface="Calibri"/>
                        </a:rPr>
                        <a:t>3,814</a:t>
                      </a:r>
                    </a:p>
                  </a:txBody>
                  <a:tcPr marL="85725" marR="38100" marT="19050" marB="19050" anchor="ctr">
                    <a:solidFill>
                      <a:srgbClr val="E0E8EF"/>
                    </a:solidFill>
                  </a:tcPr>
                </a:tc>
                <a:tc>
                  <a:txBody>
                    <a:bodyPr wrap="none"/>
                    <a:lstStyle/>
                    <a:p>
                      <a:pPr algn="l"/>
                      <a:r>
                        <a:rPr sz="800" b="1">
                          <a:solidFill>
                            <a:srgbClr val="2E2E2E"/>
                          </a:solidFill>
                          <a:latin typeface="Calibri"/>
                        </a:rPr>
                        <a:t>4,041</a:t>
                      </a:r>
                    </a:p>
                  </a:txBody>
                  <a:tcPr marL="85725" marR="38100" marT="19050" marB="19050" anchor="ctr">
                    <a:solidFill>
                      <a:srgbClr val="E0E8EF"/>
                    </a:solidFill>
                  </a:tcPr>
                </a:tc>
                <a:tc>
                  <a:txBody>
                    <a:bodyPr wrap="none"/>
                    <a:lstStyle/>
                    <a:p>
                      <a:pPr algn="l"/>
                      <a:r>
                        <a:rPr sz="800" b="1">
                          <a:solidFill>
                            <a:srgbClr val="2E2E2E"/>
                          </a:solidFill>
                          <a:latin typeface="Calibri"/>
                        </a:rPr>
                        <a:t>4,260</a:t>
                      </a:r>
                    </a:p>
                  </a:txBody>
                  <a:tcPr marL="85725" marR="38100" marT="19050" marB="19050" anchor="ctr">
                    <a:solidFill>
                      <a:srgbClr val="E0E8EF"/>
                    </a:solidFill>
                  </a:tcPr>
                </a:tc>
                <a:tc>
                  <a:txBody>
                    <a:bodyPr wrap="none"/>
                    <a:lstStyle/>
                    <a:p>
                      <a:pPr algn="l"/>
                      <a:r>
                        <a:rPr sz="800" b="1">
                          <a:solidFill>
                            <a:srgbClr val="2E2E2E"/>
                          </a:solidFill>
                          <a:latin typeface="Calibri"/>
                        </a:rPr>
                        <a:t>4,475</a:t>
                      </a:r>
                    </a:p>
                  </a:txBody>
                  <a:tcPr marL="85725" marR="38100" marT="19050" marB="19050" anchor="ctr">
                    <a:solidFill>
                      <a:srgbClr val="E0E8EF"/>
                    </a:solidFill>
                  </a:tcPr>
                </a:tc>
                <a:tc>
                  <a:txBody>
                    <a:bodyPr wrap="none"/>
                    <a:lstStyle/>
                    <a:p>
                      <a:pPr algn="l"/>
                      <a:r>
                        <a:rPr sz="800" b="1">
                          <a:solidFill>
                            <a:srgbClr val="2E2E2E"/>
                          </a:solidFill>
                          <a:latin typeface="Calibri"/>
                        </a:rPr>
                        <a:t>8.5%</a:t>
                      </a:r>
                    </a:p>
                  </a:txBody>
                  <a:tcPr marL="85725" marR="38100" marT="19050" marB="19050" anchor="ctr">
                    <a:solidFill>
                      <a:srgbClr val="E0E8EF"/>
                    </a:solidFill>
                  </a:tcPr>
                </a:tc>
              </a:tr>
            </a:tbl>
          </a:graphicData>
        </a:graphic>
      </p:graphicFrame>
      <p:sp>
        <p:nvSpPr>
          <p:cNvPr id="14" name="TextBox 13"/>
          <p:cNvSpPr txBox="1"/>
          <p:nvPr/>
        </p:nvSpPr>
        <p:spPr>
          <a:xfrm>
            <a:off x="219075" y="458152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4857750"/>
            <a:ext cx="11906250" cy="1866900"/>
          </a:xfrm>
          <a:prstGeom prst="roundRect">
            <a:avLst>
              <a:gd name="adj" fmla="val 40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943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Product Type</a:t>
            </a:r>
          </a:p>
        </p:txBody>
      </p:sp>
      <p:sp>
        <p:nvSpPr>
          <p:cNvPr id="17" name="Rectangle 16"/>
          <p:cNvSpPr/>
          <p:nvPr/>
        </p:nvSpPr>
        <p:spPr>
          <a:xfrm>
            <a:off x="276225" y="5181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267325"/>
            <a:ext cx="11639550" cy="1381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'Idacio' is the largest product type at 11.7% of 2036 value (525.8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'Cyltezo' grows fastest 10.1%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'Cyltezo' (+152 BPS) and away from 'Yusimry' (-177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rises from 1,974 to 4,475 US$ Mn across 11 categories.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Value &amp; Share Shift, By Product Type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7400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Product Type ·  2021 / 2026 / 2036 (US$ Mn)  ·  right axis = BPS share shift</a:t>
            </a:r>
          </a:p>
        </p:txBody>
      </p:sp>
      <p:graphicFrame>
        <p:nvGraphicFramePr>
          <p:cNvPr id="13" name="Chart 12"/>
          <p:cNvGraphicFramePr>
            <a:graphicFrameLocks noGrp="1"/>
          </p:cNvGraphicFramePr>
          <p:nvPr/>
        </p:nvGraphicFramePr>
        <p:xfrm>
          <a:off x="238125" y="1457325"/>
          <a:ext cx="5624132" cy="5210175"/>
        </p:xfrm>
        <a:graphic>
          <a:graphicData uri="http://schemas.openxmlformats.org/drawingml/2006/chart">
            <c:chart xmlns:c="http://schemas.openxmlformats.org/drawingml/2006/chart" r:id="rId3"/>
          </a:graphicData>
        </a:graphic>
      </p:graphicFrame>
      <p:sp>
        <p:nvSpPr>
          <p:cNvPr id="14" name="TextBox 13"/>
          <p:cNvSpPr txBox="1"/>
          <p:nvPr/>
        </p:nvSpPr>
        <p:spPr>
          <a:xfrm>
            <a:off x="6934200" y="1522857"/>
            <a:ext cx="552450" cy="114300"/>
          </a:xfrm>
          <a:prstGeom prst="rect">
            <a:avLst/>
          </a:prstGeom>
          <a:noFill/>
        </p:spPr>
        <p:txBody>
          <a:bodyPr wrap="square" lIns="28575" rIns="28575" tIns="9525" bIns="9525">
            <a:spAutoFit/>
          </a:bodyPr>
          <a:lstStyle/>
          <a:p>
            <a:pPr algn="l"/>
            <a:r>
              <a:rPr sz="750" b="1">
                <a:solidFill>
                  <a:srgbClr val="6C7A89"/>
                </a:solidFill>
                <a:latin typeface="Calibri"/>
              </a:rPr>
              <a:t>BPS Δ</a:t>
            </a:r>
          </a:p>
        </p:txBody>
      </p:sp>
      <p:cxnSp>
        <p:nvCxnSpPr>
          <p:cNvPr id="15" name="Connector 14"/>
          <p:cNvCxnSpPr/>
          <p:nvPr/>
        </p:nvCxnSpPr>
        <p:spPr>
          <a:xfrm>
            <a:off x="7010400" y="1665732"/>
            <a:ext cx="0" cy="3573018"/>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919406" y="3452241"/>
            <a:ext cx="1090994"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038975" y="4759804"/>
            <a:ext cx="419100" cy="133350"/>
          </a:xfrm>
          <a:prstGeom prst="rect">
            <a:avLst/>
          </a:prstGeom>
          <a:noFill/>
        </p:spPr>
        <p:txBody>
          <a:bodyPr wrap="none" lIns="0" rIns="0" tIns="0" bIns="0" anchor="ctr">
            <a:spAutoFit/>
          </a:bodyPr>
          <a:lstStyle/>
          <a:p>
            <a:pPr algn="l"/>
            <a:r>
              <a:rPr sz="750" b="0">
                <a:solidFill>
                  <a:srgbClr val="6C7A89"/>
                </a:solidFill>
                <a:latin typeface="Calibri"/>
              </a:rPr>
              <a:t>-177</a:t>
            </a:r>
          </a:p>
        </p:txBody>
      </p:sp>
      <p:sp>
        <p:nvSpPr>
          <p:cNvPr id="18" name="TextBox 17"/>
          <p:cNvSpPr txBox="1"/>
          <p:nvPr/>
        </p:nvSpPr>
        <p:spPr>
          <a:xfrm>
            <a:off x="7038975" y="3385566"/>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19" name="TextBox 18"/>
          <p:cNvSpPr txBox="1"/>
          <p:nvPr/>
        </p:nvSpPr>
        <p:spPr>
          <a:xfrm>
            <a:off x="7038975" y="2011328"/>
            <a:ext cx="419100" cy="133350"/>
          </a:xfrm>
          <a:prstGeom prst="rect">
            <a:avLst/>
          </a:prstGeom>
          <a:noFill/>
        </p:spPr>
        <p:txBody>
          <a:bodyPr wrap="none" lIns="0" rIns="0" tIns="0" bIns="0" anchor="ctr">
            <a:spAutoFit/>
          </a:bodyPr>
          <a:lstStyle/>
          <a:p>
            <a:pPr algn="l"/>
            <a:r>
              <a:rPr sz="750" b="0">
                <a:solidFill>
                  <a:srgbClr val="6C7A89"/>
                </a:solidFill>
                <a:latin typeface="Calibri"/>
              </a:rPr>
              <a:t>+177</a:t>
            </a:r>
          </a:p>
        </p:txBody>
      </p:sp>
      <p:sp>
        <p:nvSpPr>
          <p:cNvPr id="20" name="Oval 19"/>
          <p:cNvSpPr/>
          <p:nvPr/>
        </p:nvSpPr>
        <p:spPr>
          <a:xfrm>
            <a:off x="5971794" y="2223109"/>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971794" y="2644415"/>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71794" y="2658993"/>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71794" y="3059391"/>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971794" y="3119471"/>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971794" y="3513723"/>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971794" y="3590572"/>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971794" y="3835529"/>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71794" y="3975135"/>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971794" y="4099209"/>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971794" y="4783616"/>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81332" y="2189771"/>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+152</a:t>
            </a:r>
          </a:p>
        </p:txBody>
      </p:sp>
      <p:sp>
        <p:nvSpPr>
          <p:cNvPr id="32" name="TextBox 31"/>
          <p:cNvSpPr txBox="1"/>
          <p:nvPr/>
        </p:nvSpPr>
        <p:spPr>
          <a:xfrm>
            <a:off x="6081332" y="2611078"/>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+98</a:t>
            </a:r>
          </a:p>
        </p:txBody>
      </p:sp>
      <p:sp>
        <p:nvSpPr>
          <p:cNvPr id="33" name="TextBox 32"/>
          <p:cNvSpPr txBox="1"/>
          <p:nvPr/>
        </p:nvSpPr>
        <p:spPr>
          <a:xfrm>
            <a:off x="6081332" y="2734903"/>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+96</a:t>
            </a:r>
          </a:p>
        </p:txBody>
      </p:sp>
      <p:sp>
        <p:nvSpPr>
          <p:cNvPr id="34" name="TextBox 33"/>
          <p:cNvSpPr txBox="1"/>
          <p:nvPr/>
        </p:nvSpPr>
        <p:spPr>
          <a:xfrm>
            <a:off x="6081332" y="3026053"/>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+45</a:t>
            </a:r>
          </a:p>
        </p:txBody>
      </p:sp>
      <p:sp>
        <p:nvSpPr>
          <p:cNvPr id="35" name="TextBox 34"/>
          <p:cNvSpPr txBox="1"/>
          <p:nvPr/>
        </p:nvSpPr>
        <p:spPr>
          <a:xfrm>
            <a:off x="6081332" y="3149878"/>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+37</a:t>
            </a:r>
          </a:p>
        </p:txBody>
      </p:sp>
      <p:sp>
        <p:nvSpPr>
          <p:cNvPr id="36" name="TextBox 35"/>
          <p:cNvSpPr txBox="1"/>
          <p:nvPr/>
        </p:nvSpPr>
        <p:spPr>
          <a:xfrm>
            <a:off x="6081332" y="3480386"/>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-13</a:t>
            </a:r>
          </a:p>
        </p:txBody>
      </p:sp>
      <p:sp>
        <p:nvSpPr>
          <p:cNvPr id="37" name="TextBox 36"/>
          <p:cNvSpPr txBox="1"/>
          <p:nvPr/>
        </p:nvSpPr>
        <p:spPr>
          <a:xfrm>
            <a:off x="6081332" y="3604211"/>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-23</a:t>
            </a:r>
          </a:p>
        </p:txBody>
      </p:sp>
      <p:sp>
        <p:nvSpPr>
          <p:cNvPr id="38" name="TextBox 37"/>
          <p:cNvSpPr txBox="1"/>
          <p:nvPr/>
        </p:nvSpPr>
        <p:spPr>
          <a:xfrm>
            <a:off x="6081332" y="3802191"/>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-55</a:t>
            </a:r>
          </a:p>
        </p:txBody>
      </p:sp>
      <p:sp>
        <p:nvSpPr>
          <p:cNvPr id="39" name="TextBox 38"/>
          <p:cNvSpPr txBox="1"/>
          <p:nvPr/>
        </p:nvSpPr>
        <p:spPr>
          <a:xfrm>
            <a:off x="6081332" y="3941798"/>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-73</a:t>
            </a:r>
          </a:p>
        </p:txBody>
      </p:sp>
      <p:sp>
        <p:nvSpPr>
          <p:cNvPr id="40" name="TextBox 39"/>
          <p:cNvSpPr txBox="1"/>
          <p:nvPr/>
        </p:nvSpPr>
        <p:spPr>
          <a:xfrm>
            <a:off x="6081332" y="4065871"/>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-89</a:t>
            </a:r>
          </a:p>
        </p:txBody>
      </p:sp>
      <p:sp>
        <p:nvSpPr>
          <p:cNvPr id="41" name="TextBox 40"/>
          <p:cNvSpPr txBox="1"/>
          <p:nvPr/>
        </p:nvSpPr>
        <p:spPr>
          <a:xfrm>
            <a:off x="6081332" y="4750279"/>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-177</a:t>
            </a:r>
          </a:p>
        </p:txBody>
      </p:sp>
      <p:sp>
        <p:nvSpPr>
          <p:cNvPr id="42" name="Rounded Rectangle 41"/>
          <p:cNvSpPr/>
          <p:nvPr/>
        </p:nvSpPr>
        <p:spPr>
          <a:xfrm>
            <a:off x="7696200" y="857250"/>
            <a:ext cx="4343400" cy="5867400"/>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942975"/>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Product Type</a:t>
            </a:r>
          </a:p>
        </p:txBody>
      </p:sp>
      <p:sp>
        <p:nvSpPr>
          <p:cNvPr id="44" name="Rectangle 43"/>
          <p:cNvSpPr/>
          <p:nvPr/>
        </p:nvSpPr>
        <p:spPr>
          <a:xfrm>
            <a:off x="7829550" y="1181100"/>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266825"/>
            <a:ext cx="4076700" cy="538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'Cyltezo' gains the most share +152 BPS between 2026 and 2036 (</a:t>
            </a:r>
            <a:r>
              <a:rPr sz="1150" b="0">
                <a:solidFill>
                  <a:srgbClr val="2E7D32"/>
                </a:solidFill>
                <a:latin typeface="Calibri"/>
              </a:rPr>
              <a:t>green ▲</a:t>
            </a:r>
            <a:r>
              <a:rPr sz="1150" b="0">
                <a:solidFill>
                  <a:srgbClr val="2E2E2E"/>
                </a:solidFill>
                <a:latin typeface="Calibri"/>
              </a:rPr>
              <a:t> on the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'Yusimry' cedes the most -177 BPS over the same window (</a:t>
            </a:r>
            <a:r>
              <a:rPr sz="1150" b="0">
                <a:solidFill>
                  <a:srgbClr val="E44D3A"/>
                </a:solidFill>
                <a:latin typeface="Calibri"/>
              </a:rPr>
              <a:t>red ▼</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'Cyltezo' is the fastest-growing product type at 10.1%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climbs from 852.6 to 4,475 US$ Mn across 2021–2036.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Bars show the value mix at each snapshot; the scale shows how each share moves.</a:t>
            </a:r>
          </a:p>
        </p:txBody>
      </p:sp>
      <p:sp>
        <p:nvSpPr>
          <p:cNvPr id="46" name="Rectangle 4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48" name="Rounded Rectangle 47">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49" name="Rounded Rectangle 48">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0" name="Rounded Rectangle 49">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Volume, By Product Type (%)</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YoY Growth, By Product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2171700"/>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Product Type</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800" b="1">
                          <a:solidFill>
                            <a:srgbClr val="2E7D32"/>
                          </a:solidFill>
                          <a:latin typeface="Calibri"/>
                        </a:rPr>
                        <a:t>▲ 18.9%</a:t>
                      </a:r>
                    </a:p>
                  </a:txBody>
                  <a:tcPr marL="85725" marR="38100" marT="19050" marB="19050" anchor="ctr">
                    <a:solidFill>
                      <a:srgbClr val="FFFFFF"/>
                    </a:solidFill>
                  </a:tcPr>
                </a:tc>
                <a:tc>
                  <a:txBody>
                    <a:bodyPr wrap="none"/>
                    <a:lstStyle/>
                    <a:p>
                      <a:pPr algn="l"/>
                      <a:r>
                        <a:rPr sz="800" b="1">
                          <a:solidFill>
                            <a:srgbClr val="2E7D32"/>
                          </a:solidFill>
                          <a:latin typeface="Calibri"/>
                        </a:rPr>
                        <a:t>▲ 26.1%</a:t>
                      </a:r>
                    </a:p>
                  </a:txBody>
                  <a:tcPr marL="85725" marR="38100" marT="19050" marB="19050" anchor="ctr">
                    <a:solidFill>
                      <a:srgbClr val="FFFFFF"/>
                    </a:solidFill>
                  </a:tcPr>
                </a:tc>
                <a:tc>
                  <a:txBody>
                    <a:bodyPr wrap="none"/>
                    <a:lstStyle/>
                    <a:p>
                      <a:pPr algn="l"/>
                      <a:r>
                        <a:rPr sz="800" b="1">
                          <a:solidFill>
                            <a:srgbClr val="2E7D32"/>
                          </a:solidFill>
                          <a:latin typeface="Calibri"/>
                        </a:rPr>
                        <a:t>▲ 30.1%</a:t>
                      </a:r>
                    </a:p>
                  </a:txBody>
                  <a:tcPr marL="85725" marR="38100" marT="19050" marB="19050" anchor="ctr">
                    <a:solidFill>
                      <a:srgbClr val="FFFFFF"/>
                    </a:solidFill>
                  </a:tcPr>
                </a:tc>
                <a:tc>
                  <a:txBody>
                    <a:bodyPr wrap="none"/>
                    <a:lstStyle/>
                    <a:p>
                      <a:pPr algn="l"/>
                      <a:r>
                        <a:rPr sz="800" b="1">
                          <a:solidFill>
                            <a:srgbClr val="2E7D32"/>
                          </a:solidFill>
                          <a:latin typeface="Calibri"/>
                        </a:rPr>
                        <a:t>▲ 27.3%</a:t>
                      </a:r>
                    </a:p>
                  </a:txBody>
                  <a:tcPr marL="85725" marR="38100" marT="19050" marB="19050" anchor="ctr">
                    <a:solidFill>
                      <a:srgbClr val="FFFFFF"/>
                    </a:solidFill>
                  </a:tcPr>
                </a:tc>
                <a:tc>
                  <a:txBody>
                    <a:bodyPr wrap="none"/>
                    <a:lstStyle/>
                    <a:p>
                      <a:pPr algn="l"/>
                      <a:r>
                        <a:rPr sz="800" b="1">
                          <a:solidFill>
                            <a:srgbClr val="2E7D32"/>
                          </a:solidFill>
                          <a:latin typeface="Calibri"/>
                        </a:rPr>
                        <a:t>▲ 23.4%</a:t>
                      </a:r>
                    </a:p>
                  </a:txBody>
                  <a:tcPr marL="85725" marR="38100" marT="19050" marB="19050" anchor="ctr">
                    <a:solidFill>
                      <a:srgbClr val="FFFFFF"/>
                    </a:solidFill>
                  </a:tcPr>
                </a:tc>
                <a:tc>
                  <a:txBody>
                    <a:bodyPr wrap="none"/>
                    <a:lstStyle/>
                    <a:p>
                      <a:pPr algn="l"/>
                      <a:r>
                        <a:rPr sz="800" b="1">
                          <a:solidFill>
                            <a:srgbClr val="2E7D32"/>
                          </a:solidFill>
                          <a:latin typeface="Calibri"/>
                        </a:rPr>
                        <a:t>▲ 21.1%</a:t>
                      </a:r>
                    </a:p>
                  </a:txBody>
                  <a:tcPr marL="85725" marR="38100" marT="19050" marB="19050" anchor="ctr">
                    <a:solidFill>
                      <a:srgbClr val="FFFFFF"/>
                    </a:solidFill>
                  </a:tcPr>
                </a:tc>
                <a:tc>
                  <a:txBody>
                    <a:bodyPr wrap="none"/>
                    <a:lstStyle/>
                    <a:p>
                      <a:pPr algn="l"/>
                      <a:r>
                        <a:rPr sz="800" b="1">
                          <a:solidFill>
                            <a:srgbClr val="2E7D32"/>
                          </a:solidFill>
                          <a:latin typeface="Calibri"/>
                        </a:rPr>
                        <a:t>▲ 18.6%</a:t>
                      </a:r>
                    </a:p>
                  </a:txBody>
                  <a:tcPr marL="85725" marR="38100" marT="19050" marB="19050" anchor="ctr">
                    <a:solidFill>
                      <a:srgbClr val="FFFFFF"/>
                    </a:solidFill>
                  </a:tcPr>
                </a:tc>
                <a:tc>
                  <a:txBody>
                    <a:bodyPr wrap="none"/>
                    <a:lstStyle/>
                    <a:p>
                      <a:pPr algn="l"/>
                      <a:r>
                        <a:rPr sz="800" b="1">
                          <a:solidFill>
                            <a:srgbClr val="2E7D32"/>
                          </a:solidFill>
                          <a:latin typeface="Calibri"/>
                        </a:rPr>
                        <a:t>▲ 16.9%</a:t>
                      </a:r>
                    </a:p>
                  </a:txBody>
                  <a:tcPr marL="85725" marR="38100" marT="19050" marB="19050" anchor="ctr">
                    <a:solidFill>
                      <a:srgbClr val="FFFFFF"/>
                    </a:solidFill>
                  </a:tcPr>
                </a:tc>
                <a:tc>
                  <a:txBody>
                    <a:bodyPr wrap="none"/>
                    <a:lstStyle/>
                    <a:p>
                      <a:pPr algn="l"/>
                      <a:r>
                        <a:rPr sz="800" b="1">
                          <a:solidFill>
                            <a:srgbClr val="2E7D32"/>
                          </a:solidFill>
                          <a:latin typeface="Calibri"/>
                        </a:rPr>
                        <a:t>▲ 15.5%</a:t>
                      </a:r>
                    </a:p>
                  </a:txBody>
                  <a:tcPr marL="85725" marR="38100" marT="19050" marB="19050" anchor="ctr">
                    <a:solidFill>
                      <a:srgbClr val="FFFFFF"/>
                    </a:solidFill>
                  </a:tcPr>
                </a:tc>
                <a:tc>
                  <a:txBody>
                    <a:bodyPr wrap="none"/>
                    <a:lstStyle/>
                    <a:p>
                      <a:pPr algn="l"/>
                      <a:r>
                        <a:rPr sz="800" b="1">
                          <a:solidFill>
                            <a:srgbClr val="2E7D32"/>
                          </a:solidFill>
                          <a:latin typeface="Calibri"/>
                        </a:rPr>
                        <a:t>▲ 14.3%</a:t>
                      </a:r>
                    </a:p>
                  </a:txBody>
                  <a:tcPr marL="85725" marR="38100" marT="19050" marB="19050" anchor="ctr">
                    <a:solidFill>
                      <a:srgbClr val="FFFFFF"/>
                    </a:solidFill>
                  </a:tcPr>
                </a:tc>
                <a:tc>
                  <a:txBody>
                    <a:bodyPr wrap="none"/>
                    <a:lstStyle/>
                    <a:p>
                      <a:pPr algn="l"/>
                      <a:r>
                        <a:rPr sz="800" b="1">
                          <a:solidFill>
                            <a:srgbClr val="2E7D32"/>
                          </a:solidFill>
                          <a:latin typeface="Calibri"/>
                        </a:rPr>
                        <a:t>▲ 13.3%</a:t>
                      </a:r>
                    </a:p>
                  </a:txBody>
                  <a:tcPr marL="85725" marR="38100" marT="19050" marB="19050" anchor="ctr">
                    <a:solidFill>
                      <a:srgbClr val="FFFFFF"/>
                    </a:solidFill>
                  </a:tcPr>
                </a:tc>
                <a:tc>
                  <a:txBody>
                    <a:bodyPr wrap="none"/>
                    <a:lstStyle/>
                    <a:p>
                      <a:pPr algn="l"/>
                      <a:r>
                        <a:rPr sz="800" b="1">
                          <a:solidFill>
                            <a:srgbClr val="2E7D32"/>
                          </a:solidFill>
                          <a:latin typeface="Calibri"/>
                        </a:rPr>
                        <a:t>▲ 12.4%</a:t>
                      </a:r>
                    </a:p>
                  </a:txBody>
                  <a:tcPr marL="85725" marR="38100" marT="19050" marB="19050" anchor="ctr">
                    <a:solidFill>
                      <a:srgbClr val="FFFFFF"/>
                    </a:solidFill>
                  </a:tcPr>
                </a:tc>
                <a:tc>
                  <a:txBody>
                    <a:bodyPr wrap="none"/>
                    <a:lstStyle/>
                    <a:p>
                      <a:pPr algn="l"/>
                      <a:r>
                        <a:rPr sz="800" b="1">
                          <a:solidFill>
                            <a:srgbClr val="2E7D32"/>
                          </a:solidFill>
                          <a:latin typeface="Calibri"/>
                        </a:rPr>
                        <a:t>▲ 11.7%</a:t>
                      </a:r>
                    </a:p>
                  </a:txBody>
                  <a:tcPr marL="85725" marR="38100" marT="19050" marB="19050" anchor="ctr">
                    <a:solidFill>
                      <a:srgbClr val="FFFFFF"/>
                    </a:solidFill>
                  </a:tcPr>
                </a:tc>
                <a:tc>
                  <a:txBody>
                    <a:bodyPr wrap="none"/>
                    <a:lstStyle/>
                    <a:p>
                      <a:pPr algn="l"/>
                      <a:r>
                        <a:rPr sz="800" b="1">
                          <a:solidFill>
                            <a:srgbClr val="2E7D32"/>
                          </a:solidFill>
                          <a:latin typeface="Calibri"/>
                        </a:rPr>
                        <a:t>▲ 11.2%</a:t>
                      </a:r>
                    </a:p>
                  </a:txBody>
                  <a:tcPr marL="85725" marR="38100" marT="19050" marB="19050" anchor="ctr">
                    <a:solidFill>
                      <a:srgbClr val="FFFFFF"/>
                    </a:solidFill>
                  </a:tcPr>
                </a:tc>
                <a:tc>
                  <a:txBody>
                    <a:bodyPr wrap="none"/>
                    <a:lstStyle/>
                    <a:p>
                      <a:pPr algn="l"/>
                      <a:r>
                        <a:rPr sz="800" b="1">
                          <a:solidFill>
                            <a:srgbClr val="2E7D32"/>
                          </a:solidFill>
                          <a:latin typeface="Calibri"/>
                        </a:rPr>
                        <a:t>▲ 10.7%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Cyltezo</a:t>
                      </a:r>
                    </a:p>
                  </a:txBody>
                  <a:tcPr marL="85725" marR="38100" marT="19050" marB="19050" anchor="ctr">
                    <a:solidFill>
                      <a:srgbClr val="F5F8FA"/>
                    </a:solidFill>
                  </a:tcPr>
                </a:tc>
                <a:tc>
                  <a:txBody>
                    <a:bodyPr wrap="none"/>
                    <a:lstStyle/>
                    <a:p>
                      <a:pPr algn="l"/>
                      <a:r>
                        <a:rPr sz="800" b="1">
                          <a:solidFill>
                            <a:srgbClr val="2E7D32"/>
                          </a:solidFill>
                          <a:latin typeface="Calibri"/>
                        </a:rPr>
                        <a:t>▲ 19.1%</a:t>
                      </a:r>
                    </a:p>
                  </a:txBody>
                  <a:tcPr marL="85725" marR="38100" marT="19050" marB="19050" anchor="ctr">
                    <a:solidFill>
                      <a:srgbClr val="F5F8FA"/>
                    </a:solidFill>
                  </a:tcPr>
                </a:tc>
                <a:tc>
                  <a:txBody>
                    <a:bodyPr wrap="none"/>
                    <a:lstStyle/>
                    <a:p>
                      <a:pPr algn="l"/>
                      <a:r>
                        <a:rPr sz="800" b="1">
                          <a:solidFill>
                            <a:srgbClr val="2E7D32"/>
                          </a:solidFill>
                          <a:latin typeface="Calibri"/>
                        </a:rPr>
                        <a:t>▲ 26.3%</a:t>
                      </a:r>
                    </a:p>
                  </a:txBody>
                  <a:tcPr marL="85725" marR="38100" marT="19050" marB="19050" anchor="ctr">
                    <a:solidFill>
                      <a:srgbClr val="F5F8FA"/>
                    </a:solidFill>
                  </a:tcPr>
                </a:tc>
                <a:tc>
                  <a:txBody>
                    <a:bodyPr wrap="none"/>
                    <a:lstStyle/>
                    <a:p>
                      <a:pPr algn="l"/>
                      <a:r>
                        <a:rPr sz="800" b="1">
                          <a:solidFill>
                            <a:srgbClr val="2E7D32"/>
                          </a:solidFill>
                          <a:latin typeface="Calibri"/>
                        </a:rPr>
                        <a:t>▲ 30.3%</a:t>
                      </a:r>
                    </a:p>
                  </a:txBody>
                  <a:tcPr marL="85725" marR="38100" marT="19050" marB="19050" anchor="ctr">
                    <a:solidFill>
                      <a:srgbClr val="F5F8FA"/>
                    </a:solidFill>
                  </a:tcPr>
                </a:tc>
                <a:tc>
                  <a:txBody>
                    <a:bodyPr wrap="none"/>
                    <a:lstStyle/>
                    <a:p>
                      <a:pPr algn="l"/>
                      <a:r>
                        <a:rPr sz="800" b="1">
                          <a:solidFill>
                            <a:srgbClr val="2E7D32"/>
                          </a:solidFill>
                          <a:latin typeface="Calibri"/>
                        </a:rPr>
                        <a:t>▲ 27.5%</a:t>
                      </a:r>
                    </a:p>
                  </a:txBody>
                  <a:tcPr marL="85725" marR="38100" marT="19050" marB="19050" anchor="ctr">
                    <a:solidFill>
                      <a:srgbClr val="F5F8FA"/>
                    </a:solidFill>
                  </a:tcPr>
                </a:tc>
                <a:tc>
                  <a:txBody>
                    <a:bodyPr wrap="none"/>
                    <a:lstStyle/>
                    <a:p>
                      <a:pPr algn="l"/>
                      <a:r>
                        <a:rPr sz="800" b="1">
                          <a:solidFill>
                            <a:srgbClr val="2E7D32"/>
                          </a:solidFill>
                          <a:latin typeface="Calibri"/>
                        </a:rPr>
                        <a:t>▲ 23.7%</a:t>
                      </a:r>
                    </a:p>
                  </a:txBody>
                  <a:tcPr marL="85725" marR="38100" marT="19050" marB="19050" anchor="ctr">
                    <a:solidFill>
                      <a:srgbClr val="F5F8FA"/>
                    </a:solidFill>
                  </a:tcPr>
                </a:tc>
                <a:tc>
                  <a:txBody>
                    <a:bodyPr wrap="none"/>
                    <a:lstStyle/>
                    <a:p>
                      <a:pPr algn="l"/>
                      <a:r>
                        <a:rPr sz="800" b="1">
                          <a:solidFill>
                            <a:srgbClr val="2E7D32"/>
                          </a:solidFill>
                          <a:latin typeface="Calibri"/>
                        </a:rPr>
                        <a:t>▲ 21.4%</a:t>
                      </a:r>
                    </a:p>
                  </a:txBody>
                  <a:tcPr marL="85725" marR="38100" marT="19050" marB="19050" anchor="ctr">
                    <a:solidFill>
                      <a:srgbClr val="F5F8FA"/>
                    </a:solidFill>
                  </a:tcPr>
                </a:tc>
                <a:tc>
                  <a:txBody>
                    <a:bodyPr wrap="none"/>
                    <a:lstStyle/>
                    <a:p>
                      <a:pPr algn="l"/>
                      <a:r>
                        <a:rPr sz="800" b="1">
                          <a:solidFill>
                            <a:srgbClr val="2E7D32"/>
                          </a:solidFill>
                          <a:latin typeface="Calibri"/>
                        </a:rPr>
                        <a:t>▲ 18.9%</a:t>
                      </a:r>
                    </a:p>
                  </a:txBody>
                  <a:tcPr marL="85725" marR="38100" marT="19050" marB="19050" anchor="ctr">
                    <a:solidFill>
                      <a:srgbClr val="F5F8FA"/>
                    </a:solidFill>
                  </a:tcPr>
                </a:tc>
                <a:tc>
                  <a:txBody>
                    <a:bodyPr wrap="none"/>
                    <a:lstStyle/>
                    <a:p>
                      <a:pPr algn="l"/>
                      <a:r>
                        <a:rPr sz="800" b="1">
                          <a:solidFill>
                            <a:srgbClr val="2E7D32"/>
                          </a:solidFill>
                          <a:latin typeface="Calibri"/>
                        </a:rPr>
                        <a:t>▲ 17.1%</a:t>
                      </a:r>
                    </a:p>
                  </a:txBody>
                  <a:tcPr marL="85725" marR="38100" marT="19050" marB="19050" anchor="ctr">
                    <a:solidFill>
                      <a:srgbClr val="F5F8FA"/>
                    </a:solidFill>
                  </a:tcPr>
                </a:tc>
                <a:tc>
                  <a:txBody>
                    <a:bodyPr wrap="none"/>
                    <a:lstStyle/>
                    <a:p>
                      <a:pPr algn="l"/>
                      <a:r>
                        <a:rPr sz="800" b="1">
                          <a:solidFill>
                            <a:srgbClr val="2E7D32"/>
                          </a:solidFill>
                          <a:latin typeface="Calibri"/>
                        </a:rPr>
                        <a:t>▲ 15.7%</a:t>
                      </a:r>
                    </a:p>
                  </a:txBody>
                  <a:tcPr marL="85725" marR="38100" marT="19050" marB="19050" anchor="ctr">
                    <a:solidFill>
                      <a:srgbClr val="F5F8FA"/>
                    </a:solidFill>
                  </a:tcPr>
                </a:tc>
                <a:tc>
                  <a:txBody>
                    <a:bodyPr wrap="none"/>
                    <a:lstStyle/>
                    <a:p>
                      <a:pPr algn="l"/>
                      <a:r>
                        <a:rPr sz="800" b="1">
                          <a:solidFill>
                            <a:srgbClr val="2E7D32"/>
                          </a:solidFill>
                          <a:latin typeface="Calibri"/>
                        </a:rPr>
                        <a:t>▲ 14.5%</a:t>
                      </a:r>
                    </a:p>
                  </a:txBody>
                  <a:tcPr marL="85725" marR="38100" marT="19050" marB="19050" anchor="ctr">
                    <a:solidFill>
                      <a:srgbClr val="F5F8FA"/>
                    </a:solidFill>
                  </a:tcPr>
                </a:tc>
                <a:tc>
                  <a:txBody>
                    <a:bodyPr wrap="none"/>
                    <a:lstStyle/>
                    <a:p>
                      <a:pPr algn="l"/>
                      <a:r>
                        <a:rPr sz="800" b="1">
                          <a:solidFill>
                            <a:srgbClr val="2E7D32"/>
                          </a:solidFill>
                          <a:latin typeface="Calibri"/>
                        </a:rPr>
                        <a:t>▲ 13.5%</a:t>
                      </a:r>
                    </a:p>
                  </a:txBody>
                  <a:tcPr marL="85725" marR="38100" marT="19050" marB="19050" anchor="ctr">
                    <a:solidFill>
                      <a:srgbClr val="F5F8FA"/>
                    </a:solidFill>
                  </a:tcPr>
                </a:tc>
                <a:tc>
                  <a:txBody>
                    <a:bodyPr wrap="none"/>
                    <a:lstStyle/>
                    <a:p>
                      <a:pPr algn="l"/>
                      <a:r>
                        <a:rPr sz="800" b="1">
                          <a:solidFill>
                            <a:srgbClr val="2E7D32"/>
                          </a:solidFill>
                          <a:latin typeface="Calibri"/>
                        </a:rPr>
                        <a:t>▲ 12.6%</a:t>
                      </a:r>
                    </a:p>
                  </a:txBody>
                  <a:tcPr marL="85725" marR="38100" marT="19050" marB="19050" anchor="ctr">
                    <a:solidFill>
                      <a:srgbClr val="F5F8FA"/>
                    </a:solidFill>
                  </a:tcPr>
                </a:tc>
                <a:tc>
                  <a:txBody>
                    <a:bodyPr wrap="none"/>
                    <a:lstStyle/>
                    <a:p>
                      <a:pPr algn="l"/>
                      <a:r>
                        <a:rPr sz="800" b="1">
                          <a:solidFill>
                            <a:srgbClr val="2E7D32"/>
                          </a:solidFill>
                          <a:latin typeface="Calibri"/>
                        </a:rPr>
                        <a:t>▲ 12.0%</a:t>
                      </a:r>
                    </a:p>
                  </a:txBody>
                  <a:tcPr marL="85725" marR="38100" marT="19050" marB="19050" anchor="ctr">
                    <a:solidFill>
                      <a:srgbClr val="F5F8FA"/>
                    </a:solidFill>
                  </a:tcPr>
                </a:tc>
                <a:tc>
                  <a:txBody>
                    <a:bodyPr wrap="none"/>
                    <a:lstStyle/>
                    <a:p>
                      <a:pPr algn="l"/>
                      <a:r>
                        <a:rPr sz="800" b="1">
                          <a:solidFill>
                            <a:srgbClr val="2E7D32"/>
                          </a:solidFill>
                          <a:latin typeface="Calibri"/>
                        </a:rPr>
                        <a:t>▲ 11.4%</a:t>
                      </a:r>
                    </a:p>
                  </a:txBody>
                  <a:tcPr marL="85725" marR="38100" marT="19050" marB="19050" anchor="ctr">
                    <a:solidFill>
                      <a:srgbClr val="F5F8FA"/>
                    </a:solidFill>
                  </a:tcPr>
                </a:tc>
                <a:tc>
                  <a:txBody>
                    <a:bodyPr wrap="none"/>
                    <a:lstStyle/>
                    <a:p>
                      <a:pPr algn="l"/>
                      <a:r>
                        <a:rPr sz="800" b="1">
                          <a:solidFill>
                            <a:srgbClr val="2E7D32"/>
                          </a:solidFill>
                          <a:latin typeface="Calibri"/>
                        </a:rPr>
                        <a:t>▲ 10.9%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800" b="1">
                          <a:solidFill>
                            <a:srgbClr val="2E7D32"/>
                          </a:solidFill>
                          <a:latin typeface="Calibri"/>
                        </a:rPr>
                        <a:t>▲ 19.0%</a:t>
                      </a:r>
                    </a:p>
                  </a:txBody>
                  <a:tcPr marL="85725" marR="38100" marT="19050" marB="19050" anchor="ctr">
                    <a:solidFill>
                      <a:srgbClr val="FFFFFF"/>
                    </a:solidFill>
                  </a:tcPr>
                </a:tc>
                <a:tc>
                  <a:txBody>
                    <a:bodyPr wrap="none"/>
                    <a:lstStyle/>
                    <a:p>
                      <a:pPr algn="l"/>
                      <a:r>
                        <a:rPr sz="800" b="1">
                          <a:solidFill>
                            <a:srgbClr val="2E7D32"/>
                          </a:solidFill>
                          <a:latin typeface="Calibri"/>
                        </a:rPr>
                        <a:t>▲ 26.2%</a:t>
                      </a:r>
                    </a:p>
                  </a:txBody>
                  <a:tcPr marL="85725" marR="38100" marT="19050" marB="19050" anchor="ctr">
                    <a:solidFill>
                      <a:srgbClr val="FFFFFF"/>
                    </a:solidFill>
                  </a:tcPr>
                </a:tc>
                <a:tc>
                  <a:txBody>
                    <a:bodyPr wrap="none"/>
                    <a:lstStyle/>
                    <a:p>
                      <a:pPr algn="l"/>
                      <a:r>
                        <a:rPr sz="800" b="1">
                          <a:solidFill>
                            <a:srgbClr val="2E7D32"/>
                          </a:solidFill>
                          <a:latin typeface="Calibri"/>
                        </a:rPr>
                        <a:t>▲ 30.2%</a:t>
                      </a:r>
                    </a:p>
                  </a:txBody>
                  <a:tcPr marL="85725" marR="38100" marT="19050" marB="19050" anchor="ctr">
                    <a:solidFill>
                      <a:srgbClr val="FFFFFF"/>
                    </a:solidFill>
                  </a:tcPr>
                </a:tc>
                <a:tc>
                  <a:txBody>
                    <a:bodyPr wrap="none"/>
                    <a:lstStyle/>
                    <a:p>
                      <a:pPr algn="l"/>
                      <a:r>
                        <a:rPr sz="800" b="1">
                          <a:solidFill>
                            <a:srgbClr val="2E7D32"/>
                          </a:solidFill>
                          <a:latin typeface="Calibri"/>
                        </a:rPr>
                        <a:t>▲ 27.4%</a:t>
                      </a:r>
                    </a:p>
                  </a:txBody>
                  <a:tcPr marL="85725" marR="38100" marT="19050" marB="19050" anchor="ctr">
                    <a:solidFill>
                      <a:srgbClr val="FFFFFF"/>
                    </a:solidFill>
                  </a:tcPr>
                </a:tc>
                <a:tc>
                  <a:txBody>
                    <a:bodyPr wrap="none"/>
                    <a:lstStyle/>
                    <a:p>
                      <a:pPr algn="l"/>
                      <a:r>
                        <a:rPr sz="800" b="1">
                          <a:solidFill>
                            <a:srgbClr val="2E7D32"/>
                          </a:solidFill>
                          <a:latin typeface="Calibri"/>
                        </a:rPr>
                        <a:t>▲ 23.5%</a:t>
                      </a:r>
                    </a:p>
                  </a:txBody>
                  <a:tcPr marL="85725" marR="38100" marT="19050" marB="19050" anchor="ctr">
                    <a:solidFill>
                      <a:srgbClr val="FFFFFF"/>
                    </a:solidFill>
                  </a:tcPr>
                </a:tc>
                <a:tc>
                  <a:txBody>
                    <a:bodyPr wrap="none"/>
                    <a:lstStyle/>
                    <a:p>
                      <a:pPr algn="l"/>
                      <a:r>
                        <a:rPr sz="800" b="1">
                          <a:solidFill>
                            <a:srgbClr val="2E7D32"/>
                          </a:solidFill>
                          <a:latin typeface="Calibri"/>
                        </a:rPr>
                        <a:t>▲ 21.3%</a:t>
                      </a:r>
                    </a:p>
                  </a:txBody>
                  <a:tcPr marL="85725" marR="38100" marT="19050" marB="19050" anchor="ctr">
                    <a:solidFill>
                      <a:srgbClr val="FFFFFF"/>
                    </a:solidFill>
                  </a:tcPr>
                </a:tc>
                <a:tc>
                  <a:txBody>
                    <a:bodyPr wrap="none"/>
                    <a:lstStyle/>
                    <a:p>
                      <a:pPr algn="l"/>
                      <a:r>
                        <a:rPr sz="800" b="1">
                          <a:solidFill>
                            <a:srgbClr val="2E7D32"/>
                          </a:solidFill>
                          <a:latin typeface="Calibri"/>
                        </a:rPr>
                        <a:t>▲ 18.8%</a:t>
                      </a:r>
                    </a:p>
                  </a:txBody>
                  <a:tcPr marL="85725" marR="38100" marT="19050" marB="19050" anchor="ctr">
                    <a:solidFill>
                      <a:srgbClr val="FFFFFF"/>
                    </a:solidFill>
                  </a:tcPr>
                </a:tc>
                <a:tc>
                  <a:txBody>
                    <a:bodyPr wrap="none"/>
                    <a:lstStyle/>
                    <a:p>
                      <a:pPr algn="l"/>
                      <a:r>
                        <a:rPr sz="800" b="1">
                          <a:solidFill>
                            <a:srgbClr val="2E7D32"/>
                          </a:solidFill>
                          <a:latin typeface="Calibri"/>
                        </a:rPr>
                        <a:t>▲ 17.0%</a:t>
                      </a:r>
                    </a:p>
                  </a:txBody>
                  <a:tcPr marL="85725" marR="38100" marT="19050" marB="19050" anchor="ctr">
                    <a:solidFill>
                      <a:srgbClr val="FFFFFF"/>
                    </a:solidFill>
                  </a:tcPr>
                </a:tc>
                <a:tc>
                  <a:txBody>
                    <a:bodyPr wrap="none"/>
                    <a:lstStyle/>
                    <a:p>
                      <a:pPr algn="l"/>
                      <a:r>
                        <a:rPr sz="800" b="1">
                          <a:solidFill>
                            <a:srgbClr val="2E7D32"/>
                          </a:solidFill>
                          <a:latin typeface="Calibri"/>
                        </a:rPr>
                        <a:t>▲ 15.6%</a:t>
                      </a:r>
                    </a:p>
                  </a:txBody>
                  <a:tcPr marL="85725" marR="38100" marT="19050" marB="19050" anchor="ctr">
                    <a:solidFill>
                      <a:srgbClr val="FFFFFF"/>
                    </a:solidFill>
                  </a:tcPr>
                </a:tc>
                <a:tc>
                  <a:txBody>
                    <a:bodyPr wrap="none"/>
                    <a:lstStyle/>
                    <a:p>
                      <a:pPr algn="l"/>
                      <a:r>
                        <a:rPr sz="800" b="1">
                          <a:solidFill>
                            <a:srgbClr val="2E7D32"/>
                          </a:solidFill>
                          <a:latin typeface="Calibri"/>
                        </a:rPr>
                        <a:t>▲ 14.4%</a:t>
                      </a:r>
                    </a:p>
                  </a:txBody>
                  <a:tcPr marL="85725" marR="38100" marT="19050" marB="19050" anchor="ctr">
                    <a:solidFill>
                      <a:srgbClr val="FFFFFF"/>
                    </a:solidFill>
                  </a:tcPr>
                </a:tc>
                <a:tc>
                  <a:txBody>
                    <a:bodyPr wrap="none"/>
                    <a:lstStyle/>
                    <a:p>
                      <a:pPr algn="l"/>
                      <a:r>
                        <a:rPr sz="800" b="1">
                          <a:solidFill>
                            <a:srgbClr val="2E7D32"/>
                          </a:solidFill>
                          <a:latin typeface="Calibri"/>
                        </a:rPr>
                        <a:t>▲ 13.4%</a:t>
                      </a:r>
                    </a:p>
                  </a:txBody>
                  <a:tcPr marL="85725" marR="38100" marT="19050" marB="19050" anchor="ctr">
                    <a:solidFill>
                      <a:srgbClr val="FFFFFF"/>
                    </a:solidFill>
                  </a:tcPr>
                </a:tc>
                <a:tc>
                  <a:txBody>
                    <a:bodyPr wrap="none"/>
                    <a:lstStyle/>
                    <a:p>
                      <a:pPr algn="l"/>
                      <a:r>
                        <a:rPr sz="800" b="1">
                          <a:solidFill>
                            <a:srgbClr val="2E7D32"/>
                          </a:solidFill>
                          <a:latin typeface="Calibri"/>
                        </a:rPr>
                        <a:t>▲ 12.5%</a:t>
                      </a:r>
                    </a:p>
                  </a:txBody>
                  <a:tcPr marL="85725" marR="38100" marT="19050" marB="19050" anchor="ctr">
                    <a:solidFill>
                      <a:srgbClr val="FFFFFF"/>
                    </a:solidFill>
                  </a:tcPr>
                </a:tc>
                <a:tc>
                  <a:txBody>
                    <a:bodyPr wrap="none"/>
                    <a:lstStyle/>
                    <a:p>
                      <a:pPr algn="l"/>
                      <a:r>
                        <a:rPr sz="800" b="1">
                          <a:solidFill>
                            <a:srgbClr val="2E7D32"/>
                          </a:solidFill>
                          <a:latin typeface="Calibri"/>
                        </a:rPr>
                        <a:t>▲ 11.8%</a:t>
                      </a:r>
                    </a:p>
                  </a:txBody>
                  <a:tcPr marL="85725" marR="38100" marT="19050" marB="19050" anchor="ctr">
                    <a:solidFill>
                      <a:srgbClr val="FFFFFF"/>
                    </a:solidFill>
                  </a:tcPr>
                </a:tc>
                <a:tc>
                  <a:txBody>
                    <a:bodyPr wrap="none"/>
                    <a:lstStyle/>
                    <a:p>
                      <a:pPr algn="l"/>
                      <a:r>
                        <a:rPr sz="800" b="1">
                          <a:solidFill>
                            <a:srgbClr val="2E7D32"/>
                          </a:solidFill>
                          <a:latin typeface="Calibri"/>
                        </a:rPr>
                        <a:t>▲ 11.3%</a:t>
                      </a:r>
                    </a:p>
                  </a:txBody>
                  <a:tcPr marL="85725" marR="38100" marT="19050" marB="19050" anchor="ctr">
                    <a:solidFill>
                      <a:srgbClr val="FFFFFF"/>
                    </a:solidFill>
                  </a:tcPr>
                </a:tc>
                <a:tc>
                  <a:txBody>
                    <a:bodyPr wrap="none"/>
                    <a:lstStyle/>
                    <a:p>
                      <a:pPr algn="l"/>
                      <a:r>
                        <a:rPr sz="800" b="1">
                          <a:solidFill>
                            <a:srgbClr val="2E7D32"/>
                          </a:solidFill>
                          <a:latin typeface="Calibri"/>
                        </a:rPr>
                        <a:t>▲ 10.8%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800" b="1">
                          <a:solidFill>
                            <a:srgbClr val="A86F00"/>
                          </a:solidFill>
                          <a:latin typeface="Calibri"/>
                        </a:rPr>
                        <a:t>▶ 14.4%</a:t>
                      </a:r>
                    </a:p>
                  </a:txBody>
                  <a:tcPr marL="85725" marR="38100" marT="19050" marB="19050" anchor="ctr">
                    <a:solidFill>
                      <a:srgbClr val="F5F8FA"/>
                    </a:solidFill>
                  </a:tcPr>
                </a:tc>
                <a:tc>
                  <a:txBody>
                    <a:bodyPr wrap="none"/>
                    <a:lstStyle/>
                    <a:p>
                      <a:pPr algn="l"/>
                      <a:r>
                        <a:rPr sz="800" b="1">
                          <a:solidFill>
                            <a:srgbClr val="A86F00"/>
                          </a:solidFill>
                          <a:latin typeface="Calibri"/>
                        </a:rPr>
                        <a:t>▶ 21.3%</a:t>
                      </a:r>
                    </a:p>
                  </a:txBody>
                  <a:tcPr marL="85725" marR="38100" marT="19050" marB="19050" anchor="ctr">
                    <a:solidFill>
                      <a:srgbClr val="F5F8FA"/>
                    </a:solidFill>
                  </a:tcPr>
                </a:tc>
                <a:tc>
                  <a:txBody>
                    <a:bodyPr wrap="none"/>
                    <a:lstStyle/>
                    <a:p>
                      <a:pPr algn="l"/>
                      <a:r>
                        <a:rPr sz="800" b="1">
                          <a:solidFill>
                            <a:srgbClr val="A86F00"/>
                          </a:solidFill>
                          <a:latin typeface="Calibri"/>
                        </a:rPr>
                        <a:t>▶ 25.1%</a:t>
                      </a:r>
                    </a:p>
                  </a:txBody>
                  <a:tcPr marL="85725" marR="38100" marT="19050" marB="19050" anchor="ctr">
                    <a:solidFill>
                      <a:srgbClr val="F5F8FA"/>
                    </a:solidFill>
                  </a:tcPr>
                </a:tc>
                <a:tc>
                  <a:txBody>
                    <a:bodyPr wrap="none"/>
                    <a:lstStyle/>
                    <a:p>
                      <a:pPr algn="l"/>
                      <a:r>
                        <a:rPr sz="800" b="1">
                          <a:solidFill>
                            <a:srgbClr val="A86F00"/>
                          </a:solidFill>
                          <a:latin typeface="Calibri"/>
                        </a:rPr>
                        <a:t>▶ 22.4%</a:t>
                      </a:r>
                    </a:p>
                  </a:txBody>
                  <a:tcPr marL="85725" marR="38100" marT="19050" marB="19050" anchor="ctr">
                    <a:solidFill>
                      <a:srgbClr val="F5F8FA"/>
                    </a:solidFill>
                  </a:tcPr>
                </a:tc>
                <a:tc>
                  <a:txBody>
                    <a:bodyPr wrap="none"/>
                    <a:lstStyle/>
                    <a:p>
                      <a:pPr algn="l"/>
                      <a:r>
                        <a:rPr sz="800" b="1">
                          <a:solidFill>
                            <a:srgbClr val="A86F00"/>
                          </a:solidFill>
                          <a:latin typeface="Calibri"/>
                        </a:rPr>
                        <a:t>▶ 18.7%</a:t>
                      </a:r>
                    </a:p>
                  </a:txBody>
                  <a:tcPr marL="85725" marR="38100" marT="19050" marB="19050" anchor="ctr">
                    <a:solidFill>
                      <a:srgbClr val="F5F8FA"/>
                    </a:solidFill>
                  </a:tcPr>
                </a:tc>
                <a:tc>
                  <a:txBody>
                    <a:bodyPr wrap="none"/>
                    <a:lstStyle/>
                    <a:p>
                      <a:pPr algn="l"/>
                      <a:r>
                        <a:rPr sz="800" b="1">
                          <a:solidFill>
                            <a:srgbClr val="A86F00"/>
                          </a:solidFill>
                          <a:latin typeface="Calibri"/>
                        </a:rPr>
                        <a:t>▶ 16.5%</a:t>
                      </a:r>
                    </a:p>
                  </a:txBody>
                  <a:tcPr marL="85725" marR="38100" marT="19050" marB="19050" anchor="ctr">
                    <a:solidFill>
                      <a:srgbClr val="F5F8FA"/>
                    </a:solidFill>
                  </a:tcPr>
                </a:tc>
                <a:tc>
                  <a:txBody>
                    <a:bodyPr wrap="none"/>
                    <a:lstStyle/>
                    <a:p>
                      <a:pPr algn="l"/>
                      <a:r>
                        <a:rPr sz="800" b="1">
                          <a:solidFill>
                            <a:srgbClr val="A86F00"/>
                          </a:solidFill>
                          <a:latin typeface="Calibri"/>
                        </a:rPr>
                        <a:t>▶ 14.1%</a:t>
                      </a:r>
                    </a:p>
                  </a:txBody>
                  <a:tcPr marL="85725" marR="38100" marT="19050" marB="19050" anchor="ctr">
                    <a:solidFill>
                      <a:srgbClr val="F5F8FA"/>
                    </a:solidFill>
                  </a:tcPr>
                </a:tc>
                <a:tc>
                  <a:txBody>
                    <a:bodyPr wrap="none"/>
                    <a:lstStyle/>
                    <a:p>
                      <a:pPr algn="l"/>
                      <a:r>
                        <a:rPr sz="800" b="1">
                          <a:solidFill>
                            <a:srgbClr val="A86F00"/>
                          </a:solidFill>
                          <a:latin typeface="Calibri"/>
                        </a:rPr>
                        <a:t>▶ 12.5%</a:t>
                      </a:r>
                    </a:p>
                  </a:txBody>
                  <a:tcPr marL="85725" marR="38100" marT="19050" marB="19050" anchor="ctr">
                    <a:solidFill>
                      <a:srgbClr val="F5F8FA"/>
                    </a:solidFill>
                  </a:tcPr>
                </a:tc>
                <a:tc>
                  <a:txBody>
                    <a:bodyPr wrap="none"/>
                    <a:lstStyle/>
                    <a:p>
                      <a:pPr algn="l"/>
                      <a:r>
                        <a:rPr sz="800" b="1">
                          <a:solidFill>
                            <a:srgbClr val="A86F00"/>
                          </a:solidFill>
                          <a:latin typeface="Calibri"/>
                        </a:rPr>
                        <a:t>▶ 11.1%</a:t>
                      </a:r>
                    </a:p>
                  </a:txBody>
                  <a:tcPr marL="85725" marR="38100" marT="19050" marB="19050" anchor="ctr">
                    <a:solidFill>
                      <a:srgbClr val="F5F8FA"/>
                    </a:solidFill>
                  </a:tcPr>
                </a:tc>
                <a:tc>
                  <a:txBody>
                    <a:bodyPr wrap="none"/>
                    <a:lstStyle/>
                    <a:p>
                      <a:pPr algn="l"/>
                      <a:r>
                        <a:rPr sz="800" b="1">
                          <a:solidFill>
                            <a:srgbClr val="A86F00"/>
                          </a:solidFill>
                          <a:latin typeface="Calibri"/>
                        </a:rPr>
                        <a:t>▶ 9.9%</a:t>
                      </a:r>
                    </a:p>
                  </a:txBody>
                  <a:tcPr marL="85725" marR="38100" marT="19050" marB="19050" anchor="ctr">
                    <a:solidFill>
                      <a:srgbClr val="F5F8FA"/>
                    </a:solidFill>
                  </a:tcPr>
                </a:tc>
                <a:tc>
                  <a:txBody>
                    <a:bodyPr wrap="none"/>
                    <a:lstStyle/>
                    <a:p>
                      <a:pPr algn="l"/>
                      <a:r>
                        <a:rPr sz="800" b="1">
                          <a:solidFill>
                            <a:srgbClr val="A86F00"/>
                          </a:solidFill>
                          <a:latin typeface="Calibri"/>
                        </a:rPr>
                        <a:t>▶ 9.0%</a:t>
                      </a:r>
                    </a:p>
                  </a:txBody>
                  <a:tcPr marL="85725" marR="38100" marT="19050" marB="19050" anchor="ctr">
                    <a:solidFill>
                      <a:srgbClr val="F5F8FA"/>
                    </a:solidFill>
                  </a:tcPr>
                </a:tc>
                <a:tc>
                  <a:txBody>
                    <a:bodyPr wrap="none"/>
                    <a:lstStyle/>
                    <a:p>
                      <a:pPr algn="l"/>
                      <a:r>
                        <a:rPr sz="800" b="1">
                          <a:solidFill>
                            <a:srgbClr val="A86F00"/>
                          </a:solidFill>
                          <a:latin typeface="Calibri"/>
                        </a:rPr>
                        <a:t>▶ 8.1%</a:t>
                      </a:r>
                    </a:p>
                  </a:txBody>
                  <a:tcPr marL="85725" marR="38100" marT="19050" marB="19050" anchor="ctr">
                    <a:solidFill>
                      <a:srgbClr val="F5F8FA"/>
                    </a:solidFill>
                  </a:tcPr>
                </a:tc>
                <a:tc>
                  <a:txBody>
                    <a:bodyPr wrap="none"/>
                    <a:lstStyle/>
                    <a:p>
                      <a:pPr algn="l"/>
                      <a:r>
                        <a:rPr sz="800" b="1">
                          <a:solidFill>
                            <a:srgbClr val="A86F00"/>
                          </a:solidFill>
                          <a:latin typeface="Calibri"/>
                        </a:rPr>
                        <a:t>▶ 7.5%</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Idacio</a:t>
                      </a:r>
                    </a:p>
                  </a:txBody>
                  <a:tcPr marL="85725" marR="38100" marT="19050" marB="19050" anchor="ctr">
                    <a:solidFill>
                      <a:srgbClr val="FFFFFF"/>
                    </a:solidFill>
                  </a:tcPr>
                </a:tc>
                <a:tc>
                  <a:txBody>
                    <a:bodyPr wrap="none"/>
                    <a:lstStyle/>
                    <a:p>
                      <a:pPr algn="l"/>
                      <a:r>
                        <a:rPr sz="800" b="1">
                          <a:solidFill>
                            <a:srgbClr val="A86F00"/>
                          </a:solidFill>
                          <a:latin typeface="Calibri"/>
                        </a:rPr>
                        <a:t>▶ 15.6%</a:t>
                      </a:r>
                    </a:p>
                  </a:txBody>
                  <a:tcPr marL="85725" marR="38100" marT="19050" marB="19050" anchor="ctr">
                    <a:solidFill>
                      <a:srgbClr val="FFFFFF"/>
                    </a:solidFill>
                  </a:tcPr>
                </a:tc>
                <a:tc>
                  <a:txBody>
                    <a:bodyPr wrap="none"/>
                    <a:lstStyle/>
                    <a:p>
                      <a:pPr algn="l"/>
                      <a:r>
                        <a:rPr sz="800" b="1">
                          <a:solidFill>
                            <a:srgbClr val="A86F00"/>
                          </a:solidFill>
                          <a:latin typeface="Calibri"/>
                        </a:rPr>
                        <a:t>▶ 22.5%</a:t>
                      </a:r>
                    </a:p>
                  </a:txBody>
                  <a:tcPr marL="85725" marR="38100" marT="19050" marB="19050" anchor="ctr">
                    <a:solidFill>
                      <a:srgbClr val="FFFFFF"/>
                    </a:solidFill>
                  </a:tcPr>
                </a:tc>
                <a:tc>
                  <a:txBody>
                    <a:bodyPr wrap="none"/>
                    <a:lstStyle/>
                    <a:p>
                      <a:pPr algn="l"/>
                      <a:r>
                        <a:rPr sz="800" b="1">
                          <a:solidFill>
                            <a:srgbClr val="A86F00"/>
                          </a:solidFill>
                          <a:latin typeface="Calibri"/>
                        </a:rPr>
                        <a:t>▶ 26.4%</a:t>
                      </a:r>
                    </a:p>
                  </a:txBody>
                  <a:tcPr marL="85725" marR="38100" marT="19050" marB="19050" anchor="ctr">
                    <a:solidFill>
                      <a:srgbClr val="FFFFFF"/>
                    </a:solidFill>
                  </a:tcPr>
                </a:tc>
                <a:tc>
                  <a:txBody>
                    <a:bodyPr wrap="none"/>
                    <a:lstStyle/>
                    <a:p>
                      <a:pPr algn="l"/>
                      <a:r>
                        <a:rPr sz="800" b="1">
                          <a:solidFill>
                            <a:srgbClr val="A86F00"/>
                          </a:solidFill>
                          <a:latin typeface="Calibri"/>
                        </a:rPr>
                        <a:t>▶ 23.7%</a:t>
                      </a:r>
                    </a:p>
                  </a:txBody>
                  <a:tcPr marL="85725" marR="38100" marT="19050" marB="19050" anchor="ctr">
                    <a:solidFill>
                      <a:srgbClr val="FFFFFF"/>
                    </a:solidFill>
                  </a:tcPr>
                </a:tc>
                <a:tc>
                  <a:txBody>
                    <a:bodyPr wrap="none"/>
                    <a:lstStyle/>
                    <a:p>
                      <a:pPr algn="l"/>
                      <a:r>
                        <a:rPr sz="800" b="1">
                          <a:solidFill>
                            <a:srgbClr val="A86F00"/>
                          </a:solidFill>
                          <a:latin typeface="Calibri"/>
                        </a:rPr>
                        <a:t>▶ 19.9%</a:t>
                      </a:r>
                    </a:p>
                  </a:txBody>
                  <a:tcPr marL="85725" marR="38100" marT="19050" marB="19050" anchor="ctr">
                    <a:solidFill>
                      <a:srgbClr val="FFFFFF"/>
                    </a:solidFill>
                  </a:tcPr>
                </a:tc>
                <a:tc>
                  <a:txBody>
                    <a:bodyPr wrap="none"/>
                    <a:lstStyle/>
                    <a:p>
                      <a:pPr algn="l"/>
                      <a:r>
                        <a:rPr sz="800" b="1">
                          <a:solidFill>
                            <a:srgbClr val="A86F00"/>
                          </a:solidFill>
                          <a:latin typeface="Calibri"/>
                        </a:rPr>
                        <a:t>▶ 17.7%</a:t>
                      </a:r>
                    </a:p>
                  </a:txBody>
                  <a:tcPr marL="85725" marR="38100" marT="19050" marB="19050" anchor="ctr">
                    <a:solidFill>
                      <a:srgbClr val="FFFFFF"/>
                    </a:solidFill>
                  </a:tcPr>
                </a:tc>
                <a:tc>
                  <a:txBody>
                    <a:bodyPr wrap="none"/>
                    <a:lstStyle/>
                    <a:p>
                      <a:pPr algn="l"/>
                      <a:r>
                        <a:rPr sz="800" b="1">
                          <a:solidFill>
                            <a:srgbClr val="A86F00"/>
                          </a:solidFill>
                          <a:latin typeface="Calibri"/>
                        </a:rPr>
                        <a:t>▶ 15.3%</a:t>
                      </a:r>
                    </a:p>
                  </a:txBody>
                  <a:tcPr marL="85725" marR="38100" marT="19050" marB="19050" anchor="ctr">
                    <a:solidFill>
                      <a:srgbClr val="FFFFFF"/>
                    </a:solidFill>
                  </a:tcPr>
                </a:tc>
                <a:tc>
                  <a:txBody>
                    <a:bodyPr wrap="none"/>
                    <a:lstStyle/>
                    <a:p>
                      <a:pPr algn="l"/>
                      <a:r>
                        <a:rPr sz="800" b="1">
                          <a:solidFill>
                            <a:srgbClr val="A86F00"/>
                          </a:solidFill>
                          <a:latin typeface="Calibri"/>
                        </a:rPr>
                        <a:t>▶ 13.6%</a:t>
                      </a:r>
                    </a:p>
                  </a:txBody>
                  <a:tcPr marL="85725" marR="38100" marT="19050" marB="19050" anchor="ctr">
                    <a:solidFill>
                      <a:srgbClr val="FFFFFF"/>
                    </a:solidFill>
                  </a:tcPr>
                </a:tc>
                <a:tc>
                  <a:txBody>
                    <a:bodyPr wrap="none"/>
                    <a:lstStyle/>
                    <a:p>
                      <a:pPr algn="l"/>
                      <a:r>
                        <a:rPr sz="800" b="1">
                          <a:solidFill>
                            <a:srgbClr val="A86F00"/>
                          </a:solidFill>
                          <a:latin typeface="Calibri"/>
                        </a:rPr>
                        <a:t>▶ 12.2%</a:t>
                      </a:r>
                    </a:p>
                  </a:txBody>
                  <a:tcPr marL="85725" marR="38100" marT="19050" marB="19050" anchor="ctr">
                    <a:solidFill>
                      <a:srgbClr val="FFFFFF"/>
                    </a:solidFill>
                  </a:tcPr>
                </a:tc>
                <a:tc>
                  <a:txBody>
                    <a:bodyPr wrap="none"/>
                    <a:lstStyle/>
                    <a:p>
                      <a:pPr algn="l"/>
                      <a:r>
                        <a:rPr sz="800" b="1">
                          <a:solidFill>
                            <a:srgbClr val="A86F00"/>
                          </a:solidFill>
                          <a:latin typeface="Calibri"/>
                        </a:rPr>
                        <a:t>▶ 11.1%</a:t>
                      </a:r>
                    </a:p>
                  </a:txBody>
                  <a:tcPr marL="85725" marR="38100" marT="19050" marB="19050" anchor="ctr">
                    <a:solidFill>
                      <a:srgbClr val="FFFFFF"/>
                    </a:solidFill>
                  </a:tcPr>
                </a:tc>
                <a:tc>
                  <a:txBody>
                    <a:bodyPr wrap="none"/>
                    <a:lstStyle/>
                    <a:p>
                      <a:pPr algn="l"/>
                      <a:r>
                        <a:rPr sz="800" b="1">
                          <a:solidFill>
                            <a:srgbClr val="A86F00"/>
                          </a:solidFill>
                          <a:latin typeface="Calibri"/>
                        </a:rPr>
                        <a:t>▶ 10.1%</a:t>
                      </a:r>
                    </a:p>
                  </a:txBody>
                  <a:tcPr marL="85725" marR="38100" marT="19050" marB="19050" anchor="ctr">
                    <a:solidFill>
                      <a:srgbClr val="FFFFFF"/>
                    </a:solidFill>
                  </a:tcPr>
                </a:tc>
                <a:tc>
                  <a:txBody>
                    <a:bodyPr wrap="none"/>
                    <a:lstStyle/>
                    <a:p>
                      <a:pPr algn="l"/>
                      <a:r>
                        <a:rPr sz="800" b="1">
                          <a:solidFill>
                            <a:srgbClr val="A86F00"/>
                          </a:solidFill>
                          <a:latin typeface="Calibri"/>
                        </a:rPr>
                        <a:t>▶ 9.2%</a:t>
                      </a:r>
                    </a:p>
                  </a:txBody>
                  <a:tcPr marL="85725" marR="38100" marT="19050" marB="19050" anchor="ctr">
                    <a:solidFill>
                      <a:srgbClr val="FFFFFF"/>
                    </a:solidFill>
                  </a:tcPr>
                </a:tc>
                <a:tc>
                  <a:txBody>
                    <a:bodyPr wrap="none"/>
                    <a:lstStyle/>
                    <a:p>
                      <a:pPr algn="l"/>
                      <a:r>
                        <a:rPr sz="800" b="1">
                          <a:solidFill>
                            <a:srgbClr val="A86F00"/>
                          </a:solidFill>
                          <a:latin typeface="Calibri"/>
                        </a:rPr>
                        <a:t>▶ 8.6%</a:t>
                      </a:r>
                    </a:p>
                  </a:txBody>
                  <a:tcPr marL="85725" marR="38100" marT="19050" marB="19050" anchor="ctr">
                    <a:solidFill>
                      <a:srgbClr val="FFFFFF"/>
                    </a:solidFill>
                  </a:tcPr>
                </a:tc>
                <a:tc>
                  <a:txBody>
                    <a:bodyPr wrap="none"/>
                    <a:lstStyle/>
                    <a:p>
                      <a:pPr algn="l"/>
                      <a:r>
                        <a:rPr sz="800" b="1">
                          <a:solidFill>
                            <a:srgbClr val="A86F00"/>
                          </a:solidFill>
                          <a:latin typeface="Calibri"/>
                        </a:rPr>
                        <a:t>▶ 8.0%</a:t>
                      </a:r>
                    </a:p>
                  </a:txBody>
                  <a:tcPr marL="85725" marR="38100" marT="19050" marB="19050" anchor="ctr">
                    <a:solidFill>
                      <a:srgbClr val="FFFFFF"/>
                    </a:solidFill>
                  </a:tcPr>
                </a:tc>
                <a:tc>
                  <a:txBody>
                    <a:bodyPr wrap="none"/>
                    <a:lstStyle/>
                    <a:p>
                      <a:pPr algn="l"/>
                      <a:r>
                        <a:rPr sz="800" b="1">
                          <a:solidFill>
                            <a:srgbClr val="A86F00"/>
                          </a:solidFill>
                          <a:latin typeface="Calibri"/>
                        </a:rPr>
                        <a:t>▶ 7.6%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Hulio</a:t>
                      </a:r>
                    </a:p>
                  </a:txBody>
                  <a:tcPr marL="85725" marR="38100" marT="19050" marB="19050" anchor="ctr">
                    <a:solidFill>
                      <a:srgbClr val="F5F8FA"/>
                    </a:solidFill>
                  </a:tcPr>
                </a:tc>
                <a:tc>
                  <a:txBody>
                    <a:bodyPr wrap="none"/>
                    <a:lstStyle/>
                    <a:p>
                      <a:pPr algn="l"/>
                      <a:r>
                        <a:rPr sz="800" b="1">
                          <a:solidFill>
                            <a:srgbClr val="A86F00"/>
                          </a:solidFill>
                          <a:latin typeface="Calibri"/>
                        </a:rPr>
                        <a:t>▶ 15.5%</a:t>
                      </a:r>
                    </a:p>
                  </a:txBody>
                  <a:tcPr marL="85725" marR="38100" marT="19050" marB="19050" anchor="ctr">
                    <a:solidFill>
                      <a:srgbClr val="F5F8FA"/>
                    </a:solidFill>
                  </a:tcPr>
                </a:tc>
                <a:tc>
                  <a:txBody>
                    <a:bodyPr wrap="none"/>
                    <a:lstStyle/>
                    <a:p>
                      <a:pPr algn="l"/>
                      <a:r>
                        <a:rPr sz="800" b="1">
                          <a:solidFill>
                            <a:srgbClr val="A86F00"/>
                          </a:solidFill>
                          <a:latin typeface="Calibri"/>
                        </a:rPr>
                        <a:t>▶ 22.5%</a:t>
                      </a:r>
                    </a:p>
                  </a:txBody>
                  <a:tcPr marL="85725" marR="38100" marT="19050" marB="19050" anchor="ctr">
                    <a:solidFill>
                      <a:srgbClr val="F5F8FA"/>
                    </a:solidFill>
                  </a:tcPr>
                </a:tc>
                <a:tc>
                  <a:txBody>
                    <a:bodyPr wrap="none"/>
                    <a:lstStyle/>
                    <a:p>
                      <a:pPr algn="l"/>
                      <a:r>
                        <a:rPr sz="800" b="1">
                          <a:solidFill>
                            <a:srgbClr val="A86F00"/>
                          </a:solidFill>
                          <a:latin typeface="Calibri"/>
                        </a:rPr>
                        <a:t>▶ 26.4%</a:t>
                      </a:r>
                    </a:p>
                  </a:txBody>
                  <a:tcPr marL="85725" marR="38100" marT="19050" marB="19050" anchor="ctr">
                    <a:solidFill>
                      <a:srgbClr val="F5F8FA"/>
                    </a:solidFill>
                  </a:tcPr>
                </a:tc>
                <a:tc>
                  <a:txBody>
                    <a:bodyPr wrap="none"/>
                    <a:lstStyle/>
                    <a:p>
                      <a:pPr algn="l"/>
                      <a:r>
                        <a:rPr sz="800" b="1">
                          <a:solidFill>
                            <a:srgbClr val="A86F00"/>
                          </a:solidFill>
                          <a:latin typeface="Calibri"/>
                        </a:rPr>
                        <a:t>▶ 23.7%</a:t>
                      </a:r>
                    </a:p>
                  </a:txBody>
                  <a:tcPr marL="85725" marR="38100" marT="19050" marB="19050" anchor="ctr">
                    <a:solidFill>
                      <a:srgbClr val="F5F8FA"/>
                    </a:solidFill>
                  </a:tcPr>
                </a:tc>
                <a:tc>
                  <a:txBody>
                    <a:bodyPr wrap="none"/>
                    <a:lstStyle/>
                    <a:p>
                      <a:pPr algn="l"/>
                      <a:r>
                        <a:rPr sz="800" b="1">
                          <a:solidFill>
                            <a:srgbClr val="A86F00"/>
                          </a:solidFill>
                          <a:latin typeface="Calibri"/>
                        </a:rPr>
                        <a:t>▶ 19.9%</a:t>
                      </a:r>
                    </a:p>
                  </a:txBody>
                  <a:tcPr marL="85725" marR="38100" marT="19050" marB="19050" anchor="ctr">
                    <a:solidFill>
                      <a:srgbClr val="F5F8FA"/>
                    </a:solidFill>
                  </a:tcPr>
                </a:tc>
                <a:tc>
                  <a:txBody>
                    <a:bodyPr wrap="none"/>
                    <a:lstStyle/>
                    <a:p>
                      <a:pPr algn="l"/>
                      <a:r>
                        <a:rPr sz="800" b="1">
                          <a:solidFill>
                            <a:srgbClr val="A86F00"/>
                          </a:solidFill>
                          <a:latin typeface="Calibri"/>
                        </a:rPr>
                        <a:t>▶ 17.7%</a:t>
                      </a:r>
                    </a:p>
                  </a:txBody>
                  <a:tcPr marL="85725" marR="38100" marT="19050" marB="19050" anchor="ctr">
                    <a:solidFill>
                      <a:srgbClr val="F5F8FA"/>
                    </a:solidFill>
                  </a:tcPr>
                </a:tc>
                <a:tc>
                  <a:txBody>
                    <a:bodyPr wrap="none"/>
                    <a:lstStyle/>
                    <a:p>
                      <a:pPr algn="l"/>
                      <a:r>
                        <a:rPr sz="800" b="1">
                          <a:solidFill>
                            <a:srgbClr val="A86F00"/>
                          </a:solidFill>
                          <a:latin typeface="Calibri"/>
                        </a:rPr>
                        <a:t>▶ 15.3%</a:t>
                      </a:r>
                    </a:p>
                  </a:txBody>
                  <a:tcPr marL="85725" marR="38100" marT="19050" marB="19050" anchor="ctr">
                    <a:solidFill>
                      <a:srgbClr val="F5F8FA"/>
                    </a:solidFill>
                  </a:tcPr>
                </a:tc>
                <a:tc>
                  <a:txBody>
                    <a:bodyPr wrap="none"/>
                    <a:lstStyle/>
                    <a:p>
                      <a:pPr algn="l"/>
                      <a:r>
                        <a:rPr sz="800" b="1">
                          <a:solidFill>
                            <a:srgbClr val="A86F00"/>
                          </a:solidFill>
                          <a:latin typeface="Calibri"/>
                        </a:rPr>
                        <a:t>▶ 13.6%</a:t>
                      </a:r>
                    </a:p>
                  </a:txBody>
                  <a:tcPr marL="85725" marR="38100" marT="19050" marB="19050" anchor="ctr">
                    <a:solidFill>
                      <a:srgbClr val="F5F8FA"/>
                    </a:solidFill>
                  </a:tcPr>
                </a:tc>
                <a:tc>
                  <a:txBody>
                    <a:bodyPr wrap="none"/>
                    <a:lstStyle/>
                    <a:p>
                      <a:pPr algn="l"/>
                      <a:r>
                        <a:rPr sz="800" b="1">
                          <a:solidFill>
                            <a:srgbClr val="A86F00"/>
                          </a:solidFill>
                          <a:latin typeface="Calibri"/>
                        </a:rPr>
                        <a:t>▶ 12.2%</a:t>
                      </a:r>
                    </a:p>
                  </a:txBody>
                  <a:tcPr marL="85725" marR="38100" marT="19050" marB="19050" anchor="ctr">
                    <a:solidFill>
                      <a:srgbClr val="F5F8FA"/>
                    </a:solidFill>
                  </a:tcPr>
                </a:tc>
                <a:tc>
                  <a:txBody>
                    <a:bodyPr wrap="none"/>
                    <a:lstStyle/>
                    <a:p>
                      <a:pPr algn="l"/>
                      <a:r>
                        <a:rPr sz="800" b="1">
                          <a:solidFill>
                            <a:srgbClr val="A86F00"/>
                          </a:solidFill>
                          <a:latin typeface="Calibri"/>
                        </a:rPr>
                        <a:t>▶ 11.1%</a:t>
                      </a:r>
                    </a:p>
                  </a:txBody>
                  <a:tcPr marL="85725" marR="38100" marT="19050" marB="19050" anchor="ctr">
                    <a:solidFill>
                      <a:srgbClr val="F5F8FA"/>
                    </a:solidFill>
                  </a:tcPr>
                </a:tc>
                <a:tc>
                  <a:txBody>
                    <a:bodyPr wrap="none"/>
                    <a:lstStyle/>
                    <a:p>
                      <a:pPr algn="l"/>
                      <a:r>
                        <a:rPr sz="800" b="1">
                          <a:solidFill>
                            <a:srgbClr val="A86F00"/>
                          </a:solidFill>
                          <a:latin typeface="Calibri"/>
                        </a:rPr>
                        <a:t>▶ 10.1%</a:t>
                      </a:r>
                    </a:p>
                  </a:txBody>
                  <a:tcPr marL="85725" marR="38100" marT="19050" marB="19050" anchor="ctr">
                    <a:solidFill>
                      <a:srgbClr val="F5F8FA"/>
                    </a:solidFill>
                  </a:tcPr>
                </a:tc>
                <a:tc>
                  <a:txBody>
                    <a:bodyPr wrap="none"/>
                    <a:lstStyle/>
                    <a:p>
                      <a:pPr algn="l"/>
                      <a:r>
                        <a:rPr sz="800" b="1">
                          <a:solidFill>
                            <a:srgbClr val="A86F00"/>
                          </a:solidFill>
                          <a:latin typeface="Calibri"/>
                        </a:rPr>
                        <a:t>▶ 9.2%</a:t>
                      </a:r>
                    </a:p>
                  </a:txBody>
                  <a:tcPr marL="85725" marR="38100" marT="19050" marB="19050" anchor="ctr">
                    <a:solidFill>
                      <a:srgbClr val="F5F8FA"/>
                    </a:solidFill>
                  </a:tcPr>
                </a:tc>
                <a:tc>
                  <a:txBody>
                    <a:bodyPr wrap="none"/>
                    <a:lstStyle/>
                    <a:p>
                      <a:pPr algn="l"/>
                      <a:r>
                        <a:rPr sz="800" b="1">
                          <a:solidFill>
                            <a:srgbClr val="A86F00"/>
                          </a:solidFill>
                          <a:latin typeface="Calibri"/>
                        </a:rPr>
                        <a:t>▶ 8.6%</a:t>
                      </a:r>
                    </a:p>
                  </a:txBody>
                  <a:tcPr marL="85725" marR="38100" marT="19050" marB="19050" anchor="ctr">
                    <a:solidFill>
                      <a:srgbClr val="F5F8FA"/>
                    </a:solidFill>
                  </a:tcPr>
                </a:tc>
                <a:tc>
                  <a:txBody>
                    <a:bodyPr wrap="none"/>
                    <a:lstStyle/>
                    <a:p>
                      <a:pPr algn="l"/>
                      <a:r>
                        <a:rPr sz="800" b="1">
                          <a:solidFill>
                            <a:srgbClr val="A86F00"/>
                          </a:solidFill>
                          <a:latin typeface="Calibri"/>
                        </a:rPr>
                        <a:t>▶ 8.0%</a:t>
                      </a:r>
                    </a:p>
                  </a:txBody>
                  <a:tcPr marL="85725" marR="38100" marT="19050" marB="19050" anchor="ctr">
                    <a:solidFill>
                      <a:srgbClr val="F5F8FA"/>
                    </a:solidFill>
                  </a:tcPr>
                </a:tc>
                <a:tc>
                  <a:txBody>
                    <a:bodyPr wrap="none"/>
                    <a:lstStyle/>
                    <a:p>
                      <a:pPr algn="l"/>
                      <a:r>
                        <a:rPr sz="800" b="1">
                          <a:solidFill>
                            <a:srgbClr val="A86F00"/>
                          </a:solidFill>
                          <a:latin typeface="Calibri"/>
                        </a:rPr>
                        <a:t>▶ 7.6%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800" b="1">
                          <a:solidFill>
                            <a:srgbClr val="2E7D32"/>
                          </a:solidFill>
                          <a:latin typeface="Calibri"/>
                        </a:rPr>
                        <a:t>▲ 18.6%</a:t>
                      </a:r>
                    </a:p>
                  </a:txBody>
                  <a:tcPr marL="85725" marR="38100" marT="19050" marB="19050" anchor="ctr">
                    <a:solidFill>
                      <a:srgbClr val="FFFFFF"/>
                    </a:solidFill>
                  </a:tcPr>
                </a:tc>
                <a:tc>
                  <a:txBody>
                    <a:bodyPr wrap="none"/>
                    <a:lstStyle/>
                    <a:p>
                      <a:pPr algn="l"/>
                      <a:r>
                        <a:rPr sz="800" b="1">
                          <a:solidFill>
                            <a:srgbClr val="2E7D32"/>
                          </a:solidFill>
                          <a:latin typeface="Calibri"/>
                        </a:rPr>
                        <a:t>▲ 25.8%</a:t>
                      </a:r>
                    </a:p>
                  </a:txBody>
                  <a:tcPr marL="85725" marR="38100" marT="19050" marB="19050" anchor="ctr">
                    <a:solidFill>
                      <a:srgbClr val="FFFFFF"/>
                    </a:solidFill>
                  </a:tcPr>
                </a:tc>
                <a:tc>
                  <a:txBody>
                    <a:bodyPr wrap="none"/>
                    <a:lstStyle/>
                    <a:p>
                      <a:pPr algn="l"/>
                      <a:r>
                        <a:rPr sz="800" b="1">
                          <a:solidFill>
                            <a:srgbClr val="2E7D32"/>
                          </a:solidFill>
                          <a:latin typeface="Calibri"/>
                        </a:rPr>
                        <a:t>▲ 29.7%</a:t>
                      </a:r>
                    </a:p>
                  </a:txBody>
                  <a:tcPr marL="85725" marR="38100" marT="19050" marB="19050" anchor="ctr">
                    <a:solidFill>
                      <a:srgbClr val="FFFFFF"/>
                    </a:solidFill>
                  </a:tcPr>
                </a:tc>
                <a:tc>
                  <a:txBody>
                    <a:bodyPr wrap="none"/>
                    <a:lstStyle/>
                    <a:p>
                      <a:pPr algn="l"/>
                      <a:r>
                        <a:rPr sz="800" b="1">
                          <a:solidFill>
                            <a:srgbClr val="2E7D32"/>
                          </a:solidFill>
                          <a:latin typeface="Calibri"/>
                        </a:rPr>
                        <a:t>▲ 26.9%</a:t>
                      </a:r>
                    </a:p>
                  </a:txBody>
                  <a:tcPr marL="85725" marR="38100" marT="19050" marB="19050" anchor="ctr">
                    <a:solidFill>
                      <a:srgbClr val="FFFFFF"/>
                    </a:solidFill>
                  </a:tcPr>
                </a:tc>
                <a:tc>
                  <a:txBody>
                    <a:bodyPr wrap="none"/>
                    <a:lstStyle/>
                    <a:p>
                      <a:pPr algn="l"/>
                      <a:r>
                        <a:rPr sz="800" b="1">
                          <a:solidFill>
                            <a:srgbClr val="2E7D32"/>
                          </a:solidFill>
                          <a:latin typeface="Calibri"/>
                        </a:rPr>
                        <a:t>▲ 23.1%</a:t>
                      </a:r>
                    </a:p>
                  </a:txBody>
                  <a:tcPr marL="85725" marR="38100" marT="19050" marB="19050" anchor="ctr">
                    <a:solidFill>
                      <a:srgbClr val="FFFFFF"/>
                    </a:solidFill>
                  </a:tcPr>
                </a:tc>
                <a:tc>
                  <a:txBody>
                    <a:bodyPr wrap="none"/>
                    <a:lstStyle/>
                    <a:p>
                      <a:pPr algn="l"/>
                      <a:r>
                        <a:rPr sz="800" b="1">
                          <a:solidFill>
                            <a:srgbClr val="2E7D32"/>
                          </a:solidFill>
                          <a:latin typeface="Calibri"/>
                        </a:rPr>
                        <a:t>▲ 20.8%</a:t>
                      </a:r>
                    </a:p>
                  </a:txBody>
                  <a:tcPr marL="85725" marR="38100" marT="19050" marB="19050" anchor="ctr">
                    <a:solidFill>
                      <a:srgbClr val="FFFFFF"/>
                    </a:solidFill>
                  </a:tcPr>
                </a:tc>
                <a:tc>
                  <a:txBody>
                    <a:bodyPr wrap="none"/>
                    <a:lstStyle/>
                    <a:p>
                      <a:pPr algn="l"/>
                      <a:r>
                        <a:rPr sz="800" b="1">
                          <a:solidFill>
                            <a:srgbClr val="2E7D32"/>
                          </a:solidFill>
                          <a:latin typeface="Calibri"/>
                        </a:rPr>
                        <a:t>▲ 18.3%</a:t>
                      </a:r>
                    </a:p>
                  </a:txBody>
                  <a:tcPr marL="85725" marR="38100" marT="19050" marB="19050" anchor="ctr">
                    <a:solidFill>
                      <a:srgbClr val="FFFFFF"/>
                    </a:solidFill>
                  </a:tcPr>
                </a:tc>
                <a:tc>
                  <a:txBody>
                    <a:bodyPr wrap="none"/>
                    <a:lstStyle/>
                    <a:p>
                      <a:pPr algn="l"/>
                      <a:r>
                        <a:rPr sz="800" b="1">
                          <a:solidFill>
                            <a:srgbClr val="2E7D32"/>
                          </a:solidFill>
                          <a:latin typeface="Calibri"/>
                        </a:rPr>
                        <a:t>▲ 16.6%</a:t>
                      </a:r>
                    </a:p>
                  </a:txBody>
                  <a:tcPr marL="85725" marR="38100" marT="19050" marB="19050" anchor="ctr">
                    <a:solidFill>
                      <a:srgbClr val="FFFFFF"/>
                    </a:solidFill>
                  </a:tcPr>
                </a:tc>
                <a:tc>
                  <a:txBody>
                    <a:bodyPr wrap="none"/>
                    <a:lstStyle/>
                    <a:p>
                      <a:pPr algn="l"/>
                      <a:r>
                        <a:rPr sz="800" b="1">
                          <a:solidFill>
                            <a:srgbClr val="2E7D32"/>
                          </a:solidFill>
                          <a:latin typeface="Calibri"/>
                        </a:rPr>
                        <a:t>▲ 15.2%</a:t>
                      </a:r>
                    </a:p>
                  </a:txBody>
                  <a:tcPr marL="85725" marR="38100" marT="19050" marB="19050" anchor="ctr">
                    <a:solidFill>
                      <a:srgbClr val="FFFFFF"/>
                    </a:solidFill>
                  </a:tcPr>
                </a:tc>
                <a:tc>
                  <a:txBody>
                    <a:bodyPr wrap="none"/>
                    <a:lstStyle/>
                    <a:p>
                      <a:pPr algn="l"/>
                      <a:r>
                        <a:rPr sz="800" b="1">
                          <a:solidFill>
                            <a:srgbClr val="2E7D32"/>
                          </a:solidFill>
                          <a:latin typeface="Calibri"/>
                        </a:rPr>
                        <a:t>▲ 14.0%</a:t>
                      </a:r>
                    </a:p>
                  </a:txBody>
                  <a:tcPr marL="85725" marR="38100" marT="19050" marB="19050" anchor="ctr">
                    <a:solidFill>
                      <a:srgbClr val="FFFFFF"/>
                    </a:solidFill>
                  </a:tcPr>
                </a:tc>
                <a:tc>
                  <a:txBody>
                    <a:bodyPr wrap="none"/>
                    <a:lstStyle/>
                    <a:p>
                      <a:pPr algn="l"/>
                      <a:r>
                        <a:rPr sz="800" b="1">
                          <a:solidFill>
                            <a:srgbClr val="2E7D32"/>
                          </a:solidFill>
                          <a:latin typeface="Calibri"/>
                        </a:rPr>
                        <a:t>▲ 13.0%</a:t>
                      </a:r>
                    </a:p>
                  </a:txBody>
                  <a:tcPr marL="85725" marR="38100" marT="19050" marB="19050" anchor="ctr">
                    <a:solidFill>
                      <a:srgbClr val="FFFFFF"/>
                    </a:solidFill>
                  </a:tcPr>
                </a:tc>
                <a:tc>
                  <a:txBody>
                    <a:bodyPr wrap="none"/>
                    <a:lstStyle/>
                    <a:p>
                      <a:pPr algn="l"/>
                      <a:r>
                        <a:rPr sz="800" b="1">
                          <a:solidFill>
                            <a:srgbClr val="2E7D32"/>
                          </a:solidFill>
                          <a:latin typeface="Calibri"/>
                        </a:rPr>
                        <a:t>▲ 12.1%</a:t>
                      </a:r>
                    </a:p>
                  </a:txBody>
                  <a:tcPr marL="85725" marR="38100" marT="19050" marB="19050" anchor="ctr">
                    <a:solidFill>
                      <a:srgbClr val="FFFFFF"/>
                    </a:solidFill>
                  </a:tcPr>
                </a:tc>
                <a:tc>
                  <a:txBody>
                    <a:bodyPr wrap="none"/>
                    <a:lstStyle/>
                    <a:p>
                      <a:pPr algn="l"/>
                      <a:r>
                        <a:rPr sz="800" b="1">
                          <a:solidFill>
                            <a:srgbClr val="2E7D32"/>
                          </a:solidFill>
                          <a:latin typeface="Calibri"/>
                        </a:rPr>
                        <a:t>▲ 11.4%</a:t>
                      </a:r>
                    </a:p>
                  </a:txBody>
                  <a:tcPr marL="85725" marR="38100" marT="19050" marB="19050" anchor="ctr">
                    <a:solidFill>
                      <a:srgbClr val="FFFFFF"/>
                    </a:solidFill>
                  </a:tcPr>
                </a:tc>
                <a:tc>
                  <a:txBody>
                    <a:bodyPr wrap="none"/>
                    <a:lstStyle/>
                    <a:p>
                      <a:pPr algn="l"/>
                      <a:r>
                        <a:rPr sz="800" b="1">
                          <a:solidFill>
                            <a:srgbClr val="2E7D32"/>
                          </a:solidFill>
                          <a:latin typeface="Calibri"/>
                        </a:rPr>
                        <a:t>▲ 10.9%</a:t>
                      </a:r>
                    </a:p>
                  </a:txBody>
                  <a:tcPr marL="85725" marR="38100" marT="19050" marB="19050" anchor="ctr">
                    <a:solidFill>
                      <a:srgbClr val="FFFFFF"/>
                    </a:solidFill>
                  </a:tcPr>
                </a:tc>
                <a:tc>
                  <a:txBody>
                    <a:bodyPr wrap="none"/>
                    <a:lstStyle/>
                    <a:p>
                      <a:pPr algn="l"/>
                      <a:r>
                        <a:rPr sz="800" b="1">
                          <a:solidFill>
                            <a:srgbClr val="2E7D32"/>
                          </a:solidFill>
                          <a:latin typeface="Calibri"/>
                        </a:rPr>
                        <a:t>▲ 10.4%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Yusimry</a:t>
                      </a:r>
                    </a:p>
                  </a:txBody>
                  <a:tcPr marL="85725" marR="38100" marT="19050" marB="19050" anchor="ctr">
                    <a:solidFill>
                      <a:srgbClr val="F5F8FA"/>
                    </a:solidFill>
                  </a:tcPr>
                </a:tc>
                <a:tc>
                  <a:txBody>
                    <a:bodyPr wrap="none"/>
                    <a:lstStyle/>
                    <a:p>
                      <a:pPr algn="l"/>
                      <a:r>
                        <a:rPr sz="800" b="1">
                          <a:solidFill>
                            <a:srgbClr val="A86F00"/>
                          </a:solidFill>
                          <a:latin typeface="Calibri"/>
                        </a:rPr>
                        <a:t>▶ 14.9%</a:t>
                      </a:r>
                    </a:p>
                  </a:txBody>
                  <a:tcPr marL="85725" marR="38100" marT="19050" marB="19050" anchor="ctr">
                    <a:solidFill>
                      <a:srgbClr val="F5F8FA"/>
                    </a:solidFill>
                  </a:tcPr>
                </a:tc>
                <a:tc>
                  <a:txBody>
                    <a:bodyPr wrap="none"/>
                    <a:lstStyle/>
                    <a:p>
                      <a:pPr algn="l"/>
                      <a:r>
                        <a:rPr sz="800" b="1">
                          <a:solidFill>
                            <a:srgbClr val="A86F00"/>
                          </a:solidFill>
                          <a:latin typeface="Calibri"/>
                        </a:rPr>
                        <a:t>▶ 21.8%</a:t>
                      </a:r>
                    </a:p>
                  </a:txBody>
                  <a:tcPr marL="85725" marR="38100" marT="19050" marB="19050" anchor="ctr">
                    <a:solidFill>
                      <a:srgbClr val="F5F8FA"/>
                    </a:solidFill>
                  </a:tcPr>
                </a:tc>
                <a:tc>
                  <a:txBody>
                    <a:bodyPr wrap="none"/>
                    <a:lstStyle/>
                    <a:p>
                      <a:pPr algn="l"/>
                      <a:r>
                        <a:rPr sz="800" b="1">
                          <a:solidFill>
                            <a:srgbClr val="A86F00"/>
                          </a:solidFill>
                          <a:latin typeface="Calibri"/>
                        </a:rPr>
                        <a:t>▶ 25.7%</a:t>
                      </a:r>
                    </a:p>
                  </a:txBody>
                  <a:tcPr marL="85725" marR="38100" marT="19050" marB="19050" anchor="ctr">
                    <a:solidFill>
                      <a:srgbClr val="F5F8FA"/>
                    </a:solidFill>
                  </a:tcPr>
                </a:tc>
                <a:tc>
                  <a:txBody>
                    <a:bodyPr wrap="none"/>
                    <a:lstStyle/>
                    <a:p>
                      <a:pPr algn="l"/>
                      <a:r>
                        <a:rPr sz="800" b="1">
                          <a:solidFill>
                            <a:srgbClr val="A86F00"/>
                          </a:solidFill>
                          <a:latin typeface="Calibri"/>
                        </a:rPr>
                        <a:t>▶ 23.0%</a:t>
                      </a:r>
                    </a:p>
                  </a:txBody>
                  <a:tcPr marL="85725" marR="38100" marT="19050" marB="19050" anchor="ctr">
                    <a:solidFill>
                      <a:srgbClr val="F5F8FA"/>
                    </a:solidFill>
                  </a:tcPr>
                </a:tc>
                <a:tc>
                  <a:txBody>
                    <a:bodyPr wrap="none"/>
                    <a:lstStyle/>
                    <a:p>
                      <a:pPr algn="l"/>
                      <a:r>
                        <a:rPr sz="800" b="1">
                          <a:solidFill>
                            <a:srgbClr val="A86F00"/>
                          </a:solidFill>
                          <a:latin typeface="Calibri"/>
                        </a:rPr>
                        <a:t>▶ 19.2%</a:t>
                      </a:r>
                    </a:p>
                  </a:txBody>
                  <a:tcPr marL="85725" marR="38100" marT="19050" marB="19050" anchor="ctr">
                    <a:solidFill>
                      <a:srgbClr val="F5F8FA"/>
                    </a:solidFill>
                  </a:tcPr>
                </a:tc>
                <a:tc>
                  <a:txBody>
                    <a:bodyPr wrap="none"/>
                    <a:lstStyle/>
                    <a:p>
                      <a:pPr algn="l"/>
                      <a:r>
                        <a:rPr sz="800" b="1">
                          <a:solidFill>
                            <a:srgbClr val="A86F00"/>
                          </a:solidFill>
                          <a:latin typeface="Calibri"/>
                        </a:rPr>
                        <a:t>▶ 17.0%</a:t>
                      </a:r>
                    </a:p>
                  </a:txBody>
                  <a:tcPr marL="85725" marR="38100" marT="19050" marB="19050" anchor="ctr">
                    <a:solidFill>
                      <a:srgbClr val="F5F8FA"/>
                    </a:solidFill>
                  </a:tcPr>
                </a:tc>
                <a:tc>
                  <a:txBody>
                    <a:bodyPr wrap="none"/>
                    <a:lstStyle/>
                    <a:p>
                      <a:pPr algn="l"/>
                      <a:r>
                        <a:rPr sz="800" b="1">
                          <a:solidFill>
                            <a:srgbClr val="A86F00"/>
                          </a:solidFill>
                          <a:latin typeface="Calibri"/>
                        </a:rPr>
                        <a:t>▶ 14.6%</a:t>
                      </a:r>
                    </a:p>
                  </a:txBody>
                  <a:tcPr marL="85725" marR="38100" marT="19050" marB="19050" anchor="ctr">
                    <a:solidFill>
                      <a:srgbClr val="F5F8FA"/>
                    </a:solidFill>
                  </a:tcPr>
                </a:tc>
                <a:tc>
                  <a:txBody>
                    <a:bodyPr wrap="none"/>
                    <a:lstStyle/>
                    <a:p>
                      <a:pPr algn="l"/>
                      <a:r>
                        <a:rPr sz="800" b="1">
                          <a:solidFill>
                            <a:srgbClr val="A86F00"/>
                          </a:solidFill>
                          <a:latin typeface="Calibri"/>
                        </a:rPr>
                        <a:t>▶ 12.9%</a:t>
                      </a:r>
                    </a:p>
                  </a:txBody>
                  <a:tcPr marL="85725" marR="38100" marT="19050" marB="19050" anchor="ctr">
                    <a:solidFill>
                      <a:srgbClr val="F5F8FA"/>
                    </a:solidFill>
                  </a:tcPr>
                </a:tc>
                <a:tc>
                  <a:txBody>
                    <a:bodyPr wrap="none"/>
                    <a:lstStyle/>
                    <a:p>
                      <a:pPr algn="l"/>
                      <a:r>
                        <a:rPr sz="800" b="1">
                          <a:solidFill>
                            <a:srgbClr val="A86F00"/>
                          </a:solidFill>
                          <a:latin typeface="Calibri"/>
                        </a:rPr>
                        <a:t>▶ 11.6%</a:t>
                      </a:r>
                    </a:p>
                  </a:txBody>
                  <a:tcPr marL="85725" marR="38100" marT="19050" marB="19050" anchor="ctr">
                    <a:solidFill>
                      <a:srgbClr val="F5F8FA"/>
                    </a:solidFill>
                  </a:tcPr>
                </a:tc>
                <a:tc>
                  <a:txBody>
                    <a:bodyPr wrap="none"/>
                    <a:lstStyle/>
                    <a:p>
                      <a:pPr algn="l"/>
                      <a:r>
                        <a:rPr sz="800" b="1">
                          <a:solidFill>
                            <a:srgbClr val="A86F00"/>
                          </a:solidFill>
                          <a:latin typeface="Calibri"/>
                        </a:rPr>
                        <a:t>▶ 10.4%</a:t>
                      </a:r>
                    </a:p>
                  </a:txBody>
                  <a:tcPr marL="85725" marR="38100" marT="19050" marB="19050" anchor="ctr">
                    <a:solidFill>
                      <a:srgbClr val="F5F8FA"/>
                    </a:solidFill>
                  </a:tcPr>
                </a:tc>
                <a:tc>
                  <a:txBody>
                    <a:bodyPr wrap="none"/>
                    <a:lstStyle/>
                    <a:p>
                      <a:pPr algn="l"/>
                      <a:r>
                        <a:rPr sz="800" b="1">
                          <a:solidFill>
                            <a:srgbClr val="A86F00"/>
                          </a:solidFill>
                          <a:latin typeface="Calibri"/>
                        </a:rPr>
                        <a:t>▶ 9.4%</a:t>
                      </a:r>
                    </a:p>
                  </a:txBody>
                  <a:tcPr marL="85725" marR="38100" marT="19050" marB="19050" anchor="ctr">
                    <a:solidFill>
                      <a:srgbClr val="F5F8FA"/>
                    </a:solidFill>
                  </a:tcPr>
                </a:tc>
                <a:tc>
                  <a:txBody>
                    <a:bodyPr wrap="none"/>
                    <a:lstStyle/>
                    <a:p>
                      <a:pPr algn="l"/>
                      <a:r>
                        <a:rPr sz="800" b="1">
                          <a:solidFill>
                            <a:srgbClr val="A86F00"/>
                          </a:solidFill>
                          <a:latin typeface="Calibri"/>
                        </a:rPr>
                        <a:t>▶ 8.6%</a:t>
                      </a:r>
                    </a:p>
                  </a:txBody>
                  <a:tcPr marL="85725" marR="38100" marT="19050" marB="19050" anchor="ctr">
                    <a:solidFill>
                      <a:srgbClr val="F5F8FA"/>
                    </a:solidFill>
                  </a:tcPr>
                </a:tc>
                <a:tc>
                  <a:txBody>
                    <a:bodyPr wrap="none"/>
                    <a:lstStyle/>
                    <a:p>
                      <a:pPr algn="l"/>
                      <a:r>
                        <a:rPr sz="800" b="1">
                          <a:solidFill>
                            <a:srgbClr val="A86F00"/>
                          </a:solidFill>
                          <a:latin typeface="Calibri"/>
                        </a:rPr>
                        <a:t>▶ 7.9%</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Yuflyma</a:t>
                      </a:r>
                    </a:p>
                  </a:txBody>
                  <a:tcPr marL="85725" marR="38100" marT="19050" marB="19050" anchor="ctr">
                    <a:solidFill>
                      <a:srgbClr val="FFFFFF"/>
                    </a:solidFill>
                  </a:tcPr>
                </a:tc>
                <a:tc>
                  <a:txBody>
                    <a:bodyPr wrap="none"/>
                    <a:lstStyle/>
                    <a:p>
                      <a:pPr algn="l"/>
                      <a:r>
                        <a:rPr sz="800" b="1">
                          <a:solidFill>
                            <a:srgbClr val="A86F00"/>
                          </a:solidFill>
                          <a:latin typeface="Calibri"/>
                        </a:rPr>
                        <a:t>▶ 16.1%</a:t>
                      </a:r>
                    </a:p>
                  </a:txBody>
                  <a:tcPr marL="85725" marR="38100" marT="19050" marB="19050" anchor="ctr">
                    <a:solidFill>
                      <a:srgbClr val="FFFFFF"/>
                    </a:solidFill>
                  </a:tcPr>
                </a:tc>
                <a:tc>
                  <a:txBody>
                    <a:bodyPr wrap="none"/>
                    <a:lstStyle/>
                    <a:p>
                      <a:pPr algn="l"/>
                      <a:r>
                        <a:rPr sz="800" b="1">
                          <a:solidFill>
                            <a:srgbClr val="A86F00"/>
                          </a:solidFill>
                          <a:latin typeface="Calibri"/>
                        </a:rPr>
                        <a:t>▶ 23.1%</a:t>
                      </a:r>
                    </a:p>
                  </a:txBody>
                  <a:tcPr marL="85725" marR="38100" marT="19050" marB="19050" anchor="ctr">
                    <a:solidFill>
                      <a:srgbClr val="FFFFFF"/>
                    </a:solidFill>
                  </a:tcPr>
                </a:tc>
                <a:tc>
                  <a:txBody>
                    <a:bodyPr wrap="none"/>
                    <a:lstStyle/>
                    <a:p>
                      <a:pPr algn="l"/>
                      <a:r>
                        <a:rPr sz="800" b="1">
                          <a:solidFill>
                            <a:srgbClr val="A86F00"/>
                          </a:solidFill>
                          <a:latin typeface="Calibri"/>
                        </a:rPr>
                        <a:t>▶ 27.0%</a:t>
                      </a:r>
                    </a:p>
                  </a:txBody>
                  <a:tcPr marL="85725" marR="38100" marT="19050" marB="19050" anchor="ctr">
                    <a:solidFill>
                      <a:srgbClr val="FFFFFF"/>
                    </a:solidFill>
                  </a:tcPr>
                </a:tc>
                <a:tc>
                  <a:txBody>
                    <a:bodyPr wrap="none"/>
                    <a:lstStyle/>
                    <a:p>
                      <a:pPr algn="l"/>
                      <a:r>
                        <a:rPr sz="800" b="1">
                          <a:solidFill>
                            <a:srgbClr val="A86F00"/>
                          </a:solidFill>
                          <a:latin typeface="Calibri"/>
                        </a:rPr>
                        <a:t>▶ 24.3%</a:t>
                      </a:r>
                    </a:p>
                  </a:txBody>
                  <a:tcPr marL="85725" marR="38100" marT="19050" marB="19050" anchor="ctr">
                    <a:solidFill>
                      <a:srgbClr val="FFFFFF"/>
                    </a:solidFill>
                  </a:tcPr>
                </a:tc>
                <a:tc>
                  <a:txBody>
                    <a:bodyPr wrap="none"/>
                    <a:lstStyle/>
                    <a:p>
                      <a:pPr algn="l"/>
                      <a:r>
                        <a:rPr sz="800" b="1">
                          <a:solidFill>
                            <a:srgbClr val="A86F00"/>
                          </a:solidFill>
                          <a:latin typeface="Calibri"/>
                        </a:rPr>
                        <a:t>▶ 20.5%</a:t>
                      </a:r>
                    </a:p>
                  </a:txBody>
                  <a:tcPr marL="85725" marR="38100" marT="19050" marB="19050" anchor="ctr">
                    <a:solidFill>
                      <a:srgbClr val="FFFFFF"/>
                    </a:solidFill>
                  </a:tcPr>
                </a:tc>
                <a:tc>
                  <a:txBody>
                    <a:bodyPr wrap="none"/>
                    <a:lstStyle/>
                    <a:p>
                      <a:pPr algn="l"/>
                      <a:r>
                        <a:rPr sz="800" b="1">
                          <a:solidFill>
                            <a:srgbClr val="A86F00"/>
                          </a:solidFill>
                          <a:latin typeface="Calibri"/>
                        </a:rPr>
                        <a:t>▶ 18.3%</a:t>
                      </a:r>
                    </a:p>
                  </a:txBody>
                  <a:tcPr marL="85725" marR="38100" marT="19050" marB="19050" anchor="ctr">
                    <a:solidFill>
                      <a:srgbClr val="FFFFFF"/>
                    </a:solidFill>
                  </a:tcPr>
                </a:tc>
                <a:tc>
                  <a:txBody>
                    <a:bodyPr wrap="none"/>
                    <a:lstStyle/>
                    <a:p>
                      <a:pPr algn="l"/>
                      <a:r>
                        <a:rPr sz="800" b="1">
                          <a:solidFill>
                            <a:srgbClr val="A86F00"/>
                          </a:solidFill>
                          <a:latin typeface="Calibri"/>
                        </a:rPr>
                        <a:t>▶ 15.8%</a:t>
                      </a:r>
                    </a:p>
                  </a:txBody>
                  <a:tcPr marL="85725" marR="38100" marT="19050" marB="19050" anchor="ctr">
                    <a:solidFill>
                      <a:srgbClr val="FFFFFF"/>
                    </a:solidFill>
                  </a:tcPr>
                </a:tc>
                <a:tc>
                  <a:txBody>
                    <a:bodyPr wrap="none"/>
                    <a:lstStyle/>
                    <a:p>
                      <a:pPr algn="l"/>
                      <a:r>
                        <a:rPr sz="800" b="1">
                          <a:solidFill>
                            <a:srgbClr val="A86F00"/>
                          </a:solidFill>
                          <a:latin typeface="Calibri"/>
                        </a:rPr>
                        <a:t>▶ 14.1%</a:t>
                      </a:r>
                    </a:p>
                  </a:txBody>
                  <a:tcPr marL="85725" marR="38100" marT="19050" marB="19050" anchor="ctr">
                    <a:solidFill>
                      <a:srgbClr val="FFFFFF"/>
                    </a:solidFill>
                  </a:tcPr>
                </a:tc>
                <a:tc>
                  <a:txBody>
                    <a:bodyPr wrap="none"/>
                    <a:lstStyle/>
                    <a:p>
                      <a:pPr algn="l"/>
                      <a:r>
                        <a:rPr sz="800" b="1">
                          <a:solidFill>
                            <a:srgbClr val="A86F00"/>
                          </a:solidFill>
                          <a:latin typeface="Calibri"/>
                        </a:rPr>
                        <a:t>▶ 12.8%</a:t>
                      </a:r>
                    </a:p>
                  </a:txBody>
                  <a:tcPr marL="85725" marR="38100" marT="19050" marB="19050" anchor="ctr">
                    <a:solidFill>
                      <a:srgbClr val="FFFFFF"/>
                    </a:solidFill>
                  </a:tcPr>
                </a:tc>
                <a:tc>
                  <a:txBody>
                    <a:bodyPr wrap="none"/>
                    <a:lstStyle/>
                    <a:p>
                      <a:pPr algn="l"/>
                      <a:r>
                        <a:rPr sz="800" b="1">
                          <a:solidFill>
                            <a:srgbClr val="A86F00"/>
                          </a:solidFill>
                          <a:latin typeface="Calibri"/>
                        </a:rPr>
                        <a:t>▶ 11.6%</a:t>
                      </a:r>
                    </a:p>
                  </a:txBody>
                  <a:tcPr marL="85725" marR="38100" marT="19050" marB="19050" anchor="ctr">
                    <a:solidFill>
                      <a:srgbClr val="FFFFFF"/>
                    </a:solidFill>
                  </a:tcPr>
                </a:tc>
                <a:tc>
                  <a:txBody>
                    <a:bodyPr wrap="none"/>
                    <a:lstStyle/>
                    <a:p>
                      <a:pPr algn="l"/>
                      <a:r>
                        <a:rPr sz="800" b="1">
                          <a:solidFill>
                            <a:srgbClr val="A86F00"/>
                          </a:solidFill>
                          <a:latin typeface="Calibri"/>
                        </a:rPr>
                        <a:t>▶ 10.6%</a:t>
                      </a:r>
                    </a:p>
                  </a:txBody>
                  <a:tcPr marL="85725" marR="38100" marT="19050" marB="19050" anchor="ctr">
                    <a:solidFill>
                      <a:srgbClr val="FFFFFF"/>
                    </a:solidFill>
                  </a:tcPr>
                </a:tc>
                <a:tc>
                  <a:txBody>
                    <a:bodyPr wrap="none"/>
                    <a:lstStyle/>
                    <a:p>
                      <a:pPr algn="l"/>
                      <a:r>
                        <a:rPr sz="800" b="1">
                          <a:solidFill>
                            <a:srgbClr val="A86F00"/>
                          </a:solidFill>
                          <a:latin typeface="Calibri"/>
                        </a:rPr>
                        <a:t>▶ 9.7%</a:t>
                      </a:r>
                    </a:p>
                  </a:txBody>
                  <a:tcPr marL="85725" marR="38100" marT="19050" marB="19050" anchor="ctr">
                    <a:solidFill>
                      <a:srgbClr val="FFFFFF"/>
                    </a:solidFill>
                  </a:tcPr>
                </a:tc>
                <a:tc>
                  <a:txBody>
                    <a:bodyPr wrap="none"/>
                    <a:lstStyle/>
                    <a:p>
                      <a:pPr algn="l"/>
                      <a:r>
                        <a:rPr sz="800" b="1">
                          <a:solidFill>
                            <a:srgbClr val="A86F00"/>
                          </a:solidFill>
                          <a:latin typeface="Calibri"/>
                        </a:rPr>
                        <a:t>▶ 9.1%</a:t>
                      </a:r>
                    </a:p>
                  </a:txBody>
                  <a:tcPr marL="85725" marR="38100" marT="19050" marB="19050" anchor="ctr">
                    <a:solidFill>
                      <a:srgbClr val="FFFFFF"/>
                    </a:solidFill>
                  </a:tcPr>
                </a:tc>
                <a:tc>
                  <a:txBody>
                    <a:bodyPr wrap="none"/>
                    <a:lstStyle/>
                    <a:p>
                      <a:pPr algn="l"/>
                      <a:r>
                        <a:rPr sz="800" b="1">
                          <a:solidFill>
                            <a:srgbClr val="A86F00"/>
                          </a:solidFill>
                          <a:latin typeface="Calibri"/>
                        </a:rPr>
                        <a:t>▶ 8.5%</a:t>
                      </a:r>
                    </a:p>
                  </a:txBody>
                  <a:tcPr marL="85725" marR="38100" marT="19050" marB="19050" anchor="ctr">
                    <a:solidFill>
                      <a:srgbClr val="FFFFFF"/>
                    </a:solidFill>
                  </a:tcPr>
                </a:tc>
                <a:tc>
                  <a:txBody>
                    <a:bodyPr wrap="none"/>
                    <a:lstStyle/>
                    <a:p>
                      <a:pPr algn="l"/>
                      <a:r>
                        <a:rPr sz="800" b="1">
                          <a:solidFill>
                            <a:srgbClr val="A86F00"/>
                          </a:solidFill>
                          <a:latin typeface="Calibri"/>
                        </a:rPr>
                        <a:t>▶ 8.1%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Simlandi</a:t>
                      </a:r>
                    </a:p>
                  </a:txBody>
                  <a:tcPr marL="85725" marR="38100" marT="19050" marB="19050" anchor="ctr">
                    <a:solidFill>
                      <a:srgbClr val="F5F8FA"/>
                    </a:solidFill>
                  </a:tcPr>
                </a:tc>
                <a:tc>
                  <a:txBody>
                    <a:bodyPr wrap="none"/>
                    <a:lstStyle/>
                    <a:p>
                      <a:pPr algn="l"/>
                      <a:r>
                        <a:rPr sz="800" b="1">
                          <a:solidFill>
                            <a:srgbClr val="2E7D32"/>
                          </a:solidFill>
                          <a:latin typeface="Calibri"/>
                        </a:rPr>
                        <a:t>▲ 19.4%</a:t>
                      </a:r>
                    </a:p>
                  </a:txBody>
                  <a:tcPr marL="85725" marR="38100" marT="19050" marB="19050" anchor="ctr">
                    <a:solidFill>
                      <a:srgbClr val="F5F8FA"/>
                    </a:solidFill>
                  </a:tcPr>
                </a:tc>
                <a:tc>
                  <a:txBody>
                    <a:bodyPr wrap="none"/>
                    <a:lstStyle/>
                    <a:p>
                      <a:pPr algn="l"/>
                      <a:r>
                        <a:rPr sz="800" b="1">
                          <a:solidFill>
                            <a:srgbClr val="2E7D32"/>
                          </a:solidFill>
                          <a:latin typeface="Calibri"/>
                        </a:rPr>
                        <a:t>▲ 26.7%</a:t>
                      </a:r>
                    </a:p>
                  </a:txBody>
                  <a:tcPr marL="85725" marR="38100" marT="19050" marB="19050" anchor="ctr">
                    <a:solidFill>
                      <a:srgbClr val="F5F8FA"/>
                    </a:solidFill>
                  </a:tcPr>
                </a:tc>
                <a:tc>
                  <a:txBody>
                    <a:bodyPr wrap="none"/>
                    <a:lstStyle/>
                    <a:p>
                      <a:pPr algn="l"/>
                      <a:r>
                        <a:rPr sz="800" b="1">
                          <a:solidFill>
                            <a:srgbClr val="2E7D32"/>
                          </a:solidFill>
                          <a:latin typeface="Calibri"/>
                        </a:rPr>
                        <a:t>▲ 30.7%</a:t>
                      </a:r>
                    </a:p>
                  </a:txBody>
                  <a:tcPr marL="85725" marR="38100" marT="19050" marB="19050" anchor="ctr">
                    <a:solidFill>
                      <a:srgbClr val="F5F8FA"/>
                    </a:solidFill>
                  </a:tcPr>
                </a:tc>
                <a:tc>
                  <a:txBody>
                    <a:bodyPr wrap="none"/>
                    <a:lstStyle/>
                    <a:p>
                      <a:pPr algn="l"/>
                      <a:r>
                        <a:rPr sz="800" b="1">
                          <a:solidFill>
                            <a:srgbClr val="2E7D32"/>
                          </a:solidFill>
                          <a:latin typeface="Calibri"/>
                        </a:rPr>
                        <a:t>▲ 27.9%</a:t>
                      </a:r>
                    </a:p>
                  </a:txBody>
                  <a:tcPr marL="85725" marR="38100" marT="19050" marB="19050" anchor="ctr">
                    <a:solidFill>
                      <a:srgbClr val="F5F8FA"/>
                    </a:solidFill>
                  </a:tcPr>
                </a:tc>
                <a:tc>
                  <a:txBody>
                    <a:bodyPr wrap="none"/>
                    <a:lstStyle/>
                    <a:p>
                      <a:pPr algn="l"/>
                      <a:r>
                        <a:rPr sz="800" b="1">
                          <a:solidFill>
                            <a:srgbClr val="2E7D32"/>
                          </a:solidFill>
                          <a:latin typeface="Calibri"/>
                        </a:rPr>
                        <a:t>▲ 24.0%</a:t>
                      </a:r>
                    </a:p>
                  </a:txBody>
                  <a:tcPr marL="85725" marR="38100" marT="19050" marB="19050" anchor="ctr">
                    <a:solidFill>
                      <a:srgbClr val="F5F8FA"/>
                    </a:solidFill>
                  </a:tcPr>
                </a:tc>
                <a:tc>
                  <a:txBody>
                    <a:bodyPr wrap="none"/>
                    <a:lstStyle/>
                    <a:p>
                      <a:pPr algn="l"/>
                      <a:r>
                        <a:rPr sz="800" b="1">
                          <a:solidFill>
                            <a:srgbClr val="2E7D32"/>
                          </a:solidFill>
                          <a:latin typeface="Calibri"/>
                        </a:rPr>
                        <a:t>▲ 21.7%</a:t>
                      </a:r>
                    </a:p>
                  </a:txBody>
                  <a:tcPr marL="85725" marR="38100" marT="19050" marB="19050" anchor="ctr">
                    <a:solidFill>
                      <a:srgbClr val="F5F8FA"/>
                    </a:solidFill>
                  </a:tcPr>
                </a:tc>
                <a:tc>
                  <a:txBody>
                    <a:bodyPr wrap="none"/>
                    <a:lstStyle/>
                    <a:p>
                      <a:pPr algn="l"/>
                      <a:r>
                        <a:rPr sz="800" b="1">
                          <a:solidFill>
                            <a:srgbClr val="2E7D32"/>
                          </a:solidFill>
                          <a:latin typeface="Calibri"/>
                        </a:rPr>
                        <a:t>▲ 19.2%</a:t>
                      </a:r>
                    </a:p>
                  </a:txBody>
                  <a:tcPr marL="85725" marR="38100" marT="19050" marB="19050" anchor="ctr">
                    <a:solidFill>
                      <a:srgbClr val="F5F8FA"/>
                    </a:solidFill>
                  </a:tcPr>
                </a:tc>
                <a:tc>
                  <a:txBody>
                    <a:bodyPr wrap="none"/>
                    <a:lstStyle/>
                    <a:p>
                      <a:pPr algn="l"/>
                      <a:r>
                        <a:rPr sz="800" b="1">
                          <a:solidFill>
                            <a:srgbClr val="2E7D32"/>
                          </a:solidFill>
                          <a:latin typeface="Calibri"/>
                        </a:rPr>
                        <a:t>▲ 17.4%</a:t>
                      </a:r>
                    </a:p>
                  </a:txBody>
                  <a:tcPr marL="85725" marR="38100" marT="19050" marB="19050" anchor="ctr">
                    <a:solidFill>
                      <a:srgbClr val="F5F8FA"/>
                    </a:solidFill>
                  </a:tcPr>
                </a:tc>
                <a:tc>
                  <a:txBody>
                    <a:bodyPr wrap="none"/>
                    <a:lstStyle/>
                    <a:p>
                      <a:pPr algn="l"/>
                      <a:r>
                        <a:rPr sz="800" b="1">
                          <a:solidFill>
                            <a:srgbClr val="2E7D32"/>
                          </a:solidFill>
                          <a:latin typeface="Calibri"/>
                        </a:rPr>
                        <a:t>▲ 16.0%</a:t>
                      </a:r>
                    </a:p>
                  </a:txBody>
                  <a:tcPr marL="85725" marR="38100" marT="19050" marB="19050" anchor="ctr">
                    <a:solidFill>
                      <a:srgbClr val="F5F8FA"/>
                    </a:solidFill>
                  </a:tcPr>
                </a:tc>
                <a:tc>
                  <a:txBody>
                    <a:bodyPr wrap="none"/>
                    <a:lstStyle/>
                    <a:p>
                      <a:pPr algn="l"/>
                      <a:r>
                        <a:rPr sz="800" b="1">
                          <a:solidFill>
                            <a:srgbClr val="2E7D32"/>
                          </a:solidFill>
                          <a:latin typeface="Calibri"/>
                        </a:rPr>
                        <a:t>▲ 14.8%</a:t>
                      </a:r>
                    </a:p>
                  </a:txBody>
                  <a:tcPr marL="85725" marR="38100" marT="19050" marB="19050" anchor="ctr">
                    <a:solidFill>
                      <a:srgbClr val="F5F8FA"/>
                    </a:solidFill>
                  </a:tcPr>
                </a:tc>
                <a:tc>
                  <a:txBody>
                    <a:bodyPr wrap="none"/>
                    <a:lstStyle/>
                    <a:p>
                      <a:pPr algn="l"/>
                      <a:r>
                        <a:rPr sz="800" b="1">
                          <a:solidFill>
                            <a:srgbClr val="2E7D32"/>
                          </a:solidFill>
                          <a:latin typeface="Calibri"/>
                        </a:rPr>
                        <a:t>▲ 13.8%</a:t>
                      </a:r>
                    </a:p>
                  </a:txBody>
                  <a:tcPr marL="85725" marR="38100" marT="19050" marB="19050" anchor="ctr">
                    <a:solidFill>
                      <a:srgbClr val="F5F8FA"/>
                    </a:solidFill>
                  </a:tcPr>
                </a:tc>
                <a:tc>
                  <a:txBody>
                    <a:bodyPr wrap="none"/>
                    <a:lstStyle/>
                    <a:p>
                      <a:pPr algn="l"/>
                      <a:r>
                        <a:rPr sz="800" b="1">
                          <a:solidFill>
                            <a:srgbClr val="2E7D32"/>
                          </a:solidFill>
                          <a:latin typeface="Calibri"/>
                        </a:rPr>
                        <a:t>▲ 12.9%</a:t>
                      </a:r>
                    </a:p>
                  </a:txBody>
                  <a:tcPr marL="85725" marR="38100" marT="19050" marB="19050" anchor="ctr">
                    <a:solidFill>
                      <a:srgbClr val="F5F8FA"/>
                    </a:solidFill>
                  </a:tcPr>
                </a:tc>
                <a:tc>
                  <a:txBody>
                    <a:bodyPr wrap="none"/>
                    <a:lstStyle/>
                    <a:p>
                      <a:pPr algn="l"/>
                      <a:r>
                        <a:rPr sz="800" b="1">
                          <a:solidFill>
                            <a:srgbClr val="2E7D32"/>
                          </a:solidFill>
                          <a:latin typeface="Calibri"/>
                        </a:rPr>
                        <a:t>▲ 12.2%</a:t>
                      </a:r>
                    </a:p>
                  </a:txBody>
                  <a:tcPr marL="85725" marR="38100" marT="19050" marB="19050" anchor="ctr">
                    <a:solidFill>
                      <a:srgbClr val="F5F8FA"/>
                    </a:solidFill>
                  </a:tcPr>
                </a:tc>
                <a:tc>
                  <a:txBody>
                    <a:bodyPr wrap="none"/>
                    <a:lstStyle/>
                    <a:p>
                      <a:pPr algn="l"/>
                      <a:r>
                        <a:rPr sz="800" b="1">
                          <a:solidFill>
                            <a:srgbClr val="2E7D32"/>
                          </a:solidFill>
                          <a:latin typeface="Calibri"/>
                        </a:rPr>
                        <a:t>▲ 11.7%</a:t>
                      </a:r>
                    </a:p>
                  </a:txBody>
                  <a:tcPr marL="85725" marR="38100" marT="19050" marB="19050" anchor="ctr">
                    <a:solidFill>
                      <a:srgbClr val="F5F8FA"/>
                    </a:solidFill>
                  </a:tcPr>
                </a:tc>
                <a:tc>
                  <a:txBody>
                    <a:bodyPr wrap="none"/>
                    <a:lstStyle/>
                    <a:p>
                      <a:pPr algn="l"/>
                      <a:r>
                        <a:rPr sz="800" b="1">
                          <a:solidFill>
                            <a:srgbClr val="2E7D32"/>
                          </a:solidFill>
                          <a:latin typeface="Calibri"/>
                        </a:rPr>
                        <a:t>▲ 11.2%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800" b="1">
                          <a:solidFill>
                            <a:srgbClr val="A86F00"/>
                          </a:solidFill>
                          <a:latin typeface="Calibri"/>
                        </a:rPr>
                        <a:t>▶ 16.5%</a:t>
                      </a:r>
                    </a:p>
                  </a:txBody>
                  <a:tcPr marL="85725" marR="38100" marT="19050" marB="19050" anchor="ctr">
                    <a:solidFill>
                      <a:srgbClr val="FFFFFF"/>
                    </a:solidFill>
                  </a:tcPr>
                </a:tc>
                <a:tc>
                  <a:txBody>
                    <a:bodyPr wrap="none"/>
                    <a:lstStyle/>
                    <a:p>
                      <a:pPr algn="l"/>
                      <a:r>
                        <a:rPr sz="800" b="1">
                          <a:solidFill>
                            <a:srgbClr val="A86F00"/>
                          </a:solidFill>
                          <a:latin typeface="Calibri"/>
                        </a:rPr>
                        <a:t>▶ 23.5%</a:t>
                      </a:r>
                    </a:p>
                  </a:txBody>
                  <a:tcPr marL="85725" marR="38100" marT="19050" marB="19050" anchor="ctr">
                    <a:solidFill>
                      <a:srgbClr val="FFFFFF"/>
                    </a:solidFill>
                  </a:tcPr>
                </a:tc>
                <a:tc>
                  <a:txBody>
                    <a:bodyPr wrap="none"/>
                    <a:lstStyle/>
                    <a:p>
                      <a:pPr algn="l"/>
                      <a:r>
                        <a:rPr sz="800" b="1">
                          <a:solidFill>
                            <a:srgbClr val="A86F00"/>
                          </a:solidFill>
                          <a:latin typeface="Calibri"/>
                        </a:rPr>
                        <a:t>▶ 27.4%</a:t>
                      </a:r>
                    </a:p>
                  </a:txBody>
                  <a:tcPr marL="85725" marR="38100" marT="19050" marB="19050" anchor="ctr">
                    <a:solidFill>
                      <a:srgbClr val="FFFFFF"/>
                    </a:solidFill>
                  </a:tcPr>
                </a:tc>
                <a:tc>
                  <a:txBody>
                    <a:bodyPr wrap="none"/>
                    <a:lstStyle/>
                    <a:p>
                      <a:pPr algn="l"/>
                      <a:r>
                        <a:rPr sz="800" b="1">
                          <a:solidFill>
                            <a:srgbClr val="A86F00"/>
                          </a:solidFill>
                          <a:latin typeface="Calibri"/>
                        </a:rPr>
                        <a:t>▶ 24.7%</a:t>
                      </a:r>
                    </a:p>
                  </a:txBody>
                  <a:tcPr marL="85725" marR="38100" marT="19050" marB="19050" anchor="ctr">
                    <a:solidFill>
                      <a:srgbClr val="FFFFFF"/>
                    </a:solidFill>
                  </a:tcPr>
                </a:tc>
                <a:tc>
                  <a:txBody>
                    <a:bodyPr wrap="none"/>
                    <a:lstStyle/>
                    <a:p>
                      <a:pPr algn="l"/>
                      <a:r>
                        <a:rPr sz="800" b="1">
                          <a:solidFill>
                            <a:srgbClr val="A86F00"/>
                          </a:solidFill>
                          <a:latin typeface="Calibri"/>
                        </a:rPr>
                        <a:t>▶ 20.9%</a:t>
                      </a:r>
                    </a:p>
                  </a:txBody>
                  <a:tcPr marL="85725" marR="38100" marT="19050" marB="19050" anchor="ctr">
                    <a:solidFill>
                      <a:srgbClr val="FFFFFF"/>
                    </a:solidFill>
                  </a:tcPr>
                </a:tc>
                <a:tc>
                  <a:txBody>
                    <a:bodyPr wrap="none"/>
                    <a:lstStyle/>
                    <a:p>
                      <a:pPr algn="l"/>
                      <a:r>
                        <a:rPr sz="800" b="1">
                          <a:solidFill>
                            <a:srgbClr val="A86F00"/>
                          </a:solidFill>
                          <a:latin typeface="Calibri"/>
                        </a:rPr>
                        <a:t>▶ 18.6%</a:t>
                      </a:r>
                    </a:p>
                  </a:txBody>
                  <a:tcPr marL="85725" marR="38100" marT="19050" marB="19050" anchor="ctr">
                    <a:solidFill>
                      <a:srgbClr val="FFFFFF"/>
                    </a:solidFill>
                  </a:tcPr>
                </a:tc>
                <a:tc>
                  <a:txBody>
                    <a:bodyPr wrap="none"/>
                    <a:lstStyle/>
                    <a:p>
                      <a:pPr algn="l"/>
                      <a:r>
                        <a:rPr sz="800" b="1">
                          <a:solidFill>
                            <a:srgbClr val="A86F00"/>
                          </a:solidFill>
                          <a:latin typeface="Calibri"/>
                        </a:rPr>
                        <a:t>▶ 16.2%</a:t>
                      </a:r>
                    </a:p>
                  </a:txBody>
                  <a:tcPr marL="85725" marR="38100" marT="19050" marB="19050" anchor="ctr">
                    <a:solidFill>
                      <a:srgbClr val="FFFFFF"/>
                    </a:solidFill>
                  </a:tcPr>
                </a:tc>
                <a:tc>
                  <a:txBody>
                    <a:bodyPr wrap="none"/>
                    <a:lstStyle/>
                    <a:p>
                      <a:pPr algn="l"/>
                      <a:r>
                        <a:rPr sz="800" b="1">
                          <a:solidFill>
                            <a:srgbClr val="A86F00"/>
                          </a:solidFill>
                          <a:latin typeface="Calibri"/>
                        </a:rPr>
                        <a:t>▶ 14.5%</a:t>
                      </a:r>
                    </a:p>
                  </a:txBody>
                  <a:tcPr marL="85725" marR="38100" marT="19050" marB="19050" anchor="ctr">
                    <a:solidFill>
                      <a:srgbClr val="FFFFFF"/>
                    </a:solidFill>
                  </a:tcPr>
                </a:tc>
                <a:tc>
                  <a:txBody>
                    <a:bodyPr wrap="none"/>
                    <a:lstStyle/>
                    <a:p>
                      <a:pPr algn="l"/>
                      <a:r>
                        <a:rPr sz="800" b="1">
                          <a:solidFill>
                            <a:srgbClr val="A86F00"/>
                          </a:solidFill>
                          <a:latin typeface="Calibri"/>
                        </a:rPr>
                        <a:t>▶ 13.1%</a:t>
                      </a:r>
                    </a:p>
                  </a:txBody>
                  <a:tcPr marL="85725" marR="38100" marT="19050" marB="19050" anchor="ctr">
                    <a:solidFill>
                      <a:srgbClr val="FFFFFF"/>
                    </a:solidFill>
                  </a:tcPr>
                </a:tc>
                <a:tc>
                  <a:txBody>
                    <a:bodyPr wrap="none"/>
                    <a:lstStyle/>
                    <a:p>
                      <a:pPr algn="l"/>
                      <a:r>
                        <a:rPr sz="800" b="1">
                          <a:solidFill>
                            <a:srgbClr val="A86F00"/>
                          </a:solidFill>
                          <a:latin typeface="Calibri"/>
                        </a:rPr>
                        <a:t>▶ 11.9%</a:t>
                      </a:r>
                    </a:p>
                  </a:txBody>
                  <a:tcPr marL="85725" marR="38100" marT="19050" marB="19050" anchor="ctr">
                    <a:solidFill>
                      <a:srgbClr val="FFFFFF"/>
                    </a:solidFill>
                  </a:tcPr>
                </a:tc>
                <a:tc>
                  <a:txBody>
                    <a:bodyPr wrap="none"/>
                    <a:lstStyle/>
                    <a:p>
                      <a:pPr algn="l"/>
                      <a:r>
                        <a:rPr sz="800" b="1">
                          <a:solidFill>
                            <a:srgbClr val="A86F00"/>
                          </a:solidFill>
                          <a:latin typeface="Calibri"/>
                        </a:rPr>
                        <a:t>▶ 11.0%</a:t>
                      </a:r>
                    </a:p>
                  </a:txBody>
                  <a:tcPr marL="85725" marR="38100" marT="19050" marB="19050" anchor="ctr">
                    <a:solidFill>
                      <a:srgbClr val="FFFFFF"/>
                    </a:solidFill>
                  </a:tcPr>
                </a:tc>
                <a:tc>
                  <a:txBody>
                    <a:bodyPr wrap="none"/>
                    <a:lstStyle/>
                    <a:p>
                      <a:pPr algn="l"/>
                      <a:r>
                        <a:rPr sz="800" b="1">
                          <a:solidFill>
                            <a:srgbClr val="A86F00"/>
                          </a:solidFill>
                          <a:latin typeface="Calibri"/>
                        </a:rPr>
                        <a:t>▶ 10.1%</a:t>
                      </a:r>
                    </a:p>
                  </a:txBody>
                  <a:tcPr marL="85725" marR="38100" marT="19050" marB="19050" anchor="ctr">
                    <a:solidFill>
                      <a:srgbClr val="FFFFFF"/>
                    </a:solidFill>
                  </a:tcPr>
                </a:tc>
                <a:tc>
                  <a:txBody>
                    <a:bodyPr wrap="none"/>
                    <a:lstStyle/>
                    <a:p>
                      <a:pPr algn="l"/>
                      <a:r>
                        <a:rPr sz="800" b="1">
                          <a:solidFill>
                            <a:srgbClr val="A86F00"/>
                          </a:solidFill>
                          <a:latin typeface="Calibri"/>
                        </a:rPr>
                        <a:t>▶ 9.4%</a:t>
                      </a:r>
                    </a:p>
                  </a:txBody>
                  <a:tcPr marL="85725" marR="38100" marT="19050" marB="19050" anchor="ctr">
                    <a:solidFill>
                      <a:srgbClr val="FFFFFF"/>
                    </a:solidFill>
                  </a:tcPr>
                </a:tc>
                <a:tc>
                  <a:txBody>
                    <a:bodyPr wrap="none"/>
                    <a:lstStyle/>
                    <a:p>
                      <a:pPr algn="l"/>
                      <a:r>
                        <a:rPr sz="800" b="1">
                          <a:solidFill>
                            <a:srgbClr val="A86F00"/>
                          </a:solidFill>
                          <a:latin typeface="Calibri"/>
                        </a:rPr>
                        <a:t>▶ 8.9%</a:t>
                      </a:r>
                    </a:p>
                  </a:txBody>
                  <a:tcPr marL="85725" marR="38100" marT="19050" marB="19050" anchor="ctr">
                    <a:solidFill>
                      <a:srgbClr val="FFFFFF"/>
                    </a:solidFill>
                  </a:tcPr>
                </a:tc>
                <a:tc>
                  <a:txBody>
                    <a:bodyPr wrap="none"/>
                    <a:lstStyle/>
                    <a:p>
                      <a:pPr algn="l"/>
                      <a:r>
                        <a:rPr sz="800" b="1">
                          <a:solidFill>
                            <a:srgbClr val="A86F00"/>
                          </a:solidFill>
                          <a:latin typeface="Calibri"/>
                        </a:rPr>
                        <a:t>▶ 8.4%</a:t>
                      </a:r>
                    </a:p>
                  </a:txBody>
                  <a:tcPr marL="85725" marR="38100" marT="19050" marB="19050" anchor="ctr">
                    <a:solidFill>
                      <a:srgbClr val="FFFFFF"/>
                    </a:solidFill>
                  </a:tcPr>
                </a:tc>
              </a:tr>
            </a:tbl>
          </a:graphicData>
        </a:graphic>
      </p:graphicFrame>
      <p:sp>
        <p:nvSpPr>
          <p:cNvPr id="14" name="TextBox 13"/>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ectangle 1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7" name="Rounded Rectangle 1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9" name="Rounded Rectangle 1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Volume, By Product Type (%)   ·   (continued 2/2)</a:t>
            </a:r>
          </a:p>
        </p:txBody>
      </p:sp>
      <p:sp>
        <p:nvSpPr>
          <p:cNvPr id="10" name="Rounded Rectangle 9"/>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YoY Heatmap, By Product Type (%)  ·  light = lower, dark = higher growth</a:t>
            </a:r>
          </a:p>
        </p:txBody>
      </p:sp>
      <p:sp>
        <p:nvSpPr>
          <p:cNvPr id="12" name="TextBox 11"/>
          <p:cNvSpPr txBox="1"/>
          <p:nvPr/>
        </p:nvSpPr>
        <p:spPr>
          <a:xfrm>
            <a:off x="185737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3" name="TextBox 12"/>
          <p:cNvSpPr txBox="1"/>
          <p:nvPr/>
        </p:nvSpPr>
        <p:spPr>
          <a:xfrm>
            <a:off x="250126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14" name="TextBox 13"/>
          <p:cNvSpPr txBox="1"/>
          <p:nvPr/>
        </p:nvSpPr>
        <p:spPr>
          <a:xfrm>
            <a:off x="314515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15" name="TextBox 14"/>
          <p:cNvSpPr txBox="1"/>
          <p:nvPr/>
        </p:nvSpPr>
        <p:spPr>
          <a:xfrm>
            <a:off x="378904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16" name="TextBox 15"/>
          <p:cNvSpPr txBox="1"/>
          <p:nvPr/>
        </p:nvSpPr>
        <p:spPr>
          <a:xfrm>
            <a:off x="443293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17" name="TextBox 16"/>
          <p:cNvSpPr txBox="1"/>
          <p:nvPr/>
        </p:nvSpPr>
        <p:spPr>
          <a:xfrm>
            <a:off x="507682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18" name="TextBox 17"/>
          <p:cNvSpPr txBox="1"/>
          <p:nvPr/>
        </p:nvSpPr>
        <p:spPr>
          <a:xfrm>
            <a:off x="572071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19" name="TextBox 18"/>
          <p:cNvSpPr txBox="1"/>
          <p:nvPr/>
        </p:nvSpPr>
        <p:spPr>
          <a:xfrm>
            <a:off x="636460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0" name="TextBox 19"/>
          <p:cNvSpPr txBox="1"/>
          <p:nvPr/>
        </p:nvSpPr>
        <p:spPr>
          <a:xfrm>
            <a:off x="700849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1" name="TextBox 20"/>
          <p:cNvSpPr txBox="1"/>
          <p:nvPr/>
        </p:nvSpPr>
        <p:spPr>
          <a:xfrm>
            <a:off x="765238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2" name="TextBox 21"/>
          <p:cNvSpPr txBox="1"/>
          <p:nvPr/>
        </p:nvSpPr>
        <p:spPr>
          <a:xfrm>
            <a:off x="829627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3" name="TextBox 22"/>
          <p:cNvSpPr txBox="1"/>
          <p:nvPr/>
        </p:nvSpPr>
        <p:spPr>
          <a:xfrm>
            <a:off x="894016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24" name="TextBox 23"/>
          <p:cNvSpPr txBox="1"/>
          <p:nvPr/>
        </p:nvSpPr>
        <p:spPr>
          <a:xfrm>
            <a:off x="958405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25" name="TextBox 24"/>
          <p:cNvSpPr txBox="1"/>
          <p:nvPr/>
        </p:nvSpPr>
        <p:spPr>
          <a:xfrm>
            <a:off x="1022794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26" name="TextBox 25"/>
          <p:cNvSpPr txBox="1"/>
          <p:nvPr/>
        </p:nvSpPr>
        <p:spPr>
          <a:xfrm>
            <a:off x="1087183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27" name="TextBox 26"/>
          <p:cNvSpPr txBox="1"/>
          <p:nvPr/>
        </p:nvSpPr>
        <p:spPr>
          <a:xfrm>
            <a:off x="238125" y="1285875"/>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Amjevita / Amgevita</a:t>
            </a:r>
          </a:p>
        </p:txBody>
      </p:sp>
      <p:sp>
        <p:nvSpPr>
          <p:cNvPr id="28" name="Rectangle 27"/>
          <p:cNvSpPr/>
          <p:nvPr/>
        </p:nvSpPr>
        <p:spPr>
          <a:xfrm>
            <a:off x="1857375" y="1285875"/>
            <a:ext cx="643890" cy="489239"/>
          </a:xfrm>
          <a:prstGeom prst="rect">
            <a:avLst/>
          </a:prstGeom>
          <a:solidFill>
            <a:srgbClr val="91BC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01265" y="1285875"/>
            <a:ext cx="643890" cy="489239"/>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45155" y="1285875"/>
            <a:ext cx="643890" cy="489239"/>
          </a:xfrm>
          <a:prstGeom prst="rect">
            <a:avLst/>
          </a:prstGeom>
          <a:solidFill>
            <a:srgbClr val="0C3A5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89045" y="1285875"/>
            <a:ext cx="643890" cy="489239"/>
          </a:xfrm>
          <a:prstGeom prst="rect">
            <a:avLst/>
          </a:prstGeom>
          <a:solidFill>
            <a:srgbClr val="0E72A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2935" y="1285875"/>
            <a:ext cx="643890" cy="489239"/>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6825" y="1285875"/>
            <a:ext cx="643890" cy="489239"/>
          </a:xfrm>
          <a:prstGeom prst="rect">
            <a:avLst/>
          </a:prstGeom>
          <a:solidFill>
            <a:srgbClr val="68A6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20715" y="1285875"/>
            <a:ext cx="643890" cy="489239"/>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64605" y="1285875"/>
            <a:ext cx="643890" cy="489239"/>
          </a:xfrm>
          <a:prstGeom prst="rect">
            <a:avLst/>
          </a:prstGeom>
          <a:solidFill>
            <a:srgbClr val="AA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08495" y="1285875"/>
            <a:ext cx="643890" cy="489239"/>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652385" y="1285875"/>
            <a:ext cx="643890" cy="489239"/>
          </a:xfrm>
          <a:prstGeom prst="rect">
            <a:avLst/>
          </a:prstGeom>
          <a:solidFill>
            <a:srgbClr val="CA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96275" y="1285875"/>
            <a:ext cx="643890" cy="489239"/>
          </a:xfrm>
          <a:prstGeom prst="rect">
            <a:avLst/>
          </a:prstGeom>
          <a:solidFill>
            <a:srgbClr val="D2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40165" y="1285875"/>
            <a:ext cx="643890" cy="489239"/>
          </a:xfrm>
          <a:prstGeom prst="rect">
            <a:avLst/>
          </a:prstGeom>
          <a:solidFill>
            <a:srgbClr val="D8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84055" y="1285875"/>
            <a:ext cx="643890" cy="489239"/>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227945" y="1285875"/>
            <a:ext cx="643890" cy="489239"/>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871835" y="1285875"/>
            <a:ext cx="643890" cy="489239"/>
          </a:xfrm>
          <a:prstGeom prst="rect">
            <a:avLst/>
          </a:prstGeom>
          <a:solidFill>
            <a:srgbClr val="E4F1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8125" y="1775114"/>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Cyltezo</a:t>
            </a:r>
          </a:p>
        </p:txBody>
      </p:sp>
      <p:sp>
        <p:nvSpPr>
          <p:cNvPr id="44" name="Rectangle 43"/>
          <p:cNvSpPr/>
          <p:nvPr/>
        </p:nvSpPr>
        <p:spPr>
          <a:xfrm>
            <a:off x="1857375" y="1775114"/>
            <a:ext cx="643890" cy="489239"/>
          </a:xfrm>
          <a:prstGeom prst="rect">
            <a:avLst/>
          </a:prstGeom>
          <a:solidFill>
            <a:srgbClr val="8DBA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501265" y="1775114"/>
            <a:ext cx="643890" cy="489239"/>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145155" y="1775114"/>
            <a:ext cx="643890" cy="489239"/>
          </a:xfrm>
          <a:prstGeom prst="rect">
            <a:avLst/>
          </a:prstGeom>
          <a:solidFill>
            <a:srgbClr val="0B355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789045" y="1775114"/>
            <a:ext cx="643890" cy="489239"/>
          </a:xfrm>
          <a:prstGeom prst="rect">
            <a:avLst/>
          </a:prstGeom>
          <a:solidFill>
            <a:srgbClr val="0E6DA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432935" y="1775114"/>
            <a:ext cx="643890" cy="489239"/>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76825" y="1775114"/>
            <a:ext cx="643890" cy="489239"/>
          </a:xfrm>
          <a:prstGeom prst="rect">
            <a:avLst/>
          </a:prstGeom>
          <a:solidFill>
            <a:srgbClr val="64A4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720715" y="1775114"/>
            <a:ext cx="643890" cy="489239"/>
          </a:xfrm>
          <a:prstGeom prst="rect">
            <a:avLst/>
          </a:prstGeom>
          <a:solidFill>
            <a:srgbClr val="91BC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64605" y="1775114"/>
            <a:ext cx="643890" cy="489239"/>
          </a:xfrm>
          <a:prstGeom prst="rect">
            <a:avLst/>
          </a:prstGeom>
          <a:solidFill>
            <a:srgbClr val="A7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08495" y="1775114"/>
            <a:ext cx="643890" cy="489239"/>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652385" y="1775114"/>
            <a:ext cx="643890" cy="489239"/>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96275" y="1775114"/>
            <a:ext cx="643890" cy="489239"/>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40165" y="1775114"/>
            <a:ext cx="643890" cy="489239"/>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584055" y="1775114"/>
            <a:ext cx="643890" cy="489239"/>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227945" y="1775114"/>
            <a:ext cx="643890" cy="489239"/>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871835" y="1775114"/>
            <a:ext cx="643890" cy="489239"/>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8125" y="2264352"/>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Hadlima / Imraldi</a:t>
            </a:r>
          </a:p>
        </p:txBody>
      </p:sp>
      <p:sp>
        <p:nvSpPr>
          <p:cNvPr id="60" name="Rectangle 59"/>
          <p:cNvSpPr/>
          <p:nvPr/>
        </p:nvSpPr>
        <p:spPr>
          <a:xfrm>
            <a:off x="1857375" y="2264352"/>
            <a:ext cx="643890" cy="489239"/>
          </a:xfrm>
          <a:prstGeom prst="rect">
            <a:avLst/>
          </a:prstGeom>
          <a:solidFill>
            <a:srgbClr val="8F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501265" y="2264352"/>
            <a:ext cx="643890" cy="489239"/>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145155" y="2264352"/>
            <a:ext cx="643890" cy="489239"/>
          </a:xfrm>
          <a:prstGeom prst="rect">
            <a:avLst/>
          </a:prstGeom>
          <a:solidFill>
            <a:srgbClr val="0B375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789045" y="2264352"/>
            <a:ext cx="643890" cy="489239"/>
          </a:xfrm>
          <a:prstGeom prst="rect">
            <a:avLst/>
          </a:prstGeom>
          <a:solidFill>
            <a:srgbClr val="0E70A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432935" y="2264352"/>
            <a:ext cx="643890" cy="489239"/>
          </a:xfrm>
          <a:prstGeom prst="rect">
            <a:avLst/>
          </a:prstGeom>
          <a:solidFill>
            <a:srgbClr val="3D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76825" y="2264352"/>
            <a:ext cx="643890" cy="489239"/>
          </a:xfrm>
          <a:prstGeom prst="rect">
            <a:avLst/>
          </a:prstGeom>
          <a:solidFill>
            <a:srgbClr val="66A5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720715" y="2264352"/>
            <a:ext cx="643890" cy="489239"/>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64605" y="2264352"/>
            <a:ext cx="643890" cy="489239"/>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008495" y="2264352"/>
            <a:ext cx="643890" cy="489239"/>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652385" y="2264352"/>
            <a:ext cx="643890" cy="489239"/>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296275" y="2264352"/>
            <a:ext cx="643890" cy="489239"/>
          </a:xfrm>
          <a:prstGeom prst="rect">
            <a:avLst/>
          </a:prstGeom>
          <a:solidFill>
            <a:srgbClr val="D1E2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940165" y="2264352"/>
            <a:ext cx="643890" cy="489239"/>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584055" y="2264352"/>
            <a:ext cx="643890" cy="489239"/>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227945" y="2264352"/>
            <a:ext cx="643890" cy="489239"/>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871835" y="2264352"/>
            <a:ext cx="643890" cy="489239"/>
          </a:xfrm>
          <a:prstGeom prst="rect">
            <a:avLst/>
          </a:prstGeom>
          <a:solidFill>
            <a:srgbClr val="E3F1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38125" y="2753591"/>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Hyrimoz / Halimatoz / Hefiya</a:t>
            </a:r>
          </a:p>
        </p:txBody>
      </p:sp>
      <p:sp>
        <p:nvSpPr>
          <p:cNvPr id="76" name="Rectangle 75"/>
          <p:cNvSpPr/>
          <p:nvPr/>
        </p:nvSpPr>
        <p:spPr>
          <a:xfrm>
            <a:off x="1857375" y="2753591"/>
            <a:ext cx="643890" cy="489239"/>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501265" y="2753591"/>
            <a:ext cx="643890" cy="489239"/>
          </a:xfrm>
          <a:prstGeom prst="rect">
            <a:avLst/>
          </a:prstGeom>
          <a:solidFill>
            <a:srgbClr val="66A4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145155" y="2753591"/>
            <a:ext cx="643890" cy="489239"/>
          </a:xfrm>
          <a:prstGeom prst="rect">
            <a:avLst/>
          </a:prstGeom>
          <a:solidFill>
            <a:srgbClr val="29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789045" y="2753591"/>
            <a:ext cx="643890" cy="489239"/>
          </a:xfrm>
          <a:prstGeom prst="rect">
            <a:avLst/>
          </a:prstGeom>
          <a:solidFill>
            <a:srgbClr val="50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432935" y="2753591"/>
            <a:ext cx="643890" cy="489239"/>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076825" y="2753591"/>
            <a:ext cx="643890" cy="489239"/>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720715" y="2753591"/>
            <a:ext cx="643890" cy="489239"/>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364605" y="2753591"/>
            <a:ext cx="643890" cy="489239"/>
          </a:xfrm>
          <a:prstGeom prst="rect">
            <a:avLst/>
          </a:prstGeom>
          <a:solidFill>
            <a:srgbClr val="D8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008495" y="2753591"/>
            <a:ext cx="643890" cy="489239"/>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652385" y="2753591"/>
            <a:ext cx="643890" cy="489239"/>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296275" y="2753591"/>
            <a:ext cx="643890" cy="489239"/>
          </a:xfrm>
          <a:prstGeom prst="rect">
            <a:avLst/>
          </a:prstGeom>
          <a:solidFill>
            <a:srgbClr val="F0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940165" y="2753591"/>
            <a:ext cx="643890" cy="489239"/>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584055" y="2753591"/>
            <a:ext cx="643890" cy="489239"/>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227945" y="2753591"/>
            <a:ext cx="643890" cy="489239"/>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871835" y="2753591"/>
            <a:ext cx="643890" cy="489239"/>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38125" y="3242830"/>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Idacio</a:t>
            </a:r>
          </a:p>
        </p:txBody>
      </p:sp>
      <p:sp>
        <p:nvSpPr>
          <p:cNvPr id="92" name="Rectangle 91"/>
          <p:cNvSpPr/>
          <p:nvPr/>
        </p:nvSpPr>
        <p:spPr>
          <a:xfrm>
            <a:off x="1857375" y="3242830"/>
            <a:ext cx="643890" cy="489239"/>
          </a:xfrm>
          <a:prstGeom prst="rect">
            <a:avLst/>
          </a:prstGeom>
          <a:solidFill>
            <a:srgbClr val="BAD4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2501265" y="3242830"/>
            <a:ext cx="643890" cy="489239"/>
          </a:xfrm>
          <a:prstGeom prst="rect">
            <a:avLst/>
          </a:prstGeom>
          <a:solidFill>
            <a:srgbClr val="4E98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145155" y="3242830"/>
            <a:ext cx="643890" cy="489239"/>
          </a:xfrm>
          <a:prstGeom prst="rect">
            <a:avLst/>
          </a:prstGeom>
          <a:solidFill>
            <a:srgbClr val="19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789045" y="3242830"/>
            <a:ext cx="643890" cy="489239"/>
          </a:xfrm>
          <a:prstGeom prst="rect">
            <a:avLst/>
          </a:prstGeom>
          <a:solidFill>
            <a:srgbClr val="3B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432935" y="3242830"/>
            <a:ext cx="643890" cy="489239"/>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076825" y="3242830"/>
            <a:ext cx="643890" cy="489239"/>
          </a:xfrm>
          <a:prstGeom prst="rect">
            <a:avLst/>
          </a:prstGeom>
          <a:solidFill>
            <a:srgbClr val="A0C4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720715" y="3242830"/>
            <a:ext cx="643890" cy="489239"/>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364605" y="3242830"/>
            <a:ext cx="643890" cy="489239"/>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008495" y="3242830"/>
            <a:ext cx="643890" cy="489239"/>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652385" y="3242830"/>
            <a:ext cx="643890" cy="489239"/>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296275" y="3242830"/>
            <a:ext cx="643890" cy="489239"/>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40165" y="3242830"/>
            <a:ext cx="643890" cy="489239"/>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584055" y="3242830"/>
            <a:ext cx="643890" cy="489239"/>
          </a:xfrm>
          <a:prstGeom prst="rect">
            <a:avLst/>
          </a:prstGeom>
          <a:solidFill>
            <a:srgbClr val="F2F9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227945" y="3242830"/>
            <a:ext cx="643890" cy="489239"/>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871835" y="3242830"/>
            <a:ext cx="643890" cy="489239"/>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38125" y="3732068"/>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Hulio</a:t>
            </a:r>
          </a:p>
        </p:txBody>
      </p:sp>
      <p:sp>
        <p:nvSpPr>
          <p:cNvPr id="108" name="Rectangle 107"/>
          <p:cNvSpPr/>
          <p:nvPr/>
        </p:nvSpPr>
        <p:spPr>
          <a:xfrm>
            <a:off x="1857375" y="3732068"/>
            <a:ext cx="643890" cy="489239"/>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501265" y="3732068"/>
            <a:ext cx="643890" cy="489239"/>
          </a:xfrm>
          <a:prstGeom prst="rect">
            <a:avLst/>
          </a:prstGeom>
          <a:solidFill>
            <a:srgbClr val="4F98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145155" y="3732068"/>
            <a:ext cx="643890" cy="489239"/>
          </a:xfrm>
          <a:prstGeom prst="rect">
            <a:avLst/>
          </a:prstGeom>
          <a:solidFill>
            <a:srgbClr val="19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3789045" y="3732068"/>
            <a:ext cx="643890" cy="489239"/>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432935" y="3732068"/>
            <a:ext cx="643890" cy="489239"/>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076825" y="3732068"/>
            <a:ext cx="643890" cy="489239"/>
          </a:xfrm>
          <a:prstGeom prst="rect">
            <a:avLst/>
          </a:prstGeom>
          <a:solidFill>
            <a:srgbClr val="A0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720715" y="3732068"/>
            <a:ext cx="643890" cy="489239"/>
          </a:xfrm>
          <a:prstGeom prst="rect">
            <a:avLst/>
          </a:prstGeom>
          <a:solidFill>
            <a:srgbClr val="BED5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6364605" y="3732068"/>
            <a:ext cx="643890" cy="489239"/>
          </a:xfrm>
          <a:prstGeom prst="rect">
            <a:avLst/>
          </a:prstGeom>
          <a:solidFill>
            <a:srgbClr val="CF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008495" y="3732068"/>
            <a:ext cx="643890" cy="489239"/>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7652385" y="3732068"/>
            <a:ext cx="643890" cy="489239"/>
          </a:xfrm>
          <a:prstGeom prst="rect">
            <a:avLst/>
          </a:prstGeom>
          <a:solidFill>
            <a:srgbClr val="E2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8296275" y="3732068"/>
            <a:ext cx="643890" cy="489239"/>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8940165" y="3732068"/>
            <a:ext cx="643890" cy="489239"/>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9584055" y="3732068"/>
            <a:ext cx="643890" cy="489239"/>
          </a:xfrm>
          <a:prstGeom prst="rect">
            <a:avLst/>
          </a:prstGeom>
          <a:solidFill>
            <a:srgbClr val="F2F9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227945" y="3732068"/>
            <a:ext cx="643890" cy="489239"/>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0871835" y="3732068"/>
            <a:ext cx="643890" cy="489239"/>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38125" y="4221307"/>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Abrilada / Amsparity</a:t>
            </a:r>
          </a:p>
        </p:txBody>
      </p:sp>
      <p:sp>
        <p:nvSpPr>
          <p:cNvPr id="124" name="Rectangle 123"/>
          <p:cNvSpPr/>
          <p:nvPr/>
        </p:nvSpPr>
        <p:spPr>
          <a:xfrm>
            <a:off x="1857375" y="4221307"/>
            <a:ext cx="643890" cy="489239"/>
          </a:xfrm>
          <a:prstGeom prst="rect">
            <a:avLst/>
          </a:prstGeom>
          <a:solidFill>
            <a:srgbClr val="95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2501265" y="4221307"/>
            <a:ext cx="643890" cy="489239"/>
          </a:xfrm>
          <a:prstGeom prst="rect">
            <a:avLst/>
          </a:prstGeom>
          <a:solidFill>
            <a:srgbClr val="217D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3145155" y="4221307"/>
            <a:ext cx="643890" cy="489239"/>
          </a:xfrm>
          <a:prstGeom prst="rect">
            <a:avLst/>
          </a:prstGeom>
          <a:solidFill>
            <a:srgbClr val="0C416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789045" y="4221307"/>
            <a:ext cx="643890" cy="489239"/>
          </a:xfrm>
          <a:prstGeom prst="rect">
            <a:avLst/>
          </a:prstGeom>
          <a:solidFill>
            <a:srgbClr val="12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432935" y="4221307"/>
            <a:ext cx="643890" cy="489239"/>
          </a:xfrm>
          <a:prstGeom prst="rect">
            <a:avLst/>
          </a:prstGeom>
          <a:solidFill>
            <a:srgbClr val="4492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5076825" y="4221307"/>
            <a:ext cx="643890" cy="489239"/>
          </a:xfrm>
          <a:prstGeom prst="rect">
            <a:avLst/>
          </a:prstGeom>
          <a:solidFill>
            <a:srgbClr val="6EA9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720715" y="4221307"/>
            <a:ext cx="643890" cy="489239"/>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6364605" y="4221307"/>
            <a:ext cx="643890" cy="489239"/>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008495" y="4221307"/>
            <a:ext cx="643890" cy="489239"/>
          </a:xfrm>
          <a:prstGeom prst="rect">
            <a:avLst/>
          </a:prstGeom>
          <a:solidFill>
            <a:srgbClr val="BF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7652385" y="4221307"/>
            <a:ext cx="643890" cy="489239"/>
          </a:xfrm>
          <a:prstGeom prst="rect">
            <a:avLst/>
          </a:prstGeom>
          <a:solidFill>
            <a:srgbClr val="CDDE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296275" y="4221307"/>
            <a:ext cx="643890" cy="489239"/>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8940165" y="4221307"/>
            <a:ext cx="643890" cy="489239"/>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584055" y="4221307"/>
            <a:ext cx="643890" cy="489239"/>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227945" y="4221307"/>
            <a:ext cx="643890" cy="489239"/>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871835" y="4221307"/>
            <a:ext cx="643890" cy="489239"/>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38125" y="4710545"/>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Yusimry</a:t>
            </a:r>
          </a:p>
        </p:txBody>
      </p:sp>
      <p:sp>
        <p:nvSpPr>
          <p:cNvPr id="140" name="Rectangle 139"/>
          <p:cNvSpPr/>
          <p:nvPr/>
        </p:nvSpPr>
        <p:spPr>
          <a:xfrm>
            <a:off x="1857375" y="4710545"/>
            <a:ext cx="643890" cy="489239"/>
          </a:xfrm>
          <a:prstGeom prst="rect">
            <a:avLst/>
          </a:prstGeom>
          <a:solidFill>
            <a:srgbClr val="C3D9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501265" y="4710545"/>
            <a:ext cx="643890" cy="489239"/>
          </a:xfrm>
          <a:prstGeom prst="rect">
            <a:avLst/>
          </a:prstGeom>
          <a:solidFill>
            <a:srgbClr val="5C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3145155" y="4710545"/>
            <a:ext cx="643890" cy="489239"/>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3789045" y="4710545"/>
            <a:ext cx="643890" cy="489239"/>
          </a:xfrm>
          <a:prstGeom prst="rect">
            <a:avLst/>
          </a:prstGeom>
          <a:solidFill>
            <a:srgbClr val="4794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4432935" y="4710545"/>
            <a:ext cx="643890" cy="489239"/>
          </a:xfrm>
          <a:prstGeom prst="rect">
            <a:avLst/>
          </a:prstGeom>
          <a:solidFill>
            <a:srgbClr val="8C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076825" y="4710545"/>
            <a:ext cx="643890" cy="489239"/>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5720715" y="4710545"/>
            <a:ext cx="643890" cy="489239"/>
          </a:xfrm>
          <a:prstGeom prst="rect">
            <a:avLst/>
          </a:prstGeom>
          <a:solidFill>
            <a:srgbClr val="C6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6364605" y="4710545"/>
            <a:ext cx="643890" cy="489239"/>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008495" y="4710545"/>
            <a:ext cx="643890" cy="489239"/>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7652385" y="4710545"/>
            <a:ext cx="643890" cy="489239"/>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296275" y="4710545"/>
            <a:ext cx="643890" cy="489239"/>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940165" y="4710545"/>
            <a:ext cx="643890" cy="489239"/>
          </a:xfrm>
          <a:prstGeom prst="rect">
            <a:avLst/>
          </a:prstGeom>
          <a:solidFill>
            <a:srgbClr val="F2F9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9584055" y="4710545"/>
            <a:ext cx="643890" cy="489239"/>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0227945" y="4710545"/>
            <a:ext cx="643890" cy="489239"/>
          </a:xfrm>
          <a:prstGeom prst="rect">
            <a:avLst/>
          </a:prstGeom>
          <a:solidFill>
            <a:srgbClr val="F9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0871835" y="4710545"/>
            <a:ext cx="643890" cy="489239"/>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38125" y="5199784"/>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Yuflyma</a:t>
            </a:r>
          </a:p>
        </p:txBody>
      </p:sp>
      <p:sp>
        <p:nvSpPr>
          <p:cNvPr id="156" name="Rectangle 155"/>
          <p:cNvSpPr/>
          <p:nvPr/>
        </p:nvSpPr>
        <p:spPr>
          <a:xfrm>
            <a:off x="1857375" y="5199784"/>
            <a:ext cx="643890" cy="489239"/>
          </a:xfrm>
          <a:prstGeom prst="rect">
            <a:avLst/>
          </a:prstGeom>
          <a:solidFill>
            <a:srgbClr val="B4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2501265" y="5199784"/>
            <a:ext cx="643890" cy="489239"/>
          </a:xfrm>
          <a:prstGeom prst="rect">
            <a:avLst/>
          </a:prstGeom>
          <a:solidFill>
            <a:srgbClr val="4492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3145155" y="5199784"/>
            <a:ext cx="643890" cy="489239"/>
          </a:xfrm>
          <a:prstGeom prst="rect">
            <a:avLst/>
          </a:prstGeom>
          <a:solidFill>
            <a:srgbClr val="1174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3789045" y="5199784"/>
            <a:ext cx="643890" cy="489239"/>
          </a:xfrm>
          <a:prstGeom prst="rect">
            <a:avLst/>
          </a:prstGeom>
          <a:solidFill>
            <a:srgbClr val="3389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4432935" y="5199784"/>
            <a:ext cx="643890" cy="489239"/>
          </a:xfrm>
          <a:prstGeom prst="rect">
            <a:avLst/>
          </a:prstGeom>
          <a:solidFill>
            <a:srgbClr val="74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076825" y="5199784"/>
            <a:ext cx="643890" cy="489239"/>
          </a:xfrm>
          <a:prstGeom prst="rect">
            <a:avLst/>
          </a:prstGeom>
          <a:solidFill>
            <a:srgbClr val="99C1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720715" y="5199784"/>
            <a:ext cx="643890" cy="489239"/>
          </a:xfrm>
          <a:prstGeom prst="rect">
            <a:avLst/>
          </a:prstGeom>
          <a:solidFill>
            <a:srgbClr val="B7D2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364605" y="5199784"/>
            <a:ext cx="643890" cy="489239"/>
          </a:xfrm>
          <a:prstGeom prst="rect">
            <a:avLst/>
          </a:prstGeom>
          <a:solidFill>
            <a:srgbClr val="CC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7008495" y="5199784"/>
            <a:ext cx="643890" cy="489239"/>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7652385" y="5199784"/>
            <a:ext cx="643890" cy="489239"/>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8296275" y="5199784"/>
            <a:ext cx="643890" cy="489239"/>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940165" y="5199784"/>
            <a:ext cx="643890" cy="489239"/>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9584055" y="5199784"/>
            <a:ext cx="643890" cy="489239"/>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0227945" y="5199784"/>
            <a:ext cx="643890" cy="489239"/>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0871835" y="5199784"/>
            <a:ext cx="643890" cy="489239"/>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38125" y="5689023"/>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Simlandi</a:t>
            </a:r>
          </a:p>
        </p:txBody>
      </p:sp>
      <p:sp>
        <p:nvSpPr>
          <p:cNvPr id="172" name="Rectangle 171"/>
          <p:cNvSpPr/>
          <p:nvPr/>
        </p:nvSpPr>
        <p:spPr>
          <a:xfrm>
            <a:off x="1857375" y="5689023"/>
            <a:ext cx="643890" cy="489239"/>
          </a:xfrm>
          <a:prstGeom prst="rect">
            <a:avLst/>
          </a:prstGeom>
          <a:solidFill>
            <a:srgbClr val="88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2501265" y="5689023"/>
            <a:ext cx="643890" cy="489239"/>
          </a:xfrm>
          <a:prstGeom prst="rect">
            <a:avLst/>
          </a:prstGeom>
          <a:solidFill>
            <a:srgbClr val="16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3145155" y="5689023"/>
            <a:ext cx="643890" cy="489239"/>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3789045" y="5689023"/>
            <a:ext cx="643890" cy="489239"/>
          </a:xfrm>
          <a:prstGeom prst="rect">
            <a:avLst/>
          </a:prstGeom>
          <a:solidFill>
            <a:srgbClr val="0D679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32935" y="5689023"/>
            <a:ext cx="643890" cy="489239"/>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5076825" y="5689023"/>
            <a:ext cx="643890" cy="489239"/>
          </a:xfrm>
          <a:prstGeom prst="rect">
            <a:avLst/>
          </a:prstGeom>
          <a:solidFill>
            <a:srgbClr val="5E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5720715" y="5689023"/>
            <a:ext cx="643890" cy="489239"/>
          </a:xfrm>
          <a:prstGeom prst="rect">
            <a:avLst/>
          </a:prstGeom>
          <a:solidFill>
            <a:srgbClr val="8DBA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6364605" y="5689023"/>
            <a:ext cx="643890" cy="489239"/>
          </a:xfrm>
          <a:prstGeom prst="rect">
            <a:avLst/>
          </a:prstGeom>
          <a:solidFill>
            <a:srgbClr val="A3C6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7008495" y="5689023"/>
            <a:ext cx="643890" cy="489239"/>
          </a:xfrm>
          <a:prstGeom prst="rect">
            <a:avLst/>
          </a:prstGeom>
          <a:solidFill>
            <a:srgbClr val="B5D0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7652385" y="5689023"/>
            <a:ext cx="643890" cy="489239"/>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8296275" y="5689023"/>
            <a:ext cx="643890" cy="489239"/>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8940165" y="5689023"/>
            <a:ext cx="643890" cy="489239"/>
          </a:xfrm>
          <a:prstGeom prst="rect">
            <a:avLst/>
          </a:prstGeom>
          <a:solidFill>
            <a:srgbClr val="D4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9584055" y="5689023"/>
            <a:ext cx="643890" cy="489239"/>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0227945" y="5689023"/>
            <a:ext cx="643890" cy="489239"/>
          </a:xfrm>
          <a:prstGeom prst="rect">
            <a:avLst/>
          </a:prstGeom>
          <a:solidFill>
            <a:srgbClr val="DD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0871835" y="5689023"/>
            <a:ext cx="643890" cy="489239"/>
          </a:xfrm>
          <a:prstGeom prst="rect">
            <a:avLst/>
          </a:prstGeom>
          <a:solidFill>
            <a:srgbClr val="E1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38125" y="6178261"/>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Other approved adalimumab biosimilars</a:t>
            </a:r>
          </a:p>
        </p:txBody>
      </p:sp>
      <p:sp>
        <p:nvSpPr>
          <p:cNvPr id="188" name="Rectangle 187"/>
          <p:cNvSpPr/>
          <p:nvPr/>
        </p:nvSpPr>
        <p:spPr>
          <a:xfrm>
            <a:off x="1857375" y="6178261"/>
            <a:ext cx="643890" cy="489239"/>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2501265" y="6178261"/>
            <a:ext cx="643890" cy="489239"/>
          </a:xfrm>
          <a:prstGeom prst="rect">
            <a:avLst/>
          </a:prstGeom>
          <a:solidFill>
            <a:srgbClr val="3D8E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3145155" y="6178261"/>
            <a:ext cx="643890" cy="489239"/>
          </a:xfrm>
          <a:prstGeom prst="rect">
            <a:avLst/>
          </a:prstGeom>
          <a:solidFill>
            <a:srgbClr val="0E70A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3789045" y="6178261"/>
            <a:ext cx="643890" cy="489239"/>
          </a:xfrm>
          <a:prstGeom prst="rect">
            <a:avLst/>
          </a:prstGeom>
          <a:solidFill>
            <a:srgbClr val="2F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4432935" y="6178261"/>
            <a:ext cx="643890" cy="489239"/>
          </a:xfrm>
          <a:prstGeom prst="rect">
            <a:avLst/>
          </a:prstGeom>
          <a:solidFill>
            <a:srgbClr val="6DA9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076825" y="6178261"/>
            <a:ext cx="643890" cy="489239"/>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720715" y="6178261"/>
            <a:ext cx="643890" cy="489239"/>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6364605" y="6178261"/>
            <a:ext cx="643890" cy="489239"/>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7008495" y="6178261"/>
            <a:ext cx="643890" cy="489239"/>
          </a:xfrm>
          <a:prstGeom prst="rect">
            <a:avLst/>
          </a:prstGeom>
          <a:solidFill>
            <a:srgbClr val="D3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7652385" y="6178261"/>
            <a:ext cx="643890" cy="489239"/>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8296275" y="6178261"/>
            <a:ext cx="643890" cy="489239"/>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8940165" y="6178261"/>
            <a:ext cx="643890" cy="489239"/>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9584055" y="6178261"/>
            <a:ext cx="643890" cy="489239"/>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0227945" y="6178261"/>
            <a:ext cx="643890" cy="489239"/>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0871835" y="6178261"/>
            <a:ext cx="643890" cy="489239"/>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11572875" y="1323975"/>
            <a:ext cx="104775" cy="140256"/>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11572875" y="1456611"/>
            <a:ext cx="104775" cy="140256"/>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11572875" y="1589246"/>
            <a:ext cx="104775" cy="140256"/>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11572875" y="1721882"/>
            <a:ext cx="104775" cy="140256"/>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11572875" y="1854518"/>
            <a:ext cx="104775" cy="140256"/>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11572875" y="1987153"/>
            <a:ext cx="104775" cy="140256"/>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11572875" y="2119789"/>
            <a:ext cx="104775" cy="140256"/>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11572875" y="2252424"/>
            <a:ext cx="104775" cy="140256"/>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11572875" y="2385060"/>
            <a:ext cx="104775" cy="140256"/>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11572875" y="2517696"/>
            <a:ext cx="104775" cy="140256"/>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11572875" y="2650331"/>
            <a:ext cx="104775" cy="140256"/>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11572875" y="2782967"/>
            <a:ext cx="104775" cy="140256"/>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11572875" y="2915602"/>
            <a:ext cx="104775" cy="140256"/>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11572875" y="3048238"/>
            <a:ext cx="104775" cy="140256"/>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11572875" y="3180874"/>
            <a:ext cx="104775" cy="140256"/>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11572875" y="3313509"/>
            <a:ext cx="104775" cy="140256"/>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11572875" y="3446145"/>
            <a:ext cx="104775" cy="140256"/>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11572875" y="3578781"/>
            <a:ext cx="104775" cy="140256"/>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11572875" y="3711416"/>
            <a:ext cx="104775" cy="140256"/>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11572875" y="3844052"/>
            <a:ext cx="104775" cy="140256"/>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11572875" y="3976688"/>
            <a:ext cx="104775" cy="140256"/>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11572875" y="4109323"/>
            <a:ext cx="104775" cy="140256"/>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11572875" y="4241959"/>
            <a:ext cx="104775" cy="140256"/>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11572875" y="4374594"/>
            <a:ext cx="104775" cy="140256"/>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11572875" y="4507230"/>
            <a:ext cx="104775" cy="140256"/>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11572875" y="4639866"/>
            <a:ext cx="104775" cy="140256"/>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1572875" y="4772501"/>
            <a:ext cx="104775" cy="140256"/>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11572875" y="4905137"/>
            <a:ext cx="104775" cy="140256"/>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1572875" y="5037773"/>
            <a:ext cx="104775" cy="140256"/>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572875" y="5170408"/>
            <a:ext cx="104775" cy="140256"/>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11572875" y="5303044"/>
            <a:ext cx="104775" cy="140256"/>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11572875" y="5435679"/>
            <a:ext cx="104775" cy="140256"/>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11572875" y="5568315"/>
            <a:ext cx="104775" cy="140256"/>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11572875" y="5700951"/>
            <a:ext cx="104775" cy="140256"/>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11572875" y="5833586"/>
            <a:ext cx="104775" cy="140256"/>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1572875" y="5966222"/>
            <a:ext cx="104775" cy="140256"/>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11572875" y="6098858"/>
            <a:ext cx="104775" cy="140256"/>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11572875" y="6231493"/>
            <a:ext cx="104775" cy="140256"/>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1572875" y="6364129"/>
            <a:ext cx="104775" cy="140256"/>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11572875" y="6496764"/>
            <a:ext cx="104775" cy="140256"/>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11572875" y="1323975"/>
            <a:ext cx="104775" cy="5305425"/>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11687175" y="1257300"/>
            <a:ext cx="276225" cy="133350"/>
          </a:xfrm>
          <a:prstGeom prst="rect">
            <a:avLst/>
          </a:prstGeom>
          <a:noFill/>
        </p:spPr>
        <p:txBody>
          <a:bodyPr wrap="none" lIns="0" rIns="0" tIns="0" bIns="0" anchor="ctr">
            <a:spAutoFit/>
          </a:bodyPr>
          <a:lstStyle/>
          <a:p>
            <a:pPr algn="l"/>
            <a:r>
              <a:rPr sz="700" b="0">
                <a:solidFill>
                  <a:srgbClr val="6C7A89"/>
                </a:solidFill>
                <a:latin typeface="Calibri"/>
              </a:rPr>
              <a:t>31%</a:t>
            </a:r>
          </a:p>
        </p:txBody>
      </p:sp>
      <p:sp>
        <p:nvSpPr>
          <p:cNvPr id="245" name="TextBox 244"/>
          <p:cNvSpPr txBox="1"/>
          <p:nvPr/>
        </p:nvSpPr>
        <p:spPr>
          <a:xfrm>
            <a:off x="11687175" y="3910012"/>
            <a:ext cx="276225" cy="133350"/>
          </a:xfrm>
          <a:prstGeom prst="rect">
            <a:avLst/>
          </a:prstGeom>
          <a:noFill/>
        </p:spPr>
        <p:txBody>
          <a:bodyPr wrap="none" lIns="0" rIns="0" tIns="0" bIns="0" anchor="ctr">
            <a:spAutoFit/>
          </a:bodyPr>
          <a:lstStyle/>
          <a:p>
            <a:pPr algn="l"/>
            <a:r>
              <a:rPr sz="700" b="0">
                <a:solidFill>
                  <a:srgbClr val="6C7A89"/>
                </a:solidFill>
                <a:latin typeface="Calibri"/>
              </a:rPr>
              <a:t>19%</a:t>
            </a:r>
          </a:p>
        </p:txBody>
      </p:sp>
      <p:sp>
        <p:nvSpPr>
          <p:cNvPr id="246" name="TextBox 245"/>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6%</a:t>
            </a:r>
          </a:p>
        </p:txBody>
      </p:sp>
      <p:sp>
        <p:nvSpPr>
          <p:cNvPr id="247" name="Rectangle 24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TextBox 24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49" name="Rounded Rectangle 248">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50" name="Rounded Rectangle 249">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51" name="Rounded Rectangle 250">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Value, By Product Type (%)</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YoY Growth, By Product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2171700"/>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Product Type</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800" b="1">
                          <a:solidFill>
                            <a:srgbClr val="A86F00"/>
                          </a:solidFill>
                          <a:latin typeface="Calibri"/>
                        </a:rPr>
                        <a:t>▶ 11.7%</a:t>
                      </a:r>
                    </a:p>
                  </a:txBody>
                  <a:tcPr marL="85725" marR="38100" marT="19050" marB="19050" anchor="ctr">
                    <a:solidFill>
                      <a:srgbClr val="FFFFFF"/>
                    </a:solidFill>
                  </a:tcPr>
                </a:tc>
                <a:tc>
                  <a:txBody>
                    <a:bodyPr wrap="none"/>
                    <a:lstStyle/>
                    <a:p>
                      <a:pPr algn="l"/>
                      <a:r>
                        <a:rPr sz="800" b="1">
                          <a:solidFill>
                            <a:srgbClr val="A86F00"/>
                          </a:solidFill>
                          <a:latin typeface="Calibri"/>
                        </a:rPr>
                        <a:t>▶ 18.5%</a:t>
                      </a:r>
                    </a:p>
                  </a:txBody>
                  <a:tcPr marL="85725" marR="38100" marT="19050" marB="19050" anchor="ctr">
                    <a:solidFill>
                      <a:srgbClr val="FFFFFF"/>
                    </a:solidFill>
                  </a:tcPr>
                </a:tc>
                <a:tc>
                  <a:txBody>
                    <a:bodyPr wrap="none"/>
                    <a:lstStyle/>
                    <a:p>
                      <a:pPr algn="l"/>
                      <a:r>
                        <a:rPr sz="800" b="1">
                          <a:solidFill>
                            <a:srgbClr val="A86F00"/>
                          </a:solidFill>
                          <a:latin typeface="Calibri"/>
                        </a:rPr>
                        <a:t>▶ 22.3%</a:t>
                      </a:r>
                    </a:p>
                  </a:txBody>
                  <a:tcPr marL="85725" marR="38100" marT="19050" marB="19050" anchor="ctr">
                    <a:solidFill>
                      <a:srgbClr val="FFFFFF"/>
                    </a:solidFill>
                  </a:tcPr>
                </a:tc>
                <a:tc>
                  <a:txBody>
                    <a:bodyPr wrap="none"/>
                    <a:lstStyle/>
                    <a:p>
                      <a:pPr algn="l"/>
                      <a:r>
                        <a:rPr sz="800" b="1">
                          <a:solidFill>
                            <a:srgbClr val="A86F00"/>
                          </a:solidFill>
                          <a:latin typeface="Calibri"/>
                        </a:rPr>
                        <a:t>▶ 19.7%</a:t>
                      </a:r>
                    </a:p>
                  </a:txBody>
                  <a:tcPr marL="85725" marR="38100" marT="19050" marB="19050" anchor="ctr">
                    <a:solidFill>
                      <a:srgbClr val="FFFFFF"/>
                    </a:solidFill>
                  </a:tcPr>
                </a:tc>
                <a:tc>
                  <a:txBody>
                    <a:bodyPr wrap="none"/>
                    <a:lstStyle/>
                    <a:p>
                      <a:pPr algn="l"/>
                      <a:r>
                        <a:rPr sz="800" b="1">
                          <a:solidFill>
                            <a:srgbClr val="A86F00"/>
                          </a:solidFill>
                          <a:latin typeface="Calibri"/>
                        </a:rPr>
                        <a:t>▶ 16.0%</a:t>
                      </a:r>
                    </a:p>
                  </a:txBody>
                  <a:tcPr marL="85725" marR="38100" marT="19050" marB="19050" anchor="ctr">
                    <a:solidFill>
                      <a:srgbClr val="FFFFFF"/>
                    </a:solidFill>
                  </a:tcPr>
                </a:tc>
                <a:tc>
                  <a:txBody>
                    <a:bodyPr wrap="none"/>
                    <a:lstStyle/>
                    <a:p>
                      <a:pPr algn="l"/>
                      <a:r>
                        <a:rPr sz="800" b="1">
                          <a:solidFill>
                            <a:srgbClr val="A86F00"/>
                          </a:solidFill>
                          <a:latin typeface="Calibri"/>
                        </a:rPr>
                        <a:t>▶ 13.9%</a:t>
                      </a:r>
                    </a:p>
                  </a:txBody>
                  <a:tcPr marL="85725" marR="38100" marT="19050" marB="19050" anchor="ctr">
                    <a:solidFill>
                      <a:srgbClr val="FFFFFF"/>
                    </a:solidFill>
                  </a:tcPr>
                </a:tc>
                <a:tc>
                  <a:txBody>
                    <a:bodyPr wrap="none"/>
                    <a:lstStyle/>
                    <a:p>
                      <a:pPr algn="l"/>
                      <a:r>
                        <a:rPr sz="800" b="1">
                          <a:solidFill>
                            <a:srgbClr val="A86F00"/>
                          </a:solidFill>
                          <a:latin typeface="Calibri"/>
                        </a:rPr>
                        <a:t>▶ 11.6%</a:t>
                      </a:r>
                    </a:p>
                  </a:txBody>
                  <a:tcPr marL="85725" marR="38100" marT="19050" marB="19050" anchor="ctr">
                    <a:solidFill>
                      <a:srgbClr val="FFFFFF"/>
                    </a:solidFill>
                  </a:tcPr>
                </a:tc>
                <a:tc>
                  <a:txBody>
                    <a:bodyPr wrap="none"/>
                    <a:lstStyle/>
                    <a:p>
                      <a:pPr algn="l"/>
                      <a:r>
                        <a:rPr sz="800" b="1">
                          <a:solidFill>
                            <a:srgbClr val="A86F00"/>
                          </a:solidFill>
                          <a:latin typeface="Calibri"/>
                        </a:rPr>
                        <a:t>▶ 10.0%</a:t>
                      </a:r>
                    </a:p>
                  </a:txBody>
                  <a:tcPr marL="85725" marR="38100" marT="19050" marB="19050" anchor="ctr">
                    <a:solidFill>
                      <a:srgbClr val="FFFFFF"/>
                    </a:solidFill>
                  </a:tcPr>
                </a:tc>
                <a:tc>
                  <a:txBody>
                    <a:bodyPr wrap="none"/>
                    <a:lstStyle/>
                    <a:p>
                      <a:pPr algn="l"/>
                      <a:r>
                        <a:rPr sz="800" b="1">
                          <a:solidFill>
                            <a:srgbClr val="A86F00"/>
                          </a:solidFill>
                          <a:latin typeface="Calibri"/>
                        </a:rPr>
                        <a:t>▶ 8.7%</a:t>
                      </a:r>
                    </a:p>
                  </a:txBody>
                  <a:tcPr marL="85725" marR="38100" marT="19050" marB="19050" anchor="ctr">
                    <a:solidFill>
                      <a:srgbClr val="FFFFFF"/>
                    </a:solidFill>
                  </a:tcPr>
                </a:tc>
                <a:tc>
                  <a:txBody>
                    <a:bodyPr wrap="none"/>
                    <a:lstStyle/>
                    <a:p>
                      <a:pPr algn="l"/>
                      <a:r>
                        <a:rPr sz="800" b="1">
                          <a:solidFill>
                            <a:srgbClr val="A86F00"/>
                          </a:solidFill>
                          <a:latin typeface="Calibri"/>
                        </a:rPr>
                        <a:t>▶ 7.6%</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c>
                  <a:txBody>
                    <a:bodyPr wrap="none"/>
                    <a:lstStyle/>
                    <a:p>
                      <a:pPr algn="l"/>
                      <a:r>
                        <a:rPr sz="800" b="1">
                          <a:solidFill>
                            <a:srgbClr val="A86F00"/>
                          </a:solidFill>
                          <a:latin typeface="Calibri"/>
                        </a:rPr>
                        <a:t>▶ 5.2%</a:t>
                      </a:r>
                    </a:p>
                  </a:txBody>
                  <a:tcPr marL="85725" marR="38100" marT="19050" marB="19050" anchor="ctr">
                    <a:solidFill>
                      <a:srgbClr val="FFFFFF"/>
                    </a:solidFill>
                  </a:tcPr>
                </a:tc>
                <a:tc>
                  <a:txBody>
                    <a:bodyPr wrap="none"/>
                    <a:lstStyle/>
                    <a:p>
                      <a:pPr algn="l"/>
                      <a:r>
                        <a:rPr sz="800" b="1">
                          <a:solidFill>
                            <a:srgbClr val="A86F00"/>
                          </a:solidFill>
                          <a:latin typeface="Calibri"/>
                        </a:rPr>
                        <a:t>▶ 4.7%</a:t>
                      </a:r>
                    </a:p>
                  </a:txBody>
                  <a:tcPr marL="85725" marR="38100" marT="19050" marB="19050" anchor="ctr">
                    <a:solidFill>
                      <a:srgbClr val="FFFFFF"/>
                    </a:solidFill>
                  </a:tcPr>
                </a:tc>
                <a:tc>
                  <a:txBody>
                    <a:bodyPr wrap="none"/>
                    <a:lstStyle/>
                    <a:p>
                      <a:pPr algn="l"/>
                      <a:r>
                        <a:rPr sz="800" b="1">
                          <a:solidFill>
                            <a:srgbClr val="A86F00"/>
                          </a:solidFill>
                          <a:latin typeface="Calibri"/>
                        </a:rPr>
                        <a:t>▶ 4.3%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Cyltezo</a:t>
                      </a:r>
                    </a:p>
                  </a:txBody>
                  <a:tcPr marL="85725" marR="38100" marT="19050" marB="19050" anchor="ctr">
                    <a:solidFill>
                      <a:srgbClr val="F5F8FA"/>
                    </a:solidFill>
                  </a:tcPr>
                </a:tc>
                <a:tc>
                  <a:txBody>
                    <a:bodyPr wrap="none"/>
                    <a:lstStyle/>
                    <a:p>
                      <a:pPr algn="l"/>
                      <a:r>
                        <a:rPr sz="800" b="1">
                          <a:solidFill>
                            <a:srgbClr val="2E7D32"/>
                          </a:solidFill>
                          <a:latin typeface="Calibri"/>
                        </a:rPr>
                        <a:t>▲ 14.1%</a:t>
                      </a:r>
                    </a:p>
                  </a:txBody>
                  <a:tcPr marL="85725" marR="38100" marT="19050" marB="19050" anchor="ctr">
                    <a:solidFill>
                      <a:srgbClr val="F5F8FA"/>
                    </a:solidFill>
                  </a:tcPr>
                </a:tc>
                <a:tc>
                  <a:txBody>
                    <a:bodyPr wrap="none"/>
                    <a:lstStyle/>
                    <a:p>
                      <a:pPr algn="l"/>
                      <a:r>
                        <a:rPr sz="800" b="1">
                          <a:solidFill>
                            <a:srgbClr val="2E7D32"/>
                          </a:solidFill>
                          <a:latin typeface="Calibri"/>
                        </a:rPr>
                        <a:t>▲ 21.0%</a:t>
                      </a:r>
                    </a:p>
                  </a:txBody>
                  <a:tcPr marL="85725" marR="38100" marT="19050" marB="19050" anchor="ctr">
                    <a:solidFill>
                      <a:srgbClr val="F5F8FA"/>
                    </a:solidFill>
                  </a:tcPr>
                </a:tc>
                <a:tc>
                  <a:txBody>
                    <a:bodyPr wrap="none"/>
                    <a:lstStyle/>
                    <a:p>
                      <a:pPr algn="l"/>
                      <a:r>
                        <a:rPr sz="800" b="1">
                          <a:solidFill>
                            <a:srgbClr val="2E7D32"/>
                          </a:solidFill>
                          <a:latin typeface="Calibri"/>
                        </a:rPr>
                        <a:t>▲ 24.9%</a:t>
                      </a:r>
                    </a:p>
                  </a:txBody>
                  <a:tcPr marL="85725" marR="38100" marT="19050" marB="19050" anchor="ctr">
                    <a:solidFill>
                      <a:srgbClr val="F5F8FA"/>
                    </a:solidFill>
                  </a:tcPr>
                </a:tc>
                <a:tc>
                  <a:txBody>
                    <a:bodyPr wrap="none"/>
                    <a:lstStyle/>
                    <a:p>
                      <a:pPr algn="l"/>
                      <a:r>
                        <a:rPr sz="800" b="1">
                          <a:solidFill>
                            <a:srgbClr val="2E7D32"/>
                          </a:solidFill>
                          <a:latin typeface="Calibri"/>
                        </a:rPr>
                        <a:t>▲ 22.2%</a:t>
                      </a:r>
                    </a:p>
                  </a:txBody>
                  <a:tcPr marL="85725" marR="38100" marT="19050" marB="19050" anchor="ctr">
                    <a:solidFill>
                      <a:srgbClr val="F5F8FA"/>
                    </a:solidFill>
                  </a:tcPr>
                </a:tc>
                <a:tc>
                  <a:txBody>
                    <a:bodyPr wrap="none"/>
                    <a:lstStyle/>
                    <a:p>
                      <a:pPr algn="l"/>
                      <a:r>
                        <a:rPr sz="800" b="1">
                          <a:solidFill>
                            <a:srgbClr val="2E7D32"/>
                          </a:solidFill>
                          <a:latin typeface="Calibri"/>
                        </a:rPr>
                        <a:t>▲ 18.5%</a:t>
                      </a:r>
                    </a:p>
                  </a:txBody>
                  <a:tcPr marL="85725" marR="38100" marT="19050" marB="19050" anchor="ctr">
                    <a:solidFill>
                      <a:srgbClr val="F5F8FA"/>
                    </a:solidFill>
                  </a:tcPr>
                </a:tc>
                <a:tc>
                  <a:txBody>
                    <a:bodyPr wrap="none"/>
                    <a:lstStyle/>
                    <a:p>
                      <a:pPr algn="l"/>
                      <a:r>
                        <a:rPr sz="800" b="1">
                          <a:solidFill>
                            <a:srgbClr val="2E7D32"/>
                          </a:solidFill>
                          <a:latin typeface="Calibri"/>
                        </a:rPr>
                        <a:t>▲ 16.4%</a:t>
                      </a:r>
                    </a:p>
                  </a:txBody>
                  <a:tcPr marL="85725" marR="38100" marT="19050" marB="19050" anchor="ctr">
                    <a:solidFill>
                      <a:srgbClr val="F5F8FA"/>
                    </a:solidFill>
                  </a:tcPr>
                </a:tc>
                <a:tc>
                  <a:txBody>
                    <a:bodyPr wrap="none"/>
                    <a:lstStyle/>
                    <a:p>
                      <a:pPr algn="l"/>
                      <a:r>
                        <a:rPr sz="800" b="1">
                          <a:solidFill>
                            <a:srgbClr val="2E7D32"/>
                          </a:solidFill>
                          <a:latin typeface="Calibri"/>
                        </a:rPr>
                        <a:t>▲ 14.0%</a:t>
                      </a:r>
                    </a:p>
                  </a:txBody>
                  <a:tcPr marL="85725" marR="38100" marT="19050" marB="19050" anchor="ctr">
                    <a:solidFill>
                      <a:srgbClr val="F5F8FA"/>
                    </a:solidFill>
                  </a:tcPr>
                </a:tc>
                <a:tc>
                  <a:txBody>
                    <a:bodyPr wrap="none"/>
                    <a:lstStyle/>
                    <a:p>
                      <a:pPr algn="l"/>
                      <a:r>
                        <a:rPr sz="800" b="1">
                          <a:solidFill>
                            <a:srgbClr val="2E7D32"/>
                          </a:solidFill>
                          <a:latin typeface="Calibri"/>
                        </a:rPr>
                        <a:t>▲ 12.3%</a:t>
                      </a:r>
                    </a:p>
                  </a:txBody>
                  <a:tcPr marL="85725" marR="38100" marT="19050" marB="19050" anchor="ctr">
                    <a:solidFill>
                      <a:srgbClr val="F5F8FA"/>
                    </a:solidFill>
                  </a:tcPr>
                </a:tc>
                <a:tc>
                  <a:txBody>
                    <a:bodyPr wrap="none"/>
                    <a:lstStyle/>
                    <a:p>
                      <a:pPr algn="l"/>
                      <a:r>
                        <a:rPr sz="800" b="1">
                          <a:solidFill>
                            <a:srgbClr val="2E7D32"/>
                          </a:solidFill>
                          <a:latin typeface="Calibri"/>
                        </a:rPr>
                        <a:t>▲ 11.0%</a:t>
                      </a:r>
                    </a:p>
                  </a:txBody>
                  <a:tcPr marL="85725" marR="38100" marT="19050" marB="19050" anchor="ctr">
                    <a:solidFill>
                      <a:srgbClr val="F5F8FA"/>
                    </a:solidFill>
                  </a:tcPr>
                </a:tc>
                <a:tc>
                  <a:txBody>
                    <a:bodyPr wrap="none"/>
                    <a:lstStyle/>
                    <a:p>
                      <a:pPr algn="l"/>
                      <a:r>
                        <a:rPr sz="800" b="1">
                          <a:solidFill>
                            <a:srgbClr val="2E7D32"/>
                          </a:solidFill>
                          <a:latin typeface="Calibri"/>
                        </a:rPr>
                        <a:t>▲ 9.9%</a:t>
                      </a:r>
                    </a:p>
                  </a:txBody>
                  <a:tcPr marL="85725" marR="38100" marT="19050" marB="19050" anchor="ctr">
                    <a:solidFill>
                      <a:srgbClr val="F5F8FA"/>
                    </a:solidFill>
                  </a:tcPr>
                </a:tc>
                <a:tc>
                  <a:txBody>
                    <a:bodyPr wrap="none"/>
                    <a:lstStyle/>
                    <a:p>
                      <a:pPr algn="l"/>
                      <a:r>
                        <a:rPr sz="800" b="1">
                          <a:solidFill>
                            <a:srgbClr val="2E7D32"/>
                          </a:solidFill>
                          <a:latin typeface="Calibri"/>
                        </a:rPr>
                        <a:t>▲ 8.9%</a:t>
                      </a:r>
                    </a:p>
                  </a:txBody>
                  <a:tcPr marL="85725" marR="38100" marT="19050" marB="19050" anchor="ctr">
                    <a:solidFill>
                      <a:srgbClr val="F5F8FA"/>
                    </a:solidFill>
                  </a:tcPr>
                </a:tc>
                <a:tc>
                  <a:txBody>
                    <a:bodyPr wrap="none"/>
                    <a:lstStyle/>
                    <a:p>
                      <a:pPr algn="l"/>
                      <a:r>
                        <a:rPr sz="800" b="1">
                          <a:solidFill>
                            <a:srgbClr val="2E7D32"/>
                          </a:solidFill>
                          <a:latin typeface="Calibri"/>
                        </a:rPr>
                        <a:t>▲ 8.1%</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6.9%</a:t>
                      </a:r>
                    </a:p>
                  </a:txBody>
                  <a:tcPr marL="85725" marR="38100" marT="19050" marB="19050" anchor="ctr">
                    <a:solidFill>
                      <a:srgbClr val="F5F8FA"/>
                    </a:solidFill>
                  </a:tcPr>
                </a:tc>
                <a:tc>
                  <a:txBody>
                    <a:bodyPr wrap="none"/>
                    <a:lstStyle/>
                    <a:p>
                      <a:pPr algn="l"/>
                      <a:r>
                        <a:rPr sz="800" b="1">
                          <a:solidFill>
                            <a:srgbClr val="2E7D32"/>
                          </a:solidFill>
                          <a:latin typeface="Calibri"/>
                        </a:rPr>
                        <a:t>▲ 6.5%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800" b="1">
                          <a:solidFill>
                            <a:srgbClr val="2E7D32"/>
                          </a:solidFill>
                          <a:latin typeface="Calibri"/>
                        </a:rPr>
                        <a:t>▲ 13.5%</a:t>
                      </a:r>
                    </a:p>
                  </a:txBody>
                  <a:tcPr marL="85725" marR="38100" marT="19050" marB="19050" anchor="ctr">
                    <a:solidFill>
                      <a:srgbClr val="FFFFFF"/>
                    </a:solidFill>
                  </a:tcPr>
                </a:tc>
                <a:tc>
                  <a:txBody>
                    <a:bodyPr wrap="none"/>
                    <a:lstStyle/>
                    <a:p>
                      <a:pPr algn="l"/>
                      <a:r>
                        <a:rPr sz="800" b="1">
                          <a:solidFill>
                            <a:srgbClr val="2E7D32"/>
                          </a:solidFill>
                          <a:latin typeface="Calibri"/>
                        </a:rPr>
                        <a:t>▲ 20.4%</a:t>
                      </a:r>
                    </a:p>
                  </a:txBody>
                  <a:tcPr marL="85725" marR="38100" marT="19050" marB="19050" anchor="ctr">
                    <a:solidFill>
                      <a:srgbClr val="FFFFFF"/>
                    </a:solidFill>
                  </a:tcPr>
                </a:tc>
                <a:tc>
                  <a:txBody>
                    <a:bodyPr wrap="none"/>
                    <a:lstStyle/>
                    <a:p>
                      <a:pPr algn="l"/>
                      <a:r>
                        <a:rPr sz="800" b="1">
                          <a:solidFill>
                            <a:srgbClr val="2E7D32"/>
                          </a:solidFill>
                          <a:latin typeface="Calibri"/>
                        </a:rPr>
                        <a:t>▲ 24.3%</a:t>
                      </a:r>
                    </a:p>
                  </a:txBody>
                  <a:tcPr marL="85725" marR="38100" marT="19050" marB="19050" anchor="ctr">
                    <a:solidFill>
                      <a:srgbClr val="FFFFFF"/>
                    </a:solidFill>
                  </a:tcPr>
                </a:tc>
                <a:tc>
                  <a:txBody>
                    <a:bodyPr wrap="none"/>
                    <a:lstStyle/>
                    <a:p>
                      <a:pPr algn="l"/>
                      <a:r>
                        <a:rPr sz="800" b="1">
                          <a:solidFill>
                            <a:srgbClr val="2E7D32"/>
                          </a:solidFill>
                          <a:latin typeface="Calibri"/>
                        </a:rPr>
                        <a:t>▲ 21.6%</a:t>
                      </a:r>
                    </a:p>
                  </a:txBody>
                  <a:tcPr marL="85725" marR="38100" marT="19050" marB="19050" anchor="ctr">
                    <a:solidFill>
                      <a:srgbClr val="FFFFFF"/>
                    </a:solidFill>
                  </a:tcPr>
                </a:tc>
                <a:tc>
                  <a:txBody>
                    <a:bodyPr wrap="none"/>
                    <a:lstStyle/>
                    <a:p>
                      <a:pPr algn="l"/>
                      <a:r>
                        <a:rPr sz="800" b="1">
                          <a:solidFill>
                            <a:srgbClr val="2E7D32"/>
                          </a:solidFill>
                          <a:latin typeface="Calibri"/>
                        </a:rPr>
                        <a:t>▲ 17.9%</a:t>
                      </a:r>
                    </a:p>
                  </a:txBody>
                  <a:tcPr marL="85725" marR="38100" marT="19050" marB="19050" anchor="ctr">
                    <a:solidFill>
                      <a:srgbClr val="FFFFFF"/>
                    </a:solidFill>
                  </a:tcPr>
                </a:tc>
                <a:tc>
                  <a:txBody>
                    <a:bodyPr wrap="none"/>
                    <a:lstStyle/>
                    <a:p>
                      <a:pPr algn="l"/>
                      <a:r>
                        <a:rPr sz="800" b="1">
                          <a:solidFill>
                            <a:srgbClr val="2E7D32"/>
                          </a:solidFill>
                          <a:latin typeface="Calibri"/>
                        </a:rPr>
                        <a:t>▲ 15.8%</a:t>
                      </a:r>
                    </a:p>
                  </a:txBody>
                  <a:tcPr marL="85725" marR="38100" marT="19050" marB="19050" anchor="ctr">
                    <a:solidFill>
                      <a:srgbClr val="FFFFFF"/>
                    </a:solidFill>
                  </a:tcPr>
                </a:tc>
                <a:tc>
                  <a:txBody>
                    <a:bodyPr wrap="none"/>
                    <a:lstStyle/>
                    <a:p>
                      <a:pPr algn="l"/>
                      <a:r>
                        <a:rPr sz="800" b="1">
                          <a:solidFill>
                            <a:srgbClr val="2E7D32"/>
                          </a:solidFill>
                          <a:latin typeface="Calibri"/>
                        </a:rPr>
                        <a:t>▲ 13.4%</a:t>
                      </a:r>
                    </a:p>
                  </a:txBody>
                  <a:tcPr marL="85725" marR="38100" marT="19050" marB="19050" anchor="ctr">
                    <a:solidFill>
                      <a:srgbClr val="FFFFFF"/>
                    </a:solidFill>
                  </a:tcPr>
                </a:tc>
                <a:tc>
                  <a:txBody>
                    <a:bodyPr wrap="none"/>
                    <a:lstStyle/>
                    <a:p>
                      <a:pPr algn="l"/>
                      <a:r>
                        <a:rPr sz="800" b="1">
                          <a:solidFill>
                            <a:srgbClr val="2E7D32"/>
                          </a:solidFill>
                          <a:latin typeface="Calibri"/>
                        </a:rPr>
                        <a:t>▲ 11.8%</a:t>
                      </a:r>
                    </a:p>
                  </a:txBody>
                  <a:tcPr marL="85725" marR="38100" marT="19050" marB="19050" anchor="ctr">
                    <a:solidFill>
                      <a:srgbClr val="FFFFFF"/>
                    </a:solidFill>
                  </a:tcPr>
                </a:tc>
                <a:tc>
                  <a:txBody>
                    <a:bodyPr wrap="none"/>
                    <a:lstStyle/>
                    <a:p>
                      <a:pPr algn="l"/>
                      <a:r>
                        <a:rPr sz="800" b="1">
                          <a:solidFill>
                            <a:srgbClr val="2E7D32"/>
                          </a:solidFill>
                          <a:latin typeface="Calibri"/>
                        </a:rPr>
                        <a:t>▲ 10.4%</a:t>
                      </a:r>
                    </a:p>
                  </a:txBody>
                  <a:tcPr marL="85725" marR="38100" marT="19050" marB="19050" anchor="ctr">
                    <a:solidFill>
                      <a:srgbClr val="FFFFFF"/>
                    </a:solidFill>
                  </a:tcPr>
                </a:tc>
                <a:tc>
                  <a:txBody>
                    <a:bodyPr wrap="none"/>
                    <a:lstStyle/>
                    <a:p>
                      <a:pPr algn="l"/>
                      <a:r>
                        <a:rPr sz="800" b="1">
                          <a:solidFill>
                            <a:srgbClr val="2E7D32"/>
                          </a:solidFill>
                          <a:latin typeface="Calibri"/>
                        </a:rPr>
                        <a:t>▲ 9.3%</a:t>
                      </a:r>
                    </a:p>
                  </a:txBody>
                  <a:tcPr marL="85725" marR="38100" marT="19050" marB="19050" anchor="ctr">
                    <a:solidFill>
                      <a:srgbClr val="FFFFFF"/>
                    </a:solidFill>
                  </a:tcPr>
                </a:tc>
                <a:tc>
                  <a:txBody>
                    <a:bodyPr wrap="none"/>
                    <a:lstStyle/>
                    <a:p>
                      <a:pPr algn="l"/>
                      <a:r>
                        <a:rPr sz="800" b="1">
                          <a:solidFill>
                            <a:srgbClr val="2E7D32"/>
                          </a:solidFill>
                          <a:latin typeface="Calibri"/>
                        </a:rPr>
                        <a:t>▲ 8.4%</a:t>
                      </a:r>
                    </a:p>
                  </a:txBody>
                  <a:tcPr marL="85725" marR="38100" marT="19050" marB="19050" anchor="ctr">
                    <a:solidFill>
                      <a:srgbClr val="FFFFFF"/>
                    </a:solidFill>
                  </a:tcPr>
                </a:tc>
                <a:tc>
                  <a:txBody>
                    <a:bodyPr wrap="none"/>
                    <a:lstStyle/>
                    <a:p>
                      <a:pPr algn="l"/>
                      <a:r>
                        <a:rPr sz="800" b="1">
                          <a:solidFill>
                            <a:srgbClr val="2E7D32"/>
                          </a:solidFill>
                          <a:latin typeface="Calibri"/>
                        </a:rPr>
                        <a:t>▲ 7.5%</a:t>
                      </a:r>
                    </a:p>
                  </a:txBody>
                  <a:tcPr marL="85725" marR="38100" marT="19050" marB="19050" anchor="ctr">
                    <a:solidFill>
                      <a:srgbClr val="FFFFFF"/>
                    </a:solidFill>
                  </a:tcPr>
                </a:tc>
                <a:tc>
                  <a:txBody>
                    <a:bodyPr wrap="none"/>
                    <a:lstStyle/>
                    <a:p>
                      <a:pPr algn="l"/>
                      <a:r>
                        <a:rPr sz="800" b="1">
                          <a:solidFill>
                            <a:srgbClr val="2E7D32"/>
                          </a:solidFill>
                          <a:latin typeface="Calibri"/>
                        </a:rPr>
                        <a:t>▲ 6.9%</a:t>
                      </a:r>
                    </a:p>
                  </a:txBody>
                  <a:tcPr marL="85725" marR="38100" marT="19050" marB="19050" anchor="ctr">
                    <a:solidFill>
                      <a:srgbClr val="FFFFFF"/>
                    </a:solidFill>
                  </a:tcPr>
                </a:tc>
                <a:tc>
                  <a:txBody>
                    <a:bodyPr wrap="none"/>
                    <a:lstStyle/>
                    <a:p>
                      <a:pPr algn="l"/>
                      <a:r>
                        <a:rPr sz="800" b="1">
                          <a:solidFill>
                            <a:srgbClr val="2E7D32"/>
                          </a:solidFill>
                          <a:latin typeface="Calibri"/>
                        </a:rPr>
                        <a:t>▲ 6.4%</a:t>
                      </a:r>
                    </a:p>
                  </a:txBody>
                  <a:tcPr marL="85725" marR="38100" marT="19050" marB="19050" anchor="ctr">
                    <a:solidFill>
                      <a:srgbClr val="FFFFFF"/>
                    </a:solidFill>
                  </a:tcPr>
                </a:tc>
                <a:tc>
                  <a:txBody>
                    <a:bodyPr wrap="none"/>
                    <a:lstStyle/>
                    <a:p>
                      <a:pPr algn="l"/>
                      <a:r>
                        <a:rPr sz="800" b="1">
                          <a:solidFill>
                            <a:srgbClr val="2E7D32"/>
                          </a:solidFill>
                          <a:latin typeface="Calibri"/>
                        </a:rPr>
                        <a:t>▲ 6.0%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800" b="1">
                          <a:solidFill>
                            <a:srgbClr val="2E7D32"/>
                          </a:solidFill>
                          <a:latin typeface="Calibri"/>
                        </a:rPr>
                        <a:t>▲ 12.9%</a:t>
                      </a:r>
                    </a:p>
                  </a:txBody>
                  <a:tcPr marL="85725" marR="38100" marT="19050" marB="19050" anchor="ctr">
                    <a:solidFill>
                      <a:srgbClr val="F5F8FA"/>
                    </a:solidFill>
                  </a:tcPr>
                </a:tc>
                <a:tc>
                  <a:txBody>
                    <a:bodyPr wrap="none"/>
                    <a:lstStyle/>
                    <a:p>
                      <a:pPr algn="l"/>
                      <a:r>
                        <a:rPr sz="800" b="1">
                          <a:solidFill>
                            <a:srgbClr val="2E7D32"/>
                          </a:solidFill>
                          <a:latin typeface="Calibri"/>
                        </a:rPr>
                        <a:t>▲ 19.7%</a:t>
                      </a:r>
                    </a:p>
                  </a:txBody>
                  <a:tcPr marL="85725" marR="38100" marT="19050" marB="19050" anchor="ctr">
                    <a:solidFill>
                      <a:srgbClr val="F5F8FA"/>
                    </a:solidFill>
                  </a:tcPr>
                </a:tc>
                <a:tc>
                  <a:txBody>
                    <a:bodyPr wrap="none"/>
                    <a:lstStyle/>
                    <a:p>
                      <a:pPr algn="l"/>
                      <a:r>
                        <a:rPr sz="800" b="1">
                          <a:solidFill>
                            <a:srgbClr val="2E7D32"/>
                          </a:solidFill>
                          <a:latin typeface="Calibri"/>
                        </a:rPr>
                        <a:t>▲ 23.5%</a:t>
                      </a:r>
                    </a:p>
                  </a:txBody>
                  <a:tcPr marL="85725" marR="38100" marT="19050" marB="19050" anchor="ctr">
                    <a:solidFill>
                      <a:srgbClr val="F5F8FA"/>
                    </a:solidFill>
                  </a:tcPr>
                </a:tc>
                <a:tc>
                  <a:txBody>
                    <a:bodyPr wrap="none"/>
                    <a:lstStyle/>
                    <a:p>
                      <a:pPr algn="l"/>
                      <a:r>
                        <a:rPr sz="800" b="1">
                          <a:solidFill>
                            <a:srgbClr val="2E7D32"/>
                          </a:solidFill>
                          <a:latin typeface="Calibri"/>
                        </a:rPr>
                        <a:t>▲ 20.9%</a:t>
                      </a:r>
                    </a:p>
                  </a:txBody>
                  <a:tcPr marL="85725" marR="38100" marT="19050" marB="19050" anchor="ctr">
                    <a:solidFill>
                      <a:srgbClr val="F5F8FA"/>
                    </a:solidFill>
                  </a:tcPr>
                </a:tc>
                <a:tc>
                  <a:txBody>
                    <a:bodyPr wrap="none"/>
                    <a:lstStyle/>
                    <a:p>
                      <a:pPr algn="l"/>
                      <a:r>
                        <a:rPr sz="800" b="1">
                          <a:solidFill>
                            <a:srgbClr val="2E7D32"/>
                          </a:solidFill>
                          <a:latin typeface="Calibri"/>
                        </a:rPr>
                        <a:t>▲ 17.2%</a:t>
                      </a:r>
                    </a:p>
                  </a:txBody>
                  <a:tcPr marL="85725" marR="38100" marT="19050" marB="19050" anchor="ctr">
                    <a:solidFill>
                      <a:srgbClr val="F5F8FA"/>
                    </a:solidFill>
                  </a:tcPr>
                </a:tc>
                <a:tc>
                  <a:txBody>
                    <a:bodyPr wrap="none"/>
                    <a:lstStyle/>
                    <a:p>
                      <a:pPr algn="l"/>
                      <a:r>
                        <a:rPr sz="800" b="1">
                          <a:solidFill>
                            <a:srgbClr val="2E7D32"/>
                          </a:solidFill>
                          <a:latin typeface="Calibri"/>
                        </a:rPr>
                        <a:t>▲ 15.1%</a:t>
                      </a:r>
                    </a:p>
                  </a:txBody>
                  <a:tcPr marL="85725" marR="38100" marT="19050" marB="19050" anchor="ctr">
                    <a:solidFill>
                      <a:srgbClr val="F5F8FA"/>
                    </a:solidFill>
                  </a:tcPr>
                </a:tc>
                <a:tc>
                  <a:txBody>
                    <a:bodyPr wrap="none"/>
                    <a:lstStyle/>
                    <a:p>
                      <a:pPr algn="l"/>
                      <a:r>
                        <a:rPr sz="800" b="1">
                          <a:solidFill>
                            <a:srgbClr val="2E7D32"/>
                          </a:solidFill>
                          <a:latin typeface="Calibri"/>
                        </a:rPr>
                        <a:t>▲ 12.7%</a:t>
                      </a:r>
                    </a:p>
                  </a:txBody>
                  <a:tcPr marL="85725" marR="38100" marT="19050" marB="19050" anchor="ctr">
                    <a:solidFill>
                      <a:srgbClr val="F5F8FA"/>
                    </a:solidFill>
                  </a:tcPr>
                </a:tc>
                <a:tc>
                  <a:txBody>
                    <a:bodyPr wrap="none"/>
                    <a:lstStyle/>
                    <a:p>
                      <a:pPr algn="l"/>
                      <a:r>
                        <a:rPr sz="800" b="1">
                          <a:solidFill>
                            <a:srgbClr val="2E7D32"/>
                          </a:solidFill>
                          <a:latin typeface="Calibri"/>
                        </a:rPr>
                        <a:t>▲ 11.1%</a:t>
                      </a:r>
                    </a:p>
                  </a:txBody>
                  <a:tcPr marL="85725" marR="38100" marT="19050" marB="19050" anchor="ctr">
                    <a:solidFill>
                      <a:srgbClr val="F5F8FA"/>
                    </a:solidFill>
                  </a:tcPr>
                </a:tc>
                <a:tc>
                  <a:txBody>
                    <a:bodyPr wrap="none"/>
                    <a:lstStyle/>
                    <a:p>
                      <a:pPr algn="l"/>
                      <a:r>
                        <a:rPr sz="800" b="1">
                          <a:solidFill>
                            <a:srgbClr val="2E7D32"/>
                          </a:solidFill>
                          <a:latin typeface="Calibri"/>
                        </a:rPr>
                        <a:t>▲ 9.8%</a:t>
                      </a:r>
                    </a:p>
                  </a:txBody>
                  <a:tcPr marL="85725" marR="38100" marT="19050" marB="19050" anchor="ctr">
                    <a:solidFill>
                      <a:srgbClr val="F5F8FA"/>
                    </a:solidFill>
                  </a:tcPr>
                </a:tc>
                <a:tc>
                  <a:txBody>
                    <a:bodyPr wrap="none"/>
                    <a:lstStyle/>
                    <a:p>
                      <a:pPr algn="l"/>
                      <a:r>
                        <a:rPr sz="800" b="1">
                          <a:solidFill>
                            <a:srgbClr val="2E7D32"/>
                          </a:solidFill>
                          <a:latin typeface="Calibri"/>
                        </a:rPr>
                        <a:t>▲ 8.6%</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c>
                  <a:txBody>
                    <a:bodyPr wrap="none"/>
                    <a:lstStyle/>
                    <a:p>
                      <a:pPr algn="l"/>
                      <a:r>
                        <a:rPr sz="800" b="1">
                          <a:solidFill>
                            <a:srgbClr val="2E7D32"/>
                          </a:solidFill>
                          <a:latin typeface="Calibri"/>
                        </a:rPr>
                        <a:t>▲ 6.9%</a:t>
                      </a:r>
                    </a:p>
                  </a:txBody>
                  <a:tcPr marL="85725" marR="38100" marT="19050" marB="19050" anchor="ctr">
                    <a:solidFill>
                      <a:srgbClr val="F5F8FA"/>
                    </a:solidFill>
                  </a:tcPr>
                </a:tc>
                <a:tc>
                  <a:txBody>
                    <a:bodyPr wrap="none"/>
                    <a:lstStyle/>
                    <a:p>
                      <a:pPr algn="l"/>
                      <a:r>
                        <a:rPr sz="800" b="1">
                          <a:solidFill>
                            <a:srgbClr val="2E7D32"/>
                          </a:solidFill>
                          <a:latin typeface="Calibri"/>
                        </a:rPr>
                        <a:t>▲ 6.3%</a:t>
                      </a:r>
                    </a:p>
                  </a:txBody>
                  <a:tcPr marL="85725" marR="38100" marT="19050" marB="19050" anchor="ctr">
                    <a:solidFill>
                      <a:srgbClr val="F5F8FA"/>
                    </a:solidFill>
                  </a:tcPr>
                </a:tc>
                <a:tc>
                  <a:txBody>
                    <a:bodyPr wrap="none"/>
                    <a:lstStyle/>
                    <a:p>
                      <a:pPr algn="l"/>
                      <a:r>
                        <a:rPr sz="800" b="1">
                          <a:solidFill>
                            <a:srgbClr val="2E7D32"/>
                          </a:solidFill>
                          <a:latin typeface="Calibri"/>
                        </a:rPr>
                        <a:t>▲ 5.7%</a:t>
                      </a:r>
                    </a:p>
                  </a:txBody>
                  <a:tcPr marL="85725" marR="38100" marT="19050" marB="19050" anchor="ctr">
                    <a:solidFill>
                      <a:srgbClr val="F5F8FA"/>
                    </a:solidFill>
                  </a:tcPr>
                </a:tc>
                <a:tc>
                  <a:txBody>
                    <a:bodyPr wrap="none"/>
                    <a:lstStyle/>
                    <a:p>
                      <a:pPr algn="l"/>
                      <a:r>
                        <a:rPr sz="800" b="1">
                          <a:solidFill>
                            <a:srgbClr val="2E7D32"/>
                          </a:solidFill>
                          <a:latin typeface="Calibri"/>
                        </a:rPr>
                        <a:t>▲ 5.3%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Idacio</a:t>
                      </a:r>
                    </a:p>
                  </a:txBody>
                  <a:tcPr marL="85725" marR="38100" marT="19050" marB="19050" anchor="ctr">
                    <a:solidFill>
                      <a:srgbClr val="FFFFFF"/>
                    </a:solidFill>
                  </a:tcPr>
                </a:tc>
                <a:tc>
                  <a:txBody>
                    <a:bodyPr wrap="none"/>
                    <a:lstStyle/>
                    <a:p>
                      <a:pPr algn="l"/>
                      <a:r>
                        <a:rPr sz="800" b="1">
                          <a:solidFill>
                            <a:srgbClr val="2E7D32"/>
                          </a:solidFill>
                          <a:latin typeface="Calibri"/>
                        </a:rPr>
                        <a:t>▲ 13.4%</a:t>
                      </a:r>
                    </a:p>
                  </a:txBody>
                  <a:tcPr marL="85725" marR="38100" marT="19050" marB="19050" anchor="ctr">
                    <a:solidFill>
                      <a:srgbClr val="FFFFFF"/>
                    </a:solidFill>
                  </a:tcPr>
                </a:tc>
                <a:tc>
                  <a:txBody>
                    <a:bodyPr wrap="none"/>
                    <a:lstStyle/>
                    <a:p>
                      <a:pPr algn="l"/>
                      <a:r>
                        <a:rPr sz="800" b="1">
                          <a:solidFill>
                            <a:srgbClr val="2E7D32"/>
                          </a:solidFill>
                          <a:latin typeface="Calibri"/>
                        </a:rPr>
                        <a:t>▲ 20.3%</a:t>
                      </a:r>
                    </a:p>
                  </a:txBody>
                  <a:tcPr marL="85725" marR="38100" marT="19050" marB="19050" anchor="ctr">
                    <a:solidFill>
                      <a:srgbClr val="FFFFFF"/>
                    </a:solidFill>
                  </a:tcPr>
                </a:tc>
                <a:tc>
                  <a:txBody>
                    <a:bodyPr wrap="none"/>
                    <a:lstStyle/>
                    <a:p>
                      <a:pPr algn="l"/>
                      <a:r>
                        <a:rPr sz="800" b="1">
                          <a:solidFill>
                            <a:srgbClr val="2E7D32"/>
                          </a:solidFill>
                          <a:latin typeface="Calibri"/>
                        </a:rPr>
                        <a:t>▲ 24.2%</a:t>
                      </a:r>
                    </a:p>
                  </a:txBody>
                  <a:tcPr marL="85725" marR="38100" marT="19050" marB="19050" anchor="ctr">
                    <a:solidFill>
                      <a:srgbClr val="FFFFFF"/>
                    </a:solidFill>
                  </a:tcPr>
                </a:tc>
                <a:tc>
                  <a:txBody>
                    <a:bodyPr wrap="none"/>
                    <a:lstStyle/>
                    <a:p>
                      <a:pPr algn="l"/>
                      <a:r>
                        <a:rPr sz="800" b="1">
                          <a:solidFill>
                            <a:srgbClr val="2E7D32"/>
                          </a:solidFill>
                          <a:latin typeface="Calibri"/>
                        </a:rPr>
                        <a:t>▲ 21.5%</a:t>
                      </a:r>
                    </a:p>
                  </a:txBody>
                  <a:tcPr marL="85725" marR="38100" marT="19050" marB="19050" anchor="ctr">
                    <a:solidFill>
                      <a:srgbClr val="FFFFFF"/>
                    </a:solidFill>
                  </a:tcPr>
                </a:tc>
                <a:tc>
                  <a:txBody>
                    <a:bodyPr wrap="none"/>
                    <a:lstStyle/>
                    <a:p>
                      <a:pPr algn="l"/>
                      <a:r>
                        <a:rPr sz="800" b="1">
                          <a:solidFill>
                            <a:srgbClr val="2E7D32"/>
                          </a:solidFill>
                          <a:latin typeface="Calibri"/>
                        </a:rPr>
                        <a:t>▲ 17.8%</a:t>
                      </a:r>
                    </a:p>
                  </a:txBody>
                  <a:tcPr marL="85725" marR="38100" marT="19050" marB="19050" anchor="ctr">
                    <a:solidFill>
                      <a:srgbClr val="FFFFFF"/>
                    </a:solidFill>
                  </a:tcPr>
                </a:tc>
                <a:tc>
                  <a:txBody>
                    <a:bodyPr wrap="none"/>
                    <a:lstStyle/>
                    <a:p>
                      <a:pPr algn="l"/>
                      <a:r>
                        <a:rPr sz="800" b="1">
                          <a:solidFill>
                            <a:srgbClr val="2E7D32"/>
                          </a:solidFill>
                          <a:latin typeface="Calibri"/>
                        </a:rPr>
                        <a:t>▲ 15.7%</a:t>
                      </a:r>
                    </a:p>
                  </a:txBody>
                  <a:tcPr marL="85725" marR="38100" marT="19050" marB="19050" anchor="ctr">
                    <a:solidFill>
                      <a:srgbClr val="FFFFFF"/>
                    </a:solidFill>
                  </a:tcPr>
                </a:tc>
                <a:tc>
                  <a:txBody>
                    <a:bodyPr wrap="none"/>
                    <a:lstStyle/>
                    <a:p>
                      <a:pPr algn="l"/>
                      <a:r>
                        <a:rPr sz="800" b="1">
                          <a:solidFill>
                            <a:srgbClr val="2E7D32"/>
                          </a:solidFill>
                          <a:latin typeface="Calibri"/>
                        </a:rPr>
                        <a:t>▲ 13.3%</a:t>
                      </a:r>
                    </a:p>
                  </a:txBody>
                  <a:tcPr marL="85725" marR="38100" marT="19050" marB="19050" anchor="ctr">
                    <a:solidFill>
                      <a:srgbClr val="FFFFFF"/>
                    </a:solidFill>
                  </a:tcPr>
                </a:tc>
                <a:tc>
                  <a:txBody>
                    <a:bodyPr wrap="none"/>
                    <a:lstStyle/>
                    <a:p>
                      <a:pPr algn="l"/>
                      <a:r>
                        <a:rPr sz="800" b="1">
                          <a:solidFill>
                            <a:srgbClr val="2E7D32"/>
                          </a:solidFill>
                          <a:latin typeface="Calibri"/>
                        </a:rPr>
                        <a:t>▲ 11.7%</a:t>
                      </a:r>
                    </a:p>
                  </a:txBody>
                  <a:tcPr marL="85725" marR="38100" marT="19050" marB="19050" anchor="ctr">
                    <a:solidFill>
                      <a:srgbClr val="FFFFFF"/>
                    </a:solidFill>
                  </a:tcPr>
                </a:tc>
                <a:tc>
                  <a:txBody>
                    <a:bodyPr wrap="none"/>
                    <a:lstStyle/>
                    <a:p>
                      <a:pPr algn="l"/>
                      <a:r>
                        <a:rPr sz="800" b="1">
                          <a:solidFill>
                            <a:srgbClr val="2E7D32"/>
                          </a:solidFill>
                          <a:latin typeface="Calibri"/>
                        </a:rPr>
                        <a:t>▲ 10.3%</a:t>
                      </a:r>
                    </a:p>
                  </a:txBody>
                  <a:tcPr marL="85725" marR="38100" marT="19050" marB="19050" anchor="ctr">
                    <a:solidFill>
                      <a:srgbClr val="FFFFFF"/>
                    </a:solidFill>
                  </a:tcPr>
                </a:tc>
                <a:tc>
                  <a:txBody>
                    <a:bodyPr wrap="none"/>
                    <a:lstStyle/>
                    <a:p>
                      <a:pPr algn="l"/>
                      <a:r>
                        <a:rPr sz="800" b="1">
                          <a:solidFill>
                            <a:srgbClr val="2E7D32"/>
                          </a:solidFill>
                          <a:latin typeface="Calibri"/>
                        </a:rPr>
                        <a:t>▲ 9.2%</a:t>
                      </a:r>
                    </a:p>
                  </a:txBody>
                  <a:tcPr marL="85725" marR="38100" marT="19050" marB="19050" anchor="ctr">
                    <a:solidFill>
                      <a:srgbClr val="FFFFFF"/>
                    </a:solidFill>
                  </a:tcPr>
                </a:tc>
                <a:tc>
                  <a:txBody>
                    <a:bodyPr wrap="none"/>
                    <a:lstStyle/>
                    <a:p>
                      <a:pPr algn="l"/>
                      <a:r>
                        <a:rPr sz="800" b="1">
                          <a:solidFill>
                            <a:srgbClr val="2E7D32"/>
                          </a:solidFill>
                          <a:latin typeface="Calibri"/>
                        </a:rPr>
                        <a:t>▲ 8.3%</a:t>
                      </a:r>
                    </a:p>
                  </a:txBody>
                  <a:tcPr marL="85725" marR="38100" marT="19050" marB="19050" anchor="ctr">
                    <a:solidFill>
                      <a:srgbClr val="FFFFFF"/>
                    </a:solidFill>
                  </a:tcPr>
                </a:tc>
                <a:tc>
                  <a:txBody>
                    <a:bodyPr wrap="none"/>
                    <a:lstStyle/>
                    <a:p>
                      <a:pPr algn="l"/>
                      <a:r>
                        <a:rPr sz="800" b="1">
                          <a:solidFill>
                            <a:srgbClr val="2E7D32"/>
                          </a:solidFill>
                          <a:latin typeface="Calibri"/>
                        </a:rPr>
                        <a:t>▲ 7.5%</a:t>
                      </a:r>
                    </a:p>
                  </a:txBody>
                  <a:tcPr marL="85725" marR="38100" marT="19050" marB="19050" anchor="ctr">
                    <a:solidFill>
                      <a:srgbClr val="FFFFFF"/>
                    </a:solidFill>
                  </a:tcPr>
                </a:tc>
                <a:tc>
                  <a:txBody>
                    <a:bodyPr wrap="none"/>
                    <a:lstStyle/>
                    <a:p>
                      <a:pPr algn="l"/>
                      <a:r>
                        <a:rPr sz="800" b="1">
                          <a:solidFill>
                            <a:srgbClr val="2E7D32"/>
                          </a:solidFill>
                          <a:latin typeface="Calibri"/>
                        </a:rPr>
                        <a:t>▲ 6.8%</a:t>
                      </a:r>
                    </a:p>
                  </a:txBody>
                  <a:tcPr marL="85725" marR="38100" marT="19050" marB="19050" anchor="ctr">
                    <a:solidFill>
                      <a:srgbClr val="FFFFFF"/>
                    </a:solidFill>
                  </a:tcPr>
                </a:tc>
                <a:tc>
                  <a:txBody>
                    <a:bodyPr wrap="none"/>
                    <a:lstStyle/>
                    <a:p>
                      <a:pPr algn="l"/>
                      <a:r>
                        <a:rPr sz="800" b="1">
                          <a:solidFill>
                            <a:srgbClr val="2E7D32"/>
                          </a:solidFill>
                          <a:latin typeface="Calibri"/>
                        </a:rPr>
                        <a:t>▲ 6.3%</a:t>
                      </a:r>
                    </a:p>
                  </a:txBody>
                  <a:tcPr marL="85725" marR="38100" marT="19050" marB="19050" anchor="ctr">
                    <a:solidFill>
                      <a:srgbClr val="FFFFFF"/>
                    </a:solidFill>
                  </a:tcPr>
                </a:tc>
                <a:tc>
                  <a:txBody>
                    <a:bodyPr wrap="none"/>
                    <a:lstStyle/>
                    <a:p>
                      <a:pPr algn="l"/>
                      <a:r>
                        <a:rPr sz="800" b="1">
                          <a:solidFill>
                            <a:srgbClr val="2E7D32"/>
                          </a:solidFill>
                          <a:latin typeface="Calibri"/>
                        </a:rPr>
                        <a:t>▲ 5.9%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Hulio</a:t>
                      </a:r>
                    </a:p>
                  </a:txBody>
                  <a:tcPr marL="85725" marR="38100" marT="19050" marB="19050" anchor="ctr">
                    <a:solidFill>
                      <a:srgbClr val="F5F8FA"/>
                    </a:solidFill>
                  </a:tcPr>
                </a:tc>
                <a:tc>
                  <a:txBody>
                    <a:bodyPr wrap="none"/>
                    <a:lstStyle/>
                    <a:p>
                      <a:pPr algn="l"/>
                      <a:r>
                        <a:rPr sz="800" b="1">
                          <a:solidFill>
                            <a:srgbClr val="A86F00"/>
                          </a:solidFill>
                          <a:latin typeface="Calibri"/>
                        </a:rPr>
                        <a:t>▶ 10.4%</a:t>
                      </a:r>
                    </a:p>
                  </a:txBody>
                  <a:tcPr marL="85725" marR="38100" marT="19050" marB="19050" anchor="ctr">
                    <a:solidFill>
                      <a:srgbClr val="F5F8FA"/>
                    </a:solidFill>
                  </a:tcPr>
                </a:tc>
                <a:tc>
                  <a:txBody>
                    <a:bodyPr wrap="none"/>
                    <a:lstStyle/>
                    <a:p>
                      <a:pPr algn="l"/>
                      <a:r>
                        <a:rPr sz="800" b="1">
                          <a:solidFill>
                            <a:srgbClr val="A86F00"/>
                          </a:solidFill>
                          <a:latin typeface="Calibri"/>
                        </a:rPr>
                        <a:t>▶ 17.1%</a:t>
                      </a:r>
                    </a:p>
                  </a:txBody>
                  <a:tcPr marL="85725" marR="38100" marT="19050" marB="19050" anchor="ctr">
                    <a:solidFill>
                      <a:srgbClr val="F5F8FA"/>
                    </a:solidFill>
                  </a:tcPr>
                </a:tc>
                <a:tc>
                  <a:txBody>
                    <a:bodyPr wrap="none"/>
                    <a:lstStyle/>
                    <a:p>
                      <a:pPr algn="l"/>
                      <a:r>
                        <a:rPr sz="800" b="1">
                          <a:solidFill>
                            <a:srgbClr val="A86F00"/>
                          </a:solidFill>
                          <a:latin typeface="Calibri"/>
                        </a:rPr>
                        <a:t>▶ 20.9%</a:t>
                      </a:r>
                    </a:p>
                  </a:txBody>
                  <a:tcPr marL="85725" marR="38100" marT="19050" marB="19050" anchor="ctr">
                    <a:solidFill>
                      <a:srgbClr val="F5F8FA"/>
                    </a:solidFill>
                  </a:tcPr>
                </a:tc>
                <a:tc>
                  <a:txBody>
                    <a:bodyPr wrap="none"/>
                    <a:lstStyle/>
                    <a:p>
                      <a:pPr algn="l"/>
                      <a:r>
                        <a:rPr sz="800" b="1">
                          <a:solidFill>
                            <a:srgbClr val="A86F00"/>
                          </a:solidFill>
                          <a:latin typeface="Calibri"/>
                        </a:rPr>
                        <a:t>▶ 18.3%</a:t>
                      </a:r>
                    </a:p>
                  </a:txBody>
                  <a:tcPr marL="85725" marR="38100" marT="19050" marB="19050" anchor="ctr">
                    <a:solidFill>
                      <a:srgbClr val="F5F8FA"/>
                    </a:solidFill>
                  </a:tcPr>
                </a:tc>
                <a:tc>
                  <a:txBody>
                    <a:bodyPr wrap="none"/>
                    <a:lstStyle/>
                    <a:p>
                      <a:pPr algn="l"/>
                      <a:r>
                        <a:rPr sz="800" b="1">
                          <a:solidFill>
                            <a:srgbClr val="A86F00"/>
                          </a:solidFill>
                          <a:latin typeface="Calibri"/>
                        </a:rPr>
                        <a:t>▶ 14.7%</a:t>
                      </a:r>
                    </a:p>
                  </a:txBody>
                  <a:tcPr marL="85725" marR="38100" marT="19050" marB="19050" anchor="ctr">
                    <a:solidFill>
                      <a:srgbClr val="F5F8FA"/>
                    </a:solidFill>
                  </a:tcPr>
                </a:tc>
                <a:tc>
                  <a:txBody>
                    <a:bodyPr wrap="none"/>
                    <a:lstStyle/>
                    <a:p>
                      <a:pPr algn="l"/>
                      <a:r>
                        <a:rPr sz="800" b="1">
                          <a:solidFill>
                            <a:srgbClr val="A86F00"/>
                          </a:solidFill>
                          <a:latin typeface="Calibri"/>
                        </a:rPr>
                        <a:t>▶ 12.6%</a:t>
                      </a:r>
                    </a:p>
                  </a:txBody>
                  <a:tcPr marL="85725" marR="38100" marT="19050" marB="19050" anchor="ctr">
                    <a:solidFill>
                      <a:srgbClr val="F5F8FA"/>
                    </a:solidFill>
                  </a:tcPr>
                </a:tc>
                <a:tc>
                  <a:txBody>
                    <a:bodyPr wrap="none"/>
                    <a:lstStyle/>
                    <a:p>
                      <a:pPr algn="l"/>
                      <a:r>
                        <a:rPr sz="800" b="1">
                          <a:solidFill>
                            <a:srgbClr val="A86F00"/>
                          </a:solidFill>
                          <a:latin typeface="Calibri"/>
                        </a:rPr>
                        <a:t>▶ 10.3%</a:t>
                      </a:r>
                    </a:p>
                  </a:txBody>
                  <a:tcPr marL="85725" marR="38100" marT="19050" marB="19050" anchor="ctr">
                    <a:solidFill>
                      <a:srgbClr val="F5F8FA"/>
                    </a:solidFill>
                  </a:tcPr>
                </a:tc>
                <a:tc>
                  <a:txBody>
                    <a:bodyPr wrap="none"/>
                    <a:lstStyle/>
                    <a:p>
                      <a:pPr algn="l"/>
                      <a:r>
                        <a:rPr sz="800" b="1">
                          <a:solidFill>
                            <a:srgbClr val="A86F00"/>
                          </a:solidFill>
                          <a:latin typeface="Calibri"/>
                        </a:rPr>
                        <a:t>▶ 8.7%</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6.3%</a:t>
                      </a:r>
                    </a:p>
                  </a:txBody>
                  <a:tcPr marL="85725" marR="38100" marT="19050" marB="19050" anchor="ctr">
                    <a:solidFill>
                      <a:srgbClr val="F5F8FA"/>
                    </a:solidFill>
                  </a:tcPr>
                </a:tc>
                <a:tc>
                  <a:txBody>
                    <a:bodyPr wrap="none"/>
                    <a:lstStyle/>
                    <a:p>
                      <a:pPr algn="l"/>
                      <a:r>
                        <a:rPr sz="800" b="1">
                          <a:solidFill>
                            <a:srgbClr val="A86F00"/>
                          </a:solidFill>
                          <a:latin typeface="Calibri"/>
                        </a:rPr>
                        <a:t>▶ 5.4%</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c>
                  <a:txBody>
                    <a:bodyPr wrap="none"/>
                    <a:lstStyle/>
                    <a:p>
                      <a:pPr algn="l"/>
                      <a:r>
                        <a:rPr sz="800" b="1">
                          <a:solidFill>
                            <a:srgbClr val="A86F00"/>
                          </a:solidFill>
                          <a:latin typeface="Calibri"/>
                        </a:rPr>
                        <a:t>▶ 4.0%</a:t>
                      </a:r>
                    </a:p>
                  </a:txBody>
                  <a:tcPr marL="85725" marR="38100" marT="19050" marB="19050" anchor="ctr">
                    <a:solidFill>
                      <a:srgbClr val="F5F8FA"/>
                    </a:solidFill>
                  </a:tcPr>
                </a:tc>
                <a:tc>
                  <a:txBody>
                    <a:bodyPr wrap="none"/>
                    <a:lstStyle/>
                    <a:p>
                      <a:pPr algn="l"/>
                      <a:r>
                        <a:rPr sz="800" b="1">
                          <a:solidFill>
                            <a:srgbClr val="A86F00"/>
                          </a:solidFill>
                          <a:latin typeface="Calibri"/>
                        </a:rPr>
                        <a:t>▶ 3.5%</a:t>
                      </a:r>
                    </a:p>
                  </a:txBody>
                  <a:tcPr marL="85725" marR="38100" marT="19050" marB="19050" anchor="ctr">
                    <a:solidFill>
                      <a:srgbClr val="F5F8FA"/>
                    </a:solidFill>
                  </a:tcPr>
                </a:tc>
                <a:tc>
                  <a:txBody>
                    <a:bodyPr wrap="none"/>
                    <a:lstStyle/>
                    <a:p>
                      <a:pPr algn="l"/>
                      <a:r>
                        <a:rPr sz="800" b="1">
                          <a:solidFill>
                            <a:srgbClr val="A86F00"/>
                          </a:solidFill>
                          <a:latin typeface="Calibri"/>
                        </a:rPr>
                        <a:t>▶ 3.1%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800" b="1">
                          <a:solidFill>
                            <a:srgbClr val="2E7D32"/>
                          </a:solidFill>
                          <a:latin typeface="Calibri"/>
                        </a:rPr>
                        <a:t>▲ 12.9%</a:t>
                      </a:r>
                    </a:p>
                  </a:txBody>
                  <a:tcPr marL="85725" marR="38100" marT="19050" marB="19050" anchor="ctr">
                    <a:solidFill>
                      <a:srgbClr val="FFFFFF"/>
                    </a:solidFill>
                  </a:tcPr>
                </a:tc>
                <a:tc>
                  <a:txBody>
                    <a:bodyPr wrap="none"/>
                    <a:lstStyle/>
                    <a:p>
                      <a:pPr algn="l"/>
                      <a:r>
                        <a:rPr sz="800" b="1">
                          <a:solidFill>
                            <a:srgbClr val="2E7D32"/>
                          </a:solidFill>
                          <a:latin typeface="Calibri"/>
                        </a:rPr>
                        <a:t>▲ 19.8%</a:t>
                      </a:r>
                    </a:p>
                  </a:txBody>
                  <a:tcPr marL="85725" marR="38100" marT="19050" marB="19050" anchor="ctr">
                    <a:solidFill>
                      <a:srgbClr val="FFFFFF"/>
                    </a:solidFill>
                  </a:tcPr>
                </a:tc>
                <a:tc>
                  <a:txBody>
                    <a:bodyPr wrap="none"/>
                    <a:lstStyle/>
                    <a:p>
                      <a:pPr algn="l"/>
                      <a:r>
                        <a:rPr sz="800" b="1">
                          <a:solidFill>
                            <a:srgbClr val="2E7D32"/>
                          </a:solidFill>
                          <a:latin typeface="Calibri"/>
                        </a:rPr>
                        <a:t>▲ 23.6%</a:t>
                      </a:r>
                    </a:p>
                  </a:txBody>
                  <a:tcPr marL="85725" marR="38100" marT="19050" marB="19050" anchor="ctr">
                    <a:solidFill>
                      <a:srgbClr val="FFFFFF"/>
                    </a:solidFill>
                  </a:tcPr>
                </a:tc>
                <a:tc>
                  <a:txBody>
                    <a:bodyPr wrap="none"/>
                    <a:lstStyle/>
                    <a:p>
                      <a:pPr algn="l"/>
                      <a:r>
                        <a:rPr sz="800" b="1">
                          <a:solidFill>
                            <a:srgbClr val="2E7D32"/>
                          </a:solidFill>
                          <a:latin typeface="Calibri"/>
                        </a:rPr>
                        <a:t>▲ 21.0%</a:t>
                      </a:r>
                    </a:p>
                  </a:txBody>
                  <a:tcPr marL="85725" marR="38100" marT="19050" marB="19050" anchor="ctr">
                    <a:solidFill>
                      <a:srgbClr val="FFFFFF"/>
                    </a:solidFill>
                  </a:tcPr>
                </a:tc>
                <a:tc>
                  <a:txBody>
                    <a:bodyPr wrap="none"/>
                    <a:lstStyle/>
                    <a:p>
                      <a:pPr algn="l"/>
                      <a:r>
                        <a:rPr sz="800" b="1">
                          <a:solidFill>
                            <a:srgbClr val="2E7D32"/>
                          </a:solidFill>
                          <a:latin typeface="Calibri"/>
                        </a:rPr>
                        <a:t>▲ 17.3%</a:t>
                      </a:r>
                    </a:p>
                  </a:txBody>
                  <a:tcPr marL="85725" marR="38100" marT="19050" marB="19050" anchor="ctr">
                    <a:solidFill>
                      <a:srgbClr val="FFFFFF"/>
                    </a:solidFill>
                  </a:tcPr>
                </a:tc>
                <a:tc>
                  <a:txBody>
                    <a:bodyPr wrap="none"/>
                    <a:lstStyle/>
                    <a:p>
                      <a:pPr algn="l"/>
                      <a:r>
                        <a:rPr sz="800" b="1">
                          <a:solidFill>
                            <a:srgbClr val="2E7D32"/>
                          </a:solidFill>
                          <a:latin typeface="Calibri"/>
                        </a:rPr>
                        <a:t>▲ 15.2%</a:t>
                      </a:r>
                    </a:p>
                  </a:txBody>
                  <a:tcPr marL="85725" marR="38100" marT="19050" marB="19050" anchor="ctr">
                    <a:solidFill>
                      <a:srgbClr val="FFFFFF"/>
                    </a:solidFill>
                  </a:tcPr>
                </a:tc>
                <a:tc>
                  <a:txBody>
                    <a:bodyPr wrap="none"/>
                    <a:lstStyle/>
                    <a:p>
                      <a:pPr algn="l"/>
                      <a:r>
                        <a:rPr sz="800" b="1">
                          <a:solidFill>
                            <a:srgbClr val="2E7D32"/>
                          </a:solidFill>
                          <a:latin typeface="Calibri"/>
                        </a:rPr>
                        <a:t>▲ 12.8%</a:t>
                      </a:r>
                    </a:p>
                  </a:txBody>
                  <a:tcPr marL="85725" marR="38100" marT="19050" marB="19050" anchor="ctr">
                    <a:solidFill>
                      <a:srgbClr val="FFFFFF"/>
                    </a:solidFill>
                  </a:tcPr>
                </a:tc>
                <a:tc>
                  <a:txBody>
                    <a:bodyPr wrap="none"/>
                    <a:lstStyle/>
                    <a:p>
                      <a:pPr algn="l"/>
                      <a:r>
                        <a:rPr sz="800" b="1">
                          <a:solidFill>
                            <a:srgbClr val="2E7D32"/>
                          </a:solidFill>
                          <a:latin typeface="Calibri"/>
                        </a:rPr>
                        <a:t>▲ 11.2%</a:t>
                      </a:r>
                    </a:p>
                  </a:txBody>
                  <a:tcPr marL="85725" marR="38100" marT="19050" marB="19050" anchor="ctr">
                    <a:solidFill>
                      <a:srgbClr val="FFFFFF"/>
                    </a:solidFill>
                  </a:tcPr>
                </a:tc>
                <a:tc>
                  <a:txBody>
                    <a:bodyPr wrap="none"/>
                    <a:lstStyle/>
                    <a:p>
                      <a:pPr algn="l"/>
                      <a:r>
                        <a:rPr sz="800" b="1">
                          <a:solidFill>
                            <a:srgbClr val="2E7D32"/>
                          </a:solidFill>
                          <a:latin typeface="Calibri"/>
                        </a:rPr>
                        <a:t>▲ 9.9%</a:t>
                      </a:r>
                    </a:p>
                  </a:txBody>
                  <a:tcPr marL="85725" marR="38100" marT="19050" marB="19050" anchor="ctr">
                    <a:solidFill>
                      <a:srgbClr val="FFFFFF"/>
                    </a:solidFill>
                  </a:tcPr>
                </a:tc>
                <a:tc>
                  <a:txBody>
                    <a:bodyPr wrap="none"/>
                    <a:lstStyle/>
                    <a:p>
                      <a:pPr algn="l"/>
                      <a:r>
                        <a:rPr sz="800" b="1">
                          <a:solidFill>
                            <a:srgbClr val="2E7D32"/>
                          </a:solidFill>
                          <a:latin typeface="Calibri"/>
                        </a:rPr>
                        <a:t>▲ 8.7%</a:t>
                      </a:r>
                    </a:p>
                  </a:txBody>
                  <a:tcPr marL="85725" marR="38100" marT="19050" marB="19050" anchor="ctr">
                    <a:solidFill>
                      <a:srgbClr val="FFFFFF"/>
                    </a:solidFill>
                  </a:tcPr>
                </a:tc>
                <a:tc>
                  <a:txBody>
                    <a:bodyPr wrap="none"/>
                    <a:lstStyle/>
                    <a:p>
                      <a:pPr algn="l"/>
                      <a:r>
                        <a:rPr sz="800" b="1">
                          <a:solidFill>
                            <a:srgbClr val="2E7D32"/>
                          </a:solidFill>
                          <a:latin typeface="Calibri"/>
                        </a:rPr>
                        <a:t>▲ 7.8%</a:t>
                      </a:r>
                    </a:p>
                  </a:txBody>
                  <a:tcPr marL="85725" marR="38100" marT="19050" marB="19050" anchor="ctr">
                    <a:solidFill>
                      <a:srgbClr val="FFFFFF"/>
                    </a:solidFill>
                  </a:tcPr>
                </a:tc>
                <a:tc>
                  <a:txBody>
                    <a:bodyPr wrap="none"/>
                    <a:lstStyle/>
                    <a:p>
                      <a:pPr algn="l"/>
                      <a:r>
                        <a:rPr sz="800" b="1">
                          <a:solidFill>
                            <a:srgbClr val="2E7D32"/>
                          </a:solidFill>
                          <a:latin typeface="Calibri"/>
                        </a:rPr>
                        <a:t>▲ 7.0%</a:t>
                      </a:r>
                    </a:p>
                  </a:txBody>
                  <a:tcPr marL="85725" marR="38100" marT="19050" marB="19050" anchor="ctr">
                    <a:solidFill>
                      <a:srgbClr val="FFFFFF"/>
                    </a:solidFill>
                  </a:tcPr>
                </a:tc>
                <a:tc>
                  <a:txBody>
                    <a:bodyPr wrap="none"/>
                    <a:lstStyle/>
                    <a:p>
                      <a:pPr algn="l"/>
                      <a:r>
                        <a:rPr sz="800" b="1">
                          <a:solidFill>
                            <a:srgbClr val="2E7D32"/>
                          </a:solidFill>
                          <a:latin typeface="Calibri"/>
                        </a:rPr>
                        <a:t>▲ 6.4%</a:t>
                      </a:r>
                    </a:p>
                  </a:txBody>
                  <a:tcPr marL="85725" marR="38100" marT="19050" marB="19050" anchor="ctr">
                    <a:solidFill>
                      <a:srgbClr val="FFFFFF"/>
                    </a:solidFill>
                  </a:tcPr>
                </a:tc>
                <a:tc>
                  <a:txBody>
                    <a:bodyPr wrap="none"/>
                    <a:lstStyle/>
                    <a:p>
                      <a:pPr algn="l"/>
                      <a:r>
                        <a:rPr sz="800" b="1">
                          <a:solidFill>
                            <a:srgbClr val="2E7D32"/>
                          </a:solidFill>
                          <a:latin typeface="Calibri"/>
                        </a:rPr>
                        <a:t>▲ 5.8%</a:t>
                      </a:r>
                    </a:p>
                  </a:txBody>
                  <a:tcPr marL="85725" marR="38100" marT="19050" marB="19050" anchor="ctr">
                    <a:solidFill>
                      <a:srgbClr val="FFFFFF"/>
                    </a:solidFill>
                  </a:tcPr>
                </a:tc>
                <a:tc>
                  <a:txBody>
                    <a:bodyPr wrap="none"/>
                    <a:lstStyle/>
                    <a:p>
                      <a:pPr algn="l"/>
                      <a:r>
                        <a:rPr sz="800" b="1">
                          <a:solidFill>
                            <a:srgbClr val="2E7D32"/>
                          </a:solidFill>
                          <a:latin typeface="Calibri"/>
                        </a:rPr>
                        <a:t>▲ 5.4%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Yusimry</a:t>
                      </a:r>
                    </a:p>
                  </a:txBody>
                  <a:tcPr marL="85725" marR="38100" marT="19050" marB="19050" anchor="ctr">
                    <a:solidFill>
                      <a:srgbClr val="F5F8FA"/>
                    </a:solidFill>
                  </a:tcPr>
                </a:tc>
                <a:tc>
                  <a:txBody>
                    <a:bodyPr wrap="none"/>
                    <a:lstStyle/>
                    <a:p>
                      <a:pPr algn="l"/>
                      <a:r>
                        <a:rPr sz="800" b="1">
                          <a:solidFill>
                            <a:srgbClr val="A86F00"/>
                          </a:solidFill>
                          <a:latin typeface="Calibri"/>
                        </a:rPr>
                        <a:t>▶ 10.2%</a:t>
                      </a:r>
                    </a:p>
                  </a:txBody>
                  <a:tcPr marL="85725" marR="38100" marT="19050" marB="19050" anchor="ctr">
                    <a:solidFill>
                      <a:srgbClr val="F5F8FA"/>
                    </a:solidFill>
                  </a:tcPr>
                </a:tc>
                <a:tc>
                  <a:txBody>
                    <a:bodyPr wrap="none"/>
                    <a:lstStyle/>
                    <a:p>
                      <a:pPr algn="l"/>
                      <a:r>
                        <a:rPr sz="800" b="1">
                          <a:solidFill>
                            <a:srgbClr val="A86F00"/>
                          </a:solidFill>
                          <a:latin typeface="Calibri"/>
                        </a:rPr>
                        <a:t>▶ 16.9%</a:t>
                      </a:r>
                    </a:p>
                  </a:txBody>
                  <a:tcPr marL="85725" marR="38100" marT="19050" marB="19050" anchor="ctr">
                    <a:solidFill>
                      <a:srgbClr val="F5F8FA"/>
                    </a:solidFill>
                  </a:tcPr>
                </a:tc>
                <a:tc>
                  <a:txBody>
                    <a:bodyPr wrap="none"/>
                    <a:lstStyle/>
                    <a:p>
                      <a:pPr algn="l"/>
                      <a:r>
                        <a:rPr sz="800" b="1">
                          <a:solidFill>
                            <a:srgbClr val="A86F00"/>
                          </a:solidFill>
                          <a:latin typeface="Calibri"/>
                        </a:rPr>
                        <a:t>▶ 20.6%</a:t>
                      </a:r>
                    </a:p>
                  </a:txBody>
                  <a:tcPr marL="85725" marR="38100" marT="19050" marB="19050" anchor="ctr">
                    <a:solidFill>
                      <a:srgbClr val="F5F8FA"/>
                    </a:solidFill>
                  </a:tcPr>
                </a:tc>
                <a:tc>
                  <a:txBody>
                    <a:bodyPr wrap="none"/>
                    <a:lstStyle/>
                    <a:p>
                      <a:pPr algn="l"/>
                      <a:r>
                        <a:rPr sz="800" b="1">
                          <a:solidFill>
                            <a:srgbClr val="A86F00"/>
                          </a:solidFill>
                          <a:latin typeface="Calibri"/>
                        </a:rPr>
                        <a:t>▶ 18.0%</a:t>
                      </a:r>
                    </a:p>
                  </a:txBody>
                  <a:tcPr marL="85725" marR="38100" marT="19050" marB="19050" anchor="ctr">
                    <a:solidFill>
                      <a:srgbClr val="F5F8FA"/>
                    </a:solidFill>
                  </a:tcPr>
                </a:tc>
                <a:tc>
                  <a:txBody>
                    <a:bodyPr wrap="none"/>
                    <a:lstStyle/>
                    <a:p>
                      <a:pPr algn="l"/>
                      <a:r>
                        <a:rPr sz="800" b="1">
                          <a:solidFill>
                            <a:srgbClr val="A86F00"/>
                          </a:solidFill>
                          <a:latin typeface="Calibri"/>
                        </a:rPr>
                        <a:t>▶ 14.5%</a:t>
                      </a:r>
                    </a:p>
                  </a:txBody>
                  <a:tcPr marL="85725" marR="38100" marT="19050" marB="19050" anchor="ctr">
                    <a:solidFill>
                      <a:srgbClr val="F5F8FA"/>
                    </a:solidFill>
                  </a:tcPr>
                </a:tc>
                <a:tc>
                  <a:txBody>
                    <a:bodyPr wrap="none"/>
                    <a:lstStyle/>
                    <a:p>
                      <a:pPr algn="l"/>
                      <a:r>
                        <a:rPr sz="800" b="1">
                          <a:solidFill>
                            <a:srgbClr val="A86F00"/>
                          </a:solidFill>
                          <a:latin typeface="Calibri"/>
                        </a:rPr>
                        <a:t>▶ 12.4%</a:t>
                      </a:r>
                    </a:p>
                  </a:txBody>
                  <a:tcPr marL="85725" marR="38100" marT="19050" marB="19050" anchor="ctr">
                    <a:solidFill>
                      <a:srgbClr val="F5F8FA"/>
                    </a:solidFill>
                  </a:tcPr>
                </a:tc>
                <a:tc>
                  <a:txBody>
                    <a:bodyPr wrap="none"/>
                    <a:lstStyle/>
                    <a:p>
                      <a:pPr algn="l"/>
                      <a:r>
                        <a:rPr sz="800" b="1">
                          <a:solidFill>
                            <a:srgbClr val="A86F00"/>
                          </a:solidFill>
                          <a:latin typeface="Calibri"/>
                        </a:rPr>
                        <a:t>▶ 10.1%</a:t>
                      </a:r>
                    </a:p>
                  </a:txBody>
                  <a:tcPr marL="85725" marR="38100" marT="19050" marB="19050" anchor="ctr">
                    <a:solidFill>
                      <a:srgbClr val="F5F8FA"/>
                    </a:solidFill>
                  </a:tcPr>
                </a:tc>
                <a:tc>
                  <a:txBody>
                    <a:bodyPr wrap="none"/>
                    <a:lstStyle/>
                    <a:p>
                      <a:pPr algn="l"/>
                      <a:r>
                        <a:rPr sz="800" b="1">
                          <a:solidFill>
                            <a:srgbClr val="A86F00"/>
                          </a:solidFill>
                          <a:latin typeface="Calibri"/>
                        </a:rPr>
                        <a:t>▶ 8.5%</a:t>
                      </a:r>
                    </a:p>
                  </a:txBody>
                  <a:tcPr marL="85725" marR="38100" marT="19050" marB="19050" anchor="ctr">
                    <a:solidFill>
                      <a:srgbClr val="F5F8FA"/>
                    </a:solidFill>
                  </a:tcPr>
                </a:tc>
                <a:tc>
                  <a:txBody>
                    <a:bodyPr wrap="none"/>
                    <a:lstStyle/>
                    <a:p>
                      <a:pPr algn="l"/>
                      <a:r>
                        <a:rPr sz="800" b="1">
                          <a:solidFill>
                            <a:srgbClr val="A86F00"/>
                          </a:solidFill>
                          <a:latin typeface="Calibri"/>
                        </a:rPr>
                        <a:t>▶ 7.2%</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5.2%</a:t>
                      </a:r>
                    </a:p>
                  </a:txBody>
                  <a:tcPr marL="85725" marR="38100" marT="19050" marB="19050" anchor="ctr">
                    <a:solidFill>
                      <a:srgbClr val="F5F8FA"/>
                    </a:solidFill>
                  </a:tcPr>
                </a:tc>
                <a:tc>
                  <a:txBody>
                    <a:bodyPr wrap="none"/>
                    <a:lstStyle/>
                    <a:p>
                      <a:pPr algn="l"/>
                      <a:r>
                        <a:rPr sz="800" b="1">
                          <a:solidFill>
                            <a:srgbClr val="A86F00"/>
                          </a:solidFill>
                          <a:latin typeface="Calibri"/>
                        </a:rPr>
                        <a:t>▶ 4.4%</a:t>
                      </a:r>
                    </a:p>
                  </a:txBody>
                  <a:tcPr marL="85725" marR="38100" marT="19050" marB="19050" anchor="ctr">
                    <a:solidFill>
                      <a:srgbClr val="F5F8FA"/>
                    </a:solidFill>
                  </a:tcPr>
                </a:tc>
                <a:tc>
                  <a:txBody>
                    <a:bodyPr wrap="none"/>
                    <a:lstStyle/>
                    <a:p>
                      <a:pPr algn="l"/>
                      <a:r>
                        <a:rPr sz="800" b="1">
                          <a:solidFill>
                            <a:srgbClr val="A86F00"/>
                          </a:solidFill>
                          <a:latin typeface="Calibri"/>
                        </a:rPr>
                        <a:t>▶ 3.8%</a:t>
                      </a:r>
                    </a:p>
                  </a:txBody>
                  <a:tcPr marL="85725" marR="38100" marT="19050" marB="19050" anchor="ctr">
                    <a:solidFill>
                      <a:srgbClr val="F5F8FA"/>
                    </a:solidFill>
                  </a:tcPr>
                </a:tc>
                <a:tc>
                  <a:txBody>
                    <a:bodyPr wrap="none"/>
                    <a:lstStyle/>
                    <a:p>
                      <a:pPr algn="l"/>
                      <a:r>
                        <a:rPr sz="800" b="1">
                          <a:solidFill>
                            <a:srgbClr val="A86F00"/>
                          </a:solidFill>
                          <a:latin typeface="Calibri"/>
                        </a:rPr>
                        <a:t>▶ 3.3%</a:t>
                      </a:r>
                    </a:p>
                  </a:txBody>
                  <a:tcPr marL="85725" marR="38100" marT="19050" marB="19050" anchor="ctr">
                    <a:solidFill>
                      <a:srgbClr val="F5F8FA"/>
                    </a:solidFill>
                  </a:tcPr>
                </a:tc>
                <a:tc>
                  <a:txBody>
                    <a:bodyPr wrap="none"/>
                    <a:lstStyle/>
                    <a:p>
                      <a:pPr algn="l"/>
                      <a:r>
                        <a:rPr sz="800" b="1">
                          <a:solidFill>
                            <a:srgbClr val="A86F00"/>
                          </a:solidFill>
                          <a:latin typeface="Calibri"/>
                        </a:rPr>
                        <a:t>▶ 2.9%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Yuflyma</a:t>
                      </a:r>
                    </a:p>
                  </a:txBody>
                  <a:tcPr marL="85725" marR="38100" marT="19050" marB="19050" anchor="ctr">
                    <a:solidFill>
                      <a:srgbClr val="FFFFFF"/>
                    </a:solidFill>
                  </a:tcPr>
                </a:tc>
                <a:tc>
                  <a:txBody>
                    <a:bodyPr wrap="none"/>
                    <a:lstStyle/>
                    <a:p>
                      <a:pPr algn="l"/>
                      <a:r>
                        <a:rPr sz="800" b="1">
                          <a:solidFill>
                            <a:srgbClr val="A86F00"/>
                          </a:solidFill>
                          <a:latin typeface="Calibri"/>
                        </a:rPr>
                        <a:t>▶ 12.2%</a:t>
                      </a:r>
                    </a:p>
                  </a:txBody>
                  <a:tcPr marL="85725" marR="38100" marT="19050" marB="19050" anchor="ctr">
                    <a:solidFill>
                      <a:srgbClr val="FFFFFF"/>
                    </a:solidFill>
                  </a:tcPr>
                </a:tc>
                <a:tc>
                  <a:txBody>
                    <a:bodyPr wrap="none"/>
                    <a:lstStyle/>
                    <a:p>
                      <a:pPr algn="l"/>
                      <a:r>
                        <a:rPr sz="800" b="1">
                          <a:solidFill>
                            <a:srgbClr val="A86F00"/>
                          </a:solidFill>
                          <a:latin typeface="Calibri"/>
                        </a:rPr>
                        <a:t>▶ 19.0%</a:t>
                      </a:r>
                    </a:p>
                  </a:txBody>
                  <a:tcPr marL="85725" marR="38100" marT="19050" marB="19050" anchor="ctr">
                    <a:solidFill>
                      <a:srgbClr val="FFFFFF"/>
                    </a:solidFill>
                  </a:tcPr>
                </a:tc>
                <a:tc>
                  <a:txBody>
                    <a:bodyPr wrap="none"/>
                    <a:lstStyle/>
                    <a:p>
                      <a:pPr algn="l"/>
                      <a:r>
                        <a:rPr sz="800" b="1">
                          <a:solidFill>
                            <a:srgbClr val="A86F00"/>
                          </a:solidFill>
                          <a:latin typeface="Calibri"/>
                        </a:rPr>
                        <a:t>▶ 22.8%</a:t>
                      </a:r>
                    </a:p>
                  </a:txBody>
                  <a:tcPr marL="85725" marR="38100" marT="19050" marB="19050" anchor="ctr">
                    <a:solidFill>
                      <a:srgbClr val="FFFFFF"/>
                    </a:solidFill>
                  </a:tcPr>
                </a:tc>
                <a:tc>
                  <a:txBody>
                    <a:bodyPr wrap="none"/>
                    <a:lstStyle/>
                    <a:p>
                      <a:pPr algn="l"/>
                      <a:r>
                        <a:rPr sz="800" b="1">
                          <a:solidFill>
                            <a:srgbClr val="A86F00"/>
                          </a:solidFill>
                          <a:latin typeface="Calibri"/>
                        </a:rPr>
                        <a:t>▶ 20.1%</a:t>
                      </a:r>
                    </a:p>
                  </a:txBody>
                  <a:tcPr marL="85725" marR="38100" marT="19050" marB="19050" anchor="ctr">
                    <a:solidFill>
                      <a:srgbClr val="FFFFFF"/>
                    </a:solidFill>
                  </a:tcPr>
                </a:tc>
                <a:tc>
                  <a:txBody>
                    <a:bodyPr wrap="none"/>
                    <a:lstStyle/>
                    <a:p>
                      <a:pPr algn="l"/>
                      <a:r>
                        <a:rPr sz="800" b="1">
                          <a:solidFill>
                            <a:srgbClr val="A86F00"/>
                          </a:solidFill>
                          <a:latin typeface="Calibri"/>
                        </a:rPr>
                        <a:t>▶ 16.5%</a:t>
                      </a:r>
                    </a:p>
                  </a:txBody>
                  <a:tcPr marL="85725" marR="38100" marT="19050" marB="19050" anchor="ctr">
                    <a:solidFill>
                      <a:srgbClr val="FFFFFF"/>
                    </a:solidFill>
                  </a:tcPr>
                </a:tc>
                <a:tc>
                  <a:txBody>
                    <a:bodyPr wrap="none"/>
                    <a:lstStyle/>
                    <a:p>
                      <a:pPr algn="l"/>
                      <a:r>
                        <a:rPr sz="800" b="1">
                          <a:solidFill>
                            <a:srgbClr val="A86F00"/>
                          </a:solidFill>
                          <a:latin typeface="Calibri"/>
                        </a:rPr>
                        <a:t>▶ 14.4%</a:t>
                      </a:r>
                    </a:p>
                  </a:txBody>
                  <a:tcPr marL="85725" marR="38100" marT="19050" marB="19050" anchor="ctr">
                    <a:solidFill>
                      <a:srgbClr val="FFFFFF"/>
                    </a:solidFill>
                  </a:tcPr>
                </a:tc>
                <a:tc>
                  <a:txBody>
                    <a:bodyPr wrap="none"/>
                    <a:lstStyle/>
                    <a:p>
                      <a:pPr algn="l"/>
                      <a:r>
                        <a:rPr sz="800" b="1">
                          <a:solidFill>
                            <a:srgbClr val="A86F00"/>
                          </a:solidFill>
                          <a:latin typeface="Calibri"/>
                        </a:rPr>
                        <a:t>▶ 12.0%</a:t>
                      </a:r>
                    </a:p>
                  </a:txBody>
                  <a:tcPr marL="85725" marR="38100" marT="19050" marB="19050" anchor="ctr">
                    <a:solidFill>
                      <a:srgbClr val="FFFFFF"/>
                    </a:solidFill>
                  </a:tcPr>
                </a:tc>
                <a:tc>
                  <a:txBody>
                    <a:bodyPr wrap="none"/>
                    <a:lstStyle/>
                    <a:p>
                      <a:pPr algn="l"/>
                      <a:r>
                        <a:rPr sz="800" b="1">
                          <a:solidFill>
                            <a:srgbClr val="A86F00"/>
                          </a:solidFill>
                          <a:latin typeface="Calibri"/>
                        </a:rPr>
                        <a:t>▶ 10.4%</a:t>
                      </a:r>
                    </a:p>
                  </a:txBody>
                  <a:tcPr marL="85725" marR="38100" marT="19050" marB="19050" anchor="ctr">
                    <a:solidFill>
                      <a:srgbClr val="FFFFFF"/>
                    </a:solidFill>
                  </a:tcPr>
                </a:tc>
                <a:tc>
                  <a:txBody>
                    <a:bodyPr wrap="none"/>
                    <a:lstStyle/>
                    <a:p>
                      <a:pPr algn="l"/>
                      <a:r>
                        <a:rPr sz="800" b="1">
                          <a:solidFill>
                            <a:srgbClr val="A86F00"/>
                          </a:solidFill>
                          <a:latin typeface="Calibri"/>
                        </a:rPr>
                        <a:t>▶ 9.1%</a:t>
                      </a:r>
                    </a:p>
                  </a:txBody>
                  <a:tcPr marL="85725" marR="38100" marT="19050" marB="19050" anchor="ctr">
                    <a:solidFill>
                      <a:srgbClr val="FFFFFF"/>
                    </a:solidFill>
                  </a:tcPr>
                </a:tc>
                <a:tc>
                  <a:txBody>
                    <a:bodyPr wrap="none"/>
                    <a:lstStyle/>
                    <a:p>
                      <a:pPr algn="l"/>
                      <a:r>
                        <a:rPr sz="800" b="1">
                          <a:solidFill>
                            <a:srgbClr val="A86F00"/>
                          </a:solidFill>
                          <a:latin typeface="Calibri"/>
                        </a:rPr>
                        <a:t>▶ 8.0%</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5.6%</a:t>
                      </a:r>
                    </a:p>
                  </a:txBody>
                  <a:tcPr marL="85725" marR="38100" marT="19050" marB="19050" anchor="ctr">
                    <a:solidFill>
                      <a:srgbClr val="FFFFFF"/>
                    </a:solidFill>
                  </a:tcPr>
                </a:tc>
                <a:tc>
                  <a:txBody>
                    <a:bodyPr wrap="none"/>
                    <a:lstStyle/>
                    <a:p>
                      <a:pPr algn="l"/>
                      <a:r>
                        <a:rPr sz="800" b="1">
                          <a:solidFill>
                            <a:srgbClr val="A86F00"/>
                          </a:solidFill>
                          <a:latin typeface="Calibri"/>
                        </a:rPr>
                        <a:t>▶ 5.1%</a:t>
                      </a:r>
                    </a:p>
                  </a:txBody>
                  <a:tcPr marL="85725" marR="38100" marT="19050" marB="19050" anchor="ctr">
                    <a:solidFill>
                      <a:srgbClr val="FFFFFF"/>
                    </a:solidFill>
                  </a:tcPr>
                </a:tc>
                <a:tc>
                  <a:txBody>
                    <a:bodyPr wrap="none"/>
                    <a:lstStyle/>
                    <a:p>
                      <a:pPr algn="l"/>
                      <a:r>
                        <a:rPr sz="800" b="1">
                          <a:solidFill>
                            <a:srgbClr val="A86F00"/>
                          </a:solidFill>
                          <a:latin typeface="Calibri"/>
                        </a:rPr>
                        <a:t>▶ 4.7%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Simlandi</a:t>
                      </a:r>
                    </a:p>
                  </a:txBody>
                  <a:tcPr marL="85725" marR="38100" marT="19050" marB="19050" anchor="ctr">
                    <a:solidFill>
                      <a:srgbClr val="F5F8FA"/>
                    </a:solidFill>
                  </a:tcPr>
                </a:tc>
                <a:tc>
                  <a:txBody>
                    <a:bodyPr wrap="none"/>
                    <a:lstStyle/>
                    <a:p>
                      <a:pPr algn="l"/>
                      <a:r>
                        <a:rPr sz="800" b="1">
                          <a:solidFill>
                            <a:srgbClr val="A86F00"/>
                          </a:solidFill>
                          <a:latin typeface="Calibri"/>
                        </a:rPr>
                        <a:t>▶ 11.6%</a:t>
                      </a:r>
                    </a:p>
                  </a:txBody>
                  <a:tcPr marL="85725" marR="38100" marT="19050" marB="19050" anchor="ctr">
                    <a:solidFill>
                      <a:srgbClr val="F5F8FA"/>
                    </a:solidFill>
                  </a:tcPr>
                </a:tc>
                <a:tc>
                  <a:txBody>
                    <a:bodyPr wrap="none"/>
                    <a:lstStyle/>
                    <a:p>
                      <a:pPr algn="l"/>
                      <a:r>
                        <a:rPr sz="800" b="1">
                          <a:solidFill>
                            <a:srgbClr val="A86F00"/>
                          </a:solidFill>
                          <a:latin typeface="Calibri"/>
                        </a:rPr>
                        <a:t>▶ 18.4%</a:t>
                      </a:r>
                    </a:p>
                  </a:txBody>
                  <a:tcPr marL="85725" marR="38100" marT="19050" marB="19050" anchor="ctr">
                    <a:solidFill>
                      <a:srgbClr val="F5F8FA"/>
                    </a:solidFill>
                  </a:tcPr>
                </a:tc>
                <a:tc>
                  <a:txBody>
                    <a:bodyPr wrap="none"/>
                    <a:lstStyle/>
                    <a:p>
                      <a:pPr algn="l"/>
                      <a:r>
                        <a:rPr sz="800" b="1">
                          <a:solidFill>
                            <a:srgbClr val="A86F00"/>
                          </a:solidFill>
                          <a:latin typeface="Calibri"/>
                        </a:rPr>
                        <a:t>▶ 22.2%</a:t>
                      </a:r>
                    </a:p>
                  </a:txBody>
                  <a:tcPr marL="85725" marR="38100" marT="19050" marB="19050" anchor="ctr">
                    <a:solidFill>
                      <a:srgbClr val="F5F8FA"/>
                    </a:solidFill>
                  </a:tcPr>
                </a:tc>
                <a:tc>
                  <a:txBody>
                    <a:bodyPr wrap="none"/>
                    <a:lstStyle/>
                    <a:p>
                      <a:pPr algn="l"/>
                      <a:r>
                        <a:rPr sz="800" b="1">
                          <a:solidFill>
                            <a:srgbClr val="A86F00"/>
                          </a:solidFill>
                          <a:latin typeface="Calibri"/>
                        </a:rPr>
                        <a:t>▶ 19.5%</a:t>
                      </a:r>
                    </a:p>
                  </a:txBody>
                  <a:tcPr marL="85725" marR="38100" marT="19050" marB="19050" anchor="ctr">
                    <a:solidFill>
                      <a:srgbClr val="F5F8FA"/>
                    </a:solidFill>
                  </a:tcPr>
                </a:tc>
                <a:tc>
                  <a:txBody>
                    <a:bodyPr wrap="none"/>
                    <a:lstStyle/>
                    <a:p>
                      <a:pPr algn="l"/>
                      <a:r>
                        <a:rPr sz="800" b="1">
                          <a:solidFill>
                            <a:srgbClr val="A86F00"/>
                          </a:solidFill>
                          <a:latin typeface="Calibri"/>
                        </a:rPr>
                        <a:t>▶ 15.9%</a:t>
                      </a:r>
                    </a:p>
                  </a:txBody>
                  <a:tcPr marL="85725" marR="38100" marT="19050" marB="19050" anchor="ctr">
                    <a:solidFill>
                      <a:srgbClr val="F5F8FA"/>
                    </a:solidFill>
                  </a:tcPr>
                </a:tc>
                <a:tc>
                  <a:txBody>
                    <a:bodyPr wrap="none"/>
                    <a:lstStyle/>
                    <a:p>
                      <a:pPr algn="l"/>
                      <a:r>
                        <a:rPr sz="800" b="1">
                          <a:solidFill>
                            <a:srgbClr val="A86F00"/>
                          </a:solidFill>
                          <a:latin typeface="Calibri"/>
                        </a:rPr>
                        <a:t>▶ 13.8%</a:t>
                      </a:r>
                    </a:p>
                  </a:txBody>
                  <a:tcPr marL="85725" marR="38100" marT="19050" marB="19050" anchor="ctr">
                    <a:solidFill>
                      <a:srgbClr val="F5F8FA"/>
                    </a:solidFill>
                  </a:tcPr>
                </a:tc>
                <a:tc>
                  <a:txBody>
                    <a:bodyPr wrap="none"/>
                    <a:lstStyle/>
                    <a:p>
                      <a:pPr algn="l"/>
                      <a:r>
                        <a:rPr sz="800" b="1">
                          <a:solidFill>
                            <a:srgbClr val="A86F00"/>
                          </a:solidFill>
                          <a:latin typeface="Calibri"/>
                        </a:rPr>
                        <a:t>▶ 11.5%</a:t>
                      </a:r>
                    </a:p>
                  </a:txBody>
                  <a:tcPr marL="85725" marR="38100" marT="19050" marB="19050" anchor="ctr">
                    <a:solidFill>
                      <a:srgbClr val="F5F8FA"/>
                    </a:solidFill>
                  </a:tcPr>
                </a:tc>
                <a:tc>
                  <a:txBody>
                    <a:bodyPr wrap="none"/>
                    <a:lstStyle/>
                    <a:p>
                      <a:pPr algn="l"/>
                      <a:r>
                        <a:rPr sz="800" b="1">
                          <a:solidFill>
                            <a:srgbClr val="A86F00"/>
                          </a:solidFill>
                          <a:latin typeface="Calibri"/>
                        </a:rPr>
                        <a:t>▶ 9.9%</a:t>
                      </a:r>
                    </a:p>
                  </a:txBody>
                  <a:tcPr marL="85725" marR="38100" marT="19050" marB="19050" anchor="ctr">
                    <a:solidFill>
                      <a:srgbClr val="F5F8FA"/>
                    </a:solidFill>
                  </a:tcPr>
                </a:tc>
                <a:tc>
                  <a:txBody>
                    <a:bodyPr wrap="none"/>
                    <a:lstStyle/>
                    <a:p>
                      <a:pPr algn="l"/>
                      <a:r>
                        <a:rPr sz="800" b="1">
                          <a:solidFill>
                            <a:srgbClr val="A86F00"/>
                          </a:solidFill>
                          <a:latin typeface="Calibri"/>
                        </a:rPr>
                        <a:t>▶ 8.6%</a:t>
                      </a:r>
                    </a:p>
                  </a:txBody>
                  <a:tcPr marL="85725" marR="38100" marT="19050" marB="19050" anchor="ctr">
                    <a:solidFill>
                      <a:srgbClr val="F5F8FA"/>
                    </a:solidFill>
                  </a:tcPr>
                </a:tc>
                <a:tc>
                  <a:txBody>
                    <a:bodyPr wrap="none"/>
                    <a:lstStyle/>
                    <a:p>
                      <a:pPr algn="l"/>
                      <a:r>
                        <a:rPr sz="800" b="1">
                          <a:solidFill>
                            <a:srgbClr val="A86F00"/>
                          </a:solidFill>
                          <a:latin typeface="Calibri"/>
                        </a:rPr>
                        <a:t>▶ 7.5%</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c>
                  <a:txBody>
                    <a:bodyPr wrap="none"/>
                    <a:lstStyle/>
                    <a:p>
                      <a:pPr algn="l"/>
                      <a:r>
                        <a:rPr sz="800" b="1">
                          <a:solidFill>
                            <a:srgbClr val="A86F00"/>
                          </a:solidFill>
                          <a:latin typeface="Calibri"/>
                        </a:rPr>
                        <a:t>▶ 5.7%</a:t>
                      </a:r>
                    </a:p>
                  </a:txBody>
                  <a:tcPr marL="85725" marR="38100" marT="19050" marB="19050" anchor="ctr">
                    <a:solidFill>
                      <a:srgbClr val="F5F8FA"/>
                    </a:solidFill>
                  </a:tcPr>
                </a:tc>
                <a:tc>
                  <a:txBody>
                    <a:bodyPr wrap="none"/>
                    <a:lstStyle/>
                    <a:p>
                      <a:pPr algn="l"/>
                      <a:r>
                        <a:rPr sz="800" b="1">
                          <a:solidFill>
                            <a:srgbClr val="A86F00"/>
                          </a:solidFill>
                          <a:latin typeface="Calibri"/>
                        </a:rPr>
                        <a:t>▶ 5.1%</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c>
                  <a:txBody>
                    <a:bodyPr wrap="none"/>
                    <a:lstStyle/>
                    <a:p>
                      <a:pPr algn="l"/>
                      <a:r>
                        <a:rPr sz="800" b="1">
                          <a:solidFill>
                            <a:srgbClr val="A86F00"/>
                          </a:solidFill>
                          <a:latin typeface="Calibri"/>
                        </a:rPr>
                        <a:t>▶ 4.2%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800" b="1">
                          <a:solidFill>
                            <a:srgbClr val="A86F00"/>
                          </a:solidFill>
                          <a:latin typeface="Calibri"/>
                        </a:rPr>
                        <a:t>▶ 12.2%</a:t>
                      </a:r>
                    </a:p>
                  </a:txBody>
                  <a:tcPr marL="85725" marR="38100" marT="19050" marB="19050" anchor="ctr">
                    <a:solidFill>
                      <a:srgbClr val="FFFFFF"/>
                    </a:solidFill>
                  </a:tcPr>
                </a:tc>
                <a:tc>
                  <a:txBody>
                    <a:bodyPr wrap="none"/>
                    <a:lstStyle/>
                    <a:p>
                      <a:pPr algn="l"/>
                      <a:r>
                        <a:rPr sz="800" b="1">
                          <a:solidFill>
                            <a:srgbClr val="A86F00"/>
                          </a:solidFill>
                          <a:latin typeface="Calibri"/>
                        </a:rPr>
                        <a:t>▶ 19.0%</a:t>
                      </a:r>
                    </a:p>
                  </a:txBody>
                  <a:tcPr marL="85725" marR="38100" marT="19050" marB="19050" anchor="ctr">
                    <a:solidFill>
                      <a:srgbClr val="FFFFFF"/>
                    </a:solidFill>
                  </a:tcPr>
                </a:tc>
                <a:tc>
                  <a:txBody>
                    <a:bodyPr wrap="none"/>
                    <a:lstStyle/>
                    <a:p>
                      <a:pPr algn="l"/>
                      <a:r>
                        <a:rPr sz="800" b="1">
                          <a:solidFill>
                            <a:srgbClr val="A86F00"/>
                          </a:solidFill>
                          <a:latin typeface="Calibri"/>
                        </a:rPr>
                        <a:t>▶ 22.8%</a:t>
                      </a:r>
                    </a:p>
                  </a:txBody>
                  <a:tcPr marL="85725" marR="38100" marT="19050" marB="19050" anchor="ctr">
                    <a:solidFill>
                      <a:srgbClr val="FFFFFF"/>
                    </a:solidFill>
                  </a:tcPr>
                </a:tc>
                <a:tc>
                  <a:txBody>
                    <a:bodyPr wrap="none"/>
                    <a:lstStyle/>
                    <a:p>
                      <a:pPr algn="l"/>
                      <a:r>
                        <a:rPr sz="800" b="1">
                          <a:solidFill>
                            <a:srgbClr val="A86F00"/>
                          </a:solidFill>
                          <a:latin typeface="Calibri"/>
                        </a:rPr>
                        <a:t>▶ 20.2%</a:t>
                      </a:r>
                    </a:p>
                  </a:txBody>
                  <a:tcPr marL="85725" marR="38100" marT="19050" marB="19050" anchor="ctr">
                    <a:solidFill>
                      <a:srgbClr val="FFFFFF"/>
                    </a:solidFill>
                  </a:tcPr>
                </a:tc>
                <a:tc>
                  <a:txBody>
                    <a:bodyPr wrap="none"/>
                    <a:lstStyle/>
                    <a:p>
                      <a:pPr algn="l"/>
                      <a:r>
                        <a:rPr sz="800" b="1">
                          <a:solidFill>
                            <a:srgbClr val="A86F00"/>
                          </a:solidFill>
                          <a:latin typeface="Calibri"/>
                        </a:rPr>
                        <a:t>▶ 16.5%</a:t>
                      </a:r>
                    </a:p>
                  </a:txBody>
                  <a:tcPr marL="85725" marR="38100" marT="19050" marB="19050" anchor="ctr">
                    <a:solidFill>
                      <a:srgbClr val="FFFFFF"/>
                    </a:solidFill>
                  </a:tcPr>
                </a:tc>
                <a:tc>
                  <a:txBody>
                    <a:bodyPr wrap="none"/>
                    <a:lstStyle/>
                    <a:p>
                      <a:pPr algn="l"/>
                      <a:r>
                        <a:rPr sz="800" b="1">
                          <a:solidFill>
                            <a:srgbClr val="A86F00"/>
                          </a:solidFill>
                          <a:latin typeface="Calibri"/>
                        </a:rPr>
                        <a:t>▶ 14.4%</a:t>
                      </a:r>
                    </a:p>
                  </a:txBody>
                  <a:tcPr marL="85725" marR="38100" marT="19050" marB="19050" anchor="ctr">
                    <a:solidFill>
                      <a:srgbClr val="FFFFFF"/>
                    </a:solidFill>
                  </a:tcPr>
                </a:tc>
                <a:tc>
                  <a:txBody>
                    <a:bodyPr wrap="none"/>
                    <a:lstStyle/>
                    <a:p>
                      <a:pPr algn="l"/>
                      <a:r>
                        <a:rPr sz="800" b="1">
                          <a:solidFill>
                            <a:srgbClr val="A86F00"/>
                          </a:solidFill>
                          <a:latin typeface="Calibri"/>
                        </a:rPr>
                        <a:t>▶ 12.1%</a:t>
                      </a:r>
                    </a:p>
                  </a:txBody>
                  <a:tcPr marL="85725" marR="38100" marT="19050" marB="19050" anchor="ctr">
                    <a:solidFill>
                      <a:srgbClr val="FFFFFF"/>
                    </a:solidFill>
                  </a:tcPr>
                </a:tc>
                <a:tc>
                  <a:txBody>
                    <a:bodyPr wrap="none"/>
                    <a:lstStyle/>
                    <a:p>
                      <a:pPr algn="l"/>
                      <a:r>
                        <a:rPr sz="800" b="1">
                          <a:solidFill>
                            <a:srgbClr val="A86F00"/>
                          </a:solidFill>
                          <a:latin typeface="Calibri"/>
                        </a:rPr>
                        <a:t>▶ 10.5%</a:t>
                      </a:r>
                    </a:p>
                  </a:txBody>
                  <a:tcPr marL="85725" marR="38100" marT="19050" marB="19050" anchor="ctr">
                    <a:solidFill>
                      <a:srgbClr val="FFFFFF"/>
                    </a:solidFill>
                  </a:tcPr>
                </a:tc>
                <a:tc>
                  <a:txBody>
                    <a:bodyPr wrap="none"/>
                    <a:lstStyle/>
                    <a:p>
                      <a:pPr algn="l"/>
                      <a:r>
                        <a:rPr sz="800" b="1">
                          <a:solidFill>
                            <a:srgbClr val="A86F00"/>
                          </a:solidFill>
                          <a:latin typeface="Calibri"/>
                        </a:rPr>
                        <a:t>▶ 9.1%</a:t>
                      </a:r>
                    </a:p>
                  </a:txBody>
                  <a:tcPr marL="85725" marR="38100" marT="19050" marB="19050" anchor="ctr">
                    <a:solidFill>
                      <a:srgbClr val="FFFFFF"/>
                    </a:solidFill>
                  </a:tcPr>
                </a:tc>
                <a:tc>
                  <a:txBody>
                    <a:bodyPr wrap="none"/>
                    <a:lstStyle/>
                    <a:p>
                      <a:pPr algn="l"/>
                      <a:r>
                        <a:rPr sz="800" b="1">
                          <a:solidFill>
                            <a:srgbClr val="A86F00"/>
                          </a:solidFill>
                          <a:latin typeface="Calibri"/>
                        </a:rPr>
                        <a:t>▶ 8.0%</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5.7%</a:t>
                      </a:r>
                    </a:p>
                  </a:txBody>
                  <a:tcPr marL="85725" marR="38100" marT="19050" marB="19050" anchor="ctr">
                    <a:solidFill>
                      <a:srgbClr val="FFFFFF"/>
                    </a:solidFill>
                  </a:tcPr>
                </a:tc>
                <a:tc>
                  <a:txBody>
                    <a:bodyPr wrap="none"/>
                    <a:lstStyle/>
                    <a:p>
                      <a:pPr algn="l"/>
                      <a:r>
                        <a:rPr sz="800" b="1">
                          <a:solidFill>
                            <a:srgbClr val="A86F00"/>
                          </a:solidFill>
                          <a:latin typeface="Calibri"/>
                        </a:rPr>
                        <a:t>▶ 5.1%</a:t>
                      </a:r>
                    </a:p>
                  </a:txBody>
                  <a:tcPr marL="85725" marR="38100" marT="19050" marB="19050" anchor="ctr">
                    <a:solidFill>
                      <a:srgbClr val="FFFFFF"/>
                    </a:solidFill>
                  </a:tcPr>
                </a:tc>
                <a:tc>
                  <a:txBody>
                    <a:bodyPr wrap="none"/>
                    <a:lstStyle/>
                    <a:p>
                      <a:pPr algn="l"/>
                      <a:r>
                        <a:rPr sz="800" b="1">
                          <a:solidFill>
                            <a:srgbClr val="A86F00"/>
                          </a:solidFill>
                          <a:latin typeface="Calibri"/>
                        </a:rPr>
                        <a:t>▶ 4.7%</a:t>
                      </a:r>
                    </a:p>
                  </a:txBody>
                  <a:tcPr marL="85725" marR="38100" marT="19050" marB="19050" anchor="ctr">
                    <a:solidFill>
                      <a:srgbClr val="FFFFFF"/>
                    </a:solidFill>
                  </a:tcPr>
                </a:tc>
              </a:tr>
            </a:tbl>
          </a:graphicData>
        </a:graphic>
      </p:graphicFrame>
      <p:sp>
        <p:nvSpPr>
          <p:cNvPr id="14" name="TextBox 13"/>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ectangle 1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7" name="Rounded Rectangle 1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9" name="Rounded Rectangle 1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Value, By Product Type (%)   ·   (continued 2/2)</a:t>
            </a:r>
          </a:p>
        </p:txBody>
      </p:sp>
      <p:sp>
        <p:nvSpPr>
          <p:cNvPr id="10" name="Rounded Rectangle 9"/>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YoY Heatmap, By Product Type (%)  ·  light = lower, dark = higher growth</a:t>
            </a:r>
          </a:p>
        </p:txBody>
      </p:sp>
      <p:sp>
        <p:nvSpPr>
          <p:cNvPr id="12" name="TextBox 11"/>
          <p:cNvSpPr txBox="1"/>
          <p:nvPr/>
        </p:nvSpPr>
        <p:spPr>
          <a:xfrm>
            <a:off x="185737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3" name="TextBox 12"/>
          <p:cNvSpPr txBox="1"/>
          <p:nvPr/>
        </p:nvSpPr>
        <p:spPr>
          <a:xfrm>
            <a:off x="250126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14" name="TextBox 13"/>
          <p:cNvSpPr txBox="1"/>
          <p:nvPr/>
        </p:nvSpPr>
        <p:spPr>
          <a:xfrm>
            <a:off x="314515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15" name="TextBox 14"/>
          <p:cNvSpPr txBox="1"/>
          <p:nvPr/>
        </p:nvSpPr>
        <p:spPr>
          <a:xfrm>
            <a:off x="378904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16" name="TextBox 15"/>
          <p:cNvSpPr txBox="1"/>
          <p:nvPr/>
        </p:nvSpPr>
        <p:spPr>
          <a:xfrm>
            <a:off x="443293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17" name="TextBox 16"/>
          <p:cNvSpPr txBox="1"/>
          <p:nvPr/>
        </p:nvSpPr>
        <p:spPr>
          <a:xfrm>
            <a:off x="507682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18" name="TextBox 17"/>
          <p:cNvSpPr txBox="1"/>
          <p:nvPr/>
        </p:nvSpPr>
        <p:spPr>
          <a:xfrm>
            <a:off x="572071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19" name="TextBox 18"/>
          <p:cNvSpPr txBox="1"/>
          <p:nvPr/>
        </p:nvSpPr>
        <p:spPr>
          <a:xfrm>
            <a:off x="636460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0" name="TextBox 19"/>
          <p:cNvSpPr txBox="1"/>
          <p:nvPr/>
        </p:nvSpPr>
        <p:spPr>
          <a:xfrm>
            <a:off x="700849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1" name="TextBox 20"/>
          <p:cNvSpPr txBox="1"/>
          <p:nvPr/>
        </p:nvSpPr>
        <p:spPr>
          <a:xfrm>
            <a:off x="765238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2" name="TextBox 21"/>
          <p:cNvSpPr txBox="1"/>
          <p:nvPr/>
        </p:nvSpPr>
        <p:spPr>
          <a:xfrm>
            <a:off x="829627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3" name="TextBox 22"/>
          <p:cNvSpPr txBox="1"/>
          <p:nvPr/>
        </p:nvSpPr>
        <p:spPr>
          <a:xfrm>
            <a:off x="894016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24" name="TextBox 23"/>
          <p:cNvSpPr txBox="1"/>
          <p:nvPr/>
        </p:nvSpPr>
        <p:spPr>
          <a:xfrm>
            <a:off x="958405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25" name="TextBox 24"/>
          <p:cNvSpPr txBox="1"/>
          <p:nvPr/>
        </p:nvSpPr>
        <p:spPr>
          <a:xfrm>
            <a:off x="1022794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26" name="TextBox 25"/>
          <p:cNvSpPr txBox="1"/>
          <p:nvPr/>
        </p:nvSpPr>
        <p:spPr>
          <a:xfrm>
            <a:off x="1087183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27" name="TextBox 26"/>
          <p:cNvSpPr txBox="1"/>
          <p:nvPr/>
        </p:nvSpPr>
        <p:spPr>
          <a:xfrm>
            <a:off x="238125" y="1285875"/>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Amjevita / Amgevita</a:t>
            </a:r>
          </a:p>
        </p:txBody>
      </p:sp>
      <p:sp>
        <p:nvSpPr>
          <p:cNvPr id="28" name="Rectangle 27"/>
          <p:cNvSpPr/>
          <p:nvPr/>
        </p:nvSpPr>
        <p:spPr>
          <a:xfrm>
            <a:off x="1857375" y="1285875"/>
            <a:ext cx="643890" cy="489239"/>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01265" y="1285875"/>
            <a:ext cx="643890" cy="489239"/>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45155" y="1285875"/>
            <a:ext cx="643890" cy="489239"/>
          </a:xfrm>
          <a:prstGeom prst="rect">
            <a:avLst/>
          </a:prstGeom>
          <a:solidFill>
            <a:srgbClr val="0E689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89045" y="1285875"/>
            <a:ext cx="643890" cy="489239"/>
          </a:xfrm>
          <a:prstGeom prst="rect">
            <a:avLst/>
          </a:prstGeom>
          <a:solidFill>
            <a:srgbClr val="2B84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2935" y="1285875"/>
            <a:ext cx="643890" cy="489239"/>
          </a:xfrm>
          <a:prstGeom prst="rect">
            <a:avLst/>
          </a:prstGeom>
          <a:solidFill>
            <a:srgbClr val="6CA8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6825" y="1285875"/>
            <a:ext cx="643890" cy="489239"/>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20715" y="1285875"/>
            <a:ext cx="643890" cy="489239"/>
          </a:xfrm>
          <a:prstGeom prst="rect">
            <a:avLst/>
          </a:prstGeom>
          <a:solidFill>
            <a:srgbClr val="B4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64605" y="1285875"/>
            <a:ext cx="643890" cy="489239"/>
          </a:xfrm>
          <a:prstGeom prst="rect">
            <a:avLst/>
          </a:prstGeom>
          <a:solidFill>
            <a:srgbClr val="CADC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08495" y="1285875"/>
            <a:ext cx="643890" cy="489239"/>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652385" y="1285875"/>
            <a:ext cx="643890" cy="489239"/>
          </a:xfrm>
          <a:prstGeom prst="rect">
            <a:avLst/>
          </a:prstGeom>
          <a:solidFill>
            <a:srgbClr val="DD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96275" y="1285875"/>
            <a:ext cx="643890" cy="489239"/>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40165" y="1285875"/>
            <a:ext cx="643890" cy="489239"/>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84055" y="1285875"/>
            <a:ext cx="643890" cy="489239"/>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227945" y="1285875"/>
            <a:ext cx="643890" cy="489239"/>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871835" y="1285875"/>
            <a:ext cx="643890" cy="489239"/>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8125" y="1775114"/>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Cyltezo</a:t>
            </a:r>
          </a:p>
        </p:txBody>
      </p:sp>
      <p:sp>
        <p:nvSpPr>
          <p:cNvPr id="44" name="Rectangle 43"/>
          <p:cNvSpPr/>
          <p:nvPr/>
        </p:nvSpPr>
        <p:spPr>
          <a:xfrm>
            <a:off x="1857375" y="1775114"/>
            <a:ext cx="643890" cy="489239"/>
          </a:xfrm>
          <a:prstGeom prst="rect">
            <a:avLst/>
          </a:prstGeom>
          <a:solidFill>
            <a:srgbClr val="92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501265" y="1775114"/>
            <a:ext cx="643890" cy="489239"/>
          </a:xfrm>
          <a:prstGeom prst="rect">
            <a:avLst/>
          </a:prstGeom>
          <a:solidFill>
            <a:srgbClr val="18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145155" y="1775114"/>
            <a:ext cx="643890" cy="489239"/>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789045" y="1775114"/>
            <a:ext cx="643890" cy="489239"/>
          </a:xfrm>
          <a:prstGeom prst="rect">
            <a:avLst/>
          </a:prstGeom>
          <a:solidFill>
            <a:srgbClr val="0E69A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432935" y="1775114"/>
            <a:ext cx="643890" cy="489239"/>
          </a:xfrm>
          <a:prstGeom prst="rect">
            <a:avLst/>
          </a:prstGeom>
          <a:solidFill>
            <a:srgbClr val="3B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76825" y="1775114"/>
            <a:ext cx="643890" cy="489239"/>
          </a:xfrm>
          <a:prstGeom prst="rect">
            <a:avLst/>
          </a:prstGeom>
          <a:solidFill>
            <a:srgbClr val="65A4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720715" y="1775114"/>
            <a:ext cx="643890" cy="489239"/>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64605" y="1775114"/>
            <a:ext cx="643890" cy="489239"/>
          </a:xfrm>
          <a:prstGeom prst="rect">
            <a:avLst/>
          </a:prstGeom>
          <a:solidFill>
            <a:srgbClr val="AA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08495" y="1775114"/>
            <a:ext cx="643890" cy="489239"/>
          </a:xfrm>
          <a:prstGeom prst="rect">
            <a:avLst/>
          </a:prstGeom>
          <a:solidFill>
            <a:srgbClr val="BC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652385" y="1775114"/>
            <a:ext cx="643890" cy="489239"/>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96275" y="1775114"/>
            <a:ext cx="643890" cy="489239"/>
          </a:xfrm>
          <a:prstGeom prst="rect">
            <a:avLst/>
          </a:prstGeom>
          <a:solidFill>
            <a:srgbClr val="D3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40165" y="1775114"/>
            <a:ext cx="643890" cy="489239"/>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584055" y="1775114"/>
            <a:ext cx="643890" cy="489239"/>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227945" y="1775114"/>
            <a:ext cx="643890" cy="489239"/>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871835" y="1775114"/>
            <a:ext cx="643890" cy="489239"/>
          </a:xfrm>
          <a:prstGeom prst="rect">
            <a:avLst/>
          </a:prstGeom>
          <a:solidFill>
            <a:srgbClr val="E6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8125" y="2264352"/>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Hadlima / Imraldi</a:t>
            </a:r>
          </a:p>
        </p:txBody>
      </p:sp>
      <p:sp>
        <p:nvSpPr>
          <p:cNvPr id="60" name="Rectangle 59"/>
          <p:cNvSpPr/>
          <p:nvPr/>
        </p:nvSpPr>
        <p:spPr>
          <a:xfrm>
            <a:off x="1857375" y="2264352"/>
            <a:ext cx="643890" cy="489239"/>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501265" y="2264352"/>
            <a:ext cx="643890" cy="489239"/>
          </a:xfrm>
          <a:prstGeom prst="rect">
            <a:avLst/>
          </a:prstGeom>
          <a:solidFill>
            <a:srgbClr val="217D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145155" y="2264352"/>
            <a:ext cx="643890" cy="489239"/>
          </a:xfrm>
          <a:prstGeom prst="rect">
            <a:avLst/>
          </a:prstGeom>
          <a:solidFill>
            <a:srgbClr val="0C3C5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789045" y="2264352"/>
            <a:ext cx="643890" cy="489239"/>
          </a:xfrm>
          <a:prstGeom prst="rect">
            <a:avLst/>
          </a:prstGeom>
          <a:solidFill>
            <a:srgbClr val="1174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432935" y="2264352"/>
            <a:ext cx="643890" cy="489239"/>
          </a:xfrm>
          <a:prstGeom prst="rect">
            <a:avLst/>
          </a:prstGeom>
          <a:solidFill>
            <a:srgbClr val="45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76825" y="2264352"/>
            <a:ext cx="643890" cy="489239"/>
          </a:xfrm>
          <a:prstGeom prst="rect">
            <a:avLst/>
          </a:prstGeom>
          <a:solidFill>
            <a:srgbClr val="71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720715" y="2264352"/>
            <a:ext cx="643890" cy="489239"/>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64605" y="2264352"/>
            <a:ext cx="643890" cy="489239"/>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008495" y="2264352"/>
            <a:ext cx="643890" cy="489239"/>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652385" y="2264352"/>
            <a:ext cx="643890" cy="489239"/>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296275" y="2264352"/>
            <a:ext cx="643890" cy="489239"/>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940165" y="2264352"/>
            <a:ext cx="643890" cy="489239"/>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584055" y="2264352"/>
            <a:ext cx="643890" cy="489239"/>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227945" y="2264352"/>
            <a:ext cx="643890" cy="489239"/>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871835" y="2264352"/>
            <a:ext cx="643890" cy="489239"/>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38125" y="2753591"/>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Hyrimoz / Halimatoz / Hefiya</a:t>
            </a:r>
          </a:p>
        </p:txBody>
      </p:sp>
      <p:sp>
        <p:nvSpPr>
          <p:cNvPr id="76" name="Rectangle 75"/>
          <p:cNvSpPr/>
          <p:nvPr/>
        </p:nvSpPr>
        <p:spPr>
          <a:xfrm>
            <a:off x="1857375" y="2753591"/>
            <a:ext cx="643890" cy="489239"/>
          </a:xfrm>
          <a:prstGeom prst="rect">
            <a:avLst/>
          </a:prstGeom>
          <a:solidFill>
            <a:srgbClr val="A3C6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501265" y="2753591"/>
            <a:ext cx="643890" cy="489239"/>
          </a:xfrm>
          <a:prstGeom prst="rect">
            <a:avLst/>
          </a:prstGeom>
          <a:solidFill>
            <a:srgbClr val="2B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145155" y="2753591"/>
            <a:ext cx="643890" cy="489239"/>
          </a:xfrm>
          <a:prstGeom prst="rect">
            <a:avLst/>
          </a:prstGeom>
          <a:solidFill>
            <a:srgbClr val="0C4D7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789045" y="2753591"/>
            <a:ext cx="643890" cy="489239"/>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432935" y="2753591"/>
            <a:ext cx="643890" cy="489239"/>
          </a:xfrm>
          <a:prstGeom prst="rect">
            <a:avLst/>
          </a:prstGeom>
          <a:solidFill>
            <a:srgbClr val="549B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076825" y="2753591"/>
            <a:ext cx="643890" cy="489239"/>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720715" y="2753591"/>
            <a:ext cx="643890" cy="489239"/>
          </a:xfrm>
          <a:prstGeom prst="rect">
            <a:avLst/>
          </a:prstGeom>
          <a:solidFill>
            <a:srgbClr val="A5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364605" y="2753591"/>
            <a:ext cx="643890" cy="489239"/>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008495" y="2753591"/>
            <a:ext cx="643890" cy="489239"/>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652385" y="2753591"/>
            <a:ext cx="643890" cy="489239"/>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296275" y="2753591"/>
            <a:ext cx="643890" cy="489239"/>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940165" y="2753591"/>
            <a:ext cx="643890" cy="489239"/>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584055" y="2753591"/>
            <a:ext cx="643890" cy="489239"/>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227945" y="2753591"/>
            <a:ext cx="643890" cy="489239"/>
          </a:xfrm>
          <a:prstGeom prst="rect">
            <a:avLst/>
          </a:prstGeom>
          <a:solidFill>
            <a:srgbClr val="EB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871835" y="2753591"/>
            <a:ext cx="643890" cy="489239"/>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38125" y="3242830"/>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Idacio</a:t>
            </a:r>
          </a:p>
        </p:txBody>
      </p:sp>
      <p:sp>
        <p:nvSpPr>
          <p:cNvPr id="92" name="Rectangle 91"/>
          <p:cNvSpPr/>
          <p:nvPr/>
        </p:nvSpPr>
        <p:spPr>
          <a:xfrm>
            <a:off x="1857375" y="3242830"/>
            <a:ext cx="643890" cy="489239"/>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2501265" y="3242830"/>
            <a:ext cx="643890" cy="489239"/>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145155" y="3242830"/>
            <a:ext cx="643890" cy="489239"/>
          </a:xfrm>
          <a:prstGeom prst="rect">
            <a:avLst/>
          </a:prstGeom>
          <a:solidFill>
            <a:srgbClr val="0C3E6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789045" y="3242830"/>
            <a:ext cx="643890" cy="489239"/>
          </a:xfrm>
          <a:prstGeom prst="rect">
            <a:avLst/>
          </a:prstGeom>
          <a:solidFill>
            <a:srgbClr val="12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432935" y="3242830"/>
            <a:ext cx="643890" cy="489239"/>
          </a:xfrm>
          <a:prstGeom prst="rect">
            <a:avLst/>
          </a:prstGeom>
          <a:solidFill>
            <a:srgbClr val="4794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076825" y="3242830"/>
            <a:ext cx="643890" cy="489239"/>
          </a:xfrm>
          <a:prstGeom prst="rect">
            <a:avLst/>
          </a:prstGeom>
          <a:solidFill>
            <a:srgbClr val="73AC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720715" y="3242830"/>
            <a:ext cx="643890" cy="489239"/>
          </a:xfrm>
          <a:prstGeom prst="rect">
            <a:avLst/>
          </a:prstGeom>
          <a:solidFill>
            <a:srgbClr val="9CC3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364605" y="3242830"/>
            <a:ext cx="643890" cy="489239"/>
          </a:xfrm>
          <a:prstGeom prst="rect">
            <a:avLst/>
          </a:prstGeom>
          <a:solidFill>
            <a:srgbClr val="B3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008495" y="3242830"/>
            <a:ext cx="643890" cy="489239"/>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652385" y="3242830"/>
            <a:ext cx="643890" cy="489239"/>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296275" y="3242830"/>
            <a:ext cx="643890" cy="489239"/>
          </a:xfrm>
          <a:prstGeom prst="rect">
            <a:avLst/>
          </a:prstGeom>
          <a:solidFill>
            <a:srgbClr val="D8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40165" y="3242830"/>
            <a:ext cx="643890" cy="489239"/>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584055" y="3242830"/>
            <a:ext cx="643890" cy="489239"/>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227945" y="3242830"/>
            <a:ext cx="643890" cy="489239"/>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871835" y="3242830"/>
            <a:ext cx="643890" cy="489239"/>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38125" y="3732068"/>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Hulio</a:t>
            </a:r>
          </a:p>
        </p:txBody>
      </p:sp>
      <p:sp>
        <p:nvSpPr>
          <p:cNvPr id="108" name="Rectangle 107"/>
          <p:cNvSpPr/>
          <p:nvPr/>
        </p:nvSpPr>
        <p:spPr>
          <a:xfrm>
            <a:off x="1857375" y="3732068"/>
            <a:ext cx="643890" cy="489239"/>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501265" y="3732068"/>
            <a:ext cx="643890" cy="489239"/>
          </a:xfrm>
          <a:prstGeom prst="rect">
            <a:avLst/>
          </a:prstGeom>
          <a:solidFill>
            <a:srgbClr val="559C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145155" y="3732068"/>
            <a:ext cx="643890" cy="489239"/>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3789045" y="3732068"/>
            <a:ext cx="643890" cy="489239"/>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432935" y="3732068"/>
            <a:ext cx="643890" cy="489239"/>
          </a:xfrm>
          <a:prstGeom prst="rect">
            <a:avLst/>
          </a:prstGeom>
          <a:solidFill>
            <a:srgbClr val="87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076825" y="3732068"/>
            <a:ext cx="643890" cy="489239"/>
          </a:xfrm>
          <a:prstGeom prst="rect">
            <a:avLst/>
          </a:prstGeom>
          <a:solidFill>
            <a:srgbClr val="A6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720715" y="3732068"/>
            <a:ext cx="643890" cy="489239"/>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6364605" y="3732068"/>
            <a:ext cx="643890" cy="489239"/>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008495" y="3732068"/>
            <a:ext cx="643890" cy="489239"/>
          </a:xfrm>
          <a:prstGeom prst="rect">
            <a:avLst/>
          </a:prstGeom>
          <a:solidFill>
            <a:srgbClr val="DE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7652385" y="3732068"/>
            <a:ext cx="643890" cy="489239"/>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8296275" y="3732068"/>
            <a:ext cx="643890" cy="489239"/>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8940165" y="3732068"/>
            <a:ext cx="643890" cy="489239"/>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9584055" y="3732068"/>
            <a:ext cx="643890" cy="489239"/>
          </a:xfrm>
          <a:prstGeom prst="rect">
            <a:avLst/>
          </a:prstGeom>
          <a:solidFill>
            <a:srgbClr val="F7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227945" y="3732068"/>
            <a:ext cx="643890" cy="489239"/>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0871835" y="3732068"/>
            <a:ext cx="643890" cy="489239"/>
          </a:xfrm>
          <a:prstGeom prst="rect">
            <a:avLst/>
          </a:prstGeom>
          <a:solidFill>
            <a:srgbClr val="FD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38125" y="4221307"/>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Abrilada / Amsparity</a:t>
            </a:r>
          </a:p>
        </p:txBody>
      </p:sp>
      <p:sp>
        <p:nvSpPr>
          <p:cNvPr id="124" name="Rectangle 123"/>
          <p:cNvSpPr/>
          <p:nvPr/>
        </p:nvSpPr>
        <p:spPr>
          <a:xfrm>
            <a:off x="1857375" y="4221307"/>
            <a:ext cx="643890" cy="489239"/>
          </a:xfrm>
          <a:prstGeom prst="rect">
            <a:avLst/>
          </a:prstGeom>
          <a:solidFill>
            <a:srgbClr val="A2C6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2501265" y="4221307"/>
            <a:ext cx="643890" cy="489239"/>
          </a:xfrm>
          <a:prstGeom prst="rect">
            <a:avLst/>
          </a:prstGeom>
          <a:solidFill>
            <a:srgbClr val="29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3145155" y="4221307"/>
            <a:ext cx="643890" cy="489239"/>
          </a:xfrm>
          <a:prstGeom prst="rect">
            <a:avLst/>
          </a:prstGeom>
          <a:solidFill>
            <a:srgbClr val="0C4A7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789045" y="4221307"/>
            <a:ext cx="643890" cy="489239"/>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432935" y="4221307"/>
            <a:ext cx="643890" cy="489239"/>
          </a:xfrm>
          <a:prstGeom prst="rect">
            <a:avLst/>
          </a:prstGeom>
          <a:solidFill>
            <a:srgbClr val="529A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5076825" y="4221307"/>
            <a:ext cx="643890" cy="489239"/>
          </a:xfrm>
          <a:prstGeom prst="rect">
            <a:avLst/>
          </a:prstGeom>
          <a:solidFill>
            <a:srgbClr val="7EB2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720715" y="4221307"/>
            <a:ext cx="643890" cy="489239"/>
          </a:xfrm>
          <a:prstGeom prst="rect">
            <a:avLst/>
          </a:prstGeom>
          <a:solidFill>
            <a:srgbClr val="A3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6364605" y="4221307"/>
            <a:ext cx="643890" cy="489239"/>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008495" y="4221307"/>
            <a:ext cx="643890" cy="489239"/>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7652385" y="4221307"/>
            <a:ext cx="643890" cy="489239"/>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296275" y="4221307"/>
            <a:ext cx="643890" cy="489239"/>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8940165" y="4221307"/>
            <a:ext cx="643890" cy="489239"/>
          </a:xfrm>
          <a:prstGeom prst="rect">
            <a:avLst/>
          </a:prstGeom>
          <a:solidFill>
            <a:srgbClr val="E2EF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584055" y="4221307"/>
            <a:ext cx="643890" cy="489239"/>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227945" y="4221307"/>
            <a:ext cx="643890" cy="489239"/>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871835" y="4221307"/>
            <a:ext cx="643890" cy="489239"/>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38125" y="4710545"/>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Yusimry</a:t>
            </a:r>
          </a:p>
        </p:txBody>
      </p:sp>
      <p:sp>
        <p:nvSpPr>
          <p:cNvPr id="140" name="Rectangle 139"/>
          <p:cNvSpPr/>
          <p:nvPr/>
        </p:nvSpPr>
        <p:spPr>
          <a:xfrm>
            <a:off x="1857375" y="4710545"/>
            <a:ext cx="643890" cy="489239"/>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501265" y="4710545"/>
            <a:ext cx="643890" cy="489239"/>
          </a:xfrm>
          <a:prstGeom prst="rect">
            <a:avLst/>
          </a:prstGeom>
          <a:solidFill>
            <a:srgbClr val="5B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3145155" y="4710545"/>
            <a:ext cx="643890" cy="489239"/>
          </a:xfrm>
          <a:prstGeom prst="rect">
            <a:avLst/>
          </a:prstGeom>
          <a:solidFill>
            <a:srgbClr val="1E7C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3789045" y="4710545"/>
            <a:ext cx="643890" cy="489239"/>
          </a:xfrm>
          <a:prstGeom prst="rect">
            <a:avLst/>
          </a:prstGeom>
          <a:solidFill>
            <a:srgbClr val="4392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4432935" y="4710545"/>
            <a:ext cx="643890" cy="489239"/>
          </a:xfrm>
          <a:prstGeom prst="rect">
            <a:avLst/>
          </a:prstGeom>
          <a:solidFill>
            <a:srgbClr val="8C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076825" y="4710545"/>
            <a:ext cx="643890" cy="489239"/>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5720715" y="4710545"/>
            <a:ext cx="643890" cy="489239"/>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6364605" y="4710545"/>
            <a:ext cx="643890" cy="489239"/>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008495" y="4710545"/>
            <a:ext cx="643890" cy="489239"/>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7652385" y="4710545"/>
            <a:ext cx="643890" cy="489239"/>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296275" y="4710545"/>
            <a:ext cx="643890" cy="489239"/>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940165" y="4710545"/>
            <a:ext cx="643890" cy="489239"/>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9584055" y="4710545"/>
            <a:ext cx="643890" cy="489239"/>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0227945" y="4710545"/>
            <a:ext cx="643890" cy="489239"/>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0871835" y="4710545"/>
            <a:ext cx="643890" cy="489239"/>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38125" y="5199784"/>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Yuflyma</a:t>
            </a:r>
          </a:p>
        </p:txBody>
      </p:sp>
      <p:sp>
        <p:nvSpPr>
          <p:cNvPr id="156" name="Rectangle 155"/>
          <p:cNvSpPr/>
          <p:nvPr/>
        </p:nvSpPr>
        <p:spPr>
          <a:xfrm>
            <a:off x="1857375" y="5199784"/>
            <a:ext cx="643890" cy="489239"/>
          </a:xfrm>
          <a:prstGeom prst="rect">
            <a:avLst/>
          </a:prstGeom>
          <a:solidFill>
            <a:srgbClr val="AC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2501265" y="5199784"/>
            <a:ext cx="643890" cy="489239"/>
          </a:xfrm>
          <a:prstGeom prst="rect">
            <a:avLst/>
          </a:prstGeom>
          <a:solidFill>
            <a:srgbClr val="35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3145155" y="5199784"/>
            <a:ext cx="643890" cy="489239"/>
          </a:xfrm>
          <a:prstGeom prst="rect">
            <a:avLst/>
          </a:prstGeom>
          <a:solidFill>
            <a:srgbClr val="0D5D9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3789045" y="5199784"/>
            <a:ext cx="643890" cy="489239"/>
          </a:xfrm>
          <a:prstGeom prst="rect">
            <a:avLst/>
          </a:prstGeom>
          <a:solidFill>
            <a:srgbClr val="25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4432935" y="5199784"/>
            <a:ext cx="643890" cy="489239"/>
          </a:xfrm>
          <a:prstGeom prst="rect">
            <a:avLst/>
          </a:prstGeom>
          <a:solidFill>
            <a:srgbClr val="63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076825" y="5199784"/>
            <a:ext cx="643890" cy="489239"/>
          </a:xfrm>
          <a:prstGeom prst="rect">
            <a:avLst/>
          </a:prstGeom>
          <a:solidFill>
            <a:srgbClr val="8EBA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720715" y="5199784"/>
            <a:ext cx="643890" cy="489239"/>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364605" y="5199784"/>
            <a:ext cx="643890" cy="489239"/>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7008495" y="5199784"/>
            <a:ext cx="643890" cy="489239"/>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7652385" y="5199784"/>
            <a:ext cx="643890" cy="489239"/>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8296275" y="5199784"/>
            <a:ext cx="643890" cy="489239"/>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940165" y="5199784"/>
            <a:ext cx="643890" cy="489239"/>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9584055" y="5199784"/>
            <a:ext cx="643890" cy="489239"/>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0227945" y="5199784"/>
            <a:ext cx="643890" cy="489239"/>
          </a:xfrm>
          <a:prstGeom prst="rect">
            <a:avLst/>
          </a:prstGeom>
          <a:solidFill>
            <a:srgbClr val="F0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0871835" y="5199784"/>
            <a:ext cx="643890" cy="489239"/>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38125" y="5689023"/>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Simlandi</a:t>
            </a:r>
          </a:p>
        </p:txBody>
      </p:sp>
      <p:sp>
        <p:nvSpPr>
          <p:cNvPr id="172" name="Rectangle 171"/>
          <p:cNvSpPr/>
          <p:nvPr/>
        </p:nvSpPr>
        <p:spPr>
          <a:xfrm>
            <a:off x="1857375" y="5689023"/>
            <a:ext cx="643890" cy="489239"/>
          </a:xfrm>
          <a:prstGeom prst="rect">
            <a:avLst/>
          </a:prstGeom>
          <a:solidFill>
            <a:srgbClr val="B4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2501265" y="5689023"/>
            <a:ext cx="643890" cy="489239"/>
          </a:xfrm>
          <a:prstGeom prst="rect">
            <a:avLst/>
          </a:prstGeom>
          <a:solidFill>
            <a:srgbClr val="3D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3145155" y="5689023"/>
            <a:ext cx="643890" cy="489239"/>
          </a:xfrm>
          <a:prstGeom prst="rect">
            <a:avLst/>
          </a:prstGeom>
          <a:solidFill>
            <a:srgbClr val="0E6AA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3789045" y="5689023"/>
            <a:ext cx="643890" cy="489239"/>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32935" y="5689023"/>
            <a:ext cx="643890" cy="489239"/>
          </a:xfrm>
          <a:prstGeom prst="rect">
            <a:avLst/>
          </a:prstGeom>
          <a:solidFill>
            <a:srgbClr val="6EA9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5076825" y="5689023"/>
            <a:ext cx="643890" cy="489239"/>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5720715" y="5689023"/>
            <a:ext cx="643890" cy="489239"/>
          </a:xfrm>
          <a:prstGeom prst="rect">
            <a:avLst/>
          </a:prstGeom>
          <a:solidFill>
            <a:srgbClr val="B5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6364605" y="5689023"/>
            <a:ext cx="643890" cy="489239"/>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7008495" y="5689023"/>
            <a:ext cx="643890" cy="489239"/>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7652385" y="5689023"/>
            <a:ext cx="643890" cy="489239"/>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8296275" y="5689023"/>
            <a:ext cx="643890" cy="489239"/>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8940165" y="5689023"/>
            <a:ext cx="643890" cy="489239"/>
          </a:xfrm>
          <a:prstGeom prst="rect">
            <a:avLst/>
          </a:prstGeom>
          <a:solidFill>
            <a:srgbClr val="EB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9584055" y="5689023"/>
            <a:ext cx="643890" cy="489239"/>
          </a:xfrm>
          <a:prstGeom prst="rect">
            <a:avLst/>
          </a:prstGeom>
          <a:solidFill>
            <a:srgbClr val="F0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0227945" y="5689023"/>
            <a:ext cx="643890" cy="489239"/>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0871835" y="5689023"/>
            <a:ext cx="643890" cy="489239"/>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38125" y="6178261"/>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Other approved adalimumab biosimilars</a:t>
            </a:r>
          </a:p>
        </p:txBody>
      </p:sp>
      <p:sp>
        <p:nvSpPr>
          <p:cNvPr id="188" name="Rectangle 187"/>
          <p:cNvSpPr/>
          <p:nvPr/>
        </p:nvSpPr>
        <p:spPr>
          <a:xfrm>
            <a:off x="1857375" y="6178261"/>
            <a:ext cx="643890" cy="489239"/>
          </a:xfrm>
          <a:prstGeom prst="rect">
            <a:avLst/>
          </a:prstGeom>
          <a:solidFill>
            <a:srgbClr val="ACCB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2501265" y="6178261"/>
            <a:ext cx="643890" cy="489239"/>
          </a:xfrm>
          <a:prstGeom prst="rect">
            <a:avLst/>
          </a:prstGeom>
          <a:solidFill>
            <a:srgbClr val="34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3145155" y="6178261"/>
            <a:ext cx="643890" cy="489239"/>
          </a:xfrm>
          <a:prstGeom prst="rect">
            <a:avLst/>
          </a:prstGeom>
          <a:solidFill>
            <a:srgbClr val="0D5C8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3789045" y="6178261"/>
            <a:ext cx="643890" cy="489239"/>
          </a:xfrm>
          <a:prstGeom prst="rect">
            <a:avLst/>
          </a:prstGeom>
          <a:solidFill>
            <a:srgbClr val="2480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4432935" y="6178261"/>
            <a:ext cx="643890" cy="489239"/>
          </a:xfrm>
          <a:prstGeom prst="rect">
            <a:avLst/>
          </a:prstGeom>
          <a:solidFill>
            <a:srgbClr val="62A2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076825" y="6178261"/>
            <a:ext cx="643890" cy="489239"/>
          </a:xfrm>
          <a:prstGeom prst="rect">
            <a:avLst/>
          </a:prstGeom>
          <a:solidFill>
            <a:srgbClr val="8DBA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720715" y="6178261"/>
            <a:ext cx="643890" cy="489239"/>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6364605" y="6178261"/>
            <a:ext cx="643890" cy="489239"/>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7008495" y="6178261"/>
            <a:ext cx="643890" cy="489239"/>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7652385" y="6178261"/>
            <a:ext cx="643890" cy="489239"/>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8296275" y="6178261"/>
            <a:ext cx="643890" cy="489239"/>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8940165" y="6178261"/>
            <a:ext cx="643890" cy="489239"/>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9584055" y="6178261"/>
            <a:ext cx="643890" cy="489239"/>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0227945" y="6178261"/>
            <a:ext cx="643890" cy="489239"/>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0871835" y="6178261"/>
            <a:ext cx="643890" cy="489239"/>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11572875" y="1323975"/>
            <a:ext cx="104775" cy="140256"/>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11572875" y="1456611"/>
            <a:ext cx="104775" cy="140256"/>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11572875" y="1589246"/>
            <a:ext cx="104775" cy="140256"/>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11572875" y="1721882"/>
            <a:ext cx="104775" cy="140256"/>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11572875" y="1854518"/>
            <a:ext cx="104775" cy="140256"/>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11572875" y="1987153"/>
            <a:ext cx="104775" cy="140256"/>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11572875" y="2119789"/>
            <a:ext cx="104775" cy="140256"/>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11572875" y="2252424"/>
            <a:ext cx="104775" cy="140256"/>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11572875" y="2385060"/>
            <a:ext cx="104775" cy="140256"/>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11572875" y="2517696"/>
            <a:ext cx="104775" cy="140256"/>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11572875" y="2650331"/>
            <a:ext cx="104775" cy="140256"/>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11572875" y="2782967"/>
            <a:ext cx="104775" cy="140256"/>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11572875" y="2915602"/>
            <a:ext cx="104775" cy="140256"/>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11572875" y="3048238"/>
            <a:ext cx="104775" cy="140256"/>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11572875" y="3180874"/>
            <a:ext cx="104775" cy="140256"/>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11572875" y="3313509"/>
            <a:ext cx="104775" cy="140256"/>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11572875" y="3446145"/>
            <a:ext cx="104775" cy="140256"/>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11572875" y="3578781"/>
            <a:ext cx="104775" cy="140256"/>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11572875" y="3711416"/>
            <a:ext cx="104775" cy="140256"/>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11572875" y="3844052"/>
            <a:ext cx="104775" cy="140256"/>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11572875" y="3976688"/>
            <a:ext cx="104775" cy="140256"/>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11572875" y="4109323"/>
            <a:ext cx="104775" cy="140256"/>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11572875" y="4241959"/>
            <a:ext cx="104775" cy="140256"/>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11572875" y="4374594"/>
            <a:ext cx="104775" cy="140256"/>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11572875" y="4507230"/>
            <a:ext cx="104775" cy="140256"/>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11572875" y="4639866"/>
            <a:ext cx="104775" cy="140256"/>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1572875" y="4772501"/>
            <a:ext cx="104775" cy="140256"/>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11572875" y="4905137"/>
            <a:ext cx="104775" cy="140256"/>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1572875" y="5037773"/>
            <a:ext cx="104775" cy="140256"/>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572875" y="5170408"/>
            <a:ext cx="104775" cy="140256"/>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11572875" y="5303044"/>
            <a:ext cx="104775" cy="140256"/>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11572875" y="5435679"/>
            <a:ext cx="104775" cy="140256"/>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11572875" y="5568315"/>
            <a:ext cx="104775" cy="140256"/>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11572875" y="5700951"/>
            <a:ext cx="104775" cy="140256"/>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11572875" y="5833586"/>
            <a:ext cx="104775" cy="140256"/>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1572875" y="5966222"/>
            <a:ext cx="104775" cy="140256"/>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11572875" y="6098858"/>
            <a:ext cx="104775" cy="140256"/>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11572875" y="6231493"/>
            <a:ext cx="104775" cy="140256"/>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1572875" y="6364129"/>
            <a:ext cx="104775" cy="140256"/>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11572875" y="6496764"/>
            <a:ext cx="104775" cy="140256"/>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11572875" y="1323975"/>
            <a:ext cx="104775" cy="5305425"/>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11687175" y="1257300"/>
            <a:ext cx="276225" cy="133350"/>
          </a:xfrm>
          <a:prstGeom prst="rect">
            <a:avLst/>
          </a:prstGeom>
          <a:noFill/>
        </p:spPr>
        <p:txBody>
          <a:bodyPr wrap="none" lIns="0" rIns="0" tIns="0" bIns="0" anchor="ctr">
            <a:spAutoFit/>
          </a:bodyPr>
          <a:lstStyle/>
          <a:p>
            <a:pPr algn="l"/>
            <a:r>
              <a:rPr sz="700" b="0">
                <a:solidFill>
                  <a:srgbClr val="6C7A89"/>
                </a:solidFill>
                <a:latin typeface="Calibri"/>
              </a:rPr>
              <a:t>25%</a:t>
            </a:r>
          </a:p>
        </p:txBody>
      </p:sp>
      <p:sp>
        <p:nvSpPr>
          <p:cNvPr id="245" name="TextBox 244"/>
          <p:cNvSpPr txBox="1"/>
          <p:nvPr/>
        </p:nvSpPr>
        <p:spPr>
          <a:xfrm>
            <a:off x="11687175" y="3910012"/>
            <a:ext cx="276225" cy="133350"/>
          </a:xfrm>
          <a:prstGeom prst="rect">
            <a:avLst/>
          </a:prstGeom>
          <a:noFill/>
        </p:spPr>
        <p:txBody>
          <a:bodyPr wrap="none" lIns="0" rIns="0" tIns="0" bIns="0" anchor="ctr">
            <a:spAutoFit/>
          </a:bodyPr>
          <a:lstStyle/>
          <a:p>
            <a:pPr algn="l"/>
            <a:r>
              <a:rPr sz="700" b="0">
                <a:solidFill>
                  <a:srgbClr val="6C7A89"/>
                </a:solidFill>
                <a:latin typeface="Calibri"/>
              </a:rPr>
              <a:t>14%</a:t>
            </a:r>
          </a:p>
        </p:txBody>
      </p:sp>
      <p:sp>
        <p:nvSpPr>
          <p:cNvPr id="246" name="TextBox 245"/>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3%</a:t>
            </a:r>
          </a:p>
        </p:txBody>
      </p:sp>
      <p:sp>
        <p:nvSpPr>
          <p:cNvPr id="247" name="Rectangle 24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TextBox 24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49" name="Rounded Rectangle 248">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50" name="Rounded Rectangle 249">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51" name="Rounded Rectangle 250">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Form Type</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By Form Type Segment Outlook</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Structure &amp; Attractiveness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Absolute $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Volume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Value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06</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By Form Type Segment Outlook</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TextBox 10"/>
          <p:cNvSpPr txBox="1"/>
          <p:nvPr/>
        </p:nvSpPr>
        <p:spPr>
          <a:xfrm>
            <a:off x="323850" y="857250"/>
            <a:ext cx="11544300" cy="323850"/>
          </a:xfrm>
          <a:prstGeom prst="rect">
            <a:avLst/>
          </a:prstGeom>
          <a:noFill/>
        </p:spPr>
        <p:txBody>
          <a:bodyPr wrap="square" lIns="28575" rIns="28575" tIns="9525" bIns="9525">
            <a:spAutoFit/>
          </a:bodyPr>
          <a:lstStyle/>
          <a:p>
            <a:pPr algn="l"/>
            <a:r>
              <a:rPr sz="1150" b="0">
                <a:solidFill>
                  <a:srgbClr val="2E2E2E"/>
                </a:solidFill>
                <a:latin typeface="Calibri"/>
              </a:rPr>
              <a:t>The Form Type segment categorizes the market by form type. Each sub-category is evaluated on market size, growth outlook and adoption trends across the forecast period.</a:t>
            </a:r>
          </a:p>
        </p:txBody>
      </p:sp>
      <p:sp>
        <p:nvSpPr>
          <p:cNvPr id="12" name="Rectangle 11"/>
          <p:cNvSpPr/>
          <p:nvPr/>
        </p:nvSpPr>
        <p:spPr>
          <a:xfrm>
            <a:off x="323850" y="1657350"/>
            <a:ext cx="1428750" cy="457200"/>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657350"/>
            <a:ext cx="1295400" cy="457200"/>
          </a:xfrm>
          <a:prstGeom prst="rect">
            <a:avLst/>
          </a:prstGeom>
          <a:noFill/>
        </p:spPr>
        <p:txBody>
          <a:bodyPr wrap="square" lIns="28575" rIns="28575" tIns="9525" bIns="9525" anchor="ctr">
            <a:spAutoFit/>
          </a:bodyPr>
          <a:lstStyle/>
          <a:p>
            <a:pPr algn="l"/>
            <a:r>
              <a:rPr sz="1050" b="1">
                <a:solidFill>
                  <a:srgbClr val="0B2E4A"/>
                </a:solidFill>
                <a:latin typeface="Calibri"/>
              </a:rPr>
              <a:t>Sub-Segment</a:t>
            </a:r>
          </a:p>
        </p:txBody>
      </p:sp>
      <p:sp>
        <p:nvSpPr>
          <p:cNvPr id="14" name="Rectangle 13"/>
          <p:cNvSpPr/>
          <p:nvPr/>
        </p:nvSpPr>
        <p:spPr>
          <a:xfrm>
            <a:off x="323850" y="21336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1336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2026 Value (US$ Mn)</a:t>
            </a:r>
          </a:p>
        </p:txBody>
      </p:sp>
      <p:sp>
        <p:nvSpPr>
          <p:cNvPr id="16" name="Rectangle 15"/>
          <p:cNvSpPr/>
          <p:nvPr/>
        </p:nvSpPr>
        <p:spPr>
          <a:xfrm>
            <a:off x="323850" y="264795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64795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2036 Value (US$ Mn)</a:t>
            </a:r>
          </a:p>
        </p:txBody>
      </p:sp>
      <p:sp>
        <p:nvSpPr>
          <p:cNvPr id="18" name="Rectangle 17"/>
          <p:cNvSpPr/>
          <p:nvPr/>
        </p:nvSpPr>
        <p:spPr>
          <a:xfrm>
            <a:off x="323850" y="31623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1623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CAGR (2026–2036)</a:t>
            </a:r>
          </a:p>
        </p:txBody>
      </p:sp>
      <p:sp>
        <p:nvSpPr>
          <p:cNvPr id="20" name="Rounded Rectangle 19"/>
          <p:cNvSpPr/>
          <p:nvPr/>
        </p:nvSpPr>
        <p:spPr>
          <a:xfrm>
            <a:off x="1866900" y="1657350"/>
            <a:ext cx="4943475"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885950"/>
            <a:ext cx="4943475"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657350"/>
            <a:ext cx="4867275" cy="457200"/>
          </a:xfrm>
          <a:prstGeom prst="rect">
            <a:avLst/>
          </a:prstGeom>
          <a:noFill/>
        </p:spPr>
        <p:txBody>
          <a:bodyPr wrap="square" lIns="28575" rIns="28575" tIns="9525" bIns="9525" anchor="ctr">
            <a:spAutoFit/>
          </a:bodyPr>
          <a:lstStyle/>
          <a:p>
            <a:pPr algn="ctr"/>
            <a:r>
              <a:rPr sz="1100" b="1">
                <a:solidFill>
                  <a:srgbClr val="FFFFFF"/>
                </a:solidFill>
                <a:latin typeface="Calibri"/>
              </a:rPr>
              <a:t>Autoinjector / Pen</a:t>
            </a:r>
          </a:p>
        </p:txBody>
      </p:sp>
      <p:sp>
        <p:nvSpPr>
          <p:cNvPr id="23" name="Rectangle 22"/>
          <p:cNvSpPr/>
          <p:nvPr/>
        </p:nvSpPr>
        <p:spPr>
          <a:xfrm>
            <a:off x="1866900" y="2133600"/>
            <a:ext cx="494347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1,258</a:t>
            </a:r>
          </a:p>
        </p:txBody>
      </p:sp>
      <p:sp>
        <p:nvSpPr>
          <p:cNvPr id="24" name="Rectangle 23"/>
          <p:cNvSpPr/>
          <p:nvPr/>
        </p:nvSpPr>
        <p:spPr>
          <a:xfrm>
            <a:off x="1866900" y="2647950"/>
            <a:ext cx="494347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3,112</a:t>
            </a:r>
          </a:p>
        </p:txBody>
      </p:sp>
      <p:sp>
        <p:nvSpPr>
          <p:cNvPr id="25" name="Rectangle 24"/>
          <p:cNvSpPr/>
          <p:nvPr/>
        </p:nvSpPr>
        <p:spPr>
          <a:xfrm>
            <a:off x="1866900" y="3162300"/>
            <a:ext cx="494347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9.5%</a:t>
            </a:r>
          </a:p>
        </p:txBody>
      </p:sp>
      <p:sp>
        <p:nvSpPr>
          <p:cNvPr id="26" name="Oval 25"/>
          <p:cNvSpPr/>
          <p:nvPr/>
        </p:nvSpPr>
        <p:spPr>
          <a:xfrm>
            <a:off x="4176712"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6924675" y="1657350"/>
            <a:ext cx="4943475"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924675" y="1885950"/>
            <a:ext cx="4943475"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2775" y="1657350"/>
            <a:ext cx="4867275" cy="457200"/>
          </a:xfrm>
          <a:prstGeom prst="rect">
            <a:avLst/>
          </a:prstGeom>
          <a:noFill/>
        </p:spPr>
        <p:txBody>
          <a:bodyPr wrap="square" lIns="28575" rIns="28575" tIns="9525" bIns="9525" anchor="ctr">
            <a:spAutoFit/>
          </a:bodyPr>
          <a:lstStyle/>
          <a:p>
            <a:pPr algn="ctr"/>
            <a:r>
              <a:rPr sz="1100" b="1">
                <a:solidFill>
                  <a:srgbClr val="FFFFFF"/>
                </a:solidFill>
                <a:latin typeface="Calibri"/>
              </a:rPr>
              <a:t>Prefilled Syringe</a:t>
            </a:r>
          </a:p>
        </p:txBody>
      </p:sp>
      <p:sp>
        <p:nvSpPr>
          <p:cNvPr id="30" name="Rectangle 29"/>
          <p:cNvSpPr/>
          <p:nvPr/>
        </p:nvSpPr>
        <p:spPr>
          <a:xfrm>
            <a:off x="6924675" y="2133600"/>
            <a:ext cx="494347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716.4</a:t>
            </a:r>
          </a:p>
        </p:txBody>
      </p:sp>
      <p:sp>
        <p:nvSpPr>
          <p:cNvPr id="31" name="Rectangle 30"/>
          <p:cNvSpPr/>
          <p:nvPr/>
        </p:nvSpPr>
        <p:spPr>
          <a:xfrm>
            <a:off x="6924675" y="2647950"/>
            <a:ext cx="494347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1,363</a:t>
            </a:r>
          </a:p>
        </p:txBody>
      </p:sp>
      <p:sp>
        <p:nvSpPr>
          <p:cNvPr id="32" name="Rectangle 31"/>
          <p:cNvSpPr/>
          <p:nvPr/>
        </p:nvSpPr>
        <p:spPr>
          <a:xfrm>
            <a:off x="6924675" y="3162300"/>
            <a:ext cx="494347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6.6%</a:t>
            </a:r>
          </a:p>
        </p:txBody>
      </p:sp>
      <p:sp>
        <p:nvSpPr>
          <p:cNvPr id="33" name="Oval 32"/>
          <p:cNvSpPr/>
          <p:nvPr/>
        </p:nvSpPr>
        <p:spPr>
          <a:xfrm>
            <a:off x="9234488"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323850" y="3829050"/>
            <a:ext cx="323850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3924300"/>
            <a:ext cx="2971800" cy="190500"/>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6" name="Rectangle 35"/>
          <p:cNvSpPr/>
          <p:nvPr/>
        </p:nvSpPr>
        <p:spPr>
          <a:xfrm>
            <a:off x="457200" y="4133850"/>
            <a:ext cx="2971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4210050"/>
            <a:ext cx="297180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'Autoinjector / Pen' holds the largest share in 2026 64% of segment value.</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'Autoinjector / Pen' is the fastest-growing sub-segment at 9.5% CAGR through 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Segment value expands from 1,974 to 4,475 US$ Mn across 2026–2036.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2 sub-segments make up the form type landscape.</a:t>
            </a:r>
          </a:p>
        </p:txBody>
      </p:sp>
      <p:sp>
        <p:nvSpPr>
          <p:cNvPr id="38" name="Rounded Rectangle 37"/>
          <p:cNvSpPr/>
          <p:nvPr/>
        </p:nvSpPr>
        <p:spPr>
          <a:xfrm>
            <a:off x="3676650" y="3829050"/>
            <a:ext cx="447675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10000" y="3924300"/>
            <a:ext cx="4210050" cy="190500"/>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0" name="Rectangle 39"/>
          <p:cNvSpPr/>
          <p:nvPr/>
        </p:nvSpPr>
        <p:spPr>
          <a:xfrm>
            <a:off x="3810000" y="4133850"/>
            <a:ext cx="42100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10000" y="4210050"/>
            <a:ext cx="42100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900" b="0">
                <a:solidFill>
                  <a:srgbClr val="0B2E4A"/>
                </a:solidFill>
                <a:latin typeface="Calibri"/>
              </a:rPr>
              <a:t>●  </a:t>
            </a:r>
            <a:r>
              <a:rPr sz="1000" b="1">
                <a:solidFill>
                  <a:srgbClr val="0B2E4A"/>
                </a:solidFill>
                <a:latin typeface="Calibri"/>
              </a:rPr>
              <a:t>Autoinjector / Pen: </a:t>
            </a:r>
            <a:r>
              <a:rPr sz="1000" b="0">
                <a:solidFill>
                  <a:srgbClr val="2E2E2E"/>
                </a:solidFill>
                <a:latin typeface="Calibri"/>
              </a:rPr>
              <a:t>64% of 2026 value · 9.5% CAGR leads the segment.</a:t>
            </a:r>
          </a:p>
          <a:p>
            <a:pPr algn="l">
              <a:lnSpc>
                <a:spcPct val="110000"/>
              </a:lnSpc>
              <a:spcBef>
                <a:spcPts val="0"/>
              </a:spcBef>
              <a:spcAft>
                <a:spcPts val="500"/>
              </a:spcAft>
            </a:pPr>
            <a:r>
              <a:rPr sz="900" b="0">
                <a:solidFill>
                  <a:srgbClr val="0E72AE"/>
                </a:solidFill>
                <a:latin typeface="Calibri"/>
              </a:rPr>
              <a:t>●  </a:t>
            </a:r>
            <a:r>
              <a:rPr sz="1000" b="1">
                <a:solidFill>
                  <a:srgbClr val="0E72AE"/>
                </a:solidFill>
                <a:latin typeface="Calibri"/>
              </a:rPr>
              <a:t>Prefilled Syringe: </a:t>
            </a:r>
            <a:r>
              <a:rPr sz="1000" b="0">
                <a:solidFill>
                  <a:srgbClr val="2E2E2E"/>
                </a:solidFill>
                <a:latin typeface="Calibri"/>
              </a:rPr>
              <a:t>36% of 2026 value · 6.6% CAGR serves a niche.</a:t>
            </a:r>
          </a:p>
        </p:txBody>
      </p:sp>
      <p:sp>
        <p:nvSpPr>
          <p:cNvPr id="42" name="Rounded Rectangle 41"/>
          <p:cNvSpPr/>
          <p:nvPr/>
        </p:nvSpPr>
        <p:spPr>
          <a:xfrm>
            <a:off x="8267700" y="3829050"/>
            <a:ext cx="3600450" cy="2686050"/>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1050" y="3924300"/>
            <a:ext cx="3333750" cy="190500"/>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4" name="Rectangle 43"/>
          <p:cNvSpPr/>
          <p:nvPr/>
        </p:nvSpPr>
        <p:spPr>
          <a:xfrm>
            <a:off x="8401050" y="4133850"/>
            <a:ext cx="33337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01050" y="4210050"/>
            <a:ext cx="33337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The Form Type split shows how demand is distributed across form type types and where growth concentrates.</a:t>
            </a:r>
          </a:p>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Shifting preferences and product innovation are reshaping the mix through 2036.</a:t>
            </a:r>
          </a:p>
        </p:txBody>
      </p:sp>
      <p:sp>
        <p:nvSpPr>
          <p:cNvPr id="46" name="Rectangle 45"/>
          <p:cNvSpPr/>
          <p:nvPr/>
        </p:nvSpPr>
        <p:spPr>
          <a:xfrm>
            <a:off x="8401050" y="5810250"/>
            <a:ext cx="3333750" cy="552450"/>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401050" y="5810250"/>
            <a:ext cx="38100" cy="5524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96300" y="5848350"/>
            <a:ext cx="3219450" cy="476250"/>
          </a:xfrm>
          <a:prstGeom prst="rect">
            <a:avLst/>
          </a:prstGeom>
          <a:noFill/>
        </p:spPr>
        <p:txBody>
          <a:bodyPr wrap="square" lIns="28575" rIns="28575" tIns="9525" bIns="9525" anchor="ctr">
            <a:spAutoFit/>
          </a:bodyPr>
          <a:lstStyle/>
          <a:p>
            <a:pPr algn="l"/>
            <a:r>
              <a:rPr sz="1150" b="1">
                <a:solidFill>
                  <a:srgbClr val="0B2E4A"/>
                </a:solidFill>
                <a:latin typeface="Calibri"/>
              </a:rPr>
              <a:t>The Form Type segment is projected to grow at a CAGR of 8.5% from 2026 to 2036.</a:t>
            </a:r>
          </a:p>
        </p:txBody>
      </p:sp>
      <p:sp>
        <p:nvSpPr>
          <p:cNvPr id="49" name="TextBox 48"/>
          <p:cNvSpPr txBox="1"/>
          <p:nvPr/>
        </p:nvSpPr>
        <p:spPr>
          <a:xfrm>
            <a:off x="323850" y="6591300"/>
            <a:ext cx="3048000" cy="133350"/>
          </a:xfrm>
          <a:prstGeom prst="rect">
            <a:avLst/>
          </a:prstGeom>
          <a:noFill/>
        </p:spPr>
        <p:txBody>
          <a:bodyPr wrap="none">
            <a:spAutoFit/>
          </a:bodyPr>
          <a:lstStyle/>
          <a:p>
            <a:r>
              <a:rPr sz="800" i="1">
                <a:solidFill>
                  <a:srgbClr val="6C7A89"/>
                </a:solidFill>
                <a:latin typeface="Calibri"/>
              </a:rPr>
              <a:t>Source: FMI Analysis, 2026</a:t>
            </a:r>
          </a:p>
        </p:txBody>
      </p:sp>
      <p:sp>
        <p:nvSpPr>
          <p:cNvPr id="50" name="Rectangle 4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52" name="Rounded Rectangle 5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3" name="Rounded Rectangle 5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4" name="Rounded Rectangle 5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Structure &amp; Attractiveness, By Form Type (Value)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6343650"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Form Type mix within each country (share of 2036 value) · row label = country size (US$ Mn), largest first</a:t>
            </a:r>
          </a:p>
        </p:txBody>
      </p:sp>
      <p:graphicFrame>
        <p:nvGraphicFramePr>
          <p:cNvPr id="13" name="Chart 12"/>
          <p:cNvGraphicFramePr>
            <a:graphicFrameLocks noGrp="1"/>
          </p:cNvGraphicFramePr>
          <p:nvPr/>
        </p:nvGraphicFramePr>
        <p:xfrm>
          <a:off x="238125" y="1314450"/>
          <a:ext cx="6153150" cy="39243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857250"/>
            <a:ext cx="5400675"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914400"/>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Form Type (bubble = 2036 size)</a:t>
            </a:r>
          </a:p>
        </p:txBody>
      </p:sp>
      <p:graphicFrame>
        <p:nvGraphicFramePr>
          <p:cNvPr id="16" name="Chart 15"/>
          <p:cNvGraphicFramePr>
            <a:graphicFrameLocks noGrp="1"/>
          </p:cNvGraphicFramePr>
          <p:nvPr/>
        </p:nvGraphicFramePr>
        <p:xfrm>
          <a:off x="6734175" y="1143000"/>
          <a:ext cx="5210175" cy="40957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29250"/>
            <a:ext cx="11906250" cy="1295400"/>
          </a:xfrm>
          <a:prstGeom prst="roundRect">
            <a:avLst>
              <a:gd name="adj" fmla="val 58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Between 2026 and 2036, 'Autoinjector / Pen' gains the most share in the North America market (+582 BPS) while 'Prefilled Syringe' cedes 582 BPS. Bubbles right of the CAGR-Index line grow faster than the segment average.</a:t>
            </a:r>
          </a:p>
        </p:txBody>
      </p:sp>
      <p:sp>
        <p:nvSpPr>
          <p:cNvPr id="18" name="Rectangle 1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0" name="Rounded Rectangle 19">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Absolute $ Opportunity Analysis, By Form Type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2021–2025 (US$ Mn)</a:t>
            </a:r>
          </a:p>
        </p:txBody>
      </p:sp>
      <p:graphicFrame>
        <p:nvGraphicFramePr>
          <p:cNvPr id="13" name="Chart 12"/>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2026–2031 (US$ Mn)</a:t>
            </a:r>
          </a:p>
        </p:txBody>
      </p:sp>
      <p:graphicFrame>
        <p:nvGraphicFramePr>
          <p:cNvPr id="16" name="Chart 15"/>
          <p:cNvGraphicFramePr>
            <a:graphicFrameLocks noGrp="1"/>
          </p:cNvGraphicFramePr>
          <p:nvPr/>
        </p:nvGraphicFramePr>
        <p:xfrm>
          <a:off x="6267450" y="1143000"/>
          <a:ext cx="5686425" cy="25241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2031–2036 (US$ Mn)</a:t>
            </a:r>
          </a:p>
        </p:txBody>
      </p:sp>
      <p:graphicFrame>
        <p:nvGraphicFramePr>
          <p:cNvPr id="19" name="Chart 18"/>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Form Type (2026–2036)</a:t>
            </a:r>
          </a:p>
        </p:txBody>
      </p:sp>
      <p:graphicFrame>
        <p:nvGraphicFramePr>
          <p:cNvPr id="22" name="Table 21"/>
          <p:cNvGraphicFramePr>
            <a:graphicFrameLocks noGrp="1"/>
          </p:cNvGraphicFramePr>
          <p:nvPr/>
        </p:nvGraphicFramePr>
        <p:xfrm>
          <a:off x="6267450" y="4143375"/>
          <a:ext cx="5686426" cy="542925"/>
        </p:xfrm>
        <a:graphic>
          <a:graphicData uri="http://schemas.openxmlformats.org/drawingml/2006/table">
            <a:tbl>
              <a:tblPr>
                <a:tableStyleId>{5C22544A-7EE6-4342-B048-85BDC9FD1C3A}</a:tableStyleId>
              </a:tblPr>
              <a:tblGrid>
                <a:gridCol w="1705928"/>
                <a:gridCol w="1990249"/>
                <a:gridCol w="1990249"/>
              </a:tblGrid>
              <a:tr h="180975">
                <a:tc>
                  <a:txBody>
                    <a:bodyPr wrap="none"/>
                    <a:lstStyle/>
                    <a:p>
                      <a:pPr algn="l"/>
                      <a:r>
                        <a:rPr sz="900" b="1">
                          <a:solidFill>
                            <a:srgbClr val="0B2E4A"/>
                          </a:solidFill>
                          <a:latin typeface="Calibri"/>
                        </a:rPr>
                        <a:t>Form Type</a:t>
                      </a:r>
                    </a:p>
                  </a:txBody>
                  <a:tcPr marL="85725" marR="38100" marT="19050" marB="19050" anchor="ctr">
                    <a:solidFill>
                      <a:srgbClr val="E0E8EF"/>
                    </a:solidFill>
                  </a:tcPr>
                </a:tc>
                <a:tc>
                  <a:txBody>
                    <a:bodyPr wrap="none"/>
                    <a:lstStyle/>
                    <a:p>
                      <a:pPr algn="l"/>
                      <a:r>
                        <a:rPr sz="900" b="1">
                          <a:solidFill>
                            <a:srgbClr val="0B2E4A"/>
                          </a:solidFill>
                          <a:latin typeface="Calibri"/>
                        </a:rPr>
                        <a:t>Absolute $ Opportunity (US$ Mn)</a:t>
                      </a:r>
                    </a:p>
                  </a:txBody>
                  <a:tcPr marL="85725" marR="38100" marT="19050" marB="19050" anchor="ctr">
                    <a:solidFill>
                      <a:srgbClr val="E0E8EF"/>
                    </a:solidFill>
                  </a:tcPr>
                </a:tc>
                <a:tc>
                  <a:txBody>
                    <a:bodyPr wrap="none"/>
                    <a:lstStyle/>
                    <a:p>
                      <a:pPr algn="l"/>
                      <a:r>
                        <a:rPr sz="900" b="1">
                          <a:solidFill>
                            <a:srgbClr val="0B2E4A"/>
                          </a:solidFill>
                          <a:latin typeface="Calibri"/>
                        </a:rPr>
                        <a:t>Share of Increment</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Prefilled Syringe</a:t>
                      </a:r>
                    </a:p>
                  </a:txBody>
                  <a:tcPr marL="85725" marR="38100" marT="19050" marB="19050" anchor="ctr">
                    <a:solidFill>
                      <a:srgbClr val="FFFFFF"/>
                    </a:solidFill>
                  </a:tcPr>
                </a:tc>
                <a:tc>
                  <a:txBody>
                    <a:bodyPr wrap="none"/>
                    <a:lstStyle/>
                    <a:p>
                      <a:pPr algn="l"/>
                      <a:r>
                        <a:rPr sz="900" b="0">
                          <a:solidFill>
                            <a:srgbClr val="2E2E2E"/>
                          </a:solidFill>
                          <a:latin typeface="Calibri"/>
                        </a:rPr>
                        <a:t>646.7</a:t>
                      </a:r>
                    </a:p>
                  </a:txBody>
                  <a:tcPr marL="85725" marR="38100" marT="19050" marB="19050" anchor="ctr">
                    <a:solidFill>
                      <a:srgbClr val="FFFFFF"/>
                    </a:solidFill>
                  </a:tcPr>
                </a:tc>
                <a:tc>
                  <a:txBody>
                    <a:bodyPr wrap="none"/>
                    <a:lstStyle/>
                    <a:p>
                      <a:pPr algn="l"/>
                      <a:r>
                        <a:rPr sz="900" b="0">
                          <a:solidFill>
                            <a:srgbClr val="2E2E2E"/>
                          </a:solidFill>
                          <a:latin typeface="Calibri"/>
                        </a:rPr>
                        <a:t>25.9%</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Autoinjector / Pen</a:t>
                      </a:r>
                    </a:p>
                  </a:txBody>
                  <a:tcPr marL="85725" marR="38100" marT="19050" marB="19050" anchor="ctr">
                    <a:solidFill>
                      <a:srgbClr val="F5F8FA"/>
                    </a:solidFill>
                  </a:tcPr>
                </a:tc>
                <a:tc>
                  <a:txBody>
                    <a:bodyPr wrap="none"/>
                    <a:lstStyle/>
                    <a:p>
                      <a:pPr algn="l"/>
                      <a:r>
                        <a:rPr sz="900" b="0">
                          <a:solidFill>
                            <a:srgbClr val="2E2E2E"/>
                          </a:solidFill>
                          <a:latin typeface="Calibri"/>
                        </a:rPr>
                        <a:t>1,854</a:t>
                      </a:r>
                    </a:p>
                  </a:txBody>
                  <a:tcPr marL="85725" marR="38100" marT="19050" marB="19050" anchor="ctr">
                    <a:solidFill>
                      <a:srgbClr val="F5F8FA"/>
                    </a:solidFill>
                  </a:tcPr>
                </a:tc>
                <a:tc>
                  <a:txBody>
                    <a:bodyPr wrap="none"/>
                    <a:lstStyle/>
                    <a:p>
                      <a:pPr algn="l"/>
                      <a:r>
                        <a:rPr sz="900" b="0">
                          <a:solidFill>
                            <a:srgbClr val="2E2E2E"/>
                          </a:solidFill>
                          <a:latin typeface="Calibri"/>
                        </a:rPr>
                        <a:t>74.1%</a:t>
                      </a:r>
                    </a:p>
                  </a:txBody>
                  <a:tcPr marL="85725" marR="38100" marT="19050" marB="19050" anchor="ctr">
                    <a:solidFill>
                      <a:srgbClr val="F5F8FA"/>
                    </a:solidFill>
                  </a:tcPr>
                </a:tc>
              </a:tr>
            </a:tbl>
          </a:graphicData>
        </a:graphic>
      </p:graphicFrame>
      <p:sp>
        <p:nvSpPr>
          <p:cNvPr id="23" name="TextBox 22"/>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Volume Analysis, By Form Type (Mn Doses)</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924175"/>
          </a:xfrm>
          <a:prstGeom prst="roundRect">
            <a:avLst>
              <a:gd name="adj" fmla="val 26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Form Type (Mn Doses)</a:t>
            </a:r>
          </a:p>
        </p:txBody>
      </p:sp>
      <p:graphicFrame>
        <p:nvGraphicFramePr>
          <p:cNvPr id="13" name="Table 12"/>
          <p:cNvGraphicFramePr>
            <a:graphicFrameLocks noGrp="1"/>
          </p:cNvGraphicFramePr>
          <p:nvPr/>
        </p:nvGraphicFramePr>
        <p:xfrm>
          <a:off x="238125" y="1143000"/>
          <a:ext cx="11715752" cy="72390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Form Type</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Prefilled Syringe</a:t>
                      </a:r>
                    </a:p>
                  </a:txBody>
                  <a:tcPr marL="85725" marR="38100" marT="19050" marB="19050" anchor="ctr">
                    <a:solidFill>
                      <a:srgbClr val="FFFFFF"/>
                    </a:solidFill>
                  </a:tcPr>
                </a:tc>
                <a:tc>
                  <a:txBody>
                    <a:bodyPr wrap="none"/>
                    <a:lstStyle/>
                    <a:p>
                      <a:pPr algn="l"/>
                      <a:r>
                        <a:rPr sz="800" b="0">
                          <a:solidFill>
                            <a:srgbClr val="2E2E2E"/>
                          </a:solidFill>
                          <a:latin typeface="Calibri"/>
                        </a:rPr>
                        <a:t>0.67</a:t>
                      </a:r>
                    </a:p>
                  </a:txBody>
                  <a:tcPr marL="85725" marR="38100" marT="19050" marB="19050" anchor="ctr">
                    <a:solidFill>
                      <a:srgbClr val="FFFFFF"/>
                    </a:solidFill>
                  </a:tcPr>
                </a:tc>
                <a:tc>
                  <a:txBody>
                    <a:bodyPr wrap="none"/>
                    <a:lstStyle/>
                    <a:p>
                      <a:pPr algn="l"/>
                      <a:r>
                        <a:rPr sz="800" b="0">
                          <a:solidFill>
                            <a:srgbClr val="2E2E2E"/>
                          </a:solidFill>
                          <a:latin typeface="Calibri"/>
                        </a:rPr>
                        <a:t>0.78</a:t>
                      </a:r>
                    </a:p>
                  </a:txBody>
                  <a:tcPr marL="85725" marR="38100" marT="19050" marB="19050" anchor="ctr">
                    <a:solidFill>
                      <a:srgbClr val="FFFFFF"/>
                    </a:solidFill>
                  </a:tcPr>
                </a:tc>
                <a:tc>
                  <a:txBody>
                    <a:bodyPr wrap="none"/>
                    <a:lstStyle/>
                    <a:p>
                      <a:pPr algn="l"/>
                      <a:r>
                        <a:rPr sz="800" b="0">
                          <a:solidFill>
                            <a:srgbClr val="2E2E2E"/>
                          </a:solidFill>
                          <a:latin typeface="Calibri"/>
                        </a:rPr>
                        <a:t>0.98</a:t>
                      </a:r>
                    </a:p>
                  </a:txBody>
                  <a:tcPr marL="85725" marR="38100" marT="19050" marB="19050" anchor="ctr">
                    <a:solidFill>
                      <a:srgbClr val="FFFFFF"/>
                    </a:solidFill>
                  </a:tcPr>
                </a:tc>
                <a:tc>
                  <a:txBody>
                    <a:bodyPr wrap="none"/>
                    <a:lstStyle/>
                    <a:p>
                      <a:pPr algn="l"/>
                      <a:r>
                        <a:rPr sz="800" b="0">
                          <a:solidFill>
                            <a:srgbClr val="2E2E2E"/>
                          </a:solidFill>
                          <a:latin typeface="Calibri"/>
                        </a:rPr>
                        <a:t>1.25</a:t>
                      </a:r>
                    </a:p>
                  </a:txBody>
                  <a:tcPr marL="85725" marR="38100" marT="19050" marB="19050" anchor="ctr">
                    <a:solidFill>
                      <a:srgbClr val="FFFFFF"/>
                    </a:solidFill>
                  </a:tcPr>
                </a:tc>
                <a:tc>
                  <a:txBody>
                    <a:bodyPr wrap="none"/>
                    <a:lstStyle/>
                    <a:p>
                      <a:pPr algn="l"/>
                      <a:r>
                        <a:rPr sz="800" b="0">
                          <a:solidFill>
                            <a:srgbClr val="2E2E2E"/>
                          </a:solidFill>
                          <a:latin typeface="Calibri"/>
                        </a:rPr>
                        <a:t>1.58</a:t>
                      </a:r>
                    </a:p>
                  </a:txBody>
                  <a:tcPr marL="85725" marR="38100" marT="19050" marB="19050" anchor="ctr">
                    <a:solidFill>
                      <a:srgbClr val="FFFFFF"/>
                    </a:solidFill>
                  </a:tcPr>
                </a:tc>
                <a:tc>
                  <a:txBody>
                    <a:bodyPr wrap="none"/>
                    <a:lstStyle/>
                    <a:p>
                      <a:pPr algn="l"/>
                      <a:r>
                        <a:rPr sz="800" b="0">
                          <a:solidFill>
                            <a:srgbClr val="2E2E2E"/>
                          </a:solidFill>
                          <a:latin typeface="Calibri"/>
                        </a:rPr>
                        <a:t>1.93</a:t>
                      </a:r>
                    </a:p>
                  </a:txBody>
                  <a:tcPr marL="85725" marR="38100" marT="19050" marB="19050" anchor="ctr">
                    <a:solidFill>
                      <a:srgbClr val="FFFFFF"/>
                    </a:solidFill>
                  </a:tcPr>
                </a:tc>
                <a:tc>
                  <a:txBody>
                    <a:bodyPr wrap="none"/>
                    <a:lstStyle/>
                    <a:p>
                      <a:pPr algn="l"/>
                      <a:r>
                        <a:rPr sz="800" b="0">
                          <a:solidFill>
                            <a:srgbClr val="2E2E2E"/>
                          </a:solidFill>
                          <a:latin typeface="Calibri"/>
                        </a:rPr>
                        <a:t>2.31</a:t>
                      </a:r>
                    </a:p>
                  </a:txBody>
                  <a:tcPr marL="85725" marR="38100" marT="19050" marB="19050" anchor="ctr">
                    <a:solidFill>
                      <a:srgbClr val="FFFFFF"/>
                    </a:solidFill>
                  </a:tcPr>
                </a:tc>
                <a:tc>
                  <a:txBody>
                    <a:bodyPr wrap="none"/>
                    <a:lstStyle/>
                    <a:p>
                      <a:pPr algn="l"/>
                      <a:r>
                        <a:rPr sz="800" b="0">
                          <a:solidFill>
                            <a:srgbClr val="2E2E2E"/>
                          </a:solidFill>
                          <a:latin typeface="Calibri"/>
                        </a:rPr>
                        <a:t>2.71</a:t>
                      </a:r>
                    </a:p>
                  </a:txBody>
                  <a:tcPr marL="85725" marR="38100" marT="19050" marB="19050" anchor="ctr">
                    <a:solidFill>
                      <a:srgbClr val="FFFFFF"/>
                    </a:solidFill>
                  </a:tcPr>
                </a:tc>
                <a:tc>
                  <a:txBody>
                    <a:bodyPr wrap="none"/>
                    <a:lstStyle/>
                    <a:p>
                      <a:pPr algn="l"/>
                      <a:r>
                        <a:rPr sz="800" b="0">
                          <a:solidFill>
                            <a:srgbClr val="2E2E2E"/>
                          </a:solidFill>
                          <a:latin typeface="Calibri"/>
                        </a:rPr>
                        <a:t>3.13</a:t>
                      </a:r>
                    </a:p>
                  </a:txBody>
                  <a:tcPr marL="85725" marR="38100" marT="19050" marB="19050" anchor="ctr">
                    <a:solidFill>
                      <a:srgbClr val="FFFFFF"/>
                    </a:solidFill>
                  </a:tcPr>
                </a:tc>
                <a:tc>
                  <a:txBody>
                    <a:bodyPr wrap="none"/>
                    <a:lstStyle/>
                    <a:p>
                      <a:pPr algn="l"/>
                      <a:r>
                        <a:rPr sz="800" b="0">
                          <a:solidFill>
                            <a:srgbClr val="2E2E2E"/>
                          </a:solidFill>
                          <a:latin typeface="Calibri"/>
                        </a:rPr>
                        <a:t>3.58</a:t>
                      </a:r>
                    </a:p>
                  </a:txBody>
                  <a:tcPr marL="85725" marR="38100" marT="19050" marB="19050" anchor="ctr">
                    <a:solidFill>
                      <a:srgbClr val="FFFFFF"/>
                    </a:solidFill>
                  </a:tcPr>
                </a:tc>
                <a:tc>
                  <a:txBody>
                    <a:bodyPr wrap="none"/>
                    <a:lstStyle/>
                    <a:p>
                      <a:pPr algn="l"/>
                      <a:r>
                        <a:rPr sz="800" b="0">
                          <a:solidFill>
                            <a:srgbClr val="2E2E2E"/>
                          </a:solidFill>
                          <a:latin typeface="Calibri"/>
                        </a:rPr>
                        <a:t>4.05</a:t>
                      </a:r>
                    </a:p>
                  </a:txBody>
                  <a:tcPr marL="85725" marR="38100" marT="19050" marB="19050" anchor="ctr">
                    <a:solidFill>
                      <a:srgbClr val="FFFFFF"/>
                    </a:solidFill>
                  </a:tcPr>
                </a:tc>
                <a:tc>
                  <a:txBody>
                    <a:bodyPr wrap="none"/>
                    <a:lstStyle/>
                    <a:p>
                      <a:pPr algn="l"/>
                      <a:r>
                        <a:rPr sz="800" b="0">
                          <a:solidFill>
                            <a:srgbClr val="2E2E2E"/>
                          </a:solidFill>
                          <a:latin typeface="Calibri"/>
                        </a:rPr>
                        <a:t>4.55</a:t>
                      </a:r>
                    </a:p>
                  </a:txBody>
                  <a:tcPr marL="85725" marR="38100" marT="19050" marB="19050" anchor="ctr">
                    <a:solidFill>
                      <a:srgbClr val="FFFFFF"/>
                    </a:solidFill>
                  </a:tcPr>
                </a:tc>
                <a:tc>
                  <a:txBody>
                    <a:bodyPr wrap="none"/>
                    <a:lstStyle/>
                    <a:p>
                      <a:pPr algn="l"/>
                      <a:r>
                        <a:rPr sz="800" b="0">
                          <a:solidFill>
                            <a:srgbClr val="2E2E2E"/>
                          </a:solidFill>
                          <a:latin typeface="Calibri"/>
                        </a:rPr>
                        <a:t>5.06</a:t>
                      </a:r>
                    </a:p>
                  </a:txBody>
                  <a:tcPr marL="85725" marR="38100" marT="19050" marB="19050" anchor="ctr">
                    <a:solidFill>
                      <a:srgbClr val="FFFFFF"/>
                    </a:solidFill>
                  </a:tcPr>
                </a:tc>
                <a:tc>
                  <a:txBody>
                    <a:bodyPr wrap="none"/>
                    <a:lstStyle/>
                    <a:p>
                      <a:pPr algn="l"/>
                      <a:r>
                        <a:rPr sz="800" b="0">
                          <a:solidFill>
                            <a:srgbClr val="2E2E2E"/>
                          </a:solidFill>
                          <a:latin typeface="Calibri"/>
                        </a:rPr>
                        <a:t>5.61</a:t>
                      </a:r>
                    </a:p>
                  </a:txBody>
                  <a:tcPr marL="85725" marR="38100" marT="19050" marB="19050" anchor="ctr">
                    <a:solidFill>
                      <a:srgbClr val="FFFFFF"/>
                    </a:solidFill>
                  </a:tcPr>
                </a:tc>
                <a:tc>
                  <a:txBody>
                    <a:bodyPr wrap="none"/>
                    <a:lstStyle/>
                    <a:p>
                      <a:pPr algn="l"/>
                      <a:r>
                        <a:rPr sz="800" b="0">
                          <a:solidFill>
                            <a:srgbClr val="2E2E2E"/>
                          </a:solidFill>
                          <a:latin typeface="Calibri"/>
                        </a:rPr>
                        <a:t>6.18</a:t>
                      </a:r>
                    </a:p>
                  </a:txBody>
                  <a:tcPr marL="85725" marR="38100" marT="19050" marB="19050" anchor="ctr">
                    <a:solidFill>
                      <a:srgbClr val="FFFFFF"/>
                    </a:solidFill>
                  </a:tcPr>
                </a:tc>
                <a:tc>
                  <a:txBody>
                    <a:bodyPr wrap="none"/>
                    <a:lstStyle/>
                    <a:p>
                      <a:pPr algn="l"/>
                      <a:r>
                        <a:rPr sz="800" b="0">
                          <a:solidFill>
                            <a:srgbClr val="2E2E2E"/>
                          </a:solidFill>
                          <a:latin typeface="Calibri"/>
                        </a:rPr>
                        <a:t>6.78</a:t>
                      </a:r>
                    </a:p>
                  </a:txBody>
                  <a:tcPr marL="85725" marR="38100" marT="19050" marB="19050" anchor="ctr">
                    <a:solidFill>
                      <a:srgbClr val="FFFFFF"/>
                    </a:solidFill>
                  </a:tcPr>
                </a:tc>
                <a:tc>
                  <a:txBody>
                    <a:bodyPr wrap="none"/>
                    <a:lstStyle/>
                    <a:p>
                      <a:pPr algn="l"/>
                      <a:r>
                        <a:rPr sz="800" b="0">
                          <a:solidFill>
                            <a:srgbClr val="2E2E2E"/>
                          </a:solidFill>
                          <a:latin typeface="Calibri"/>
                        </a:rPr>
                        <a:t>13.4%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Autoinjector / Pen</a:t>
                      </a:r>
                    </a:p>
                  </a:txBody>
                  <a:tcPr marL="85725" marR="38100" marT="19050" marB="19050" anchor="ctr">
                    <a:solidFill>
                      <a:srgbClr val="F5F8FA"/>
                    </a:solidFill>
                  </a:tcPr>
                </a:tc>
                <a:tc>
                  <a:txBody>
                    <a:bodyPr wrap="none"/>
                    <a:lstStyle/>
                    <a:p>
                      <a:pPr algn="l"/>
                      <a:r>
                        <a:rPr sz="800" b="0">
                          <a:solidFill>
                            <a:srgbClr val="2E2E2E"/>
                          </a:solidFill>
                          <a:latin typeface="Calibri"/>
                        </a:rPr>
                        <a:t>0.80</a:t>
                      </a:r>
                    </a:p>
                  </a:txBody>
                  <a:tcPr marL="85725" marR="38100" marT="19050" marB="19050" anchor="ctr">
                    <a:solidFill>
                      <a:srgbClr val="F5F8FA"/>
                    </a:solidFill>
                  </a:tcPr>
                </a:tc>
                <a:tc>
                  <a:txBody>
                    <a:bodyPr wrap="none"/>
                    <a:lstStyle/>
                    <a:p>
                      <a:pPr algn="l"/>
                      <a:r>
                        <a:rPr sz="800" b="0">
                          <a:solidFill>
                            <a:srgbClr val="2E2E2E"/>
                          </a:solidFill>
                          <a:latin typeface="Calibri"/>
                        </a:rPr>
                        <a:t>0.93</a:t>
                      </a:r>
                    </a:p>
                  </a:txBody>
                  <a:tcPr marL="85725" marR="38100" marT="19050" marB="19050" anchor="ctr">
                    <a:solidFill>
                      <a:srgbClr val="F5F8FA"/>
                    </a:solidFill>
                  </a:tcPr>
                </a:tc>
                <a:tc>
                  <a:txBody>
                    <a:bodyPr wrap="none"/>
                    <a:lstStyle/>
                    <a:p>
                      <a:pPr algn="l"/>
                      <a:r>
                        <a:rPr sz="800" b="0">
                          <a:solidFill>
                            <a:srgbClr val="2E2E2E"/>
                          </a:solidFill>
                          <a:latin typeface="Calibri"/>
                        </a:rPr>
                        <a:t>1.16</a:t>
                      </a:r>
                    </a:p>
                  </a:txBody>
                  <a:tcPr marL="85725" marR="38100" marT="19050" marB="19050" anchor="ctr">
                    <a:solidFill>
                      <a:srgbClr val="F5F8FA"/>
                    </a:solidFill>
                  </a:tcPr>
                </a:tc>
                <a:tc>
                  <a:txBody>
                    <a:bodyPr wrap="none"/>
                    <a:lstStyle/>
                    <a:p>
                      <a:pPr algn="l"/>
                      <a:r>
                        <a:rPr sz="800" b="0">
                          <a:solidFill>
                            <a:srgbClr val="2E2E2E"/>
                          </a:solidFill>
                          <a:latin typeface="Calibri"/>
                        </a:rPr>
                        <a:t>1.48</a:t>
                      </a:r>
                    </a:p>
                  </a:txBody>
                  <a:tcPr marL="85725" marR="38100" marT="19050" marB="19050" anchor="ctr">
                    <a:solidFill>
                      <a:srgbClr val="F5F8FA"/>
                    </a:solidFill>
                  </a:tcPr>
                </a:tc>
                <a:tc>
                  <a:txBody>
                    <a:bodyPr wrap="none"/>
                    <a:lstStyle/>
                    <a:p>
                      <a:pPr algn="l"/>
                      <a:r>
                        <a:rPr sz="800" b="0">
                          <a:solidFill>
                            <a:srgbClr val="2E2E2E"/>
                          </a:solidFill>
                          <a:latin typeface="Calibri"/>
                        </a:rPr>
                        <a:t>1.85</a:t>
                      </a:r>
                    </a:p>
                  </a:txBody>
                  <a:tcPr marL="85725" marR="38100" marT="19050" marB="19050" anchor="ctr">
                    <a:solidFill>
                      <a:srgbClr val="F5F8FA"/>
                    </a:solidFill>
                  </a:tcPr>
                </a:tc>
                <a:tc>
                  <a:txBody>
                    <a:bodyPr wrap="none"/>
                    <a:lstStyle/>
                    <a:p>
                      <a:pPr algn="l"/>
                      <a:r>
                        <a:rPr sz="800" b="0">
                          <a:solidFill>
                            <a:srgbClr val="2E2E2E"/>
                          </a:solidFill>
                          <a:latin typeface="Calibri"/>
                        </a:rPr>
                        <a:t>2.24</a:t>
                      </a:r>
                    </a:p>
                  </a:txBody>
                  <a:tcPr marL="85725" marR="38100" marT="19050" marB="19050" anchor="ctr">
                    <a:solidFill>
                      <a:srgbClr val="F5F8FA"/>
                    </a:solidFill>
                  </a:tcPr>
                </a:tc>
                <a:tc>
                  <a:txBody>
                    <a:bodyPr wrap="none"/>
                    <a:lstStyle/>
                    <a:p>
                      <a:pPr algn="l"/>
                      <a:r>
                        <a:rPr sz="800" b="0">
                          <a:solidFill>
                            <a:srgbClr val="2E2E2E"/>
                          </a:solidFill>
                          <a:latin typeface="Calibri"/>
                        </a:rPr>
                        <a:t>2.66</a:t>
                      </a:r>
                    </a:p>
                  </a:txBody>
                  <a:tcPr marL="85725" marR="38100" marT="19050" marB="19050" anchor="ctr">
                    <a:solidFill>
                      <a:srgbClr val="F5F8FA"/>
                    </a:solidFill>
                  </a:tcPr>
                </a:tc>
                <a:tc>
                  <a:txBody>
                    <a:bodyPr wrap="none"/>
                    <a:lstStyle/>
                    <a:p>
                      <a:pPr algn="l"/>
                      <a:r>
                        <a:rPr sz="800" b="0">
                          <a:solidFill>
                            <a:srgbClr val="2E2E2E"/>
                          </a:solidFill>
                          <a:latin typeface="Calibri"/>
                        </a:rPr>
                        <a:t>3.10</a:t>
                      </a:r>
                    </a:p>
                  </a:txBody>
                  <a:tcPr marL="85725" marR="38100" marT="19050" marB="19050" anchor="ctr">
                    <a:solidFill>
                      <a:srgbClr val="F5F8FA"/>
                    </a:solidFill>
                  </a:tcPr>
                </a:tc>
                <a:tc>
                  <a:txBody>
                    <a:bodyPr wrap="none"/>
                    <a:lstStyle/>
                    <a:p>
                      <a:pPr algn="l"/>
                      <a:r>
                        <a:rPr sz="800" b="0">
                          <a:solidFill>
                            <a:srgbClr val="2E2E2E"/>
                          </a:solidFill>
                          <a:latin typeface="Calibri"/>
                        </a:rPr>
                        <a:t>3.57</a:t>
                      </a:r>
                    </a:p>
                  </a:txBody>
                  <a:tcPr marL="85725" marR="38100" marT="19050" marB="19050" anchor="ctr">
                    <a:solidFill>
                      <a:srgbClr val="F5F8FA"/>
                    </a:solidFill>
                  </a:tcPr>
                </a:tc>
                <a:tc>
                  <a:txBody>
                    <a:bodyPr wrap="none"/>
                    <a:lstStyle/>
                    <a:p>
                      <a:pPr algn="l"/>
                      <a:r>
                        <a:rPr sz="800" b="0">
                          <a:solidFill>
                            <a:srgbClr val="2E2E2E"/>
                          </a:solidFill>
                          <a:latin typeface="Calibri"/>
                        </a:rPr>
                        <a:t>4.05</a:t>
                      </a:r>
                    </a:p>
                  </a:txBody>
                  <a:tcPr marL="85725" marR="38100" marT="19050" marB="19050" anchor="ctr">
                    <a:solidFill>
                      <a:srgbClr val="F5F8FA"/>
                    </a:solidFill>
                  </a:tcPr>
                </a:tc>
                <a:tc>
                  <a:txBody>
                    <a:bodyPr wrap="none"/>
                    <a:lstStyle/>
                    <a:p>
                      <a:pPr algn="l"/>
                      <a:r>
                        <a:rPr sz="800" b="0">
                          <a:solidFill>
                            <a:srgbClr val="2E2E2E"/>
                          </a:solidFill>
                          <a:latin typeface="Calibri"/>
                        </a:rPr>
                        <a:t>4.55</a:t>
                      </a:r>
                    </a:p>
                  </a:txBody>
                  <a:tcPr marL="85725" marR="38100" marT="19050" marB="19050" anchor="ctr">
                    <a:solidFill>
                      <a:srgbClr val="F5F8FA"/>
                    </a:solidFill>
                  </a:tcPr>
                </a:tc>
                <a:tc>
                  <a:txBody>
                    <a:bodyPr wrap="none"/>
                    <a:lstStyle/>
                    <a:p>
                      <a:pPr algn="l"/>
                      <a:r>
                        <a:rPr sz="800" b="0">
                          <a:solidFill>
                            <a:srgbClr val="2E2E2E"/>
                          </a:solidFill>
                          <a:latin typeface="Calibri"/>
                        </a:rPr>
                        <a:t>5.07</a:t>
                      </a:r>
                    </a:p>
                  </a:txBody>
                  <a:tcPr marL="85725" marR="38100" marT="19050" marB="19050" anchor="ctr">
                    <a:solidFill>
                      <a:srgbClr val="F5F8FA"/>
                    </a:solidFill>
                  </a:tcPr>
                </a:tc>
                <a:tc>
                  <a:txBody>
                    <a:bodyPr wrap="none"/>
                    <a:lstStyle/>
                    <a:p>
                      <a:pPr algn="l"/>
                      <a:r>
                        <a:rPr sz="800" b="0">
                          <a:solidFill>
                            <a:srgbClr val="2E2E2E"/>
                          </a:solidFill>
                          <a:latin typeface="Calibri"/>
                        </a:rPr>
                        <a:t>5.61</a:t>
                      </a:r>
                    </a:p>
                  </a:txBody>
                  <a:tcPr marL="85725" marR="38100" marT="19050" marB="19050" anchor="ctr">
                    <a:solidFill>
                      <a:srgbClr val="F5F8FA"/>
                    </a:solidFill>
                  </a:tcPr>
                </a:tc>
                <a:tc>
                  <a:txBody>
                    <a:bodyPr wrap="none"/>
                    <a:lstStyle/>
                    <a:p>
                      <a:pPr algn="l"/>
                      <a:r>
                        <a:rPr sz="800" b="0">
                          <a:solidFill>
                            <a:srgbClr val="2E2E2E"/>
                          </a:solidFill>
                          <a:latin typeface="Calibri"/>
                        </a:rPr>
                        <a:t>6.17</a:t>
                      </a:r>
                    </a:p>
                  </a:txBody>
                  <a:tcPr marL="85725" marR="38100" marT="19050" marB="19050" anchor="ctr">
                    <a:solidFill>
                      <a:srgbClr val="F5F8FA"/>
                    </a:solidFill>
                  </a:tcPr>
                </a:tc>
                <a:tc>
                  <a:txBody>
                    <a:bodyPr wrap="none"/>
                    <a:lstStyle/>
                    <a:p>
                      <a:pPr algn="l"/>
                      <a:r>
                        <a:rPr sz="800" b="0">
                          <a:solidFill>
                            <a:srgbClr val="2E2E2E"/>
                          </a:solidFill>
                          <a:latin typeface="Calibri"/>
                        </a:rPr>
                        <a:t>6.75</a:t>
                      </a:r>
                    </a:p>
                  </a:txBody>
                  <a:tcPr marL="85725" marR="38100" marT="19050" marB="19050" anchor="ctr">
                    <a:solidFill>
                      <a:srgbClr val="F5F8FA"/>
                    </a:solidFill>
                  </a:tcPr>
                </a:tc>
                <a:tc>
                  <a:txBody>
                    <a:bodyPr wrap="none"/>
                    <a:lstStyle/>
                    <a:p>
                      <a:pPr algn="l"/>
                      <a:r>
                        <a:rPr sz="800" b="0">
                          <a:solidFill>
                            <a:srgbClr val="2E2E2E"/>
                          </a:solidFill>
                          <a:latin typeface="Calibri"/>
                        </a:rPr>
                        <a:t>7.36</a:t>
                      </a:r>
                    </a:p>
                  </a:txBody>
                  <a:tcPr marL="85725" marR="38100" marT="19050" marB="19050" anchor="ctr">
                    <a:solidFill>
                      <a:srgbClr val="F5F8FA"/>
                    </a:solidFill>
                  </a:tcPr>
                </a:tc>
                <a:tc>
                  <a:txBody>
                    <a:bodyPr wrap="none"/>
                    <a:lstStyle/>
                    <a:p>
                      <a:pPr algn="l"/>
                      <a:r>
                        <a:rPr sz="800" b="0">
                          <a:solidFill>
                            <a:srgbClr val="2E2E2E"/>
                          </a:solidFill>
                          <a:latin typeface="Calibri"/>
                        </a:rPr>
                        <a:t>12.6%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1.47</a:t>
                      </a:r>
                    </a:p>
                  </a:txBody>
                  <a:tcPr marL="85725" marR="38100" marT="19050" marB="19050" anchor="ctr">
                    <a:solidFill>
                      <a:srgbClr val="E0E8EF"/>
                    </a:solidFill>
                  </a:tcPr>
                </a:tc>
                <a:tc>
                  <a:txBody>
                    <a:bodyPr wrap="none"/>
                    <a:lstStyle/>
                    <a:p>
                      <a:pPr algn="l"/>
                      <a:r>
                        <a:rPr sz="800" b="1">
                          <a:solidFill>
                            <a:srgbClr val="2E2E2E"/>
                          </a:solidFill>
                          <a:latin typeface="Calibri"/>
                        </a:rPr>
                        <a:t>1.72</a:t>
                      </a:r>
                    </a:p>
                  </a:txBody>
                  <a:tcPr marL="85725" marR="38100" marT="19050" marB="19050" anchor="ctr">
                    <a:solidFill>
                      <a:srgbClr val="E0E8EF"/>
                    </a:solidFill>
                  </a:tcPr>
                </a:tc>
                <a:tc>
                  <a:txBody>
                    <a:bodyPr wrap="none"/>
                    <a:lstStyle/>
                    <a:p>
                      <a:pPr algn="l"/>
                      <a:r>
                        <a:rPr sz="800" b="1">
                          <a:solidFill>
                            <a:srgbClr val="2E2E2E"/>
                          </a:solidFill>
                          <a:latin typeface="Calibri"/>
                        </a:rPr>
                        <a:t>2.13</a:t>
                      </a:r>
                    </a:p>
                  </a:txBody>
                  <a:tcPr marL="85725" marR="38100" marT="19050" marB="19050" anchor="ctr">
                    <a:solidFill>
                      <a:srgbClr val="E0E8EF"/>
                    </a:solidFill>
                  </a:tcPr>
                </a:tc>
                <a:tc>
                  <a:txBody>
                    <a:bodyPr wrap="none"/>
                    <a:lstStyle/>
                    <a:p>
                      <a:pPr algn="l"/>
                      <a:r>
                        <a:rPr sz="800" b="1">
                          <a:solidFill>
                            <a:srgbClr val="2E2E2E"/>
                          </a:solidFill>
                          <a:latin typeface="Calibri"/>
                        </a:rPr>
                        <a:t>2.73</a:t>
                      </a:r>
                    </a:p>
                  </a:txBody>
                  <a:tcPr marL="85725" marR="38100" marT="19050" marB="19050" anchor="ctr">
                    <a:solidFill>
                      <a:srgbClr val="E0E8EF"/>
                    </a:solidFill>
                  </a:tcPr>
                </a:tc>
                <a:tc>
                  <a:txBody>
                    <a:bodyPr wrap="none"/>
                    <a:lstStyle/>
                    <a:p>
                      <a:pPr algn="l"/>
                      <a:r>
                        <a:rPr sz="800" b="1">
                          <a:solidFill>
                            <a:srgbClr val="2E2E2E"/>
                          </a:solidFill>
                          <a:latin typeface="Calibri"/>
                        </a:rPr>
                        <a:t>3.42</a:t>
                      </a:r>
                    </a:p>
                  </a:txBody>
                  <a:tcPr marL="85725" marR="38100" marT="19050" marB="19050" anchor="ctr">
                    <a:solidFill>
                      <a:srgbClr val="E0E8EF"/>
                    </a:solidFill>
                  </a:tcPr>
                </a:tc>
                <a:tc>
                  <a:txBody>
                    <a:bodyPr wrap="none"/>
                    <a:lstStyle/>
                    <a:p>
                      <a:pPr algn="l"/>
                      <a:r>
                        <a:rPr sz="800" b="1">
                          <a:solidFill>
                            <a:srgbClr val="2E2E2E"/>
                          </a:solidFill>
                          <a:latin typeface="Calibri"/>
                        </a:rPr>
                        <a:t>4.16</a:t>
                      </a:r>
                    </a:p>
                  </a:txBody>
                  <a:tcPr marL="85725" marR="38100" marT="19050" marB="19050" anchor="ctr">
                    <a:solidFill>
                      <a:srgbClr val="E0E8EF"/>
                    </a:solidFill>
                  </a:tcPr>
                </a:tc>
                <a:tc>
                  <a:txBody>
                    <a:bodyPr wrap="none"/>
                    <a:lstStyle/>
                    <a:p>
                      <a:pPr algn="l"/>
                      <a:r>
                        <a:rPr sz="800" b="1">
                          <a:solidFill>
                            <a:srgbClr val="2E2E2E"/>
                          </a:solidFill>
                          <a:latin typeface="Calibri"/>
                        </a:rPr>
                        <a:t>4.97</a:t>
                      </a:r>
                    </a:p>
                  </a:txBody>
                  <a:tcPr marL="85725" marR="38100" marT="19050" marB="19050" anchor="ctr">
                    <a:solidFill>
                      <a:srgbClr val="E0E8EF"/>
                    </a:solidFill>
                  </a:tcPr>
                </a:tc>
                <a:tc>
                  <a:txBody>
                    <a:bodyPr wrap="none"/>
                    <a:lstStyle/>
                    <a:p>
                      <a:pPr algn="l"/>
                      <a:r>
                        <a:rPr sz="800" b="1">
                          <a:solidFill>
                            <a:srgbClr val="2E2E2E"/>
                          </a:solidFill>
                          <a:latin typeface="Calibri"/>
                        </a:rPr>
                        <a:t>5.81</a:t>
                      </a:r>
                    </a:p>
                  </a:txBody>
                  <a:tcPr marL="85725" marR="38100" marT="19050" marB="19050" anchor="ctr">
                    <a:solidFill>
                      <a:srgbClr val="E0E8EF"/>
                    </a:solidFill>
                  </a:tcPr>
                </a:tc>
                <a:tc>
                  <a:txBody>
                    <a:bodyPr wrap="none"/>
                    <a:lstStyle/>
                    <a:p>
                      <a:pPr algn="l"/>
                      <a:r>
                        <a:rPr sz="800" b="1">
                          <a:solidFill>
                            <a:srgbClr val="2E2E2E"/>
                          </a:solidFill>
                          <a:latin typeface="Calibri"/>
                        </a:rPr>
                        <a:t>6.70</a:t>
                      </a:r>
                    </a:p>
                  </a:txBody>
                  <a:tcPr marL="85725" marR="38100" marT="19050" marB="19050" anchor="ctr">
                    <a:solidFill>
                      <a:srgbClr val="E0E8EF"/>
                    </a:solidFill>
                  </a:tcPr>
                </a:tc>
                <a:tc>
                  <a:txBody>
                    <a:bodyPr wrap="none"/>
                    <a:lstStyle/>
                    <a:p>
                      <a:pPr algn="l"/>
                      <a:r>
                        <a:rPr sz="800" b="1">
                          <a:solidFill>
                            <a:srgbClr val="2E2E2E"/>
                          </a:solidFill>
                          <a:latin typeface="Calibri"/>
                        </a:rPr>
                        <a:t>7.63</a:t>
                      </a:r>
                    </a:p>
                  </a:txBody>
                  <a:tcPr marL="85725" marR="38100" marT="19050" marB="19050" anchor="ctr">
                    <a:solidFill>
                      <a:srgbClr val="E0E8EF"/>
                    </a:solidFill>
                  </a:tcPr>
                </a:tc>
                <a:tc>
                  <a:txBody>
                    <a:bodyPr wrap="none"/>
                    <a:lstStyle/>
                    <a:p>
                      <a:pPr algn="l"/>
                      <a:r>
                        <a:rPr sz="800" b="1">
                          <a:solidFill>
                            <a:srgbClr val="2E2E2E"/>
                          </a:solidFill>
                          <a:latin typeface="Calibri"/>
                        </a:rPr>
                        <a:t>8.60</a:t>
                      </a:r>
                    </a:p>
                  </a:txBody>
                  <a:tcPr marL="85725" marR="38100" marT="19050" marB="19050" anchor="ctr">
                    <a:solidFill>
                      <a:srgbClr val="E0E8EF"/>
                    </a:solidFill>
                  </a:tcPr>
                </a:tc>
                <a:tc>
                  <a:txBody>
                    <a:bodyPr wrap="none"/>
                    <a:lstStyle/>
                    <a:p>
                      <a:pPr algn="l"/>
                      <a:r>
                        <a:rPr sz="800" b="1">
                          <a:solidFill>
                            <a:srgbClr val="2E2E2E"/>
                          </a:solidFill>
                          <a:latin typeface="Calibri"/>
                        </a:rPr>
                        <a:t>9.62</a:t>
                      </a:r>
                    </a:p>
                  </a:txBody>
                  <a:tcPr marL="85725" marR="38100" marT="19050" marB="19050" anchor="ctr">
                    <a:solidFill>
                      <a:srgbClr val="E0E8EF"/>
                    </a:solidFill>
                  </a:tcPr>
                </a:tc>
                <a:tc>
                  <a:txBody>
                    <a:bodyPr wrap="none"/>
                    <a:lstStyle/>
                    <a:p>
                      <a:pPr algn="l"/>
                      <a:r>
                        <a:rPr sz="800" b="1">
                          <a:solidFill>
                            <a:srgbClr val="2E2E2E"/>
                          </a:solidFill>
                          <a:latin typeface="Calibri"/>
                        </a:rPr>
                        <a:t>10.7</a:t>
                      </a:r>
                    </a:p>
                  </a:txBody>
                  <a:tcPr marL="85725" marR="38100" marT="19050" marB="19050" anchor="ctr">
                    <a:solidFill>
                      <a:srgbClr val="E0E8EF"/>
                    </a:solidFill>
                  </a:tcPr>
                </a:tc>
                <a:tc>
                  <a:txBody>
                    <a:bodyPr wrap="none"/>
                    <a:lstStyle/>
                    <a:p>
                      <a:pPr algn="l"/>
                      <a:r>
                        <a:rPr sz="800" b="1">
                          <a:solidFill>
                            <a:srgbClr val="2E2E2E"/>
                          </a:solidFill>
                          <a:latin typeface="Calibri"/>
                        </a:rPr>
                        <a:t>11.8</a:t>
                      </a:r>
                    </a:p>
                  </a:txBody>
                  <a:tcPr marL="85725" marR="38100" marT="19050" marB="19050" anchor="ctr">
                    <a:solidFill>
                      <a:srgbClr val="E0E8EF"/>
                    </a:solidFill>
                  </a:tcPr>
                </a:tc>
                <a:tc>
                  <a:txBody>
                    <a:bodyPr wrap="none"/>
                    <a:lstStyle/>
                    <a:p>
                      <a:pPr algn="l"/>
                      <a:r>
                        <a:rPr sz="800" b="1">
                          <a:solidFill>
                            <a:srgbClr val="2E2E2E"/>
                          </a:solidFill>
                          <a:latin typeface="Calibri"/>
                        </a:rPr>
                        <a:t>12.9</a:t>
                      </a:r>
                    </a:p>
                  </a:txBody>
                  <a:tcPr marL="85725" marR="38100" marT="19050" marB="19050" anchor="ctr">
                    <a:solidFill>
                      <a:srgbClr val="E0E8EF"/>
                    </a:solidFill>
                  </a:tcPr>
                </a:tc>
                <a:tc>
                  <a:txBody>
                    <a:bodyPr wrap="none"/>
                    <a:lstStyle/>
                    <a:p>
                      <a:pPr algn="l"/>
                      <a:r>
                        <a:rPr sz="800" b="1">
                          <a:solidFill>
                            <a:srgbClr val="2E2E2E"/>
                          </a:solidFill>
                          <a:latin typeface="Calibri"/>
                        </a:rPr>
                        <a:t>14.1</a:t>
                      </a:r>
                    </a:p>
                  </a:txBody>
                  <a:tcPr marL="85725" marR="38100" marT="19050" marB="19050" anchor="ctr">
                    <a:solidFill>
                      <a:srgbClr val="E0E8EF"/>
                    </a:solidFill>
                  </a:tcPr>
                </a:tc>
                <a:tc>
                  <a:txBody>
                    <a:bodyPr wrap="none"/>
                    <a:lstStyle/>
                    <a:p>
                      <a:pPr algn="l"/>
                      <a:r>
                        <a:rPr sz="800" b="1">
                          <a:solidFill>
                            <a:srgbClr val="2E2E2E"/>
                          </a:solidFill>
                          <a:latin typeface="Calibri"/>
                        </a:rPr>
                        <a:t>13.0%</a:t>
                      </a:r>
                    </a:p>
                  </a:txBody>
                  <a:tcPr marL="85725" marR="38100" marT="19050" marB="19050" anchor="ctr">
                    <a:solidFill>
                      <a:srgbClr val="E0E8EF"/>
                    </a:solidFill>
                  </a:tcPr>
                </a:tc>
              </a:tr>
            </a:tbl>
          </a:graphicData>
        </a:graphic>
      </p:graphicFrame>
      <p:sp>
        <p:nvSpPr>
          <p:cNvPr id="14" name="TextBox 13"/>
          <p:cNvSpPr txBox="1"/>
          <p:nvPr/>
        </p:nvSpPr>
        <p:spPr>
          <a:xfrm>
            <a:off x="219075" y="363855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914775"/>
            <a:ext cx="11906250" cy="2809875"/>
          </a:xfrm>
          <a:prstGeom prst="roundRect">
            <a:avLst>
              <a:gd name="adj" fmla="val 27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0005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Analysis, By Form Type</a:t>
            </a:r>
          </a:p>
        </p:txBody>
      </p:sp>
      <p:sp>
        <p:nvSpPr>
          <p:cNvPr id="17" name="Rectangle 16"/>
          <p:cNvSpPr/>
          <p:nvPr/>
        </p:nvSpPr>
        <p:spPr>
          <a:xfrm>
            <a:off x="276225" y="4238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324350"/>
            <a:ext cx="11639550" cy="232410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'Autoinjector / Pen' is the largest form type at 52.0% of 2036 volume (7.36 Mn Doses).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'Prefilled Syringe' grows fastest 13.4%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'Prefilled Syringe' (+170 BPS) and away from 'Autoinjector / Pen' (-170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volume rises from 4.16 to 14.1 Mn Doses across 2 categories.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Value Analysis, By Form Type (US$ Mn)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924175"/>
          </a:xfrm>
          <a:prstGeom prst="roundRect">
            <a:avLst>
              <a:gd name="adj" fmla="val 26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Form Type (US$ Mn)</a:t>
            </a:r>
          </a:p>
        </p:txBody>
      </p:sp>
      <p:graphicFrame>
        <p:nvGraphicFramePr>
          <p:cNvPr id="13" name="Table 12"/>
          <p:cNvGraphicFramePr>
            <a:graphicFrameLocks noGrp="1"/>
          </p:cNvGraphicFramePr>
          <p:nvPr/>
        </p:nvGraphicFramePr>
        <p:xfrm>
          <a:off x="238125" y="1143000"/>
          <a:ext cx="11715752" cy="72390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Form Type</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Prefilled Syringe</a:t>
                      </a:r>
                    </a:p>
                  </a:txBody>
                  <a:tcPr marL="85725" marR="38100" marT="19050" marB="19050" anchor="ctr">
                    <a:solidFill>
                      <a:srgbClr val="FFFFFF"/>
                    </a:solidFill>
                  </a:tcPr>
                </a:tc>
                <a:tc>
                  <a:txBody>
                    <a:bodyPr wrap="none"/>
                    <a:lstStyle/>
                    <a:p>
                      <a:pPr algn="l"/>
                      <a:r>
                        <a:rPr sz="800" b="0">
                          <a:solidFill>
                            <a:srgbClr val="2E2E2E"/>
                          </a:solidFill>
                          <a:latin typeface="Calibri"/>
                        </a:rPr>
                        <a:t>335.7</a:t>
                      </a:r>
                    </a:p>
                  </a:txBody>
                  <a:tcPr marL="85725" marR="38100" marT="19050" marB="19050" anchor="ctr">
                    <a:solidFill>
                      <a:srgbClr val="FFFFFF"/>
                    </a:solidFill>
                  </a:tcPr>
                </a:tc>
                <a:tc>
                  <a:txBody>
                    <a:bodyPr wrap="none"/>
                    <a:lstStyle/>
                    <a:p>
                      <a:pPr algn="l"/>
                      <a:r>
                        <a:rPr sz="800" b="0">
                          <a:solidFill>
                            <a:srgbClr val="2E2E2E"/>
                          </a:solidFill>
                          <a:latin typeface="Calibri"/>
                        </a:rPr>
                        <a:t>371.2</a:t>
                      </a:r>
                    </a:p>
                  </a:txBody>
                  <a:tcPr marL="85725" marR="38100" marT="19050" marB="19050" anchor="ctr">
                    <a:solidFill>
                      <a:srgbClr val="FFFFFF"/>
                    </a:solidFill>
                  </a:tcPr>
                </a:tc>
                <a:tc>
                  <a:txBody>
                    <a:bodyPr wrap="none"/>
                    <a:lstStyle/>
                    <a:p>
                      <a:pPr algn="l"/>
                      <a:r>
                        <a:rPr sz="800" b="0">
                          <a:solidFill>
                            <a:srgbClr val="2E2E2E"/>
                          </a:solidFill>
                          <a:latin typeface="Calibri"/>
                        </a:rPr>
                        <a:t>435.4</a:t>
                      </a:r>
                    </a:p>
                  </a:txBody>
                  <a:tcPr marL="85725" marR="38100" marT="19050" marB="19050" anchor="ctr">
                    <a:solidFill>
                      <a:srgbClr val="FFFFFF"/>
                    </a:solidFill>
                  </a:tcPr>
                </a:tc>
                <a:tc>
                  <a:txBody>
                    <a:bodyPr wrap="none"/>
                    <a:lstStyle/>
                    <a:p>
                      <a:pPr algn="l"/>
                      <a:r>
                        <a:rPr sz="800" b="0">
                          <a:solidFill>
                            <a:srgbClr val="2E2E2E"/>
                          </a:solidFill>
                          <a:latin typeface="Calibri"/>
                        </a:rPr>
                        <a:t>526.8</a:t>
                      </a:r>
                    </a:p>
                  </a:txBody>
                  <a:tcPr marL="85725" marR="38100" marT="19050" marB="19050" anchor="ctr">
                    <a:solidFill>
                      <a:srgbClr val="FFFFFF"/>
                    </a:solidFill>
                  </a:tcPr>
                </a:tc>
                <a:tc>
                  <a:txBody>
                    <a:bodyPr wrap="none"/>
                    <a:lstStyle/>
                    <a:p>
                      <a:pPr algn="l"/>
                      <a:r>
                        <a:rPr sz="800" b="0">
                          <a:solidFill>
                            <a:srgbClr val="2E2E2E"/>
                          </a:solidFill>
                          <a:latin typeface="Calibri"/>
                        </a:rPr>
                        <a:t>623.9</a:t>
                      </a:r>
                    </a:p>
                  </a:txBody>
                  <a:tcPr marL="85725" marR="38100" marT="19050" marB="19050" anchor="ctr">
                    <a:solidFill>
                      <a:srgbClr val="FFFFFF"/>
                    </a:solidFill>
                  </a:tcPr>
                </a:tc>
                <a:tc>
                  <a:txBody>
                    <a:bodyPr wrap="none"/>
                    <a:lstStyle/>
                    <a:p>
                      <a:pPr algn="l"/>
                      <a:r>
                        <a:rPr sz="800" b="0">
                          <a:solidFill>
                            <a:srgbClr val="2E2E2E"/>
                          </a:solidFill>
                          <a:latin typeface="Calibri"/>
                        </a:rPr>
                        <a:t>716.4</a:t>
                      </a:r>
                    </a:p>
                  </a:txBody>
                  <a:tcPr marL="85725" marR="38100" marT="19050" marB="19050" anchor="ctr">
                    <a:solidFill>
                      <a:srgbClr val="FFFFFF"/>
                    </a:solidFill>
                  </a:tcPr>
                </a:tc>
                <a:tc>
                  <a:txBody>
                    <a:bodyPr wrap="none"/>
                    <a:lstStyle/>
                    <a:p>
                      <a:pPr algn="l"/>
                      <a:r>
                        <a:rPr sz="800" b="0">
                          <a:solidFill>
                            <a:srgbClr val="2E2E2E"/>
                          </a:solidFill>
                          <a:latin typeface="Calibri"/>
                        </a:rPr>
                        <a:t>807.6</a:t>
                      </a:r>
                    </a:p>
                  </a:txBody>
                  <a:tcPr marL="85725" marR="38100" marT="19050" marB="19050" anchor="ctr">
                    <a:solidFill>
                      <a:srgbClr val="FFFFFF"/>
                    </a:solidFill>
                  </a:tcPr>
                </a:tc>
                <a:tc>
                  <a:txBody>
                    <a:bodyPr wrap="none"/>
                    <a:lstStyle/>
                    <a:p>
                      <a:pPr algn="l"/>
                      <a:r>
                        <a:rPr sz="800" b="0">
                          <a:solidFill>
                            <a:srgbClr val="2E2E2E"/>
                          </a:solidFill>
                          <a:latin typeface="Calibri"/>
                        </a:rPr>
                        <a:t>891.8</a:t>
                      </a:r>
                    </a:p>
                  </a:txBody>
                  <a:tcPr marL="85725" marR="38100" marT="19050" marB="19050" anchor="ctr">
                    <a:solidFill>
                      <a:srgbClr val="FFFFFF"/>
                    </a:solidFill>
                  </a:tcPr>
                </a:tc>
                <a:tc>
                  <a:txBody>
                    <a:bodyPr wrap="none"/>
                    <a:lstStyle/>
                    <a:p>
                      <a:pPr algn="l"/>
                      <a:r>
                        <a:rPr sz="800" b="0">
                          <a:solidFill>
                            <a:srgbClr val="2E2E2E"/>
                          </a:solidFill>
                          <a:latin typeface="Calibri"/>
                        </a:rPr>
                        <a:t>970.5</a:t>
                      </a:r>
                    </a:p>
                  </a:txBody>
                  <a:tcPr marL="85725" marR="38100" marT="19050" marB="19050" anchor="ctr">
                    <a:solidFill>
                      <a:srgbClr val="FFFFFF"/>
                    </a:solidFill>
                  </a:tcPr>
                </a:tc>
                <a:tc>
                  <a:txBody>
                    <a:bodyPr wrap="none"/>
                    <a:lstStyle/>
                    <a:p>
                      <a:pPr algn="l"/>
                      <a:r>
                        <a:rPr sz="800" b="0">
                          <a:solidFill>
                            <a:srgbClr val="2E2E2E"/>
                          </a:solidFill>
                          <a:latin typeface="Calibri"/>
                        </a:rPr>
                        <a:t>1,043</a:t>
                      </a:r>
                    </a:p>
                  </a:txBody>
                  <a:tcPr marL="85725" marR="38100" marT="19050" marB="19050" anchor="ctr">
                    <a:solidFill>
                      <a:srgbClr val="FFFFFF"/>
                    </a:solidFill>
                  </a:tcPr>
                </a:tc>
                <a:tc>
                  <a:txBody>
                    <a:bodyPr wrap="none"/>
                    <a:lstStyle/>
                    <a:p>
                      <a:pPr algn="l"/>
                      <a:r>
                        <a:rPr sz="800" b="0">
                          <a:solidFill>
                            <a:srgbClr val="2E2E2E"/>
                          </a:solidFill>
                          <a:latin typeface="Calibri"/>
                        </a:rPr>
                        <a:t>1,110</a:t>
                      </a:r>
                    </a:p>
                  </a:txBody>
                  <a:tcPr marL="85725" marR="38100" marT="19050" marB="19050" anchor="ctr">
                    <a:solidFill>
                      <a:srgbClr val="FFFFFF"/>
                    </a:solidFill>
                  </a:tcPr>
                </a:tc>
                <a:tc>
                  <a:txBody>
                    <a:bodyPr wrap="none"/>
                    <a:lstStyle/>
                    <a:p>
                      <a:pPr algn="l"/>
                      <a:r>
                        <a:rPr sz="800" b="0">
                          <a:solidFill>
                            <a:srgbClr val="2E2E2E"/>
                          </a:solidFill>
                          <a:latin typeface="Calibri"/>
                        </a:rPr>
                        <a:t>1,171</a:t>
                      </a:r>
                    </a:p>
                  </a:txBody>
                  <a:tcPr marL="85725" marR="38100" marT="19050" marB="19050" anchor="ctr">
                    <a:solidFill>
                      <a:srgbClr val="FFFFFF"/>
                    </a:solidFill>
                  </a:tcPr>
                </a:tc>
                <a:tc>
                  <a:txBody>
                    <a:bodyPr wrap="none"/>
                    <a:lstStyle/>
                    <a:p>
                      <a:pPr algn="l"/>
                      <a:r>
                        <a:rPr sz="800" b="0">
                          <a:solidFill>
                            <a:srgbClr val="2E2E2E"/>
                          </a:solidFill>
                          <a:latin typeface="Calibri"/>
                        </a:rPr>
                        <a:t>1,226</a:t>
                      </a:r>
                    </a:p>
                  </a:txBody>
                  <a:tcPr marL="85725" marR="38100" marT="19050" marB="19050" anchor="ctr">
                    <a:solidFill>
                      <a:srgbClr val="FFFFFF"/>
                    </a:solidFill>
                  </a:tcPr>
                </a:tc>
                <a:tc>
                  <a:txBody>
                    <a:bodyPr wrap="none"/>
                    <a:lstStyle/>
                    <a:p>
                      <a:pPr algn="l"/>
                      <a:r>
                        <a:rPr sz="800" b="0">
                          <a:solidFill>
                            <a:srgbClr val="2E2E2E"/>
                          </a:solidFill>
                          <a:latin typeface="Calibri"/>
                        </a:rPr>
                        <a:t>1,276</a:t>
                      </a:r>
                    </a:p>
                  </a:txBody>
                  <a:tcPr marL="85725" marR="38100" marT="19050" marB="19050" anchor="ctr">
                    <a:solidFill>
                      <a:srgbClr val="FFFFFF"/>
                    </a:solidFill>
                  </a:tcPr>
                </a:tc>
                <a:tc>
                  <a:txBody>
                    <a:bodyPr wrap="none"/>
                    <a:lstStyle/>
                    <a:p>
                      <a:pPr algn="l"/>
                      <a:r>
                        <a:rPr sz="800" b="0">
                          <a:solidFill>
                            <a:srgbClr val="2E2E2E"/>
                          </a:solidFill>
                          <a:latin typeface="Calibri"/>
                        </a:rPr>
                        <a:t>1,322</a:t>
                      </a:r>
                    </a:p>
                  </a:txBody>
                  <a:tcPr marL="85725" marR="38100" marT="19050" marB="19050" anchor="ctr">
                    <a:solidFill>
                      <a:srgbClr val="FFFFFF"/>
                    </a:solidFill>
                  </a:tcPr>
                </a:tc>
                <a:tc>
                  <a:txBody>
                    <a:bodyPr wrap="none"/>
                    <a:lstStyle/>
                    <a:p>
                      <a:pPr algn="l"/>
                      <a:r>
                        <a:rPr sz="800" b="0">
                          <a:solidFill>
                            <a:srgbClr val="2E2E2E"/>
                          </a:solidFill>
                          <a:latin typeface="Calibri"/>
                        </a:rPr>
                        <a:t>1,363</a:t>
                      </a:r>
                    </a:p>
                  </a:txBody>
                  <a:tcPr marL="85725" marR="38100" marT="19050" marB="19050" anchor="ctr">
                    <a:solidFill>
                      <a:srgbClr val="FFFFFF"/>
                    </a:solidFill>
                  </a:tcPr>
                </a:tc>
                <a:tc>
                  <a:txBody>
                    <a:bodyPr wrap="none"/>
                    <a:lstStyle/>
                    <a:p>
                      <a:pPr algn="l"/>
                      <a:r>
                        <a:rPr sz="800" b="0">
                          <a:solidFill>
                            <a:srgbClr val="2E2E2E"/>
                          </a:solidFill>
                          <a:latin typeface="Calibri"/>
                        </a:rPr>
                        <a:t>6.6%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Autoinjector / Pen</a:t>
                      </a:r>
                    </a:p>
                  </a:txBody>
                  <a:tcPr marL="85725" marR="38100" marT="19050" marB="19050" anchor="ctr">
                    <a:solidFill>
                      <a:srgbClr val="F5F8FA"/>
                    </a:solidFill>
                  </a:tcPr>
                </a:tc>
                <a:tc>
                  <a:txBody>
                    <a:bodyPr wrap="none"/>
                    <a:lstStyle/>
                    <a:p>
                      <a:pPr algn="l"/>
                      <a:r>
                        <a:rPr sz="800" b="0">
                          <a:solidFill>
                            <a:srgbClr val="2E2E2E"/>
                          </a:solidFill>
                          <a:latin typeface="Calibri"/>
                        </a:rPr>
                        <a:t>516.9</a:t>
                      </a:r>
                    </a:p>
                  </a:txBody>
                  <a:tcPr marL="85725" marR="38100" marT="19050" marB="19050" anchor="ctr">
                    <a:solidFill>
                      <a:srgbClr val="F5F8FA"/>
                    </a:solidFill>
                  </a:tcPr>
                </a:tc>
                <a:tc>
                  <a:txBody>
                    <a:bodyPr wrap="none"/>
                    <a:lstStyle/>
                    <a:p>
                      <a:pPr algn="l"/>
                      <a:r>
                        <a:rPr sz="800" b="0">
                          <a:solidFill>
                            <a:srgbClr val="2E2E2E"/>
                          </a:solidFill>
                          <a:latin typeface="Calibri"/>
                        </a:rPr>
                        <a:t>586.9</a:t>
                      </a:r>
                    </a:p>
                  </a:txBody>
                  <a:tcPr marL="85725" marR="38100" marT="19050" marB="19050" anchor="ctr">
                    <a:solidFill>
                      <a:srgbClr val="F5F8FA"/>
                    </a:solidFill>
                  </a:tcPr>
                </a:tc>
                <a:tc>
                  <a:txBody>
                    <a:bodyPr wrap="none"/>
                    <a:lstStyle/>
                    <a:p>
                      <a:pPr algn="l"/>
                      <a:r>
                        <a:rPr sz="800" b="0">
                          <a:solidFill>
                            <a:srgbClr val="2E2E2E"/>
                          </a:solidFill>
                          <a:latin typeface="Calibri"/>
                        </a:rPr>
                        <a:t>706.6</a:t>
                      </a:r>
                    </a:p>
                  </a:txBody>
                  <a:tcPr marL="85725" marR="38100" marT="19050" marB="19050" anchor="ctr">
                    <a:solidFill>
                      <a:srgbClr val="F5F8FA"/>
                    </a:solidFill>
                  </a:tcPr>
                </a:tc>
                <a:tc>
                  <a:txBody>
                    <a:bodyPr wrap="none"/>
                    <a:lstStyle/>
                    <a:p>
                      <a:pPr algn="l"/>
                      <a:r>
                        <a:rPr sz="800" b="0">
                          <a:solidFill>
                            <a:srgbClr val="2E2E2E"/>
                          </a:solidFill>
                          <a:latin typeface="Calibri"/>
                        </a:rPr>
                        <a:t>877.8</a:t>
                      </a:r>
                    </a:p>
                  </a:txBody>
                  <a:tcPr marL="85725" marR="38100" marT="19050" marB="19050" anchor="ctr">
                    <a:solidFill>
                      <a:srgbClr val="F5F8FA"/>
                    </a:solidFill>
                  </a:tcPr>
                </a:tc>
                <a:tc>
                  <a:txBody>
                    <a:bodyPr wrap="none"/>
                    <a:lstStyle/>
                    <a:p>
                      <a:pPr algn="l"/>
                      <a:r>
                        <a:rPr sz="800" b="0">
                          <a:solidFill>
                            <a:srgbClr val="2E2E2E"/>
                          </a:solidFill>
                          <a:latin typeface="Calibri"/>
                        </a:rPr>
                        <a:t>1,067</a:t>
                      </a:r>
                    </a:p>
                  </a:txBody>
                  <a:tcPr marL="85725" marR="38100" marT="19050" marB="19050" anchor="ctr">
                    <a:solidFill>
                      <a:srgbClr val="F5F8FA"/>
                    </a:solidFill>
                  </a:tcPr>
                </a:tc>
                <a:tc>
                  <a:txBody>
                    <a:bodyPr wrap="none"/>
                    <a:lstStyle/>
                    <a:p>
                      <a:pPr algn="l"/>
                      <a:r>
                        <a:rPr sz="800" b="0">
                          <a:solidFill>
                            <a:srgbClr val="2E2E2E"/>
                          </a:solidFill>
                          <a:latin typeface="Calibri"/>
                        </a:rPr>
                        <a:t>1,258</a:t>
                      </a:r>
                    </a:p>
                  </a:txBody>
                  <a:tcPr marL="85725" marR="38100" marT="19050" marB="19050" anchor="ctr">
                    <a:solidFill>
                      <a:srgbClr val="F5F8FA"/>
                    </a:solidFill>
                  </a:tcPr>
                </a:tc>
                <a:tc>
                  <a:txBody>
                    <a:bodyPr wrap="none"/>
                    <a:lstStyle/>
                    <a:p>
                      <a:pPr algn="l"/>
                      <a:r>
                        <a:rPr sz="800" b="0">
                          <a:solidFill>
                            <a:srgbClr val="2E2E2E"/>
                          </a:solidFill>
                          <a:latin typeface="Calibri"/>
                        </a:rPr>
                        <a:t>1,456</a:t>
                      </a:r>
                    </a:p>
                  </a:txBody>
                  <a:tcPr marL="85725" marR="38100" marT="19050" marB="19050" anchor="ctr">
                    <a:solidFill>
                      <a:srgbClr val="F5F8FA"/>
                    </a:solidFill>
                  </a:tcPr>
                </a:tc>
                <a:tc>
                  <a:txBody>
                    <a:bodyPr wrap="none"/>
                    <a:lstStyle/>
                    <a:p>
                      <a:pPr algn="l"/>
                      <a:r>
                        <a:rPr sz="800" b="0">
                          <a:solidFill>
                            <a:srgbClr val="2E2E2E"/>
                          </a:solidFill>
                          <a:latin typeface="Calibri"/>
                        </a:rPr>
                        <a:t>1,650</a:t>
                      </a:r>
                    </a:p>
                  </a:txBody>
                  <a:tcPr marL="85725" marR="38100" marT="19050" marB="19050" anchor="ctr">
                    <a:solidFill>
                      <a:srgbClr val="F5F8FA"/>
                    </a:solidFill>
                  </a:tcPr>
                </a:tc>
                <a:tc>
                  <a:txBody>
                    <a:bodyPr wrap="none"/>
                    <a:lstStyle/>
                    <a:p>
                      <a:pPr algn="l"/>
                      <a:r>
                        <a:rPr sz="800" b="0">
                          <a:solidFill>
                            <a:srgbClr val="2E2E2E"/>
                          </a:solidFill>
                          <a:latin typeface="Calibri"/>
                        </a:rPr>
                        <a:t>1,844</a:t>
                      </a:r>
                    </a:p>
                  </a:txBody>
                  <a:tcPr marL="85725" marR="38100" marT="19050" marB="19050" anchor="ctr">
                    <a:solidFill>
                      <a:srgbClr val="F5F8FA"/>
                    </a:solidFill>
                  </a:tcPr>
                </a:tc>
                <a:tc>
                  <a:txBody>
                    <a:bodyPr wrap="none"/>
                    <a:lstStyle/>
                    <a:p>
                      <a:pPr algn="l"/>
                      <a:r>
                        <a:rPr sz="800" b="0">
                          <a:solidFill>
                            <a:srgbClr val="2E2E2E"/>
                          </a:solidFill>
                          <a:latin typeface="Calibri"/>
                        </a:rPr>
                        <a:t>2,035</a:t>
                      </a:r>
                    </a:p>
                  </a:txBody>
                  <a:tcPr marL="85725" marR="38100" marT="19050" marB="19050" anchor="ctr">
                    <a:solidFill>
                      <a:srgbClr val="F5F8FA"/>
                    </a:solidFill>
                  </a:tcPr>
                </a:tc>
                <a:tc>
                  <a:txBody>
                    <a:bodyPr wrap="none"/>
                    <a:lstStyle/>
                    <a:p>
                      <a:pPr algn="l"/>
                      <a:r>
                        <a:rPr sz="800" b="0">
                          <a:solidFill>
                            <a:srgbClr val="2E2E2E"/>
                          </a:solidFill>
                          <a:latin typeface="Calibri"/>
                        </a:rPr>
                        <a:t>2,223</a:t>
                      </a:r>
                    </a:p>
                  </a:txBody>
                  <a:tcPr marL="85725" marR="38100" marT="19050" marB="19050" anchor="ctr">
                    <a:solidFill>
                      <a:srgbClr val="F5F8FA"/>
                    </a:solidFill>
                  </a:tcPr>
                </a:tc>
                <a:tc>
                  <a:txBody>
                    <a:bodyPr wrap="none"/>
                    <a:lstStyle/>
                    <a:p>
                      <a:pPr algn="l"/>
                      <a:r>
                        <a:rPr sz="800" b="0">
                          <a:solidFill>
                            <a:srgbClr val="2E2E2E"/>
                          </a:solidFill>
                          <a:latin typeface="Calibri"/>
                        </a:rPr>
                        <a:t>2,408</a:t>
                      </a:r>
                    </a:p>
                  </a:txBody>
                  <a:tcPr marL="85725" marR="38100" marT="19050" marB="19050" anchor="ctr">
                    <a:solidFill>
                      <a:srgbClr val="F5F8FA"/>
                    </a:solidFill>
                  </a:tcPr>
                </a:tc>
                <a:tc>
                  <a:txBody>
                    <a:bodyPr wrap="none"/>
                    <a:lstStyle/>
                    <a:p>
                      <a:pPr algn="l"/>
                      <a:r>
                        <a:rPr sz="800" b="0">
                          <a:solidFill>
                            <a:srgbClr val="2E2E2E"/>
                          </a:solidFill>
                          <a:latin typeface="Calibri"/>
                        </a:rPr>
                        <a:t>2,588</a:t>
                      </a:r>
                    </a:p>
                  </a:txBody>
                  <a:tcPr marL="85725" marR="38100" marT="19050" marB="19050" anchor="ctr">
                    <a:solidFill>
                      <a:srgbClr val="F5F8FA"/>
                    </a:solidFill>
                  </a:tcPr>
                </a:tc>
                <a:tc>
                  <a:txBody>
                    <a:bodyPr wrap="none"/>
                    <a:lstStyle/>
                    <a:p>
                      <a:pPr algn="l"/>
                      <a:r>
                        <a:rPr sz="800" b="0">
                          <a:solidFill>
                            <a:srgbClr val="2E2E2E"/>
                          </a:solidFill>
                          <a:latin typeface="Calibri"/>
                        </a:rPr>
                        <a:t>2,764</a:t>
                      </a:r>
                    </a:p>
                  </a:txBody>
                  <a:tcPr marL="85725" marR="38100" marT="19050" marB="19050" anchor="ctr">
                    <a:solidFill>
                      <a:srgbClr val="F5F8FA"/>
                    </a:solidFill>
                  </a:tcPr>
                </a:tc>
                <a:tc>
                  <a:txBody>
                    <a:bodyPr wrap="none"/>
                    <a:lstStyle/>
                    <a:p>
                      <a:pPr algn="l"/>
                      <a:r>
                        <a:rPr sz="800" b="0">
                          <a:solidFill>
                            <a:srgbClr val="2E2E2E"/>
                          </a:solidFill>
                          <a:latin typeface="Calibri"/>
                        </a:rPr>
                        <a:t>2,939</a:t>
                      </a:r>
                    </a:p>
                  </a:txBody>
                  <a:tcPr marL="85725" marR="38100" marT="19050" marB="19050" anchor="ctr">
                    <a:solidFill>
                      <a:srgbClr val="F5F8FA"/>
                    </a:solidFill>
                  </a:tcPr>
                </a:tc>
                <a:tc>
                  <a:txBody>
                    <a:bodyPr wrap="none"/>
                    <a:lstStyle/>
                    <a:p>
                      <a:pPr algn="l"/>
                      <a:r>
                        <a:rPr sz="800" b="0">
                          <a:solidFill>
                            <a:srgbClr val="2E2E2E"/>
                          </a:solidFill>
                          <a:latin typeface="Calibri"/>
                        </a:rPr>
                        <a:t>3,112</a:t>
                      </a:r>
                    </a:p>
                  </a:txBody>
                  <a:tcPr marL="85725" marR="38100" marT="19050" marB="19050" anchor="ctr">
                    <a:solidFill>
                      <a:srgbClr val="F5F8FA"/>
                    </a:solidFill>
                  </a:tcPr>
                </a:tc>
                <a:tc>
                  <a:txBody>
                    <a:bodyPr wrap="none"/>
                    <a:lstStyle/>
                    <a:p>
                      <a:pPr algn="l"/>
                      <a:r>
                        <a:rPr sz="800" b="0">
                          <a:solidFill>
                            <a:srgbClr val="2E2E2E"/>
                          </a:solidFill>
                          <a:latin typeface="Calibri"/>
                        </a:rPr>
                        <a:t>9.5%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852.6</a:t>
                      </a:r>
                    </a:p>
                  </a:txBody>
                  <a:tcPr marL="85725" marR="38100" marT="19050" marB="19050" anchor="ctr">
                    <a:solidFill>
                      <a:srgbClr val="E0E8EF"/>
                    </a:solidFill>
                  </a:tcPr>
                </a:tc>
                <a:tc>
                  <a:txBody>
                    <a:bodyPr wrap="none"/>
                    <a:lstStyle/>
                    <a:p>
                      <a:pPr algn="l"/>
                      <a:r>
                        <a:rPr sz="800" b="1">
                          <a:solidFill>
                            <a:srgbClr val="2E2E2E"/>
                          </a:solidFill>
                          <a:latin typeface="Calibri"/>
                        </a:rPr>
                        <a:t>958.1</a:t>
                      </a:r>
                    </a:p>
                  </a:txBody>
                  <a:tcPr marL="85725" marR="38100" marT="19050" marB="19050" anchor="ctr">
                    <a:solidFill>
                      <a:srgbClr val="E0E8EF"/>
                    </a:solidFill>
                  </a:tcPr>
                </a:tc>
                <a:tc>
                  <a:txBody>
                    <a:bodyPr wrap="none"/>
                    <a:lstStyle/>
                    <a:p>
                      <a:pPr algn="l"/>
                      <a:r>
                        <a:rPr sz="800" b="1">
                          <a:solidFill>
                            <a:srgbClr val="2E2E2E"/>
                          </a:solidFill>
                          <a:latin typeface="Calibri"/>
                        </a:rPr>
                        <a:t>1,142</a:t>
                      </a:r>
                    </a:p>
                  </a:txBody>
                  <a:tcPr marL="85725" marR="38100" marT="19050" marB="19050" anchor="ctr">
                    <a:solidFill>
                      <a:srgbClr val="E0E8EF"/>
                    </a:solidFill>
                  </a:tcPr>
                </a:tc>
                <a:tc>
                  <a:txBody>
                    <a:bodyPr wrap="none"/>
                    <a:lstStyle/>
                    <a:p>
                      <a:pPr algn="l"/>
                      <a:r>
                        <a:rPr sz="800" b="1">
                          <a:solidFill>
                            <a:srgbClr val="2E2E2E"/>
                          </a:solidFill>
                          <a:latin typeface="Calibri"/>
                        </a:rPr>
                        <a:t>1,405</a:t>
                      </a:r>
                    </a:p>
                  </a:txBody>
                  <a:tcPr marL="85725" marR="38100" marT="19050" marB="19050" anchor="ctr">
                    <a:solidFill>
                      <a:srgbClr val="E0E8EF"/>
                    </a:solidFill>
                  </a:tcPr>
                </a:tc>
                <a:tc>
                  <a:txBody>
                    <a:bodyPr wrap="none"/>
                    <a:lstStyle/>
                    <a:p>
                      <a:pPr algn="l"/>
                      <a:r>
                        <a:rPr sz="800" b="1">
                          <a:solidFill>
                            <a:srgbClr val="2E2E2E"/>
                          </a:solidFill>
                          <a:latin typeface="Calibri"/>
                        </a:rPr>
                        <a:t>1,691</a:t>
                      </a:r>
                    </a:p>
                  </a:txBody>
                  <a:tcPr marL="85725" marR="38100" marT="19050" marB="19050" anchor="ctr">
                    <a:solidFill>
                      <a:srgbClr val="E0E8EF"/>
                    </a:solidFill>
                  </a:tcPr>
                </a:tc>
                <a:tc>
                  <a:txBody>
                    <a:bodyPr wrap="none"/>
                    <a:lstStyle/>
                    <a:p>
                      <a:pPr algn="l"/>
                      <a:r>
                        <a:rPr sz="800" b="1">
                          <a:solidFill>
                            <a:srgbClr val="2E2E2E"/>
                          </a:solidFill>
                          <a:latin typeface="Calibri"/>
                        </a:rPr>
                        <a:t>1,974</a:t>
                      </a:r>
                    </a:p>
                  </a:txBody>
                  <a:tcPr marL="85725" marR="38100" marT="19050" marB="19050" anchor="ctr">
                    <a:solidFill>
                      <a:srgbClr val="E0E8EF"/>
                    </a:solidFill>
                  </a:tcPr>
                </a:tc>
                <a:tc>
                  <a:txBody>
                    <a:bodyPr wrap="none"/>
                    <a:lstStyle/>
                    <a:p>
                      <a:pPr algn="l"/>
                      <a:r>
                        <a:rPr sz="800" b="1">
                          <a:solidFill>
                            <a:srgbClr val="2E2E2E"/>
                          </a:solidFill>
                          <a:latin typeface="Calibri"/>
                        </a:rPr>
                        <a:t>2,263</a:t>
                      </a:r>
                    </a:p>
                  </a:txBody>
                  <a:tcPr marL="85725" marR="38100" marT="19050" marB="19050" anchor="ctr">
                    <a:solidFill>
                      <a:srgbClr val="E0E8EF"/>
                    </a:solidFill>
                  </a:tcPr>
                </a:tc>
                <a:tc>
                  <a:txBody>
                    <a:bodyPr wrap="none"/>
                    <a:lstStyle/>
                    <a:p>
                      <a:pPr algn="l"/>
                      <a:r>
                        <a:rPr sz="800" b="1">
                          <a:solidFill>
                            <a:srgbClr val="2E2E2E"/>
                          </a:solidFill>
                          <a:latin typeface="Calibri"/>
                        </a:rPr>
                        <a:t>2,542</a:t>
                      </a:r>
                    </a:p>
                  </a:txBody>
                  <a:tcPr marL="85725" marR="38100" marT="19050" marB="19050" anchor="ctr">
                    <a:solidFill>
                      <a:srgbClr val="E0E8EF"/>
                    </a:solidFill>
                  </a:tcPr>
                </a:tc>
                <a:tc>
                  <a:txBody>
                    <a:bodyPr wrap="none"/>
                    <a:lstStyle/>
                    <a:p>
                      <a:pPr algn="l"/>
                      <a:r>
                        <a:rPr sz="800" b="1">
                          <a:solidFill>
                            <a:srgbClr val="2E2E2E"/>
                          </a:solidFill>
                          <a:latin typeface="Calibri"/>
                        </a:rPr>
                        <a:t>2,814</a:t>
                      </a:r>
                    </a:p>
                  </a:txBody>
                  <a:tcPr marL="85725" marR="38100" marT="19050" marB="19050" anchor="ctr">
                    <a:solidFill>
                      <a:srgbClr val="E0E8EF"/>
                    </a:solidFill>
                  </a:tcPr>
                </a:tc>
                <a:tc>
                  <a:txBody>
                    <a:bodyPr wrap="none"/>
                    <a:lstStyle/>
                    <a:p>
                      <a:pPr algn="l"/>
                      <a:r>
                        <a:rPr sz="800" b="1">
                          <a:solidFill>
                            <a:srgbClr val="2E2E2E"/>
                          </a:solidFill>
                          <a:latin typeface="Calibri"/>
                        </a:rPr>
                        <a:t>3,079</a:t>
                      </a:r>
                    </a:p>
                  </a:txBody>
                  <a:tcPr marL="85725" marR="38100" marT="19050" marB="19050" anchor="ctr">
                    <a:solidFill>
                      <a:srgbClr val="E0E8EF"/>
                    </a:solidFill>
                  </a:tcPr>
                </a:tc>
                <a:tc>
                  <a:txBody>
                    <a:bodyPr wrap="none"/>
                    <a:lstStyle/>
                    <a:p>
                      <a:pPr algn="l"/>
                      <a:r>
                        <a:rPr sz="800" b="1">
                          <a:solidFill>
                            <a:srgbClr val="2E2E2E"/>
                          </a:solidFill>
                          <a:latin typeface="Calibri"/>
                        </a:rPr>
                        <a:t>3,334</a:t>
                      </a:r>
                    </a:p>
                  </a:txBody>
                  <a:tcPr marL="85725" marR="38100" marT="19050" marB="19050" anchor="ctr">
                    <a:solidFill>
                      <a:srgbClr val="E0E8EF"/>
                    </a:solidFill>
                  </a:tcPr>
                </a:tc>
                <a:tc>
                  <a:txBody>
                    <a:bodyPr wrap="none"/>
                    <a:lstStyle/>
                    <a:p>
                      <a:pPr algn="l"/>
                      <a:r>
                        <a:rPr sz="800" b="1">
                          <a:solidFill>
                            <a:srgbClr val="2E2E2E"/>
                          </a:solidFill>
                          <a:latin typeface="Calibri"/>
                        </a:rPr>
                        <a:t>3,579</a:t>
                      </a:r>
                    </a:p>
                  </a:txBody>
                  <a:tcPr marL="85725" marR="38100" marT="19050" marB="19050" anchor="ctr">
                    <a:solidFill>
                      <a:srgbClr val="E0E8EF"/>
                    </a:solidFill>
                  </a:tcPr>
                </a:tc>
                <a:tc>
                  <a:txBody>
                    <a:bodyPr wrap="none"/>
                    <a:lstStyle/>
                    <a:p>
                      <a:pPr algn="l"/>
                      <a:r>
                        <a:rPr sz="800" b="1">
                          <a:solidFill>
                            <a:srgbClr val="2E2E2E"/>
                          </a:solidFill>
                          <a:latin typeface="Calibri"/>
                        </a:rPr>
                        <a:t>3,814</a:t>
                      </a:r>
                    </a:p>
                  </a:txBody>
                  <a:tcPr marL="85725" marR="38100" marT="19050" marB="19050" anchor="ctr">
                    <a:solidFill>
                      <a:srgbClr val="E0E8EF"/>
                    </a:solidFill>
                  </a:tcPr>
                </a:tc>
                <a:tc>
                  <a:txBody>
                    <a:bodyPr wrap="none"/>
                    <a:lstStyle/>
                    <a:p>
                      <a:pPr algn="l"/>
                      <a:r>
                        <a:rPr sz="800" b="1">
                          <a:solidFill>
                            <a:srgbClr val="2E2E2E"/>
                          </a:solidFill>
                          <a:latin typeface="Calibri"/>
                        </a:rPr>
                        <a:t>4,041</a:t>
                      </a:r>
                    </a:p>
                  </a:txBody>
                  <a:tcPr marL="85725" marR="38100" marT="19050" marB="19050" anchor="ctr">
                    <a:solidFill>
                      <a:srgbClr val="E0E8EF"/>
                    </a:solidFill>
                  </a:tcPr>
                </a:tc>
                <a:tc>
                  <a:txBody>
                    <a:bodyPr wrap="none"/>
                    <a:lstStyle/>
                    <a:p>
                      <a:pPr algn="l"/>
                      <a:r>
                        <a:rPr sz="800" b="1">
                          <a:solidFill>
                            <a:srgbClr val="2E2E2E"/>
                          </a:solidFill>
                          <a:latin typeface="Calibri"/>
                        </a:rPr>
                        <a:t>4,260</a:t>
                      </a:r>
                    </a:p>
                  </a:txBody>
                  <a:tcPr marL="85725" marR="38100" marT="19050" marB="19050" anchor="ctr">
                    <a:solidFill>
                      <a:srgbClr val="E0E8EF"/>
                    </a:solidFill>
                  </a:tcPr>
                </a:tc>
                <a:tc>
                  <a:txBody>
                    <a:bodyPr wrap="none"/>
                    <a:lstStyle/>
                    <a:p>
                      <a:pPr algn="l"/>
                      <a:r>
                        <a:rPr sz="800" b="1">
                          <a:solidFill>
                            <a:srgbClr val="2E2E2E"/>
                          </a:solidFill>
                          <a:latin typeface="Calibri"/>
                        </a:rPr>
                        <a:t>4,475</a:t>
                      </a:r>
                    </a:p>
                  </a:txBody>
                  <a:tcPr marL="85725" marR="38100" marT="19050" marB="19050" anchor="ctr">
                    <a:solidFill>
                      <a:srgbClr val="E0E8EF"/>
                    </a:solidFill>
                  </a:tcPr>
                </a:tc>
                <a:tc>
                  <a:txBody>
                    <a:bodyPr wrap="none"/>
                    <a:lstStyle/>
                    <a:p>
                      <a:pPr algn="l"/>
                      <a:r>
                        <a:rPr sz="800" b="1">
                          <a:solidFill>
                            <a:srgbClr val="2E2E2E"/>
                          </a:solidFill>
                          <a:latin typeface="Calibri"/>
                        </a:rPr>
                        <a:t>8.5%</a:t>
                      </a:r>
                    </a:p>
                  </a:txBody>
                  <a:tcPr marL="85725" marR="38100" marT="19050" marB="19050" anchor="ctr">
                    <a:solidFill>
                      <a:srgbClr val="E0E8EF"/>
                    </a:solidFill>
                  </a:tcPr>
                </a:tc>
              </a:tr>
            </a:tbl>
          </a:graphicData>
        </a:graphic>
      </p:graphicFrame>
      <p:sp>
        <p:nvSpPr>
          <p:cNvPr id="14" name="TextBox 13"/>
          <p:cNvSpPr txBox="1"/>
          <p:nvPr/>
        </p:nvSpPr>
        <p:spPr>
          <a:xfrm>
            <a:off x="219075" y="363855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914775"/>
            <a:ext cx="11906250" cy="2809875"/>
          </a:xfrm>
          <a:prstGeom prst="roundRect">
            <a:avLst>
              <a:gd name="adj" fmla="val 27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0005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Form Type</a:t>
            </a:r>
          </a:p>
        </p:txBody>
      </p:sp>
      <p:sp>
        <p:nvSpPr>
          <p:cNvPr id="17" name="Rectangle 16"/>
          <p:cNvSpPr/>
          <p:nvPr/>
        </p:nvSpPr>
        <p:spPr>
          <a:xfrm>
            <a:off x="276225" y="4238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324350"/>
            <a:ext cx="11639550" cy="232410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'Autoinjector / Pen' is the largest form type at 69.5% of 2036 value (3,112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'Autoinjector / Pen' grows fastest 9.5%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'Autoinjector / Pen' (+582 BPS) and away from 'Prefilled Syringe' (-582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rises from 1,974 to 4,475 US$ Mn across 2 categories.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Value &amp; Share Shift, By Form Type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7400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Form Type ·  2021 / 2026 / 2036 (US$ Mn)  ·  right axis = BPS share shift</a:t>
            </a:r>
          </a:p>
        </p:txBody>
      </p:sp>
      <p:graphicFrame>
        <p:nvGraphicFramePr>
          <p:cNvPr id="13" name="Chart 12"/>
          <p:cNvGraphicFramePr>
            <a:graphicFrameLocks noGrp="1"/>
          </p:cNvGraphicFramePr>
          <p:nvPr/>
        </p:nvGraphicFramePr>
        <p:xfrm>
          <a:off x="238125" y="1457325"/>
          <a:ext cx="5624132" cy="5210175"/>
        </p:xfrm>
        <a:graphic>
          <a:graphicData uri="http://schemas.openxmlformats.org/drawingml/2006/chart">
            <c:chart xmlns:c="http://schemas.openxmlformats.org/drawingml/2006/chart" r:id="rId3"/>
          </a:graphicData>
        </a:graphic>
      </p:graphicFrame>
      <p:sp>
        <p:nvSpPr>
          <p:cNvPr id="14" name="TextBox 13"/>
          <p:cNvSpPr txBox="1"/>
          <p:nvPr/>
        </p:nvSpPr>
        <p:spPr>
          <a:xfrm>
            <a:off x="6934200" y="1522857"/>
            <a:ext cx="552450" cy="114300"/>
          </a:xfrm>
          <a:prstGeom prst="rect">
            <a:avLst/>
          </a:prstGeom>
          <a:noFill/>
        </p:spPr>
        <p:txBody>
          <a:bodyPr wrap="square" lIns="28575" rIns="28575" tIns="9525" bIns="9525">
            <a:spAutoFit/>
          </a:bodyPr>
          <a:lstStyle/>
          <a:p>
            <a:pPr algn="l"/>
            <a:r>
              <a:rPr sz="750" b="1">
                <a:solidFill>
                  <a:srgbClr val="6C7A89"/>
                </a:solidFill>
                <a:latin typeface="Calibri"/>
              </a:rPr>
              <a:t>BPS Δ</a:t>
            </a:r>
          </a:p>
        </p:txBody>
      </p:sp>
      <p:cxnSp>
        <p:nvCxnSpPr>
          <p:cNvPr id="15" name="Connector 14"/>
          <p:cNvCxnSpPr/>
          <p:nvPr/>
        </p:nvCxnSpPr>
        <p:spPr>
          <a:xfrm>
            <a:off x="7010400" y="1665732"/>
            <a:ext cx="0" cy="4430268"/>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919406" y="3880866"/>
            <a:ext cx="1090994"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038975" y="5518140"/>
            <a:ext cx="419100" cy="133350"/>
          </a:xfrm>
          <a:prstGeom prst="rect">
            <a:avLst/>
          </a:prstGeom>
          <a:noFill/>
        </p:spPr>
        <p:txBody>
          <a:bodyPr wrap="none" lIns="0" rIns="0" tIns="0" bIns="0" anchor="ctr">
            <a:spAutoFit/>
          </a:bodyPr>
          <a:lstStyle/>
          <a:p>
            <a:pPr algn="l"/>
            <a:r>
              <a:rPr sz="750" b="0">
                <a:solidFill>
                  <a:srgbClr val="6C7A89"/>
                </a:solidFill>
                <a:latin typeface="Calibri"/>
              </a:rPr>
              <a:t>-582</a:t>
            </a:r>
          </a:p>
        </p:txBody>
      </p:sp>
      <p:sp>
        <p:nvSpPr>
          <p:cNvPr id="18" name="TextBox 17"/>
          <p:cNvSpPr txBox="1"/>
          <p:nvPr/>
        </p:nvSpPr>
        <p:spPr>
          <a:xfrm>
            <a:off x="7038975" y="3814191"/>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19" name="TextBox 18"/>
          <p:cNvSpPr txBox="1"/>
          <p:nvPr/>
        </p:nvSpPr>
        <p:spPr>
          <a:xfrm>
            <a:off x="7038975" y="2110242"/>
            <a:ext cx="419100" cy="133350"/>
          </a:xfrm>
          <a:prstGeom prst="rect">
            <a:avLst/>
          </a:prstGeom>
          <a:noFill/>
        </p:spPr>
        <p:txBody>
          <a:bodyPr wrap="none" lIns="0" rIns="0" tIns="0" bIns="0" anchor="ctr">
            <a:spAutoFit/>
          </a:bodyPr>
          <a:lstStyle/>
          <a:p>
            <a:pPr algn="l"/>
            <a:r>
              <a:rPr sz="750" b="0">
                <a:solidFill>
                  <a:srgbClr val="6C7A89"/>
                </a:solidFill>
                <a:latin typeface="Calibri"/>
              </a:rPr>
              <a:t>+582</a:t>
            </a:r>
          </a:p>
        </p:txBody>
      </p:sp>
      <p:sp>
        <p:nvSpPr>
          <p:cNvPr id="20" name="Oval 19"/>
          <p:cNvSpPr/>
          <p:nvPr/>
        </p:nvSpPr>
        <p:spPr>
          <a:xfrm>
            <a:off x="5971794" y="2134054"/>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971794" y="5541953"/>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1332" y="2100717"/>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+582</a:t>
            </a:r>
          </a:p>
        </p:txBody>
      </p:sp>
      <p:sp>
        <p:nvSpPr>
          <p:cNvPr id="23" name="TextBox 22"/>
          <p:cNvSpPr txBox="1"/>
          <p:nvPr/>
        </p:nvSpPr>
        <p:spPr>
          <a:xfrm>
            <a:off x="6081332" y="5508615"/>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-582</a:t>
            </a:r>
          </a:p>
        </p:txBody>
      </p:sp>
      <p:sp>
        <p:nvSpPr>
          <p:cNvPr id="24" name="Rounded Rectangle 23"/>
          <p:cNvSpPr/>
          <p:nvPr/>
        </p:nvSpPr>
        <p:spPr>
          <a:xfrm>
            <a:off x="7696200" y="857250"/>
            <a:ext cx="4343400" cy="5867400"/>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9550" y="942975"/>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Form Type</a:t>
            </a:r>
          </a:p>
        </p:txBody>
      </p:sp>
      <p:sp>
        <p:nvSpPr>
          <p:cNvPr id="26" name="Rectangle 25"/>
          <p:cNvSpPr/>
          <p:nvPr/>
        </p:nvSpPr>
        <p:spPr>
          <a:xfrm>
            <a:off x="7829550" y="1181100"/>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29550" y="1266825"/>
            <a:ext cx="4076700" cy="538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'Autoinjector / Pen' gains the most share +582 BPS between 2026 and 2036 (</a:t>
            </a:r>
            <a:r>
              <a:rPr sz="1150" b="0">
                <a:solidFill>
                  <a:srgbClr val="2E7D32"/>
                </a:solidFill>
                <a:latin typeface="Calibri"/>
              </a:rPr>
              <a:t>green ▲</a:t>
            </a:r>
            <a:r>
              <a:rPr sz="1150" b="0">
                <a:solidFill>
                  <a:srgbClr val="2E2E2E"/>
                </a:solidFill>
                <a:latin typeface="Calibri"/>
              </a:rPr>
              <a:t> on the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'Prefilled Syringe' cedes the most -582 BPS over the same window (</a:t>
            </a:r>
            <a:r>
              <a:rPr sz="1150" b="0">
                <a:solidFill>
                  <a:srgbClr val="E44D3A"/>
                </a:solidFill>
                <a:latin typeface="Calibri"/>
              </a:rPr>
              <a:t>red ▼</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'Autoinjector / Pen' is the fastest-growing form type at 9.5%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climbs from 852.6 to 4,475 US$ Mn across 2021–2036.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Bars show the value mix at each snapshot; the scale shows how each share moves.</a:t>
            </a:r>
          </a:p>
        </p:txBody>
      </p:sp>
      <p:sp>
        <p:nvSpPr>
          <p:cNvPr id="28" name="Rectangle 2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0" name="Rounded Rectangle 29">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1" name="Rounded Rectangle 30">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2" name="Rounded Rectangle 31">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Volume, By Form Type (%)</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238375"/>
          </a:xfrm>
          <a:prstGeom prst="roundRect">
            <a:avLst>
              <a:gd name="adj" fmla="val 340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YoY Growth, By Form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54292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Form Type</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Prefilled Syringe</a:t>
                      </a:r>
                    </a:p>
                  </a:txBody>
                  <a:tcPr marL="85725" marR="38100" marT="19050" marB="19050" anchor="ctr">
                    <a:solidFill>
                      <a:srgbClr val="FFFFFF"/>
                    </a:solidFill>
                  </a:tcPr>
                </a:tc>
                <a:tc>
                  <a:txBody>
                    <a:bodyPr wrap="none"/>
                    <a:lstStyle/>
                    <a:p>
                      <a:pPr algn="l"/>
                      <a:r>
                        <a:rPr sz="800" b="1">
                          <a:solidFill>
                            <a:srgbClr val="2E7D32"/>
                          </a:solidFill>
                          <a:latin typeface="Calibri"/>
                        </a:rPr>
                        <a:t>▲ 17.4%</a:t>
                      </a:r>
                    </a:p>
                  </a:txBody>
                  <a:tcPr marL="85725" marR="38100" marT="19050" marB="19050" anchor="ctr">
                    <a:solidFill>
                      <a:srgbClr val="FFFFFF"/>
                    </a:solidFill>
                  </a:tcPr>
                </a:tc>
                <a:tc>
                  <a:txBody>
                    <a:bodyPr wrap="none"/>
                    <a:lstStyle/>
                    <a:p>
                      <a:pPr algn="l"/>
                      <a:r>
                        <a:rPr sz="800" b="1">
                          <a:solidFill>
                            <a:srgbClr val="2E7D32"/>
                          </a:solidFill>
                          <a:latin typeface="Calibri"/>
                        </a:rPr>
                        <a:t>▲ 24.6%</a:t>
                      </a:r>
                    </a:p>
                  </a:txBody>
                  <a:tcPr marL="85725" marR="38100" marT="19050" marB="19050" anchor="ctr">
                    <a:solidFill>
                      <a:srgbClr val="FFFFFF"/>
                    </a:solidFill>
                  </a:tcPr>
                </a:tc>
                <a:tc>
                  <a:txBody>
                    <a:bodyPr wrap="none"/>
                    <a:lstStyle/>
                    <a:p>
                      <a:pPr algn="l"/>
                      <a:r>
                        <a:rPr sz="800" b="1">
                          <a:solidFill>
                            <a:srgbClr val="2E7D32"/>
                          </a:solidFill>
                          <a:latin typeface="Calibri"/>
                        </a:rPr>
                        <a:t>▲ 28.5%</a:t>
                      </a:r>
                    </a:p>
                  </a:txBody>
                  <a:tcPr marL="85725" marR="38100" marT="19050" marB="19050" anchor="ctr">
                    <a:solidFill>
                      <a:srgbClr val="FFFFFF"/>
                    </a:solidFill>
                  </a:tcPr>
                </a:tc>
                <a:tc>
                  <a:txBody>
                    <a:bodyPr wrap="none"/>
                    <a:lstStyle/>
                    <a:p>
                      <a:pPr algn="l"/>
                      <a:r>
                        <a:rPr sz="800" b="1">
                          <a:solidFill>
                            <a:srgbClr val="2E7D32"/>
                          </a:solidFill>
                          <a:latin typeface="Calibri"/>
                        </a:rPr>
                        <a:t>▲ 25.8%</a:t>
                      </a:r>
                    </a:p>
                  </a:txBody>
                  <a:tcPr marL="85725" marR="38100" marT="19050" marB="19050" anchor="ctr">
                    <a:solidFill>
                      <a:srgbClr val="FFFFFF"/>
                    </a:solidFill>
                  </a:tcPr>
                </a:tc>
                <a:tc>
                  <a:txBody>
                    <a:bodyPr wrap="none"/>
                    <a:lstStyle/>
                    <a:p>
                      <a:pPr algn="l"/>
                      <a:r>
                        <a:rPr sz="800" b="1">
                          <a:solidFill>
                            <a:srgbClr val="2E7D32"/>
                          </a:solidFill>
                          <a:latin typeface="Calibri"/>
                        </a:rPr>
                        <a:t>▲ 22.0%</a:t>
                      </a:r>
                    </a:p>
                  </a:txBody>
                  <a:tcPr marL="85725" marR="38100" marT="19050" marB="19050" anchor="ctr">
                    <a:solidFill>
                      <a:srgbClr val="FFFFFF"/>
                    </a:solidFill>
                  </a:tcPr>
                </a:tc>
                <a:tc>
                  <a:txBody>
                    <a:bodyPr wrap="none"/>
                    <a:lstStyle/>
                    <a:p>
                      <a:pPr algn="l"/>
                      <a:r>
                        <a:rPr sz="800" b="1">
                          <a:solidFill>
                            <a:srgbClr val="2E7D32"/>
                          </a:solidFill>
                          <a:latin typeface="Calibri"/>
                        </a:rPr>
                        <a:t>▲ 19.8%</a:t>
                      </a:r>
                    </a:p>
                  </a:txBody>
                  <a:tcPr marL="85725" marR="38100" marT="19050" marB="19050" anchor="ctr">
                    <a:solidFill>
                      <a:srgbClr val="FFFFFF"/>
                    </a:solidFill>
                  </a:tcPr>
                </a:tc>
                <a:tc>
                  <a:txBody>
                    <a:bodyPr wrap="none"/>
                    <a:lstStyle/>
                    <a:p>
                      <a:pPr algn="l"/>
                      <a:r>
                        <a:rPr sz="800" b="1">
                          <a:solidFill>
                            <a:srgbClr val="2E7D32"/>
                          </a:solidFill>
                          <a:latin typeface="Calibri"/>
                        </a:rPr>
                        <a:t>▲ 17.4%</a:t>
                      </a:r>
                    </a:p>
                  </a:txBody>
                  <a:tcPr marL="85725" marR="38100" marT="19050" marB="19050" anchor="ctr">
                    <a:solidFill>
                      <a:srgbClr val="FFFFFF"/>
                    </a:solidFill>
                  </a:tcPr>
                </a:tc>
                <a:tc>
                  <a:txBody>
                    <a:bodyPr wrap="none"/>
                    <a:lstStyle/>
                    <a:p>
                      <a:pPr algn="l"/>
                      <a:r>
                        <a:rPr sz="800" b="1">
                          <a:solidFill>
                            <a:srgbClr val="2E7D32"/>
                          </a:solidFill>
                          <a:latin typeface="Calibri"/>
                        </a:rPr>
                        <a:t>▲ 15.7%</a:t>
                      </a:r>
                    </a:p>
                  </a:txBody>
                  <a:tcPr marL="85725" marR="38100" marT="19050" marB="19050" anchor="ctr">
                    <a:solidFill>
                      <a:srgbClr val="FFFFFF"/>
                    </a:solidFill>
                  </a:tcPr>
                </a:tc>
                <a:tc>
                  <a:txBody>
                    <a:bodyPr wrap="none"/>
                    <a:lstStyle/>
                    <a:p>
                      <a:pPr algn="l"/>
                      <a:r>
                        <a:rPr sz="800" b="1">
                          <a:solidFill>
                            <a:srgbClr val="2E7D32"/>
                          </a:solidFill>
                          <a:latin typeface="Calibri"/>
                        </a:rPr>
                        <a:t>▲ 14.3%</a:t>
                      </a:r>
                    </a:p>
                  </a:txBody>
                  <a:tcPr marL="85725" marR="38100" marT="19050" marB="19050" anchor="ctr">
                    <a:solidFill>
                      <a:srgbClr val="FFFFFF"/>
                    </a:solidFill>
                  </a:tcPr>
                </a:tc>
                <a:tc>
                  <a:txBody>
                    <a:bodyPr wrap="none"/>
                    <a:lstStyle/>
                    <a:p>
                      <a:pPr algn="l"/>
                      <a:r>
                        <a:rPr sz="800" b="1">
                          <a:solidFill>
                            <a:srgbClr val="2E7D32"/>
                          </a:solidFill>
                          <a:latin typeface="Calibri"/>
                        </a:rPr>
                        <a:t>▲ 13.2%</a:t>
                      </a:r>
                    </a:p>
                  </a:txBody>
                  <a:tcPr marL="85725" marR="38100" marT="19050" marB="19050" anchor="ctr">
                    <a:solidFill>
                      <a:srgbClr val="FFFFFF"/>
                    </a:solidFill>
                  </a:tcPr>
                </a:tc>
                <a:tc>
                  <a:txBody>
                    <a:bodyPr wrap="none"/>
                    <a:lstStyle/>
                    <a:p>
                      <a:pPr algn="l"/>
                      <a:r>
                        <a:rPr sz="800" b="1">
                          <a:solidFill>
                            <a:srgbClr val="2E7D32"/>
                          </a:solidFill>
                          <a:latin typeface="Calibri"/>
                        </a:rPr>
                        <a:t>▲ 12.2%</a:t>
                      </a:r>
                    </a:p>
                  </a:txBody>
                  <a:tcPr marL="85725" marR="38100" marT="19050" marB="19050" anchor="ctr">
                    <a:solidFill>
                      <a:srgbClr val="FFFFFF"/>
                    </a:solidFill>
                  </a:tcPr>
                </a:tc>
                <a:tc>
                  <a:txBody>
                    <a:bodyPr wrap="none"/>
                    <a:lstStyle/>
                    <a:p>
                      <a:pPr algn="l"/>
                      <a:r>
                        <a:rPr sz="800" b="1">
                          <a:solidFill>
                            <a:srgbClr val="2E7D32"/>
                          </a:solidFill>
                          <a:latin typeface="Calibri"/>
                        </a:rPr>
                        <a:t>▲ 11.4%</a:t>
                      </a:r>
                    </a:p>
                  </a:txBody>
                  <a:tcPr marL="85725" marR="38100" marT="19050" marB="19050" anchor="ctr">
                    <a:solidFill>
                      <a:srgbClr val="FFFFFF"/>
                    </a:solidFill>
                  </a:tcPr>
                </a:tc>
                <a:tc>
                  <a:txBody>
                    <a:bodyPr wrap="none"/>
                    <a:lstStyle/>
                    <a:p>
                      <a:pPr algn="l"/>
                      <a:r>
                        <a:rPr sz="800" b="1">
                          <a:solidFill>
                            <a:srgbClr val="2E7D32"/>
                          </a:solidFill>
                          <a:latin typeface="Calibri"/>
                        </a:rPr>
                        <a:t>▲ 10.7%</a:t>
                      </a:r>
                    </a:p>
                  </a:txBody>
                  <a:tcPr marL="85725" marR="38100" marT="19050" marB="19050" anchor="ctr">
                    <a:solidFill>
                      <a:srgbClr val="FFFFFF"/>
                    </a:solidFill>
                  </a:tcPr>
                </a:tc>
                <a:tc>
                  <a:txBody>
                    <a:bodyPr wrap="none"/>
                    <a:lstStyle/>
                    <a:p>
                      <a:pPr algn="l"/>
                      <a:r>
                        <a:rPr sz="800" b="1">
                          <a:solidFill>
                            <a:srgbClr val="2E7D32"/>
                          </a:solidFill>
                          <a:latin typeface="Calibri"/>
                        </a:rPr>
                        <a:t>▲ 10.2%</a:t>
                      </a:r>
                    </a:p>
                  </a:txBody>
                  <a:tcPr marL="85725" marR="38100" marT="19050" marB="19050" anchor="ctr">
                    <a:solidFill>
                      <a:srgbClr val="FFFFFF"/>
                    </a:solidFill>
                  </a:tcPr>
                </a:tc>
                <a:tc>
                  <a:txBody>
                    <a:bodyPr wrap="none"/>
                    <a:lstStyle/>
                    <a:p>
                      <a:pPr algn="l"/>
                      <a:r>
                        <a:rPr sz="800" b="1">
                          <a:solidFill>
                            <a:srgbClr val="2E7D32"/>
                          </a:solidFill>
                          <a:latin typeface="Calibri"/>
                        </a:rPr>
                        <a:t>▲ 9.8%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Autoinjector / Pen</a:t>
                      </a:r>
                    </a:p>
                  </a:txBody>
                  <a:tcPr marL="85725" marR="38100" marT="19050" marB="19050" anchor="ctr">
                    <a:solidFill>
                      <a:srgbClr val="F5F8FA"/>
                    </a:solidFill>
                  </a:tcPr>
                </a:tc>
                <a:tc>
                  <a:txBody>
                    <a:bodyPr wrap="none"/>
                    <a:lstStyle/>
                    <a:p>
                      <a:pPr algn="l"/>
                      <a:r>
                        <a:rPr sz="800" b="1">
                          <a:solidFill>
                            <a:srgbClr val="A86F00"/>
                          </a:solidFill>
                          <a:latin typeface="Calibri"/>
                        </a:rPr>
                        <a:t>▶ 16.7%</a:t>
                      </a:r>
                    </a:p>
                  </a:txBody>
                  <a:tcPr marL="85725" marR="38100" marT="19050" marB="19050" anchor="ctr">
                    <a:solidFill>
                      <a:srgbClr val="F5F8FA"/>
                    </a:solidFill>
                  </a:tcPr>
                </a:tc>
                <a:tc>
                  <a:txBody>
                    <a:bodyPr wrap="none"/>
                    <a:lstStyle/>
                    <a:p>
                      <a:pPr algn="l"/>
                      <a:r>
                        <a:rPr sz="800" b="1">
                          <a:solidFill>
                            <a:srgbClr val="A86F00"/>
                          </a:solidFill>
                          <a:latin typeface="Calibri"/>
                        </a:rPr>
                        <a:t>▶ 23.8%</a:t>
                      </a:r>
                    </a:p>
                  </a:txBody>
                  <a:tcPr marL="85725" marR="38100" marT="19050" marB="19050" anchor="ctr">
                    <a:solidFill>
                      <a:srgbClr val="F5F8FA"/>
                    </a:solidFill>
                  </a:tcPr>
                </a:tc>
                <a:tc>
                  <a:txBody>
                    <a:bodyPr wrap="none"/>
                    <a:lstStyle/>
                    <a:p>
                      <a:pPr algn="l"/>
                      <a:r>
                        <a:rPr sz="800" b="1">
                          <a:solidFill>
                            <a:srgbClr val="A86F00"/>
                          </a:solidFill>
                          <a:latin typeface="Calibri"/>
                        </a:rPr>
                        <a:t>▶ 27.7%</a:t>
                      </a:r>
                    </a:p>
                  </a:txBody>
                  <a:tcPr marL="85725" marR="38100" marT="19050" marB="19050" anchor="ctr">
                    <a:solidFill>
                      <a:srgbClr val="F5F8FA"/>
                    </a:solidFill>
                  </a:tcPr>
                </a:tc>
                <a:tc>
                  <a:txBody>
                    <a:bodyPr wrap="none"/>
                    <a:lstStyle/>
                    <a:p>
                      <a:pPr algn="l"/>
                      <a:r>
                        <a:rPr sz="800" b="1">
                          <a:solidFill>
                            <a:srgbClr val="A86F00"/>
                          </a:solidFill>
                          <a:latin typeface="Calibri"/>
                        </a:rPr>
                        <a:t>▶ 25.0%</a:t>
                      </a:r>
                    </a:p>
                  </a:txBody>
                  <a:tcPr marL="85725" marR="38100" marT="19050" marB="19050" anchor="ctr">
                    <a:solidFill>
                      <a:srgbClr val="F5F8FA"/>
                    </a:solidFill>
                  </a:tcPr>
                </a:tc>
                <a:tc>
                  <a:txBody>
                    <a:bodyPr wrap="none"/>
                    <a:lstStyle/>
                    <a:p>
                      <a:pPr algn="l"/>
                      <a:r>
                        <a:rPr sz="800" b="1">
                          <a:solidFill>
                            <a:srgbClr val="A86F00"/>
                          </a:solidFill>
                          <a:latin typeface="Calibri"/>
                        </a:rPr>
                        <a:t>▶ 21.2%</a:t>
                      </a:r>
                    </a:p>
                  </a:txBody>
                  <a:tcPr marL="85725" marR="38100" marT="19050" marB="19050" anchor="ctr">
                    <a:solidFill>
                      <a:srgbClr val="F5F8FA"/>
                    </a:solidFill>
                  </a:tcPr>
                </a:tc>
                <a:tc>
                  <a:txBody>
                    <a:bodyPr wrap="none"/>
                    <a:lstStyle/>
                    <a:p>
                      <a:pPr algn="l"/>
                      <a:r>
                        <a:rPr sz="800" b="1">
                          <a:solidFill>
                            <a:srgbClr val="A86F00"/>
                          </a:solidFill>
                          <a:latin typeface="Calibri"/>
                        </a:rPr>
                        <a:t>▶ 19.0%</a:t>
                      </a:r>
                    </a:p>
                  </a:txBody>
                  <a:tcPr marL="85725" marR="38100" marT="19050" marB="19050" anchor="ctr">
                    <a:solidFill>
                      <a:srgbClr val="F5F8FA"/>
                    </a:solidFill>
                  </a:tcPr>
                </a:tc>
                <a:tc>
                  <a:txBody>
                    <a:bodyPr wrap="none"/>
                    <a:lstStyle/>
                    <a:p>
                      <a:pPr algn="l"/>
                      <a:r>
                        <a:rPr sz="800" b="1">
                          <a:solidFill>
                            <a:srgbClr val="A86F00"/>
                          </a:solidFill>
                          <a:latin typeface="Calibri"/>
                        </a:rPr>
                        <a:t>▶ 16.6%</a:t>
                      </a:r>
                    </a:p>
                  </a:txBody>
                  <a:tcPr marL="85725" marR="38100" marT="19050" marB="19050" anchor="ctr">
                    <a:solidFill>
                      <a:srgbClr val="F5F8FA"/>
                    </a:solidFill>
                  </a:tcPr>
                </a:tc>
                <a:tc>
                  <a:txBody>
                    <a:bodyPr wrap="none"/>
                    <a:lstStyle/>
                    <a:p>
                      <a:pPr algn="l"/>
                      <a:r>
                        <a:rPr sz="800" b="1">
                          <a:solidFill>
                            <a:srgbClr val="A86F00"/>
                          </a:solidFill>
                          <a:latin typeface="Calibri"/>
                        </a:rPr>
                        <a:t>▶ 14.9%</a:t>
                      </a:r>
                    </a:p>
                  </a:txBody>
                  <a:tcPr marL="85725" marR="38100" marT="19050" marB="19050" anchor="ctr">
                    <a:solidFill>
                      <a:srgbClr val="F5F8FA"/>
                    </a:solidFill>
                  </a:tcPr>
                </a:tc>
                <a:tc>
                  <a:txBody>
                    <a:bodyPr wrap="none"/>
                    <a:lstStyle/>
                    <a:p>
                      <a:pPr algn="l"/>
                      <a:r>
                        <a:rPr sz="800" b="1">
                          <a:solidFill>
                            <a:srgbClr val="A86F00"/>
                          </a:solidFill>
                          <a:latin typeface="Calibri"/>
                        </a:rPr>
                        <a:t>▶ 13.5%</a:t>
                      </a:r>
                    </a:p>
                  </a:txBody>
                  <a:tcPr marL="85725" marR="38100" marT="19050" marB="19050" anchor="ctr">
                    <a:solidFill>
                      <a:srgbClr val="F5F8FA"/>
                    </a:solidFill>
                  </a:tcPr>
                </a:tc>
                <a:tc>
                  <a:txBody>
                    <a:bodyPr wrap="none"/>
                    <a:lstStyle/>
                    <a:p>
                      <a:pPr algn="l"/>
                      <a:r>
                        <a:rPr sz="800" b="1">
                          <a:solidFill>
                            <a:srgbClr val="A86F00"/>
                          </a:solidFill>
                          <a:latin typeface="Calibri"/>
                        </a:rPr>
                        <a:t>▶ 12.4%</a:t>
                      </a:r>
                    </a:p>
                  </a:txBody>
                  <a:tcPr marL="85725" marR="38100" marT="19050" marB="19050" anchor="ctr">
                    <a:solidFill>
                      <a:srgbClr val="F5F8FA"/>
                    </a:solidFill>
                  </a:tcPr>
                </a:tc>
                <a:tc>
                  <a:txBody>
                    <a:bodyPr wrap="none"/>
                    <a:lstStyle/>
                    <a:p>
                      <a:pPr algn="l"/>
                      <a:r>
                        <a:rPr sz="800" b="1">
                          <a:solidFill>
                            <a:srgbClr val="A86F00"/>
                          </a:solidFill>
                          <a:latin typeface="Calibri"/>
                        </a:rPr>
                        <a:t>▶ 11.4%</a:t>
                      </a:r>
                    </a:p>
                  </a:txBody>
                  <a:tcPr marL="85725" marR="38100" marT="19050" marB="19050" anchor="ctr">
                    <a:solidFill>
                      <a:srgbClr val="F5F8FA"/>
                    </a:solidFill>
                  </a:tcPr>
                </a:tc>
                <a:tc>
                  <a:txBody>
                    <a:bodyPr wrap="none"/>
                    <a:lstStyle/>
                    <a:p>
                      <a:pPr algn="l"/>
                      <a:r>
                        <a:rPr sz="800" b="1">
                          <a:solidFill>
                            <a:srgbClr val="A86F00"/>
                          </a:solidFill>
                          <a:latin typeface="Calibri"/>
                        </a:rPr>
                        <a:t>▶ 10.6%</a:t>
                      </a:r>
                    </a:p>
                  </a:txBody>
                  <a:tcPr marL="85725" marR="38100" marT="19050" marB="19050" anchor="ctr">
                    <a:solidFill>
                      <a:srgbClr val="F5F8FA"/>
                    </a:solidFill>
                  </a:tcPr>
                </a:tc>
                <a:tc>
                  <a:txBody>
                    <a:bodyPr wrap="none"/>
                    <a:lstStyle/>
                    <a:p>
                      <a:pPr algn="l"/>
                      <a:r>
                        <a:rPr sz="800" b="1">
                          <a:solidFill>
                            <a:srgbClr val="A86F00"/>
                          </a:solidFill>
                          <a:latin typeface="Calibri"/>
                        </a:rPr>
                        <a:t>▶ 10.0%</a:t>
                      </a:r>
                    </a:p>
                  </a:txBody>
                  <a:tcPr marL="85725" marR="38100" marT="19050" marB="19050" anchor="ctr">
                    <a:solidFill>
                      <a:srgbClr val="F5F8FA"/>
                    </a:solidFill>
                  </a:tcPr>
                </a:tc>
                <a:tc>
                  <a:txBody>
                    <a:bodyPr wrap="none"/>
                    <a:lstStyle/>
                    <a:p>
                      <a:pPr algn="l"/>
                      <a:r>
                        <a:rPr sz="800" b="1">
                          <a:solidFill>
                            <a:srgbClr val="A86F00"/>
                          </a:solidFill>
                          <a:latin typeface="Calibri"/>
                        </a:rPr>
                        <a:t>▶ 9.4%</a:t>
                      </a:r>
                    </a:p>
                  </a:txBody>
                  <a:tcPr marL="85725" marR="38100" marT="19050" marB="19050" anchor="ctr">
                    <a:solidFill>
                      <a:srgbClr val="F5F8FA"/>
                    </a:solidFill>
                  </a:tcPr>
                </a:tc>
                <a:tc>
                  <a:txBody>
                    <a:bodyPr wrap="none"/>
                    <a:lstStyle/>
                    <a:p>
                      <a:pPr algn="l"/>
                      <a:r>
                        <a:rPr sz="800" b="1">
                          <a:solidFill>
                            <a:srgbClr val="A86F00"/>
                          </a:solidFill>
                          <a:latin typeface="Calibri"/>
                        </a:rPr>
                        <a:t>▶ 9.0%</a:t>
                      </a:r>
                    </a:p>
                  </a:txBody>
                  <a:tcPr marL="85725" marR="38100" marT="19050" marB="19050" anchor="ctr">
                    <a:solidFill>
                      <a:srgbClr val="F5F8FA"/>
                    </a:solidFill>
                  </a:tcPr>
                </a:tc>
              </a:tr>
            </a:tbl>
          </a:graphicData>
        </a:graphic>
      </p:graphicFrame>
      <p:sp>
        <p:nvSpPr>
          <p:cNvPr id="14" name="TextBox 13"/>
          <p:cNvSpPr txBox="1"/>
          <p:nvPr/>
        </p:nvSpPr>
        <p:spPr>
          <a:xfrm>
            <a:off x="219075" y="295275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228975"/>
            <a:ext cx="11906250" cy="3495675"/>
          </a:xfrm>
          <a:prstGeom prst="roundRect">
            <a:avLst>
              <a:gd name="adj" fmla="val 217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2861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YoY Heatmap, By Form Type (%)  ·  light = lower, dark = higher growth</a:t>
            </a:r>
          </a:p>
        </p:txBody>
      </p:sp>
      <p:sp>
        <p:nvSpPr>
          <p:cNvPr id="17" name="TextBox 16"/>
          <p:cNvSpPr txBox="1"/>
          <p:nvPr/>
        </p:nvSpPr>
        <p:spPr>
          <a:xfrm>
            <a:off x="185737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8" name="TextBox 17"/>
          <p:cNvSpPr txBox="1"/>
          <p:nvPr/>
        </p:nvSpPr>
        <p:spPr>
          <a:xfrm>
            <a:off x="250126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19" name="TextBox 18"/>
          <p:cNvSpPr txBox="1"/>
          <p:nvPr/>
        </p:nvSpPr>
        <p:spPr>
          <a:xfrm>
            <a:off x="314515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0" name="TextBox 19"/>
          <p:cNvSpPr txBox="1"/>
          <p:nvPr/>
        </p:nvSpPr>
        <p:spPr>
          <a:xfrm>
            <a:off x="378904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1" name="TextBox 20"/>
          <p:cNvSpPr txBox="1"/>
          <p:nvPr/>
        </p:nvSpPr>
        <p:spPr>
          <a:xfrm>
            <a:off x="443293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2" name="TextBox 21"/>
          <p:cNvSpPr txBox="1"/>
          <p:nvPr/>
        </p:nvSpPr>
        <p:spPr>
          <a:xfrm>
            <a:off x="507682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3" name="TextBox 22"/>
          <p:cNvSpPr txBox="1"/>
          <p:nvPr/>
        </p:nvSpPr>
        <p:spPr>
          <a:xfrm>
            <a:off x="572071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4" name="TextBox 23"/>
          <p:cNvSpPr txBox="1"/>
          <p:nvPr/>
        </p:nvSpPr>
        <p:spPr>
          <a:xfrm>
            <a:off x="636460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5" name="TextBox 24"/>
          <p:cNvSpPr txBox="1"/>
          <p:nvPr/>
        </p:nvSpPr>
        <p:spPr>
          <a:xfrm>
            <a:off x="700849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6" name="TextBox 25"/>
          <p:cNvSpPr txBox="1"/>
          <p:nvPr/>
        </p:nvSpPr>
        <p:spPr>
          <a:xfrm>
            <a:off x="765238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7" name="TextBox 26"/>
          <p:cNvSpPr txBox="1"/>
          <p:nvPr/>
        </p:nvSpPr>
        <p:spPr>
          <a:xfrm>
            <a:off x="829627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8" name="TextBox 27"/>
          <p:cNvSpPr txBox="1"/>
          <p:nvPr/>
        </p:nvSpPr>
        <p:spPr>
          <a:xfrm>
            <a:off x="894016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29" name="TextBox 28"/>
          <p:cNvSpPr txBox="1"/>
          <p:nvPr/>
        </p:nvSpPr>
        <p:spPr>
          <a:xfrm>
            <a:off x="958405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0" name="TextBox 29"/>
          <p:cNvSpPr txBox="1"/>
          <p:nvPr/>
        </p:nvSpPr>
        <p:spPr>
          <a:xfrm>
            <a:off x="1022794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1" name="TextBox 30"/>
          <p:cNvSpPr txBox="1"/>
          <p:nvPr/>
        </p:nvSpPr>
        <p:spPr>
          <a:xfrm>
            <a:off x="1087183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2" name="TextBox 31"/>
          <p:cNvSpPr txBox="1"/>
          <p:nvPr/>
        </p:nvSpPr>
        <p:spPr>
          <a:xfrm>
            <a:off x="238125" y="3657600"/>
            <a:ext cx="1590675" cy="1504950"/>
          </a:xfrm>
          <a:prstGeom prst="rect">
            <a:avLst/>
          </a:prstGeom>
          <a:noFill/>
        </p:spPr>
        <p:txBody>
          <a:bodyPr wrap="square" lIns="28575" rIns="28575" tIns="9525" bIns="9525" anchor="ctr">
            <a:spAutoFit/>
          </a:bodyPr>
          <a:lstStyle/>
          <a:p>
            <a:pPr algn="l"/>
            <a:r>
              <a:rPr sz="750" b="0">
                <a:solidFill>
                  <a:srgbClr val="2E2E2E"/>
                </a:solidFill>
                <a:latin typeface="Calibri"/>
              </a:rPr>
              <a:t>Prefilled Syringe</a:t>
            </a:r>
          </a:p>
        </p:txBody>
      </p:sp>
      <p:sp>
        <p:nvSpPr>
          <p:cNvPr id="33" name="Rectangle 32"/>
          <p:cNvSpPr/>
          <p:nvPr/>
        </p:nvSpPr>
        <p:spPr>
          <a:xfrm>
            <a:off x="1857375" y="3657600"/>
            <a:ext cx="643890" cy="1504950"/>
          </a:xfrm>
          <a:prstGeom prst="rect">
            <a:avLst/>
          </a:prstGeom>
          <a:solidFill>
            <a:srgbClr val="AA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01265" y="3657600"/>
            <a:ext cx="643890" cy="1504950"/>
          </a:xfrm>
          <a:prstGeom prst="rect">
            <a:avLst/>
          </a:prstGeom>
          <a:solidFill>
            <a:srgbClr val="21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45155" y="3657600"/>
            <a:ext cx="643890" cy="1504950"/>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89045" y="3657600"/>
            <a:ext cx="643890" cy="1504950"/>
          </a:xfrm>
          <a:prstGeom prst="rect">
            <a:avLst/>
          </a:prstGeom>
          <a:solidFill>
            <a:srgbClr val="0E72A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32935" y="3657600"/>
            <a:ext cx="643890" cy="1504950"/>
          </a:xfrm>
          <a:prstGeom prst="rect">
            <a:avLst/>
          </a:prstGeom>
          <a:solidFill>
            <a:srgbClr val="4D97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6825" y="3657600"/>
            <a:ext cx="643890" cy="1504950"/>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20715" y="3657600"/>
            <a:ext cx="643890" cy="1504950"/>
          </a:xfrm>
          <a:prstGeom prst="rect">
            <a:avLst/>
          </a:prstGeom>
          <a:solidFill>
            <a:srgbClr val="AA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64605" y="3657600"/>
            <a:ext cx="643890" cy="1504950"/>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08495" y="3657600"/>
            <a:ext cx="643890" cy="1504950"/>
          </a:xfrm>
          <a:prstGeom prst="rect">
            <a:avLst/>
          </a:prstGeom>
          <a:solidFill>
            <a:srgbClr val="D3E4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52385" y="3657600"/>
            <a:ext cx="643890" cy="1504950"/>
          </a:xfrm>
          <a:prstGeom prst="rect">
            <a:avLst/>
          </a:prstGeom>
          <a:solidFill>
            <a:srgbClr val="DD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96275" y="3657600"/>
            <a:ext cx="643890" cy="1504950"/>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40165" y="3657600"/>
            <a:ext cx="643890" cy="1504950"/>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84055" y="3657600"/>
            <a:ext cx="643890" cy="1504950"/>
          </a:xfrm>
          <a:prstGeom prst="rect">
            <a:avLst/>
          </a:prstGeom>
          <a:solidFill>
            <a:srgbClr val="F2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27945" y="3657600"/>
            <a:ext cx="643890" cy="1504950"/>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71835" y="3657600"/>
            <a:ext cx="643890" cy="1504950"/>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8125" y="5162550"/>
            <a:ext cx="1590675" cy="1504950"/>
          </a:xfrm>
          <a:prstGeom prst="rect">
            <a:avLst/>
          </a:prstGeom>
          <a:noFill/>
        </p:spPr>
        <p:txBody>
          <a:bodyPr wrap="square" lIns="28575" rIns="28575" tIns="9525" bIns="9525" anchor="ctr">
            <a:spAutoFit/>
          </a:bodyPr>
          <a:lstStyle/>
          <a:p>
            <a:pPr algn="l"/>
            <a:r>
              <a:rPr sz="750" b="0">
                <a:solidFill>
                  <a:srgbClr val="2E2E2E"/>
                </a:solidFill>
                <a:latin typeface="Calibri"/>
              </a:rPr>
              <a:t>Autoinjector / Pen</a:t>
            </a:r>
          </a:p>
        </p:txBody>
      </p:sp>
      <p:sp>
        <p:nvSpPr>
          <p:cNvPr id="49" name="Rectangle 48"/>
          <p:cNvSpPr/>
          <p:nvPr/>
        </p:nvSpPr>
        <p:spPr>
          <a:xfrm>
            <a:off x="1857375" y="5162550"/>
            <a:ext cx="643890" cy="1504950"/>
          </a:xfrm>
          <a:prstGeom prst="rect">
            <a:avLst/>
          </a:prstGeom>
          <a:solidFill>
            <a:srgbClr val="B5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01265" y="5162550"/>
            <a:ext cx="643890" cy="1504950"/>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45155" y="5162550"/>
            <a:ext cx="643890" cy="1504950"/>
          </a:xfrm>
          <a:prstGeom prst="rect">
            <a:avLst/>
          </a:prstGeom>
          <a:solidFill>
            <a:srgbClr val="0C436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789045" y="5162550"/>
            <a:ext cx="643890" cy="1504950"/>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32935" y="5162550"/>
            <a:ext cx="643890" cy="1504950"/>
          </a:xfrm>
          <a:prstGeom prst="rect">
            <a:avLst/>
          </a:prstGeom>
          <a:solidFill>
            <a:srgbClr val="60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76825" y="5162550"/>
            <a:ext cx="643890" cy="1504950"/>
          </a:xfrm>
          <a:prstGeom prst="rect">
            <a:avLst/>
          </a:prstGeom>
          <a:solidFill>
            <a:srgbClr val="91BC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720715" y="5162550"/>
            <a:ext cx="643890" cy="1504950"/>
          </a:xfrm>
          <a:prstGeom prst="rect">
            <a:avLst/>
          </a:prstGeom>
          <a:solidFill>
            <a:srgbClr val="B6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64605" y="5162550"/>
            <a:ext cx="643890" cy="1504950"/>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08495" y="5162550"/>
            <a:ext cx="643890" cy="1504950"/>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652385" y="5162550"/>
            <a:ext cx="643890" cy="1504950"/>
          </a:xfrm>
          <a:prstGeom prst="rect">
            <a:avLst/>
          </a:prstGeom>
          <a:solidFill>
            <a:srgbClr val="E4F1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96275" y="5162550"/>
            <a:ext cx="643890" cy="1504950"/>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40165" y="5162550"/>
            <a:ext cx="643890" cy="1504950"/>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584055" y="5162550"/>
            <a:ext cx="643890" cy="1504950"/>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27945" y="5162550"/>
            <a:ext cx="643890" cy="1504950"/>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871835" y="5162550"/>
            <a:ext cx="643890" cy="1504950"/>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1572875" y="3695700"/>
            <a:ext cx="104775" cy="8096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1572875" y="3769042"/>
            <a:ext cx="104775" cy="80962"/>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1572875" y="3842385"/>
            <a:ext cx="104775" cy="80962"/>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1572875" y="3915728"/>
            <a:ext cx="104775" cy="80962"/>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1572875" y="3989070"/>
            <a:ext cx="104775" cy="80962"/>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1572875" y="4062412"/>
            <a:ext cx="104775" cy="80962"/>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1572875" y="4135755"/>
            <a:ext cx="104775" cy="80962"/>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1572875" y="4209098"/>
            <a:ext cx="104775" cy="80962"/>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1572875" y="4282440"/>
            <a:ext cx="104775" cy="80962"/>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1572875" y="4355782"/>
            <a:ext cx="104775" cy="80962"/>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1572875" y="4429125"/>
            <a:ext cx="104775" cy="80962"/>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1572875" y="4502468"/>
            <a:ext cx="104775" cy="80962"/>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1572875" y="4575810"/>
            <a:ext cx="104775" cy="80962"/>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1572875" y="4649152"/>
            <a:ext cx="104775" cy="80962"/>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1572875" y="4722495"/>
            <a:ext cx="104775" cy="80962"/>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1572875" y="4795838"/>
            <a:ext cx="104775" cy="80962"/>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1572875" y="4869180"/>
            <a:ext cx="104775" cy="80962"/>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1572875" y="4942522"/>
            <a:ext cx="104775" cy="80962"/>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1572875" y="5015865"/>
            <a:ext cx="104775" cy="80962"/>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1572875" y="5089208"/>
            <a:ext cx="104775" cy="80962"/>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1572875" y="5162550"/>
            <a:ext cx="104775" cy="80962"/>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1572875" y="5235892"/>
            <a:ext cx="104775" cy="80962"/>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1572875" y="5309235"/>
            <a:ext cx="104775" cy="80962"/>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1572875" y="5382578"/>
            <a:ext cx="104775" cy="80962"/>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1572875" y="5455920"/>
            <a:ext cx="104775" cy="80962"/>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1572875" y="5529262"/>
            <a:ext cx="104775" cy="80962"/>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1572875" y="5602605"/>
            <a:ext cx="104775" cy="80962"/>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1572875" y="5675948"/>
            <a:ext cx="104775" cy="80962"/>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11572875" y="5749290"/>
            <a:ext cx="104775" cy="80962"/>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1572875" y="5822632"/>
            <a:ext cx="104775" cy="80962"/>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1572875" y="5895975"/>
            <a:ext cx="104775" cy="80962"/>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1572875" y="5969318"/>
            <a:ext cx="104775" cy="80962"/>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1572875" y="6042660"/>
            <a:ext cx="104775" cy="80962"/>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6116002"/>
            <a:ext cx="104775" cy="80962"/>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6189345"/>
            <a:ext cx="104775" cy="80962"/>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6262688"/>
            <a:ext cx="104775" cy="80962"/>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6336030"/>
            <a:ext cx="104775" cy="80962"/>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6409373"/>
            <a:ext cx="104775" cy="80962"/>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6482715"/>
            <a:ext cx="104775" cy="80962"/>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6556058"/>
            <a:ext cx="104775" cy="80962"/>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3695700"/>
            <a:ext cx="104775" cy="293370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1687175" y="3629025"/>
            <a:ext cx="276225" cy="133350"/>
          </a:xfrm>
          <a:prstGeom prst="rect">
            <a:avLst/>
          </a:prstGeom>
          <a:noFill/>
        </p:spPr>
        <p:txBody>
          <a:bodyPr wrap="none" lIns="0" rIns="0" tIns="0" bIns="0" anchor="ctr">
            <a:spAutoFit/>
          </a:bodyPr>
          <a:lstStyle/>
          <a:p>
            <a:pPr algn="l"/>
            <a:r>
              <a:rPr sz="700" b="0">
                <a:solidFill>
                  <a:srgbClr val="6C7A89"/>
                </a:solidFill>
                <a:latin typeface="Calibri"/>
              </a:rPr>
              <a:t>29%</a:t>
            </a:r>
          </a:p>
        </p:txBody>
      </p:sp>
      <p:sp>
        <p:nvSpPr>
          <p:cNvPr id="106" name="TextBox 105"/>
          <p:cNvSpPr txBox="1"/>
          <p:nvPr/>
        </p:nvSpPr>
        <p:spPr>
          <a:xfrm>
            <a:off x="11687175" y="5095875"/>
            <a:ext cx="276225" cy="133350"/>
          </a:xfrm>
          <a:prstGeom prst="rect">
            <a:avLst/>
          </a:prstGeom>
          <a:noFill/>
        </p:spPr>
        <p:txBody>
          <a:bodyPr wrap="none" lIns="0" rIns="0" tIns="0" bIns="0" anchor="ctr">
            <a:spAutoFit/>
          </a:bodyPr>
          <a:lstStyle/>
          <a:p>
            <a:pPr algn="l"/>
            <a:r>
              <a:rPr sz="700" b="0">
                <a:solidFill>
                  <a:srgbClr val="6C7A89"/>
                </a:solidFill>
                <a:latin typeface="Calibri"/>
              </a:rPr>
              <a:t>19%</a:t>
            </a:r>
          </a:p>
        </p:txBody>
      </p:sp>
      <p:sp>
        <p:nvSpPr>
          <p:cNvPr id="107" name="TextBox 106"/>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9%</a:t>
            </a:r>
          </a:p>
        </p:txBody>
      </p:sp>
      <p:sp>
        <p:nvSpPr>
          <p:cNvPr id="108" name="Rectangle 10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10" name="Rounded Rectangle 109">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11" name="Rounded Rectangle 110">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12" name="Rounded Rectangle 111">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Value, By Form Type (%)</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238375"/>
          </a:xfrm>
          <a:prstGeom prst="roundRect">
            <a:avLst>
              <a:gd name="adj" fmla="val 340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YoY Growth, By Form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54292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Form Type</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Prefilled Syringe</a:t>
                      </a:r>
                    </a:p>
                  </a:txBody>
                  <a:tcPr marL="85725" marR="38100" marT="19050" marB="19050" anchor="ctr">
                    <a:solidFill>
                      <a:srgbClr val="FFFFFF"/>
                    </a:solidFill>
                  </a:tcPr>
                </a:tc>
                <a:tc>
                  <a:txBody>
                    <a:bodyPr wrap="none"/>
                    <a:lstStyle/>
                    <a:p>
                      <a:pPr algn="l"/>
                      <a:r>
                        <a:rPr sz="800" b="1">
                          <a:solidFill>
                            <a:srgbClr val="A86F00"/>
                          </a:solidFill>
                          <a:latin typeface="Calibri"/>
                        </a:rPr>
                        <a:t>▶ 10.6%</a:t>
                      </a:r>
                    </a:p>
                  </a:txBody>
                  <a:tcPr marL="85725" marR="38100" marT="19050" marB="19050" anchor="ctr">
                    <a:solidFill>
                      <a:srgbClr val="FFFFFF"/>
                    </a:solidFill>
                  </a:tcPr>
                </a:tc>
                <a:tc>
                  <a:txBody>
                    <a:bodyPr wrap="none"/>
                    <a:lstStyle/>
                    <a:p>
                      <a:pPr algn="l"/>
                      <a:r>
                        <a:rPr sz="800" b="1">
                          <a:solidFill>
                            <a:srgbClr val="A86F00"/>
                          </a:solidFill>
                          <a:latin typeface="Calibri"/>
                        </a:rPr>
                        <a:t>▶ 17.3%</a:t>
                      </a:r>
                    </a:p>
                  </a:txBody>
                  <a:tcPr marL="85725" marR="38100" marT="19050" marB="19050" anchor="ctr">
                    <a:solidFill>
                      <a:srgbClr val="FFFFFF"/>
                    </a:solidFill>
                  </a:tcPr>
                </a:tc>
                <a:tc>
                  <a:txBody>
                    <a:bodyPr wrap="none"/>
                    <a:lstStyle/>
                    <a:p>
                      <a:pPr algn="l"/>
                      <a:r>
                        <a:rPr sz="800" b="1">
                          <a:solidFill>
                            <a:srgbClr val="A86F00"/>
                          </a:solidFill>
                          <a:latin typeface="Calibri"/>
                        </a:rPr>
                        <a:t>▶ 21.0%</a:t>
                      </a:r>
                    </a:p>
                  </a:txBody>
                  <a:tcPr marL="85725" marR="38100" marT="19050" marB="19050" anchor="ctr">
                    <a:solidFill>
                      <a:srgbClr val="FFFFFF"/>
                    </a:solidFill>
                  </a:tcPr>
                </a:tc>
                <a:tc>
                  <a:txBody>
                    <a:bodyPr wrap="none"/>
                    <a:lstStyle/>
                    <a:p>
                      <a:pPr algn="l"/>
                      <a:r>
                        <a:rPr sz="800" b="1">
                          <a:solidFill>
                            <a:srgbClr val="A86F00"/>
                          </a:solidFill>
                          <a:latin typeface="Calibri"/>
                        </a:rPr>
                        <a:t>▶ 18.4%</a:t>
                      </a:r>
                    </a:p>
                  </a:txBody>
                  <a:tcPr marL="85725" marR="38100" marT="19050" marB="19050" anchor="ctr">
                    <a:solidFill>
                      <a:srgbClr val="FFFFFF"/>
                    </a:solidFill>
                  </a:tcPr>
                </a:tc>
                <a:tc>
                  <a:txBody>
                    <a:bodyPr wrap="none"/>
                    <a:lstStyle/>
                    <a:p>
                      <a:pPr algn="l"/>
                      <a:r>
                        <a:rPr sz="800" b="1">
                          <a:solidFill>
                            <a:srgbClr val="A86F00"/>
                          </a:solidFill>
                          <a:latin typeface="Calibri"/>
                        </a:rPr>
                        <a:t>▶ 14.8%</a:t>
                      </a:r>
                    </a:p>
                  </a:txBody>
                  <a:tcPr marL="85725" marR="38100" marT="19050" marB="19050" anchor="ctr">
                    <a:solidFill>
                      <a:srgbClr val="FFFFFF"/>
                    </a:solidFill>
                  </a:tcPr>
                </a:tc>
                <a:tc>
                  <a:txBody>
                    <a:bodyPr wrap="none"/>
                    <a:lstStyle/>
                    <a:p>
                      <a:pPr algn="l"/>
                      <a:r>
                        <a:rPr sz="800" b="1">
                          <a:solidFill>
                            <a:srgbClr val="A86F00"/>
                          </a:solidFill>
                          <a:latin typeface="Calibri"/>
                        </a:rPr>
                        <a:t>▶ 12.7%</a:t>
                      </a:r>
                    </a:p>
                  </a:txBody>
                  <a:tcPr marL="85725" marR="38100" marT="19050" marB="19050" anchor="ctr">
                    <a:solidFill>
                      <a:srgbClr val="FFFFFF"/>
                    </a:solidFill>
                  </a:tcPr>
                </a:tc>
                <a:tc>
                  <a:txBody>
                    <a:bodyPr wrap="none"/>
                    <a:lstStyle/>
                    <a:p>
                      <a:pPr algn="l"/>
                      <a:r>
                        <a:rPr sz="800" b="1">
                          <a:solidFill>
                            <a:srgbClr val="A86F00"/>
                          </a:solidFill>
                          <a:latin typeface="Calibri"/>
                        </a:rPr>
                        <a:t>▶ 10.4%</a:t>
                      </a:r>
                    </a:p>
                  </a:txBody>
                  <a:tcPr marL="85725" marR="38100" marT="19050" marB="19050" anchor="ctr">
                    <a:solidFill>
                      <a:srgbClr val="FFFFFF"/>
                    </a:solidFill>
                  </a:tcPr>
                </a:tc>
                <a:tc>
                  <a:txBody>
                    <a:bodyPr wrap="none"/>
                    <a:lstStyle/>
                    <a:p>
                      <a:pPr algn="l"/>
                      <a:r>
                        <a:rPr sz="800" b="1">
                          <a:solidFill>
                            <a:srgbClr val="A86F00"/>
                          </a:solidFill>
                          <a:latin typeface="Calibri"/>
                        </a:rPr>
                        <a:t>▶ 8.8%</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5.5%</a:t>
                      </a:r>
                    </a:p>
                  </a:txBody>
                  <a:tcPr marL="85725" marR="38100" marT="19050" marB="19050" anchor="ctr">
                    <a:solidFill>
                      <a:srgbClr val="FFFFFF"/>
                    </a:solidFill>
                  </a:tcPr>
                </a:tc>
                <a:tc>
                  <a:txBody>
                    <a:bodyPr wrap="none"/>
                    <a:lstStyle/>
                    <a:p>
                      <a:pPr algn="l"/>
                      <a:r>
                        <a:rPr sz="800" b="1">
                          <a:solidFill>
                            <a:srgbClr val="A86F00"/>
                          </a:solidFill>
                          <a:latin typeface="Calibri"/>
                        </a:rPr>
                        <a:t>▶ 4.7%</a:t>
                      </a:r>
                    </a:p>
                  </a:txBody>
                  <a:tcPr marL="85725" marR="38100" marT="19050" marB="19050" anchor="ctr">
                    <a:solidFill>
                      <a:srgbClr val="FFFFFF"/>
                    </a:solidFill>
                  </a:tcPr>
                </a:tc>
                <a:tc>
                  <a:txBody>
                    <a:bodyPr wrap="none"/>
                    <a:lstStyle/>
                    <a:p>
                      <a:pPr algn="l"/>
                      <a:r>
                        <a:rPr sz="800" b="1">
                          <a:solidFill>
                            <a:srgbClr val="A86F00"/>
                          </a:solidFill>
                          <a:latin typeface="Calibri"/>
                        </a:rPr>
                        <a:t>▶ 4.1%</a:t>
                      </a:r>
                    </a:p>
                  </a:txBody>
                  <a:tcPr marL="85725" marR="38100" marT="19050" marB="19050" anchor="ctr">
                    <a:solidFill>
                      <a:srgbClr val="FFFFFF"/>
                    </a:solidFill>
                  </a:tcPr>
                </a:tc>
                <a:tc>
                  <a:txBody>
                    <a:bodyPr wrap="none"/>
                    <a:lstStyle/>
                    <a:p>
                      <a:pPr algn="l"/>
                      <a:r>
                        <a:rPr sz="800" b="1">
                          <a:solidFill>
                            <a:srgbClr val="A86F00"/>
                          </a:solidFill>
                          <a:latin typeface="Calibri"/>
                        </a:rPr>
                        <a:t>▶ 3.6%</a:t>
                      </a:r>
                    </a:p>
                  </a:txBody>
                  <a:tcPr marL="85725" marR="38100" marT="19050" marB="19050" anchor="ctr">
                    <a:solidFill>
                      <a:srgbClr val="FFFFFF"/>
                    </a:solidFill>
                  </a:tcPr>
                </a:tc>
                <a:tc>
                  <a:txBody>
                    <a:bodyPr wrap="none"/>
                    <a:lstStyle/>
                    <a:p>
                      <a:pPr algn="l"/>
                      <a:r>
                        <a:rPr sz="800" b="1">
                          <a:solidFill>
                            <a:srgbClr val="A86F00"/>
                          </a:solidFill>
                          <a:latin typeface="Calibri"/>
                        </a:rPr>
                        <a:t>▶ 3.1%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Autoinjector / Pen</a:t>
                      </a:r>
                    </a:p>
                  </a:txBody>
                  <a:tcPr marL="85725" marR="38100" marT="19050" marB="19050" anchor="ctr">
                    <a:solidFill>
                      <a:srgbClr val="F5F8FA"/>
                    </a:solidFill>
                  </a:tcPr>
                </a:tc>
                <a:tc>
                  <a:txBody>
                    <a:bodyPr wrap="none"/>
                    <a:lstStyle/>
                    <a:p>
                      <a:pPr algn="l"/>
                      <a:r>
                        <a:rPr sz="800" b="1">
                          <a:solidFill>
                            <a:srgbClr val="2E7D32"/>
                          </a:solidFill>
                          <a:latin typeface="Calibri"/>
                        </a:rPr>
                        <a:t>▲ 13.5%</a:t>
                      </a:r>
                    </a:p>
                  </a:txBody>
                  <a:tcPr marL="85725" marR="38100" marT="19050" marB="19050" anchor="ctr">
                    <a:solidFill>
                      <a:srgbClr val="F5F8FA"/>
                    </a:solidFill>
                  </a:tcPr>
                </a:tc>
                <a:tc>
                  <a:txBody>
                    <a:bodyPr wrap="none"/>
                    <a:lstStyle/>
                    <a:p>
                      <a:pPr algn="l"/>
                      <a:r>
                        <a:rPr sz="800" b="1">
                          <a:solidFill>
                            <a:srgbClr val="2E7D32"/>
                          </a:solidFill>
                          <a:latin typeface="Calibri"/>
                        </a:rPr>
                        <a:t>▲ 20.4%</a:t>
                      </a:r>
                    </a:p>
                  </a:txBody>
                  <a:tcPr marL="85725" marR="38100" marT="19050" marB="19050" anchor="ctr">
                    <a:solidFill>
                      <a:srgbClr val="F5F8FA"/>
                    </a:solidFill>
                  </a:tcPr>
                </a:tc>
                <a:tc>
                  <a:txBody>
                    <a:bodyPr wrap="none"/>
                    <a:lstStyle/>
                    <a:p>
                      <a:pPr algn="l"/>
                      <a:r>
                        <a:rPr sz="800" b="1">
                          <a:solidFill>
                            <a:srgbClr val="2E7D32"/>
                          </a:solidFill>
                          <a:latin typeface="Calibri"/>
                        </a:rPr>
                        <a:t>▲ 24.2%</a:t>
                      </a:r>
                    </a:p>
                  </a:txBody>
                  <a:tcPr marL="85725" marR="38100" marT="19050" marB="19050" anchor="ctr">
                    <a:solidFill>
                      <a:srgbClr val="F5F8FA"/>
                    </a:solidFill>
                  </a:tcPr>
                </a:tc>
                <a:tc>
                  <a:txBody>
                    <a:bodyPr wrap="none"/>
                    <a:lstStyle/>
                    <a:p>
                      <a:pPr algn="l"/>
                      <a:r>
                        <a:rPr sz="800" b="1">
                          <a:solidFill>
                            <a:srgbClr val="2E7D32"/>
                          </a:solidFill>
                          <a:latin typeface="Calibri"/>
                        </a:rPr>
                        <a:t>▲ 21.6%</a:t>
                      </a:r>
                    </a:p>
                  </a:txBody>
                  <a:tcPr marL="85725" marR="38100" marT="19050" marB="19050" anchor="ctr">
                    <a:solidFill>
                      <a:srgbClr val="F5F8FA"/>
                    </a:solidFill>
                  </a:tcPr>
                </a:tc>
                <a:tc>
                  <a:txBody>
                    <a:bodyPr wrap="none"/>
                    <a:lstStyle/>
                    <a:p>
                      <a:pPr algn="l"/>
                      <a:r>
                        <a:rPr sz="800" b="1">
                          <a:solidFill>
                            <a:srgbClr val="2E7D32"/>
                          </a:solidFill>
                          <a:latin typeface="Calibri"/>
                        </a:rPr>
                        <a:t>▲ 17.9%</a:t>
                      </a:r>
                    </a:p>
                  </a:txBody>
                  <a:tcPr marL="85725" marR="38100" marT="19050" marB="19050" anchor="ctr">
                    <a:solidFill>
                      <a:srgbClr val="F5F8FA"/>
                    </a:solidFill>
                  </a:tcPr>
                </a:tc>
                <a:tc>
                  <a:txBody>
                    <a:bodyPr wrap="none"/>
                    <a:lstStyle/>
                    <a:p>
                      <a:pPr algn="l"/>
                      <a:r>
                        <a:rPr sz="800" b="1">
                          <a:solidFill>
                            <a:srgbClr val="2E7D32"/>
                          </a:solidFill>
                          <a:latin typeface="Calibri"/>
                        </a:rPr>
                        <a:t>▲ 15.7%</a:t>
                      </a:r>
                    </a:p>
                  </a:txBody>
                  <a:tcPr marL="85725" marR="38100" marT="19050" marB="19050" anchor="ctr">
                    <a:solidFill>
                      <a:srgbClr val="F5F8FA"/>
                    </a:solidFill>
                  </a:tcPr>
                </a:tc>
                <a:tc>
                  <a:txBody>
                    <a:bodyPr wrap="none"/>
                    <a:lstStyle/>
                    <a:p>
                      <a:pPr algn="l"/>
                      <a:r>
                        <a:rPr sz="800" b="1">
                          <a:solidFill>
                            <a:srgbClr val="2E7D32"/>
                          </a:solidFill>
                          <a:latin typeface="Calibri"/>
                        </a:rPr>
                        <a:t>▲ 13.4%</a:t>
                      </a:r>
                    </a:p>
                  </a:txBody>
                  <a:tcPr marL="85725" marR="38100" marT="19050" marB="19050" anchor="ctr">
                    <a:solidFill>
                      <a:srgbClr val="F5F8FA"/>
                    </a:solidFill>
                  </a:tcPr>
                </a:tc>
                <a:tc>
                  <a:txBody>
                    <a:bodyPr wrap="none"/>
                    <a:lstStyle/>
                    <a:p>
                      <a:pPr algn="l"/>
                      <a:r>
                        <a:rPr sz="800" b="1">
                          <a:solidFill>
                            <a:srgbClr val="2E7D32"/>
                          </a:solidFill>
                          <a:latin typeface="Calibri"/>
                        </a:rPr>
                        <a:t>▲ 11.7%</a:t>
                      </a:r>
                    </a:p>
                  </a:txBody>
                  <a:tcPr marL="85725" marR="38100" marT="19050" marB="19050" anchor="ctr">
                    <a:solidFill>
                      <a:srgbClr val="F5F8FA"/>
                    </a:solidFill>
                  </a:tcPr>
                </a:tc>
                <a:tc>
                  <a:txBody>
                    <a:bodyPr wrap="none"/>
                    <a:lstStyle/>
                    <a:p>
                      <a:pPr algn="l"/>
                      <a:r>
                        <a:rPr sz="800" b="1">
                          <a:solidFill>
                            <a:srgbClr val="2E7D32"/>
                          </a:solidFill>
                          <a:latin typeface="Calibri"/>
                        </a:rPr>
                        <a:t>▲ 10.4%</a:t>
                      </a:r>
                    </a:p>
                  </a:txBody>
                  <a:tcPr marL="85725" marR="38100" marT="19050" marB="19050" anchor="ctr">
                    <a:solidFill>
                      <a:srgbClr val="F5F8FA"/>
                    </a:solidFill>
                  </a:tcPr>
                </a:tc>
                <a:tc>
                  <a:txBody>
                    <a:bodyPr wrap="none"/>
                    <a:lstStyle/>
                    <a:p>
                      <a:pPr algn="l"/>
                      <a:r>
                        <a:rPr sz="800" b="1">
                          <a:solidFill>
                            <a:srgbClr val="2E7D32"/>
                          </a:solidFill>
                          <a:latin typeface="Calibri"/>
                        </a:rPr>
                        <a:t>▲ 9.2%</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6.8%</a:t>
                      </a:r>
                    </a:p>
                  </a:txBody>
                  <a:tcPr marL="85725" marR="38100" marT="19050" marB="19050" anchor="ctr">
                    <a:solidFill>
                      <a:srgbClr val="F5F8FA"/>
                    </a:solidFill>
                  </a:tcPr>
                </a:tc>
                <a:tc>
                  <a:txBody>
                    <a:bodyPr wrap="none"/>
                    <a:lstStyle/>
                    <a:p>
                      <a:pPr algn="l"/>
                      <a:r>
                        <a:rPr sz="800" b="1">
                          <a:solidFill>
                            <a:srgbClr val="2E7D32"/>
                          </a:solidFill>
                          <a:latin typeface="Calibri"/>
                        </a:rPr>
                        <a:t>▲ 6.3%</a:t>
                      </a:r>
                    </a:p>
                  </a:txBody>
                  <a:tcPr marL="85725" marR="38100" marT="19050" marB="19050" anchor="ctr">
                    <a:solidFill>
                      <a:srgbClr val="F5F8FA"/>
                    </a:solidFill>
                  </a:tcPr>
                </a:tc>
                <a:tc>
                  <a:txBody>
                    <a:bodyPr wrap="none"/>
                    <a:lstStyle/>
                    <a:p>
                      <a:pPr algn="l"/>
                      <a:r>
                        <a:rPr sz="800" b="1">
                          <a:solidFill>
                            <a:srgbClr val="2E7D32"/>
                          </a:solidFill>
                          <a:latin typeface="Calibri"/>
                        </a:rPr>
                        <a:t>▲ 5.9%</a:t>
                      </a:r>
                    </a:p>
                  </a:txBody>
                  <a:tcPr marL="85725" marR="38100" marT="19050" marB="19050" anchor="ctr">
                    <a:solidFill>
                      <a:srgbClr val="F5F8FA"/>
                    </a:solidFill>
                  </a:tcPr>
                </a:tc>
              </a:tr>
            </a:tbl>
          </a:graphicData>
        </a:graphic>
      </p:graphicFrame>
      <p:sp>
        <p:nvSpPr>
          <p:cNvPr id="14" name="TextBox 13"/>
          <p:cNvSpPr txBox="1"/>
          <p:nvPr/>
        </p:nvSpPr>
        <p:spPr>
          <a:xfrm>
            <a:off x="219075" y="295275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228975"/>
            <a:ext cx="11906250" cy="3495675"/>
          </a:xfrm>
          <a:prstGeom prst="roundRect">
            <a:avLst>
              <a:gd name="adj" fmla="val 217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2861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YoY Heatmap, By Form Type (%)  ·  light = lower, dark = higher growth</a:t>
            </a:r>
          </a:p>
        </p:txBody>
      </p:sp>
      <p:sp>
        <p:nvSpPr>
          <p:cNvPr id="17" name="TextBox 16"/>
          <p:cNvSpPr txBox="1"/>
          <p:nvPr/>
        </p:nvSpPr>
        <p:spPr>
          <a:xfrm>
            <a:off x="185737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8" name="TextBox 17"/>
          <p:cNvSpPr txBox="1"/>
          <p:nvPr/>
        </p:nvSpPr>
        <p:spPr>
          <a:xfrm>
            <a:off x="250126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19" name="TextBox 18"/>
          <p:cNvSpPr txBox="1"/>
          <p:nvPr/>
        </p:nvSpPr>
        <p:spPr>
          <a:xfrm>
            <a:off x="314515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0" name="TextBox 19"/>
          <p:cNvSpPr txBox="1"/>
          <p:nvPr/>
        </p:nvSpPr>
        <p:spPr>
          <a:xfrm>
            <a:off x="378904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1" name="TextBox 20"/>
          <p:cNvSpPr txBox="1"/>
          <p:nvPr/>
        </p:nvSpPr>
        <p:spPr>
          <a:xfrm>
            <a:off x="443293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2" name="TextBox 21"/>
          <p:cNvSpPr txBox="1"/>
          <p:nvPr/>
        </p:nvSpPr>
        <p:spPr>
          <a:xfrm>
            <a:off x="507682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3" name="TextBox 22"/>
          <p:cNvSpPr txBox="1"/>
          <p:nvPr/>
        </p:nvSpPr>
        <p:spPr>
          <a:xfrm>
            <a:off x="572071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4" name="TextBox 23"/>
          <p:cNvSpPr txBox="1"/>
          <p:nvPr/>
        </p:nvSpPr>
        <p:spPr>
          <a:xfrm>
            <a:off x="636460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5" name="TextBox 24"/>
          <p:cNvSpPr txBox="1"/>
          <p:nvPr/>
        </p:nvSpPr>
        <p:spPr>
          <a:xfrm>
            <a:off x="700849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6" name="TextBox 25"/>
          <p:cNvSpPr txBox="1"/>
          <p:nvPr/>
        </p:nvSpPr>
        <p:spPr>
          <a:xfrm>
            <a:off x="765238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7" name="TextBox 26"/>
          <p:cNvSpPr txBox="1"/>
          <p:nvPr/>
        </p:nvSpPr>
        <p:spPr>
          <a:xfrm>
            <a:off x="829627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8" name="TextBox 27"/>
          <p:cNvSpPr txBox="1"/>
          <p:nvPr/>
        </p:nvSpPr>
        <p:spPr>
          <a:xfrm>
            <a:off x="894016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29" name="TextBox 28"/>
          <p:cNvSpPr txBox="1"/>
          <p:nvPr/>
        </p:nvSpPr>
        <p:spPr>
          <a:xfrm>
            <a:off x="958405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0" name="TextBox 29"/>
          <p:cNvSpPr txBox="1"/>
          <p:nvPr/>
        </p:nvSpPr>
        <p:spPr>
          <a:xfrm>
            <a:off x="1022794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1" name="TextBox 30"/>
          <p:cNvSpPr txBox="1"/>
          <p:nvPr/>
        </p:nvSpPr>
        <p:spPr>
          <a:xfrm>
            <a:off x="10871835" y="351472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2" name="TextBox 31"/>
          <p:cNvSpPr txBox="1"/>
          <p:nvPr/>
        </p:nvSpPr>
        <p:spPr>
          <a:xfrm>
            <a:off x="238125" y="3657600"/>
            <a:ext cx="1590675" cy="1504950"/>
          </a:xfrm>
          <a:prstGeom prst="rect">
            <a:avLst/>
          </a:prstGeom>
          <a:noFill/>
        </p:spPr>
        <p:txBody>
          <a:bodyPr wrap="square" lIns="28575" rIns="28575" tIns="9525" bIns="9525" anchor="ctr">
            <a:spAutoFit/>
          </a:bodyPr>
          <a:lstStyle/>
          <a:p>
            <a:pPr algn="l"/>
            <a:r>
              <a:rPr sz="750" b="0">
                <a:solidFill>
                  <a:srgbClr val="2E2E2E"/>
                </a:solidFill>
                <a:latin typeface="Calibri"/>
              </a:rPr>
              <a:t>Prefilled Syringe</a:t>
            </a:r>
          </a:p>
        </p:txBody>
      </p:sp>
      <p:sp>
        <p:nvSpPr>
          <p:cNvPr id="33" name="Rectangle 32"/>
          <p:cNvSpPr/>
          <p:nvPr/>
        </p:nvSpPr>
        <p:spPr>
          <a:xfrm>
            <a:off x="1857375" y="3657600"/>
            <a:ext cx="643890" cy="1504950"/>
          </a:xfrm>
          <a:prstGeom prst="rect">
            <a:avLst/>
          </a:prstGeom>
          <a:solidFill>
            <a:srgbClr val="C1D7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01265" y="3657600"/>
            <a:ext cx="643890" cy="1504950"/>
          </a:xfrm>
          <a:prstGeom prst="rect">
            <a:avLst/>
          </a:prstGeom>
          <a:solidFill>
            <a:srgbClr val="4B96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45155" y="3657600"/>
            <a:ext cx="643890" cy="1504950"/>
          </a:xfrm>
          <a:prstGeom prst="rect">
            <a:avLst/>
          </a:prstGeom>
          <a:solidFill>
            <a:srgbClr val="1274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89045" y="3657600"/>
            <a:ext cx="643890" cy="1504950"/>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32935" y="3657600"/>
            <a:ext cx="643890" cy="1504950"/>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6825" y="3657600"/>
            <a:ext cx="643890" cy="1504950"/>
          </a:xfrm>
          <a:prstGeom prst="rect">
            <a:avLst/>
          </a:prstGeom>
          <a:solidFill>
            <a:srgbClr val="A3C6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20715" y="3657600"/>
            <a:ext cx="643890" cy="1504950"/>
          </a:xfrm>
          <a:prstGeom prst="rect">
            <a:avLst/>
          </a:prstGeom>
          <a:solidFill>
            <a:srgbClr val="C3D9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64605" y="3657600"/>
            <a:ext cx="643890" cy="1504950"/>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08495" y="3657600"/>
            <a:ext cx="643890" cy="1504950"/>
          </a:xfrm>
          <a:prstGeom prst="rect">
            <a:avLst/>
          </a:prstGeom>
          <a:solidFill>
            <a:srgbClr val="DE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52385" y="3657600"/>
            <a:ext cx="643890" cy="1504950"/>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96275" y="3657600"/>
            <a:ext cx="643890" cy="1504950"/>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40165" y="3657600"/>
            <a:ext cx="643890" cy="1504950"/>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84055" y="3657600"/>
            <a:ext cx="643890" cy="1504950"/>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27945" y="3657600"/>
            <a:ext cx="643890" cy="1504950"/>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71835" y="3657600"/>
            <a:ext cx="643890" cy="1504950"/>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8125" y="5162550"/>
            <a:ext cx="1590675" cy="1504950"/>
          </a:xfrm>
          <a:prstGeom prst="rect">
            <a:avLst/>
          </a:prstGeom>
          <a:noFill/>
        </p:spPr>
        <p:txBody>
          <a:bodyPr wrap="square" lIns="28575" rIns="28575" tIns="9525" bIns="9525" anchor="ctr">
            <a:spAutoFit/>
          </a:bodyPr>
          <a:lstStyle/>
          <a:p>
            <a:pPr algn="l"/>
            <a:r>
              <a:rPr sz="750" b="0">
                <a:solidFill>
                  <a:srgbClr val="2E2E2E"/>
                </a:solidFill>
                <a:latin typeface="Calibri"/>
              </a:rPr>
              <a:t>Autoinjector / Pen</a:t>
            </a:r>
          </a:p>
        </p:txBody>
      </p:sp>
      <p:sp>
        <p:nvSpPr>
          <p:cNvPr id="49" name="Rectangle 48"/>
          <p:cNvSpPr/>
          <p:nvPr/>
        </p:nvSpPr>
        <p:spPr>
          <a:xfrm>
            <a:off x="1857375" y="5162550"/>
            <a:ext cx="643890" cy="1504950"/>
          </a:xfrm>
          <a:prstGeom prst="rect">
            <a:avLst/>
          </a:prstGeom>
          <a:solidFill>
            <a:srgbClr val="97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01265" y="5162550"/>
            <a:ext cx="643890" cy="1504950"/>
          </a:xfrm>
          <a:prstGeom prst="rect">
            <a:avLst/>
          </a:prstGeom>
          <a:solidFill>
            <a:srgbClr val="1A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45155" y="5162550"/>
            <a:ext cx="643890" cy="1504950"/>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789045" y="5162550"/>
            <a:ext cx="643890" cy="1504950"/>
          </a:xfrm>
          <a:prstGeom prst="rect">
            <a:avLst/>
          </a:prstGeom>
          <a:solidFill>
            <a:srgbClr val="0E6BA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32935" y="5162550"/>
            <a:ext cx="643890" cy="1504950"/>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76825" y="5162550"/>
            <a:ext cx="643890" cy="1504950"/>
          </a:xfrm>
          <a:prstGeom prst="rect">
            <a:avLst/>
          </a:prstGeom>
          <a:solidFill>
            <a:srgbClr val="6CA8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720715" y="5162550"/>
            <a:ext cx="643890" cy="1504950"/>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64605" y="5162550"/>
            <a:ext cx="643890" cy="1504950"/>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08495" y="5162550"/>
            <a:ext cx="643890" cy="1504950"/>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652385" y="5162550"/>
            <a:ext cx="643890" cy="1504950"/>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96275" y="5162550"/>
            <a:ext cx="643890" cy="1504950"/>
          </a:xfrm>
          <a:prstGeom prst="rect">
            <a:avLst/>
          </a:prstGeom>
          <a:solidFill>
            <a:srgbClr val="D8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40165" y="5162550"/>
            <a:ext cx="643890" cy="1504950"/>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584055" y="5162550"/>
            <a:ext cx="643890" cy="1504950"/>
          </a:xfrm>
          <a:prstGeom prst="rect">
            <a:avLst/>
          </a:prstGeom>
          <a:solidFill>
            <a:srgbClr val="E4F1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27945" y="5162550"/>
            <a:ext cx="643890" cy="1504950"/>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871835" y="5162550"/>
            <a:ext cx="643890" cy="1504950"/>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1572875" y="3695700"/>
            <a:ext cx="104775" cy="8096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1572875" y="3769042"/>
            <a:ext cx="104775" cy="80962"/>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1572875" y="3842385"/>
            <a:ext cx="104775" cy="80962"/>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1572875" y="3915728"/>
            <a:ext cx="104775" cy="80962"/>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1572875" y="3989070"/>
            <a:ext cx="104775" cy="80962"/>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1572875" y="4062412"/>
            <a:ext cx="104775" cy="80962"/>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1572875" y="4135755"/>
            <a:ext cx="104775" cy="80962"/>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1572875" y="4209098"/>
            <a:ext cx="104775" cy="80962"/>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1572875" y="4282440"/>
            <a:ext cx="104775" cy="80962"/>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1572875" y="4355782"/>
            <a:ext cx="104775" cy="80962"/>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1572875" y="4429125"/>
            <a:ext cx="104775" cy="80962"/>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1572875" y="4502468"/>
            <a:ext cx="104775" cy="80962"/>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1572875" y="4575810"/>
            <a:ext cx="104775" cy="80962"/>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1572875" y="4649152"/>
            <a:ext cx="104775" cy="80962"/>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1572875" y="4722495"/>
            <a:ext cx="104775" cy="80962"/>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1572875" y="4795838"/>
            <a:ext cx="104775" cy="80962"/>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1572875" y="4869180"/>
            <a:ext cx="104775" cy="80962"/>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1572875" y="4942522"/>
            <a:ext cx="104775" cy="80962"/>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1572875" y="5015865"/>
            <a:ext cx="104775" cy="80962"/>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1572875" y="5089208"/>
            <a:ext cx="104775" cy="80962"/>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1572875" y="5162550"/>
            <a:ext cx="104775" cy="80962"/>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1572875" y="5235892"/>
            <a:ext cx="104775" cy="80962"/>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1572875" y="5309235"/>
            <a:ext cx="104775" cy="80962"/>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1572875" y="5382578"/>
            <a:ext cx="104775" cy="80962"/>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1572875" y="5455920"/>
            <a:ext cx="104775" cy="80962"/>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1572875" y="5529262"/>
            <a:ext cx="104775" cy="80962"/>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1572875" y="5602605"/>
            <a:ext cx="104775" cy="80962"/>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1572875" y="5675948"/>
            <a:ext cx="104775" cy="80962"/>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11572875" y="5749290"/>
            <a:ext cx="104775" cy="80962"/>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1572875" y="5822632"/>
            <a:ext cx="104775" cy="80962"/>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1572875" y="5895975"/>
            <a:ext cx="104775" cy="80962"/>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1572875" y="5969318"/>
            <a:ext cx="104775" cy="80962"/>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1572875" y="6042660"/>
            <a:ext cx="104775" cy="80962"/>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6116002"/>
            <a:ext cx="104775" cy="80962"/>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6189345"/>
            <a:ext cx="104775" cy="80962"/>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6262688"/>
            <a:ext cx="104775" cy="80962"/>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6336030"/>
            <a:ext cx="104775" cy="80962"/>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6409373"/>
            <a:ext cx="104775" cy="80962"/>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6482715"/>
            <a:ext cx="104775" cy="80962"/>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6556058"/>
            <a:ext cx="104775" cy="80962"/>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3695700"/>
            <a:ext cx="104775" cy="293370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1687175" y="3629025"/>
            <a:ext cx="276225" cy="133350"/>
          </a:xfrm>
          <a:prstGeom prst="rect">
            <a:avLst/>
          </a:prstGeom>
          <a:noFill/>
        </p:spPr>
        <p:txBody>
          <a:bodyPr wrap="none" lIns="0" rIns="0" tIns="0" bIns="0" anchor="ctr">
            <a:spAutoFit/>
          </a:bodyPr>
          <a:lstStyle/>
          <a:p>
            <a:pPr algn="l"/>
            <a:r>
              <a:rPr sz="700" b="0">
                <a:solidFill>
                  <a:srgbClr val="6C7A89"/>
                </a:solidFill>
                <a:latin typeface="Calibri"/>
              </a:rPr>
              <a:t>24%</a:t>
            </a:r>
          </a:p>
        </p:txBody>
      </p:sp>
      <p:sp>
        <p:nvSpPr>
          <p:cNvPr id="106" name="TextBox 105"/>
          <p:cNvSpPr txBox="1"/>
          <p:nvPr/>
        </p:nvSpPr>
        <p:spPr>
          <a:xfrm>
            <a:off x="11687175" y="5095875"/>
            <a:ext cx="276225" cy="133350"/>
          </a:xfrm>
          <a:prstGeom prst="rect">
            <a:avLst/>
          </a:prstGeom>
          <a:noFill/>
        </p:spPr>
        <p:txBody>
          <a:bodyPr wrap="none" lIns="0" rIns="0" tIns="0" bIns="0" anchor="ctr">
            <a:spAutoFit/>
          </a:bodyPr>
          <a:lstStyle/>
          <a:p>
            <a:pPr algn="l"/>
            <a:r>
              <a:rPr sz="700" b="0">
                <a:solidFill>
                  <a:srgbClr val="6C7A89"/>
                </a:solidFill>
                <a:latin typeface="Calibri"/>
              </a:rPr>
              <a:t>14%</a:t>
            </a:r>
          </a:p>
        </p:txBody>
      </p:sp>
      <p:sp>
        <p:nvSpPr>
          <p:cNvPr id="107" name="TextBox 106"/>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3%</a:t>
            </a:r>
          </a:p>
        </p:txBody>
      </p:sp>
      <p:sp>
        <p:nvSpPr>
          <p:cNvPr id="108" name="Rectangle 10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10" name="Rounded Rectangle 109">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11" name="Rounded Rectangle 110">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12" name="Rounded Rectangle 111">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Dosage / Concentration</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By Dosage / Concentration Segment Outlook</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Structure &amp; Attractiveness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Absolute $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Volume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Value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07</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By Dosage / Concentration Segment Outlook</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TextBox 10"/>
          <p:cNvSpPr txBox="1"/>
          <p:nvPr/>
        </p:nvSpPr>
        <p:spPr>
          <a:xfrm>
            <a:off x="323850" y="857250"/>
            <a:ext cx="11544300" cy="323850"/>
          </a:xfrm>
          <a:prstGeom prst="rect">
            <a:avLst/>
          </a:prstGeom>
          <a:noFill/>
        </p:spPr>
        <p:txBody>
          <a:bodyPr wrap="square" lIns="28575" rIns="28575" tIns="9525" bIns="9525">
            <a:spAutoFit/>
          </a:bodyPr>
          <a:lstStyle/>
          <a:p>
            <a:pPr algn="l"/>
            <a:r>
              <a:rPr sz="1150" b="0">
                <a:solidFill>
                  <a:srgbClr val="2E2E2E"/>
                </a:solidFill>
                <a:latin typeface="Calibri"/>
              </a:rPr>
              <a:t>The Dosage / Concentration segment categorizes the market by dosage / concentration. Each sub-category is evaluated on market size, growth outlook and adoption trends across the forecast period.</a:t>
            </a:r>
          </a:p>
        </p:txBody>
      </p:sp>
      <p:sp>
        <p:nvSpPr>
          <p:cNvPr id="12" name="Rectangle 11"/>
          <p:cNvSpPr/>
          <p:nvPr/>
        </p:nvSpPr>
        <p:spPr>
          <a:xfrm>
            <a:off x="323850" y="1657350"/>
            <a:ext cx="1428750" cy="457200"/>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657350"/>
            <a:ext cx="1295400" cy="457200"/>
          </a:xfrm>
          <a:prstGeom prst="rect">
            <a:avLst/>
          </a:prstGeom>
          <a:noFill/>
        </p:spPr>
        <p:txBody>
          <a:bodyPr wrap="square" lIns="28575" rIns="28575" tIns="9525" bIns="9525" anchor="ctr">
            <a:spAutoFit/>
          </a:bodyPr>
          <a:lstStyle/>
          <a:p>
            <a:pPr algn="l"/>
            <a:r>
              <a:rPr sz="1050" b="1">
                <a:solidFill>
                  <a:srgbClr val="0B2E4A"/>
                </a:solidFill>
                <a:latin typeface="Calibri"/>
              </a:rPr>
              <a:t>Sub-Segment</a:t>
            </a:r>
          </a:p>
        </p:txBody>
      </p:sp>
      <p:sp>
        <p:nvSpPr>
          <p:cNvPr id="14" name="Rectangle 13"/>
          <p:cNvSpPr/>
          <p:nvPr/>
        </p:nvSpPr>
        <p:spPr>
          <a:xfrm>
            <a:off x="323850" y="21336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1336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2026 Value (US$ Mn)</a:t>
            </a:r>
          </a:p>
        </p:txBody>
      </p:sp>
      <p:sp>
        <p:nvSpPr>
          <p:cNvPr id="16" name="Rectangle 15"/>
          <p:cNvSpPr/>
          <p:nvPr/>
        </p:nvSpPr>
        <p:spPr>
          <a:xfrm>
            <a:off x="323850" y="264795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64795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2036 Value (US$ Mn)</a:t>
            </a:r>
          </a:p>
        </p:txBody>
      </p:sp>
      <p:sp>
        <p:nvSpPr>
          <p:cNvPr id="18" name="Rectangle 17"/>
          <p:cNvSpPr/>
          <p:nvPr/>
        </p:nvSpPr>
        <p:spPr>
          <a:xfrm>
            <a:off x="323850" y="31623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1623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CAGR (2026–2036)</a:t>
            </a:r>
          </a:p>
        </p:txBody>
      </p:sp>
      <p:sp>
        <p:nvSpPr>
          <p:cNvPr id="20" name="Rounded Rectangle 19"/>
          <p:cNvSpPr/>
          <p:nvPr/>
        </p:nvSpPr>
        <p:spPr>
          <a:xfrm>
            <a:off x="1866900" y="1657350"/>
            <a:ext cx="2414588"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885950"/>
            <a:ext cx="2414588"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80 mg</a:t>
            </a:r>
          </a:p>
        </p:txBody>
      </p:sp>
      <p:sp>
        <p:nvSpPr>
          <p:cNvPr id="23" name="Rectangle 22"/>
          <p:cNvSpPr/>
          <p:nvPr/>
        </p:nvSpPr>
        <p:spPr>
          <a:xfrm>
            <a:off x="1866900"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687.1</a:t>
            </a:r>
          </a:p>
        </p:txBody>
      </p:sp>
      <p:sp>
        <p:nvSpPr>
          <p:cNvPr id="24" name="Rectangle 23"/>
          <p:cNvSpPr/>
          <p:nvPr/>
        </p:nvSpPr>
        <p:spPr>
          <a:xfrm>
            <a:off x="1866900"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1,442</a:t>
            </a:r>
          </a:p>
        </p:txBody>
      </p:sp>
      <p:sp>
        <p:nvSpPr>
          <p:cNvPr id="25" name="Rectangle 24"/>
          <p:cNvSpPr/>
          <p:nvPr/>
        </p:nvSpPr>
        <p:spPr>
          <a:xfrm>
            <a:off x="1866900"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7.7%</a:t>
            </a:r>
          </a:p>
        </p:txBody>
      </p:sp>
      <p:sp>
        <p:nvSpPr>
          <p:cNvPr id="26" name="Oval 25"/>
          <p:cNvSpPr/>
          <p:nvPr/>
        </p:nvSpPr>
        <p:spPr>
          <a:xfrm>
            <a:off x="2912269"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4395788" y="1657350"/>
            <a:ext cx="2414588"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95788" y="1885950"/>
            <a:ext cx="2414588"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3888"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40 mg</a:t>
            </a:r>
          </a:p>
        </p:txBody>
      </p:sp>
      <p:sp>
        <p:nvSpPr>
          <p:cNvPr id="30" name="Rectangle 29"/>
          <p:cNvSpPr/>
          <p:nvPr/>
        </p:nvSpPr>
        <p:spPr>
          <a:xfrm>
            <a:off x="4395788"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632.6</a:t>
            </a:r>
          </a:p>
        </p:txBody>
      </p:sp>
      <p:sp>
        <p:nvSpPr>
          <p:cNvPr id="31" name="Rectangle 30"/>
          <p:cNvSpPr/>
          <p:nvPr/>
        </p:nvSpPr>
        <p:spPr>
          <a:xfrm>
            <a:off x="4395788"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1,459</a:t>
            </a:r>
          </a:p>
        </p:txBody>
      </p:sp>
      <p:sp>
        <p:nvSpPr>
          <p:cNvPr id="32" name="Rectangle 31"/>
          <p:cNvSpPr/>
          <p:nvPr/>
        </p:nvSpPr>
        <p:spPr>
          <a:xfrm>
            <a:off x="4395788"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8.7%</a:t>
            </a:r>
          </a:p>
        </p:txBody>
      </p:sp>
      <p:sp>
        <p:nvSpPr>
          <p:cNvPr id="33" name="Oval 32"/>
          <p:cNvSpPr/>
          <p:nvPr/>
        </p:nvSpPr>
        <p:spPr>
          <a:xfrm>
            <a:off x="5441156"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6924675" y="1657350"/>
            <a:ext cx="2414588" cy="457200"/>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24675" y="1885950"/>
            <a:ext cx="2414588" cy="22860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62775"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20 mg</a:t>
            </a:r>
          </a:p>
        </p:txBody>
      </p:sp>
      <p:sp>
        <p:nvSpPr>
          <p:cNvPr id="37" name="Rectangle 36"/>
          <p:cNvSpPr/>
          <p:nvPr/>
        </p:nvSpPr>
        <p:spPr>
          <a:xfrm>
            <a:off x="6924675"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463.2</a:t>
            </a:r>
          </a:p>
        </p:txBody>
      </p:sp>
      <p:sp>
        <p:nvSpPr>
          <p:cNvPr id="38" name="Rectangle 37"/>
          <p:cNvSpPr/>
          <p:nvPr/>
        </p:nvSpPr>
        <p:spPr>
          <a:xfrm>
            <a:off x="6924675"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1,111</a:t>
            </a:r>
          </a:p>
        </p:txBody>
      </p:sp>
      <p:sp>
        <p:nvSpPr>
          <p:cNvPr id="39" name="Rectangle 38"/>
          <p:cNvSpPr/>
          <p:nvPr/>
        </p:nvSpPr>
        <p:spPr>
          <a:xfrm>
            <a:off x="6924675"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9.1%</a:t>
            </a:r>
          </a:p>
        </p:txBody>
      </p:sp>
      <p:sp>
        <p:nvSpPr>
          <p:cNvPr id="40" name="Oval 39"/>
          <p:cNvSpPr/>
          <p:nvPr/>
        </p:nvSpPr>
        <p:spPr>
          <a:xfrm>
            <a:off x="7970044" y="1314450"/>
            <a:ext cx="323850" cy="323850"/>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9453562" y="1657350"/>
            <a:ext cx="2414588" cy="457200"/>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453562" y="1885950"/>
            <a:ext cx="2414588" cy="2286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91662"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100 mg/mL</a:t>
            </a:r>
          </a:p>
        </p:txBody>
      </p:sp>
      <p:sp>
        <p:nvSpPr>
          <p:cNvPr id="44" name="Rectangle 43"/>
          <p:cNvSpPr/>
          <p:nvPr/>
        </p:nvSpPr>
        <p:spPr>
          <a:xfrm>
            <a:off x="9453562"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191.4</a:t>
            </a:r>
          </a:p>
        </p:txBody>
      </p:sp>
      <p:sp>
        <p:nvSpPr>
          <p:cNvPr id="45" name="Rectangle 44"/>
          <p:cNvSpPr/>
          <p:nvPr/>
        </p:nvSpPr>
        <p:spPr>
          <a:xfrm>
            <a:off x="9453562"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462.9</a:t>
            </a:r>
          </a:p>
        </p:txBody>
      </p:sp>
      <p:sp>
        <p:nvSpPr>
          <p:cNvPr id="46" name="Rectangle 45"/>
          <p:cNvSpPr/>
          <p:nvPr/>
        </p:nvSpPr>
        <p:spPr>
          <a:xfrm>
            <a:off x="9453562"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9.2%</a:t>
            </a:r>
          </a:p>
        </p:txBody>
      </p:sp>
      <p:sp>
        <p:nvSpPr>
          <p:cNvPr id="47" name="Oval 46"/>
          <p:cNvSpPr/>
          <p:nvPr/>
        </p:nvSpPr>
        <p:spPr>
          <a:xfrm>
            <a:off x="10498931" y="1314450"/>
            <a:ext cx="323850" cy="323850"/>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323850" y="3829050"/>
            <a:ext cx="323850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3924300"/>
            <a:ext cx="2971800" cy="190500"/>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0" name="Rectangle 49"/>
          <p:cNvSpPr/>
          <p:nvPr/>
        </p:nvSpPr>
        <p:spPr>
          <a:xfrm>
            <a:off x="457200" y="4133850"/>
            <a:ext cx="2971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4210050"/>
            <a:ext cx="297180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'80 mg' holds the largest share in 2026 35% of segment value.</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'100 mg/mL' is the fastest-growing sub-segment at 9.2% CAGR through 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Segment value expands from 1,974 to 4,475 US$ Mn across 2026–2036.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4 sub-segments make up the dosage / concentration landscape.</a:t>
            </a:r>
          </a:p>
        </p:txBody>
      </p:sp>
      <p:sp>
        <p:nvSpPr>
          <p:cNvPr id="52" name="Rounded Rectangle 51"/>
          <p:cNvSpPr/>
          <p:nvPr/>
        </p:nvSpPr>
        <p:spPr>
          <a:xfrm>
            <a:off x="3676650" y="3829050"/>
            <a:ext cx="447675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3924300"/>
            <a:ext cx="4210050" cy="190500"/>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4" name="Rectangle 53"/>
          <p:cNvSpPr/>
          <p:nvPr/>
        </p:nvSpPr>
        <p:spPr>
          <a:xfrm>
            <a:off x="3810000" y="4133850"/>
            <a:ext cx="42100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10000" y="4210050"/>
            <a:ext cx="42100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900" b="0">
                <a:solidFill>
                  <a:srgbClr val="0B2E4A"/>
                </a:solidFill>
                <a:latin typeface="Calibri"/>
              </a:rPr>
              <a:t>●  </a:t>
            </a:r>
            <a:r>
              <a:rPr sz="1000" b="1">
                <a:solidFill>
                  <a:srgbClr val="0B2E4A"/>
                </a:solidFill>
                <a:latin typeface="Calibri"/>
              </a:rPr>
              <a:t>80 mg: </a:t>
            </a:r>
            <a:r>
              <a:rPr sz="1000" b="0">
                <a:solidFill>
                  <a:srgbClr val="2E2E2E"/>
                </a:solidFill>
                <a:latin typeface="Calibri"/>
              </a:rPr>
              <a:t>35% of 2026 value · 7.7% CAGR leads the segment.</a:t>
            </a:r>
          </a:p>
          <a:p>
            <a:pPr algn="l">
              <a:lnSpc>
                <a:spcPct val="110000"/>
              </a:lnSpc>
              <a:spcBef>
                <a:spcPts val="0"/>
              </a:spcBef>
              <a:spcAft>
                <a:spcPts val="500"/>
              </a:spcAft>
            </a:pPr>
            <a:r>
              <a:rPr sz="900" b="0">
                <a:solidFill>
                  <a:srgbClr val="0E72AE"/>
                </a:solidFill>
                <a:latin typeface="Calibri"/>
              </a:rPr>
              <a:t>●  </a:t>
            </a:r>
            <a:r>
              <a:rPr sz="1000" b="1">
                <a:solidFill>
                  <a:srgbClr val="0E72AE"/>
                </a:solidFill>
                <a:latin typeface="Calibri"/>
              </a:rPr>
              <a:t>40 mg: </a:t>
            </a:r>
            <a:r>
              <a:rPr sz="1000" b="0">
                <a:solidFill>
                  <a:srgbClr val="2E2E2E"/>
                </a:solidFill>
                <a:latin typeface="Calibri"/>
              </a:rPr>
              <a:t>32% of 2026 value · 8.7% CAGR serves a niche.</a:t>
            </a:r>
          </a:p>
          <a:p>
            <a:pPr algn="l">
              <a:lnSpc>
                <a:spcPct val="110000"/>
              </a:lnSpc>
              <a:spcBef>
                <a:spcPts val="0"/>
              </a:spcBef>
              <a:spcAft>
                <a:spcPts val="500"/>
              </a:spcAft>
            </a:pPr>
            <a:r>
              <a:rPr sz="900" b="0">
                <a:solidFill>
                  <a:srgbClr val="008189"/>
                </a:solidFill>
                <a:latin typeface="Calibri"/>
              </a:rPr>
              <a:t>●  </a:t>
            </a:r>
            <a:r>
              <a:rPr sz="1000" b="1">
                <a:solidFill>
                  <a:srgbClr val="008189"/>
                </a:solidFill>
                <a:latin typeface="Calibri"/>
              </a:rPr>
              <a:t>20 mg: </a:t>
            </a:r>
            <a:r>
              <a:rPr sz="1000" b="0">
                <a:solidFill>
                  <a:srgbClr val="2E2E2E"/>
                </a:solidFill>
                <a:latin typeface="Calibri"/>
              </a:rPr>
              <a:t>23% of 2026 value · 9.1% CAGR serves a niche.</a:t>
            </a:r>
          </a:p>
          <a:p>
            <a:pPr algn="l">
              <a:lnSpc>
                <a:spcPct val="110000"/>
              </a:lnSpc>
              <a:spcBef>
                <a:spcPts val="0"/>
              </a:spcBef>
              <a:spcAft>
                <a:spcPts val="500"/>
              </a:spcAft>
            </a:pPr>
            <a:r>
              <a:rPr sz="900" b="0">
                <a:solidFill>
                  <a:srgbClr val="6F3CC2"/>
                </a:solidFill>
                <a:latin typeface="Calibri"/>
              </a:rPr>
              <a:t>●  </a:t>
            </a:r>
            <a:r>
              <a:rPr sz="1000" b="1">
                <a:solidFill>
                  <a:srgbClr val="6F3CC2"/>
                </a:solidFill>
                <a:latin typeface="Calibri"/>
              </a:rPr>
              <a:t>100 mg/mL: </a:t>
            </a:r>
            <a:r>
              <a:rPr sz="1000" b="0">
                <a:solidFill>
                  <a:srgbClr val="2E2E2E"/>
                </a:solidFill>
                <a:latin typeface="Calibri"/>
              </a:rPr>
              <a:t>10% of 2026 value · 9.2% CAGR grows fastest.</a:t>
            </a:r>
          </a:p>
        </p:txBody>
      </p:sp>
      <p:sp>
        <p:nvSpPr>
          <p:cNvPr id="56" name="Rounded Rectangle 55"/>
          <p:cNvSpPr/>
          <p:nvPr/>
        </p:nvSpPr>
        <p:spPr>
          <a:xfrm>
            <a:off x="8267700" y="3829050"/>
            <a:ext cx="3600450" cy="2686050"/>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3924300"/>
            <a:ext cx="3333750" cy="190500"/>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8" name="Rectangle 57"/>
          <p:cNvSpPr/>
          <p:nvPr/>
        </p:nvSpPr>
        <p:spPr>
          <a:xfrm>
            <a:off x="8401050" y="4133850"/>
            <a:ext cx="33337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01050" y="4210050"/>
            <a:ext cx="33337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The Dosage / Concentration split shows how demand is distributed across dosage / concentration types and where growth concentrates.</a:t>
            </a:r>
          </a:p>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Shifting preferences and product innovation are reshaping the mix through 2036.</a:t>
            </a:r>
          </a:p>
        </p:txBody>
      </p:sp>
      <p:sp>
        <p:nvSpPr>
          <p:cNvPr id="60" name="Rectangle 59"/>
          <p:cNvSpPr/>
          <p:nvPr/>
        </p:nvSpPr>
        <p:spPr>
          <a:xfrm>
            <a:off x="8401050" y="5810250"/>
            <a:ext cx="3333750" cy="552450"/>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401050" y="5810250"/>
            <a:ext cx="38100" cy="5524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96300" y="5848350"/>
            <a:ext cx="3219450" cy="476250"/>
          </a:xfrm>
          <a:prstGeom prst="rect">
            <a:avLst/>
          </a:prstGeom>
          <a:noFill/>
        </p:spPr>
        <p:txBody>
          <a:bodyPr wrap="square" lIns="28575" rIns="28575" tIns="9525" bIns="9525" anchor="ctr">
            <a:spAutoFit/>
          </a:bodyPr>
          <a:lstStyle/>
          <a:p>
            <a:pPr algn="l"/>
            <a:r>
              <a:rPr sz="1150" b="1">
                <a:solidFill>
                  <a:srgbClr val="0B2E4A"/>
                </a:solidFill>
                <a:latin typeface="Calibri"/>
              </a:rPr>
              <a:t>The Dosage / Concentration segment is projected to grow at a CAGR of 8.5% from 2026 to 2036.</a:t>
            </a:r>
          </a:p>
        </p:txBody>
      </p:sp>
      <p:sp>
        <p:nvSpPr>
          <p:cNvPr id="63" name="TextBox 62"/>
          <p:cNvSpPr txBox="1"/>
          <p:nvPr/>
        </p:nvSpPr>
        <p:spPr>
          <a:xfrm>
            <a:off x="323850" y="6591300"/>
            <a:ext cx="3048000" cy="133350"/>
          </a:xfrm>
          <a:prstGeom prst="rect">
            <a:avLst/>
          </a:prstGeom>
          <a:noFill/>
        </p:spPr>
        <p:txBody>
          <a:bodyPr wrap="none">
            <a:spAutoFit/>
          </a:bodyPr>
          <a:lstStyle/>
          <a:p>
            <a:r>
              <a:rPr sz="800" i="1">
                <a:solidFill>
                  <a:srgbClr val="6C7A89"/>
                </a:solidFill>
                <a:latin typeface="Calibri"/>
              </a:rPr>
              <a:t>Source: FMI Analysis, 2026</a:t>
            </a:r>
          </a:p>
        </p:txBody>
      </p:sp>
      <p:sp>
        <p:nvSpPr>
          <p:cNvPr id="64" name="Rectangle 6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6" name="Rounded Rectangle 6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7" name="Rounded Rectangle 6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8" name="Rounded Rectangle 6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Structure &amp; Attractiveness, By Dosage / Concentration (Value)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6343650"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Dosage / Concentration mix within each country (share of 2036 value) · row label = country size (US$ Mn), largest first</a:t>
            </a:r>
          </a:p>
        </p:txBody>
      </p:sp>
      <p:graphicFrame>
        <p:nvGraphicFramePr>
          <p:cNvPr id="13" name="Chart 12"/>
          <p:cNvGraphicFramePr>
            <a:graphicFrameLocks noGrp="1"/>
          </p:cNvGraphicFramePr>
          <p:nvPr/>
        </p:nvGraphicFramePr>
        <p:xfrm>
          <a:off x="238125" y="1314450"/>
          <a:ext cx="6153150" cy="39243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857250"/>
            <a:ext cx="5400675"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914400"/>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Dosage / Concentration (bubble = 2036 size)</a:t>
            </a:r>
          </a:p>
        </p:txBody>
      </p:sp>
      <p:graphicFrame>
        <p:nvGraphicFramePr>
          <p:cNvPr id="16" name="Chart 15"/>
          <p:cNvGraphicFramePr>
            <a:graphicFrameLocks noGrp="1"/>
          </p:cNvGraphicFramePr>
          <p:nvPr/>
        </p:nvGraphicFramePr>
        <p:xfrm>
          <a:off x="6734175" y="1143000"/>
          <a:ext cx="5210175" cy="40957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29250"/>
            <a:ext cx="11906250" cy="1295400"/>
          </a:xfrm>
          <a:prstGeom prst="roundRect">
            <a:avLst>
              <a:gd name="adj" fmla="val 58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Between 2026 and 2036, '20 mg' gains the most share in the North America market (+136 BPS) while '80 mg' cedes 257 BPS. Bubbles right of the CAGR-Index line grow faster than the segment average.</a:t>
            </a:r>
          </a:p>
        </p:txBody>
      </p:sp>
      <p:sp>
        <p:nvSpPr>
          <p:cNvPr id="18" name="Rectangle 1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0" name="Rounded Rectangle 19">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Absolute $ Opportunity Analysis, By Dosage / Concentration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2021–2025 (US$ Mn)</a:t>
            </a:r>
          </a:p>
        </p:txBody>
      </p:sp>
      <p:graphicFrame>
        <p:nvGraphicFramePr>
          <p:cNvPr id="13" name="Chart 12"/>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2026–2031 (US$ Mn)</a:t>
            </a:r>
          </a:p>
        </p:txBody>
      </p:sp>
      <p:graphicFrame>
        <p:nvGraphicFramePr>
          <p:cNvPr id="16" name="Chart 15"/>
          <p:cNvGraphicFramePr>
            <a:graphicFrameLocks noGrp="1"/>
          </p:cNvGraphicFramePr>
          <p:nvPr/>
        </p:nvGraphicFramePr>
        <p:xfrm>
          <a:off x="6267450" y="1143000"/>
          <a:ext cx="5686425" cy="25241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2031–2036 (US$ Mn)</a:t>
            </a:r>
          </a:p>
        </p:txBody>
      </p:sp>
      <p:graphicFrame>
        <p:nvGraphicFramePr>
          <p:cNvPr id="19" name="Chart 18"/>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Dosage / Concentration (2026–2036)</a:t>
            </a:r>
          </a:p>
        </p:txBody>
      </p:sp>
      <p:graphicFrame>
        <p:nvGraphicFramePr>
          <p:cNvPr id="22" name="Table 21"/>
          <p:cNvGraphicFramePr>
            <a:graphicFrameLocks noGrp="1"/>
          </p:cNvGraphicFramePr>
          <p:nvPr/>
        </p:nvGraphicFramePr>
        <p:xfrm>
          <a:off x="6267450" y="4143375"/>
          <a:ext cx="5686426" cy="904875"/>
        </p:xfrm>
        <a:graphic>
          <a:graphicData uri="http://schemas.openxmlformats.org/drawingml/2006/table">
            <a:tbl>
              <a:tblPr>
                <a:tableStyleId>{5C22544A-7EE6-4342-B048-85BDC9FD1C3A}</a:tableStyleId>
              </a:tblPr>
              <a:tblGrid>
                <a:gridCol w="1705928"/>
                <a:gridCol w="1990249"/>
                <a:gridCol w="1990249"/>
              </a:tblGrid>
              <a:tr h="180975">
                <a:tc>
                  <a:txBody>
                    <a:bodyPr wrap="none"/>
                    <a:lstStyle/>
                    <a:p>
                      <a:pPr algn="l"/>
                      <a:r>
                        <a:rPr sz="900" b="1">
                          <a:solidFill>
                            <a:srgbClr val="0B2E4A"/>
                          </a:solidFill>
                          <a:latin typeface="Calibri"/>
                        </a:rPr>
                        <a:t>Dosage / Concentration</a:t>
                      </a:r>
                    </a:p>
                  </a:txBody>
                  <a:tcPr marL="85725" marR="38100" marT="19050" marB="19050" anchor="ctr">
                    <a:solidFill>
                      <a:srgbClr val="E0E8EF"/>
                    </a:solidFill>
                  </a:tcPr>
                </a:tc>
                <a:tc>
                  <a:txBody>
                    <a:bodyPr wrap="none"/>
                    <a:lstStyle/>
                    <a:p>
                      <a:pPr algn="l"/>
                      <a:r>
                        <a:rPr sz="900" b="1">
                          <a:solidFill>
                            <a:srgbClr val="0B2E4A"/>
                          </a:solidFill>
                          <a:latin typeface="Calibri"/>
                        </a:rPr>
                        <a:t>Absolute $ Opportunity (US$ Mn)</a:t>
                      </a:r>
                    </a:p>
                  </a:txBody>
                  <a:tcPr marL="85725" marR="38100" marT="19050" marB="19050" anchor="ctr">
                    <a:solidFill>
                      <a:srgbClr val="E0E8EF"/>
                    </a:solidFill>
                  </a:tcPr>
                </a:tc>
                <a:tc>
                  <a:txBody>
                    <a:bodyPr wrap="none"/>
                    <a:lstStyle/>
                    <a:p>
                      <a:pPr algn="l"/>
                      <a:r>
                        <a:rPr sz="900" b="1">
                          <a:solidFill>
                            <a:srgbClr val="0B2E4A"/>
                          </a:solidFill>
                          <a:latin typeface="Calibri"/>
                        </a:rPr>
                        <a:t>Share of Increment</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20 mg</a:t>
                      </a:r>
                    </a:p>
                  </a:txBody>
                  <a:tcPr marL="85725" marR="38100" marT="19050" marB="19050" anchor="ctr">
                    <a:solidFill>
                      <a:srgbClr val="FFFFFF"/>
                    </a:solidFill>
                  </a:tcPr>
                </a:tc>
                <a:tc>
                  <a:txBody>
                    <a:bodyPr wrap="none"/>
                    <a:lstStyle/>
                    <a:p>
                      <a:pPr algn="l"/>
                      <a:r>
                        <a:rPr sz="900" b="0">
                          <a:solidFill>
                            <a:srgbClr val="2E2E2E"/>
                          </a:solidFill>
                          <a:latin typeface="Calibri"/>
                        </a:rPr>
                        <a:t>647.5</a:t>
                      </a:r>
                    </a:p>
                  </a:txBody>
                  <a:tcPr marL="85725" marR="38100" marT="19050" marB="19050" anchor="ctr">
                    <a:solidFill>
                      <a:srgbClr val="FFFFFF"/>
                    </a:solidFill>
                  </a:tcPr>
                </a:tc>
                <a:tc>
                  <a:txBody>
                    <a:bodyPr wrap="none"/>
                    <a:lstStyle/>
                    <a:p>
                      <a:pPr algn="l"/>
                      <a:r>
                        <a:rPr sz="900" b="0">
                          <a:solidFill>
                            <a:srgbClr val="2E2E2E"/>
                          </a:solidFill>
                          <a:latin typeface="Calibri"/>
                        </a:rPr>
                        <a:t>25.9%</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40 mg</a:t>
                      </a:r>
                    </a:p>
                  </a:txBody>
                  <a:tcPr marL="85725" marR="38100" marT="19050" marB="19050" anchor="ctr">
                    <a:solidFill>
                      <a:srgbClr val="F5F8FA"/>
                    </a:solidFill>
                  </a:tcPr>
                </a:tc>
                <a:tc>
                  <a:txBody>
                    <a:bodyPr wrap="none"/>
                    <a:lstStyle/>
                    <a:p>
                      <a:pPr algn="l"/>
                      <a:r>
                        <a:rPr sz="900" b="0">
                          <a:solidFill>
                            <a:srgbClr val="2E2E2E"/>
                          </a:solidFill>
                          <a:latin typeface="Calibri"/>
                        </a:rPr>
                        <a:t>826.2</a:t>
                      </a:r>
                    </a:p>
                  </a:txBody>
                  <a:tcPr marL="85725" marR="38100" marT="19050" marB="19050" anchor="ctr">
                    <a:solidFill>
                      <a:srgbClr val="F5F8FA"/>
                    </a:solidFill>
                  </a:tcPr>
                </a:tc>
                <a:tc>
                  <a:txBody>
                    <a:bodyPr wrap="none"/>
                    <a:lstStyle/>
                    <a:p>
                      <a:pPr algn="l"/>
                      <a:r>
                        <a:rPr sz="900" b="0">
                          <a:solidFill>
                            <a:srgbClr val="2E2E2E"/>
                          </a:solidFill>
                          <a:latin typeface="Calibri"/>
                        </a:rPr>
                        <a:t>33.0%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80 mg</a:t>
                      </a:r>
                    </a:p>
                  </a:txBody>
                  <a:tcPr marL="85725" marR="38100" marT="19050" marB="19050" anchor="ctr">
                    <a:solidFill>
                      <a:srgbClr val="FFFFFF"/>
                    </a:solidFill>
                  </a:tcPr>
                </a:tc>
                <a:tc>
                  <a:txBody>
                    <a:bodyPr wrap="none"/>
                    <a:lstStyle/>
                    <a:p>
                      <a:pPr algn="l"/>
                      <a:r>
                        <a:rPr sz="900" b="0">
                          <a:solidFill>
                            <a:srgbClr val="2E2E2E"/>
                          </a:solidFill>
                          <a:latin typeface="Calibri"/>
                        </a:rPr>
                        <a:t>755.3</a:t>
                      </a:r>
                    </a:p>
                  </a:txBody>
                  <a:tcPr marL="85725" marR="38100" marT="19050" marB="19050" anchor="ctr">
                    <a:solidFill>
                      <a:srgbClr val="FFFFFF"/>
                    </a:solidFill>
                  </a:tcPr>
                </a:tc>
                <a:tc>
                  <a:txBody>
                    <a:bodyPr wrap="none"/>
                    <a:lstStyle/>
                    <a:p>
                      <a:pPr algn="l"/>
                      <a:r>
                        <a:rPr sz="900" b="0">
                          <a:solidFill>
                            <a:srgbClr val="2E2E2E"/>
                          </a:solidFill>
                          <a:latin typeface="Calibri"/>
                        </a:rPr>
                        <a:t>30.2%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100 mg/mL</a:t>
                      </a:r>
                    </a:p>
                  </a:txBody>
                  <a:tcPr marL="85725" marR="38100" marT="19050" marB="19050" anchor="ctr">
                    <a:solidFill>
                      <a:srgbClr val="F5F8FA"/>
                    </a:solidFill>
                  </a:tcPr>
                </a:tc>
                <a:tc>
                  <a:txBody>
                    <a:bodyPr wrap="none"/>
                    <a:lstStyle/>
                    <a:p>
                      <a:pPr algn="l"/>
                      <a:r>
                        <a:rPr sz="900" b="0">
                          <a:solidFill>
                            <a:srgbClr val="2E2E2E"/>
                          </a:solidFill>
                          <a:latin typeface="Calibri"/>
                        </a:rPr>
                        <a:t>271.5</a:t>
                      </a:r>
                    </a:p>
                  </a:txBody>
                  <a:tcPr marL="85725" marR="38100" marT="19050" marB="19050" anchor="ctr">
                    <a:solidFill>
                      <a:srgbClr val="F5F8FA"/>
                    </a:solidFill>
                  </a:tcPr>
                </a:tc>
                <a:tc>
                  <a:txBody>
                    <a:bodyPr wrap="none"/>
                    <a:lstStyle/>
                    <a:p>
                      <a:pPr algn="l"/>
                      <a:r>
                        <a:rPr sz="900" b="0">
                          <a:solidFill>
                            <a:srgbClr val="2E2E2E"/>
                          </a:solidFill>
                          <a:latin typeface="Calibri"/>
                        </a:rPr>
                        <a:t>10.9%</a:t>
                      </a:r>
                    </a:p>
                  </a:txBody>
                  <a:tcPr marL="85725" marR="38100" marT="19050" marB="19050" anchor="ctr">
                    <a:solidFill>
                      <a:srgbClr val="F5F8FA"/>
                    </a:solidFill>
                  </a:tcPr>
                </a:tc>
              </a:tr>
            </a:tbl>
          </a:graphicData>
        </a:graphic>
      </p:graphicFrame>
      <p:sp>
        <p:nvSpPr>
          <p:cNvPr id="23" name="TextBox 22"/>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Volume Analysis, By Dosage / Concentration (Mn Doses)</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3133725"/>
          </a:xfrm>
          <a:prstGeom prst="roundRect">
            <a:avLst>
              <a:gd name="adj" fmla="val 24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Dosage / Concentration (Mn Doses)</a:t>
            </a:r>
          </a:p>
        </p:txBody>
      </p:sp>
      <p:graphicFrame>
        <p:nvGraphicFramePr>
          <p:cNvPr id="13" name="Table 12"/>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Dosage / Concentration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20 mg</a:t>
                      </a:r>
                    </a:p>
                  </a:txBody>
                  <a:tcPr marL="85725" marR="38100" marT="19050" marB="19050" anchor="ctr">
                    <a:solidFill>
                      <a:srgbClr val="FFFFFF"/>
                    </a:solidFill>
                  </a:tcPr>
                </a:tc>
                <a:tc>
                  <a:txBody>
                    <a:bodyPr wrap="none"/>
                    <a:lstStyle/>
                    <a:p>
                      <a:pPr algn="l"/>
                      <a:r>
                        <a:rPr sz="800" b="0">
                          <a:solidFill>
                            <a:srgbClr val="2E2E2E"/>
                          </a:solidFill>
                          <a:latin typeface="Calibri"/>
                        </a:rPr>
                        <a:t>0.39</a:t>
                      </a:r>
                    </a:p>
                  </a:txBody>
                  <a:tcPr marL="85725" marR="38100" marT="19050" marB="19050" anchor="ctr">
                    <a:solidFill>
                      <a:srgbClr val="FFFFFF"/>
                    </a:solidFill>
                  </a:tcPr>
                </a:tc>
                <a:tc>
                  <a:txBody>
                    <a:bodyPr wrap="none"/>
                    <a:lstStyle/>
                    <a:p>
                      <a:pPr algn="l"/>
                      <a:r>
                        <a:rPr sz="800" b="0">
                          <a:solidFill>
                            <a:srgbClr val="2E2E2E"/>
                          </a:solidFill>
                          <a:latin typeface="Calibri"/>
                        </a:rPr>
                        <a:t>0.46</a:t>
                      </a:r>
                    </a:p>
                  </a:txBody>
                  <a:tcPr marL="85725" marR="38100" marT="19050" marB="19050" anchor="ctr">
                    <a:solidFill>
                      <a:srgbClr val="FFFFFF"/>
                    </a:solidFill>
                  </a:tcPr>
                </a:tc>
                <a:tc>
                  <a:txBody>
                    <a:bodyPr wrap="none"/>
                    <a:lstStyle/>
                    <a:p>
                      <a:pPr algn="l"/>
                      <a:r>
                        <a:rPr sz="800" b="0">
                          <a:solidFill>
                            <a:srgbClr val="2E2E2E"/>
                          </a:solidFill>
                          <a:latin typeface="Calibri"/>
                        </a:rPr>
                        <a:t>0.57</a:t>
                      </a:r>
                    </a:p>
                  </a:txBody>
                  <a:tcPr marL="85725" marR="38100" marT="19050" marB="19050" anchor="ctr">
                    <a:solidFill>
                      <a:srgbClr val="FFFFFF"/>
                    </a:solidFill>
                  </a:tcPr>
                </a:tc>
                <a:tc>
                  <a:txBody>
                    <a:bodyPr wrap="none"/>
                    <a:lstStyle/>
                    <a:p>
                      <a:pPr algn="l"/>
                      <a:r>
                        <a:rPr sz="800" b="0">
                          <a:solidFill>
                            <a:srgbClr val="2E2E2E"/>
                          </a:solidFill>
                          <a:latin typeface="Calibri"/>
                        </a:rPr>
                        <a:t>0.74</a:t>
                      </a:r>
                    </a:p>
                  </a:txBody>
                  <a:tcPr marL="85725" marR="38100" marT="19050" marB="19050" anchor="ctr">
                    <a:solidFill>
                      <a:srgbClr val="FFFFFF"/>
                    </a:solidFill>
                  </a:tcPr>
                </a:tc>
                <a:tc>
                  <a:txBody>
                    <a:bodyPr wrap="none"/>
                    <a:lstStyle/>
                    <a:p>
                      <a:pPr algn="l"/>
                      <a:r>
                        <a:rPr sz="800" b="0">
                          <a:solidFill>
                            <a:srgbClr val="2E2E2E"/>
                          </a:solidFill>
                          <a:latin typeface="Calibri"/>
                        </a:rPr>
                        <a:t>0.94</a:t>
                      </a:r>
                    </a:p>
                  </a:txBody>
                  <a:tcPr marL="85725" marR="38100" marT="19050" marB="19050" anchor="ctr">
                    <a:solidFill>
                      <a:srgbClr val="FFFFFF"/>
                    </a:solidFill>
                  </a:tcPr>
                </a:tc>
                <a:tc>
                  <a:txBody>
                    <a:bodyPr wrap="none"/>
                    <a:lstStyle/>
                    <a:p>
                      <a:pPr algn="l"/>
                      <a:r>
                        <a:rPr sz="800" b="0">
                          <a:solidFill>
                            <a:srgbClr val="2E2E2E"/>
                          </a:solidFill>
                          <a:latin typeface="Calibri"/>
                        </a:rPr>
                        <a:t>1.15</a:t>
                      </a:r>
                    </a:p>
                  </a:txBody>
                  <a:tcPr marL="85725" marR="38100" marT="19050" marB="19050" anchor="ctr">
                    <a:solidFill>
                      <a:srgbClr val="FFFFFF"/>
                    </a:solidFill>
                  </a:tcPr>
                </a:tc>
                <a:tc>
                  <a:txBody>
                    <a:bodyPr wrap="none"/>
                    <a:lstStyle/>
                    <a:p>
                      <a:pPr algn="l"/>
                      <a:r>
                        <a:rPr sz="800" b="0">
                          <a:solidFill>
                            <a:srgbClr val="2E2E2E"/>
                          </a:solidFill>
                          <a:latin typeface="Calibri"/>
                        </a:rPr>
                        <a:t>1.38</a:t>
                      </a:r>
                    </a:p>
                  </a:txBody>
                  <a:tcPr marL="85725" marR="38100" marT="19050" marB="19050" anchor="ctr">
                    <a:solidFill>
                      <a:srgbClr val="FFFFFF"/>
                    </a:solidFill>
                  </a:tcPr>
                </a:tc>
                <a:tc>
                  <a:txBody>
                    <a:bodyPr wrap="none"/>
                    <a:lstStyle/>
                    <a:p>
                      <a:pPr algn="l"/>
                      <a:r>
                        <a:rPr sz="800" b="0">
                          <a:solidFill>
                            <a:srgbClr val="2E2E2E"/>
                          </a:solidFill>
                          <a:latin typeface="Calibri"/>
                        </a:rPr>
                        <a:t>1.63</a:t>
                      </a:r>
                    </a:p>
                  </a:txBody>
                  <a:tcPr marL="85725" marR="38100" marT="19050" marB="19050" anchor="ctr">
                    <a:solidFill>
                      <a:srgbClr val="FFFFFF"/>
                    </a:solidFill>
                  </a:tcPr>
                </a:tc>
                <a:tc>
                  <a:txBody>
                    <a:bodyPr wrap="none"/>
                    <a:lstStyle/>
                    <a:p>
                      <a:pPr algn="l"/>
                      <a:r>
                        <a:rPr sz="800" b="0">
                          <a:solidFill>
                            <a:srgbClr val="2E2E2E"/>
                          </a:solidFill>
                          <a:latin typeface="Calibri"/>
                        </a:rPr>
                        <a:t>1.89</a:t>
                      </a:r>
                    </a:p>
                  </a:txBody>
                  <a:tcPr marL="85725" marR="38100" marT="19050" marB="19050" anchor="ctr">
                    <a:solidFill>
                      <a:srgbClr val="FFFFFF"/>
                    </a:solidFill>
                  </a:tcPr>
                </a:tc>
                <a:tc>
                  <a:txBody>
                    <a:bodyPr wrap="none"/>
                    <a:lstStyle/>
                    <a:p>
                      <a:pPr algn="l"/>
                      <a:r>
                        <a:rPr sz="800" b="0">
                          <a:solidFill>
                            <a:srgbClr val="2E2E2E"/>
                          </a:solidFill>
                          <a:latin typeface="Calibri"/>
                        </a:rPr>
                        <a:t>2.17</a:t>
                      </a:r>
                    </a:p>
                  </a:txBody>
                  <a:tcPr marL="85725" marR="38100" marT="19050" marB="19050" anchor="ctr">
                    <a:solidFill>
                      <a:srgbClr val="FFFFFF"/>
                    </a:solidFill>
                  </a:tcPr>
                </a:tc>
                <a:tc>
                  <a:txBody>
                    <a:bodyPr wrap="none"/>
                    <a:lstStyle/>
                    <a:p>
                      <a:pPr algn="l"/>
                      <a:r>
                        <a:rPr sz="800" b="0">
                          <a:solidFill>
                            <a:srgbClr val="2E2E2E"/>
                          </a:solidFill>
                          <a:latin typeface="Calibri"/>
                        </a:rPr>
                        <a:t>2.47</a:t>
                      </a:r>
                    </a:p>
                  </a:txBody>
                  <a:tcPr marL="85725" marR="38100" marT="19050" marB="19050" anchor="ctr">
                    <a:solidFill>
                      <a:srgbClr val="FFFFFF"/>
                    </a:solidFill>
                  </a:tcPr>
                </a:tc>
                <a:tc>
                  <a:txBody>
                    <a:bodyPr wrap="none"/>
                    <a:lstStyle/>
                    <a:p>
                      <a:pPr algn="l"/>
                      <a:r>
                        <a:rPr sz="800" b="0">
                          <a:solidFill>
                            <a:srgbClr val="2E2E2E"/>
                          </a:solidFill>
                          <a:latin typeface="Calibri"/>
                        </a:rPr>
                        <a:t>2.78</a:t>
                      </a:r>
                    </a:p>
                  </a:txBody>
                  <a:tcPr marL="85725" marR="38100" marT="19050" marB="19050" anchor="ctr">
                    <a:solidFill>
                      <a:srgbClr val="FFFFFF"/>
                    </a:solidFill>
                  </a:tcPr>
                </a:tc>
                <a:tc>
                  <a:txBody>
                    <a:bodyPr wrap="none"/>
                    <a:lstStyle/>
                    <a:p>
                      <a:pPr algn="l"/>
                      <a:r>
                        <a:rPr sz="800" b="0">
                          <a:solidFill>
                            <a:srgbClr val="2E2E2E"/>
                          </a:solidFill>
                          <a:latin typeface="Calibri"/>
                        </a:rPr>
                        <a:t>3.10</a:t>
                      </a:r>
                    </a:p>
                  </a:txBody>
                  <a:tcPr marL="85725" marR="38100" marT="19050" marB="19050" anchor="ctr">
                    <a:solidFill>
                      <a:srgbClr val="FFFFFF"/>
                    </a:solidFill>
                  </a:tcPr>
                </a:tc>
                <a:tc>
                  <a:txBody>
                    <a:bodyPr wrap="none"/>
                    <a:lstStyle/>
                    <a:p>
                      <a:pPr algn="l"/>
                      <a:r>
                        <a:rPr sz="800" b="0">
                          <a:solidFill>
                            <a:srgbClr val="2E2E2E"/>
                          </a:solidFill>
                          <a:latin typeface="Calibri"/>
                        </a:rPr>
                        <a:t>3.45</a:t>
                      </a:r>
                    </a:p>
                  </a:txBody>
                  <a:tcPr marL="85725" marR="38100" marT="19050" marB="19050" anchor="ctr">
                    <a:solidFill>
                      <a:srgbClr val="FFFFFF"/>
                    </a:solidFill>
                  </a:tcPr>
                </a:tc>
                <a:tc>
                  <a:txBody>
                    <a:bodyPr wrap="none"/>
                    <a:lstStyle/>
                    <a:p>
                      <a:pPr algn="l"/>
                      <a:r>
                        <a:rPr sz="800" b="0">
                          <a:solidFill>
                            <a:srgbClr val="2E2E2E"/>
                          </a:solidFill>
                          <a:latin typeface="Calibri"/>
                        </a:rPr>
                        <a:t>3.81</a:t>
                      </a:r>
                    </a:p>
                  </a:txBody>
                  <a:tcPr marL="85725" marR="38100" marT="19050" marB="19050" anchor="ctr">
                    <a:solidFill>
                      <a:srgbClr val="FFFFFF"/>
                    </a:solidFill>
                  </a:tcPr>
                </a:tc>
                <a:tc>
                  <a:txBody>
                    <a:bodyPr wrap="none"/>
                    <a:lstStyle/>
                    <a:p>
                      <a:pPr algn="l"/>
                      <a:r>
                        <a:rPr sz="800" b="0">
                          <a:solidFill>
                            <a:srgbClr val="2E2E2E"/>
                          </a:solidFill>
                          <a:latin typeface="Calibri"/>
                        </a:rPr>
                        <a:t>4.20</a:t>
                      </a:r>
                    </a:p>
                  </a:txBody>
                  <a:tcPr marL="85725" marR="38100" marT="19050" marB="19050" anchor="ctr">
                    <a:solidFill>
                      <a:srgbClr val="FFFFFF"/>
                    </a:solidFill>
                  </a:tcPr>
                </a:tc>
                <a:tc>
                  <a:txBody>
                    <a:bodyPr wrap="none"/>
                    <a:lstStyle/>
                    <a:p>
                      <a:pPr algn="l"/>
                      <a:r>
                        <a:rPr sz="800" b="0">
                          <a:solidFill>
                            <a:srgbClr val="2E2E2E"/>
                          </a:solidFill>
                          <a:latin typeface="Calibri"/>
                        </a:rPr>
                        <a:t>13.9%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40 mg</a:t>
                      </a:r>
                    </a:p>
                  </a:txBody>
                  <a:tcPr marL="85725" marR="38100" marT="19050" marB="19050" anchor="ctr">
                    <a:solidFill>
                      <a:srgbClr val="F5F8FA"/>
                    </a:solidFill>
                  </a:tcPr>
                </a:tc>
                <a:tc>
                  <a:txBody>
                    <a:bodyPr wrap="none"/>
                    <a:lstStyle/>
                    <a:p>
                      <a:pPr algn="l"/>
                      <a:r>
                        <a:rPr sz="800" b="0">
                          <a:solidFill>
                            <a:srgbClr val="2E2E2E"/>
                          </a:solidFill>
                          <a:latin typeface="Calibri"/>
                        </a:rPr>
                        <a:t>0.31</a:t>
                      </a:r>
                    </a:p>
                  </a:txBody>
                  <a:tcPr marL="85725" marR="38100" marT="19050" marB="19050" anchor="ctr">
                    <a:solidFill>
                      <a:srgbClr val="F5F8FA"/>
                    </a:solidFill>
                  </a:tcPr>
                </a:tc>
                <a:tc>
                  <a:txBody>
                    <a:bodyPr wrap="none"/>
                    <a:lstStyle/>
                    <a:p>
                      <a:pPr algn="l"/>
                      <a:r>
                        <a:rPr sz="800" b="0">
                          <a:solidFill>
                            <a:srgbClr val="2E2E2E"/>
                          </a:solidFill>
                          <a:latin typeface="Calibri"/>
                        </a:rPr>
                        <a:t>0.36</a:t>
                      </a:r>
                    </a:p>
                  </a:txBody>
                  <a:tcPr marL="85725" marR="38100" marT="19050" marB="19050" anchor="ctr">
                    <a:solidFill>
                      <a:srgbClr val="F5F8FA"/>
                    </a:solidFill>
                  </a:tcPr>
                </a:tc>
                <a:tc>
                  <a:txBody>
                    <a:bodyPr wrap="none"/>
                    <a:lstStyle/>
                    <a:p>
                      <a:pPr algn="l"/>
                      <a:r>
                        <a:rPr sz="800" b="0">
                          <a:solidFill>
                            <a:srgbClr val="2E2E2E"/>
                          </a:solidFill>
                          <a:latin typeface="Calibri"/>
                        </a:rPr>
                        <a:t>0.44</a:t>
                      </a:r>
                    </a:p>
                  </a:txBody>
                  <a:tcPr marL="85725" marR="38100" marT="19050" marB="19050" anchor="ctr">
                    <a:solidFill>
                      <a:srgbClr val="F5F8FA"/>
                    </a:solidFill>
                  </a:tcPr>
                </a:tc>
                <a:tc>
                  <a:txBody>
                    <a:bodyPr wrap="none"/>
                    <a:lstStyle/>
                    <a:p>
                      <a:pPr algn="l"/>
                      <a:r>
                        <a:rPr sz="800" b="0">
                          <a:solidFill>
                            <a:srgbClr val="2E2E2E"/>
                          </a:solidFill>
                          <a:latin typeface="Calibri"/>
                        </a:rPr>
                        <a:t>0.55</a:t>
                      </a:r>
                    </a:p>
                  </a:txBody>
                  <a:tcPr marL="85725" marR="38100" marT="19050" marB="19050" anchor="ctr">
                    <a:solidFill>
                      <a:srgbClr val="F5F8FA"/>
                    </a:solidFill>
                  </a:tcPr>
                </a:tc>
                <a:tc>
                  <a:txBody>
                    <a:bodyPr wrap="none"/>
                    <a:lstStyle/>
                    <a:p>
                      <a:pPr algn="l"/>
                      <a:r>
                        <a:rPr sz="800" b="0">
                          <a:solidFill>
                            <a:srgbClr val="2E2E2E"/>
                          </a:solidFill>
                          <a:latin typeface="Calibri"/>
                        </a:rPr>
                        <a:t>0.68</a:t>
                      </a:r>
                    </a:p>
                  </a:txBody>
                  <a:tcPr marL="85725" marR="38100" marT="19050" marB="19050" anchor="ctr">
                    <a:solidFill>
                      <a:srgbClr val="F5F8FA"/>
                    </a:solidFill>
                  </a:tcPr>
                </a:tc>
                <a:tc>
                  <a:txBody>
                    <a:bodyPr wrap="none"/>
                    <a:lstStyle/>
                    <a:p>
                      <a:pPr algn="l"/>
                      <a:r>
                        <a:rPr sz="800" b="0">
                          <a:solidFill>
                            <a:srgbClr val="2E2E2E"/>
                          </a:solidFill>
                          <a:latin typeface="Calibri"/>
                        </a:rPr>
                        <a:t>0.82</a:t>
                      </a:r>
                    </a:p>
                  </a:txBody>
                  <a:tcPr marL="85725" marR="38100" marT="19050" marB="19050" anchor="ctr">
                    <a:solidFill>
                      <a:srgbClr val="F5F8FA"/>
                    </a:solidFill>
                  </a:tcPr>
                </a:tc>
                <a:tc>
                  <a:txBody>
                    <a:bodyPr wrap="none"/>
                    <a:lstStyle/>
                    <a:p>
                      <a:pPr algn="l"/>
                      <a:r>
                        <a:rPr sz="800" b="0">
                          <a:solidFill>
                            <a:srgbClr val="2E2E2E"/>
                          </a:solidFill>
                          <a:latin typeface="Calibri"/>
                        </a:rPr>
                        <a:t>0.96</a:t>
                      </a:r>
                    </a:p>
                  </a:txBody>
                  <a:tcPr marL="85725" marR="38100" marT="19050" marB="19050" anchor="ctr">
                    <a:solidFill>
                      <a:srgbClr val="F5F8FA"/>
                    </a:solidFill>
                  </a:tcPr>
                </a:tc>
                <a:tc>
                  <a:txBody>
                    <a:bodyPr wrap="none"/>
                    <a:lstStyle/>
                    <a:p>
                      <a:pPr algn="l"/>
                      <a:r>
                        <a:rPr sz="800" b="0">
                          <a:solidFill>
                            <a:srgbClr val="2E2E2E"/>
                          </a:solidFill>
                          <a:latin typeface="Calibri"/>
                        </a:rPr>
                        <a:t>1.10</a:t>
                      </a:r>
                    </a:p>
                  </a:txBody>
                  <a:tcPr marL="85725" marR="38100" marT="19050" marB="19050" anchor="ctr">
                    <a:solidFill>
                      <a:srgbClr val="F5F8FA"/>
                    </a:solidFill>
                  </a:tcPr>
                </a:tc>
                <a:tc>
                  <a:txBody>
                    <a:bodyPr wrap="none"/>
                    <a:lstStyle/>
                    <a:p>
                      <a:pPr algn="l"/>
                      <a:r>
                        <a:rPr sz="800" b="0">
                          <a:solidFill>
                            <a:srgbClr val="2E2E2E"/>
                          </a:solidFill>
                          <a:latin typeface="Calibri"/>
                        </a:rPr>
                        <a:t>1.25</a:t>
                      </a:r>
                    </a:p>
                  </a:txBody>
                  <a:tcPr marL="85725" marR="38100" marT="19050" marB="19050" anchor="ctr">
                    <a:solidFill>
                      <a:srgbClr val="F5F8FA"/>
                    </a:solidFill>
                  </a:tcPr>
                </a:tc>
                <a:tc>
                  <a:txBody>
                    <a:bodyPr wrap="none"/>
                    <a:lstStyle/>
                    <a:p>
                      <a:pPr algn="l"/>
                      <a:r>
                        <a:rPr sz="800" b="0">
                          <a:solidFill>
                            <a:srgbClr val="2E2E2E"/>
                          </a:solidFill>
                          <a:latin typeface="Calibri"/>
                        </a:rPr>
                        <a:t>1.40</a:t>
                      </a:r>
                    </a:p>
                  </a:txBody>
                  <a:tcPr marL="85725" marR="38100" marT="19050" marB="19050" anchor="ctr">
                    <a:solidFill>
                      <a:srgbClr val="F5F8FA"/>
                    </a:solidFill>
                  </a:tcPr>
                </a:tc>
                <a:tc>
                  <a:txBody>
                    <a:bodyPr wrap="none"/>
                    <a:lstStyle/>
                    <a:p>
                      <a:pPr algn="l"/>
                      <a:r>
                        <a:rPr sz="800" b="0">
                          <a:solidFill>
                            <a:srgbClr val="2E2E2E"/>
                          </a:solidFill>
                          <a:latin typeface="Calibri"/>
                        </a:rPr>
                        <a:t>1.55</a:t>
                      </a:r>
                    </a:p>
                  </a:txBody>
                  <a:tcPr marL="85725" marR="38100" marT="19050" marB="19050" anchor="ctr">
                    <a:solidFill>
                      <a:srgbClr val="F5F8FA"/>
                    </a:solidFill>
                  </a:tcPr>
                </a:tc>
                <a:tc>
                  <a:txBody>
                    <a:bodyPr wrap="none"/>
                    <a:lstStyle/>
                    <a:p>
                      <a:pPr algn="l"/>
                      <a:r>
                        <a:rPr sz="800" b="0">
                          <a:solidFill>
                            <a:srgbClr val="2E2E2E"/>
                          </a:solidFill>
                          <a:latin typeface="Calibri"/>
                        </a:rPr>
                        <a:t>1.71</a:t>
                      </a:r>
                    </a:p>
                  </a:txBody>
                  <a:tcPr marL="85725" marR="38100" marT="19050" marB="19050" anchor="ctr">
                    <a:solidFill>
                      <a:srgbClr val="F5F8FA"/>
                    </a:solidFill>
                  </a:tcPr>
                </a:tc>
                <a:tc>
                  <a:txBody>
                    <a:bodyPr wrap="none"/>
                    <a:lstStyle/>
                    <a:p>
                      <a:pPr algn="l"/>
                      <a:r>
                        <a:rPr sz="800" b="0">
                          <a:solidFill>
                            <a:srgbClr val="2E2E2E"/>
                          </a:solidFill>
                          <a:latin typeface="Calibri"/>
                        </a:rPr>
                        <a:t>1.86</a:t>
                      </a:r>
                    </a:p>
                  </a:txBody>
                  <a:tcPr marL="85725" marR="38100" marT="19050" marB="19050" anchor="ctr">
                    <a:solidFill>
                      <a:srgbClr val="F5F8FA"/>
                    </a:solidFill>
                  </a:tcPr>
                </a:tc>
                <a:tc>
                  <a:txBody>
                    <a:bodyPr wrap="none"/>
                    <a:lstStyle/>
                    <a:p>
                      <a:pPr algn="l"/>
                      <a:r>
                        <a:rPr sz="800" b="0">
                          <a:solidFill>
                            <a:srgbClr val="2E2E2E"/>
                          </a:solidFill>
                          <a:latin typeface="Calibri"/>
                        </a:rPr>
                        <a:t>2.02</a:t>
                      </a:r>
                    </a:p>
                  </a:txBody>
                  <a:tcPr marL="85725" marR="38100" marT="19050" marB="19050" anchor="ctr">
                    <a:solidFill>
                      <a:srgbClr val="F5F8FA"/>
                    </a:solidFill>
                  </a:tcPr>
                </a:tc>
                <a:tc>
                  <a:txBody>
                    <a:bodyPr wrap="none"/>
                    <a:lstStyle/>
                    <a:p>
                      <a:pPr algn="l"/>
                      <a:r>
                        <a:rPr sz="800" b="0">
                          <a:solidFill>
                            <a:srgbClr val="2E2E2E"/>
                          </a:solidFill>
                          <a:latin typeface="Calibri"/>
                        </a:rPr>
                        <a:t>2.18</a:t>
                      </a:r>
                    </a:p>
                  </a:txBody>
                  <a:tcPr marL="85725" marR="38100" marT="19050" marB="19050" anchor="ctr">
                    <a:solidFill>
                      <a:srgbClr val="F5F8FA"/>
                    </a:solidFill>
                  </a:tcPr>
                </a:tc>
                <a:tc>
                  <a:txBody>
                    <a:bodyPr wrap="none"/>
                    <a:lstStyle/>
                    <a:p>
                      <a:pPr algn="l"/>
                      <a:r>
                        <a:rPr sz="800" b="0">
                          <a:solidFill>
                            <a:srgbClr val="2E2E2E"/>
                          </a:solidFill>
                          <a:latin typeface="Calibri"/>
                        </a:rPr>
                        <a:t>2.34</a:t>
                      </a:r>
                    </a:p>
                  </a:txBody>
                  <a:tcPr marL="85725" marR="38100" marT="19050" marB="19050" anchor="ctr">
                    <a:solidFill>
                      <a:srgbClr val="F5F8FA"/>
                    </a:solidFill>
                  </a:tcPr>
                </a:tc>
                <a:tc>
                  <a:txBody>
                    <a:bodyPr wrap="none"/>
                    <a:lstStyle/>
                    <a:p>
                      <a:pPr algn="l"/>
                      <a:r>
                        <a:rPr sz="800" b="0">
                          <a:solidFill>
                            <a:srgbClr val="2E2E2E"/>
                          </a:solidFill>
                          <a:latin typeface="Calibri"/>
                        </a:rPr>
                        <a:t>11.1%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80 mg</a:t>
                      </a:r>
                    </a:p>
                  </a:txBody>
                  <a:tcPr marL="85725" marR="38100" marT="19050" marB="19050" anchor="ctr">
                    <a:solidFill>
                      <a:srgbClr val="FFFFFF"/>
                    </a:solidFill>
                  </a:tcPr>
                </a:tc>
                <a:tc>
                  <a:txBody>
                    <a:bodyPr wrap="none"/>
                    <a:lstStyle/>
                    <a:p>
                      <a:pPr algn="l"/>
                      <a:r>
                        <a:rPr sz="800" b="0">
                          <a:solidFill>
                            <a:srgbClr val="2E2E2E"/>
                          </a:solidFill>
                          <a:latin typeface="Calibri"/>
                        </a:rPr>
                        <a:t>0.56</a:t>
                      </a:r>
                    </a:p>
                  </a:txBody>
                  <a:tcPr marL="85725" marR="38100" marT="19050" marB="19050" anchor="ctr">
                    <a:solidFill>
                      <a:srgbClr val="FFFFFF"/>
                    </a:solidFill>
                  </a:tcPr>
                </a:tc>
                <a:tc>
                  <a:txBody>
                    <a:bodyPr wrap="none"/>
                    <a:lstStyle/>
                    <a:p>
                      <a:pPr algn="l"/>
                      <a:r>
                        <a:rPr sz="800" b="0">
                          <a:solidFill>
                            <a:srgbClr val="2E2E2E"/>
                          </a:solidFill>
                          <a:latin typeface="Calibri"/>
                        </a:rPr>
                        <a:t>0.66</a:t>
                      </a:r>
                    </a:p>
                  </a:txBody>
                  <a:tcPr marL="85725" marR="38100" marT="19050" marB="19050" anchor="ctr">
                    <a:solidFill>
                      <a:srgbClr val="FFFFFF"/>
                    </a:solidFill>
                  </a:tcPr>
                </a:tc>
                <a:tc>
                  <a:txBody>
                    <a:bodyPr wrap="none"/>
                    <a:lstStyle/>
                    <a:p>
                      <a:pPr algn="l"/>
                      <a:r>
                        <a:rPr sz="800" b="0">
                          <a:solidFill>
                            <a:srgbClr val="2E2E2E"/>
                          </a:solidFill>
                          <a:latin typeface="Calibri"/>
                        </a:rPr>
                        <a:t>0.83</a:t>
                      </a:r>
                    </a:p>
                  </a:txBody>
                  <a:tcPr marL="85725" marR="38100" marT="19050" marB="19050" anchor="ctr">
                    <a:solidFill>
                      <a:srgbClr val="FFFFFF"/>
                    </a:solidFill>
                  </a:tcPr>
                </a:tc>
                <a:tc>
                  <a:txBody>
                    <a:bodyPr wrap="none"/>
                    <a:lstStyle/>
                    <a:p>
                      <a:pPr algn="l"/>
                      <a:r>
                        <a:rPr sz="800" b="0">
                          <a:solidFill>
                            <a:srgbClr val="2E2E2E"/>
                          </a:solidFill>
                          <a:latin typeface="Calibri"/>
                        </a:rPr>
                        <a:t>1.06</a:t>
                      </a:r>
                    </a:p>
                  </a:txBody>
                  <a:tcPr marL="85725" marR="38100" marT="19050" marB="19050" anchor="ctr">
                    <a:solidFill>
                      <a:srgbClr val="FFFFFF"/>
                    </a:solidFill>
                  </a:tcPr>
                </a:tc>
                <a:tc>
                  <a:txBody>
                    <a:bodyPr wrap="none"/>
                    <a:lstStyle/>
                    <a:p>
                      <a:pPr algn="l"/>
                      <a:r>
                        <a:rPr sz="800" b="0">
                          <a:solidFill>
                            <a:srgbClr val="2E2E2E"/>
                          </a:solidFill>
                          <a:latin typeface="Calibri"/>
                        </a:rPr>
                        <a:t>1.34</a:t>
                      </a:r>
                    </a:p>
                  </a:txBody>
                  <a:tcPr marL="85725" marR="38100" marT="19050" marB="19050" anchor="ctr">
                    <a:solidFill>
                      <a:srgbClr val="FFFFFF"/>
                    </a:solidFill>
                  </a:tcPr>
                </a:tc>
                <a:tc>
                  <a:txBody>
                    <a:bodyPr wrap="none"/>
                    <a:lstStyle/>
                    <a:p>
                      <a:pPr algn="l"/>
                      <a:r>
                        <a:rPr sz="800" b="0">
                          <a:solidFill>
                            <a:srgbClr val="2E2E2E"/>
                          </a:solidFill>
                          <a:latin typeface="Calibri"/>
                        </a:rPr>
                        <a:t>1.64</a:t>
                      </a:r>
                    </a:p>
                  </a:txBody>
                  <a:tcPr marL="85725" marR="38100" marT="19050" marB="19050" anchor="ctr">
                    <a:solidFill>
                      <a:srgbClr val="FFFFFF"/>
                    </a:solidFill>
                  </a:tcPr>
                </a:tc>
                <a:tc>
                  <a:txBody>
                    <a:bodyPr wrap="none"/>
                    <a:lstStyle/>
                    <a:p>
                      <a:pPr algn="l"/>
                      <a:r>
                        <a:rPr sz="800" b="0">
                          <a:solidFill>
                            <a:srgbClr val="2E2E2E"/>
                          </a:solidFill>
                          <a:latin typeface="Calibri"/>
                        </a:rPr>
                        <a:t>1.96</a:t>
                      </a:r>
                    </a:p>
                  </a:txBody>
                  <a:tcPr marL="85725" marR="38100" marT="19050" marB="19050" anchor="ctr">
                    <a:solidFill>
                      <a:srgbClr val="FFFFFF"/>
                    </a:solidFill>
                  </a:tcPr>
                </a:tc>
                <a:tc>
                  <a:txBody>
                    <a:bodyPr wrap="none"/>
                    <a:lstStyle/>
                    <a:p>
                      <a:pPr algn="l"/>
                      <a:r>
                        <a:rPr sz="800" b="0">
                          <a:solidFill>
                            <a:srgbClr val="2E2E2E"/>
                          </a:solidFill>
                          <a:latin typeface="Calibri"/>
                        </a:rPr>
                        <a:t>2.31</a:t>
                      </a:r>
                    </a:p>
                  </a:txBody>
                  <a:tcPr marL="85725" marR="38100" marT="19050" marB="19050" anchor="ctr">
                    <a:solidFill>
                      <a:srgbClr val="FFFFFF"/>
                    </a:solidFill>
                  </a:tcPr>
                </a:tc>
                <a:tc>
                  <a:txBody>
                    <a:bodyPr wrap="none"/>
                    <a:lstStyle/>
                    <a:p>
                      <a:pPr algn="l"/>
                      <a:r>
                        <a:rPr sz="800" b="0">
                          <a:solidFill>
                            <a:srgbClr val="2E2E2E"/>
                          </a:solidFill>
                          <a:latin typeface="Calibri"/>
                        </a:rPr>
                        <a:t>2.67</a:t>
                      </a:r>
                    </a:p>
                  </a:txBody>
                  <a:tcPr marL="85725" marR="38100" marT="19050" marB="19050" anchor="ctr">
                    <a:solidFill>
                      <a:srgbClr val="FFFFFF"/>
                    </a:solidFill>
                  </a:tcPr>
                </a:tc>
                <a:tc>
                  <a:txBody>
                    <a:bodyPr wrap="none"/>
                    <a:lstStyle/>
                    <a:p>
                      <a:pPr algn="l"/>
                      <a:r>
                        <a:rPr sz="800" b="0">
                          <a:solidFill>
                            <a:srgbClr val="2E2E2E"/>
                          </a:solidFill>
                          <a:latin typeface="Calibri"/>
                        </a:rPr>
                        <a:t>3.05</a:t>
                      </a:r>
                    </a:p>
                  </a:txBody>
                  <a:tcPr marL="85725" marR="38100" marT="19050" marB="19050" anchor="ctr">
                    <a:solidFill>
                      <a:srgbClr val="FFFFFF"/>
                    </a:solidFill>
                  </a:tcPr>
                </a:tc>
                <a:tc>
                  <a:txBody>
                    <a:bodyPr wrap="none"/>
                    <a:lstStyle/>
                    <a:p>
                      <a:pPr algn="l"/>
                      <a:r>
                        <a:rPr sz="800" b="0">
                          <a:solidFill>
                            <a:srgbClr val="2E2E2E"/>
                          </a:solidFill>
                          <a:latin typeface="Calibri"/>
                        </a:rPr>
                        <a:t>3.46</a:t>
                      </a:r>
                    </a:p>
                  </a:txBody>
                  <a:tcPr marL="85725" marR="38100" marT="19050" marB="19050" anchor="ctr">
                    <a:solidFill>
                      <a:srgbClr val="FFFFFF"/>
                    </a:solidFill>
                  </a:tcPr>
                </a:tc>
                <a:tc>
                  <a:txBody>
                    <a:bodyPr wrap="none"/>
                    <a:lstStyle/>
                    <a:p>
                      <a:pPr algn="l"/>
                      <a:r>
                        <a:rPr sz="800" b="0">
                          <a:solidFill>
                            <a:srgbClr val="2E2E2E"/>
                          </a:solidFill>
                          <a:latin typeface="Calibri"/>
                        </a:rPr>
                        <a:t>3.88</a:t>
                      </a:r>
                    </a:p>
                  </a:txBody>
                  <a:tcPr marL="85725" marR="38100" marT="19050" marB="19050" anchor="ctr">
                    <a:solidFill>
                      <a:srgbClr val="FFFFFF"/>
                    </a:solidFill>
                  </a:tcPr>
                </a:tc>
                <a:tc>
                  <a:txBody>
                    <a:bodyPr wrap="none"/>
                    <a:lstStyle/>
                    <a:p>
                      <a:pPr algn="l"/>
                      <a:r>
                        <a:rPr sz="800" b="0">
                          <a:solidFill>
                            <a:srgbClr val="2E2E2E"/>
                          </a:solidFill>
                          <a:latin typeface="Calibri"/>
                        </a:rPr>
                        <a:t>4.32</a:t>
                      </a:r>
                    </a:p>
                  </a:txBody>
                  <a:tcPr marL="85725" marR="38100" marT="19050" marB="19050" anchor="ctr">
                    <a:solidFill>
                      <a:srgbClr val="FFFFFF"/>
                    </a:solidFill>
                  </a:tcPr>
                </a:tc>
                <a:tc>
                  <a:txBody>
                    <a:bodyPr wrap="none"/>
                    <a:lstStyle/>
                    <a:p>
                      <a:pPr algn="l"/>
                      <a:r>
                        <a:rPr sz="800" b="0">
                          <a:solidFill>
                            <a:srgbClr val="2E2E2E"/>
                          </a:solidFill>
                          <a:latin typeface="Calibri"/>
                        </a:rPr>
                        <a:t>4.79</a:t>
                      </a:r>
                    </a:p>
                  </a:txBody>
                  <a:tcPr marL="85725" marR="38100" marT="19050" marB="19050" anchor="ctr">
                    <a:solidFill>
                      <a:srgbClr val="FFFFFF"/>
                    </a:solidFill>
                  </a:tcPr>
                </a:tc>
                <a:tc>
                  <a:txBody>
                    <a:bodyPr wrap="none"/>
                    <a:lstStyle/>
                    <a:p>
                      <a:pPr algn="l"/>
                      <a:r>
                        <a:rPr sz="800" b="0">
                          <a:solidFill>
                            <a:srgbClr val="2E2E2E"/>
                          </a:solidFill>
                          <a:latin typeface="Calibri"/>
                        </a:rPr>
                        <a:t>5.28</a:t>
                      </a:r>
                    </a:p>
                  </a:txBody>
                  <a:tcPr marL="85725" marR="38100" marT="19050" marB="19050" anchor="ctr">
                    <a:solidFill>
                      <a:srgbClr val="FFFFFF"/>
                    </a:solidFill>
                  </a:tcPr>
                </a:tc>
                <a:tc>
                  <a:txBody>
                    <a:bodyPr wrap="none"/>
                    <a:lstStyle/>
                    <a:p>
                      <a:pPr algn="l"/>
                      <a:r>
                        <a:rPr sz="800" b="0">
                          <a:solidFill>
                            <a:srgbClr val="2E2E2E"/>
                          </a:solidFill>
                          <a:latin typeface="Calibri"/>
                        </a:rPr>
                        <a:t>5.79</a:t>
                      </a:r>
                    </a:p>
                  </a:txBody>
                  <a:tcPr marL="85725" marR="38100" marT="19050" marB="19050" anchor="ctr">
                    <a:solidFill>
                      <a:srgbClr val="FFFFFF"/>
                    </a:solidFill>
                  </a:tcPr>
                </a:tc>
                <a:tc>
                  <a:txBody>
                    <a:bodyPr wrap="none"/>
                    <a:lstStyle/>
                    <a:p>
                      <a:pPr algn="l"/>
                      <a:r>
                        <a:rPr sz="800" b="0">
                          <a:solidFill>
                            <a:srgbClr val="2E2E2E"/>
                          </a:solidFill>
                          <a:latin typeface="Calibri"/>
                        </a:rPr>
                        <a:t>13.5%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100 mg/mL</a:t>
                      </a:r>
                    </a:p>
                  </a:txBody>
                  <a:tcPr marL="85725" marR="38100" marT="19050" marB="19050" anchor="ctr">
                    <a:solidFill>
                      <a:srgbClr val="F5F8FA"/>
                    </a:solidFill>
                  </a:tcPr>
                </a:tc>
                <a:tc>
                  <a:txBody>
                    <a:bodyPr wrap="none"/>
                    <a:lstStyle/>
                    <a:p>
                      <a:pPr algn="l"/>
                      <a:r>
                        <a:rPr sz="800" b="0">
                          <a:solidFill>
                            <a:srgbClr val="2E2E2E"/>
                          </a:solidFill>
                          <a:latin typeface="Calibri"/>
                        </a:rPr>
                        <a:t>0.20</a:t>
                      </a:r>
                    </a:p>
                  </a:txBody>
                  <a:tcPr marL="85725" marR="38100" marT="19050" marB="19050" anchor="ctr">
                    <a:solidFill>
                      <a:srgbClr val="F5F8FA"/>
                    </a:solidFill>
                  </a:tcPr>
                </a:tc>
                <a:tc>
                  <a:txBody>
                    <a:bodyPr wrap="none"/>
                    <a:lstStyle/>
                    <a:p>
                      <a:pPr algn="l"/>
                      <a:r>
                        <a:rPr sz="800" b="0">
                          <a:solidFill>
                            <a:srgbClr val="2E2E2E"/>
                          </a:solidFill>
                          <a:latin typeface="Calibri"/>
                        </a:rPr>
                        <a:t>0.23</a:t>
                      </a:r>
                    </a:p>
                  </a:txBody>
                  <a:tcPr marL="85725" marR="38100" marT="19050" marB="19050" anchor="ctr">
                    <a:solidFill>
                      <a:srgbClr val="F5F8FA"/>
                    </a:solidFill>
                  </a:tcPr>
                </a:tc>
                <a:tc>
                  <a:txBody>
                    <a:bodyPr wrap="none"/>
                    <a:lstStyle/>
                    <a:p>
                      <a:pPr algn="l"/>
                      <a:r>
                        <a:rPr sz="800" b="0">
                          <a:solidFill>
                            <a:srgbClr val="2E2E2E"/>
                          </a:solidFill>
                          <a:latin typeface="Calibri"/>
                        </a:rPr>
                        <a:t>0.29</a:t>
                      </a:r>
                    </a:p>
                  </a:txBody>
                  <a:tcPr marL="85725" marR="38100" marT="19050" marB="19050" anchor="ctr">
                    <a:solidFill>
                      <a:srgbClr val="F5F8FA"/>
                    </a:solidFill>
                  </a:tcPr>
                </a:tc>
                <a:tc>
                  <a:txBody>
                    <a:bodyPr wrap="none"/>
                    <a:lstStyle/>
                    <a:p>
                      <a:pPr algn="l"/>
                      <a:r>
                        <a:rPr sz="800" b="0">
                          <a:solidFill>
                            <a:srgbClr val="2E2E2E"/>
                          </a:solidFill>
                          <a:latin typeface="Calibri"/>
                        </a:rPr>
                        <a:t>0.37</a:t>
                      </a:r>
                    </a:p>
                  </a:txBody>
                  <a:tcPr marL="85725" marR="38100" marT="19050" marB="19050" anchor="ctr">
                    <a:solidFill>
                      <a:srgbClr val="F5F8FA"/>
                    </a:solidFill>
                  </a:tcPr>
                </a:tc>
                <a:tc>
                  <a:txBody>
                    <a:bodyPr wrap="none"/>
                    <a:lstStyle/>
                    <a:p>
                      <a:pPr algn="l"/>
                      <a:r>
                        <a:rPr sz="800" b="0">
                          <a:solidFill>
                            <a:srgbClr val="2E2E2E"/>
                          </a:solidFill>
                          <a:latin typeface="Calibri"/>
                        </a:rPr>
                        <a:t>0.46</a:t>
                      </a:r>
                    </a:p>
                  </a:txBody>
                  <a:tcPr marL="85725" marR="38100" marT="19050" marB="19050" anchor="ctr">
                    <a:solidFill>
                      <a:srgbClr val="F5F8FA"/>
                    </a:solidFill>
                  </a:tcPr>
                </a:tc>
                <a:tc>
                  <a:txBody>
                    <a:bodyPr wrap="none"/>
                    <a:lstStyle/>
                    <a:p>
                      <a:pPr algn="l"/>
                      <a:r>
                        <a:rPr sz="800" b="0">
                          <a:solidFill>
                            <a:srgbClr val="2E2E2E"/>
                          </a:solidFill>
                          <a:latin typeface="Calibri"/>
                        </a:rPr>
                        <a:t>0.56</a:t>
                      </a:r>
                    </a:p>
                  </a:txBody>
                  <a:tcPr marL="85725" marR="38100" marT="19050" marB="19050" anchor="ctr">
                    <a:solidFill>
                      <a:srgbClr val="F5F8FA"/>
                    </a:solidFill>
                  </a:tcPr>
                </a:tc>
                <a:tc>
                  <a:txBody>
                    <a:bodyPr wrap="none"/>
                    <a:lstStyle/>
                    <a:p>
                      <a:pPr algn="l"/>
                      <a:r>
                        <a:rPr sz="800" b="0">
                          <a:solidFill>
                            <a:srgbClr val="2E2E2E"/>
                          </a:solidFill>
                          <a:latin typeface="Calibri"/>
                        </a:rPr>
                        <a:t>0.66</a:t>
                      </a:r>
                    </a:p>
                  </a:txBody>
                  <a:tcPr marL="85725" marR="38100" marT="19050" marB="19050" anchor="ctr">
                    <a:solidFill>
                      <a:srgbClr val="F5F8FA"/>
                    </a:solidFill>
                  </a:tcPr>
                </a:tc>
                <a:tc>
                  <a:txBody>
                    <a:bodyPr wrap="none"/>
                    <a:lstStyle/>
                    <a:p>
                      <a:pPr algn="l"/>
                      <a:r>
                        <a:rPr sz="800" b="0">
                          <a:solidFill>
                            <a:srgbClr val="2E2E2E"/>
                          </a:solidFill>
                          <a:latin typeface="Calibri"/>
                        </a:rPr>
                        <a:t>0.77</a:t>
                      </a:r>
                    </a:p>
                  </a:txBody>
                  <a:tcPr marL="85725" marR="38100" marT="19050" marB="19050" anchor="ctr">
                    <a:solidFill>
                      <a:srgbClr val="F5F8FA"/>
                    </a:solidFill>
                  </a:tcPr>
                </a:tc>
                <a:tc>
                  <a:txBody>
                    <a:bodyPr wrap="none"/>
                    <a:lstStyle/>
                    <a:p>
                      <a:pPr algn="l"/>
                      <a:r>
                        <a:rPr sz="800" b="0">
                          <a:solidFill>
                            <a:srgbClr val="2E2E2E"/>
                          </a:solidFill>
                          <a:latin typeface="Calibri"/>
                        </a:rPr>
                        <a:t>0.89</a:t>
                      </a:r>
                    </a:p>
                  </a:txBody>
                  <a:tcPr marL="85725" marR="38100" marT="19050" marB="19050" anchor="ctr">
                    <a:solidFill>
                      <a:srgbClr val="F5F8FA"/>
                    </a:solidFill>
                  </a:tcPr>
                </a:tc>
                <a:tc>
                  <a:txBody>
                    <a:bodyPr wrap="none"/>
                    <a:lstStyle/>
                    <a:p>
                      <a:pPr algn="l"/>
                      <a:r>
                        <a:rPr sz="800" b="0">
                          <a:solidFill>
                            <a:srgbClr val="2E2E2E"/>
                          </a:solidFill>
                          <a:latin typeface="Calibri"/>
                        </a:rPr>
                        <a:t>1.00</a:t>
                      </a:r>
                    </a:p>
                  </a:txBody>
                  <a:tcPr marL="85725" marR="38100" marT="19050" marB="19050" anchor="ctr">
                    <a:solidFill>
                      <a:srgbClr val="F5F8FA"/>
                    </a:solidFill>
                  </a:tcPr>
                </a:tc>
                <a:tc>
                  <a:txBody>
                    <a:bodyPr wrap="none"/>
                    <a:lstStyle/>
                    <a:p>
                      <a:pPr algn="l"/>
                      <a:r>
                        <a:rPr sz="800" b="0">
                          <a:solidFill>
                            <a:srgbClr val="2E2E2E"/>
                          </a:solidFill>
                          <a:latin typeface="Calibri"/>
                        </a:rPr>
                        <a:t>1.13</a:t>
                      </a:r>
                    </a:p>
                  </a:txBody>
                  <a:tcPr marL="85725" marR="38100" marT="19050" marB="19050" anchor="ctr">
                    <a:solidFill>
                      <a:srgbClr val="F5F8FA"/>
                    </a:solidFill>
                  </a:tcPr>
                </a:tc>
                <a:tc>
                  <a:txBody>
                    <a:bodyPr wrap="none"/>
                    <a:lstStyle/>
                    <a:p>
                      <a:pPr algn="l"/>
                      <a:r>
                        <a:rPr sz="800" b="0">
                          <a:solidFill>
                            <a:srgbClr val="2E2E2E"/>
                          </a:solidFill>
                          <a:latin typeface="Calibri"/>
                        </a:rPr>
                        <a:t>1.25</a:t>
                      </a:r>
                    </a:p>
                  </a:txBody>
                  <a:tcPr marL="85725" marR="38100" marT="19050" marB="19050" anchor="ctr">
                    <a:solidFill>
                      <a:srgbClr val="F5F8FA"/>
                    </a:solidFill>
                  </a:tcPr>
                </a:tc>
                <a:tc>
                  <a:txBody>
                    <a:bodyPr wrap="none"/>
                    <a:lstStyle/>
                    <a:p>
                      <a:pPr algn="l"/>
                      <a:r>
                        <a:rPr sz="800" b="0">
                          <a:solidFill>
                            <a:srgbClr val="2E2E2E"/>
                          </a:solidFill>
                          <a:latin typeface="Calibri"/>
                        </a:rPr>
                        <a:t>1.38</a:t>
                      </a:r>
                    </a:p>
                  </a:txBody>
                  <a:tcPr marL="85725" marR="38100" marT="19050" marB="19050" anchor="ctr">
                    <a:solidFill>
                      <a:srgbClr val="F5F8FA"/>
                    </a:solidFill>
                  </a:tcPr>
                </a:tc>
                <a:tc>
                  <a:txBody>
                    <a:bodyPr wrap="none"/>
                    <a:lstStyle/>
                    <a:p>
                      <a:pPr algn="l"/>
                      <a:r>
                        <a:rPr sz="800" b="0">
                          <a:solidFill>
                            <a:srgbClr val="2E2E2E"/>
                          </a:solidFill>
                          <a:latin typeface="Calibri"/>
                        </a:rPr>
                        <a:t>1.51</a:t>
                      </a:r>
                    </a:p>
                  </a:txBody>
                  <a:tcPr marL="85725" marR="38100" marT="19050" marB="19050" anchor="ctr">
                    <a:solidFill>
                      <a:srgbClr val="F5F8FA"/>
                    </a:solidFill>
                  </a:tcPr>
                </a:tc>
                <a:tc>
                  <a:txBody>
                    <a:bodyPr wrap="none"/>
                    <a:lstStyle/>
                    <a:p>
                      <a:pPr algn="l"/>
                      <a:r>
                        <a:rPr sz="800" b="0">
                          <a:solidFill>
                            <a:srgbClr val="2E2E2E"/>
                          </a:solidFill>
                          <a:latin typeface="Calibri"/>
                        </a:rPr>
                        <a:t>1.65</a:t>
                      </a:r>
                    </a:p>
                  </a:txBody>
                  <a:tcPr marL="85725" marR="38100" marT="19050" marB="19050" anchor="ctr">
                    <a:solidFill>
                      <a:srgbClr val="F5F8FA"/>
                    </a:solidFill>
                  </a:tcPr>
                </a:tc>
                <a:tc>
                  <a:txBody>
                    <a:bodyPr wrap="none"/>
                    <a:lstStyle/>
                    <a:p>
                      <a:pPr algn="l"/>
                      <a:r>
                        <a:rPr sz="800" b="0">
                          <a:solidFill>
                            <a:srgbClr val="2E2E2E"/>
                          </a:solidFill>
                          <a:latin typeface="Calibri"/>
                        </a:rPr>
                        <a:t>1.80</a:t>
                      </a:r>
                    </a:p>
                  </a:txBody>
                  <a:tcPr marL="85725" marR="38100" marT="19050" marB="19050" anchor="ctr">
                    <a:solidFill>
                      <a:srgbClr val="F5F8FA"/>
                    </a:solidFill>
                  </a:tcPr>
                </a:tc>
                <a:tc>
                  <a:txBody>
                    <a:bodyPr wrap="none"/>
                    <a:lstStyle/>
                    <a:p>
                      <a:pPr algn="l"/>
                      <a:r>
                        <a:rPr sz="800" b="0">
                          <a:solidFill>
                            <a:srgbClr val="2E2E2E"/>
                          </a:solidFill>
                          <a:latin typeface="Calibri"/>
                        </a:rPr>
                        <a:t>12.4%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1.47</a:t>
                      </a:r>
                    </a:p>
                  </a:txBody>
                  <a:tcPr marL="85725" marR="38100" marT="19050" marB="19050" anchor="ctr">
                    <a:solidFill>
                      <a:srgbClr val="E0E8EF"/>
                    </a:solidFill>
                  </a:tcPr>
                </a:tc>
                <a:tc>
                  <a:txBody>
                    <a:bodyPr wrap="none"/>
                    <a:lstStyle/>
                    <a:p>
                      <a:pPr algn="l"/>
                      <a:r>
                        <a:rPr sz="800" b="1">
                          <a:solidFill>
                            <a:srgbClr val="2E2E2E"/>
                          </a:solidFill>
                          <a:latin typeface="Calibri"/>
                        </a:rPr>
                        <a:t>1.72</a:t>
                      </a:r>
                    </a:p>
                  </a:txBody>
                  <a:tcPr marL="85725" marR="38100" marT="19050" marB="19050" anchor="ctr">
                    <a:solidFill>
                      <a:srgbClr val="E0E8EF"/>
                    </a:solidFill>
                  </a:tcPr>
                </a:tc>
                <a:tc>
                  <a:txBody>
                    <a:bodyPr wrap="none"/>
                    <a:lstStyle/>
                    <a:p>
                      <a:pPr algn="l"/>
                      <a:r>
                        <a:rPr sz="800" b="1">
                          <a:solidFill>
                            <a:srgbClr val="2E2E2E"/>
                          </a:solidFill>
                          <a:latin typeface="Calibri"/>
                        </a:rPr>
                        <a:t>2.13</a:t>
                      </a:r>
                    </a:p>
                  </a:txBody>
                  <a:tcPr marL="85725" marR="38100" marT="19050" marB="19050" anchor="ctr">
                    <a:solidFill>
                      <a:srgbClr val="E0E8EF"/>
                    </a:solidFill>
                  </a:tcPr>
                </a:tc>
                <a:tc>
                  <a:txBody>
                    <a:bodyPr wrap="none"/>
                    <a:lstStyle/>
                    <a:p>
                      <a:pPr algn="l"/>
                      <a:r>
                        <a:rPr sz="800" b="1">
                          <a:solidFill>
                            <a:srgbClr val="2E2E2E"/>
                          </a:solidFill>
                          <a:latin typeface="Calibri"/>
                        </a:rPr>
                        <a:t>2.73</a:t>
                      </a:r>
                    </a:p>
                  </a:txBody>
                  <a:tcPr marL="85725" marR="38100" marT="19050" marB="19050" anchor="ctr">
                    <a:solidFill>
                      <a:srgbClr val="E0E8EF"/>
                    </a:solidFill>
                  </a:tcPr>
                </a:tc>
                <a:tc>
                  <a:txBody>
                    <a:bodyPr wrap="none"/>
                    <a:lstStyle/>
                    <a:p>
                      <a:pPr algn="l"/>
                      <a:r>
                        <a:rPr sz="800" b="1">
                          <a:solidFill>
                            <a:srgbClr val="2E2E2E"/>
                          </a:solidFill>
                          <a:latin typeface="Calibri"/>
                        </a:rPr>
                        <a:t>3.42</a:t>
                      </a:r>
                    </a:p>
                  </a:txBody>
                  <a:tcPr marL="85725" marR="38100" marT="19050" marB="19050" anchor="ctr">
                    <a:solidFill>
                      <a:srgbClr val="E0E8EF"/>
                    </a:solidFill>
                  </a:tcPr>
                </a:tc>
                <a:tc>
                  <a:txBody>
                    <a:bodyPr wrap="none"/>
                    <a:lstStyle/>
                    <a:p>
                      <a:pPr algn="l"/>
                      <a:r>
                        <a:rPr sz="800" b="1">
                          <a:solidFill>
                            <a:srgbClr val="2E2E2E"/>
                          </a:solidFill>
                          <a:latin typeface="Calibri"/>
                        </a:rPr>
                        <a:t>4.16</a:t>
                      </a:r>
                    </a:p>
                  </a:txBody>
                  <a:tcPr marL="85725" marR="38100" marT="19050" marB="19050" anchor="ctr">
                    <a:solidFill>
                      <a:srgbClr val="E0E8EF"/>
                    </a:solidFill>
                  </a:tcPr>
                </a:tc>
                <a:tc>
                  <a:txBody>
                    <a:bodyPr wrap="none"/>
                    <a:lstStyle/>
                    <a:p>
                      <a:pPr algn="l"/>
                      <a:r>
                        <a:rPr sz="800" b="1">
                          <a:solidFill>
                            <a:srgbClr val="2E2E2E"/>
                          </a:solidFill>
                          <a:latin typeface="Calibri"/>
                        </a:rPr>
                        <a:t>4.97</a:t>
                      </a:r>
                    </a:p>
                  </a:txBody>
                  <a:tcPr marL="85725" marR="38100" marT="19050" marB="19050" anchor="ctr">
                    <a:solidFill>
                      <a:srgbClr val="E0E8EF"/>
                    </a:solidFill>
                  </a:tcPr>
                </a:tc>
                <a:tc>
                  <a:txBody>
                    <a:bodyPr wrap="none"/>
                    <a:lstStyle/>
                    <a:p>
                      <a:pPr algn="l"/>
                      <a:r>
                        <a:rPr sz="800" b="1">
                          <a:solidFill>
                            <a:srgbClr val="2E2E2E"/>
                          </a:solidFill>
                          <a:latin typeface="Calibri"/>
                        </a:rPr>
                        <a:t>5.81</a:t>
                      </a:r>
                    </a:p>
                  </a:txBody>
                  <a:tcPr marL="85725" marR="38100" marT="19050" marB="19050" anchor="ctr">
                    <a:solidFill>
                      <a:srgbClr val="E0E8EF"/>
                    </a:solidFill>
                  </a:tcPr>
                </a:tc>
                <a:tc>
                  <a:txBody>
                    <a:bodyPr wrap="none"/>
                    <a:lstStyle/>
                    <a:p>
                      <a:pPr algn="l"/>
                      <a:r>
                        <a:rPr sz="800" b="1">
                          <a:solidFill>
                            <a:srgbClr val="2E2E2E"/>
                          </a:solidFill>
                          <a:latin typeface="Calibri"/>
                        </a:rPr>
                        <a:t>6.70</a:t>
                      </a:r>
                    </a:p>
                  </a:txBody>
                  <a:tcPr marL="85725" marR="38100" marT="19050" marB="19050" anchor="ctr">
                    <a:solidFill>
                      <a:srgbClr val="E0E8EF"/>
                    </a:solidFill>
                  </a:tcPr>
                </a:tc>
                <a:tc>
                  <a:txBody>
                    <a:bodyPr wrap="none"/>
                    <a:lstStyle/>
                    <a:p>
                      <a:pPr algn="l"/>
                      <a:r>
                        <a:rPr sz="800" b="1">
                          <a:solidFill>
                            <a:srgbClr val="2E2E2E"/>
                          </a:solidFill>
                          <a:latin typeface="Calibri"/>
                        </a:rPr>
                        <a:t>7.63</a:t>
                      </a:r>
                    </a:p>
                  </a:txBody>
                  <a:tcPr marL="85725" marR="38100" marT="19050" marB="19050" anchor="ctr">
                    <a:solidFill>
                      <a:srgbClr val="E0E8EF"/>
                    </a:solidFill>
                  </a:tcPr>
                </a:tc>
                <a:tc>
                  <a:txBody>
                    <a:bodyPr wrap="none"/>
                    <a:lstStyle/>
                    <a:p>
                      <a:pPr algn="l"/>
                      <a:r>
                        <a:rPr sz="800" b="1">
                          <a:solidFill>
                            <a:srgbClr val="2E2E2E"/>
                          </a:solidFill>
                          <a:latin typeface="Calibri"/>
                        </a:rPr>
                        <a:t>8.60</a:t>
                      </a:r>
                    </a:p>
                  </a:txBody>
                  <a:tcPr marL="85725" marR="38100" marT="19050" marB="19050" anchor="ctr">
                    <a:solidFill>
                      <a:srgbClr val="E0E8EF"/>
                    </a:solidFill>
                  </a:tcPr>
                </a:tc>
                <a:tc>
                  <a:txBody>
                    <a:bodyPr wrap="none"/>
                    <a:lstStyle/>
                    <a:p>
                      <a:pPr algn="l"/>
                      <a:r>
                        <a:rPr sz="800" b="1">
                          <a:solidFill>
                            <a:srgbClr val="2E2E2E"/>
                          </a:solidFill>
                          <a:latin typeface="Calibri"/>
                        </a:rPr>
                        <a:t>9.62</a:t>
                      </a:r>
                    </a:p>
                  </a:txBody>
                  <a:tcPr marL="85725" marR="38100" marT="19050" marB="19050" anchor="ctr">
                    <a:solidFill>
                      <a:srgbClr val="E0E8EF"/>
                    </a:solidFill>
                  </a:tcPr>
                </a:tc>
                <a:tc>
                  <a:txBody>
                    <a:bodyPr wrap="none"/>
                    <a:lstStyle/>
                    <a:p>
                      <a:pPr algn="l"/>
                      <a:r>
                        <a:rPr sz="800" b="1">
                          <a:solidFill>
                            <a:srgbClr val="2E2E2E"/>
                          </a:solidFill>
                          <a:latin typeface="Calibri"/>
                        </a:rPr>
                        <a:t>10.7</a:t>
                      </a:r>
                    </a:p>
                  </a:txBody>
                  <a:tcPr marL="85725" marR="38100" marT="19050" marB="19050" anchor="ctr">
                    <a:solidFill>
                      <a:srgbClr val="E0E8EF"/>
                    </a:solidFill>
                  </a:tcPr>
                </a:tc>
                <a:tc>
                  <a:txBody>
                    <a:bodyPr wrap="none"/>
                    <a:lstStyle/>
                    <a:p>
                      <a:pPr algn="l"/>
                      <a:r>
                        <a:rPr sz="800" b="1">
                          <a:solidFill>
                            <a:srgbClr val="2E2E2E"/>
                          </a:solidFill>
                          <a:latin typeface="Calibri"/>
                        </a:rPr>
                        <a:t>11.8</a:t>
                      </a:r>
                    </a:p>
                  </a:txBody>
                  <a:tcPr marL="85725" marR="38100" marT="19050" marB="19050" anchor="ctr">
                    <a:solidFill>
                      <a:srgbClr val="E0E8EF"/>
                    </a:solidFill>
                  </a:tcPr>
                </a:tc>
                <a:tc>
                  <a:txBody>
                    <a:bodyPr wrap="none"/>
                    <a:lstStyle/>
                    <a:p>
                      <a:pPr algn="l"/>
                      <a:r>
                        <a:rPr sz="800" b="1">
                          <a:solidFill>
                            <a:srgbClr val="2E2E2E"/>
                          </a:solidFill>
                          <a:latin typeface="Calibri"/>
                        </a:rPr>
                        <a:t>12.9</a:t>
                      </a:r>
                    </a:p>
                  </a:txBody>
                  <a:tcPr marL="85725" marR="38100" marT="19050" marB="19050" anchor="ctr">
                    <a:solidFill>
                      <a:srgbClr val="E0E8EF"/>
                    </a:solidFill>
                  </a:tcPr>
                </a:tc>
                <a:tc>
                  <a:txBody>
                    <a:bodyPr wrap="none"/>
                    <a:lstStyle/>
                    <a:p>
                      <a:pPr algn="l"/>
                      <a:r>
                        <a:rPr sz="800" b="1">
                          <a:solidFill>
                            <a:srgbClr val="2E2E2E"/>
                          </a:solidFill>
                          <a:latin typeface="Calibri"/>
                        </a:rPr>
                        <a:t>14.1</a:t>
                      </a:r>
                    </a:p>
                  </a:txBody>
                  <a:tcPr marL="85725" marR="38100" marT="19050" marB="19050" anchor="ctr">
                    <a:solidFill>
                      <a:srgbClr val="E0E8EF"/>
                    </a:solidFill>
                  </a:tcPr>
                </a:tc>
                <a:tc>
                  <a:txBody>
                    <a:bodyPr wrap="none"/>
                    <a:lstStyle/>
                    <a:p>
                      <a:pPr algn="l"/>
                      <a:r>
                        <a:rPr sz="800" b="1">
                          <a:solidFill>
                            <a:srgbClr val="2E2E2E"/>
                          </a:solidFill>
                          <a:latin typeface="Calibri"/>
                        </a:rPr>
                        <a:t>13.0%</a:t>
                      </a:r>
                    </a:p>
                  </a:txBody>
                  <a:tcPr marL="85725" marR="38100" marT="19050" marB="19050" anchor="ctr">
                    <a:solidFill>
                      <a:srgbClr val="E0E8EF"/>
                    </a:solidFill>
                  </a:tcPr>
                </a:tc>
              </a:tr>
            </a:tbl>
          </a:graphicData>
        </a:graphic>
      </p:graphicFrame>
      <p:sp>
        <p:nvSpPr>
          <p:cNvPr id="14" name="TextBox 13"/>
          <p:cNvSpPr txBox="1"/>
          <p:nvPr/>
        </p:nvSpPr>
        <p:spPr>
          <a:xfrm>
            <a:off x="219075" y="38481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4124325"/>
            <a:ext cx="11906250" cy="2600325"/>
          </a:xfrm>
          <a:prstGeom prst="roundRect">
            <a:avLst>
              <a:gd name="adj" fmla="val 29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2100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Analysis, By Dosage / Concentration</a:t>
            </a:r>
          </a:p>
        </p:txBody>
      </p:sp>
      <p:sp>
        <p:nvSpPr>
          <p:cNvPr id="17" name="Rectangle 16"/>
          <p:cNvSpPr/>
          <p:nvPr/>
        </p:nvSpPr>
        <p:spPr>
          <a:xfrm>
            <a:off x="276225" y="44481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533900"/>
            <a:ext cx="11639550" cy="2114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'80 mg' is the largest dosage / concentration at 41.0% of 2036 volume (5.79 Mn Doses).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'20 mg' grows fastest 13.9%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'20 mg' (+214 BPS) and away from '40 mg' (-307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volume rises from 4.16 to 14.1 Mn Doses across 4 categories.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Value Analysis, By Dosage / Concentration (US$ Mn)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3133725"/>
          </a:xfrm>
          <a:prstGeom prst="roundRect">
            <a:avLst>
              <a:gd name="adj" fmla="val 24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Dosage / Concentration (US$ Mn)</a:t>
            </a:r>
          </a:p>
        </p:txBody>
      </p:sp>
      <p:graphicFrame>
        <p:nvGraphicFramePr>
          <p:cNvPr id="13" name="Table 12"/>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Dosage / Concentration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20 mg</a:t>
                      </a:r>
                    </a:p>
                  </a:txBody>
                  <a:tcPr marL="85725" marR="38100" marT="19050" marB="19050" anchor="ctr">
                    <a:solidFill>
                      <a:srgbClr val="FFFFFF"/>
                    </a:solidFill>
                  </a:tcPr>
                </a:tc>
                <a:tc>
                  <a:txBody>
                    <a:bodyPr wrap="none"/>
                    <a:lstStyle/>
                    <a:p>
                      <a:pPr algn="l"/>
                      <a:r>
                        <a:rPr sz="800" b="0">
                          <a:solidFill>
                            <a:srgbClr val="2E2E2E"/>
                          </a:solidFill>
                          <a:latin typeface="Calibri"/>
                        </a:rPr>
                        <a:t>193.7</a:t>
                      </a:r>
                    </a:p>
                  </a:txBody>
                  <a:tcPr marL="85725" marR="38100" marT="19050" marB="19050" anchor="ctr">
                    <a:solidFill>
                      <a:srgbClr val="FFFFFF"/>
                    </a:solidFill>
                  </a:tcPr>
                </a:tc>
                <a:tc>
                  <a:txBody>
                    <a:bodyPr wrap="none"/>
                    <a:lstStyle/>
                    <a:p>
                      <a:pPr algn="l"/>
                      <a:r>
                        <a:rPr sz="800" b="0">
                          <a:solidFill>
                            <a:srgbClr val="2E2E2E"/>
                          </a:solidFill>
                          <a:latin typeface="Calibri"/>
                        </a:rPr>
                        <a:t>219.2</a:t>
                      </a:r>
                    </a:p>
                  </a:txBody>
                  <a:tcPr marL="85725" marR="38100" marT="19050" marB="19050" anchor="ctr">
                    <a:solidFill>
                      <a:srgbClr val="FFFFFF"/>
                    </a:solidFill>
                  </a:tcPr>
                </a:tc>
                <a:tc>
                  <a:txBody>
                    <a:bodyPr wrap="none"/>
                    <a:lstStyle/>
                    <a:p>
                      <a:pPr algn="l"/>
                      <a:r>
                        <a:rPr sz="800" b="0">
                          <a:solidFill>
                            <a:srgbClr val="2E2E2E"/>
                          </a:solidFill>
                          <a:latin typeface="Calibri"/>
                        </a:rPr>
                        <a:t>262.9</a:t>
                      </a:r>
                    </a:p>
                  </a:txBody>
                  <a:tcPr marL="85725" marR="38100" marT="19050" marB="19050" anchor="ctr">
                    <a:solidFill>
                      <a:srgbClr val="FFFFFF"/>
                    </a:solidFill>
                  </a:tcPr>
                </a:tc>
                <a:tc>
                  <a:txBody>
                    <a:bodyPr wrap="none"/>
                    <a:lstStyle/>
                    <a:p>
                      <a:pPr algn="l"/>
                      <a:r>
                        <a:rPr sz="800" b="0">
                          <a:solidFill>
                            <a:srgbClr val="2E2E2E"/>
                          </a:solidFill>
                          <a:latin typeface="Calibri"/>
                        </a:rPr>
                        <a:t>325.5</a:t>
                      </a:r>
                    </a:p>
                  </a:txBody>
                  <a:tcPr marL="85725" marR="38100" marT="19050" marB="19050" anchor="ctr">
                    <a:solidFill>
                      <a:srgbClr val="FFFFFF"/>
                    </a:solidFill>
                  </a:tcPr>
                </a:tc>
                <a:tc>
                  <a:txBody>
                    <a:bodyPr wrap="none"/>
                    <a:lstStyle/>
                    <a:p>
                      <a:pPr algn="l"/>
                      <a:r>
                        <a:rPr sz="800" b="0">
                          <a:solidFill>
                            <a:srgbClr val="2E2E2E"/>
                          </a:solidFill>
                          <a:latin typeface="Calibri"/>
                        </a:rPr>
                        <a:t>394.3</a:t>
                      </a:r>
                    </a:p>
                  </a:txBody>
                  <a:tcPr marL="85725" marR="38100" marT="19050" marB="19050" anchor="ctr">
                    <a:solidFill>
                      <a:srgbClr val="FFFFFF"/>
                    </a:solidFill>
                  </a:tcPr>
                </a:tc>
                <a:tc>
                  <a:txBody>
                    <a:bodyPr wrap="none"/>
                    <a:lstStyle/>
                    <a:p>
                      <a:pPr algn="l"/>
                      <a:r>
                        <a:rPr sz="800" b="0">
                          <a:solidFill>
                            <a:srgbClr val="2E2E2E"/>
                          </a:solidFill>
                          <a:latin typeface="Calibri"/>
                        </a:rPr>
                        <a:t>463.2</a:t>
                      </a:r>
                    </a:p>
                  </a:txBody>
                  <a:tcPr marL="85725" marR="38100" marT="19050" marB="19050" anchor="ctr">
                    <a:solidFill>
                      <a:srgbClr val="FFFFFF"/>
                    </a:solidFill>
                  </a:tcPr>
                </a:tc>
                <a:tc>
                  <a:txBody>
                    <a:bodyPr wrap="none"/>
                    <a:lstStyle/>
                    <a:p>
                      <a:pPr algn="l"/>
                      <a:r>
                        <a:rPr sz="800" b="0">
                          <a:solidFill>
                            <a:srgbClr val="2E2E2E"/>
                          </a:solidFill>
                          <a:latin typeface="Calibri"/>
                        </a:rPr>
                        <a:t>534.2</a:t>
                      </a:r>
                    </a:p>
                  </a:txBody>
                  <a:tcPr marL="85725" marR="38100" marT="19050" marB="19050" anchor="ctr">
                    <a:solidFill>
                      <a:srgbClr val="FFFFFF"/>
                    </a:solidFill>
                  </a:tcPr>
                </a:tc>
                <a:tc>
                  <a:txBody>
                    <a:bodyPr wrap="none"/>
                    <a:lstStyle/>
                    <a:p>
                      <a:pPr algn="l"/>
                      <a:r>
                        <a:rPr sz="800" b="0">
                          <a:solidFill>
                            <a:srgbClr val="2E2E2E"/>
                          </a:solidFill>
                          <a:latin typeface="Calibri"/>
                        </a:rPr>
                        <a:t>603.7</a:t>
                      </a:r>
                    </a:p>
                  </a:txBody>
                  <a:tcPr marL="85725" marR="38100" marT="19050" marB="19050" anchor="ctr">
                    <a:solidFill>
                      <a:srgbClr val="FFFFFF"/>
                    </a:solidFill>
                  </a:tcPr>
                </a:tc>
                <a:tc>
                  <a:txBody>
                    <a:bodyPr wrap="none"/>
                    <a:lstStyle/>
                    <a:p>
                      <a:pPr algn="l"/>
                      <a:r>
                        <a:rPr sz="800" b="0">
                          <a:solidFill>
                            <a:srgbClr val="2E2E2E"/>
                          </a:solidFill>
                          <a:latin typeface="Calibri"/>
                        </a:rPr>
                        <a:t>672.2</a:t>
                      </a:r>
                    </a:p>
                  </a:txBody>
                  <a:tcPr marL="85725" marR="38100" marT="19050" marB="19050" anchor="ctr">
                    <a:solidFill>
                      <a:srgbClr val="FFFFFF"/>
                    </a:solidFill>
                  </a:tcPr>
                </a:tc>
                <a:tc>
                  <a:txBody>
                    <a:bodyPr wrap="none"/>
                    <a:lstStyle/>
                    <a:p>
                      <a:pPr algn="l"/>
                      <a:r>
                        <a:rPr sz="800" b="0">
                          <a:solidFill>
                            <a:srgbClr val="2E2E2E"/>
                          </a:solidFill>
                          <a:latin typeface="Calibri"/>
                        </a:rPr>
                        <a:t>739.6</a:t>
                      </a:r>
                    </a:p>
                  </a:txBody>
                  <a:tcPr marL="85725" marR="38100" marT="19050" marB="19050" anchor="ctr">
                    <a:solidFill>
                      <a:srgbClr val="FFFFFF"/>
                    </a:solidFill>
                  </a:tcPr>
                </a:tc>
                <a:tc>
                  <a:txBody>
                    <a:bodyPr wrap="none"/>
                    <a:lstStyle/>
                    <a:p>
                      <a:pPr algn="l"/>
                      <a:r>
                        <a:rPr sz="800" b="0">
                          <a:solidFill>
                            <a:srgbClr val="2E2E2E"/>
                          </a:solidFill>
                          <a:latin typeface="Calibri"/>
                        </a:rPr>
                        <a:t>805.4</a:t>
                      </a:r>
                    </a:p>
                  </a:txBody>
                  <a:tcPr marL="85725" marR="38100" marT="19050" marB="19050" anchor="ctr">
                    <a:solidFill>
                      <a:srgbClr val="FFFFFF"/>
                    </a:solidFill>
                  </a:tcPr>
                </a:tc>
                <a:tc>
                  <a:txBody>
                    <a:bodyPr wrap="none"/>
                    <a:lstStyle/>
                    <a:p>
                      <a:pPr algn="l"/>
                      <a:r>
                        <a:rPr sz="800" b="0">
                          <a:solidFill>
                            <a:srgbClr val="2E2E2E"/>
                          </a:solidFill>
                          <a:latin typeface="Calibri"/>
                        </a:rPr>
                        <a:t>869.6</a:t>
                      </a:r>
                    </a:p>
                  </a:txBody>
                  <a:tcPr marL="85725" marR="38100" marT="19050" marB="19050" anchor="ctr">
                    <a:solidFill>
                      <a:srgbClr val="FFFFFF"/>
                    </a:solidFill>
                  </a:tcPr>
                </a:tc>
                <a:tc>
                  <a:txBody>
                    <a:bodyPr wrap="none"/>
                    <a:lstStyle/>
                    <a:p>
                      <a:pPr algn="l"/>
                      <a:r>
                        <a:rPr sz="800" b="0">
                          <a:solidFill>
                            <a:srgbClr val="2E2E2E"/>
                          </a:solidFill>
                          <a:latin typeface="Calibri"/>
                        </a:rPr>
                        <a:t>931.7</a:t>
                      </a:r>
                    </a:p>
                  </a:txBody>
                  <a:tcPr marL="85725" marR="38100" marT="19050" marB="19050" anchor="ctr">
                    <a:solidFill>
                      <a:srgbClr val="FFFFFF"/>
                    </a:solidFill>
                  </a:tcPr>
                </a:tc>
                <a:tc>
                  <a:txBody>
                    <a:bodyPr wrap="none"/>
                    <a:lstStyle/>
                    <a:p>
                      <a:pPr algn="l"/>
                      <a:r>
                        <a:rPr sz="800" b="0">
                          <a:solidFill>
                            <a:srgbClr val="2E2E2E"/>
                          </a:solidFill>
                          <a:latin typeface="Calibri"/>
                        </a:rPr>
                        <a:t>992.4</a:t>
                      </a:r>
                    </a:p>
                  </a:txBody>
                  <a:tcPr marL="85725" marR="38100" marT="19050" marB="19050" anchor="ctr">
                    <a:solidFill>
                      <a:srgbClr val="FFFFFF"/>
                    </a:solidFill>
                  </a:tcPr>
                </a:tc>
                <a:tc>
                  <a:txBody>
                    <a:bodyPr wrap="none"/>
                    <a:lstStyle/>
                    <a:p>
                      <a:pPr algn="l"/>
                      <a:r>
                        <a:rPr sz="800" b="0">
                          <a:solidFill>
                            <a:srgbClr val="2E2E2E"/>
                          </a:solidFill>
                          <a:latin typeface="Calibri"/>
                        </a:rPr>
                        <a:t>1,052</a:t>
                      </a:r>
                    </a:p>
                  </a:txBody>
                  <a:tcPr marL="85725" marR="38100" marT="19050" marB="19050" anchor="ctr">
                    <a:solidFill>
                      <a:srgbClr val="FFFFFF"/>
                    </a:solidFill>
                  </a:tcPr>
                </a:tc>
                <a:tc>
                  <a:txBody>
                    <a:bodyPr wrap="none"/>
                    <a:lstStyle/>
                    <a:p>
                      <a:pPr algn="l"/>
                      <a:r>
                        <a:rPr sz="800" b="0">
                          <a:solidFill>
                            <a:srgbClr val="2E2E2E"/>
                          </a:solidFill>
                          <a:latin typeface="Calibri"/>
                        </a:rPr>
                        <a:t>1,111</a:t>
                      </a:r>
                    </a:p>
                  </a:txBody>
                  <a:tcPr marL="85725" marR="38100" marT="19050" marB="19050" anchor="ctr">
                    <a:solidFill>
                      <a:srgbClr val="FFFFFF"/>
                    </a:solidFill>
                  </a:tcPr>
                </a:tc>
                <a:tc>
                  <a:txBody>
                    <a:bodyPr wrap="none"/>
                    <a:lstStyle/>
                    <a:p>
                      <a:pPr algn="l"/>
                      <a:r>
                        <a:rPr sz="800" b="0">
                          <a:solidFill>
                            <a:srgbClr val="2E2E2E"/>
                          </a:solidFill>
                          <a:latin typeface="Calibri"/>
                        </a:rPr>
                        <a:t>9.1%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40 mg</a:t>
                      </a:r>
                    </a:p>
                  </a:txBody>
                  <a:tcPr marL="85725" marR="38100" marT="19050" marB="19050" anchor="ctr">
                    <a:solidFill>
                      <a:srgbClr val="F5F8FA"/>
                    </a:solidFill>
                  </a:tcPr>
                </a:tc>
                <a:tc>
                  <a:txBody>
                    <a:bodyPr wrap="none"/>
                    <a:lstStyle/>
                    <a:p>
                      <a:pPr algn="l"/>
                      <a:r>
                        <a:rPr sz="800" b="0">
                          <a:solidFill>
                            <a:srgbClr val="2E2E2E"/>
                          </a:solidFill>
                          <a:latin typeface="Calibri"/>
                        </a:rPr>
                        <a:t>269.0</a:t>
                      </a:r>
                    </a:p>
                  </a:txBody>
                  <a:tcPr marL="85725" marR="38100" marT="19050" marB="19050" anchor="ctr">
                    <a:solidFill>
                      <a:srgbClr val="F5F8FA"/>
                    </a:solidFill>
                  </a:tcPr>
                </a:tc>
                <a:tc>
                  <a:txBody>
                    <a:bodyPr wrap="none"/>
                    <a:lstStyle/>
                    <a:p>
                      <a:pPr algn="l"/>
                      <a:r>
                        <a:rPr sz="800" b="0">
                          <a:solidFill>
                            <a:srgbClr val="2E2E2E"/>
                          </a:solidFill>
                          <a:latin typeface="Calibri"/>
                        </a:rPr>
                        <a:t>303.3</a:t>
                      </a:r>
                    </a:p>
                  </a:txBody>
                  <a:tcPr marL="85725" marR="38100" marT="19050" marB="19050" anchor="ctr">
                    <a:solidFill>
                      <a:srgbClr val="F5F8FA"/>
                    </a:solidFill>
                  </a:tcPr>
                </a:tc>
                <a:tc>
                  <a:txBody>
                    <a:bodyPr wrap="none"/>
                    <a:lstStyle/>
                    <a:p>
                      <a:pPr algn="l"/>
                      <a:r>
                        <a:rPr sz="800" b="0">
                          <a:solidFill>
                            <a:srgbClr val="2E2E2E"/>
                          </a:solidFill>
                          <a:latin typeface="Calibri"/>
                        </a:rPr>
                        <a:t>362.7</a:t>
                      </a:r>
                    </a:p>
                  </a:txBody>
                  <a:tcPr marL="85725" marR="38100" marT="19050" marB="19050" anchor="ctr">
                    <a:solidFill>
                      <a:srgbClr val="F5F8FA"/>
                    </a:solidFill>
                  </a:tcPr>
                </a:tc>
                <a:tc>
                  <a:txBody>
                    <a:bodyPr wrap="none"/>
                    <a:lstStyle/>
                    <a:p>
                      <a:pPr algn="l"/>
                      <a:r>
                        <a:rPr sz="800" b="0">
                          <a:solidFill>
                            <a:srgbClr val="2E2E2E"/>
                          </a:solidFill>
                          <a:latin typeface="Calibri"/>
                        </a:rPr>
                        <a:t>447.6</a:t>
                      </a:r>
                    </a:p>
                  </a:txBody>
                  <a:tcPr marL="85725" marR="38100" marT="19050" marB="19050" anchor="ctr">
                    <a:solidFill>
                      <a:srgbClr val="F5F8FA"/>
                    </a:solidFill>
                  </a:tcPr>
                </a:tc>
                <a:tc>
                  <a:txBody>
                    <a:bodyPr wrap="none"/>
                    <a:lstStyle/>
                    <a:p>
                      <a:pPr algn="l"/>
                      <a:r>
                        <a:rPr sz="800" b="0">
                          <a:solidFill>
                            <a:srgbClr val="2E2E2E"/>
                          </a:solidFill>
                          <a:latin typeface="Calibri"/>
                        </a:rPr>
                        <a:t>540.4</a:t>
                      </a:r>
                    </a:p>
                  </a:txBody>
                  <a:tcPr marL="85725" marR="38100" marT="19050" marB="19050" anchor="ctr">
                    <a:solidFill>
                      <a:srgbClr val="F5F8FA"/>
                    </a:solidFill>
                  </a:tcPr>
                </a:tc>
                <a:tc>
                  <a:txBody>
                    <a:bodyPr wrap="none"/>
                    <a:lstStyle/>
                    <a:p>
                      <a:pPr algn="l"/>
                      <a:r>
                        <a:rPr sz="800" b="0">
                          <a:solidFill>
                            <a:srgbClr val="2E2E2E"/>
                          </a:solidFill>
                          <a:latin typeface="Calibri"/>
                        </a:rPr>
                        <a:t>632.6</a:t>
                      </a:r>
                    </a:p>
                  </a:txBody>
                  <a:tcPr marL="85725" marR="38100" marT="19050" marB="19050" anchor="ctr">
                    <a:solidFill>
                      <a:srgbClr val="F5F8FA"/>
                    </a:solidFill>
                  </a:tcPr>
                </a:tc>
                <a:tc>
                  <a:txBody>
                    <a:bodyPr wrap="none"/>
                    <a:lstStyle/>
                    <a:p>
                      <a:pPr algn="l"/>
                      <a:r>
                        <a:rPr sz="800" b="0">
                          <a:solidFill>
                            <a:srgbClr val="2E2E2E"/>
                          </a:solidFill>
                          <a:latin typeface="Calibri"/>
                        </a:rPr>
                        <a:t>727.1</a:t>
                      </a:r>
                    </a:p>
                  </a:txBody>
                  <a:tcPr marL="85725" marR="38100" marT="19050" marB="19050" anchor="ctr">
                    <a:solidFill>
                      <a:srgbClr val="F5F8FA"/>
                    </a:solidFill>
                  </a:tcPr>
                </a:tc>
                <a:tc>
                  <a:txBody>
                    <a:bodyPr wrap="none"/>
                    <a:lstStyle/>
                    <a:p>
                      <a:pPr algn="l"/>
                      <a:r>
                        <a:rPr sz="800" b="0">
                          <a:solidFill>
                            <a:srgbClr val="2E2E2E"/>
                          </a:solidFill>
                          <a:latin typeface="Calibri"/>
                        </a:rPr>
                        <a:t>818.6</a:t>
                      </a:r>
                    </a:p>
                  </a:txBody>
                  <a:tcPr marL="85725" marR="38100" marT="19050" marB="19050" anchor="ctr">
                    <a:solidFill>
                      <a:srgbClr val="F5F8FA"/>
                    </a:solidFill>
                  </a:tcPr>
                </a:tc>
                <a:tc>
                  <a:txBody>
                    <a:bodyPr wrap="none"/>
                    <a:lstStyle/>
                    <a:p>
                      <a:pPr algn="l"/>
                      <a:r>
                        <a:rPr sz="800" b="0">
                          <a:solidFill>
                            <a:srgbClr val="2E2E2E"/>
                          </a:solidFill>
                          <a:latin typeface="Calibri"/>
                        </a:rPr>
                        <a:t>908.2</a:t>
                      </a:r>
                    </a:p>
                  </a:txBody>
                  <a:tcPr marL="85725" marR="38100" marT="19050" marB="19050" anchor="ctr">
                    <a:solidFill>
                      <a:srgbClr val="F5F8FA"/>
                    </a:solidFill>
                  </a:tcPr>
                </a:tc>
                <a:tc>
                  <a:txBody>
                    <a:bodyPr wrap="none"/>
                    <a:lstStyle/>
                    <a:p>
                      <a:pPr algn="l"/>
                      <a:r>
                        <a:rPr sz="800" b="0">
                          <a:solidFill>
                            <a:srgbClr val="2E2E2E"/>
                          </a:solidFill>
                          <a:latin typeface="Calibri"/>
                        </a:rPr>
                        <a:t>995.5</a:t>
                      </a:r>
                    </a:p>
                  </a:txBody>
                  <a:tcPr marL="85725" marR="38100" marT="19050" marB="19050" anchor="ctr">
                    <a:solidFill>
                      <a:srgbClr val="F5F8FA"/>
                    </a:solidFill>
                  </a:tcPr>
                </a:tc>
                <a:tc>
                  <a:txBody>
                    <a:bodyPr wrap="none"/>
                    <a:lstStyle/>
                    <a:p>
                      <a:pPr algn="l"/>
                      <a:r>
                        <a:rPr sz="800" b="0">
                          <a:solidFill>
                            <a:srgbClr val="2E2E2E"/>
                          </a:solidFill>
                          <a:latin typeface="Calibri"/>
                        </a:rPr>
                        <a:t>1,080</a:t>
                      </a:r>
                    </a:p>
                  </a:txBody>
                  <a:tcPr marL="85725" marR="38100" marT="19050" marB="19050" anchor="ctr">
                    <a:solidFill>
                      <a:srgbClr val="F5F8FA"/>
                    </a:solidFill>
                  </a:tcPr>
                </a:tc>
                <a:tc>
                  <a:txBody>
                    <a:bodyPr wrap="none"/>
                    <a:lstStyle/>
                    <a:p>
                      <a:pPr algn="l"/>
                      <a:r>
                        <a:rPr sz="800" b="0">
                          <a:solidFill>
                            <a:srgbClr val="2E2E2E"/>
                          </a:solidFill>
                          <a:latin typeface="Calibri"/>
                        </a:rPr>
                        <a:t>1,161</a:t>
                      </a:r>
                    </a:p>
                  </a:txBody>
                  <a:tcPr marL="85725" marR="38100" marT="19050" marB="19050" anchor="ctr">
                    <a:solidFill>
                      <a:srgbClr val="F5F8FA"/>
                    </a:solidFill>
                  </a:tcPr>
                </a:tc>
                <a:tc>
                  <a:txBody>
                    <a:bodyPr wrap="none"/>
                    <a:lstStyle/>
                    <a:p>
                      <a:pPr algn="l"/>
                      <a:r>
                        <a:rPr sz="800" b="0">
                          <a:solidFill>
                            <a:srgbClr val="2E2E2E"/>
                          </a:solidFill>
                          <a:latin typeface="Calibri"/>
                        </a:rPr>
                        <a:t>1,239</a:t>
                      </a:r>
                    </a:p>
                  </a:txBody>
                  <a:tcPr marL="85725" marR="38100" marT="19050" marB="19050" anchor="ctr">
                    <a:solidFill>
                      <a:srgbClr val="F5F8FA"/>
                    </a:solidFill>
                  </a:tcPr>
                </a:tc>
                <a:tc>
                  <a:txBody>
                    <a:bodyPr wrap="none"/>
                    <a:lstStyle/>
                    <a:p>
                      <a:pPr algn="l"/>
                      <a:r>
                        <a:rPr sz="800" b="0">
                          <a:solidFill>
                            <a:srgbClr val="2E2E2E"/>
                          </a:solidFill>
                          <a:latin typeface="Calibri"/>
                        </a:rPr>
                        <a:t>1,315</a:t>
                      </a:r>
                    </a:p>
                  </a:txBody>
                  <a:tcPr marL="85725" marR="38100" marT="19050" marB="19050" anchor="ctr">
                    <a:solidFill>
                      <a:srgbClr val="F5F8FA"/>
                    </a:solidFill>
                  </a:tcPr>
                </a:tc>
                <a:tc>
                  <a:txBody>
                    <a:bodyPr wrap="none"/>
                    <a:lstStyle/>
                    <a:p>
                      <a:pPr algn="l"/>
                      <a:r>
                        <a:rPr sz="800" b="0">
                          <a:solidFill>
                            <a:srgbClr val="2E2E2E"/>
                          </a:solidFill>
                          <a:latin typeface="Calibri"/>
                        </a:rPr>
                        <a:t>1,388</a:t>
                      </a:r>
                    </a:p>
                  </a:txBody>
                  <a:tcPr marL="85725" marR="38100" marT="19050" marB="19050" anchor="ctr">
                    <a:solidFill>
                      <a:srgbClr val="F5F8FA"/>
                    </a:solidFill>
                  </a:tcPr>
                </a:tc>
                <a:tc>
                  <a:txBody>
                    <a:bodyPr wrap="none"/>
                    <a:lstStyle/>
                    <a:p>
                      <a:pPr algn="l"/>
                      <a:r>
                        <a:rPr sz="800" b="0">
                          <a:solidFill>
                            <a:srgbClr val="2E2E2E"/>
                          </a:solidFill>
                          <a:latin typeface="Calibri"/>
                        </a:rPr>
                        <a:t>1,459</a:t>
                      </a:r>
                    </a:p>
                  </a:txBody>
                  <a:tcPr marL="85725" marR="38100" marT="19050" marB="19050" anchor="ctr">
                    <a:solidFill>
                      <a:srgbClr val="F5F8FA"/>
                    </a:solidFill>
                  </a:tcPr>
                </a:tc>
                <a:tc>
                  <a:txBody>
                    <a:bodyPr wrap="none"/>
                    <a:lstStyle/>
                    <a:p>
                      <a:pPr algn="l"/>
                      <a:r>
                        <a:rPr sz="800" b="0">
                          <a:solidFill>
                            <a:srgbClr val="2E2E2E"/>
                          </a:solidFill>
                          <a:latin typeface="Calibri"/>
                        </a:rPr>
                        <a:t>8.7%</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80 mg</a:t>
                      </a:r>
                    </a:p>
                  </a:txBody>
                  <a:tcPr marL="85725" marR="38100" marT="19050" marB="19050" anchor="ctr">
                    <a:solidFill>
                      <a:srgbClr val="FFFFFF"/>
                    </a:solidFill>
                  </a:tcPr>
                </a:tc>
                <a:tc>
                  <a:txBody>
                    <a:bodyPr wrap="none"/>
                    <a:lstStyle/>
                    <a:p>
                      <a:pPr algn="l"/>
                      <a:r>
                        <a:rPr sz="800" b="0">
                          <a:solidFill>
                            <a:srgbClr val="2E2E2E"/>
                          </a:solidFill>
                          <a:latin typeface="Calibri"/>
                        </a:rPr>
                        <a:t>310.7</a:t>
                      </a:r>
                    </a:p>
                  </a:txBody>
                  <a:tcPr marL="85725" marR="38100" marT="19050" marB="19050" anchor="ctr">
                    <a:solidFill>
                      <a:srgbClr val="FFFFFF"/>
                    </a:solidFill>
                  </a:tcPr>
                </a:tc>
                <a:tc>
                  <a:txBody>
                    <a:bodyPr wrap="none"/>
                    <a:lstStyle/>
                    <a:p>
                      <a:pPr algn="l"/>
                      <a:r>
                        <a:rPr sz="800" b="0">
                          <a:solidFill>
                            <a:srgbClr val="2E2E2E"/>
                          </a:solidFill>
                          <a:latin typeface="Calibri"/>
                        </a:rPr>
                        <a:t>345.8</a:t>
                      </a:r>
                    </a:p>
                  </a:txBody>
                  <a:tcPr marL="85725" marR="38100" marT="19050" marB="19050" anchor="ctr">
                    <a:solidFill>
                      <a:srgbClr val="FFFFFF"/>
                    </a:solidFill>
                  </a:tcPr>
                </a:tc>
                <a:tc>
                  <a:txBody>
                    <a:bodyPr wrap="none"/>
                    <a:lstStyle/>
                    <a:p>
                      <a:pPr algn="l"/>
                      <a:r>
                        <a:rPr sz="800" b="0">
                          <a:solidFill>
                            <a:srgbClr val="2E2E2E"/>
                          </a:solidFill>
                          <a:latin typeface="Calibri"/>
                        </a:rPr>
                        <a:t>408.3</a:t>
                      </a:r>
                    </a:p>
                  </a:txBody>
                  <a:tcPr marL="85725" marR="38100" marT="19050" marB="19050" anchor="ctr">
                    <a:solidFill>
                      <a:srgbClr val="FFFFFF"/>
                    </a:solidFill>
                  </a:tcPr>
                </a:tc>
                <a:tc>
                  <a:txBody>
                    <a:bodyPr wrap="none"/>
                    <a:lstStyle/>
                    <a:p>
                      <a:pPr algn="l"/>
                      <a:r>
                        <a:rPr sz="800" b="0">
                          <a:solidFill>
                            <a:srgbClr val="2E2E2E"/>
                          </a:solidFill>
                          <a:latin typeface="Calibri"/>
                        </a:rPr>
                        <a:t>497.7</a:t>
                      </a:r>
                    </a:p>
                  </a:txBody>
                  <a:tcPr marL="85725" marR="38100" marT="19050" marB="19050" anchor="ctr">
                    <a:solidFill>
                      <a:srgbClr val="FFFFFF"/>
                    </a:solidFill>
                  </a:tcPr>
                </a:tc>
                <a:tc>
                  <a:txBody>
                    <a:bodyPr wrap="none"/>
                    <a:lstStyle/>
                    <a:p>
                      <a:pPr algn="l"/>
                      <a:r>
                        <a:rPr sz="800" b="0">
                          <a:solidFill>
                            <a:srgbClr val="2E2E2E"/>
                          </a:solidFill>
                          <a:latin typeface="Calibri"/>
                        </a:rPr>
                        <a:t>593.7</a:t>
                      </a:r>
                    </a:p>
                  </a:txBody>
                  <a:tcPr marL="85725" marR="38100" marT="19050" marB="19050" anchor="ctr">
                    <a:solidFill>
                      <a:srgbClr val="FFFFFF"/>
                    </a:solidFill>
                  </a:tcPr>
                </a:tc>
                <a:tc>
                  <a:txBody>
                    <a:bodyPr wrap="none"/>
                    <a:lstStyle/>
                    <a:p>
                      <a:pPr algn="l"/>
                      <a:r>
                        <a:rPr sz="800" b="0">
                          <a:solidFill>
                            <a:srgbClr val="2E2E2E"/>
                          </a:solidFill>
                          <a:latin typeface="Calibri"/>
                        </a:rPr>
                        <a:t>687.1</a:t>
                      </a:r>
                    </a:p>
                  </a:txBody>
                  <a:tcPr marL="85725" marR="38100" marT="19050" marB="19050" anchor="ctr">
                    <a:solidFill>
                      <a:srgbClr val="FFFFFF"/>
                    </a:solidFill>
                  </a:tcPr>
                </a:tc>
                <a:tc>
                  <a:txBody>
                    <a:bodyPr wrap="none"/>
                    <a:lstStyle/>
                    <a:p>
                      <a:pPr algn="l"/>
                      <a:r>
                        <a:rPr sz="800" b="0">
                          <a:solidFill>
                            <a:srgbClr val="2E2E2E"/>
                          </a:solidFill>
                          <a:latin typeface="Calibri"/>
                        </a:rPr>
                        <a:t>780.9</a:t>
                      </a:r>
                    </a:p>
                  </a:txBody>
                  <a:tcPr marL="85725" marR="38100" marT="19050" marB="19050" anchor="ctr">
                    <a:solidFill>
                      <a:srgbClr val="FFFFFF"/>
                    </a:solidFill>
                  </a:tcPr>
                </a:tc>
                <a:tc>
                  <a:txBody>
                    <a:bodyPr wrap="none"/>
                    <a:lstStyle/>
                    <a:p>
                      <a:pPr algn="l"/>
                      <a:r>
                        <a:rPr sz="800" b="0">
                          <a:solidFill>
                            <a:srgbClr val="2E2E2E"/>
                          </a:solidFill>
                          <a:latin typeface="Calibri"/>
                        </a:rPr>
                        <a:t>869.7</a:t>
                      </a:r>
                    </a:p>
                  </a:txBody>
                  <a:tcPr marL="85725" marR="38100" marT="19050" marB="19050" anchor="ctr">
                    <a:solidFill>
                      <a:srgbClr val="FFFFFF"/>
                    </a:solidFill>
                  </a:tcPr>
                </a:tc>
                <a:tc>
                  <a:txBody>
                    <a:bodyPr wrap="none"/>
                    <a:lstStyle/>
                    <a:p>
                      <a:pPr algn="l"/>
                      <a:r>
                        <a:rPr sz="800" b="0">
                          <a:solidFill>
                            <a:srgbClr val="2E2E2E"/>
                          </a:solidFill>
                          <a:latin typeface="Calibri"/>
                        </a:rPr>
                        <a:t>954.9</a:t>
                      </a:r>
                    </a:p>
                  </a:txBody>
                  <a:tcPr marL="85725" marR="38100" marT="19050" marB="19050" anchor="ctr">
                    <a:solidFill>
                      <a:srgbClr val="FFFFFF"/>
                    </a:solidFill>
                  </a:tcPr>
                </a:tc>
                <a:tc>
                  <a:txBody>
                    <a:bodyPr wrap="none"/>
                    <a:lstStyle/>
                    <a:p>
                      <a:pPr algn="l"/>
                      <a:r>
                        <a:rPr sz="800" b="0">
                          <a:solidFill>
                            <a:srgbClr val="2E2E2E"/>
                          </a:solidFill>
                          <a:latin typeface="Calibri"/>
                        </a:rPr>
                        <a:t>1,036</a:t>
                      </a:r>
                    </a:p>
                  </a:txBody>
                  <a:tcPr marL="85725" marR="38100" marT="19050" marB="19050" anchor="ctr">
                    <a:solidFill>
                      <a:srgbClr val="FFFFFF"/>
                    </a:solidFill>
                  </a:tcPr>
                </a:tc>
                <a:tc>
                  <a:txBody>
                    <a:bodyPr wrap="none"/>
                    <a:lstStyle/>
                    <a:p>
                      <a:pPr algn="l"/>
                      <a:r>
                        <a:rPr sz="800" b="0">
                          <a:solidFill>
                            <a:srgbClr val="2E2E2E"/>
                          </a:solidFill>
                          <a:latin typeface="Calibri"/>
                        </a:rPr>
                        <a:t>1,113</a:t>
                      </a:r>
                    </a:p>
                  </a:txBody>
                  <a:tcPr marL="85725" marR="38100" marT="19050" marB="19050" anchor="ctr">
                    <a:solidFill>
                      <a:srgbClr val="FFFFFF"/>
                    </a:solidFill>
                  </a:tcPr>
                </a:tc>
                <a:tc>
                  <a:txBody>
                    <a:bodyPr wrap="none"/>
                    <a:lstStyle/>
                    <a:p>
                      <a:pPr algn="l"/>
                      <a:r>
                        <a:rPr sz="800" b="0">
                          <a:solidFill>
                            <a:srgbClr val="2E2E2E"/>
                          </a:solidFill>
                          <a:latin typeface="Calibri"/>
                        </a:rPr>
                        <a:t>1,186</a:t>
                      </a:r>
                    </a:p>
                  </a:txBody>
                  <a:tcPr marL="85725" marR="38100" marT="19050" marB="19050" anchor="ctr">
                    <a:solidFill>
                      <a:srgbClr val="FFFFFF"/>
                    </a:solidFill>
                  </a:tcPr>
                </a:tc>
                <a:tc>
                  <a:txBody>
                    <a:bodyPr wrap="none"/>
                    <a:lstStyle/>
                    <a:p>
                      <a:pPr algn="l"/>
                      <a:r>
                        <a:rPr sz="800" b="0">
                          <a:solidFill>
                            <a:srgbClr val="2E2E2E"/>
                          </a:solidFill>
                          <a:latin typeface="Calibri"/>
                        </a:rPr>
                        <a:t>1,255</a:t>
                      </a:r>
                    </a:p>
                  </a:txBody>
                  <a:tcPr marL="85725" marR="38100" marT="19050" marB="19050" anchor="ctr">
                    <a:solidFill>
                      <a:srgbClr val="FFFFFF"/>
                    </a:solidFill>
                  </a:tcPr>
                </a:tc>
                <a:tc>
                  <a:txBody>
                    <a:bodyPr wrap="none"/>
                    <a:lstStyle/>
                    <a:p>
                      <a:pPr algn="l"/>
                      <a:r>
                        <a:rPr sz="800" b="0">
                          <a:solidFill>
                            <a:srgbClr val="2E2E2E"/>
                          </a:solidFill>
                          <a:latin typeface="Calibri"/>
                        </a:rPr>
                        <a:t>1,320</a:t>
                      </a:r>
                    </a:p>
                  </a:txBody>
                  <a:tcPr marL="85725" marR="38100" marT="19050" marB="19050" anchor="ctr">
                    <a:solidFill>
                      <a:srgbClr val="FFFFFF"/>
                    </a:solidFill>
                  </a:tcPr>
                </a:tc>
                <a:tc>
                  <a:txBody>
                    <a:bodyPr wrap="none"/>
                    <a:lstStyle/>
                    <a:p>
                      <a:pPr algn="l"/>
                      <a:r>
                        <a:rPr sz="800" b="0">
                          <a:solidFill>
                            <a:srgbClr val="2E2E2E"/>
                          </a:solidFill>
                          <a:latin typeface="Calibri"/>
                        </a:rPr>
                        <a:t>1,382</a:t>
                      </a:r>
                    </a:p>
                  </a:txBody>
                  <a:tcPr marL="85725" marR="38100" marT="19050" marB="19050" anchor="ctr">
                    <a:solidFill>
                      <a:srgbClr val="FFFFFF"/>
                    </a:solidFill>
                  </a:tcPr>
                </a:tc>
                <a:tc>
                  <a:txBody>
                    <a:bodyPr wrap="none"/>
                    <a:lstStyle/>
                    <a:p>
                      <a:pPr algn="l"/>
                      <a:r>
                        <a:rPr sz="800" b="0">
                          <a:solidFill>
                            <a:srgbClr val="2E2E2E"/>
                          </a:solidFill>
                          <a:latin typeface="Calibri"/>
                        </a:rPr>
                        <a:t>1,442</a:t>
                      </a:r>
                    </a:p>
                  </a:txBody>
                  <a:tcPr marL="85725" marR="38100" marT="19050" marB="19050" anchor="ctr">
                    <a:solidFill>
                      <a:srgbClr val="FFFFFF"/>
                    </a:solidFill>
                  </a:tcPr>
                </a:tc>
                <a:tc>
                  <a:txBody>
                    <a:bodyPr wrap="none"/>
                    <a:lstStyle/>
                    <a:p>
                      <a:pPr algn="l"/>
                      <a:r>
                        <a:rPr sz="800" b="0">
                          <a:solidFill>
                            <a:srgbClr val="2E2E2E"/>
                          </a:solidFill>
                          <a:latin typeface="Calibri"/>
                        </a:rPr>
                        <a:t>7.7%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100 mg/mL</a:t>
                      </a:r>
                    </a:p>
                  </a:txBody>
                  <a:tcPr marL="85725" marR="38100" marT="19050" marB="19050" anchor="ctr">
                    <a:solidFill>
                      <a:srgbClr val="F5F8FA"/>
                    </a:solidFill>
                  </a:tcPr>
                </a:tc>
                <a:tc>
                  <a:txBody>
                    <a:bodyPr wrap="none"/>
                    <a:lstStyle/>
                    <a:p>
                      <a:pPr algn="l"/>
                      <a:r>
                        <a:rPr sz="800" b="0">
                          <a:solidFill>
                            <a:srgbClr val="2E2E2E"/>
                          </a:solidFill>
                          <a:latin typeface="Calibri"/>
                        </a:rPr>
                        <a:t>79.2</a:t>
                      </a:r>
                    </a:p>
                  </a:txBody>
                  <a:tcPr marL="85725" marR="38100" marT="19050" marB="19050" anchor="ctr">
                    <a:solidFill>
                      <a:srgbClr val="F5F8FA"/>
                    </a:solidFill>
                  </a:tcPr>
                </a:tc>
                <a:tc>
                  <a:txBody>
                    <a:bodyPr wrap="none"/>
                    <a:lstStyle/>
                    <a:p>
                      <a:pPr algn="l"/>
                      <a:r>
                        <a:rPr sz="800" b="0">
                          <a:solidFill>
                            <a:srgbClr val="2E2E2E"/>
                          </a:solidFill>
                          <a:latin typeface="Calibri"/>
                        </a:rPr>
                        <a:t>89.8</a:t>
                      </a:r>
                    </a:p>
                  </a:txBody>
                  <a:tcPr marL="85725" marR="38100" marT="19050" marB="19050" anchor="ctr">
                    <a:solidFill>
                      <a:srgbClr val="F5F8FA"/>
                    </a:solidFill>
                  </a:tcPr>
                </a:tc>
                <a:tc>
                  <a:txBody>
                    <a:bodyPr wrap="none"/>
                    <a:lstStyle/>
                    <a:p>
                      <a:pPr algn="l"/>
                      <a:r>
                        <a:rPr sz="800" b="0">
                          <a:solidFill>
                            <a:srgbClr val="2E2E2E"/>
                          </a:solidFill>
                          <a:latin typeface="Calibri"/>
                        </a:rPr>
                        <a:t>108.0</a:t>
                      </a:r>
                    </a:p>
                  </a:txBody>
                  <a:tcPr marL="85725" marR="38100" marT="19050" marB="19050" anchor="ctr">
                    <a:solidFill>
                      <a:srgbClr val="F5F8FA"/>
                    </a:solidFill>
                  </a:tcPr>
                </a:tc>
                <a:tc>
                  <a:txBody>
                    <a:bodyPr wrap="none"/>
                    <a:lstStyle/>
                    <a:p>
                      <a:pPr algn="l"/>
                      <a:r>
                        <a:rPr sz="800" b="0">
                          <a:solidFill>
                            <a:srgbClr val="2E2E2E"/>
                          </a:solidFill>
                          <a:latin typeface="Calibri"/>
                        </a:rPr>
                        <a:t>134.0</a:t>
                      </a:r>
                    </a:p>
                  </a:txBody>
                  <a:tcPr marL="85725" marR="38100" marT="19050" marB="19050" anchor="ctr">
                    <a:solidFill>
                      <a:srgbClr val="F5F8FA"/>
                    </a:solidFill>
                  </a:tcPr>
                </a:tc>
                <a:tc>
                  <a:txBody>
                    <a:bodyPr wrap="none"/>
                    <a:lstStyle/>
                    <a:p>
                      <a:pPr algn="l"/>
                      <a:r>
                        <a:rPr sz="800" b="0">
                          <a:solidFill>
                            <a:srgbClr val="2E2E2E"/>
                          </a:solidFill>
                          <a:latin typeface="Calibri"/>
                        </a:rPr>
                        <a:t>162.6</a:t>
                      </a:r>
                    </a:p>
                  </a:txBody>
                  <a:tcPr marL="85725" marR="38100" marT="19050" marB="19050" anchor="ctr">
                    <a:solidFill>
                      <a:srgbClr val="F5F8FA"/>
                    </a:solidFill>
                  </a:tcPr>
                </a:tc>
                <a:tc>
                  <a:txBody>
                    <a:bodyPr wrap="none"/>
                    <a:lstStyle/>
                    <a:p>
                      <a:pPr algn="l"/>
                      <a:r>
                        <a:rPr sz="800" b="0">
                          <a:solidFill>
                            <a:srgbClr val="2E2E2E"/>
                          </a:solidFill>
                          <a:latin typeface="Calibri"/>
                        </a:rPr>
                        <a:t>191.4</a:t>
                      </a:r>
                    </a:p>
                  </a:txBody>
                  <a:tcPr marL="85725" marR="38100" marT="19050" marB="19050" anchor="ctr">
                    <a:solidFill>
                      <a:srgbClr val="F5F8FA"/>
                    </a:solidFill>
                  </a:tcPr>
                </a:tc>
                <a:tc>
                  <a:txBody>
                    <a:bodyPr wrap="none"/>
                    <a:lstStyle/>
                    <a:p>
                      <a:pPr algn="l"/>
                      <a:r>
                        <a:rPr sz="800" b="0">
                          <a:solidFill>
                            <a:srgbClr val="2E2E2E"/>
                          </a:solidFill>
                          <a:latin typeface="Calibri"/>
                        </a:rPr>
                        <a:t>221.1</a:t>
                      </a:r>
                    </a:p>
                  </a:txBody>
                  <a:tcPr marL="85725" marR="38100" marT="19050" marB="19050" anchor="ctr">
                    <a:solidFill>
                      <a:srgbClr val="F5F8FA"/>
                    </a:solidFill>
                  </a:tcPr>
                </a:tc>
                <a:tc>
                  <a:txBody>
                    <a:bodyPr wrap="none"/>
                    <a:lstStyle/>
                    <a:p>
                      <a:pPr algn="l"/>
                      <a:r>
                        <a:rPr sz="800" b="0">
                          <a:solidFill>
                            <a:srgbClr val="2E2E2E"/>
                          </a:solidFill>
                          <a:latin typeface="Calibri"/>
                        </a:rPr>
                        <a:t>250.2</a:t>
                      </a:r>
                    </a:p>
                  </a:txBody>
                  <a:tcPr marL="85725" marR="38100" marT="19050" marB="19050" anchor="ctr">
                    <a:solidFill>
                      <a:srgbClr val="F5F8FA"/>
                    </a:solidFill>
                  </a:tcPr>
                </a:tc>
                <a:tc>
                  <a:txBody>
                    <a:bodyPr wrap="none"/>
                    <a:lstStyle/>
                    <a:p>
                      <a:pPr algn="l"/>
                      <a:r>
                        <a:rPr sz="800" b="0">
                          <a:solidFill>
                            <a:srgbClr val="2E2E2E"/>
                          </a:solidFill>
                          <a:latin typeface="Calibri"/>
                        </a:rPr>
                        <a:t>279.0</a:t>
                      </a:r>
                    </a:p>
                  </a:txBody>
                  <a:tcPr marL="85725" marR="38100" marT="19050" marB="19050" anchor="ctr">
                    <a:solidFill>
                      <a:srgbClr val="F5F8FA"/>
                    </a:solidFill>
                  </a:tcPr>
                </a:tc>
                <a:tc>
                  <a:txBody>
                    <a:bodyPr wrap="none"/>
                    <a:lstStyle/>
                    <a:p>
                      <a:pPr algn="l"/>
                      <a:r>
                        <a:rPr sz="800" b="0">
                          <a:solidFill>
                            <a:srgbClr val="2E2E2E"/>
                          </a:solidFill>
                          <a:latin typeface="Calibri"/>
                        </a:rPr>
                        <a:t>307.3</a:t>
                      </a:r>
                    </a:p>
                  </a:txBody>
                  <a:tcPr marL="85725" marR="38100" marT="19050" marB="19050" anchor="ctr">
                    <a:solidFill>
                      <a:srgbClr val="F5F8FA"/>
                    </a:solidFill>
                  </a:tcPr>
                </a:tc>
                <a:tc>
                  <a:txBody>
                    <a:bodyPr wrap="none"/>
                    <a:lstStyle/>
                    <a:p>
                      <a:pPr algn="l"/>
                      <a:r>
                        <a:rPr sz="800" b="0">
                          <a:solidFill>
                            <a:srgbClr val="2E2E2E"/>
                          </a:solidFill>
                          <a:latin typeface="Calibri"/>
                        </a:rPr>
                        <a:t>334.9</a:t>
                      </a:r>
                    </a:p>
                  </a:txBody>
                  <a:tcPr marL="85725" marR="38100" marT="19050" marB="19050" anchor="ctr">
                    <a:solidFill>
                      <a:srgbClr val="F5F8FA"/>
                    </a:solidFill>
                  </a:tcPr>
                </a:tc>
                <a:tc>
                  <a:txBody>
                    <a:bodyPr wrap="none"/>
                    <a:lstStyle/>
                    <a:p>
                      <a:pPr algn="l"/>
                      <a:r>
                        <a:rPr sz="800" b="0">
                          <a:solidFill>
                            <a:srgbClr val="2E2E2E"/>
                          </a:solidFill>
                          <a:latin typeface="Calibri"/>
                        </a:rPr>
                        <a:t>361.9</a:t>
                      </a:r>
                    </a:p>
                  </a:txBody>
                  <a:tcPr marL="85725" marR="38100" marT="19050" marB="19050" anchor="ctr">
                    <a:solidFill>
                      <a:srgbClr val="F5F8FA"/>
                    </a:solidFill>
                  </a:tcPr>
                </a:tc>
                <a:tc>
                  <a:txBody>
                    <a:bodyPr wrap="none"/>
                    <a:lstStyle/>
                    <a:p>
                      <a:pPr algn="l"/>
                      <a:r>
                        <a:rPr sz="800" b="0">
                          <a:solidFill>
                            <a:srgbClr val="2E2E2E"/>
                          </a:solidFill>
                          <a:latin typeface="Calibri"/>
                        </a:rPr>
                        <a:t>388.0</a:t>
                      </a:r>
                    </a:p>
                  </a:txBody>
                  <a:tcPr marL="85725" marR="38100" marT="19050" marB="19050" anchor="ctr">
                    <a:solidFill>
                      <a:srgbClr val="F5F8FA"/>
                    </a:solidFill>
                  </a:tcPr>
                </a:tc>
                <a:tc>
                  <a:txBody>
                    <a:bodyPr wrap="none"/>
                    <a:lstStyle/>
                    <a:p>
                      <a:pPr algn="l"/>
                      <a:r>
                        <a:rPr sz="800" b="0">
                          <a:solidFill>
                            <a:srgbClr val="2E2E2E"/>
                          </a:solidFill>
                          <a:latin typeface="Calibri"/>
                        </a:rPr>
                        <a:t>413.5</a:t>
                      </a:r>
                    </a:p>
                  </a:txBody>
                  <a:tcPr marL="85725" marR="38100" marT="19050" marB="19050" anchor="ctr">
                    <a:solidFill>
                      <a:srgbClr val="F5F8FA"/>
                    </a:solidFill>
                  </a:tcPr>
                </a:tc>
                <a:tc>
                  <a:txBody>
                    <a:bodyPr wrap="none"/>
                    <a:lstStyle/>
                    <a:p>
                      <a:pPr algn="l"/>
                      <a:r>
                        <a:rPr sz="800" b="0">
                          <a:solidFill>
                            <a:srgbClr val="2E2E2E"/>
                          </a:solidFill>
                          <a:latin typeface="Calibri"/>
                        </a:rPr>
                        <a:t>438.4</a:t>
                      </a:r>
                    </a:p>
                  </a:txBody>
                  <a:tcPr marL="85725" marR="38100" marT="19050" marB="19050" anchor="ctr">
                    <a:solidFill>
                      <a:srgbClr val="F5F8FA"/>
                    </a:solidFill>
                  </a:tcPr>
                </a:tc>
                <a:tc>
                  <a:txBody>
                    <a:bodyPr wrap="none"/>
                    <a:lstStyle/>
                    <a:p>
                      <a:pPr algn="l"/>
                      <a:r>
                        <a:rPr sz="800" b="0">
                          <a:solidFill>
                            <a:srgbClr val="2E2E2E"/>
                          </a:solidFill>
                          <a:latin typeface="Calibri"/>
                        </a:rPr>
                        <a:t>462.9</a:t>
                      </a:r>
                    </a:p>
                  </a:txBody>
                  <a:tcPr marL="85725" marR="38100" marT="19050" marB="19050" anchor="ctr">
                    <a:solidFill>
                      <a:srgbClr val="F5F8FA"/>
                    </a:solidFill>
                  </a:tcPr>
                </a:tc>
                <a:tc>
                  <a:txBody>
                    <a:bodyPr wrap="none"/>
                    <a:lstStyle/>
                    <a:p>
                      <a:pPr algn="l"/>
                      <a:r>
                        <a:rPr sz="800" b="0">
                          <a:solidFill>
                            <a:srgbClr val="2E2E2E"/>
                          </a:solidFill>
                          <a:latin typeface="Calibri"/>
                        </a:rPr>
                        <a:t>9.2%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852.6</a:t>
                      </a:r>
                    </a:p>
                  </a:txBody>
                  <a:tcPr marL="85725" marR="38100" marT="19050" marB="19050" anchor="ctr">
                    <a:solidFill>
                      <a:srgbClr val="E0E8EF"/>
                    </a:solidFill>
                  </a:tcPr>
                </a:tc>
                <a:tc>
                  <a:txBody>
                    <a:bodyPr wrap="none"/>
                    <a:lstStyle/>
                    <a:p>
                      <a:pPr algn="l"/>
                      <a:r>
                        <a:rPr sz="800" b="1">
                          <a:solidFill>
                            <a:srgbClr val="2E2E2E"/>
                          </a:solidFill>
                          <a:latin typeface="Calibri"/>
                        </a:rPr>
                        <a:t>958.1</a:t>
                      </a:r>
                    </a:p>
                  </a:txBody>
                  <a:tcPr marL="85725" marR="38100" marT="19050" marB="19050" anchor="ctr">
                    <a:solidFill>
                      <a:srgbClr val="E0E8EF"/>
                    </a:solidFill>
                  </a:tcPr>
                </a:tc>
                <a:tc>
                  <a:txBody>
                    <a:bodyPr wrap="none"/>
                    <a:lstStyle/>
                    <a:p>
                      <a:pPr algn="l"/>
                      <a:r>
                        <a:rPr sz="800" b="1">
                          <a:solidFill>
                            <a:srgbClr val="2E2E2E"/>
                          </a:solidFill>
                          <a:latin typeface="Calibri"/>
                        </a:rPr>
                        <a:t>1,142</a:t>
                      </a:r>
                    </a:p>
                  </a:txBody>
                  <a:tcPr marL="85725" marR="38100" marT="19050" marB="19050" anchor="ctr">
                    <a:solidFill>
                      <a:srgbClr val="E0E8EF"/>
                    </a:solidFill>
                  </a:tcPr>
                </a:tc>
                <a:tc>
                  <a:txBody>
                    <a:bodyPr wrap="none"/>
                    <a:lstStyle/>
                    <a:p>
                      <a:pPr algn="l"/>
                      <a:r>
                        <a:rPr sz="800" b="1">
                          <a:solidFill>
                            <a:srgbClr val="2E2E2E"/>
                          </a:solidFill>
                          <a:latin typeface="Calibri"/>
                        </a:rPr>
                        <a:t>1,405</a:t>
                      </a:r>
                    </a:p>
                  </a:txBody>
                  <a:tcPr marL="85725" marR="38100" marT="19050" marB="19050" anchor="ctr">
                    <a:solidFill>
                      <a:srgbClr val="E0E8EF"/>
                    </a:solidFill>
                  </a:tcPr>
                </a:tc>
                <a:tc>
                  <a:txBody>
                    <a:bodyPr wrap="none"/>
                    <a:lstStyle/>
                    <a:p>
                      <a:pPr algn="l"/>
                      <a:r>
                        <a:rPr sz="800" b="1">
                          <a:solidFill>
                            <a:srgbClr val="2E2E2E"/>
                          </a:solidFill>
                          <a:latin typeface="Calibri"/>
                        </a:rPr>
                        <a:t>1,691</a:t>
                      </a:r>
                    </a:p>
                  </a:txBody>
                  <a:tcPr marL="85725" marR="38100" marT="19050" marB="19050" anchor="ctr">
                    <a:solidFill>
                      <a:srgbClr val="E0E8EF"/>
                    </a:solidFill>
                  </a:tcPr>
                </a:tc>
                <a:tc>
                  <a:txBody>
                    <a:bodyPr wrap="none"/>
                    <a:lstStyle/>
                    <a:p>
                      <a:pPr algn="l"/>
                      <a:r>
                        <a:rPr sz="800" b="1">
                          <a:solidFill>
                            <a:srgbClr val="2E2E2E"/>
                          </a:solidFill>
                          <a:latin typeface="Calibri"/>
                        </a:rPr>
                        <a:t>1,974</a:t>
                      </a:r>
                    </a:p>
                  </a:txBody>
                  <a:tcPr marL="85725" marR="38100" marT="19050" marB="19050" anchor="ctr">
                    <a:solidFill>
                      <a:srgbClr val="E0E8EF"/>
                    </a:solidFill>
                  </a:tcPr>
                </a:tc>
                <a:tc>
                  <a:txBody>
                    <a:bodyPr wrap="none"/>
                    <a:lstStyle/>
                    <a:p>
                      <a:pPr algn="l"/>
                      <a:r>
                        <a:rPr sz="800" b="1">
                          <a:solidFill>
                            <a:srgbClr val="2E2E2E"/>
                          </a:solidFill>
                          <a:latin typeface="Calibri"/>
                        </a:rPr>
                        <a:t>2,263</a:t>
                      </a:r>
                    </a:p>
                  </a:txBody>
                  <a:tcPr marL="85725" marR="38100" marT="19050" marB="19050" anchor="ctr">
                    <a:solidFill>
                      <a:srgbClr val="E0E8EF"/>
                    </a:solidFill>
                  </a:tcPr>
                </a:tc>
                <a:tc>
                  <a:txBody>
                    <a:bodyPr wrap="none"/>
                    <a:lstStyle/>
                    <a:p>
                      <a:pPr algn="l"/>
                      <a:r>
                        <a:rPr sz="800" b="1">
                          <a:solidFill>
                            <a:srgbClr val="2E2E2E"/>
                          </a:solidFill>
                          <a:latin typeface="Calibri"/>
                        </a:rPr>
                        <a:t>2,542</a:t>
                      </a:r>
                    </a:p>
                  </a:txBody>
                  <a:tcPr marL="85725" marR="38100" marT="19050" marB="19050" anchor="ctr">
                    <a:solidFill>
                      <a:srgbClr val="E0E8EF"/>
                    </a:solidFill>
                  </a:tcPr>
                </a:tc>
                <a:tc>
                  <a:txBody>
                    <a:bodyPr wrap="none"/>
                    <a:lstStyle/>
                    <a:p>
                      <a:pPr algn="l"/>
                      <a:r>
                        <a:rPr sz="800" b="1">
                          <a:solidFill>
                            <a:srgbClr val="2E2E2E"/>
                          </a:solidFill>
                          <a:latin typeface="Calibri"/>
                        </a:rPr>
                        <a:t>2,814</a:t>
                      </a:r>
                    </a:p>
                  </a:txBody>
                  <a:tcPr marL="85725" marR="38100" marT="19050" marB="19050" anchor="ctr">
                    <a:solidFill>
                      <a:srgbClr val="E0E8EF"/>
                    </a:solidFill>
                  </a:tcPr>
                </a:tc>
                <a:tc>
                  <a:txBody>
                    <a:bodyPr wrap="none"/>
                    <a:lstStyle/>
                    <a:p>
                      <a:pPr algn="l"/>
                      <a:r>
                        <a:rPr sz="800" b="1">
                          <a:solidFill>
                            <a:srgbClr val="2E2E2E"/>
                          </a:solidFill>
                          <a:latin typeface="Calibri"/>
                        </a:rPr>
                        <a:t>3,079</a:t>
                      </a:r>
                    </a:p>
                  </a:txBody>
                  <a:tcPr marL="85725" marR="38100" marT="19050" marB="19050" anchor="ctr">
                    <a:solidFill>
                      <a:srgbClr val="E0E8EF"/>
                    </a:solidFill>
                  </a:tcPr>
                </a:tc>
                <a:tc>
                  <a:txBody>
                    <a:bodyPr wrap="none"/>
                    <a:lstStyle/>
                    <a:p>
                      <a:pPr algn="l"/>
                      <a:r>
                        <a:rPr sz="800" b="1">
                          <a:solidFill>
                            <a:srgbClr val="2E2E2E"/>
                          </a:solidFill>
                          <a:latin typeface="Calibri"/>
                        </a:rPr>
                        <a:t>3,334</a:t>
                      </a:r>
                    </a:p>
                  </a:txBody>
                  <a:tcPr marL="85725" marR="38100" marT="19050" marB="19050" anchor="ctr">
                    <a:solidFill>
                      <a:srgbClr val="E0E8EF"/>
                    </a:solidFill>
                  </a:tcPr>
                </a:tc>
                <a:tc>
                  <a:txBody>
                    <a:bodyPr wrap="none"/>
                    <a:lstStyle/>
                    <a:p>
                      <a:pPr algn="l"/>
                      <a:r>
                        <a:rPr sz="800" b="1">
                          <a:solidFill>
                            <a:srgbClr val="2E2E2E"/>
                          </a:solidFill>
                          <a:latin typeface="Calibri"/>
                        </a:rPr>
                        <a:t>3,579</a:t>
                      </a:r>
                    </a:p>
                  </a:txBody>
                  <a:tcPr marL="85725" marR="38100" marT="19050" marB="19050" anchor="ctr">
                    <a:solidFill>
                      <a:srgbClr val="E0E8EF"/>
                    </a:solidFill>
                  </a:tcPr>
                </a:tc>
                <a:tc>
                  <a:txBody>
                    <a:bodyPr wrap="none"/>
                    <a:lstStyle/>
                    <a:p>
                      <a:pPr algn="l"/>
                      <a:r>
                        <a:rPr sz="800" b="1">
                          <a:solidFill>
                            <a:srgbClr val="2E2E2E"/>
                          </a:solidFill>
                          <a:latin typeface="Calibri"/>
                        </a:rPr>
                        <a:t>3,814</a:t>
                      </a:r>
                    </a:p>
                  </a:txBody>
                  <a:tcPr marL="85725" marR="38100" marT="19050" marB="19050" anchor="ctr">
                    <a:solidFill>
                      <a:srgbClr val="E0E8EF"/>
                    </a:solidFill>
                  </a:tcPr>
                </a:tc>
                <a:tc>
                  <a:txBody>
                    <a:bodyPr wrap="none"/>
                    <a:lstStyle/>
                    <a:p>
                      <a:pPr algn="l"/>
                      <a:r>
                        <a:rPr sz="800" b="1">
                          <a:solidFill>
                            <a:srgbClr val="2E2E2E"/>
                          </a:solidFill>
                          <a:latin typeface="Calibri"/>
                        </a:rPr>
                        <a:t>4,041</a:t>
                      </a:r>
                    </a:p>
                  </a:txBody>
                  <a:tcPr marL="85725" marR="38100" marT="19050" marB="19050" anchor="ctr">
                    <a:solidFill>
                      <a:srgbClr val="E0E8EF"/>
                    </a:solidFill>
                  </a:tcPr>
                </a:tc>
                <a:tc>
                  <a:txBody>
                    <a:bodyPr wrap="none"/>
                    <a:lstStyle/>
                    <a:p>
                      <a:pPr algn="l"/>
                      <a:r>
                        <a:rPr sz="800" b="1">
                          <a:solidFill>
                            <a:srgbClr val="2E2E2E"/>
                          </a:solidFill>
                          <a:latin typeface="Calibri"/>
                        </a:rPr>
                        <a:t>4,260</a:t>
                      </a:r>
                    </a:p>
                  </a:txBody>
                  <a:tcPr marL="85725" marR="38100" marT="19050" marB="19050" anchor="ctr">
                    <a:solidFill>
                      <a:srgbClr val="E0E8EF"/>
                    </a:solidFill>
                  </a:tcPr>
                </a:tc>
                <a:tc>
                  <a:txBody>
                    <a:bodyPr wrap="none"/>
                    <a:lstStyle/>
                    <a:p>
                      <a:pPr algn="l"/>
                      <a:r>
                        <a:rPr sz="800" b="1">
                          <a:solidFill>
                            <a:srgbClr val="2E2E2E"/>
                          </a:solidFill>
                          <a:latin typeface="Calibri"/>
                        </a:rPr>
                        <a:t>4,475</a:t>
                      </a:r>
                    </a:p>
                  </a:txBody>
                  <a:tcPr marL="85725" marR="38100" marT="19050" marB="19050" anchor="ctr">
                    <a:solidFill>
                      <a:srgbClr val="E0E8EF"/>
                    </a:solidFill>
                  </a:tcPr>
                </a:tc>
                <a:tc>
                  <a:txBody>
                    <a:bodyPr wrap="none"/>
                    <a:lstStyle/>
                    <a:p>
                      <a:pPr algn="l"/>
                      <a:r>
                        <a:rPr sz="800" b="1">
                          <a:solidFill>
                            <a:srgbClr val="2E2E2E"/>
                          </a:solidFill>
                          <a:latin typeface="Calibri"/>
                        </a:rPr>
                        <a:t>8.5%</a:t>
                      </a:r>
                    </a:p>
                  </a:txBody>
                  <a:tcPr marL="85725" marR="38100" marT="19050" marB="19050" anchor="ctr">
                    <a:solidFill>
                      <a:srgbClr val="E0E8EF"/>
                    </a:solidFill>
                  </a:tcPr>
                </a:tc>
              </a:tr>
            </a:tbl>
          </a:graphicData>
        </a:graphic>
      </p:graphicFrame>
      <p:sp>
        <p:nvSpPr>
          <p:cNvPr id="14" name="TextBox 13"/>
          <p:cNvSpPr txBox="1"/>
          <p:nvPr/>
        </p:nvSpPr>
        <p:spPr>
          <a:xfrm>
            <a:off x="219075" y="38481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4124325"/>
            <a:ext cx="11906250" cy="2600325"/>
          </a:xfrm>
          <a:prstGeom prst="roundRect">
            <a:avLst>
              <a:gd name="adj" fmla="val 29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2100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Dosage / Concentration</a:t>
            </a:r>
          </a:p>
        </p:txBody>
      </p:sp>
      <p:sp>
        <p:nvSpPr>
          <p:cNvPr id="17" name="Rectangle 16"/>
          <p:cNvSpPr/>
          <p:nvPr/>
        </p:nvSpPr>
        <p:spPr>
          <a:xfrm>
            <a:off x="276225" y="44481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533900"/>
            <a:ext cx="11639550" cy="2114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'40 mg' is the largest dosage / concentration at 32.6% of 2036 value (1,459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'100 mg/mL' grows fastest 9.2%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'20 mg' (+136 BPS) and away from '80 mg' (-257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rises from 1,974 to 4,475 US$ Mn across 4 categories.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Value &amp; Share Shift, By Dosage / Concentration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7400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Dosage / Concentration ·  2021 / 2026 / 2036 (US$ Mn)  ·  right axis = BPS share shift</a:t>
            </a:r>
          </a:p>
        </p:txBody>
      </p:sp>
      <p:graphicFrame>
        <p:nvGraphicFramePr>
          <p:cNvPr id="13" name="Chart 12"/>
          <p:cNvGraphicFramePr>
            <a:graphicFrameLocks noGrp="1"/>
          </p:cNvGraphicFramePr>
          <p:nvPr/>
        </p:nvGraphicFramePr>
        <p:xfrm>
          <a:off x="238125" y="1457325"/>
          <a:ext cx="5624132" cy="5210175"/>
        </p:xfrm>
        <a:graphic>
          <a:graphicData uri="http://schemas.openxmlformats.org/drawingml/2006/chart">
            <c:chart xmlns:c="http://schemas.openxmlformats.org/drawingml/2006/chart" r:id="rId3"/>
          </a:graphicData>
        </a:graphic>
      </p:graphicFrame>
      <p:sp>
        <p:nvSpPr>
          <p:cNvPr id="14" name="TextBox 13"/>
          <p:cNvSpPr txBox="1"/>
          <p:nvPr/>
        </p:nvSpPr>
        <p:spPr>
          <a:xfrm>
            <a:off x="6934200" y="1522857"/>
            <a:ext cx="552450" cy="114300"/>
          </a:xfrm>
          <a:prstGeom prst="rect">
            <a:avLst/>
          </a:prstGeom>
          <a:noFill/>
        </p:spPr>
        <p:txBody>
          <a:bodyPr wrap="square" lIns="28575" rIns="28575" tIns="9525" bIns="9525">
            <a:spAutoFit/>
          </a:bodyPr>
          <a:lstStyle/>
          <a:p>
            <a:pPr algn="l"/>
            <a:r>
              <a:rPr sz="750" b="1">
                <a:solidFill>
                  <a:srgbClr val="6C7A89"/>
                </a:solidFill>
                <a:latin typeface="Calibri"/>
              </a:rPr>
              <a:t>BPS Δ</a:t>
            </a:r>
          </a:p>
        </p:txBody>
      </p:sp>
      <p:cxnSp>
        <p:nvCxnSpPr>
          <p:cNvPr id="15" name="Connector 14"/>
          <p:cNvCxnSpPr/>
          <p:nvPr/>
        </p:nvCxnSpPr>
        <p:spPr>
          <a:xfrm>
            <a:off x="7010400" y="1665732"/>
            <a:ext cx="0" cy="4144518"/>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919406" y="3737991"/>
            <a:ext cx="1090994"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038975" y="5265361"/>
            <a:ext cx="419100" cy="133350"/>
          </a:xfrm>
          <a:prstGeom prst="rect">
            <a:avLst/>
          </a:prstGeom>
          <a:noFill/>
        </p:spPr>
        <p:txBody>
          <a:bodyPr wrap="none" lIns="0" rIns="0" tIns="0" bIns="0" anchor="ctr">
            <a:spAutoFit/>
          </a:bodyPr>
          <a:lstStyle/>
          <a:p>
            <a:pPr algn="l"/>
            <a:r>
              <a:rPr sz="750" b="0">
                <a:solidFill>
                  <a:srgbClr val="6C7A89"/>
                </a:solidFill>
                <a:latin typeface="Calibri"/>
              </a:rPr>
              <a:t>-257</a:t>
            </a:r>
          </a:p>
        </p:txBody>
      </p:sp>
      <p:sp>
        <p:nvSpPr>
          <p:cNvPr id="18" name="TextBox 17"/>
          <p:cNvSpPr txBox="1"/>
          <p:nvPr/>
        </p:nvSpPr>
        <p:spPr>
          <a:xfrm>
            <a:off x="7038975" y="3671316"/>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19" name="TextBox 18"/>
          <p:cNvSpPr txBox="1"/>
          <p:nvPr/>
        </p:nvSpPr>
        <p:spPr>
          <a:xfrm>
            <a:off x="7038975" y="2077271"/>
            <a:ext cx="419100" cy="133350"/>
          </a:xfrm>
          <a:prstGeom prst="rect">
            <a:avLst/>
          </a:prstGeom>
          <a:noFill/>
        </p:spPr>
        <p:txBody>
          <a:bodyPr wrap="none" lIns="0" rIns="0" tIns="0" bIns="0" anchor="ctr">
            <a:spAutoFit/>
          </a:bodyPr>
          <a:lstStyle/>
          <a:p>
            <a:pPr algn="l"/>
            <a:r>
              <a:rPr sz="750" b="0">
                <a:solidFill>
                  <a:srgbClr val="6C7A89"/>
                </a:solidFill>
                <a:latin typeface="Calibri"/>
              </a:rPr>
              <a:t>+257</a:t>
            </a:r>
          </a:p>
        </p:txBody>
      </p:sp>
      <p:sp>
        <p:nvSpPr>
          <p:cNvPr id="20" name="Oval 19"/>
          <p:cNvSpPr/>
          <p:nvPr/>
        </p:nvSpPr>
        <p:spPr>
          <a:xfrm>
            <a:off x="5971794" y="2851449"/>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971794" y="3290856"/>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71794" y="3349035"/>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71794" y="5289174"/>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81332" y="2818111"/>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+136</a:t>
            </a:r>
          </a:p>
        </p:txBody>
      </p:sp>
      <p:sp>
        <p:nvSpPr>
          <p:cNvPr id="25" name="TextBox 24"/>
          <p:cNvSpPr txBox="1"/>
          <p:nvPr/>
        </p:nvSpPr>
        <p:spPr>
          <a:xfrm>
            <a:off x="6081332" y="3257519"/>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+65</a:t>
            </a:r>
          </a:p>
        </p:txBody>
      </p:sp>
      <p:sp>
        <p:nvSpPr>
          <p:cNvPr id="26" name="TextBox 25"/>
          <p:cNvSpPr txBox="1"/>
          <p:nvPr/>
        </p:nvSpPr>
        <p:spPr>
          <a:xfrm>
            <a:off x="6081332" y="3381344"/>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+56</a:t>
            </a:r>
          </a:p>
        </p:txBody>
      </p:sp>
      <p:sp>
        <p:nvSpPr>
          <p:cNvPr id="27" name="TextBox 26"/>
          <p:cNvSpPr txBox="1"/>
          <p:nvPr/>
        </p:nvSpPr>
        <p:spPr>
          <a:xfrm>
            <a:off x="6081332" y="5255836"/>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-257</a:t>
            </a:r>
          </a:p>
        </p:txBody>
      </p:sp>
      <p:sp>
        <p:nvSpPr>
          <p:cNvPr id="28" name="Rounded Rectangle 27"/>
          <p:cNvSpPr/>
          <p:nvPr/>
        </p:nvSpPr>
        <p:spPr>
          <a:xfrm>
            <a:off x="7696200" y="857250"/>
            <a:ext cx="4343400" cy="5867400"/>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942975"/>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Dosage / Concentration</a:t>
            </a:r>
          </a:p>
        </p:txBody>
      </p:sp>
      <p:sp>
        <p:nvSpPr>
          <p:cNvPr id="30" name="Rectangle 29"/>
          <p:cNvSpPr/>
          <p:nvPr/>
        </p:nvSpPr>
        <p:spPr>
          <a:xfrm>
            <a:off x="7829550" y="1181100"/>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266825"/>
            <a:ext cx="4076700" cy="538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'20 mg' gains the most share +136 BPS between 2026 and 2036 (</a:t>
            </a:r>
            <a:r>
              <a:rPr sz="1150" b="0">
                <a:solidFill>
                  <a:srgbClr val="2E7D32"/>
                </a:solidFill>
                <a:latin typeface="Calibri"/>
              </a:rPr>
              <a:t>green ▲</a:t>
            </a:r>
            <a:r>
              <a:rPr sz="1150" b="0">
                <a:solidFill>
                  <a:srgbClr val="2E2E2E"/>
                </a:solidFill>
                <a:latin typeface="Calibri"/>
              </a:rPr>
              <a:t> on the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'80 mg' cedes the most -257 BPS over the same window (</a:t>
            </a:r>
            <a:r>
              <a:rPr sz="1150" b="0">
                <a:solidFill>
                  <a:srgbClr val="E44D3A"/>
                </a:solidFill>
                <a:latin typeface="Calibri"/>
              </a:rPr>
              <a:t>red ▼</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'100 mg/mL' is the fastest-growing dosage / concentration at 9.2%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climbs from 852.6 to 4,475 US$ Mn across 2021–2036.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Bars show the value mix at each snapshot; the scale shows how each share moves.</a:t>
            </a:r>
          </a:p>
        </p:txBody>
      </p:sp>
      <p:sp>
        <p:nvSpPr>
          <p:cNvPr id="32" name="Rectangle 3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4" name="Rounded Rectangle 33">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5" name="Rounded Rectangle 34">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6" name="Rounded Rectangle 35">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Volume, By Dosage / Concentration (%)</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447925"/>
          </a:xfrm>
          <a:prstGeom prst="roundRect">
            <a:avLst>
              <a:gd name="adj" fmla="val 31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YoY Growth, By Dosage / Concentration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Dosage / Concentration</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20 mg</a:t>
                      </a:r>
                    </a:p>
                  </a:txBody>
                  <a:tcPr marL="85725" marR="38100" marT="19050" marB="19050" anchor="ctr">
                    <a:solidFill>
                      <a:srgbClr val="FFFFFF"/>
                    </a:solidFill>
                  </a:tcPr>
                </a:tc>
                <a:tc>
                  <a:txBody>
                    <a:bodyPr wrap="none"/>
                    <a:lstStyle/>
                    <a:p>
                      <a:pPr algn="l"/>
                      <a:r>
                        <a:rPr sz="800" b="1">
                          <a:solidFill>
                            <a:srgbClr val="2E7D32"/>
                          </a:solidFill>
                          <a:latin typeface="Calibri"/>
                        </a:rPr>
                        <a:t>▲ 18.0%</a:t>
                      </a:r>
                    </a:p>
                  </a:txBody>
                  <a:tcPr marL="85725" marR="38100" marT="19050" marB="19050" anchor="ctr">
                    <a:solidFill>
                      <a:srgbClr val="FFFFFF"/>
                    </a:solidFill>
                  </a:tcPr>
                </a:tc>
                <a:tc>
                  <a:txBody>
                    <a:bodyPr wrap="none"/>
                    <a:lstStyle/>
                    <a:p>
                      <a:pPr algn="l"/>
                      <a:r>
                        <a:rPr sz="800" b="1">
                          <a:solidFill>
                            <a:srgbClr val="2E7D32"/>
                          </a:solidFill>
                          <a:latin typeface="Calibri"/>
                        </a:rPr>
                        <a:t>▲ 25.1%</a:t>
                      </a:r>
                    </a:p>
                  </a:txBody>
                  <a:tcPr marL="85725" marR="38100" marT="19050" marB="19050" anchor="ctr">
                    <a:solidFill>
                      <a:srgbClr val="FFFFFF"/>
                    </a:solidFill>
                  </a:tcPr>
                </a:tc>
                <a:tc>
                  <a:txBody>
                    <a:bodyPr wrap="none"/>
                    <a:lstStyle/>
                    <a:p>
                      <a:pPr algn="l"/>
                      <a:r>
                        <a:rPr sz="800" b="1">
                          <a:solidFill>
                            <a:srgbClr val="2E7D32"/>
                          </a:solidFill>
                          <a:latin typeface="Calibri"/>
                        </a:rPr>
                        <a:t>▲ 29.1%</a:t>
                      </a:r>
                    </a:p>
                  </a:txBody>
                  <a:tcPr marL="85725" marR="38100" marT="19050" marB="19050" anchor="ctr">
                    <a:solidFill>
                      <a:srgbClr val="FFFFFF"/>
                    </a:solidFill>
                  </a:tcPr>
                </a:tc>
                <a:tc>
                  <a:txBody>
                    <a:bodyPr wrap="none"/>
                    <a:lstStyle/>
                    <a:p>
                      <a:pPr algn="l"/>
                      <a:r>
                        <a:rPr sz="800" b="1">
                          <a:solidFill>
                            <a:srgbClr val="2E7D32"/>
                          </a:solidFill>
                          <a:latin typeface="Calibri"/>
                        </a:rPr>
                        <a:t>▲ 26.4%</a:t>
                      </a:r>
                    </a:p>
                  </a:txBody>
                  <a:tcPr marL="85725" marR="38100" marT="19050" marB="19050" anchor="ctr">
                    <a:solidFill>
                      <a:srgbClr val="FFFFFF"/>
                    </a:solidFill>
                  </a:tcPr>
                </a:tc>
                <a:tc>
                  <a:txBody>
                    <a:bodyPr wrap="none"/>
                    <a:lstStyle/>
                    <a:p>
                      <a:pPr algn="l"/>
                      <a:r>
                        <a:rPr sz="800" b="1">
                          <a:solidFill>
                            <a:srgbClr val="2E7D32"/>
                          </a:solidFill>
                          <a:latin typeface="Calibri"/>
                        </a:rPr>
                        <a:t>▲ 22.5%</a:t>
                      </a:r>
                    </a:p>
                  </a:txBody>
                  <a:tcPr marL="85725" marR="38100" marT="19050" marB="19050" anchor="ctr">
                    <a:solidFill>
                      <a:srgbClr val="FFFFFF"/>
                    </a:solidFill>
                  </a:tcPr>
                </a:tc>
                <a:tc>
                  <a:txBody>
                    <a:bodyPr wrap="none"/>
                    <a:lstStyle/>
                    <a:p>
                      <a:pPr algn="l"/>
                      <a:r>
                        <a:rPr sz="800" b="1">
                          <a:solidFill>
                            <a:srgbClr val="2E7D32"/>
                          </a:solidFill>
                          <a:latin typeface="Calibri"/>
                        </a:rPr>
                        <a:t>▲ 20.3%</a:t>
                      </a:r>
                    </a:p>
                  </a:txBody>
                  <a:tcPr marL="85725" marR="38100" marT="19050" marB="19050" anchor="ctr">
                    <a:solidFill>
                      <a:srgbClr val="FFFFFF"/>
                    </a:solidFill>
                  </a:tcPr>
                </a:tc>
                <a:tc>
                  <a:txBody>
                    <a:bodyPr wrap="none"/>
                    <a:lstStyle/>
                    <a:p>
                      <a:pPr algn="l"/>
                      <a:r>
                        <a:rPr sz="800" b="1">
                          <a:solidFill>
                            <a:srgbClr val="2E7D32"/>
                          </a:solidFill>
                          <a:latin typeface="Calibri"/>
                        </a:rPr>
                        <a:t>▲ 17.9%</a:t>
                      </a:r>
                    </a:p>
                  </a:txBody>
                  <a:tcPr marL="85725" marR="38100" marT="19050" marB="19050" anchor="ctr">
                    <a:solidFill>
                      <a:srgbClr val="FFFFFF"/>
                    </a:solidFill>
                  </a:tcPr>
                </a:tc>
                <a:tc>
                  <a:txBody>
                    <a:bodyPr wrap="none"/>
                    <a:lstStyle/>
                    <a:p>
                      <a:pPr algn="l"/>
                      <a:r>
                        <a:rPr sz="800" b="1">
                          <a:solidFill>
                            <a:srgbClr val="2E7D32"/>
                          </a:solidFill>
                          <a:latin typeface="Calibri"/>
                        </a:rPr>
                        <a:t>▲ 16.2%</a:t>
                      </a:r>
                    </a:p>
                  </a:txBody>
                  <a:tcPr marL="85725" marR="38100" marT="19050" marB="19050" anchor="ctr">
                    <a:solidFill>
                      <a:srgbClr val="FFFFFF"/>
                    </a:solidFill>
                  </a:tcPr>
                </a:tc>
                <a:tc>
                  <a:txBody>
                    <a:bodyPr wrap="none"/>
                    <a:lstStyle/>
                    <a:p>
                      <a:pPr algn="l"/>
                      <a:r>
                        <a:rPr sz="800" b="1">
                          <a:solidFill>
                            <a:srgbClr val="2E7D32"/>
                          </a:solidFill>
                          <a:latin typeface="Calibri"/>
                        </a:rPr>
                        <a:t>▲ 14.8%</a:t>
                      </a:r>
                    </a:p>
                  </a:txBody>
                  <a:tcPr marL="85725" marR="38100" marT="19050" marB="19050" anchor="ctr">
                    <a:solidFill>
                      <a:srgbClr val="FFFFFF"/>
                    </a:solidFill>
                  </a:tcPr>
                </a:tc>
                <a:tc>
                  <a:txBody>
                    <a:bodyPr wrap="none"/>
                    <a:lstStyle/>
                    <a:p>
                      <a:pPr algn="l"/>
                      <a:r>
                        <a:rPr sz="800" b="1">
                          <a:solidFill>
                            <a:srgbClr val="2E7D32"/>
                          </a:solidFill>
                          <a:latin typeface="Calibri"/>
                        </a:rPr>
                        <a:t>▲ 13.6%</a:t>
                      </a:r>
                    </a:p>
                  </a:txBody>
                  <a:tcPr marL="85725" marR="38100" marT="19050" marB="19050" anchor="ctr">
                    <a:solidFill>
                      <a:srgbClr val="FFFFFF"/>
                    </a:solidFill>
                  </a:tcPr>
                </a:tc>
                <a:tc>
                  <a:txBody>
                    <a:bodyPr wrap="none"/>
                    <a:lstStyle/>
                    <a:p>
                      <a:pPr algn="l"/>
                      <a:r>
                        <a:rPr sz="800" b="1">
                          <a:solidFill>
                            <a:srgbClr val="2E7D32"/>
                          </a:solidFill>
                          <a:latin typeface="Calibri"/>
                        </a:rPr>
                        <a:t>▲ 12.6%</a:t>
                      </a:r>
                    </a:p>
                  </a:txBody>
                  <a:tcPr marL="85725" marR="38100" marT="19050" marB="19050" anchor="ctr">
                    <a:solidFill>
                      <a:srgbClr val="FFFFFF"/>
                    </a:solidFill>
                  </a:tcPr>
                </a:tc>
                <a:tc>
                  <a:txBody>
                    <a:bodyPr wrap="none"/>
                    <a:lstStyle/>
                    <a:p>
                      <a:pPr algn="l"/>
                      <a:r>
                        <a:rPr sz="800" b="1">
                          <a:solidFill>
                            <a:srgbClr val="2E7D32"/>
                          </a:solidFill>
                          <a:latin typeface="Calibri"/>
                        </a:rPr>
                        <a:t>▲ 11.8%</a:t>
                      </a:r>
                    </a:p>
                  </a:txBody>
                  <a:tcPr marL="85725" marR="38100" marT="19050" marB="19050" anchor="ctr">
                    <a:solidFill>
                      <a:srgbClr val="FFFFFF"/>
                    </a:solidFill>
                  </a:tcPr>
                </a:tc>
                <a:tc>
                  <a:txBody>
                    <a:bodyPr wrap="none"/>
                    <a:lstStyle/>
                    <a:p>
                      <a:pPr algn="l"/>
                      <a:r>
                        <a:rPr sz="800" b="1">
                          <a:solidFill>
                            <a:srgbClr val="2E7D32"/>
                          </a:solidFill>
                          <a:latin typeface="Calibri"/>
                        </a:rPr>
                        <a:t>▲ 11.1%</a:t>
                      </a:r>
                    </a:p>
                  </a:txBody>
                  <a:tcPr marL="85725" marR="38100" marT="19050" marB="19050" anchor="ctr">
                    <a:solidFill>
                      <a:srgbClr val="FFFFFF"/>
                    </a:solidFill>
                  </a:tcPr>
                </a:tc>
                <a:tc>
                  <a:txBody>
                    <a:bodyPr wrap="none"/>
                    <a:lstStyle/>
                    <a:p>
                      <a:pPr algn="l"/>
                      <a:r>
                        <a:rPr sz="800" b="1">
                          <a:solidFill>
                            <a:srgbClr val="2E7D32"/>
                          </a:solidFill>
                          <a:latin typeface="Calibri"/>
                        </a:rPr>
                        <a:t>▲ 10.6%</a:t>
                      </a:r>
                    </a:p>
                  </a:txBody>
                  <a:tcPr marL="85725" marR="38100" marT="19050" marB="19050" anchor="ctr">
                    <a:solidFill>
                      <a:srgbClr val="FFFFFF"/>
                    </a:solidFill>
                  </a:tcPr>
                </a:tc>
                <a:tc>
                  <a:txBody>
                    <a:bodyPr wrap="none"/>
                    <a:lstStyle/>
                    <a:p>
                      <a:pPr algn="l"/>
                      <a:r>
                        <a:rPr sz="800" b="1">
                          <a:solidFill>
                            <a:srgbClr val="2E7D32"/>
                          </a:solidFill>
                          <a:latin typeface="Calibri"/>
                        </a:rPr>
                        <a:t>▲ 10.1%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40 mg</a:t>
                      </a:r>
                    </a:p>
                  </a:txBody>
                  <a:tcPr marL="85725" marR="38100" marT="19050" marB="19050" anchor="ctr">
                    <a:solidFill>
                      <a:srgbClr val="F5F8FA"/>
                    </a:solidFill>
                  </a:tcPr>
                </a:tc>
                <a:tc>
                  <a:txBody>
                    <a:bodyPr wrap="none"/>
                    <a:lstStyle/>
                    <a:p>
                      <a:pPr algn="l"/>
                      <a:r>
                        <a:rPr sz="800" b="1">
                          <a:solidFill>
                            <a:srgbClr val="A86F00"/>
                          </a:solidFill>
                          <a:latin typeface="Calibri"/>
                        </a:rPr>
                        <a:t>▶ 15.1%</a:t>
                      </a:r>
                    </a:p>
                  </a:txBody>
                  <a:tcPr marL="85725" marR="38100" marT="19050" marB="19050" anchor="ctr">
                    <a:solidFill>
                      <a:srgbClr val="F5F8FA"/>
                    </a:solidFill>
                  </a:tcPr>
                </a:tc>
                <a:tc>
                  <a:txBody>
                    <a:bodyPr wrap="none"/>
                    <a:lstStyle/>
                    <a:p>
                      <a:pPr algn="l"/>
                      <a:r>
                        <a:rPr sz="800" b="1">
                          <a:solidFill>
                            <a:srgbClr val="A86F00"/>
                          </a:solidFill>
                          <a:latin typeface="Calibri"/>
                        </a:rPr>
                        <a:t>▶ 22.1%</a:t>
                      </a:r>
                    </a:p>
                  </a:txBody>
                  <a:tcPr marL="85725" marR="38100" marT="19050" marB="19050" anchor="ctr">
                    <a:solidFill>
                      <a:srgbClr val="F5F8FA"/>
                    </a:solidFill>
                  </a:tcPr>
                </a:tc>
                <a:tc>
                  <a:txBody>
                    <a:bodyPr wrap="none"/>
                    <a:lstStyle/>
                    <a:p>
                      <a:pPr algn="l"/>
                      <a:r>
                        <a:rPr sz="800" b="1">
                          <a:solidFill>
                            <a:srgbClr val="A86F00"/>
                          </a:solidFill>
                          <a:latin typeface="Calibri"/>
                        </a:rPr>
                        <a:t>▶ 26.0%</a:t>
                      </a:r>
                    </a:p>
                  </a:txBody>
                  <a:tcPr marL="85725" marR="38100" marT="19050" marB="19050" anchor="ctr">
                    <a:solidFill>
                      <a:srgbClr val="F5F8FA"/>
                    </a:solidFill>
                  </a:tcPr>
                </a:tc>
                <a:tc>
                  <a:txBody>
                    <a:bodyPr wrap="none"/>
                    <a:lstStyle/>
                    <a:p>
                      <a:pPr algn="l"/>
                      <a:r>
                        <a:rPr sz="800" b="1">
                          <a:solidFill>
                            <a:srgbClr val="A86F00"/>
                          </a:solidFill>
                          <a:latin typeface="Calibri"/>
                        </a:rPr>
                        <a:t>▶ 23.3%</a:t>
                      </a:r>
                    </a:p>
                  </a:txBody>
                  <a:tcPr marL="85725" marR="38100" marT="19050" marB="19050" anchor="ctr">
                    <a:solidFill>
                      <a:srgbClr val="F5F8FA"/>
                    </a:solidFill>
                  </a:tcPr>
                </a:tc>
                <a:tc>
                  <a:txBody>
                    <a:bodyPr wrap="none"/>
                    <a:lstStyle/>
                    <a:p>
                      <a:pPr algn="l"/>
                      <a:r>
                        <a:rPr sz="800" b="1">
                          <a:solidFill>
                            <a:srgbClr val="A86F00"/>
                          </a:solidFill>
                          <a:latin typeface="Calibri"/>
                        </a:rPr>
                        <a:t>▶ 19.6%</a:t>
                      </a:r>
                    </a:p>
                  </a:txBody>
                  <a:tcPr marL="85725" marR="38100" marT="19050" marB="19050" anchor="ctr">
                    <a:solidFill>
                      <a:srgbClr val="F5F8FA"/>
                    </a:solidFill>
                  </a:tcPr>
                </a:tc>
                <a:tc>
                  <a:txBody>
                    <a:bodyPr wrap="none"/>
                    <a:lstStyle/>
                    <a:p>
                      <a:pPr algn="l"/>
                      <a:r>
                        <a:rPr sz="800" b="1">
                          <a:solidFill>
                            <a:srgbClr val="A86F00"/>
                          </a:solidFill>
                          <a:latin typeface="Calibri"/>
                        </a:rPr>
                        <a:t>▶ 17.4%</a:t>
                      </a:r>
                    </a:p>
                  </a:txBody>
                  <a:tcPr marL="85725" marR="38100" marT="19050" marB="19050" anchor="ctr">
                    <a:solidFill>
                      <a:srgbClr val="F5F8FA"/>
                    </a:solidFill>
                  </a:tcPr>
                </a:tc>
                <a:tc>
                  <a:txBody>
                    <a:bodyPr wrap="none"/>
                    <a:lstStyle/>
                    <a:p>
                      <a:pPr algn="l"/>
                      <a:r>
                        <a:rPr sz="800" b="1">
                          <a:solidFill>
                            <a:srgbClr val="A86F00"/>
                          </a:solidFill>
                          <a:latin typeface="Calibri"/>
                        </a:rPr>
                        <a:t>▶ 15.0%</a:t>
                      </a:r>
                    </a:p>
                  </a:txBody>
                  <a:tcPr marL="85725" marR="38100" marT="19050" marB="19050" anchor="ctr">
                    <a:solidFill>
                      <a:srgbClr val="F5F8FA"/>
                    </a:solidFill>
                  </a:tcPr>
                </a:tc>
                <a:tc>
                  <a:txBody>
                    <a:bodyPr wrap="none"/>
                    <a:lstStyle/>
                    <a:p>
                      <a:pPr algn="l"/>
                      <a:r>
                        <a:rPr sz="800" b="1">
                          <a:solidFill>
                            <a:srgbClr val="A86F00"/>
                          </a:solidFill>
                          <a:latin typeface="Calibri"/>
                        </a:rPr>
                        <a:t>▶ 13.4%</a:t>
                      </a:r>
                    </a:p>
                  </a:txBody>
                  <a:tcPr marL="85725" marR="38100" marT="19050" marB="19050" anchor="ctr">
                    <a:solidFill>
                      <a:srgbClr val="F5F8FA"/>
                    </a:solidFill>
                  </a:tcPr>
                </a:tc>
                <a:tc>
                  <a:txBody>
                    <a:bodyPr wrap="none"/>
                    <a:lstStyle/>
                    <a:p>
                      <a:pPr algn="l"/>
                      <a:r>
                        <a:rPr sz="800" b="1">
                          <a:solidFill>
                            <a:srgbClr val="A86F00"/>
                          </a:solidFill>
                          <a:latin typeface="Calibri"/>
                        </a:rPr>
                        <a:t>▶ 12.0%</a:t>
                      </a:r>
                    </a:p>
                  </a:txBody>
                  <a:tcPr marL="85725" marR="38100" marT="19050" marB="19050" anchor="ctr">
                    <a:solidFill>
                      <a:srgbClr val="F5F8FA"/>
                    </a:solidFill>
                  </a:tcPr>
                </a:tc>
                <a:tc>
                  <a:txBody>
                    <a:bodyPr wrap="none"/>
                    <a:lstStyle/>
                    <a:p>
                      <a:pPr algn="l"/>
                      <a:r>
                        <a:rPr sz="800" b="1">
                          <a:solidFill>
                            <a:srgbClr val="A86F00"/>
                          </a:solidFill>
                          <a:latin typeface="Calibri"/>
                        </a:rPr>
                        <a:t>▶ 10.9%</a:t>
                      </a:r>
                    </a:p>
                  </a:txBody>
                  <a:tcPr marL="85725" marR="38100" marT="19050" marB="19050" anchor="ctr">
                    <a:solidFill>
                      <a:srgbClr val="F5F8FA"/>
                    </a:solidFill>
                  </a:tcPr>
                </a:tc>
                <a:tc>
                  <a:txBody>
                    <a:bodyPr wrap="none"/>
                    <a:lstStyle/>
                    <a:p>
                      <a:pPr algn="l"/>
                      <a:r>
                        <a:rPr sz="800" b="1">
                          <a:solidFill>
                            <a:srgbClr val="A86F00"/>
                          </a:solidFill>
                          <a:latin typeface="Calibri"/>
                        </a:rPr>
                        <a:t>▶ 9.9%</a:t>
                      </a:r>
                    </a:p>
                  </a:txBody>
                  <a:tcPr marL="85725" marR="38100" marT="19050" marB="19050" anchor="ctr">
                    <a:solidFill>
                      <a:srgbClr val="F5F8FA"/>
                    </a:solidFill>
                  </a:tcPr>
                </a:tc>
                <a:tc>
                  <a:txBody>
                    <a:bodyPr wrap="none"/>
                    <a:lstStyle/>
                    <a:p>
                      <a:pPr algn="l"/>
                      <a:r>
                        <a:rPr sz="800" b="1">
                          <a:solidFill>
                            <a:srgbClr val="A86F00"/>
                          </a:solidFill>
                          <a:latin typeface="Calibri"/>
                        </a:rPr>
                        <a:t>▶ 9.1%</a:t>
                      </a:r>
                    </a:p>
                  </a:txBody>
                  <a:tcPr marL="85725" marR="38100" marT="19050" marB="19050" anchor="ctr">
                    <a:solidFill>
                      <a:srgbClr val="F5F8FA"/>
                    </a:solidFill>
                  </a:tcPr>
                </a:tc>
                <a:tc>
                  <a:txBody>
                    <a:bodyPr wrap="none"/>
                    <a:lstStyle/>
                    <a:p>
                      <a:pPr algn="l"/>
                      <a:r>
                        <a:rPr sz="800" b="1">
                          <a:solidFill>
                            <a:srgbClr val="A86F00"/>
                          </a:solidFill>
                          <a:latin typeface="Calibri"/>
                        </a:rPr>
                        <a:t>▶ 8.4%</a:t>
                      </a:r>
                    </a:p>
                  </a:txBody>
                  <a:tcPr marL="85725" marR="38100" marT="19050" marB="19050" anchor="ctr">
                    <a:solidFill>
                      <a:srgbClr val="F5F8FA"/>
                    </a:solidFill>
                  </a:tcPr>
                </a:tc>
                <a:tc>
                  <a:txBody>
                    <a:bodyPr wrap="none"/>
                    <a:lstStyle/>
                    <a:p>
                      <a:pPr algn="l"/>
                      <a:r>
                        <a:rPr sz="800" b="1">
                          <a:solidFill>
                            <a:srgbClr val="A86F00"/>
                          </a:solidFill>
                          <a:latin typeface="Calibri"/>
                        </a:rPr>
                        <a:t>▶ 7.9%</a:t>
                      </a:r>
                    </a:p>
                  </a:txBody>
                  <a:tcPr marL="85725" marR="38100" marT="19050" marB="19050" anchor="ctr">
                    <a:solidFill>
                      <a:srgbClr val="F5F8FA"/>
                    </a:solidFill>
                  </a:tcPr>
                </a:tc>
                <a:tc>
                  <a:txBody>
                    <a:bodyPr wrap="none"/>
                    <a:lstStyle/>
                    <a:p>
                      <a:pPr algn="l"/>
                      <a:r>
                        <a:rPr sz="800" b="1">
                          <a:solidFill>
                            <a:srgbClr val="A86F00"/>
                          </a:solidFill>
                          <a:latin typeface="Calibri"/>
                        </a:rPr>
                        <a:t>▶ 7.5%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80 mg</a:t>
                      </a:r>
                    </a:p>
                  </a:txBody>
                  <a:tcPr marL="85725" marR="38100" marT="19050" marB="19050" anchor="ctr">
                    <a:solidFill>
                      <a:srgbClr val="FFFFFF"/>
                    </a:solidFill>
                  </a:tcPr>
                </a:tc>
                <a:tc>
                  <a:txBody>
                    <a:bodyPr wrap="none"/>
                    <a:lstStyle/>
                    <a:p>
                      <a:pPr algn="l"/>
                      <a:r>
                        <a:rPr sz="800" b="1">
                          <a:solidFill>
                            <a:srgbClr val="2E7D32"/>
                          </a:solidFill>
                          <a:latin typeface="Calibri"/>
                        </a:rPr>
                        <a:t>▲ 17.6%</a:t>
                      </a:r>
                    </a:p>
                  </a:txBody>
                  <a:tcPr marL="85725" marR="38100" marT="19050" marB="19050" anchor="ctr">
                    <a:solidFill>
                      <a:srgbClr val="FFFFFF"/>
                    </a:solidFill>
                  </a:tcPr>
                </a:tc>
                <a:tc>
                  <a:txBody>
                    <a:bodyPr wrap="none"/>
                    <a:lstStyle/>
                    <a:p>
                      <a:pPr algn="l"/>
                      <a:r>
                        <a:rPr sz="800" b="1">
                          <a:solidFill>
                            <a:srgbClr val="2E7D32"/>
                          </a:solidFill>
                          <a:latin typeface="Calibri"/>
                        </a:rPr>
                        <a:t>▲ 24.7%</a:t>
                      </a:r>
                    </a:p>
                  </a:txBody>
                  <a:tcPr marL="85725" marR="38100" marT="19050" marB="19050" anchor="ctr">
                    <a:solidFill>
                      <a:srgbClr val="FFFFFF"/>
                    </a:solidFill>
                  </a:tcPr>
                </a:tc>
                <a:tc>
                  <a:txBody>
                    <a:bodyPr wrap="none"/>
                    <a:lstStyle/>
                    <a:p>
                      <a:pPr algn="l"/>
                      <a:r>
                        <a:rPr sz="800" b="1">
                          <a:solidFill>
                            <a:srgbClr val="2E7D32"/>
                          </a:solidFill>
                          <a:latin typeface="Calibri"/>
                        </a:rPr>
                        <a:t>▲ 28.7%</a:t>
                      </a:r>
                    </a:p>
                  </a:txBody>
                  <a:tcPr marL="85725" marR="38100" marT="19050" marB="19050" anchor="ctr">
                    <a:solidFill>
                      <a:srgbClr val="FFFFFF"/>
                    </a:solidFill>
                  </a:tcPr>
                </a:tc>
                <a:tc>
                  <a:txBody>
                    <a:bodyPr wrap="none"/>
                    <a:lstStyle/>
                    <a:p>
                      <a:pPr algn="l"/>
                      <a:r>
                        <a:rPr sz="800" b="1">
                          <a:solidFill>
                            <a:srgbClr val="2E7D32"/>
                          </a:solidFill>
                          <a:latin typeface="Calibri"/>
                        </a:rPr>
                        <a:t>▲ 25.9%</a:t>
                      </a:r>
                    </a:p>
                  </a:txBody>
                  <a:tcPr marL="85725" marR="38100" marT="19050" marB="19050" anchor="ctr">
                    <a:solidFill>
                      <a:srgbClr val="FFFFFF"/>
                    </a:solidFill>
                  </a:tcPr>
                </a:tc>
                <a:tc>
                  <a:txBody>
                    <a:bodyPr wrap="none"/>
                    <a:lstStyle/>
                    <a:p>
                      <a:pPr algn="l"/>
                      <a:r>
                        <a:rPr sz="800" b="1">
                          <a:solidFill>
                            <a:srgbClr val="2E7D32"/>
                          </a:solidFill>
                          <a:latin typeface="Calibri"/>
                        </a:rPr>
                        <a:t>▲ 22.1%</a:t>
                      </a:r>
                    </a:p>
                  </a:txBody>
                  <a:tcPr marL="85725" marR="38100" marT="19050" marB="19050" anchor="ctr">
                    <a:solidFill>
                      <a:srgbClr val="FFFFFF"/>
                    </a:solidFill>
                  </a:tcPr>
                </a:tc>
                <a:tc>
                  <a:txBody>
                    <a:bodyPr wrap="none"/>
                    <a:lstStyle/>
                    <a:p>
                      <a:pPr algn="l"/>
                      <a:r>
                        <a:rPr sz="800" b="1">
                          <a:solidFill>
                            <a:srgbClr val="2E7D32"/>
                          </a:solidFill>
                          <a:latin typeface="Calibri"/>
                        </a:rPr>
                        <a:t>▲ 19.9%</a:t>
                      </a:r>
                    </a:p>
                  </a:txBody>
                  <a:tcPr marL="85725" marR="38100" marT="19050" marB="19050" anchor="ctr">
                    <a:solidFill>
                      <a:srgbClr val="FFFFFF"/>
                    </a:solidFill>
                  </a:tcPr>
                </a:tc>
                <a:tc>
                  <a:txBody>
                    <a:bodyPr wrap="none"/>
                    <a:lstStyle/>
                    <a:p>
                      <a:pPr algn="l"/>
                      <a:r>
                        <a:rPr sz="800" b="1">
                          <a:solidFill>
                            <a:srgbClr val="2E7D32"/>
                          </a:solidFill>
                          <a:latin typeface="Calibri"/>
                        </a:rPr>
                        <a:t>▲ 17.5%</a:t>
                      </a:r>
                    </a:p>
                  </a:txBody>
                  <a:tcPr marL="85725" marR="38100" marT="19050" marB="19050" anchor="ctr">
                    <a:solidFill>
                      <a:srgbClr val="FFFFFF"/>
                    </a:solidFill>
                  </a:tcPr>
                </a:tc>
                <a:tc>
                  <a:txBody>
                    <a:bodyPr wrap="none"/>
                    <a:lstStyle/>
                    <a:p>
                      <a:pPr algn="l"/>
                      <a:r>
                        <a:rPr sz="800" b="1">
                          <a:solidFill>
                            <a:srgbClr val="2E7D32"/>
                          </a:solidFill>
                          <a:latin typeface="Calibri"/>
                        </a:rPr>
                        <a:t>▲ 15.8%</a:t>
                      </a:r>
                    </a:p>
                  </a:txBody>
                  <a:tcPr marL="85725" marR="38100" marT="19050" marB="19050" anchor="ctr">
                    <a:solidFill>
                      <a:srgbClr val="FFFFFF"/>
                    </a:solidFill>
                  </a:tcPr>
                </a:tc>
                <a:tc>
                  <a:txBody>
                    <a:bodyPr wrap="none"/>
                    <a:lstStyle/>
                    <a:p>
                      <a:pPr algn="l"/>
                      <a:r>
                        <a:rPr sz="800" b="1">
                          <a:solidFill>
                            <a:srgbClr val="2E7D32"/>
                          </a:solidFill>
                          <a:latin typeface="Calibri"/>
                        </a:rPr>
                        <a:t>▲ 14.4%</a:t>
                      </a:r>
                    </a:p>
                  </a:txBody>
                  <a:tcPr marL="85725" marR="38100" marT="19050" marB="19050" anchor="ctr">
                    <a:solidFill>
                      <a:srgbClr val="FFFFFF"/>
                    </a:solidFill>
                  </a:tcPr>
                </a:tc>
                <a:tc>
                  <a:txBody>
                    <a:bodyPr wrap="none"/>
                    <a:lstStyle/>
                    <a:p>
                      <a:pPr algn="l"/>
                      <a:r>
                        <a:rPr sz="800" b="1">
                          <a:solidFill>
                            <a:srgbClr val="2E7D32"/>
                          </a:solidFill>
                          <a:latin typeface="Calibri"/>
                        </a:rPr>
                        <a:t>▲ 13.2%</a:t>
                      </a:r>
                    </a:p>
                  </a:txBody>
                  <a:tcPr marL="85725" marR="38100" marT="19050" marB="19050" anchor="ctr">
                    <a:solidFill>
                      <a:srgbClr val="FFFFFF"/>
                    </a:solidFill>
                  </a:tcPr>
                </a:tc>
                <a:tc>
                  <a:txBody>
                    <a:bodyPr wrap="none"/>
                    <a:lstStyle/>
                    <a:p>
                      <a:pPr algn="l"/>
                      <a:r>
                        <a:rPr sz="800" b="1">
                          <a:solidFill>
                            <a:srgbClr val="2E7D32"/>
                          </a:solidFill>
                          <a:latin typeface="Calibri"/>
                        </a:rPr>
                        <a:t>▲ 12.2%</a:t>
                      </a:r>
                    </a:p>
                  </a:txBody>
                  <a:tcPr marL="85725" marR="38100" marT="19050" marB="19050" anchor="ctr">
                    <a:solidFill>
                      <a:srgbClr val="FFFFFF"/>
                    </a:solidFill>
                  </a:tcPr>
                </a:tc>
                <a:tc>
                  <a:txBody>
                    <a:bodyPr wrap="none"/>
                    <a:lstStyle/>
                    <a:p>
                      <a:pPr algn="l"/>
                      <a:r>
                        <a:rPr sz="800" b="1">
                          <a:solidFill>
                            <a:srgbClr val="2E7D32"/>
                          </a:solidFill>
                          <a:latin typeface="Calibri"/>
                        </a:rPr>
                        <a:t>▲ 11.4%</a:t>
                      </a:r>
                    </a:p>
                  </a:txBody>
                  <a:tcPr marL="85725" marR="38100" marT="19050" marB="19050" anchor="ctr">
                    <a:solidFill>
                      <a:srgbClr val="FFFFFF"/>
                    </a:solidFill>
                  </a:tcPr>
                </a:tc>
                <a:tc>
                  <a:txBody>
                    <a:bodyPr wrap="none"/>
                    <a:lstStyle/>
                    <a:p>
                      <a:pPr algn="l"/>
                      <a:r>
                        <a:rPr sz="800" b="1">
                          <a:solidFill>
                            <a:srgbClr val="2E7D32"/>
                          </a:solidFill>
                          <a:latin typeface="Calibri"/>
                        </a:rPr>
                        <a:t>▲ 10.7%</a:t>
                      </a:r>
                    </a:p>
                  </a:txBody>
                  <a:tcPr marL="85725" marR="38100" marT="19050" marB="19050" anchor="ctr">
                    <a:solidFill>
                      <a:srgbClr val="FFFFFF"/>
                    </a:solidFill>
                  </a:tcPr>
                </a:tc>
                <a:tc>
                  <a:txBody>
                    <a:bodyPr wrap="none"/>
                    <a:lstStyle/>
                    <a:p>
                      <a:pPr algn="l"/>
                      <a:r>
                        <a:rPr sz="800" b="1">
                          <a:solidFill>
                            <a:srgbClr val="2E7D32"/>
                          </a:solidFill>
                          <a:latin typeface="Calibri"/>
                        </a:rPr>
                        <a:t>▲ 10.2%</a:t>
                      </a:r>
                    </a:p>
                  </a:txBody>
                  <a:tcPr marL="85725" marR="38100" marT="19050" marB="19050" anchor="ctr">
                    <a:solidFill>
                      <a:srgbClr val="FFFFFF"/>
                    </a:solidFill>
                  </a:tcPr>
                </a:tc>
                <a:tc>
                  <a:txBody>
                    <a:bodyPr wrap="none"/>
                    <a:lstStyle/>
                    <a:p>
                      <a:pPr algn="l"/>
                      <a:r>
                        <a:rPr sz="800" b="1">
                          <a:solidFill>
                            <a:srgbClr val="2E7D32"/>
                          </a:solidFill>
                          <a:latin typeface="Calibri"/>
                        </a:rPr>
                        <a:t>▲ 9.8%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100 mg/mL</a:t>
                      </a:r>
                    </a:p>
                  </a:txBody>
                  <a:tcPr marL="85725" marR="38100" marT="19050" marB="19050" anchor="ctr">
                    <a:solidFill>
                      <a:srgbClr val="F5F8FA"/>
                    </a:solidFill>
                  </a:tcPr>
                </a:tc>
                <a:tc>
                  <a:txBody>
                    <a:bodyPr wrap="none"/>
                    <a:lstStyle/>
                    <a:p>
                      <a:pPr algn="l"/>
                      <a:r>
                        <a:rPr sz="800" b="1">
                          <a:solidFill>
                            <a:srgbClr val="A86F00"/>
                          </a:solidFill>
                          <a:latin typeface="Calibri"/>
                        </a:rPr>
                        <a:t>▶ 16.5%</a:t>
                      </a:r>
                    </a:p>
                  </a:txBody>
                  <a:tcPr marL="85725" marR="38100" marT="19050" marB="19050" anchor="ctr">
                    <a:solidFill>
                      <a:srgbClr val="F5F8FA"/>
                    </a:solidFill>
                  </a:tcPr>
                </a:tc>
                <a:tc>
                  <a:txBody>
                    <a:bodyPr wrap="none"/>
                    <a:lstStyle/>
                    <a:p>
                      <a:pPr algn="l"/>
                      <a:r>
                        <a:rPr sz="800" b="1">
                          <a:solidFill>
                            <a:srgbClr val="A86F00"/>
                          </a:solidFill>
                          <a:latin typeface="Calibri"/>
                        </a:rPr>
                        <a:t>▶ 23.6%</a:t>
                      </a:r>
                    </a:p>
                  </a:txBody>
                  <a:tcPr marL="85725" marR="38100" marT="19050" marB="19050" anchor="ctr">
                    <a:solidFill>
                      <a:srgbClr val="F5F8FA"/>
                    </a:solidFill>
                  </a:tcPr>
                </a:tc>
                <a:tc>
                  <a:txBody>
                    <a:bodyPr wrap="none"/>
                    <a:lstStyle/>
                    <a:p>
                      <a:pPr algn="l"/>
                      <a:r>
                        <a:rPr sz="800" b="1">
                          <a:solidFill>
                            <a:srgbClr val="A86F00"/>
                          </a:solidFill>
                          <a:latin typeface="Calibri"/>
                        </a:rPr>
                        <a:t>▶ 27.5%</a:t>
                      </a:r>
                    </a:p>
                  </a:txBody>
                  <a:tcPr marL="85725" marR="38100" marT="19050" marB="19050" anchor="ctr">
                    <a:solidFill>
                      <a:srgbClr val="F5F8FA"/>
                    </a:solidFill>
                  </a:tcPr>
                </a:tc>
                <a:tc>
                  <a:txBody>
                    <a:bodyPr wrap="none"/>
                    <a:lstStyle/>
                    <a:p>
                      <a:pPr algn="l"/>
                      <a:r>
                        <a:rPr sz="800" b="1">
                          <a:solidFill>
                            <a:srgbClr val="A86F00"/>
                          </a:solidFill>
                          <a:latin typeface="Calibri"/>
                        </a:rPr>
                        <a:t>▶ 24.8%</a:t>
                      </a:r>
                    </a:p>
                  </a:txBody>
                  <a:tcPr marL="85725" marR="38100" marT="19050" marB="19050" anchor="ctr">
                    <a:solidFill>
                      <a:srgbClr val="F5F8FA"/>
                    </a:solidFill>
                  </a:tcPr>
                </a:tc>
                <a:tc>
                  <a:txBody>
                    <a:bodyPr wrap="none"/>
                    <a:lstStyle/>
                    <a:p>
                      <a:pPr algn="l"/>
                      <a:r>
                        <a:rPr sz="800" b="1">
                          <a:solidFill>
                            <a:srgbClr val="A86F00"/>
                          </a:solidFill>
                          <a:latin typeface="Calibri"/>
                        </a:rPr>
                        <a:t>▶ 21.0%</a:t>
                      </a:r>
                    </a:p>
                  </a:txBody>
                  <a:tcPr marL="85725" marR="38100" marT="19050" marB="19050" anchor="ctr">
                    <a:solidFill>
                      <a:srgbClr val="F5F8FA"/>
                    </a:solidFill>
                  </a:tcPr>
                </a:tc>
                <a:tc>
                  <a:txBody>
                    <a:bodyPr wrap="none"/>
                    <a:lstStyle/>
                    <a:p>
                      <a:pPr algn="l"/>
                      <a:r>
                        <a:rPr sz="800" b="1">
                          <a:solidFill>
                            <a:srgbClr val="A86F00"/>
                          </a:solidFill>
                          <a:latin typeface="Calibri"/>
                        </a:rPr>
                        <a:t>▶ 18.8%</a:t>
                      </a:r>
                    </a:p>
                  </a:txBody>
                  <a:tcPr marL="85725" marR="38100" marT="19050" marB="19050" anchor="ctr">
                    <a:solidFill>
                      <a:srgbClr val="F5F8FA"/>
                    </a:solidFill>
                  </a:tcPr>
                </a:tc>
                <a:tc>
                  <a:txBody>
                    <a:bodyPr wrap="none"/>
                    <a:lstStyle/>
                    <a:p>
                      <a:pPr algn="l"/>
                      <a:r>
                        <a:rPr sz="800" b="1">
                          <a:solidFill>
                            <a:srgbClr val="A86F00"/>
                          </a:solidFill>
                          <a:latin typeface="Calibri"/>
                        </a:rPr>
                        <a:t>▶ 16.4%</a:t>
                      </a:r>
                    </a:p>
                  </a:txBody>
                  <a:tcPr marL="85725" marR="38100" marT="19050" marB="19050" anchor="ctr">
                    <a:solidFill>
                      <a:srgbClr val="F5F8FA"/>
                    </a:solidFill>
                  </a:tcPr>
                </a:tc>
                <a:tc>
                  <a:txBody>
                    <a:bodyPr wrap="none"/>
                    <a:lstStyle/>
                    <a:p>
                      <a:pPr algn="l"/>
                      <a:r>
                        <a:rPr sz="800" b="1">
                          <a:solidFill>
                            <a:srgbClr val="A86F00"/>
                          </a:solidFill>
                          <a:latin typeface="Calibri"/>
                        </a:rPr>
                        <a:t>▶ 14.7%</a:t>
                      </a:r>
                    </a:p>
                  </a:txBody>
                  <a:tcPr marL="85725" marR="38100" marT="19050" marB="19050" anchor="ctr">
                    <a:solidFill>
                      <a:srgbClr val="F5F8FA"/>
                    </a:solidFill>
                  </a:tcPr>
                </a:tc>
                <a:tc>
                  <a:txBody>
                    <a:bodyPr wrap="none"/>
                    <a:lstStyle/>
                    <a:p>
                      <a:pPr algn="l"/>
                      <a:r>
                        <a:rPr sz="800" b="1">
                          <a:solidFill>
                            <a:srgbClr val="A86F00"/>
                          </a:solidFill>
                          <a:latin typeface="Calibri"/>
                        </a:rPr>
                        <a:t>▶ 13.3%</a:t>
                      </a:r>
                    </a:p>
                  </a:txBody>
                  <a:tcPr marL="85725" marR="38100" marT="19050" marB="19050" anchor="ctr">
                    <a:solidFill>
                      <a:srgbClr val="F5F8FA"/>
                    </a:solidFill>
                  </a:tcPr>
                </a:tc>
                <a:tc>
                  <a:txBody>
                    <a:bodyPr wrap="none"/>
                    <a:lstStyle/>
                    <a:p>
                      <a:pPr algn="l"/>
                      <a:r>
                        <a:rPr sz="800" b="1">
                          <a:solidFill>
                            <a:srgbClr val="A86F00"/>
                          </a:solidFill>
                          <a:latin typeface="Calibri"/>
                        </a:rPr>
                        <a:t>▶ 12.2%</a:t>
                      </a:r>
                    </a:p>
                  </a:txBody>
                  <a:tcPr marL="85725" marR="38100" marT="19050" marB="19050" anchor="ctr">
                    <a:solidFill>
                      <a:srgbClr val="F5F8FA"/>
                    </a:solidFill>
                  </a:tcPr>
                </a:tc>
                <a:tc>
                  <a:txBody>
                    <a:bodyPr wrap="none"/>
                    <a:lstStyle/>
                    <a:p>
                      <a:pPr algn="l"/>
                      <a:r>
                        <a:rPr sz="800" b="1">
                          <a:solidFill>
                            <a:srgbClr val="A86F00"/>
                          </a:solidFill>
                          <a:latin typeface="Calibri"/>
                        </a:rPr>
                        <a:t>▶ 11.2%</a:t>
                      </a:r>
                    </a:p>
                  </a:txBody>
                  <a:tcPr marL="85725" marR="38100" marT="19050" marB="19050" anchor="ctr">
                    <a:solidFill>
                      <a:srgbClr val="F5F8FA"/>
                    </a:solidFill>
                  </a:tcPr>
                </a:tc>
                <a:tc>
                  <a:txBody>
                    <a:bodyPr wrap="none"/>
                    <a:lstStyle/>
                    <a:p>
                      <a:pPr algn="l"/>
                      <a:r>
                        <a:rPr sz="800" b="1">
                          <a:solidFill>
                            <a:srgbClr val="A86F00"/>
                          </a:solidFill>
                          <a:latin typeface="Calibri"/>
                        </a:rPr>
                        <a:t>▶ 10.3%</a:t>
                      </a:r>
                    </a:p>
                  </a:txBody>
                  <a:tcPr marL="85725" marR="38100" marT="19050" marB="19050" anchor="ctr">
                    <a:solidFill>
                      <a:srgbClr val="F5F8FA"/>
                    </a:solidFill>
                  </a:tcPr>
                </a:tc>
                <a:tc>
                  <a:txBody>
                    <a:bodyPr wrap="none"/>
                    <a:lstStyle/>
                    <a:p>
                      <a:pPr algn="l"/>
                      <a:r>
                        <a:rPr sz="800" b="1">
                          <a:solidFill>
                            <a:srgbClr val="A86F00"/>
                          </a:solidFill>
                          <a:latin typeface="Calibri"/>
                        </a:rPr>
                        <a:t>▶ 9.7%</a:t>
                      </a:r>
                    </a:p>
                  </a:txBody>
                  <a:tcPr marL="85725" marR="38100" marT="19050" marB="19050" anchor="ctr">
                    <a:solidFill>
                      <a:srgbClr val="F5F8FA"/>
                    </a:solidFill>
                  </a:tcPr>
                </a:tc>
                <a:tc>
                  <a:txBody>
                    <a:bodyPr wrap="none"/>
                    <a:lstStyle/>
                    <a:p>
                      <a:pPr algn="l"/>
                      <a:r>
                        <a:rPr sz="800" b="1">
                          <a:solidFill>
                            <a:srgbClr val="A86F00"/>
                          </a:solidFill>
                          <a:latin typeface="Calibri"/>
                        </a:rPr>
                        <a:t>▶ 9.2%</a:t>
                      </a:r>
                    </a:p>
                  </a:txBody>
                  <a:tcPr marL="85725" marR="38100" marT="19050" marB="19050" anchor="ctr">
                    <a:solidFill>
                      <a:srgbClr val="F5F8FA"/>
                    </a:solidFill>
                  </a:tcPr>
                </a:tc>
                <a:tc>
                  <a:txBody>
                    <a:bodyPr wrap="none"/>
                    <a:lstStyle/>
                    <a:p>
                      <a:pPr algn="l"/>
                      <a:r>
                        <a:rPr sz="800" b="1">
                          <a:solidFill>
                            <a:srgbClr val="A86F00"/>
                          </a:solidFill>
                          <a:latin typeface="Calibri"/>
                        </a:rPr>
                        <a:t>▶ 8.7%</a:t>
                      </a:r>
                    </a:p>
                  </a:txBody>
                  <a:tcPr marL="85725" marR="38100" marT="19050" marB="19050" anchor="ctr">
                    <a:solidFill>
                      <a:srgbClr val="F5F8FA"/>
                    </a:solidFill>
                  </a:tcPr>
                </a:tc>
              </a:tr>
            </a:tbl>
          </a:graphicData>
        </a:graphic>
      </p:graphicFrame>
      <p:sp>
        <p:nvSpPr>
          <p:cNvPr id="14" name="TextBox 13"/>
          <p:cNvSpPr txBox="1"/>
          <p:nvPr/>
        </p:nvSpPr>
        <p:spPr>
          <a:xfrm>
            <a:off x="219075" y="31623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438525"/>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956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YoY Heatmap, By Dosage / Concentration (%)  ·  light = lower, dark = higher growth</a:t>
            </a:r>
          </a:p>
        </p:txBody>
      </p:sp>
      <p:sp>
        <p:nvSpPr>
          <p:cNvPr id="17" name="TextBox 16"/>
          <p:cNvSpPr txBox="1"/>
          <p:nvPr/>
        </p:nvSpPr>
        <p:spPr>
          <a:xfrm>
            <a:off x="18573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8" name="TextBox 17"/>
          <p:cNvSpPr txBox="1"/>
          <p:nvPr/>
        </p:nvSpPr>
        <p:spPr>
          <a:xfrm>
            <a:off x="25012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19" name="TextBox 18"/>
          <p:cNvSpPr txBox="1"/>
          <p:nvPr/>
        </p:nvSpPr>
        <p:spPr>
          <a:xfrm>
            <a:off x="31451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0" name="TextBox 19"/>
          <p:cNvSpPr txBox="1"/>
          <p:nvPr/>
        </p:nvSpPr>
        <p:spPr>
          <a:xfrm>
            <a:off x="37890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1" name="TextBox 20"/>
          <p:cNvSpPr txBox="1"/>
          <p:nvPr/>
        </p:nvSpPr>
        <p:spPr>
          <a:xfrm>
            <a:off x="44329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2" name="TextBox 21"/>
          <p:cNvSpPr txBox="1"/>
          <p:nvPr/>
        </p:nvSpPr>
        <p:spPr>
          <a:xfrm>
            <a:off x="507682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3" name="TextBox 22"/>
          <p:cNvSpPr txBox="1"/>
          <p:nvPr/>
        </p:nvSpPr>
        <p:spPr>
          <a:xfrm>
            <a:off x="572071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4" name="TextBox 23"/>
          <p:cNvSpPr txBox="1"/>
          <p:nvPr/>
        </p:nvSpPr>
        <p:spPr>
          <a:xfrm>
            <a:off x="636460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5" name="TextBox 24"/>
          <p:cNvSpPr txBox="1"/>
          <p:nvPr/>
        </p:nvSpPr>
        <p:spPr>
          <a:xfrm>
            <a:off x="700849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6" name="TextBox 25"/>
          <p:cNvSpPr txBox="1"/>
          <p:nvPr/>
        </p:nvSpPr>
        <p:spPr>
          <a:xfrm>
            <a:off x="765238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7" name="TextBox 26"/>
          <p:cNvSpPr txBox="1"/>
          <p:nvPr/>
        </p:nvSpPr>
        <p:spPr>
          <a:xfrm>
            <a:off x="82962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8" name="TextBox 27"/>
          <p:cNvSpPr txBox="1"/>
          <p:nvPr/>
        </p:nvSpPr>
        <p:spPr>
          <a:xfrm>
            <a:off x="89401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29" name="TextBox 28"/>
          <p:cNvSpPr txBox="1"/>
          <p:nvPr/>
        </p:nvSpPr>
        <p:spPr>
          <a:xfrm>
            <a:off x="95840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0" name="TextBox 29"/>
          <p:cNvSpPr txBox="1"/>
          <p:nvPr/>
        </p:nvSpPr>
        <p:spPr>
          <a:xfrm>
            <a:off x="102279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1" name="TextBox 30"/>
          <p:cNvSpPr txBox="1"/>
          <p:nvPr/>
        </p:nvSpPr>
        <p:spPr>
          <a:xfrm>
            <a:off x="108718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2" name="TextBox 31"/>
          <p:cNvSpPr txBox="1"/>
          <p:nvPr/>
        </p:nvSpPr>
        <p:spPr>
          <a:xfrm>
            <a:off x="238125" y="3867150"/>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20 mg</a:t>
            </a:r>
          </a:p>
        </p:txBody>
      </p:sp>
      <p:sp>
        <p:nvSpPr>
          <p:cNvPr id="33" name="Rectangle 32"/>
          <p:cNvSpPr/>
          <p:nvPr/>
        </p:nvSpPr>
        <p:spPr>
          <a:xfrm>
            <a:off x="1857375" y="3867150"/>
            <a:ext cx="643890" cy="700088"/>
          </a:xfrm>
          <a:prstGeom prst="rect">
            <a:avLst/>
          </a:prstGeom>
          <a:solidFill>
            <a:srgbClr val="99C1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01265" y="3867150"/>
            <a:ext cx="643890" cy="700088"/>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45155" y="3867150"/>
            <a:ext cx="643890" cy="70008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89045" y="3867150"/>
            <a:ext cx="643890" cy="700088"/>
          </a:xfrm>
          <a:prstGeom prst="rect">
            <a:avLst/>
          </a:prstGeom>
          <a:solidFill>
            <a:srgbClr val="0E6CA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32935" y="3867150"/>
            <a:ext cx="643890" cy="700088"/>
          </a:xfrm>
          <a:prstGeom prst="rect">
            <a:avLst/>
          </a:prstGeom>
          <a:solidFill>
            <a:srgbClr val="4090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6825" y="3867150"/>
            <a:ext cx="643890" cy="700088"/>
          </a:xfrm>
          <a:prstGeom prst="rect">
            <a:avLst/>
          </a:prstGeom>
          <a:solidFill>
            <a:srgbClr val="6EA9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20715" y="3867150"/>
            <a:ext cx="643890" cy="700088"/>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64605" y="3867150"/>
            <a:ext cx="643890" cy="700088"/>
          </a:xfrm>
          <a:prstGeom prst="rect">
            <a:avLst/>
          </a:prstGeom>
          <a:solidFill>
            <a:srgbClr val="B3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08495" y="3867150"/>
            <a:ext cx="643890" cy="700088"/>
          </a:xfrm>
          <a:prstGeom prst="rect">
            <a:avLst/>
          </a:prstGeom>
          <a:solidFill>
            <a:srgbClr val="C6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52385" y="3867150"/>
            <a:ext cx="643890" cy="700088"/>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96275" y="3867150"/>
            <a:ext cx="643890" cy="700088"/>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40165" y="3867150"/>
            <a:ext cx="643890" cy="700088"/>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84055" y="3867150"/>
            <a:ext cx="643890" cy="700088"/>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27945" y="3867150"/>
            <a:ext cx="643890" cy="700088"/>
          </a:xfrm>
          <a:prstGeom prst="rect">
            <a:avLst/>
          </a:prstGeom>
          <a:solidFill>
            <a:srgbClr val="E9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71835" y="3867150"/>
            <a:ext cx="643890" cy="700088"/>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8125" y="4567238"/>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40 mg</a:t>
            </a:r>
          </a:p>
        </p:txBody>
      </p:sp>
      <p:sp>
        <p:nvSpPr>
          <p:cNvPr id="49" name="Rectangle 48"/>
          <p:cNvSpPr/>
          <p:nvPr/>
        </p:nvSpPr>
        <p:spPr>
          <a:xfrm>
            <a:off x="1857375" y="4567238"/>
            <a:ext cx="643890" cy="700088"/>
          </a:xfrm>
          <a:prstGeom prst="rect">
            <a:avLst/>
          </a:prstGeom>
          <a:solidFill>
            <a:srgbClr val="C1D7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01265" y="4567238"/>
            <a:ext cx="643890" cy="700088"/>
          </a:xfrm>
          <a:prstGeom prst="rect">
            <a:avLst/>
          </a:prstGeom>
          <a:solidFill>
            <a:srgbClr val="48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45155" y="4567238"/>
            <a:ext cx="643890" cy="700088"/>
          </a:xfrm>
          <a:prstGeom prst="rect">
            <a:avLst/>
          </a:prstGeom>
          <a:solidFill>
            <a:srgbClr val="0F73A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789045" y="4567238"/>
            <a:ext cx="643890" cy="700088"/>
          </a:xfrm>
          <a:prstGeom prst="rect">
            <a:avLst/>
          </a:prstGeom>
          <a:solidFill>
            <a:srgbClr val="34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32935" y="4567238"/>
            <a:ext cx="643890" cy="700088"/>
          </a:xfrm>
          <a:prstGeom prst="rect">
            <a:avLst/>
          </a:prstGeom>
          <a:solidFill>
            <a:srgbClr val="7DB1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76825" y="4567238"/>
            <a:ext cx="643890" cy="700088"/>
          </a:xfrm>
          <a:prstGeom prst="rect">
            <a:avLst/>
          </a:prstGeom>
          <a:solidFill>
            <a:srgbClr val="A1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720715" y="4567238"/>
            <a:ext cx="643890" cy="700088"/>
          </a:xfrm>
          <a:prstGeom prst="rect">
            <a:avLst/>
          </a:prstGeom>
          <a:solidFill>
            <a:srgbClr val="C2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64605" y="4567238"/>
            <a:ext cx="643890" cy="700088"/>
          </a:xfrm>
          <a:prstGeom prst="rect">
            <a:avLst/>
          </a:prstGeom>
          <a:solidFill>
            <a:srgbClr val="D3E4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08495" y="4567238"/>
            <a:ext cx="643890" cy="700088"/>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652385" y="4567238"/>
            <a:ext cx="643890" cy="700088"/>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96275" y="4567238"/>
            <a:ext cx="643890" cy="700088"/>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40165" y="4567238"/>
            <a:ext cx="643890" cy="700088"/>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584055" y="4567238"/>
            <a:ext cx="643890" cy="700088"/>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27945" y="4567238"/>
            <a:ext cx="643890" cy="700088"/>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871835" y="4567238"/>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38125" y="5267325"/>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80 mg</a:t>
            </a:r>
          </a:p>
        </p:txBody>
      </p:sp>
      <p:sp>
        <p:nvSpPr>
          <p:cNvPr id="65" name="Rectangle 64"/>
          <p:cNvSpPr/>
          <p:nvPr/>
        </p:nvSpPr>
        <p:spPr>
          <a:xfrm>
            <a:off x="1857375" y="5267325"/>
            <a:ext cx="643890" cy="700088"/>
          </a:xfrm>
          <a:prstGeom prst="rect">
            <a:avLst/>
          </a:prstGeom>
          <a:solidFill>
            <a:srgbClr val="9F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501265" y="5267325"/>
            <a:ext cx="643890" cy="700088"/>
          </a:xfrm>
          <a:prstGeom prst="rect">
            <a:avLst/>
          </a:prstGeom>
          <a:solidFill>
            <a:srgbClr val="21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145155" y="5267325"/>
            <a:ext cx="643890" cy="700088"/>
          </a:xfrm>
          <a:prstGeom prst="rect">
            <a:avLst/>
          </a:prstGeom>
          <a:solidFill>
            <a:srgbClr val="0B385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789045" y="5267325"/>
            <a:ext cx="643890" cy="700088"/>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432935" y="5267325"/>
            <a:ext cx="643890" cy="700088"/>
          </a:xfrm>
          <a:prstGeom prst="rect">
            <a:avLst/>
          </a:prstGeom>
          <a:solidFill>
            <a:srgbClr val="48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076825" y="5267325"/>
            <a:ext cx="643890" cy="700088"/>
          </a:xfrm>
          <a:prstGeom prst="rect">
            <a:avLst/>
          </a:prstGeom>
          <a:solidFill>
            <a:srgbClr val="77AE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720715" y="5267325"/>
            <a:ext cx="643890" cy="700088"/>
          </a:xfrm>
          <a:prstGeom prst="rect">
            <a:avLst/>
          </a:prstGeom>
          <a:solidFill>
            <a:srgbClr val="A1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364605" y="5267325"/>
            <a:ext cx="643890" cy="700088"/>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008495" y="5267325"/>
            <a:ext cx="643890" cy="700088"/>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652385" y="5267325"/>
            <a:ext cx="643890" cy="700088"/>
          </a:xfrm>
          <a:prstGeom prst="rect">
            <a:avLst/>
          </a:prstGeom>
          <a:solidFill>
            <a:srgbClr val="D4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296275" y="5267325"/>
            <a:ext cx="643890" cy="700088"/>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940165" y="5267325"/>
            <a:ext cx="643890" cy="700088"/>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584055" y="5267325"/>
            <a:ext cx="643890" cy="700088"/>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227945" y="5267325"/>
            <a:ext cx="643890" cy="700088"/>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871835" y="5267325"/>
            <a:ext cx="643890" cy="700088"/>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8125" y="5967412"/>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100 mg/mL</a:t>
            </a:r>
          </a:p>
        </p:txBody>
      </p:sp>
      <p:sp>
        <p:nvSpPr>
          <p:cNvPr id="81" name="Rectangle 80"/>
          <p:cNvSpPr/>
          <p:nvPr/>
        </p:nvSpPr>
        <p:spPr>
          <a:xfrm>
            <a:off x="1857375" y="5967412"/>
            <a:ext cx="643890" cy="700088"/>
          </a:xfrm>
          <a:prstGeom prst="rect">
            <a:avLst/>
          </a:prstGeom>
          <a:solidFill>
            <a:srgbClr val="AE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501265" y="5967412"/>
            <a:ext cx="643890" cy="700088"/>
          </a:xfrm>
          <a:prstGeom prst="rect">
            <a:avLst/>
          </a:prstGeom>
          <a:solidFill>
            <a:srgbClr val="31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145155" y="5967412"/>
            <a:ext cx="643890" cy="700088"/>
          </a:xfrm>
          <a:prstGeom prst="rect">
            <a:avLst/>
          </a:prstGeom>
          <a:solidFill>
            <a:srgbClr val="0D527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789045" y="5967412"/>
            <a:ext cx="643890" cy="700088"/>
          </a:xfrm>
          <a:prstGeom prst="rect">
            <a:avLst/>
          </a:prstGeom>
          <a:solidFill>
            <a:srgbClr val="20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432935" y="5967412"/>
            <a:ext cx="643890" cy="700088"/>
          </a:xfrm>
          <a:prstGeom prst="rect">
            <a:avLst/>
          </a:prstGeom>
          <a:solidFill>
            <a:srgbClr val="60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076825" y="5967412"/>
            <a:ext cx="643890" cy="700088"/>
          </a:xfrm>
          <a:prstGeom prst="rect">
            <a:avLst/>
          </a:prstGeom>
          <a:solidFill>
            <a:srgbClr val="8EBA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720715" y="5967412"/>
            <a:ext cx="643890" cy="700088"/>
          </a:xfrm>
          <a:prstGeom prst="rect">
            <a:avLst/>
          </a:prstGeom>
          <a:solidFill>
            <a:srgbClr val="B0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364605" y="5967412"/>
            <a:ext cx="643890" cy="700088"/>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008495" y="5967412"/>
            <a:ext cx="643890" cy="700088"/>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652385" y="5967412"/>
            <a:ext cx="643890" cy="700088"/>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296275" y="5967412"/>
            <a:ext cx="643890" cy="700088"/>
          </a:xfrm>
          <a:prstGeom prst="rect">
            <a:avLst/>
          </a:prstGeom>
          <a:solidFill>
            <a:srgbClr val="E4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940165" y="5967412"/>
            <a:ext cx="643890" cy="700088"/>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584055" y="5967412"/>
            <a:ext cx="643890" cy="700088"/>
          </a:xfrm>
          <a:prstGeom prst="rect">
            <a:avLst/>
          </a:prstGeom>
          <a:solidFill>
            <a:srgbClr val="F0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227945" y="5967412"/>
            <a:ext cx="643890" cy="700088"/>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871835" y="5967412"/>
            <a:ext cx="643890" cy="700088"/>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1572875" y="3905250"/>
            <a:ext cx="104775" cy="7572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973354"/>
            <a:ext cx="104775" cy="75724"/>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4041458"/>
            <a:ext cx="104775" cy="75724"/>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4109561"/>
            <a:ext cx="104775" cy="75724"/>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4177665"/>
            <a:ext cx="104775" cy="75724"/>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4245769"/>
            <a:ext cx="104775" cy="75724"/>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4313872"/>
            <a:ext cx="104775" cy="75724"/>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4381976"/>
            <a:ext cx="104775" cy="75724"/>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4450080"/>
            <a:ext cx="104775" cy="75724"/>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4518184"/>
            <a:ext cx="104775" cy="75724"/>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4586288"/>
            <a:ext cx="104775" cy="75724"/>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654391"/>
            <a:ext cx="104775" cy="75724"/>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722495"/>
            <a:ext cx="104775" cy="75724"/>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790599"/>
            <a:ext cx="104775" cy="75724"/>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858702"/>
            <a:ext cx="104775" cy="75724"/>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926806"/>
            <a:ext cx="104775" cy="75724"/>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994910"/>
            <a:ext cx="104775" cy="75724"/>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5063014"/>
            <a:ext cx="104775" cy="75724"/>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5131118"/>
            <a:ext cx="104775" cy="75724"/>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5199221"/>
            <a:ext cx="104775" cy="75724"/>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5267325"/>
            <a:ext cx="104775" cy="75724"/>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5335429"/>
            <a:ext cx="104775" cy="75724"/>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5403532"/>
            <a:ext cx="104775" cy="75724"/>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471636"/>
            <a:ext cx="104775" cy="75724"/>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539740"/>
            <a:ext cx="104775" cy="75724"/>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607844"/>
            <a:ext cx="104775" cy="75724"/>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675948"/>
            <a:ext cx="104775" cy="75724"/>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744051"/>
            <a:ext cx="104775" cy="75724"/>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812155"/>
            <a:ext cx="104775" cy="75724"/>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880259"/>
            <a:ext cx="104775" cy="75724"/>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948362"/>
            <a:ext cx="104775" cy="75724"/>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6016466"/>
            <a:ext cx="104775" cy="75724"/>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6084570"/>
            <a:ext cx="104775" cy="75724"/>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6152674"/>
            <a:ext cx="104775" cy="75724"/>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220778"/>
            <a:ext cx="104775" cy="75724"/>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288881"/>
            <a:ext cx="104775" cy="75724"/>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356985"/>
            <a:ext cx="104775" cy="75724"/>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425089"/>
            <a:ext cx="104775" cy="75724"/>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493192"/>
            <a:ext cx="104775" cy="75724"/>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561296"/>
            <a:ext cx="104775" cy="75724"/>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3905250"/>
            <a:ext cx="104775" cy="27241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1687175" y="3838575"/>
            <a:ext cx="276225" cy="133350"/>
          </a:xfrm>
          <a:prstGeom prst="rect">
            <a:avLst/>
          </a:prstGeom>
          <a:noFill/>
        </p:spPr>
        <p:txBody>
          <a:bodyPr wrap="none" lIns="0" rIns="0" tIns="0" bIns="0" anchor="ctr">
            <a:spAutoFit/>
          </a:bodyPr>
          <a:lstStyle/>
          <a:p>
            <a:pPr algn="l"/>
            <a:r>
              <a:rPr sz="700" b="0">
                <a:solidFill>
                  <a:srgbClr val="6C7A89"/>
                </a:solidFill>
                <a:latin typeface="Calibri"/>
              </a:rPr>
              <a:t>29%</a:t>
            </a:r>
          </a:p>
        </p:txBody>
      </p:sp>
      <p:sp>
        <p:nvSpPr>
          <p:cNvPr id="138" name="TextBox 137"/>
          <p:cNvSpPr txBox="1"/>
          <p:nvPr/>
        </p:nvSpPr>
        <p:spPr>
          <a:xfrm>
            <a:off x="11687175" y="5200650"/>
            <a:ext cx="276225" cy="133350"/>
          </a:xfrm>
          <a:prstGeom prst="rect">
            <a:avLst/>
          </a:prstGeom>
          <a:noFill/>
        </p:spPr>
        <p:txBody>
          <a:bodyPr wrap="none" lIns="0" rIns="0" tIns="0" bIns="0" anchor="ctr">
            <a:spAutoFit/>
          </a:bodyPr>
          <a:lstStyle/>
          <a:p>
            <a:pPr algn="l"/>
            <a:r>
              <a:rPr sz="700" b="0">
                <a:solidFill>
                  <a:srgbClr val="6C7A89"/>
                </a:solidFill>
                <a:latin typeface="Calibri"/>
              </a:rPr>
              <a:t>18%</a:t>
            </a:r>
          </a:p>
        </p:txBody>
      </p:sp>
      <p:sp>
        <p:nvSpPr>
          <p:cNvPr id="139" name="TextBox 138"/>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7%</a:t>
            </a:r>
          </a:p>
        </p:txBody>
      </p:sp>
      <p:sp>
        <p:nvSpPr>
          <p:cNvPr id="140" name="Rectangle 13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2" name="Rounded Rectangle 14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3" name="Rounded Rectangle 14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4" name="Rounded Rectangle 14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Value, By Dosage / Concentration (%)</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447925"/>
          </a:xfrm>
          <a:prstGeom prst="roundRect">
            <a:avLst>
              <a:gd name="adj" fmla="val 31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YoY Growth, By Dosage / Concentration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Dosage / Concentration</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20 mg</a:t>
                      </a:r>
                    </a:p>
                  </a:txBody>
                  <a:tcPr marL="85725" marR="38100" marT="19050" marB="19050" anchor="ctr">
                    <a:solidFill>
                      <a:srgbClr val="FFFFFF"/>
                    </a:solidFill>
                  </a:tcPr>
                </a:tc>
                <a:tc>
                  <a:txBody>
                    <a:bodyPr wrap="none"/>
                    <a:lstStyle/>
                    <a:p>
                      <a:pPr algn="l"/>
                      <a:r>
                        <a:rPr sz="800" b="1">
                          <a:solidFill>
                            <a:srgbClr val="2E7D32"/>
                          </a:solidFill>
                          <a:latin typeface="Calibri"/>
                        </a:rPr>
                        <a:t>▲ 13.1%</a:t>
                      </a:r>
                    </a:p>
                  </a:txBody>
                  <a:tcPr marL="85725" marR="38100" marT="19050" marB="19050" anchor="ctr">
                    <a:solidFill>
                      <a:srgbClr val="FFFFFF"/>
                    </a:solidFill>
                  </a:tcPr>
                </a:tc>
                <a:tc>
                  <a:txBody>
                    <a:bodyPr wrap="none"/>
                    <a:lstStyle/>
                    <a:p>
                      <a:pPr algn="l"/>
                      <a:r>
                        <a:rPr sz="800" b="1">
                          <a:solidFill>
                            <a:srgbClr val="2E7D32"/>
                          </a:solidFill>
                          <a:latin typeface="Calibri"/>
                        </a:rPr>
                        <a:t>▲ 20.0%</a:t>
                      </a:r>
                    </a:p>
                  </a:txBody>
                  <a:tcPr marL="85725" marR="38100" marT="19050" marB="19050" anchor="ctr">
                    <a:solidFill>
                      <a:srgbClr val="FFFFFF"/>
                    </a:solidFill>
                  </a:tcPr>
                </a:tc>
                <a:tc>
                  <a:txBody>
                    <a:bodyPr wrap="none"/>
                    <a:lstStyle/>
                    <a:p>
                      <a:pPr algn="l"/>
                      <a:r>
                        <a:rPr sz="800" b="1">
                          <a:solidFill>
                            <a:srgbClr val="2E7D32"/>
                          </a:solidFill>
                          <a:latin typeface="Calibri"/>
                        </a:rPr>
                        <a:t>▲ 23.8%</a:t>
                      </a:r>
                    </a:p>
                  </a:txBody>
                  <a:tcPr marL="85725" marR="38100" marT="19050" marB="19050" anchor="ctr">
                    <a:solidFill>
                      <a:srgbClr val="FFFFFF"/>
                    </a:solidFill>
                  </a:tcPr>
                </a:tc>
                <a:tc>
                  <a:txBody>
                    <a:bodyPr wrap="none"/>
                    <a:lstStyle/>
                    <a:p>
                      <a:pPr algn="l"/>
                      <a:r>
                        <a:rPr sz="800" b="1">
                          <a:solidFill>
                            <a:srgbClr val="2E7D32"/>
                          </a:solidFill>
                          <a:latin typeface="Calibri"/>
                        </a:rPr>
                        <a:t>▲ 21.1%</a:t>
                      </a:r>
                    </a:p>
                  </a:txBody>
                  <a:tcPr marL="85725" marR="38100" marT="19050" marB="19050" anchor="ctr">
                    <a:solidFill>
                      <a:srgbClr val="FFFFFF"/>
                    </a:solidFill>
                  </a:tcPr>
                </a:tc>
                <a:tc>
                  <a:txBody>
                    <a:bodyPr wrap="none"/>
                    <a:lstStyle/>
                    <a:p>
                      <a:pPr algn="l"/>
                      <a:r>
                        <a:rPr sz="800" b="1">
                          <a:solidFill>
                            <a:srgbClr val="2E7D32"/>
                          </a:solidFill>
                          <a:latin typeface="Calibri"/>
                        </a:rPr>
                        <a:t>▲ 17.5%</a:t>
                      </a:r>
                    </a:p>
                  </a:txBody>
                  <a:tcPr marL="85725" marR="38100" marT="19050" marB="19050" anchor="ctr">
                    <a:solidFill>
                      <a:srgbClr val="FFFFFF"/>
                    </a:solidFill>
                  </a:tcPr>
                </a:tc>
                <a:tc>
                  <a:txBody>
                    <a:bodyPr wrap="none"/>
                    <a:lstStyle/>
                    <a:p>
                      <a:pPr algn="l"/>
                      <a:r>
                        <a:rPr sz="800" b="1">
                          <a:solidFill>
                            <a:srgbClr val="2E7D32"/>
                          </a:solidFill>
                          <a:latin typeface="Calibri"/>
                        </a:rPr>
                        <a:t>▲ 15.3%</a:t>
                      </a:r>
                    </a:p>
                  </a:txBody>
                  <a:tcPr marL="85725" marR="38100" marT="19050" marB="19050" anchor="ctr">
                    <a:solidFill>
                      <a:srgbClr val="FFFFFF"/>
                    </a:solidFill>
                  </a:tcPr>
                </a:tc>
                <a:tc>
                  <a:txBody>
                    <a:bodyPr wrap="none"/>
                    <a:lstStyle/>
                    <a:p>
                      <a:pPr algn="l"/>
                      <a:r>
                        <a:rPr sz="800" b="1">
                          <a:solidFill>
                            <a:srgbClr val="2E7D32"/>
                          </a:solidFill>
                          <a:latin typeface="Calibri"/>
                        </a:rPr>
                        <a:t>▲ 13.0%</a:t>
                      </a:r>
                    </a:p>
                  </a:txBody>
                  <a:tcPr marL="85725" marR="38100" marT="19050" marB="19050" anchor="ctr">
                    <a:solidFill>
                      <a:srgbClr val="FFFFFF"/>
                    </a:solidFill>
                  </a:tcPr>
                </a:tc>
                <a:tc>
                  <a:txBody>
                    <a:bodyPr wrap="none"/>
                    <a:lstStyle/>
                    <a:p>
                      <a:pPr algn="l"/>
                      <a:r>
                        <a:rPr sz="800" b="1">
                          <a:solidFill>
                            <a:srgbClr val="2E7D32"/>
                          </a:solidFill>
                          <a:latin typeface="Calibri"/>
                        </a:rPr>
                        <a:t>▲ 11.4%</a:t>
                      </a:r>
                    </a:p>
                  </a:txBody>
                  <a:tcPr marL="85725" marR="38100" marT="19050" marB="19050" anchor="ctr">
                    <a:solidFill>
                      <a:srgbClr val="FFFFFF"/>
                    </a:solidFill>
                  </a:tcPr>
                </a:tc>
                <a:tc>
                  <a:txBody>
                    <a:bodyPr wrap="none"/>
                    <a:lstStyle/>
                    <a:p>
                      <a:pPr algn="l"/>
                      <a:r>
                        <a:rPr sz="800" b="1">
                          <a:solidFill>
                            <a:srgbClr val="2E7D32"/>
                          </a:solidFill>
                          <a:latin typeface="Calibri"/>
                        </a:rPr>
                        <a:t>▲ 10.0%</a:t>
                      </a:r>
                    </a:p>
                  </a:txBody>
                  <a:tcPr marL="85725" marR="38100" marT="19050" marB="19050" anchor="ctr">
                    <a:solidFill>
                      <a:srgbClr val="FFFFFF"/>
                    </a:solidFill>
                  </a:tcPr>
                </a:tc>
                <a:tc>
                  <a:txBody>
                    <a:bodyPr wrap="none"/>
                    <a:lstStyle/>
                    <a:p>
                      <a:pPr algn="l"/>
                      <a:r>
                        <a:rPr sz="800" b="1">
                          <a:solidFill>
                            <a:srgbClr val="2E7D32"/>
                          </a:solidFill>
                          <a:latin typeface="Calibri"/>
                        </a:rPr>
                        <a:t>▲ 8.9%</a:t>
                      </a:r>
                    </a:p>
                  </a:txBody>
                  <a:tcPr marL="85725" marR="38100" marT="19050" marB="19050" anchor="ctr">
                    <a:solidFill>
                      <a:srgbClr val="FFFFFF"/>
                    </a:solidFill>
                  </a:tcPr>
                </a:tc>
                <a:tc>
                  <a:txBody>
                    <a:bodyPr wrap="none"/>
                    <a:lstStyle/>
                    <a:p>
                      <a:pPr algn="l"/>
                      <a:r>
                        <a:rPr sz="800" b="1">
                          <a:solidFill>
                            <a:srgbClr val="2E7D32"/>
                          </a:solidFill>
                          <a:latin typeface="Calibri"/>
                        </a:rPr>
                        <a:t>▲ 8.0%</a:t>
                      </a:r>
                    </a:p>
                  </a:txBody>
                  <a:tcPr marL="85725" marR="38100" marT="19050" marB="19050" anchor="ctr">
                    <a:solidFill>
                      <a:srgbClr val="FFFFFF"/>
                    </a:solidFill>
                  </a:tcPr>
                </a:tc>
                <a:tc>
                  <a:txBody>
                    <a:bodyPr wrap="none"/>
                    <a:lstStyle/>
                    <a:p>
                      <a:pPr algn="l"/>
                      <a:r>
                        <a:rPr sz="800" b="1">
                          <a:solidFill>
                            <a:srgbClr val="2E7D32"/>
                          </a:solidFill>
                          <a:latin typeface="Calibri"/>
                        </a:rPr>
                        <a:t>▲ 7.1%</a:t>
                      </a:r>
                    </a:p>
                  </a:txBody>
                  <a:tcPr marL="85725" marR="38100" marT="19050" marB="19050" anchor="ctr">
                    <a:solidFill>
                      <a:srgbClr val="FFFFFF"/>
                    </a:solidFill>
                  </a:tcPr>
                </a:tc>
                <a:tc>
                  <a:txBody>
                    <a:bodyPr wrap="none"/>
                    <a:lstStyle/>
                    <a:p>
                      <a:pPr algn="l"/>
                      <a:r>
                        <a:rPr sz="800" b="1">
                          <a:solidFill>
                            <a:srgbClr val="2E7D32"/>
                          </a:solidFill>
                          <a:latin typeface="Calibri"/>
                        </a:rPr>
                        <a:t>▲ 6.5%</a:t>
                      </a:r>
                    </a:p>
                  </a:txBody>
                  <a:tcPr marL="85725" marR="38100" marT="19050" marB="19050" anchor="ctr">
                    <a:solidFill>
                      <a:srgbClr val="FFFFFF"/>
                    </a:solidFill>
                  </a:tcPr>
                </a:tc>
                <a:tc>
                  <a:txBody>
                    <a:bodyPr wrap="none"/>
                    <a:lstStyle/>
                    <a:p>
                      <a:pPr algn="l"/>
                      <a:r>
                        <a:rPr sz="800" b="1">
                          <a:solidFill>
                            <a:srgbClr val="2E7D32"/>
                          </a:solidFill>
                          <a:latin typeface="Calibri"/>
                        </a:rPr>
                        <a:t>▲ 6.0%</a:t>
                      </a:r>
                    </a:p>
                  </a:txBody>
                  <a:tcPr marL="85725" marR="38100" marT="19050" marB="19050" anchor="ctr">
                    <a:solidFill>
                      <a:srgbClr val="FFFFFF"/>
                    </a:solidFill>
                  </a:tcPr>
                </a:tc>
                <a:tc>
                  <a:txBody>
                    <a:bodyPr wrap="none"/>
                    <a:lstStyle/>
                    <a:p>
                      <a:pPr algn="l"/>
                      <a:r>
                        <a:rPr sz="800" b="1">
                          <a:solidFill>
                            <a:srgbClr val="2E7D32"/>
                          </a:solidFill>
                          <a:latin typeface="Calibri"/>
                        </a:rPr>
                        <a:t>▲ 5.6%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40 mg</a:t>
                      </a:r>
                    </a:p>
                  </a:txBody>
                  <a:tcPr marL="85725" marR="38100" marT="19050" marB="19050" anchor="ctr">
                    <a:solidFill>
                      <a:srgbClr val="F5F8FA"/>
                    </a:solidFill>
                  </a:tcPr>
                </a:tc>
                <a:tc>
                  <a:txBody>
                    <a:bodyPr wrap="none"/>
                    <a:lstStyle/>
                    <a:p>
                      <a:pPr algn="l"/>
                      <a:r>
                        <a:rPr sz="800" b="1">
                          <a:solidFill>
                            <a:srgbClr val="2E7D32"/>
                          </a:solidFill>
                          <a:latin typeface="Calibri"/>
                        </a:rPr>
                        <a:t>▲ 12.8%</a:t>
                      </a:r>
                    </a:p>
                  </a:txBody>
                  <a:tcPr marL="85725" marR="38100" marT="19050" marB="19050" anchor="ctr">
                    <a:solidFill>
                      <a:srgbClr val="F5F8FA"/>
                    </a:solidFill>
                  </a:tcPr>
                </a:tc>
                <a:tc>
                  <a:txBody>
                    <a:bodyPr wrap="none"/>
                    <a:lstStyle/>
                    <a:p>
                      <a:pPr algn="l"/>
                      <a:r>
                        <a:rPr sz="800" b="1">
                          <a:solidFill>
                            <a:srgbClr val="2E7D32"/>
                          </a:solidFill>
                          <a:latin typeface="Calibri"/>
                        </a:rPr>
                        <a:t>▲ 19.6%</a:t>
                      </a:r>
                    </a:p>
                  </a:txBody>
                  <a:tcPr marL="85725" marR="38100" marT="19050" marB="19050" anchor="ctr">
                    <a:solidFill>
                      <a:srgbClr val="F5F8FA"/>
                    </a:solidFill>
                  </a:tcPr>
                </a:tc>
                <a:tc>
                  <a:txBody>
                    <a:bodyPr wrap="none"/>
                    <a:lstStyle/>
                    <a:p>
                      <a:pPr algn="l"/>
                      <a:r>
                        <a:rPr sz="800" b="1">
                          <a:solidFill>
                            <a:srgbClr val="2E7D32"/>
                          </a:solidFill>
                          <a:latin typeface="Calibri"/>
                        </a:rPr>
                        <a:t>▲ 23.4%</a:t>
                      </a:r>
                    </a:p>
                  </a:txBody>
                  <a:tcPr marL="85725" marR="38100" marT="19050" marB="19050" anchor="ctr">
                    <a:solidFill>
                      <a:srgbClr val="F5F8FA"/>
                    </a:solidFill>
                  </a:tcPr>
                </a:tc>
                <a:tc>
                  <a:txBody>
                    <a:bodyPr wrap="none"/>
                    <a:lstStyle/>
                    <a:p>
                      <a:pPr algn="l"/>
                      <a:r>
                        <a:rPr sz="800" b="1">
                          <a:solidFill>
                            <a:srgbClr val="2E7D32"/>
                          </a:solidFill>
                          <a:latin typeface="Calibri"/>
                        </a:rPr>
                        <a:t>▲ 20.7%</a:t>
                      </a:r>
                    </a:p>
                  </a:txBody>
                  <a:tcPr marL="85725" marR="38100" marT="19050" marB="19050" anchor="ctr">
                    <a:solidFill>
                      <a:srgbClr val="F5F8FA"/>
                    </a:solidFill>
                  </a:tcPr>
                </a:tc>
                <a:tc>
                  <a:txBody>
                    <a:bodyPr wrap="none"/>
                    <a:lstStyle/>
                    <a:p>
                      <a:pPr algn="l"/>
                      <a:r>
                        <a:rPr sz="800" b="1">
                          <a:solidFill>
                            <a:srgbClr val="2E7D32"/>
                          </a:solidFill>
                          <a:latin typeface="Calibri"/>
                        </a:rPr>
                        <a:t>▲ 17.1%</a:t>
                      </a:r>
                    </a:p>
                  </a:txBody>
                  <a:tcPr marL="85725" marR="38100" marT="19050" marB="19050" anchor="ctr">
                    <a:solidFill>
                      <a:srgbClr val="F5F8FA"/>
                    </a:solidFill>
                  </a:tcPr>
                </a:tc>
                <a:tc>
                  <a:txBody>
                    <a:bodyPr wrap="none"/>
                    <a:lstStyle/>
                    <a:p>
                      <a:pPr algn="l"/>
                      <a:r>
                        <a:rPr sz="800" b="1">
                          <a:solidFill>
                            <a:srgbClr val="2E7D32"/>
                          </a:solidFill>
                          <a:latin typeface="Calibri"/>
                        </a:rPr>
                        <a:t>▲ 14.9%</a:t>
                      </a:r>
                    </a:p>
                  </a:txBody>
                  <a:tcPr marL="85725" marR="38100" marT="19050" marB="19050" anchor="ctr">
                    <a:solidFill>
                      <a:srgbClr val="F5F8FA"/>
                    </a:solidFill>
                  </a:tcPr>
                </a:tc>
                <a:tc>
                  <a:txBody>
                    <a:bodyPr wrap="none"/>
                    <a:lstStyle/>
                    <a:p>
                      <a:pPr algn="l"/>
                      <a:r>
                        <a:rPr sz="800" b="1">
                          <a:solidFill>
                            <a:srgbClr val="2E7D32"/>
                          </a:solidFill>
                          <a:latin typeface="Calibri"/>
                        </a:rPr>
                        <a:t>▲ 12.6%</a:t>
                      </a:r>
                    </a:p>
                  </a:txBody>
                  <a:tcPr marL="85725" marR="38100" marT="19050" marB="19050" anchor="ctr">
                    <a:solidFill>
                      <a:srgbClr val="F5F8FA"/>
                    </a:solidFill>
                  </a:tcPr>
                </a:tc>
                <a:tc>
                  <a:txBody>
                    <a:bodyPr wrap="none"/>
                    <a:lstStyle/>
                    <a:p>
                      <a:pPr algn="l"/>
                      <a:r>
                        <a:rPr sz="800" b="1">
                          <a:solidFill>
                            <a:srgbClr val="2E7D32"/>
                          </a:solidFill>
                          <a:latin typeface="Calibri"/>
                        </a:rPr>
                        <a:t>▲ 10.9%</a:t>
                      </a:r>
                    </a:p>
                  </a:txBody>
                  <a:tcPr marL="85725" marR="38100" marT="19050" marB="19050" anchor="ctr">
                    <a:solidFill>
                      <a:srgbClr val="F5F8FA"/>
                    </a:solidFill>
                  </a:tcPr>
                </a:tc>
                <a:tc>
                  <a:txBody>
                    <a:bodyPr wrap="none"/>
                    <a:lstStyle/>
                    <a:p>
                      <a:pPr algn="l"/>
                      <a:r>
                        <a:rPr sz="800" b="1">
                          <a:solidFill>
                            <a:srgbClr val="2E7D32"/>
                          </a:solidFill>
                          <a:latin typeface="Calibri"/>
                        </a:rPr>
                        <a:t>▲ 9.6%</a:t>
                      </a:r>
                    </a:p>
                  </a:txBody>
                  <a:tcPr marL="85725" marR="38100" marT="19050" marB="19050" anchor="ctr">
                    <a:solidFill>
                      <a:srgbClr val="F5F8FA"/>
                    </a:solidFill>
                  </a:tcPr>
                </a:tc>
                <a:tc>
                  <a:txBody>
                    <a:bodyPr wrap="none"/>
                    <a:lstStyle/>
                    <a:p>
                      <a:pPr algn="l"/>
                      <a:r>
                        <a:rPr sz="800" b="1">
                          <a:solidFill>
                            <a:srgbClr val="2E7D32"/>
                          </a:solidFill>
                          <a:latin typeface="Calibri"/>
                        </a:rPr>
                        <a:t>▲ 8.5%</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6.7%</a:t>
                      </a:r>
                    </a:p>
                  </a:txBody>
                  <a:tcPr marL="85725" marR="38100" marT="19050" marB="19050" anchor="ctr">
                    <a:solidFill>
                      <a:srgbClr val="F5F8FA"/>
                    </a:solidFill>
                  </a:tcPr>
                </a:tc>
                <a:tc>
                  <a:txBody>
                    <a:bodyPr wrap="none"/>
                    <a:lstStyle/>
                    <a:p>
                      <a:pPr algn="l"/>
                      <a:r>
                        <a:rPr sz="800" b="1">
                          <a:solidFill>
                            <a:srgbClr val="2E7D32"/>
                          </a:solidFill>
                          <a:latin typeface="Calibri"/>
                        </a:rPr>
                        <a:t>▲ 6.1%</a:t>
                      </a:r>
                    </a:p>
                  </a:txBody>
                  <a:tcPr marL="85725" marR="38100" marT="19050" marB="19050" anchor="ctr">
                    <a:solidFill>
                      <a:srgbClr val="F5F8FA"/>
                    </a:solidFill>
                  </a:tcPr>
                </a:tc>
                <a:tc>
                  <a:txBody>
                    <a:bodyPr wrap="none"/>
                    <a:lstStyle/>
                    <a:p>
                      <a:pPr algn="l"/>
                      <a:r>
                        <a:rPr sz="800" b="1">
                          <a:solidFill>
                            <a:srgbClr val="2E7D32"/>
                          </a:solidFill>
                          <a:latin typeface="Calibri"/>
                        </a:rPr>
                        <a:t>▲ 5.6%</a:t>
                      </a:r>
                    </a:p>
                  </a:txBody>
                  <a:tcPr marL="85725" marR="38100" marT="19050" marB="19050" anchor="ctr">
                    <a:solidFill>
                      <a:srgbClr val="F5F8FA"/>
                    </a:solidFill>
                  </a:tcPr>
                </a:tc>
                <a:tc>
                  <a:txBody>
                    <a:bodyPr wrap="none"/>
                    <a:lstStyle/>
                    <a:p>
                      <a:pPr algn="l"/>
                      <a:r>
                        <a:rPr sz="800" b="1">
                          <a:solidFill>
                            <a:srgbClr val="2E7D32"/>
                          </a:solidFill>
                          <a:latin typeface="Calibri"/>
                        </a:rPr>
                        <a:t>▲ 5.1%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80 mg</a:t>
                      </a:r>
                    </a:p>
                  </a:txBody>
                  <a:tcPr marL="85725" marR="38100" marT="19050" marB="19050" anchor="ctr">
                    <a:solidFill>
                      <a:srgbClr val="FFFFFF"/>
                    </a:solidFill>
                  </a:tcPr>
                </a:tc>
                <a:tc>
                  <a:txBody>
                    <a:bodyPr wrap="none"/>
                    <a:lstStyle/>
                    <a:p>
                      <a:pPr algn="l"/>
                      <a:r>
                        <a:rPr sz="800" b="1">
                          <a:solidFill>
                            <a:srgbClr val="A86F00"/>
                          </a:solidFill>
                          <a:latin typeface="Calibri"/>
                        </a:rPr>
                        <a:t>▶ 11.3%</a:t>
                      </a:r>
                    </a:p>
                  </a:txBody>
                  <a:tcPr marL="85725" marR="38100" marT="19050" marB="19050" anchor="ctr">
                    <a:solidFill>
                      <a:srgbClr val="FFFFFF"/>
                    </a:solidFill>
                  </a:tcPr>
                </a:tc>
                <a:tc>
                  <a:txBody>
                    <a:bodyPr wrap="none"/>
                    <a:lstStyle/>
                    <a:p>
                      <a:pPr algn="l"/>
                      <a:r>
                        <a:rPr sz="800" b="1">
                          <a:solidFill>
                            <a:srgbClr val="A86F00"/>
                          </a:solidFill>
                          <a:latin typeface="Calibri"/>
                        </a:rPr>
                        <a:t>▶ 18.1%</a:t>
                      </a:r>
                    </a:p>
                  </a:txBody>
                  <a:tcPr marL="85725" marR="38100" marT="19050" marB="19050" anchor="ctr">
                    <a:solidFill>
                      <a:srgbClr val="FFFFFF"/>
                    </a:solidFill>
                  </a:tcPr>
                </a:tc>
                <a:tc>
                  <a:txBody>
                    <a:bodyPr wrap="none"/>
                    <a:lstStyle/>
                    <a:p>
                      <a:pPr algn="l"/>
                      <a:r>
                        <a:rPr sz="800" b="1">
                          <a:solidFill>
                            <a:srgbClr val="A86F00"/>
                          </a:solidFill>
                          <a:latin typeface="Calibri"/>
                        </a:rPr>
                        <a:t>▶ 21.9%</a:t>
                      </a:r>
                    </a:p>
                  </a:txBody>
                  <a:tcPr marL="85725" marR="38100" marT="19050" marB="19050" anchor="ctr">
                    <a:solidFill>
                      <a:srgbClr val="FFFFFF"/>
                    </a:solidFill>
                  </a:tcPr>
                </a:tc>
                <a:tc>
                  <a:txBody>
                    <a:bodyPr wrap="none"/>
                    <a:lstStyle/>
                    <a:p>
                      <a:pPr algn="l"/>
                      <a:r>
                        <a:rPr sz="800" b="1">
                          <a:solidFill>
                            <a:srgbClr val="A86F00"/>
                          </a:solidFill>
                          <a:latin typeface="Calibri"/>
                        </a:rPr>
                        <a:t>▶ 19.3%</a:t>
                      </a:r>
                    </a:p>
                  </a:txBody>
                  <a:tcPr marL="85725" marR="38100" marT="19050" marB="19050" anchor="ctr">
                    <a:solidFill>
                      <a:srgbClr val="FFFFFF"/>
                    </a:solidFill>
                  </a:tcPr>
                </a:tc>
                <a:tc>
                  <a:txBody>
                    <a:bodyPr wrap="none"/>
                    <a:lstStyle/>
                    <a:p>
                      <a:pPr algn="l"/>
                      <a:r>
                        <a:rPr sz="800" b="1">
                          <a:solidFill>
                            <a:srgbClr val="A86F00"/>
                          </a:solidFill>
                          <a:latin typeface="Calibri"/>
                        </a:rPr>
                        <a:t>▶ 15.7%</a:t>
                      </a:r>
                    </a:p>
                  </a:txBody>
                  <a:tcPr marL="85725" marR="38100" marT="19050" marB="19050" anchor="ctr">
                    <a:solidFill>
                      <a:srgbClr val="FFFFFF"/>
                    </a:solidFill>
                  </a:tcPr>
                </a:tc>
                <a:tc>
                  <a:txBody>
                    <a:bodyPr wrap="none"/>
                    <a:lstStyle/>
                    <a:p>
                      <a:pPr algn="l"/>
                      <a:r>
                        <a:rPr sz="800" b="1">
                          <a:solidFill>
                            <a:srgbClr val="A86F00"/>
                          </a:solidFill>
                          <a:latin typeface="Calibri"/>
                        </a:rPr>
                        <a:t>▶ 13.7%</a:t>
                      </a:r>
                    </a:p>
                  </a:txBody>
                  <a:tcPr marL="85725" marR="38100" marT="19050" marB="19050" anchor="ctr">
                    <a:solidFill>
                      <a:srgbClr val="FFFFFF"/>
                    </a:solidFill>
                  </a:tcPr>
                </a:tc>
                <a:tc>
                  <a:txBody>
                    <a:bodyPr wrap="none"/>
                    <a:lstStyle/>
                    <a:p>
                      <a:pPr algn="l"/>
                      <a:r>
                        <a:rPr sz="800" b="1">
                          <a:solidFill>
                            <a:srgbClr val="A86F00"/>
                          </a:solidFill>
                          <a:latin typeface="Calibri"/>
                        </a:rPr>
                        <a:t>▶ 11.4%</a:t>
                      </a:r>
                    </a:p>
                  </a:txBody>
                  <a:tcPr marL="85725" marR="38100" marT="19050" marB="19050" anchor="ctr">
                    <a:solidFill>
                      <a:srgbClr val="FFFFFF"/>
                    </a:solidFill>
                  </a:tcPr>
                </a:tc>
                <a:tc>
                  <a:txBody>
                    <a:bodyPr wrap="none"/>
                    <a:lstStyle/>
                    <a:p>
                      <a:pPr algn="l"/>
                      <a:r>
                        <a:rPr sz="800" b="1">
                          <a:solidFill>
                            <a:srgbClr val="A86F00"/>
                          </a:solidFill>
                          <a:latin typeface="Calibri"/>
                        </a:rPr>
                        <a:t>▶ 9.8%</a:t>
                      </a:r>
                    </a:p>
                  </a:txBody>
                  <a:tcPr marL="85725" marR="38100" marT="19050" marB="19050" anchor="ctr">
                    <a:solidFill>
                      <a:srgbClr val="FFFFFF"/>
                    </a:solidFill>
                  </a:tcPr>
                </a:tc>
                <a:tc>
                  <a:txBody>
                    <a:bodyPr wrap="none"/>
                    <a:lstStyle/>
                    <a:p>
                      <a:pPr algn="l"/>
                      <a:r>
                        <a:rPr sz="800" b="1">
                          <a:solidFill>
                            <a:srgbClr val="A86F00"/>
                          </a:solidFill>
                          <a:latin typeface="Calibri"/>
                        </a:rPr>
                        <a:t>▶ 8.5%</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c>
                  <a:txBody>
                    <a:bodyPr wrap="none"/>
                    <a:lstStyle/>
                    <a:p>
                      <a:pPr algn="l"/>
                      <a:r>
                        <a:rPr sz="800" b="1">
                          <a:solidFill>
                            <a:srgbClr val="A86F00"/>
                          </a:solidFill>
                          <a:latin typeface="Calibri"/>
                        </a:rPr>
                        <a:t>▶ 5.2%</a:t>
                      </a:r>
                    </a:p>
                  </a:txBody>
                  <a:tcPr marL="85725" marR="38100" marT="19050" marB="19050" anchor="ctr">
                    <a:solidFill>
                      <a:srgbClr val="FFFFFF"/>
                    </a:solidFill>
                  </a:tcPr>
                </a:tc>
                <a:tc>
                  <a:txBody>
                    <a:bodyPr wrap="none"/>
                    <a:lstStyle/>
                    <a:p>
                      <a:pPr algn="l"/>
                      <a:r>
                        <a:rPr sz="800" b="1">
                          <a:solidFill>
                            <a:srgbClr val="A86F00"/>
                          </a:solidFill>
                          <a:latin typeface="Calibri"/>
                        </a:rPr>
                        <a:t>▶ 4.7%</a:t>
                      </a:r>
                    </a:p>
                  </a:txBody>
                  <a:tcPr marL="85725" marR="38100" marT="19050" marB="19050" anchor="ctr">
                    <a:solidFill>
                      <a:srgbClr val="FFFFFF"/>
                    </a:solidFill>
                  </a:tcPr>
                </a:tc>
                <a:tc>
                  <a:txBody>
                    <a:bodyPr wrap="none"/>
                    <a:lstStyle/>
                    <a:p>
                      <a:pPr algn="l"/>
                      <a:r>
                        <a:rPr sz="800" b="1">
                          <a:solidFill>
                            <a:srgbClr val="A86F00"/>
                          </a:solidFill>
                          <a:latin typeface="Calibri"/>
                        </a:rPr>
                        <a:t>▶ 4.3%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100 mg/mL</a:t>
                      </a:r>
                    </a:p>
                  </a:txBody>
                  <a:tcPr marL="85725" marR="38100" marT="19050" marB="19050" anchor="ctr">
                    <a:solidFill>
                      <a:srgbClr val="F5F8FA"/>
                    </a:solidFill>
                  </a:tcPr>
                </a:tc>
                <a:tc>
                  <a:txBody>
                    <a:bodyPr wrap="none"/>
                    <a:lstStyle/>
                    <a:p>
                      <a:pPr algn="l"/>
                      <a:r>
                        <a:rPr sz="800" b="1">
                          <a:solidFill>
                            <a:srgbClr val="2E7D32"/>
                          </a:solidFill>
                          <a:latin typeface="Calibri"/>
                        </a:rPr>
                        <a:t>▲ 13.4%</a:t>
                      </a:r>
                    </a:p>
                  </a:txBody>
                  <a:tcPr marL="85725" marR="38100" marT="19050" marB="19050" anchor="ctr">
                    <a:solidFill>
                      <a:srgbClr val="F5F8FA"/>
                    </a:solidFill>
                  </a:tcPr>
                </a:tc>
                <a:tc>
                  <a:txBody>
                    <a:bodyPr wrap="none"/>
                    <a:lstStyle/>
                    <a:p>
                      <a:pPr algn="l"/>
                      <a:r>
                        <a:rPr sz="800" b="1">
                          <a:solidFill>
                            <a:srgbClr val="2E7D32"/>
                          </a:solidFill>
                          <a:latin typeface="Calibri"/>
                        </a:rPr>
                        <a:t>▲ 20.3%</a:t>
                      </a:r>
                    </a:p>
                  </a:txBody>
                  <a:tcPr marL="85725" marR="38100" marT="19050" marB="19050" anchor="ctr">
                    <a:solidFill>
                      <a:srgbClr val="F5F8FA"/>
                    </a:solidFill>
                  </a:tcPr>
                </a:tc>
                <a:tc>
                  <a:txBody>
                    <a:bodyPr wrap="none"/>
                    <a:lstStyle/>
                    <a:p>
                      <a:pPr algn="l"/>
                      <a:r>
                        <a:rPr sz="800" b="1">
                          <a:solidFill>
                            <a:srgbClr val="2E7D32"/>
                          </a:solidFill>
                          <a:latin typeface="Calibri"/>
                        </a:rPr>
                        <a:t>▲ 24.1%</a:t>
                      </a:r>
                    </a:p>
                  </a:txBody>
                  <a:tcPr marL="85725" marR="38100" marT="19050" marB="19050" anchor="ctr">
                    <a:solidFill>
                      <a:srgbClr val="F5F8FA"/>
                    </a:solidFill>
                  </a:tcPr>
                </a:tc>
                <a:tc>
                  <a:txBody>
                    <a:bodyPr wrap="none"/>
                    <a:lstStyle/>
                    <a:p>
                      <a:pPr algn="l"/>
                      <a:r>
                        <a:rPr sz="800" b="1">
                          <a:solidFill>
                            <a:srgbClr val="2E7D32"/>
                          </a:solidFill>
                          <a:latin typeface="Calibri"/>
                        </a:rPr>
                        <a:t>▲ 21.4%</a:t>
                      </a:r>
                    </a:p>
                  </a:txBody>
                  <a:tcPr marL="85725" marR="38100" marT="19050" marB="19050" anchor="ctr">
                    <a:solidFill>
                      <a:srgbClr val="F5F8FA"/>
                    </a:solidFill>
                  </a:tcPr>
                </a:tc>
                <a:tc>
                  <a:txBody>
                    <a:bodyPr wrap="none"/>
                    <a:lstStyle/>
                    <a:p>
                      <a:pPr algn="l"/>
                      <a:r>
                        <a:rPr sz="800" b="1">
                          <a:solidFill>
                            <a:srgbClr val="2E7D32"/>
                          </a:solidFill>
                          <a:latin typeface="Calibri"/>
                        </a:rPr>
                        <a:t>▲ 17.7%</a:t>
                      </a:r>
                    </a:p>
                  </a:txBody>
                  <a:tcPr marL="85725" marR="38100" marT="19050" marB="19050" anchor="ctr">
                    <a:solidFill>
                      <a:srgbClr val="F5F8FA"/>
                    </a:solidFill>
                  </a:tcPr>
                </a:tc>
                <a:tc>
                  <a:txBody>
                    <a:bodyPr wrap="none"/>
                    <a:lstStyle/>
                    <a:p>
                      <a:pPr algn="l"/>
                      <a:r>
                        <a:rPr sz="800" b="1">
                          <a:solidFill>
                            <a:srgbClr val="2E7D32"/>
                          </a:solidFill>
                          <a:latin typeface="Calibri"/>
                        </a:rPr>
                        <a:t>▲ 15.5%</a:t>
                      </a:r>
                    </a:p>
                  </a:txBody>
                  <a:tcPr marL="85725" marR="38100" marT="19050" marB="19050" anchor="ctr">
                    <a:solidFill>
                      <a:srgbClr val="F5F8FA"/>
                    </a:solidFill>
                  </a:tcPr>
                </a:tc>
                <a:tc>
                  <a:txBody>
                    <a:bodyPr wrap="none"/>
                    <a:lstStyle/>
                    <a:p>
                      <a:pPr algn="l"/>
                      <a:r>
                        <a:rPr sz="800" b="1">
                          <a:solidFill>
                            <a:srgbClr val="2E7D32"/>
                          </a:solidFill>
                          <a:latin typeface="Calibri"/>
                        </a:rPr>
                        <a:t>▲ 13.2%</a:t>
                      </a:r>
                    </a:p>
                  </a:txBody>
                  <a:tcPr marL="85725" marR="38100" marT="19050" marB="19050" anchor="ctr">
                    <a:solidFill>
                      <a:srgbClr val="F5F8FA"/>
                    </a:solidFill>
                  </a:tcPr>
                </a:tc>
                <a:tc>
                  <a:txBody>
                    <a:bodyPr wrap="none"/>
                    <a:lstStyle/>
                    <a:p>
                      <a:pPr algn="l"/>
                      <a:r>
                        <a:rPr sz="800" b="1">
                          <a:solidFill>
                            <a:srgbClr val="2E7D32"/>
                          </a:solidFill>
                          <a:latin typeface="Calibri"/>
                        </a:rPr>
                        <a:t>▲ 11.5%</a:t>
                      </a:r>
                    </a:p>
                  </a:txBody>
                  <a:tcPr marL="85725" marR="38100" marT="19050" marB="19050" anchor="ctr">
                    <a:solidFill>
                      <a:srgbClr val="F5F8FA"/>
                    </a:solidFill>
                  </a:tcPr>
                </a:tc>
                <a:tc>
                  <a:txBody>
                    <a:bodyPr wrap="none"/>
                    <a:lstStyle/>
                    <a:p>
                      <a:pPr algn="l"/>
                      <a:r>
                        <a:rPr sz="800" b="1">
                          <a:solidFill>
                            <a:srgbClr val="2E7D32"/>
                          </a:solidFill>
                          <a:latin typeface="Calibri"/>
                        </a:rPr>
                        <a:t>▲ 10.1%</a:t>
                      </a:r>
                    </a:p>
                  </a:txBody>
                  <a:tcPr marL="85725" marR="38100" marT="19050" marB="19050" anchor="ctr">
                    <a:solidFill>
                      <a:srgbClr val="F5F8FA"/>
                    </a:solidFill>
                  </a:tcPr>
                </a:tc>
                <a:tc>
                  <a:txBody>
                    <a:bodyPr wrap="none"/>
                    <a:lstStyle/>
                    <a:p>
                      <a:pPr algn="l"/>
                      <a:r>
                        <a:rPr sz="800" b="1">
                          <a:solidFill>
                            <a:srgbClr val="2E7D32"/>
                          </a:solidFill>
                          <a:latin typeface="Calibri"/>
                        </a:rPr>
                        <a:t>▲ 9.0%</a:t>
                      </a:r>
                    </a:p>
                  </a:txBody>
                  <a:tcPr marL="85725" marR="38100" marT="19050" marB="19050" anchor="ctr">
                    <a:solidFill>
                      <a:srgbClr val="F5F8FA"/>
                    </a:solidFill>
                  </a:tcPr>
                </a:tc>
                <a:tc>
                  <a:txBody>
                    <a:bodyPr wrap="none"/>
                    <a:lstStyle/>
                    <a:p>
                      <a:pPr algn="l"/>
                      <a:r>
                        <a:rPr sz="800" b="1">
                          <a:solidFill>
                            <a:srgbClr val="2E7D32"/>
                          </a:solidFill>
                          <a:latin typeface="Calibri"/>
                        </a:rPr>
                        <a:t>▲ 8.1%</a:t>
                      </a:r>
                    </a:p>
                  </a:txBody>
                  <a:tcPr marL="85725" marR="38100" marT="19050" marB="19050" anchor="ctr">
                    <a:solidFill>
                      <a:srgbClr val="F5F8FA"/>
                    </a:solidFill>
                  </a:tcPr>
                </a:tc>
                <a:tc>
                  <a:txBody>
                    <a:bodyPr wrap="none"/>
                    <a:lstStyle/>
                    <a:p>
                      <a:pPr algn="l"/>
                      <a:r>
                        <a:rPr sz="800" b="1">
                          <a:solidFill>
                            <a:srgbClr val="2E7D32"/>
                          </a:solidFill>
                          <a:latin typeface="Calibri"/>
                        </a:rPr>
                        <a:t>▲ 7.2%</a:t>
                      </a:r>
                    </a:p>
                  </a:txBody>
                  <a:tcPr marL="85725" marR="38100" marT="19050" marB="19050" anchor="ctr">
                    <a:solidFill>
                      <a:srgbClr val="F5F8FA"/>
                    </a:solidFill>
                  </a:tcPr>
                </a:tc>
                <a:tc>
                  <a:txBody>
                    <a:bodyPr wrap="none"/>
                    <a:lstStyle/>
                    <a:p>
                      <a:pPr algn="l"/>
                      <a:r>
                        <a:rPr sz="800" b="1">
                          <a:solidFill>
                            <a:srgbClr val="2E7D32"/>
                          </a:solidFill>
                          <a:latin typeface="Calibri"/>
                        </a:rPr>
                        <a:t>▲ 6.6%</a:t>
                      </a:r>
                    </a:p>
                  </a:txBody>
                  <a:tcPr marL="85725" marR="38100" marT="19050" marB="19050" anchor="ctr">
                    <a:solidFill>
                      <a:srgbClr val="F5F8FA"/>
                    </a:solidFill>
                  </a:tcPr>
                </a:tc>
                <a:tc>
                  <a:txBody>
                    <a:bodyPr wrap="none"/>
                    <a:lstStyle/>
                    <a:p>
                      <a:pPr algn="l"/>
                      <a:r>
                        <a:rPr sz="800" b="1">
                          <a:solidFill>
                            <a:srgbClr val="2E7D32"/>
                          </a:solidFill>
                          <a:latin typeface="Calibri"/>
                        </a:rPr>
                        <a:t>▲ 6.0%</a:t>
                      </a:r>
                    </a:p>
                  </a:txBody>
                  <a:tcPr marL="85725" marR="38100" marT="19050" marB="19050" anchor="ctr">
                    <a:solidFill>
                      <a:srgbClr val="F5F8FA"/>
                    </a:solidFill>
                  </a:tcPr>
                </a:tc>
                <a:tc>
                  <a:txBody>
                    <a:bodyPr wrap="none"/>
                    <a:lstStyle/>
                    <a:p>
                      <a:pPr algn="l"/>
                      <a:r>
                        <a:rPr sz="800" b="1">
                          <a:solidFill>
                            <a:srgbClr val="2E7D32"/>
                          </a:solidFill>
                          <a:latin typeface="Calibri"/>
                        </a:rPr>
                        <a:t>▲ 5.6%</a:t>
                      </a:r>
                    </a:p>
                  </a:txBody>
                  <a:tcPr marL="85725" marR="38100" marT="19050" marB="19050" anchor="ctr">
                    <a:solidFill>
                      <a:srgbClr val="F5F8FA"/>
                    </a:solidFill>
                  </a:tcPr>
                </a:tc>
              </a:tr>
            </a:tbl>
          </a:graphicData>
        </a:graphic>
      </p:graphicFrame>
      <p:sp>
        <p:nvSpPr>
          <p:cNvPr id="14" name="TextBox 13"/>
          <p:cNvSpPr txBox="1"/>
          <p:nvPr/>
        </p:nvSpPr>
        <p:spPr>
          <a:xfrm>
            <a:off x="219075" y="31623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438525"/>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956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YoY Heatmap, By Dosage / Concentration (%)  ·  light = lower, dark = higher growth</a:t>
            </a:r>
          </a:p>
        </p:txBody>
      </p:sp>
      <p:sp>
        <p:nvSpPr>
          <p:cNvPr id="17" name="TextBox 16"/>
          <p:cNvSpPr txBox="1"/>
          <p:nvPr/>
        </p:nvSpPr>
        <p:spPr>
          <a:xfrm>
            <a:off x="18573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8" name="TextBox 17"/>
          <p:cNvSpPr txBox="1"/>
          <p:nvPr/>
        </p:nvSpPr>
        <p:spPr>
          <a:xfrm>
            <a:off x="25012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19" name="TextBox 18"/>
          <p:cNvSpPr txBox="1"/>
          <p:nvPr/>
        </p:nvSpPr>
        <p:spPr>
          <a:xfrm>
            <a:off x="31451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0" name="TextBox 19"/>
          <p:cNvSpPr txBox="1"/>
          <p:nvPr/>
        </p:nvSpPr>
        <p:spPr>
          <a:xfrm>
            <a:off x="37890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1" name="TextBox 20"/>
          <p:cNvSpPr txBox="1"/>
          <p:nvPr/>
        </p:nvSpPr>
        <p:spPr>
          <a:xfrm>
            <a:off x="44329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2" name="TextBox 21"/>
          <p:cNvSpPr txBox="1"/>
          <p:nvPr/>
        </p:nvSpPr>
        <p:spPr>
          <a:xfrm>
            <a:off x="507682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3" name="TextBox 22"/>
          <p:cNvSpPr txBox="1"/>
          <p:nvPr/>
        </p:nvSpPr>
        <p:spPr>
          <a:xfrm>
            <a:off x="572071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4" name="TextBox 23"/>
          <p:cNvSpPr txBox="1"/>
          <p:nvPr/>
        </p:nvSpPr>
        <p:spPr>
          <a:xfrm>
            <a:off x="636460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5" name="TextBox 24"/>
          <p:cNvSpPr txBox="1"/>
          <p:nvPr/>
        </p:nvSpPr>
        <p:spPr>
          <a:xfrm>
            <a:off x="700849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6" name="TextBox 25"/>
          <p:cNvSpPr txBox="1"/>
          <p:nvPr/>
        </p:nvSpPr>
        <p:spPr>
          <a:xfrm>
            <a:off x="765238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7" name="TextBox 26"/>
          <p:cNvSpPr txBox="1"/>
          <p:nvPr/>
        </p:nvSpPr>
        <p:spPr>
          <a:xfrm>
            <a:off x="82962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8" name="TextBox 27"/>
          <p:cNvSpPr txBox="1"/>
          <p:nvPr/>
        </p:nvSpPr>
        <p:spPr>
          <a:xfrm>
            <a:off x="89401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29" name="TextBox 28"/>
          <p:cNvSpPr txBox="1"/>
          <p:nvPr/>
        </p:nvSpPr>
        <p:spPr>
          <a:xfrm>
            <a:off x="95840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0" name="TextBox 29"/>
          <p:cNvSpPr txBox="1"/>
          <p:nvPr/>
        </p:nvSpPr>
        <p:spPr>
          <a:xfrm>
            <a:off x="102279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1" name="TextBox 30"/>
          <p:cNvSpPr txBox="1"/>
          <p:nvPr/>
        </p:nvSpPr>
        <p:spPr>
          <a:xfrm>
            <a:off x="108718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2" name="TextBox 31"/>
          <p:cNvSpPr txBox="1"/>
          <p:nvPr/>
        </p:nvSpPr>
        <p:spPr>
          <a:xfrm>
            <a:off x="238125" y="3867150"/>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20 mg</a:t>
            </a:r>
          </a:p>
        </p:txBody>
      </p:sp>
      <p:sp>
        <p:nvSpPr>
          <p:cNvPr id="33" name="Rectangle 32"/>
          <p:cNvSpPr/>
          <p:nvPr/>
        </p:nvSpPr>
        <p:spPr>
          <a:xfrm>
            <a:off x="1857375" y="3867150"/>
            <a:ext cx="643890" cy="700088"/>
          </a:xfrm>
          <a:prstGeom prst="rect">
            <a:avLst/>
          </a:prstGeom>
          <a:solidFill>
            <a:srgbClr val="A6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01265" y="3867150"/>
            <a:ext cx="643890" cy="700088"/>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45155" y="3867150"/>
            <a:ext cx="643890" cy="700088"/>
          </a:xfrm>
          <a:prstGeom prst="rect">
            <a:avLst/>
          </a:prstGeom>
          <a:solidFill>
            <a:srgbClr val="0B355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89045" y="3867150"/>
            <a:ext cx="643890" cy="700088"/>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32935" y="3867150"/>
            <a:ext cx="643890" cy="700088"/>
          </a:xfrm>
          <a:prstGeom prst="rect">
            <a:avLst/>
          </a:prstGeom>
          <a:solidFill>
            <a:srgbClr val="4D97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6825" y="3867150"/>
            <a:ext cx="643890" cy="700088"/>
          </a:xfrm>
          <a:prstGeom prst="rect">
            <a:avLst/>
          </a:prstGeom>
          <a:solidFill>
            <a:srgbClr val="7EB2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20715" y="3867150"/>
            <a:ext cx="643890" cy="700088"/>
          </a:xfrm>
          <a:prstGeom prst="rect">
            <a:avLst/>
          </a:prstGeom>
          <a:solidFill>
            <a:srgbClr val="A7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64605" y="3867150"/>
            <a:ext cx="643890" cy="700088"/>
          </a:xfrm>
          <a:prstGeom prst="rect">
            <a:avLst/>
          </a:prstGeom>
          <a:solidFill>
            <a:srgbClr val="C0D7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08495" y="3867150"/>
            <a:ext cx="643890" cy="700088"/>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52385" y="3867150"/>
            <a:ext cx="643890" cy="700088"/>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96275" y="3867150"/>
            <a:ext cx="643890" cy="700088"/>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40165" y="3867150"/>
            <a:ext cx="643890" cy="700088"/>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84055" y="3867150"/>
            <a:ext cx="643890" cy="700088"/>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27945" y="3867150"/>
            <a:ext cx="643890" cy="700088"/>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71835" y="3867150"/>
            <a:ext cx="643890" cy="700088"/>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8125" y="4567238"/>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40 mg</a:t>
            </a:r>
          </a:p>
        </p:txBody>
      </p:sp>
      <p:sp>
        <p:nvSpPr>
          <p:cNvPr id="49" name="Rectangle 48"/>
          <p:cNvSpPr/>
          <p:nvPr/>
        </p:nvSpPr>
        <p:spPr>
          <a:xfrm>
            <a:off x="1857375" y="4567238"/>
            <a:ext cx="643890" cy="700088"/>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01265" y="4567238"/>
            <a:ext cx="643890" cy="700088"/>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45155" y="4567238"/>
            <a:ext cx="643890" cy="700088"/>
          </a:xfrm>
          <a:prstGeom prst="rect">
            <a:avLst/>
          </a:prstGeom>
          <a:solidFill>
            <a:srgbClr val="0C3F6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789045" y="4567238"/>
            <a:ext cx="643890" cy="700088"/>
          </a:xfrm>
          <a:prstGeom prst="rect">
            <a:avLst/>
          </a:prstGeom>
          <a:solidFill>
            <a:srgbClr val="17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32935" y="4567238"/>
            <a:ext cx="643890" cy="700088"/>
          </a:xfrm>
          <a:prstGeom prst="rect">
            <a:avLst/>
          </a:prstGeom>
          <a:solidFill>
            <a:srgbClr val="569C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76825" y="4567238"/>
            <a:ext cx="643890" cy="700088"/>
          </a:xfrm>
          <a:prstGeom prst="rect">
            <a:avLst/>
          </a:prstGeom>
          <a:solidFill>
            <a:srgbClr val="87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720715" y="4567238"/>
            <a:ext cx="643890" cy="700088"/>
          </a:xfrm>
          <a:prstGeom prst="rect">
            <a:avLst/>
          </a:prstGeom>
          <a:solidFill>
            <a:srgbClr val="AE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64605" y="4567238"/>
            <a:ext cx="643890" cy="700088"/>
          </a:xfrm>
          <a:prstGeom prst="rect">
            <a:avLst/>
          </a:prstGeom>
          <a:solidFill>
            <a:srgbClr val="C6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08495" y="4567238"/>
            <a:ext cx="643890" cy="700088"/>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652385" y="4567238"/>
            <a:ext cx="643890" cy="700088"/>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96275" y="4567238"/>
            <a:ext cx="643890" cy="700088"/>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40165" y="4567238"/>
            <a:ext cx="643890" cy="700088"/>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584055" y="4567238"/>
            <a:ext cx="643890" cy="700088"/>
          </a:xfrm>
          <a:prstGeom prst="rect">
            <a:avLst/>
          </a:prstGeom>
          <a:solidFill>
            <a:srgbClr val="F2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27945" y="4567238"/>
            <a:ext cx="643890" cy="700088"/>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871835" y="4567238"/>
            <a:ext cx="643890" cy="700088"/>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38125" y="5267325"/>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80 mg</a:t>
            </a:r>
          </a:p>
        </p:txBody>
      </p:sp>
      <p:sp>
        <p:nvSpPr>
          <p:cNvPr id="65" name="Rectangle 64"/>
          <p:cNvSpPr/>
          <p:nvPr/>
        </p:nvSpPr>
        <p:spPr>
          <a:xfrm>
            <a:off x="1857375" y="5267325"/>
            <a:ext cx="643890" cy="700088"/>
          </a:xfrm>
          <a:prstGeom prst="rect">
            <a:avLst/>
          </a:prstGeom>
          <a:solidFill>
            <a:srgbClr val="C1D7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501265" y="5267325"/>
            <a:ext cx="643890" cy="700088"/>
          </a:xfrm>
          <a:prstGeom prst="rect">
            <a:avLst/>
          </a:prstGeom>
          <a:solidFill>
            <a:srgbClr val="4090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145155" y="5267325"/>
            <a:ext cx="643890" cy="700088"/>
          </a:xfrm>
          <a:prstGeom prst="rect">
            <a:avLst/>
          </a:prstGeom>
          <a:solidFill>
            <a:srgbClr val="0D649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789045" y="5267325"/>
            <a:ext cx="643890" cy="700088"/>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432935" y="5267325"/>
            <a:ext cx="643890" cy="700088"/>
          </a:xfrm>
          <a:prstGeom prst="rect">
            <a:avLst/>
          </a:prstGeom>
          <a:solidFill>
            <a:srgbClr val="75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076825" y="5267325"/>
            <a:ext cx="643890" cy="700088"/>
          </a:xfrm>
          <a:prstGeom prst="rect">
            <a:avLst/>
          </a:prstGeom>
          <a:solidFill>
            <a:srgbClr val="9D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720715" y="5267325"/>
            <a:ext cx="643890" cy="700088"/>
          </a:xfrm>
          <a:prstGeom prst="rect">
            <a:avLst/>
          </a:prstGeom>
          <a:solidFill>
            <a:srgbClr val="C0D7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364605" y="5267325"/>
            <a:ext cx="643890" cy="700088"/>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008495" y="5267325"/>
            <a:ext cx="643890" cy="700088"/>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652385" y="5267325"/>
            <a:ext cx="643890" cy="700088"/>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296275" y="5267325"/>
            <a:ext cx="643890" cy="700088"/>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940165" y="5267325"/>
            <a:ext cx="643890" cy="700088"/>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584055" y="5267325"/>
            <a:ext cx="643890" cy="700088"/>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227945" y="5267325"/>
            <a:ext cx="643890" cy="700088"/>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871835" y="5267325"/>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8125" y="5967412"/>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100 mg/mL</a:t>
            </a:r>
          </a:p>
        </p:txBody>
      </p:sp>
      <p:sp>
        <p:nvSpPr>
          <p:cNvPr id="81" name="Rectangle 80"/>
          <p:cNvSpPr/>
          <p:nvPr/>
        </p:nvSpPr>
        <p:spPr>
          <a:xfrm>
            <a:off x="1857375" y="5967412"/>
            <a:ext cx="643890" cy="700088"/>
          </a:xfrm>
          <a:prstGeom prst="rect">
            <a:avLst/>
          </a:prstGeom>
          <a:solidFill>
            <a:srgbClr val="A1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501265" y="5967412"/>
            <a:ext cx="643890" cy="700088"/>
          </a:xfrm>
          <a:prstGeom prst="rect">
            <a:avLst/>
          </a:prstGeom>
          <a:solidFill>
            <a:srgbClr val="1E7C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145155" y="5967412"/>
            <a:ext cx="643890" cy="70008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789045" y="5967412"/>
            <a:ext cx="643890" cy="700088"/>
          </a:xfrm>
          <a:prstGeom prst="rect">
            <a:avLst/>
          </a:prstGeom>
          <a:solidFill>
            <a:srgbClr val="0E70A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432935" y="5967412"/>
            <a:ext cx="643890" cy="700088"/>
          </a:xfrm>
          <a:prstGeom prst="rect">
            <a:avLst/>
          </a:prstGeom>
          <a:solidFill>
            <a:srgbClr val="48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076825" y="5967412"/>
            <a:ext cx="643890" cy="700088"/>
          </a:xfrm>
          <a:prstGeom prst="rect">
            <a:avLst/>
          </a:prstGeom>
          <a:solidFill>
            <a:srgbClr val="7AAF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720715" y="5967412"/>
            <a:ext cx="643890" cy="700088"/>
          </a:xfrm>
          <a:prstGeom prst="rect">
            <a:avLst/>
          </a:prstGeom>
          <a:solidFill>
            <a:srgbClr val="A5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364605" y="5967412"/>
            <a:ext cx="643890" cy="700088"/>
          </a:xfrm>
          <a:prstGeom prst="rect">
            <a:avLst/>
          </a:prstGeom>
          <a:solidFill>
            <a:srgbClr val="BE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008495" y="5967412"/>
            <a:ext cx="643890" cy="700088"/>
          </a:xfrm>
          <a:prstGeom prst="rect">
            <a:avLst/>
          </a:prstGeom>
          <a:solidFill>
            <a:srgbClr val="CF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652385" y="5967412"/>
            <a:ext cx="643890" cy="700088"/>
          </a:xfrm>
          <a:prstGeom prst="rect">
            <a:avLst/>
          </a:prstGeom>
          <a:solidFill>
            <a:srgbClr val="D9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296275" y="5967412"/>
            <a:ext cx="643890" cy="700088"/>
          </a:xfrm>
          <a:prstGeom prst="rect">
            <a:avLst/>
          </a:prstGeom>
          <a:solidFill>
            <a:srgbClr val="E2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940165" y="5967412"/>
            <a:ext cx="643890" cy="700088"/>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584055" y="5967412"/>
            <a:ext cx="643890" cy="700088"/>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227945" y="5967412"/>
            <a:ext cx="643890" cy="700088"/>
          </a:xfrm>
          <a:prstGeom prst="rect">
            <a:avLst/>
          </a:prstGeom>
          <a:solidFill>
            <a:srgbClr val="F2F9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871835" y="5967412"/>
            <a:ext cx="643890" cy="700088"/>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1572875" y="3905250"/>
            <a:ext cx="104775" cy="7572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973354"/>
            <a:ext cx="104775" cy="75724"/>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4041458"/>
            <a:ext cx="104775" cy="75724"/>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4109561"/>
            <a:ext cx="104775" cy="75724"/>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4177665"/>
            <a:ext cx="104775" cy="75724"/>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4245769"/>
            <a:ext cx="104775" cy="75724"/>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4313872"/>
            <a:ext cx="104775" cy="75724"/>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4381976"/>
            <a:ext cx="104775" cy="75724"/>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4450080"/>
            <a:ext cx="104775" cy="75724"/>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4518184"/>
            <a:ext cx="104775" cy="75724"/>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4586288"/>
            <a:ext cx="104775" cy="75724"/>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654391"/>
            <a:ext cx="104775" cy="75724"/>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722495"/>
            <a:ext cx="104775" cy="75724"/>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790599"/>
            <a:ext cx="104775" cy="75724"/>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858702"/>
            <a:ext cx="104775" cy="75724"/>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926806"/>
            <a:ext cx="104775" cy="75724"/>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994910"/>
            <a:ext cx="104775" cy="75724"/>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5063014"/>
            <a:ext cx="104775" cy="75724"/>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5131118"/>
            <a:ext cx="104775" cy="75724"/>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5199221"/>
            <a:ext cx="104775" cy="75724"/>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5267325"/>
            <a:ext cx="104775" cy="75724"/>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5335429"/>
            <a:ext cx="104775" cy="75724"/>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5403532"/>
            <a:ext cx="104775" cy="75724"/>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471636"/>
            <a:ext cx="104775" cy="75724"/>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539740"/>
            <a:ext cx="104775" cy="75724"/>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607844"/>
            <a:ext cx="104775" cy="75724"/>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675948"/>
            <a:ext cx="104775" cy="75724"/>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744051"/>
            <a:ext cx="104775" cy="75724"/>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812155"/>
            <a:ext cx="104775" cy="75724"/>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880259"/>
            <a:ext cx="104775" cy="75724"/>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948362"/>
            <a:ext cx="104775" cy="75724"/>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6016466"/>
            <a:ext cx="104775" cy="75724"/>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6084570"/>
            <a:ext cx="104775" cy="75724"/>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6152674"/>
            <a:ext cx="104775" cy="75724"/>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220778"/>
            <a:ext cx="104775" cy="75724"/>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288881"/>
            <a:ext cx="104775" cy="75724"/>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356985"/>
            <a:ext cx="104775" cy="75724"/>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425089"/>
            <a:ext cx="104775" cy="75724"/>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493192"/>
            <a:ext cx="104775" cy="75724"/>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561296"/>
            <a:ext cx="104775" cy="75724"/>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3905250"/>
            <a:ext cx="104775" cy="27241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1687175" y="3838575"/>
            <a:ext cx="276225" cy="133350"/>
          </a:xfrm>
          <a:prstGeom prst="rect">
            <a:avLst/>
          </a:prstGeom>
          <a:noFill/>
        </p:spPr>
        <p:txBody>
          <a:bodyPr wrap="none" lIns="0" rIns="0" tIns="0" bIns="0" anchor="ctr">
            <a:spAutoFit/>
          </a:bodyPr>
          <a:lstStyle/>
          <a:p>
            <a:pPr algn="l"/>
            <a:r>
              <a:rPr sz="700" b="0">
                <a:solidFill>
                  <a:srgbClr val="6C7A89"/>
                </a:solidFill>
                <a:latin typeface="Calibri"/>
              </a:rPr>
              <a:t>24%</a:t>
            </a:r>
          </a:p>
        </p:txBody>
      </p:sp>
      <p:sp>
        <p:nvSpPr>
          <p:cNvPr id="138" name="TextBox 137"/>
          <p:cNvSpPr txBox="1"/>
          <p:nvPr/>
        </p:nvSpPr>
        <p:spPr>
          <a:xfrm>
            <a:off x="11687175" y="5200650"/>
            <a:ext cx="276225" cy="133350"/>
          </a:xfrm>
          <a:prstGeom prst="rect">
            <a:avLst/>
          </a:prstGeom>
          <a:noFill/>
        </p:spPr>
        <p:txBody>
          <a:bodyPr wrap="none" lIns="0" rIns="0" tIns="0" bIns="0" anchor="ctr">
            <a:spAutoFit/>
          </a:bodyPr>
          <a:lstStyle/>
          <a:p>
            <a:pPr algn="l"/>
            <a:r>
              <a:rPr sz="700" b="0">
                <a:solidFill>
                  <a:srgbClr val="6C7A89"/>
                </a:solidFill>
                <a:latin typeface="Calibri"/>
              </a:rPr>
              <a:t>14%</a:t>
            </a:r>
          </a:p>
        </p:txBody>
      </p:sp>
      <p:sp>
        <p:nvSpPr>
          <p:cNvPr id="139" name="TextBox 138"/>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4%</a:t>
            </a:r>
          </a:p>
        </p:txBody>
      </p:sp>
      <p:sp>
        <p:nvSpPr>
          <p:cNvPr id="140" name="Rectangle 13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2" name="Rounded Rectangle 14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3" name="Rounded Rectangle 14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4" name="Rounded Rectangle 14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Therapeutic Application</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By Therapeutic Application Segment Outlook</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Structure &amp; Attractiveness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Absolute $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Volume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Value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08</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By Therapeutic Application Segment Outlook</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TextBox 10"/>
          <p:cNvSpPr txBox="1"/>
          <p:nvPr/>
        </p:nvSpPr>
        <p:spPr>
          <a:xfrm>
            <a:off x="323850" y="857250"/>
            <a:ext cx="11544300" cy="323850"/>
          </a:xfrm>
          <a:prstGeom prst="rect">
            <a:avLst/>
          </a:prstGeom>
          <a:noFill/>
        </p:spPr>
        <p:txBody>
          <a:bodyPr wrap="square" lIns="28575" rIns="28575" tIns="9525" bIns="9525">
            <a:spAutoFit/>
          </a:bodyPr>
          <a:lstStyle/>
          <a:p>
            <a:pPr algn="l"/>
            <a:r>
              <a:rPr sz="1150" b="0">
                <a:solidFill>
                  <a:srgbClr val="2E2E2E"/>
                </a:solidFill>
                <a:latin typeface="Calibri"/>
              </a:rPr>
              <a:t>The Therapeutic Application segment categorizes the market by therapeutic application. Each sub-category is evaluated on market size, growth outlook and adoption trends across the forecast period.</a:t>
            </a:r>
          </a:p>
        </p:txBody>
      </p:sp>
      <p:sp>
        <p:nvSpPr>
          <p:cNvPr id="12" name="Rectangle 11"/>
          <p:cNvSpPr/>
          <p:nvPr/>
        </p:nvSpPr>
        <p:spPr>
          <a:xfrm>
            <a:off x="323850" y="1657350"/>
            <a:ext cx="1428750" cy="457200"/>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657350"/>
            <a:ext cx="1295400" cy="457200"/>
          </a:xfrm>
          <a:prstGeom prst="rect">
            <a:avLst/>
          </a:prstGeom>
          <a:noFill/>
        </p:spPr>
        <p:txBody>
          <a:bodyPr wrap="square" lIns="28575" rIns="28575" tIns="9525" bIns="9525" anchor="ctr">
            <a:spAutoFit/>
          </a:bodyPr>
          <a:lstStyle/>
          <a:p>
            <a:pPr algn="l"/>
            <a:r>
              <a:rPr sz="1050" b="1">
                <a:solidFill>
                  <a:srgbClr val="0B2E4A"/>
                </a:solidFill>
                <a:latin typeface="Calibri"/>
              </a:rPr>
              <a:t>Sub-Segment</a:t>
            </a:r>
          </a:p>
        </p:txBody>
      </p:sp>
      <p:sp>
        <p:nvSpPr>
          <p:cNvPr id="14" name="Rectangle 13"/>
          <p:cNvSpPr/>
          <p:nvPr/>
        </p:nvSpPr>
        <p:spPr>
          <a:xfrm>
            <a:off x="323850" y="21336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1336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2026 Value (US$ Mn)</a:t>
            </a:r>
          </a:p>
        </p:txBody>
      </p:sp>
      <p:sp>
        <p:nvSpPr>
          <p:cNvPr id="16" name="Rectangle 15"/>
          <p:cNvSpPr/>
          <p:nvPr/>
        </p:nvSpPr>
        <p:spPr>
          <a:xfrm>
            <a:off x="323850" y="264795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64795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2036 Value (US$ Mn)</a:t>
            </a:r>
          </a:p>
        </p:txBody>
      </p:sp>
      <p:sp>
        <p:nvSpPr>
          <p:cNvPr id="18" name="Rectangle 17"/>
          <p:cNvSpPr/>
          <p:nvPr/>
        </p:nvSpPr>
        <p:spPr>
          <a:xfrm>
            <a:off x="323850" y="31623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1623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CAGR (2026–2036)</a:t>
            </a:r>
          </a:p>
        </p:txBody>
      </p:sp>
      <p:sp>
        <p:nvSpPr>
          <p:cNvPr id="20" name="Rounded Rectangle 19"/>
          <p:cNvSpPr/>
          <p:nvPr/>
        </p:nvSpPr>
        <p:spPr>
          <a:xfrm>
            <a:off x="1866900" y="1657350"/>
            <a:ext cx="2414588"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885950"/>
            <a:ext cx="2414588"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Rheumatology</a:t>
            </a:r>
          </a:p>
        </p:txBody>
      </p:sp>
      <p:sp>
        <p:nvSpPr>
          <p:cNvPr id="23" name="Rectangle 22"/>
          <p:cNvSpPr/>
          <p:nvPr/>
        </p:nvSpPr>
        <p:spPr>
          <a:xfrm>
            <a:off x="1866900"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853.2</a:t>
            </a:r>
          </a:p>
        </p:txBody>
      </p:sp>
      <p:sp>
        <p:nvSpPr>
          <p:cNvPr id="24" name="Rectangle 23"/>
          <p:cNvSpPr/>
          <p:nvPr/>
        </p:nvSpPr>
        <p:spPr>
          <a:xfrm>
            <a:off x="1866900"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1,956</a:t>
            </a:r>
          </a:p>
        </p:txBody>
      </p:sp>
      <p:sp>
        <p:nvSpPr>
          <p:cNvPr id="25" name="Rectangle 24"/>
          <p:cNvSpPr/>
          <p:nvPr/>
        </p:nvSpPr>
        <p:spPr>
          <a:xfrm>
            <a:off x="1866900"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8.7%</a:t>
            </a:r>
          </a:p>
        </p:txBody>
      </p:sp>
      <p:sp>
        <p:nvSpPr>
          <p:cNvPr id="26" name="Oval 25"/>
          <p:cNvSpPr/>
          <p:nvPr/>
        </p:nvSpPr>
        <p:spPr>
          <a:xfrm>
            <a:off x="2912269"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4395788" y="1657350"/>
            <a:ext cx="2414588"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95788" y="1885950"/>
            <a:ext cx="2414588"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3888"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Dermatology</a:t>
            </a:r>
          </a:p>
        </p:txBody>
      </p:sp>
      <p:sp>
        <p:nvSpPr>
          <p:cNvPr id="30" name="Rectangle 29"/>
          <p:cNvSpPr/>
          <p:nvPr/>
        </p:nvSpPr>
        <p:spPr>
          <a:xfrm>
            <a:off x="4395788"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436.0</a:t>
            </a:r>
          </a:p>
        </p:txBody>
      </p:sp>
      <p:sp>
        <p:nvSpPr>
          <p:cNvPr id="31" name="Rectangle 30"/>
          <p:cNvSpPr/>
          <p:nvPr/>
        </p:nvSpPr>
        <p:spPr>
          <a:xfrm>
            <a:off x="4395788"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920.8</a:t>
            </a:r>
          </a:p>
        </p:txBody>
      </p:sp>
      <p:sp>
        <p:nvSpPr>
          <p:cNvPr id="32" name="Rectangle 31"/>
          <p:cNvSpPr/>
          <p:nvPr/>
        </p:nvSpPr>
        <p:spPr>
          <a:xfrm>
            <a:off x="4395788"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7.8%</a:t>
            </a:r>
          </a:p>
        </p:txBody>
      </p:sp>
      <p:sp>
        <p:nvSpPr>
          <p:cNvPr id="33" name="Oval 32"/>
          <p:cNvSpPr/>
          <p:nvPr/>
        </p:nvSpPr>
        <p:spPr>
          <a:xfrm>
            <a:off x="5441156"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6924675" y="1657350"/>
            <a:ext cx="2414588" cy="457200"/>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24675" y="1885950"/>
            <a:ext cx="2414588" cy="22860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62775"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Gastroenterology</a:t>
            </a:r>
          </a:p>
        </p:txBody>
      </p:sp>
      <p:sp>
        <p:nvSpPr>
          <p:cNvPr id="37" name="Rectangle 36"/>
          <p:cNvSpPr/>
          <p:nvPr/>
        </p:nvSpPr>
        <p:spPr>
          <a:xfrm>
            <a:off x="6924675"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435.3</a:t>
            </a:r>
          </a:p>
        </p:txBody>
      </p:sp>
      <p:sp>
        <p:nvSpPr>
          <p:cNvPr id="38" name="Rectangle 37"/>
          <p:cNvSpPr/>
          <p:nvPr/>
        </p:nvSpPr>
        <p:spPr>
          <a:xfrm>
            <a:off x="6924675"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1,099</a:t>
            </a:r>
          </a:p>
        </p:txBody>
      </p:sp>
      <p:sp>
        <p:nvSpPr>
          <p:cNvPr id="39" name="Rectangle 38"/>
          <p:cNvSpPr/>
          <p:nvPr/>
        </p:nvSpPr>
        <p:spPr>
          <a:xfrm>
            <a:off x="6924675"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9.7%</a:t>
            </a:r>
          </a:p>
        </p:txBody>
      </p:sp>
      <p:sp>
        <p:nvSpPr>
          <p:cNvPr id="40" name="Oval 39"/>
          <p:cNvSpPr/>
          <p:nvPr/>
        </p:nvSpPr>
        <p:spPr>
          <a:xfrm>
            <a:off x="7970044" y="1314450"/>
            <a:ext cx="323850" cy="323850"/>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9453562" y="1657350"/>
            <a:ext cx="2414588" cy="457200"/>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453562" y="1885950"/>
            <a:ext cx="2414588" cy="2286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91662"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Ophthalmology</a:t>
            </a:r>
          </a:p>
        </p:txBody>
      </p:sp>
      <p:sp>
        <p:nvSpPr>
          <p:cNvPr id="44" name="Rectangle 43"/>
          <p:cNvSpPr/>
          <p:nvPr/>
        </p:nvSpPr>
        <p:spPr>
          <a:xfrm>
            <a:off x="9453562"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249.8</a:t>
            </a:r>
          </a:p>
        </p:txBody>
      </p:sp>
      <p:sp>
        <p:nvSpPr>
          <p:cNvPr id="45" name="Rectangle 44"/>
          <p:cNvSpPr/>
          <p:nvPr/>
        </p:nvSpPr>
        <p:spPr>
          <a:xfrm>
            <a:off x="9453562"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499.4</a:t>
            </a:r>
          </a:p>
        </p:txBody>
      </p:sp>
      <p:sp>
        <p:nvSpPr>
          <p:cNvPr id="46" name="Rectangle 45"/>
          <p:cNvSpPr/>
          <p:nvPr/>
        </p:nvSpPr>
        <p:spPr>
          <a:xfrm>
            <a:off x="9453562"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7.2%</a:t>
            </a:r>
          </a:p>
        </p:txBody>
      </p:sp>
      <p:sp>
        <p:nvSpPr>
          <p:cNvPr id="47" name="Oval 46"/>
          <p:cNvSpPr/>
          <p:nvPr/>
        </p:nvSpPr>
        <p:spPr>
          <a:xfrm>
            <a:off x="10498931" y="1314450"/>
            <a:ext cx="323850" cy="323850"/>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323850" y="3829050"/>
            <a:ext cx="323850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3924300"/>
            <a:ext cx="2971800" cy="190500"/>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0" name="Rectangle 49"/>
          <p:cNvSpPr/>
          <p:nvPr/>
        </p:nvSpPr>
        <p:spPr>
          <a:xfrm>
            <a:off x="457200" y="4133850"/>
            <a:ext cx="2971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4210050"/>
            <a:ext cx="297180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'Rheumatology' holds the largest share in 2026 43% of segment value.</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'Gastroenterology' is the fastest-growing sub-segment at 9.7% CAGR through 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Segment value expands from 1,974 to 4,475 US$ Mn across 2026–2036.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4 sub-segments make up the therapeutic application landscape.</a:t>
            </a:r>
          </a:p>
        </p:txBody>
      </p:sp>
      <p:sp>
        <p:nvSpPr>
          <p:cNvPr id="52" name="Rounded Rectangle 51"/>
          <p:cNvSpPr/>
          <p:nvPr/>
        </p:nvSpPr>
        <p:spPr>
          <a:xfrm>
            <a:off x="3676650" y="3829050"/>
            <a:ext cx="447675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3924300"/>
            <a:ext cx="4210050" cy="190500"/>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4" name="Rectangle 53"/>
          <p:cNvSpPr/>
          <p:nvPr/>
        </p:nvSpPr>
        <p:spPr>
          <a:xfrm>
            <a:off x="3810000" y="4133850"/>
            <a:ext cx="42100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10000" y="4210050"/>
            <a:ext cx="42100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900" b="0">
                <a:solidFill>
                  <a:srgbClr val="0B2E4A"/>
                </a:solidFill>
                <a:latin typeface="Calibri"/>
              </a:rPr>
              <a:t>●  </a:t>
            </a:r>
            <a:r>
              <a:rPr sz="1000" b="1">
                <a:solidFill>
                  <a:srgbClr val="0B2E4A"/>
                </a:solidFill>
                <a:latin typeface="Calibri"/>
              </a:rPr>
              <a:t>Rheumatology: </a:t>
            </a:r>
            <a:r>
              <a:rPr sz="1000" b="0">
                <a:solidFill>
                  <a:srgbClr val="2E2E2E"/>
                </a:solidFill>
                <a:latin typeface="Calibri"/>
              </a:rPr>
              <a:t>43% of 2026 value · 8.7% CAGR leads the segment.</a:t>
            </a:r>
          </a:p>
          <a:p>
            <a:pPr algn="l">
              <a:lnSpc>
                <a:spcPct val="110000"/>
              </a:lnSpc>
              <a:spcBef>
                <a:spcPts val="0"/>
              </a:spcBef>
              <a:spcAft>
                <a:spcPts val="500"/>
              </a:spcAft>
            </a:pPr>
            <a:r>
              <a:rPr sz="900" b="0">
                <a:solidFill>
                  <a:srgbClr val="0E72AE"/>
                </a:solidFill>
                <a:latin typeface="Calibri"/>
              </a:rPr>
              <a:t>●  </a:t>
            </a:r>
            <a:r>
              <a:rPr sz="1000" b="1">
                <a:solidFill>
                  <a:srgbClr val="0E72AE"/>
                </a:solidFill>
                <a:latin typeface="Calibri"/>
              </a:rPr>
              <a:t>Dermatology: </a:t>
            </a:r>
            <a:r>
              <a:rPr sz="1000" b="0">
                <a:solidFill>
                  <a:srgbClr val="2E2E2E"/>
                </a:solidFill>
                <a:latin typeface="Calibri"/>
              </a:rPr>
              <a:t>22% of 2026 value · 7.8% CAGR serves a niche.</a:t>
            </a:r>
          </a:p>
          <a:p>
            <a:pPr algn="l">
              <a:lnSpc>
                <a:spcPct val="110000"/>
              </a:lnSpc>
              <a:spcBef>
                <a:spcPts val="0"/>
              </a:spcBef>
              <a:spcAft>
                <a:spcPts val="500"/>
              </a:spcAft>
            </a:pPr>
            <a:r>
              <a:rPr sz="900" b="0">
                <a:solidFill>
                  <a:srgbClr val="008189"/>
                </a:solidFill>
                <a:latin typeface="Calibri"/>
              </a:rPr>
              <a:t>●  </a:t>
            </a:r>
            <a:r>
              <a:rPr sz="1000" b="1">
                <a:solidFill>
                  <a:srgbClr val="008189"/>
                </a:solidFill>
                <a:latin typeface="Calibri"/>
              </a:rPr>
              <a:t>Gastroenterology: </a:t>
            </a:r>
            <a:r>
              <a:rPr sz="1000" b="0">
                <a:solidFill>
                  <a:srgbClr val="2E2E2E"/>
                </a:solidFill>
                <a:latin typeface="Calibri"/>
              </a:rPr>
              <a:t>22% of 2026 value · 9.7% CAGR grows fastest.</a:t>
            </a:r>
          </a:p>
          <a:p>
            <a:pPr algn="l">
              <a:lnSpc>
                <a:spcPct val="110000"/>
              </a:lnSpc>
              <a:spcBef>
                <a:spcPts val="0"/>
              </a:spcBef>
              <a:spcAft>
                <a:spcPts val="500"/>
              </a:spcAft>
            </a:pPr>
            <a:r>
              <a:rPr sz="900" b="0">
                <a:solidFill>
                  <a:srgbClr val="6F3CC2"/>
                </a:solidFill>
                <a:latin typeface="Calibri"/>
              </a:rPr>
              <a:t>●  </a:t>
            </a:r>
            <a:r>
              <a:rPr sz="1000" b="1">
                <a:solidFill>
                  <a:srgbClr val="6F3CC2"/>
                </a:solidFill>
                <a:latin typeface="Calibri"/>
              </a:rPr>
              <a:t>Ophthalmology: </a:t>
            </a:r>
            <a:r>
              <a:rPr sz="1000" b="0">
                <a:solidFill>
                  <a:srgbClr val="2E2E2E"/>
                </a:solidFill>
                <a:latin typeface="Calibri"/>
              </a:rPr>
              <a:t>13% of 2026 value · 7.2% CAGR serves a niche.</a:t>
            </a:r>
          </a:p>
        </p:txBody>
      </p:sp>
      <p:sp>
        <p:nvSpPr>
          <p:cNvPr id="56" name="Rounded Rectangle 55"/>
          <p:cNvSpPr/>
          <p:nvPr/>
        </p:nvSpPr>
        <p:spPr>
          <a:xfrm>
            <a:off x="8267700" y="3829050"/>
            <a:ext cx="3600450" cy="2686050"/>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3924300"/>
            <a:ext cx="3333750" cy="190500"/>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8" name="Rectangle 57"/>
          <p:cNvSpPr/>
          <p:nvPr/>
        </p:nvSpPr>
        <p:spPr>
          <a:xfrm>
            <a:off x="8401050" y="4133850"/>
            <a:ext cx="33337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01050" y="4210050"/>
            <a:ext cx="33337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The Therapeutic Application split shows how demand is distributed across therapeutic application types and where growth concentrates.</a:t>
            </a:r>
          </a:p>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Shifting preferences and product innovation are reshaping the mix through 2036.</a:t>
            </a:r>
          </a:p>
        </p:txBody>
      </p:sp>
      <p:sp>
        <p:nvSpPr>
          <p:cNvPr id="60" name="Rectangle 59"/>
          <p:cNvSpPr/>
          <p:nvPr/>
        </p:nvSpPr>
        <p:spPr>
          <a:xfrm>
            <a:off x="8401050" y="5810250"/>
            <a:ext cx="3333750" cy="552450"/>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401050" y="5810250"/>
            <a:ext cx="38100" cy="5524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96300" y="5848350"/>
            <a:ext cx="3219450" cy="476250"/>
          </a:xfrm>
          <a:prstGeom prst="rect">
            <a:avLst/>
          </a:prstGeom>
          <a:noFill/>
        </p:spPr>
        <p:txBody>
          <a:bodyPr wrap="square" lIns="28575" rIns="28575" tIns="9525" bIns="9525" anchor="ctr">
            <a:spAutoFit/>
          </a:bodyPr>
          <a:lstStyle/>
          <a:p>
            <a:pPr algn="l"/>
            <a:r>
              <a:rPr sz="1150" b="1">
                <a:solidFill>
                  <a:srgbClr val="0B2E4A"/>
                </a:solidFill>
                <a:latin typeface="Calibri"/>
              </a:rPr>
              <a:t>The Therapeutic Application segment is projected to grow at a CAGR of 8.5% from 2026 to 2036.</a:t>
            </a:r>
          </a:p>
        </p:txBody>
      </p:sp>
      <p:sp>
        <p:nvSpPr>
          <p:cNvPr id="63" name="TextBox 62"/>
          <p:cNvSpPr txBox="1"/>
          <p:nvPr/>
        </p:nvSpPr>
        <p:spPr>
          <a:xfrm>
            <a:off x="323850" y="6591300"/>
            <a:ext cx="3048000" cy="133350"/>
          </a:xfrm>
          <a:prstGeom prst="rect">
            <a:avLst/>
          </a:prstGeom>
          <a:noFill/>
        </p:spPr>
        <p:txBody>
          <a:bodyPr wrap="none">
            <a:spAutoFit/>
          </a:bodyPr>
          <a:lstStyle/>
          <a:p>
            <a:r>
              <a:rPr sz="800" i="1">
                <a:solidFill>
                  <a:srgbClr val="6C7A89"/>
                </a:solidFill>
                <a:latin typeface="Calibri"/>
              </a:rPr>
              <a:t>Source: FMI Analysis, 2026</a:t>
            </a:r>
          </a:p>
        </p:txBody>
      </p:sp>
      <p:sp>
        <p:nvSpPr>
          <p:cNvPr id="64" name="Rectangle 6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6" name="Rounded Rectangle 6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7" name="Rounded Rectangle 6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8" name="Rounded Rectangle 6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Structure &amp; Attractiveness, By Therapeutic Application (Value)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6343650"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Therapeutic Application mix within each country (share of 2036 value) · row label = country size (US$ Mn), largest first</a:t>
            </a:r>
          </a:p>
        </p:txBody>
      </p:sp>
      <p:graphicFrame>
        <p:nvGraphicFramePr>
          <p:cNvPr id="13" name="Chart 12"/>
          <p:cNvGraphicFramePr>
            <a:graphicFrameLocks noGrp="1"/>
          </p:cNvGraphicFramePr>
          <p:nvPr/>
        </p:nvGraphicFramePr>
        <p:xfrm>
          <a:off x="238125" y="1314450"/>
          <a:ext cx="6153150" cy="39243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857250"/>
            <a:ext cx="5400675"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914400"/>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Therapeutic Application (bubble = 2036 size)</a:t>
            </a:r>
          </a:p>
        </p:txBody>
      </p:sp>
      <p:graphicFrame>
        <p:nvGraphicFramePr>
          <p:cNvPr id="16" name="Chart 15"/>
          <p:cNvGraphicFramePr>
            <a:graphicFrameLocks noGrp="1"/>
          </p:cNvGraphicFramePr>
          <p:nvPr/>
        </p:nvGraphicFramePr>
        <p:xfrm>
          <a:off x="6734175" y="1143000"/>
          <a:ext cx="5210175" cy="40957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29250"/>
            <a:ext cx="11906250" cy="1295400"/>
          </a:xfrm>
          <a:prstGeom prst="roundRect">
            <a:avLst>
              <a:gd name="adj" fmla="val 58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Between 2026 and 2036, 'Gastroenterology' gains the most share in the North America market (+250 BPS) while 'Dermatology' cedes 150 BPS. Bubbles right of the CAGR-Index line grow faster than the segment average.</a:t>
            </a:r>
          </a:p>
        </p:txBody>
      </p:sp>
      <p:sp>
        <p:nvSpPr>
          <p:cNvPr id="18" name="Rectangle 1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0" name="Rounded Rectangle 19">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Absolute $ Opportunity Analysis, By Therapeutic Application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2021–2025 (US$ Mn)</a:t>
            </a:r>
          </a:p>
        </p:txBody>
      </p:sp>
      <p:graphicFrame>
        <p:nvGraphicFramePr>
          <p:cNvPr id="13" name="Chart 12"/>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2026–2031 (US$ Mn)</a:t>
            </a:r>
          </a:p>
        </p:txBody>
      </p:sp>
      <p:graphicFrame>
        <p:nvGraphicFramePr>
          <p:cNvPr id="16" name="Chart 15"/>
          <p:cNvGraphicFramePr>
            <a:graphicFrameLocks noGrp="1"/>
          </p:cNvGraphicFramePr>
          <p:nvPr/>
        </p:nvGraphicFramePr>
        <p:xfrm>
          <a:off x="6267450" y="1143000"/>
          <a:ext cx="5686425" cy="25241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2031–2036 (US$ Mn)</a:t>
            </a:r>
          </a:p>
        </p:txBody>
      </p:sp>
      <p:graphicFrame>
        <p:nvGraphicFramePr>
          <p:cNvPr id="19" name="Chart 18"/>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Therapeutic Application (2026–2036)</a:t>
            </a:r>
          </a:p>
        </p:txBody>
      </p:sp>
      <p:graphicFrame>
        <p:nvGraphicFramePr>
          <p:cNvPr id="22" name="Table 21"/>
          <p:cNvGraphicFramePr>
            <a:graphicFrameLocks noGrp="1"/>
          </p:cNvGraphicFramePr>
          <p:nvPr/>
        </p:nvGraphicFramePr>
        <p:xfrm>
          <a:off x="6267450" y="4143375"/>
          <a:ext cx="5686426" cy="904875"/>
        </p:xfrm>
        <a:graphic>
          <a:graphicData uri="http://schemas.openxmlformats.org/drawingml/2006/table">
            <a:tbl>
              <a:tblPr>
                <a:tableStyleId>{5C22544A-7EE6-4342-B048-85BDC9FD1C3A}</a:tableStyleId>
              </a:tblPr>
              <a:tblGrid>
                <a:gridCol w="1705928"/>
                <a:gridCol w="1990249"/>
                <a:gridCol w="1990249"/>
              </a:tblGrid>
              <a:tr h="180975">
                <a:tc>
                  <a:txBody>
                    <a:bodyPr wrap="none"/>
                    <a:lstStyle/>
                    <a:p>
                      <a:pPr algn="l"/>
                      <a:r>
                        <a:rPr sz="900" b="1">
                          <a:solidFill>
                            <a:srgbClr val="0B2E4A"/>
                          </a:solidFill>
                          <a:latin typeface="Calibri"/>
                        </a:rPr>
                        <a:t>Therapeutic Application</a:t>
                      </a:r>
                    </a:p>
                  </a:txBody>
                  <a:tcPr marL="85725" marR="38100" marT="19050" marB="19050" anchor="ctr">
                    <a:solidFill>
                      <a:srgbClr val="E0E8EF"/>
                    </a:solidFill>
                  </a:tcPr>
                </a:tc>
                <a:tc>
                  <a:txBody>
                    <a:bodyPr wrap="none"/>
                    <a:lstStyle/>
                    <a:p>
                      <a:pPr algn="l"/>
                      <a:r>
                        <a:rPr sz="900" b="1">
                          <a:solidFill>
                            <a:srgbClr val="0B2E4A"/>
                          </a:solidFill>
                          <a:latin typeface="Calibri"/>
                        </a:rPr>
                        <a:t>Absolute $ Opportunity (US$ Mn)</a:t>
                      </a:r>
                    </a:p>
                  </a:txBody>
                  <a:tcPr marL="85725" marR="38100" marT="19050" marB="19050" anchor="ctr">
                    <a:solidFill>
                      <a:srgbClr val="E0E8EF"/>
                    </a:solidFill>
                  </a:tcPr>
                </a:tc>
                <a:tc>
                  <a:txBody>
                    <a:bodyPr wrap="none"/>
                    <a:lstStyle/>
                    <a:p>
                      <a:pPr algn="l"/>
                      <a:r>
                        <a:rPr sz="900" b="1">
                          <a:solidFill>
                            <a:srgbClr val="0B2E4A"/>
                          </a:solidFill>
                          <a:latin typeface="Calibri"/>
                        </a:rPr>
                        <a:t>Share of Increment</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Rheumatology</a:t>
                      </a:r>
                    </a:p>
                  </a:txBody>
                  <a:tcPr marL="85725" marR="38100" marT="19050" marB="19050" anchor="ctr">
                    <a:solidFill>
                      <a:srgbClr val="FFFFFF"/>
                    </a:solidFill>
                  </a:tcPr>
                </a:tc>
                <a:tc>
                  <a:txBody>
                    <a:bodyPr wrap="none"/>
                    <a:lstStyle/>
                    <a:p>
                      <a:pPr algn="l"/>
                      <a:r>
                        <a:rPr sz="900" b="0">
                          <a:solidFill>
                            <a:srgbClr val="2E2E2E"/>
                          </a:solidFill>
                          <a:latin typeface="Calibri"/>
                        </a:rPr>
                        <a:t>1,103</a:t>
                      </a:r>
                    </a:p>
                  </a:txBody>
                  <a:tcPr marL="85725" marR="38100" marT="19050" marB="19050" anchor="ctr">
                    <a:solidFill>
                      <a:srgbClr val="FFFFFF"/>
                    </a:solidFill>
                  </a:tcPr>
                </a:tc>
                <a:tc>
                  <a:txBody>
                    <a:bodyPr wrap="none"/>
                    <a:lstStyle/>
                    <a:p>
                      <a:pPr algn="l"/>
                      <a:r>
                        <a:rPr sz="900" b="0">
                          <a:solidFill>
                            <a:srgbClr val="2E2E2E"/>
                          </a:solidFill>
                          <a:latin typeface="Calibri"/>
                        </a:rPr>
                        <a:t>44.1%</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Dermatology</a:t>
                      </a:r>
                    </a:p>
                  </a:txBody>
                  <a:tcPr marL="85725" marR="38100" marT="19050" marB="19050" anchor="ctr">
                    <a:solidFill>
                      <a:srgbClr val="F5F8FA"/>
                    </a:solidFill>
                  </a:tcPr>
                </a:tc>
                <a:tc>
                  <a:txBody>
                    <a:bodyPr wrap="none"/>
                    <a:lstStyle/>
                    <a:p>
                      <a:pPr algn="l"/>
                      <a:r>
                        <a:rPr sz="900" b="0">
                          <a:solidFill>
                            <a:srgbClr val="2E2E2E"/>
                          </a:solidFill>
                          <a:latin typeface="Calibri"/>
                        </a:rPr>
                        <a:t>484.9</a:t>
                      </a:r>
                    </a:p>
                  </a:txBody>
                  <a:tcPr marL="85725" marR="38100" marT="19050" marB="19050" anchor="ctr">
                    <a:solidFill>
                      <a:srgbClr val="F5F8FA"/>
                    </a:solidFill>
                  </a:tcPr>
                </a:tc>
                <a:tc>
                  <a:txBody>
                    <a:bodyPr wrap="none"/>
                    <a:lstStyle/>
                    <a:p>
                      <a:pPr algn="l"/>
                      <a:r>
                        <a:rPr sz="900" b="0">
                          <a:solidFill>
                            <a:srgbClr val="2E2E2E"/>
                          </a:solidFill>
                          <a:latin typeface="Calibri"/>
                        </a:rPr>
                        <a:t>19.4%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Gastroenterology</a:t>
                      </a:r>
                    </a:p>
                  </a:txBody>
                  <a:tcPr marL="85725" marR="38100" marT="19050" marB="19050" anchor="ctr">
                    <a:solidFill>
                      <a:srgbClr val="FFFFFF"/>
                    </a:solidFill>
                  </a:tcPr>
                </a:tc>
                <a:tc>
                  <a:txBody>
                    <a:bodyPr wrap="none"/>
                    <a:lstStyle/>
                    <a:p>
                      <a:pPr algn="l"/>
                      <a:r>
                        <a:rPr sz="900" b="0">
                          <a:solidFill>
                            <a:srgbClr val="2E2E2E"/>
                          </a:solidFill>
                          <a:latin typeface="Calibri"/>
                        </a:rPr>
                        <a:t>663.2</a:t>
                      </a:r>
                    </a:p>
                  </a:txBody>
                  <a:tcPr marL="85725" marR="38100" marT="19050" marB="19050" anchor="ctr">
                    <a:solidFill>
                      <a:srgbClr val="FFFFFF"/>
                    </a:solidFill>
                  </a:tcPr>
                </a:tc>
                <a:tc>
                  <a:txBody>
                    <a:bodyPr wrap="none"/>
                    <a:lstStyle/>
                    <a:p>
                      <a:pPr algn="l"/>
                      <a:r>
                        <a:rPr sz="900" b="0">
                          <a:solidFill>
                            <a:srgbClr val="2E2E2E"/>
                          </a:solidFill>
                          <a:latin typeface="Calibri"/>
                        </a:rPr>
                        <a:t>26.5%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Ophthalmology</a:t>
                      </a:r>
                    </a:p>
                  </a:txBody>
                  <a:tcPr marL="85725" marR="38100" marT="19050" marB="19050" anchor="ctr">
                    <a:solidFill>
                      <a:srgbClr val="F5F8FA"/>
                    </a:solidFill>
                  </a:tcPr>
                </a:tc>
                <a:tc>
                  <a:txBody>
                    <a:bodyPr wrap="none"/>
                    <a:lstStyle/>
                    <a:p>
                      <a:pPr algn="l"/>
                      <a:r>
                        <a:rPr sz="900" b="0">
                          <a:solidFill>
                            <a:srgbClr val="2E2E2E"/>
                          </a:solidFill>
                          <a:latin typeface="Calibri"/>
                        </a:rPr>
                        <a:t>249.6</a:t>
                      </a:r>
                    </a:p>
                  </a:txBody>
                  <a:tcPr marL="85725" marR="38100" marT="19050" marB="19050" anchor="ctr">
                    <a:solidFill>
                      <a:srgbClr val="F5F8FA"/>
                    </a:solidFill>
                  </a:tcPr>
                </a:tc>
                <a:tc>
                  <a:txBody>
                    <a:bodyPr wrap="none"/>
                    <a:lstStyle/>
                    <a:p>
                      <a:pPr algn="l"/>
                      <a:r>
                        <a:rPr sz="900" b="0">
                          <a:solidFill>
                            <a:srgbClr val="2E2E2E"/>
                          </a:solidFill>
                          <a:latin typeface="Calibri"/>
                        </a:rPr>
                        <a:t>10.0%</a:t>
                      </a:r>
                    </a:p>
                  </a:txBody>
                  <a:tcPr marL="85725" marR="38100" marT="19050" marB="19050" anchor="ctr">
                    <a:solidFill>
                      <a:srgbClr val="F5F8FA"/>
                    </a:solidFill>
                  </a:tcPr>
                </a:tc>
              </a:tr>
            </a:tbl>
          </a:graphicData>
        </a:graphic>
      </p:graphicFrame>
      <p:sp>
        <p:nvSpPr>
          <p:cNvPr id="23" name="TextBox 22"/>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Volume Analysis, By Therapeutic Application (Mn Doses)</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3133725"/>
          </a:xfrm>
          <a:prstGeom prst="roundRect">
            <a:avLst>
              <a:gd name="adj" fmla="val 24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Therapeutic Application (Mn Doses)</a:t>
            </a:r>
          </a:p>
        </p:txBody>
      </p:sp>
      <p:graphicFrame>
        <p:nvGraphicFramePr>
          <p:cNvPr id="13" name="Table 12"/>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Therapeutic Application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Rheumatology</a:t>
                      </a:r>
                    </a:p>
                  </a:txBody>
                  <a:tcPr marL="85725" marR="38100" marT="19050" marB="19050" anchor="ctr">
                    <a:solidFill>
                      <a:srgbClr val="FFFFFF"/>
                    </a:solidFill>
                  </a:tcPr>
                </a:tc>
                <a:tc>
                  <a:txBody>
                    <a:bodyPr wrap="none"/>
                    <a:lstStyle/>
                    <a:p>
                      <a:pPr algn="l"/>
                      <a:r>
                        <a:rPr sz="800" b="0">
                          <a:solidFill>
                            <a:srgbClr val="2E2E2E"/>
                          </a:solidFill>
                          <a:latin typeface="Calibri"/>
                        </a:rPr>
                        <a:t>0.71</a:t>
                      </a:r>
                    </a:p>
                  </a:txBody>
                  <a:tcPr marL="85725" marR="38100" marT="19050" marB="19050" anchor="ctr">
                    <a:solidFill>
                      <a:srgbClr val="FFFFFF"/>
                    </a:solidFill>
                  </a:tcPr>
                </a:tc>
                <a:tc>
                  <a:txBody>
                    <a:bodyPr wrap="none"/>
                    <a:lstStyle/>
                    <a:p>
                      <a:pPr algn="l"/>
                      <a:r>
                        <a:rPr sz="800" b="0">
                          <a:solidFill>
                            <a:srgbClr val="2E2E2E"/>
                          </a:solidFill>
                          <a:latin typeface="Calibri"/>
                        </a:rPr>
                        <a:t>0.83</a:t>
                      </a:r>
                    </a:p>
                  </a:txBody>
                  <a:tcPr marL="85725" marR="38100" marT="19050" marB="19050" anchor="ctr">
                    <a:solidFill>
                      <a:srgbClr val="FFFFFF"/>
                    </a:solidFill>
                  </a:tcPr>
                </a:tc>
                <a:tc>
                  <a:txBody>
                    <a:bodyPr wrap="none"/>
                    <a:lstStyle/>
                    <a:p>
                      <a:pPr algn="l"/>
                      <a:r>
                        <a:rPr sz="800" b="0">
                          <a:solidFill>
                            <a:srgbClr val="2E2E2E"/>
                          </a:solidFill>
                          <a:latin typeface="Calibri"/>
                        </a:rPr>
                        <a:t>1.03</a:t>
                      </a:r>
                    </a:p>
                  </a:txBody>
                  <a:tcPr marL="85725" marR="38100" marT="19050" marB="19050" anchor="ctr">
                    <a:solidFill>
                      <a:srgbClr val="FFFFFF"/>
                    </a:solidFill>
                  </a:tcPr>
                </a:tc>
                <a:tc>
                  <a:txBody>
                    <a:bodyPr wrap="none"/>
                    <a:lstStyle/>
                    <a:p>
                      <a:pPr algn="l"/>
                      <a:r>
                        <a:rPr sz="800" b="0">
                          <a:solidFill>
                            <a:srgbClr val="2E2E2E"/>
                          </a:solidFill>
                          <a:latin typeface="Calibri"/>
                        </a:rPr>
                        <a:t>1.32</a:t>
                      </a:r>
                    </a:p>
                  </a:txBody>
                  <a:tcPr marL="85725" marR="38100" marT="19050" marB="19050" anchor="ctr">
                    <a:solidFill>
                      <a:srgbClr val="FFFFFF"/>
                    </a:solidFill>
                  </a:tcPr>
                </a:tc>
                <a:tc>
                  <a:txBody>
                    <a:bodyPr wrap="none"/>
                    <a:lstStyle/>
                    <a:p>
                      <a:pPr algn="l"/>
                      <a:r>
                        <a:rPr sz="800" b="0">
                          <a:solidFill>
                            <a:srgbClr val="2E2E2E"/>
                          </a:solidFill>
                          <a:latin typeface="Calibri"/>
                        </a:rPr>
                        <a:t>1.65</a:t>
                      </a:r>
                    </a:p>
                  </a:txBody>
                  <a:tcPr marL="85725" marR="38100" marT="19050" marB="19050" anchor="ctr">
                    <a:solidFill>
                      <a:srgbClr val="FFFFFF"/>
                    </a:solidFill>
                  </a:tcPr>
                </a:tc>
                <a:tc>
                  <a:txBody>
                    <a:bodyPr wrap="none"/>
                    <a:lstStyle/>
                    <a:p>
                      <a:pPr algn="l"/>
                      <a:r>
                        <a:rPr sz="800" b="0">
                          <a:solidFill>
                            <a:srgbClr val="2E2E2E"/>
                          </a:solidFill>
                          <a:latin typeface="Calibri"/>
                        </a:rPr>
                        <a:t>2.01</a:t>
                      </a:r>
                    </a:p>
                  </a:txBody>
                  <a:tcPr marL="85725" marR="38100" marT="19050" marB="19050" anchor="ctr">
                    <a:solidFill>
                      <a:srgbClr val="FFFFFF"/>
                    </a:solidFill>
                  </a:tcPr>
                </a:tc>
                <a:tc>
                  <a:txBody>
                    <a:bodyPr wrap="none"/>
                    <a:lstStyle/>
                    <a:p>
                      <a:pPr algn="l"/>
                      <a:r>
                        <a:rPr sz="800" b="0">
                          <a:solidFill>
                            <a:srgbClr val="2E2E2E"/>
                          </a:solidFill>
                          <a:latin typeface="Calibri"/>
                        </a:rPr>
                        <a:t>2.40</a:t>
                      </a:r>
                    </a:p>
                  </a:txBody>
                  <a:tcPr marL="85725" marR="38100" marT="19050" marB="19050" anchor="ctr">
                    <a:solidFill>
                      <a:srgbClr val="FFFFFF"/>
                    </a:solidFill>
                  </a:tcPr>
                </a:tc>
                <a:tc>
                  <a:txBody>
                    <a:bodyPr wrap="none"/>
                    <a:lstStyle/>
                    <a:p>
                      <a:pPr algn="l"/>
                      <a:r>
                        <a:rPr sz="800" b="0">
                          <a:solidFill>
                            <a:srgbClr val="2E2E2E"/>
                          </a:solidFill>
                          <a:latin typeface="Calibri"/>
                        </a:rPr>
                        <a:t>2.81</a:t>
                      </a:r>
                    </a:p>
                  </a:txBody>
                  <a:tcPr marL="85725" marR="38100" marT="19050" marB="19050" anchor="ctr">
                    <a:solidFill>
                      <a:srgbClr val="FFFFFF"/>
                    </a:solidFill>
                  </a:tcPr>
                </a:tc>
                <a:tc>
                  <a:txBody>
                    <a:bodyPr wrap="none"/>
                    <a:lstStyle/>
                    <a:p>
                      <a:pPr algn="l"/>
                      <a:r>
                        <a:rPr sz="800" b="0">
                          <a:solidFill>
                            <a:srgbClr val="2E2E2E"/>
                          </a:solidFill>
                          <a:latin typeface="Calibri"/>
                        </a:rPr>
                        <a:t>3.24</a:t>
                      </a:r>
                    </a:p>
                  </a:txBody>
                  <a:tcPr marL="85725" marR="38100" marT="19050" marB="19050" anchor="ctr">
                    <a:solidFill>
                      <a:srgbClr val="FFFFFF"/>
                    </a:solidFill>
                  </a:tcPr>
                </a:tc>
                <a:tc>
                  <a:txBody>
                    <a:bodyPr wrap="none"/>
                    <a:lstStyle/>
                    <a:p>
                      <a:pPr algn="l"/>
                      <a:r>
                        <a:rPr sz="800" b="0">
                          <a:solidFill>
                            <a:srgbClr val="2E2E2E"/>
                          </a:solidFill>
                          <a:latin typeface="Calibri"/>
                        </a:rPr>
                        <a:t>3.69</a:t>
                      </a:r>
                    </a:p>
                  </a:txBody>
                  <a:tcPr marL="85725" marR="38100" marT="19050" marB="19050" anchor="ctr">
                    <a:solidFill>
                      <a:srgbClr val="FFFFFF"/>
                    </a:solidFill>
                  </a:tcPr>
                </a:tc>
                <a:tc>
                  <a:txBody>
                    <a:bodyPr wrap="none"/>
                    <a:lstStyle/>
                    <a:p>
                      <a:pPr algn="l"/>
                      <a:r>
                        <a:rPr sz="800" b="0">
                          <a:solidFill>
                            <a:srgbClr val="2E2E2E"/>
                          </a:solidFill>
                          <a:latin typeface="Calibri"/>
                        </a:rPr>
                        <a:t>4.16</a:t>
                      </a:r>
                    </a:p>
                  </a:txBody>
                  <a:tcPr marL="85725" marR="38100" marT="19050" marB="19050" anchor="ctr">
                    <a:solidFill>
                      <a:srgbClr val="FFFFFF"/>
                    </a:solidFill>
                  </a:tcPr>
                </a:tc>
                <a:tc>
                  <a:txBody>
                    <a:bodyPr wrap="none"/>
                    <a:lstStyle/>
                    <a:p>
                      <a:pPr algn="l"/>
                      <a:r>
                        <a:rPr sz="800" b="0">
                          <a:solidFill>
                            <a:srgbClr val="2E2E2E"/>
                          </a:solidFill>
                          <a:latin typeface="Calibri"/>
                        </a:rPr>
                        <a:t>4.65</a:t>
                      </a:r>
                    </a:p>
                  </a:txBody>
                  <a:tcPr marL="85725" marR="38100" marT="19050" marB="19050" anchor="ctr">
                    <a:solidFill>
                      <a:srgbClr val="FFFFFF"/>
                    </a:solidFill>
                  </a:tcPr>
                </a:tc>
                <a:tc>
                  <a:txBody>
                    <a:bodyPr wrap="none"/>
                    <a:lstStyle/>
                    <a:p>
                      <a:pPr algn="l"/>
                      <a:r>
                        <a:rPr sz="800" b="0">
                          <a:solidFill>
                            <a:srgbClr val="2E2E2E"/>
                          </a:solidFill>
                          <a:latin typeface="Calibri"/>
                        </a:rPr>
                        <a:t>5.16</a:t>
                      </a:r>
                    </a:p>
                  </a:txBody>
                  <a:tcPr marL="85725" marR="38100" marT="19050" marB="19050" anchor="ctr">
                    <a:solidFill>
                      <a:srgbClr val="FFFFFF"/>
                    </a:solidFill>
                  </a:tcPr>
                </a:tc>
                <a:tc>
                  <a:txBody>
                    <a:bodyPr wrap="none"/>
                    <a:lstStyle/>
                    <a:p>
                      <a:pPr algn="l"/>
                      <a:r>
                        <a:rPr sz="800" b="0">
                          <a:solidFill>
                            <a:srgbClr val="2E2E2E"/>
                          </a:solidFill>
                          <a:latin typeface="Calibri"/>
                        </a:rPr>
                        <a:t>5.69</a:t>
                      </a:r>
                    </a:p>
                  </a:txBody>
                  <a:tcPr marL="85725" marR="38100" marT="19050" marB="19050" anchor="ctr">
                    <a:solidFill>
                      <a:srgbClr val="FFFFFF"/>
                    </a:solidFill>
                  </a:tcPr>
                </a:tc>
                <a:tc>
                  <a:txBody>
                    <a:bodyPr wrap="none"/>
                    <a:lstStyle/>
                    <a:p>
                      <a:pPr algn="l"/>
                      <a:r>
                        <a:rPr sz="800" b="0">
                          <a:solidFill>
                            <a:srgbClr val="2E2E2E"/>
                          </a:solidFill>
                          <a:latin typeface="Calibri"/>
                        </a:rPr>
                        <a:t>6.24</a:t>
                      </a:r>
                    </a:p>
                  </a:txBody>
                  <a:tcPr marL="85725" marR="38100" marT="19050" marB="19050" anchor="ctr">
                    <a:solidFill>
                      <a:srgbClr val="FFFFFF"/>
                    </a:solidFill>
                  </a:tcPr>
                </a:tc>
                <a:tc>
                  <a:txBody>
                    <a:bodyPr wrap="none"/>
                    <a:lstStyle/>
                    <a:p>
                      <a:pPr algn="l"/>
                      <a:r>
                        <a:rPr sz="800" b="0">
                          <a:solidFill>
                            <a:srgbClr val="2E2E2E"/>
                          </a:solidFill>
                          <a:latin typeface="Calibri"/>
                        </a:rPr>
                        <a:t>6.82</a:t>
                      </a:r>
                    </a:p>
                  </a:txBody>
                  <a:tcPr marL="85725" marR="38100" marT="19050" marB="19050" anchor="ctr">
                    <a:solidFill>
                      <a:srgbClr val="FFFFFF"/>
                    </a:solidFill>
                  </a:tcPr>
                </a:tc>
                <a:tc>
                  <a:txBody>
                    <a:bodyPr wrap="none"/>
                    <a:lstStyle/>
                    <a:p>
                      <a:pPr algn="l"/>
                      <a:r>
                        <a:rPr sz="800" b="0">
                          <a:solidFill>
                            <a:srgbClr val="2E2E2E"/>
                          </a:solidFill>
                          <a:latin typeface="Calibri"/>
                        </a:rPr>
                        <a:t>13.0%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Dermatology</a:t>
                      </a:r>
                    </a:p>
                  </a:txBody>
                  <a:tcPr marL="85725" marR="38100" marT="19050" marB="19050" anchor="ctr">
                    <a:solidFill>
                      <a:srgbClr val="F5F8FA"/>
                    </a:solidFill>
                  </a:tcPr>
                </a:tc>
                <a:tc>
                  <a:txBody>
                    <a:bodyPr wrap="none"/>
                    <a:lstStyle/>
                    <a:p>
                      <a:pPr algn="l"/>
                      <a:r>
                        <a:rPr sz="800" b="0">
                          <a:solidFill>
                            <a:srgbClr val="2E2E2E"/>
                          </a:solidFill>
                          <a:latin typeface="Calibri"/>
                        </a:rPr>
                        <a:t>0.25</a:t>
                      </a:r>
                    </a:p>
                  </a:txBody>
                  <a:tcPr marL="85725" marR="38100" marT="19050" marB="19050" anchor="ctr">
                    <a:solidFill>
                      <a:srgbClr val="F5F8FA"/>
                    </a:solidFill>
                  </a:tcPr>
                </a:tc>
                <a:tc>
                  <a:txBody>
                    <a:bodyPr wrap="none"/>
                    <a:lstStyle/>
                    <a:p>
                      <a:pPr algn="l"/>
                      <a:r>
                        <a:rPr sz="800" b="0">
                          <a:solidFill>
                            <a:srgbClr val="2E2E2E"/>
                          </a:solidFill>
                          <a:latin typeface="Calibri"/>
                        </a:rPr>
                        <a:t>0.28</a:t>
                      </a:r>
                    </a:p>
                  </a:txBody>
                  <a:tcPr marL="85725" marR="38100" marT="19050" marB="19050" anchor="ctr">
                    <a:solidFill>
                      <a:srgbClr val="F5F8FA"/>
                    </a:solidFill>
                  </a:tcPr>
                </a:tc>
                <a:tc>
                  <a:txBody>
                    <a:bodyPr wrap="none"/>
                    <a:lstStyle/>
                    <a:p>
                      <a:pPr algn="l"/>
                      <a:r>
                        <a:rPr sz="800" b="0">
                          <a:solidFill>
                            <a:srgbClr val="2E2E2E"/>
                          </a:solidFill>
                          <a:latin typeface="Calibri"/>
                        </a:rPr>
                        <a:t>0.34</a:t>
                      </a:r>
                    </a:p>
                  </a:txBody>
                  <a:tcPr marL="85725" marR="38100" marT="19050" marB="19050" anchor="ctr">
                    <a:solidFill>
                      <a:srgbClr val="F5F8FA"/>
                    </a:solidFill>
                  </a:tcPr>
                </a:tc>
                <a:tc>
                  <a:txBody>
                    <a:bodyPr wrap="none"/>
                    <a:lstStyle/>
                    <a:p>
                      <a:pPr algn="l"/>
                      <a:r>
                        <a:rPr sz="800" b="0">
                          <a:solidFill>
                            <a:srgbClr val="2E2E2E"/>
                          </a:solidFill>
                          <a:latin typeface="Calibri"/>
                        </a:rPr>
                        <a:t>0.43</a:t>
                      </a:r>
                    </a:p>
                  </a:txBody>
                  <a:tcPr marL="85725" marR="38100" marT="19050" marB="19050" anchor="ctr">
                    <a:solidFill>
                      <a:srgbClr val="F5F8FA"/>
                    </a:solidFill>
                  </a:tcPr>
                </a:tc>
                <a:tc>
                  <a:txBody>
                    <a:bodyPr wrap="none"/>
                    <a:lstStyle/>
                    <a:p>
                      <a:pPr algn="l"/>
                      <a:r>
                        <a:rPr sz="800" b="0">
                          <a:solidFill>
                            <a:srgbClr val="2E2E2E"/>
                          </a:solidFill>
                          <a:latin typeface="Calibri"/>
                        </a:rPr>
                        <a:t>0.52</a:t>
                      </a:r>
                    </a:p>
                  </a:txBody>
                  <a:tcPr marL="85725" marR="38100" marT="19050" marB="19050" anchor="ctr">
                    <a:solidFill>
                      <a:srgbClr val="F5F8FA"/>
                    </a:solidFill>
                  </a:tcPr>
                </a:tc>
                <a:tc>
                  <a:txBody>
                    <a:bodyPr wrap="none"/>
                    <a:lstStyle/>
                    <a:p>
                      <a:pPr algn="l"/>
                      <a:r>
                        <a:rPr sz="800" b="0">
                          <a:solidFill>
                            <a:srgbClr val="2E2E2E"/>
                          </a:solidFill>
                          <a:latin typeface="Calibri"/>
                        </a:rPr>
                        <a:t>0.62</a:t>
                      </a:r>
                    </a:p>
                  </a:txBody>
                  <a:tcPr marL="85725" marR="38100" marT="19050" marB="19050" anchor="ctr">
                    <a:solidFill>
                      <a:srgbClr val="F5F8FA"/>
                    </a:solidFill>
                  </a:tcPr>
                </a:tc>
                <a:tc>
                  <a:txBody>
                    <a:bodyPr wrap="none"/>
                    <a:lstStyle/>
                    <a:p>
                      <a:pPr algn="l"/>
                      <a:r>
                        <a:rPr sz="800" b="0">
                          <a:solidFill>
                            <a:srgbClr val="2E2E2E"/>
                          </a:solidFill>
                          <a:latin typeface="Calibri"/>
                        </a:rPr>
                        <a:t>0.72</a:t>
                      </a:r>
                    </a:p>
                  </a:txBody>
                  <a:tcPr marL="85725" marR="38100" marT="19050" marB="19050" anchor="ctr">
                    <a:solidFill>
                      <a:srgbClr val="F5F8FA"/>
                    </a:solidFill>
                  </a:tcPr>
                </a:tc>
                <a:tc>
                  <a:txBody>
                    <a:bodyPr wrap="none"/>
                    <a:lstStyle/>
                    <a:p>
                      <a:pPr algn="l"/>
                      <a:r>
                        <a:rPr sz="800" b="0">
                          <a:solidFill>
                            <a:srgbClr val="2E2E2E"/>
                          </a:solidFill>
                          <a:latin typeface="Calibri"/>
                        </a:rPr>
                        <a:t>0.82</a:t>
                      </a:r>
                    </a:p>
                  </a:txBody>
                  <a:tcPr marL="85725" marR="38100" marT="19050" marB="19050" anchor="ctr">
                    <a:solidFill>
                      <a:srgbClr val="F5F8FA"/>
                    </a:solidFill>
                  </a:tcPr>
                </a:tc>
                <a:tc>
                  <a:txBody>
                    <a:bodyPr wrap="none"/>
                    <a:lstStyle/>
                    <a:p>
                      <a:pPr algn="l"/>
                      <a:r>
                        <a:rPr sz="800" b="0">
                          <a:solidFill>
                            <a:srgbClr val="2E2E2E"/>
                          </a:solidFill>
                          <a:latin typeface="Calibri"/>
                        </a:rPr>
                        <a:t>0.92</a:t>
                      </a:r>
                    </a:p>
                  </a:txBody>
                  <a:tcPr marL="85725" marR="38100" marT="19050" marB="19050" anchor="ctr">
                    <a:solidFill>
                      <a:srgbClr val="F5F8FA"/>
                    </a:solidFill>
                  </a:tcPr>
                </a:tc>
                <a:tc>
                  <a:txBody>
                    <a:bodyPr wrap="none"/>
                    <a:lstStyle/>
                    <a:p>
                      <a:pPr algn="l"/>
                      <a:r>
                        <a:rPr sz="800" b="0">
                          <a:solidFill>
                            <a:srgbClr val="2E2E2E"/>
                          </a:solidFill>
                          <a:latin typeface="Calibri"/>
                        </a:rPr>
                        <a:t>1.02</a:t>
                      </a:r>
                    </a:p>
                  </a:txBody>
                  <a:tcPr marL="85725" marR="38100" marT="19050" marB="19050" anchor="ctr">
                    <a:solidFill>
                      <a:srgbClr val="F5F8FA"/>
                    </a:solidFill>
                  </a:tcPr>
                </a:tc>
                <a:tc>
                  <a:txBody>
                    <a:bodyPr wrap="none"/>
                    <a:lstStyle/>
                    <a:p>
                      <a:pPr algn="l"/>
                      <a:r>
                        <a:rPr sz="800" b="0">
                          <a:solidFill>
                            <a:srgbClr val="2E2E2E"/>
                          </a:solidFill>
                          <a:latin typeface="Calibri"/>
                        </a:rPr>
                        <a:t>1.12</a:t>
                      </a:r>
                    </a:p>
                  </a:txBody>
                  <a:tcPr marL="85725" marR="38100" marT="19050" marB="19050" anchor="ctr">
                    <a:solidFill>
                      <a:srgbClr val="F5F8FA"/>
                    </a:solidFill>
                  </a:tcPr>
                </a:tc>
                <a:tc>
                  <a:txBody>
                    <a:bodyPr wrap="none"/>
                    <a:lstStyle/>
                    <a:p>
                      <a:pPr algn="l"/>
                      <a:r>
                        <a:rPr sz="800" b="0">
                          <a:solidFill>
                            <a:srgbClr val="2E2E2E"/>
                          </a:solidFill>
                          <a:latin typeface="Calibri"/>
                        </a:rPr>
                        <a:t>1.22</a:t>
                      </a:r>
                    </a:p>
                  </a:txBody>
                  <a:tcPr marL="85725" marR="38100" marT="19050" marB="19050" anchor="ctr">
                    <a:solidFill>
                      <a:srgbClr val="F5F8FA"/>
                    </a:solidFill>
                  </a:tcPr>
                </a:tc>
                <a:tc>
                  <a:txBody>
                    <a:bodyPr wrap="none"/>
                    <a:lstStyle/>
                    <a:p>
                      <a:pPr algn="l"/>
                      <a:r>
                        <a:rPr sz="800" b="0">
                          <a:solidFill>
                            <a:srgbClr val="2E2E2E"/>
                          </a:solidFill>
                          <a:latin typeface="Calibri"/>
                        </a:rPr>
                        <a:t>1.31</a:t>
                      </a:r>
                    </a:p>
                  </a:txBody>
                  <a:tcPr marL="85725" marR="38100" marT="19050" marB="19050" anchor="ctr">
                    <a:solidFill>
                      <a:srgbClr val="F5F8FA"/>
                    </a:solidFill>
                  </a:tcPr>
                </a:tc>
                <a:tc>
                  <a:txBody>
                    <a:bodyPr wrap="none"/>
                    <a:lstStyle/>
                    <a:p>
                      <a:pPr algn="l"/>
                      <a:r>
                        <a:rPr sz="800" b="0">
                          <a:solidFill>
                            <a:srgbClr val="2E2E2E"/>
                          </a:solidFill>
                          <a:latin typeface="Calibri"/>
                        </a:rPr>
                        <a:t>1.41</a:t>
                      </a:r>
                    </a:p>
                  </a:txBody>
                  <a:tcPr marL="85725" marR="38100" marT="19050" marB="19050" anchor="ctr">
                    <a:solidFill>
                      <a:srgbClr val="F5F8FA"/>
                    </a:solidFill>
                  </a:tcPr>
                </a:tc>
                <a:tc>
                  <a:txBody>
                    <a:bodyPr wrap="none"/>
                    <a:lstStyle/>
                    <a:p>
                      <a:pPr algn="l"/>
                      <a:r>
                        <a:rPr sz="800" b="0">
                          <a:solidFill>
                            <a:srgbClr val="2E2E2E"/>
                          </a:solidFill>
                          <a:latin typeface="Calibri"/>
                        </a:rPr>
                        <a:t>1.50</a:t>
                      </a:r>
                    </a:p>
                  </a:txBody>
                  <a:tcPr marL="85725" marR="38100" marT="19050" marB="19050" anchor="ctr">
                    <a:solidFill>
                      <a:srgbClr val="F5F8FA"/>
                    </a:solidFill>
                  </a:tcPr>
                </a:tc>
                <a:tc>
                  <a:txBody>
                    <a:bodyPr wrap="none"/>
                    <a:lstStyle/>
                    <a:p>
                      <a:pPr algn="l"/>
                      <a:r>
                        <a:rPr sz="800" b="0">
                          <a:solidFill>
                            <a:srgbClr val="2E2E2E"/>
                          </a:solidFill>
                          <a:latin typeface="Calibri"/>
                        </a:rPr>
                        <a:t>1.60</a:t>
                      </a:r>
                    </a:p>
                  </a:txBody>
                  <a:tcPr marL="85725" marR="38100" marT="19050" marB="19050" anchor="ctr">
                    <a:solidFill>
                      <a:srgbClr val="F5F8FA"/>
                    </a:solidFill>
                  </a:tcPr>
                </a:tc>
                <a:tc>
                  <a:txBody>
                    <a:bodyPr wrap="none"/>
                    <a:lstStyle/>
                    <a:p>
                      <a:pPr algn="l"/>
                      <a:r>
                        <a:rPr sz="800" b="0">
                          <a:solidFill>
                            <a:srgbClr val="2E2E2E"/>
                          </a:solidFill>
                          <a:latin typeface="Calibri"/>
                        </a:rPr>
                        <a:t>9.9%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Gastroenterology</a:t>
                      </a:r>
                    </a:p>
                  </a:txBody>
                  <a:tcPr marL="85725" marR="38100" marT="19050" marB="19050" anchor="ctr">
                    <a:solidFill>
                      <a:srgbClr val="FFFFFF"/>
                    </a:solidFill>
                  </a:tcPr>
                </a:tc>
                <a:tc>
                  <a:txBody>
                    <a:bodyPr wrap="none"/>
                    <a:lstStyle/>
                    <a:p>
                      <a:pPr algn="l"/>
                      <a:r>
                        <a:rPr sz="800" b="0">
                          <a:solidFill>
                            <a:srgbClr val="2E2E2E"/>
                          </a:solidFill>
                          <a:latin typeface="Calibri"/>
                        </a:rPr>
                        <a:t>0.40</a:t>
                      </a:r>
                    </a:p>
                  </a:txBody>
                  <a:tcPr marL="85725" marR="38100" marT="19050" marB="19050" anchor="ctr">
                    <a:solidFill>
                      <a:srgbClr val="FFFFFF"/>
                    </a:solidFill>
                  </a:tcPr>
                </a:tc>
                <a:tc>
                  <a:txBody>
                    <a:bodyPr wrap="none"/>
                    <a:lstStyle/>
                    <a:p>
                      <a:pPr algn="l"/>
                      <a:r>
                        <a:rPr sz="800" b="0">
                          <a:solidFill>
                            <a:srgbClr val="2E2E2E"/>
                          </a:solidFill>
                          <a:latin typeface="Calibri"/>
                        </a:rPr>
                        <a:t>0.47</a:t>
                      </a:r>
                    </a:p>
                  </a:txBody>
                  <a:tcPr marL="85725" marR="38100" marT="19050" marB="19050" anchor="ctr">
                    <a:solidFill>
                      <a:srgbClr val="FFFFFF"/>
                    </a:solidFill>
                  </a:tcPr>
                </a:tc>
                <a:tc>
                  <a:txBody>
                    <a:bodyPr wrap="none"/>
                    <a:lstStyle/>
                    <a:p>
                      <a:pPr algn="l"/>
                      <a:r>
                        <a:rPr sz="800" b="0">
                          <a:solidFill>
                            <a:srgbClr val="2E2E2E"/>
                          </a:solidFill>
                          <a:latin typeface="Calibri"/>
                        </a:rPr>
                        <a:t>0.59</a:t>
                      </a:r>
                    </a:p>
                  </a:txBody>
                  <a:tcPr marL="85725" marR="38100" marT="19050" marB="19050" anchor="ctr">
                    <a:solidFill>
                      <a:srgbClr val="FFFFFF"/>
                    </a:solidFill>
                  </a:tcPr>
                </a:tc>
                <a:tc>
                  <a:txBody>
                    <a:bodyPr wrap="none"/>
                    <a:lstStyle/>
                    <a:p>
                      <a:pPr algn="l"/>
                      <a:r>
                        <a:rPr sz="800" b="0">
                          <a:solidFill>
                            <a:srgbClr val="2E2E2E"/>
                          </a:solidFill>
                          <a:latin typeface="Calibri"/>
                        </a:rPr>
                        <a:t>0.77</a:t>
                      </a:r>
                    </a:p>
                  </a:txBody>
                  <a:tcPr marL="85725" marR="38100" marT="19050" marB="19050" anchor="ctr">
                    <a:solidFill>
                      <a:srgbClr val="FFFFFF"/>
                    </a:solidFill>
                  </a:tcPr>
                </a:tc>
                <a:tc>
                  <a:txBody>
                    <a:bodyPr wrap="none"/>
                    <a:lstStyle/>
                    <a:p>
                      <a:pPr algn="l"/>
                      <a:r>
                        <a:rPr sz="800" b="0">
                          <a:solidFill>
                            <a:srgbClr val="2E2E2E"/>
                          </a:solidFill>
                          <a:latin typeface="Calibri"/>
                        </a:rPr>
                        <a:t>0.97</a:t>
                      </a:r>
                    </a:p>
                  </a:txBody>
                  <a:tcPr marL="85725" marR="38100" marT="19050" marB="19050" anchor="ctr">
                    <a:solidFill>
                      <a:srgbClr val="FFFFFF"/>
                    </a:solidFill>
                  </a:tcPr>
                </a:tc>
                <a:tc>
                  <a:txBody>
                    <a:bodyPr wrap="none"/>
                    <a:lstStyle/>
                    <a:p>
                      <a:pPr algn="l"/>
                      <a:r>
                        <a:rPr sz="800" b="0">
                          <a:solidFill>
                            <a:srgbClr val="2E2E2E"/>
                          </a:solidFill>
                          <a:latin typeface="Calibri"/>
                        </a:rPr>
                        <a:t>1.19</a:t>
                      </a:r>
                    </a:p>
                  </a:txBody>
                  <a:tcPr marL="85725" marR="38100" marT="19050" marB="19050" anchor="ctr">
                    <a:solidFill>
                      <a:srgbClr val="FFFFFF"/>
                    </a:solidFill>
                  </a:tcPr>
                </a:tc>
                <a:tc>
                  <a:txBody>
                    <a:bodyPr wrap="none"/>
                    <a:lstStyle/>
                    <a:p>
                      <a:pPr algn="l"/>
                      <a:r>
                        <a:rPr sz="800" b="0">
                          <a:solidFill>
                            <a:srgbClr val="2E2E2E"/>
                          </a:solidFill>
                          <a:latin typeface="Calibri"/>
                        </a:rPr>
                        <a:t>1.44</a:t>
                      </a:r>
                    </a:p>
                  </a:txBody>
                  <a:tcPr marL="85725" marR="38100" marT="19050" marB="19050" anchor="ctr">
                    <a:solidFill>
                      <a:srgbClr val="FFFFFF"/>
                    </a:solidFill>
                  </a:tcPr>
                </a:tc>
                <a:tc>
                  <a:txBody>
                    <a:bodyPr wrap="none"/>
                    <a:lstStyle/>
                    <a:p>
                      <a:pPr algn="l"/>
                      <a:r>
                        <a:rPr sz="800" b="0">
                          <a:solidFill>
                            <a:srgbClr val="2E2E2E"/>
                          </a:solidFill>
                          <a:latin typeface="Calibri"/>
                        </a:rPr>
                        <a:t>1.70</a:t>
                      </a:r>
                    </a:p>
                  </a:txBody>
                  <a:tcPr marL="85725" marR="38100" marT="19050" marB="19050" anchor="ctr">
                    <a:solidFill>
                      <a:srgbClr val="FFFFFF"/>
                    </a:solidFill>
                  </a:tcPr>
                </a:tc>
                <a:tc>
                  <a:txBody>
                    <a:bodyPr wrap="none"/>
                    <a:lstStyle/>
                    <a:p>
                      <a:pPr algn="l"/>
                      <a:r>
                        <a:rPr sz="800" b="0">
                          <a:solidFill>
                            <a:srgbClr val="2E2E2E"/>
                          </a:solidFill>
                          <a:latin typeface="Calibri"/>
                        </a:rPr>
                        <a:t>1.98</a:t>
                      </a:r>
                    </a:p>
                  </a:txBody>
                  <a:tcPr marL="85725" marR="38100" marT="19050" marB="19050" anchor="ctr">
                    <a:solidFill>
                      <a:srgbClr val="FFFFFF"/>
                    </a:solidFill>
                  </a:tcPr>
                </a:tc>
                <a:tc>
                  <a:txBody>
                    <a:bodyPr wrap="none"/>
                    <a:lstStyle/>
                    <a:p>
                      <a:pPr algn="l"/>
                      <a:r>
                        <a:rPr sz="800" b="0">
                          <a:solidFill>
                            <a:srgbClr val="2E2E2E"/>
                          </a:solidFill>
                          <a:latin typeface="Calibri"/>
                        </a:rPr>
                        <a:t>2.28</a:t>
                      </a:r>
                    </a:p>
                  </a:txBody>
                  <a:tcPr marL="85725" marR="38100" marT="19050" marB="19050" anchor="ctr">
                    <a:solidFill>
                      <a:srgbClr val="FFFFFF"/>
                    </a:solidFill>
                  </a:tcPr>
                </a:tc>
                <a:tc>
                  <a:txBody>
                    <a:bodyPr wrap="none"/>
                    <a:lstStyle/>
                    <a:p>
                      <a:pPr algn="l"/>
                      <a:r>
                        <a:rPr sz="800" b="0">
                          <a:solidFill>
                            <a:srgbClr val="2E2E2E"/>
                          </a:solidFill>
                          <a:latin typeface="Calibri"/>
                        </a:rPr>
                        <a:t>2.59</a:t>
                      </a:r>
                    </a:p>
                  </a:txBody>
                  <a:tcPr marL="85725" marR="38100" marT="19050" marB="19050" anchor="ctr">
                    <a:solidFill>
                      <a:srgbClr val="FFFFFF"/>
                    </a:solidFill>
                  </a:tcPr>
                </a:tc>
                <a:tc>
                  <a:txBody>
                    <a:bodyPr wrap="none"/>
                    <a:lstStyle/>
                    <a:p>
                      <a:pPr algn="l"/>
                      <a:r>
                        <a:rPr sz="800" b="0">
                          <a:solidFill>
                            <a:srgbClr val="2E2E2E"/>
                          </a:solidFill>
                          <a:latin typeface="Calibri"/>
                        </a:rPr>
                        <a:t>2.92</a:t>
                      </a:r>
                    </a:p>
                  </a:txBody>
                  <a:tcPr marL="85725" marR="38100" marT="19050" marB="19050" anchor="ctr">
                    <a:solidFill>
                      <a:srgbClr val="FFFFFF"/>
                    </a:solidFill>
                  </a:tcPr>
                </a:tc>
                <a:tc>
                  <a:txBody>
                    <a:bodyPr wrap="none"/>
                    <a:lstStyle/>
                    <a:p>
                      <a:pPr algn="l"/>
                      <a:r>
                        <a:rPr sz="800" b="0">
                          <a:solidFill>
                            <a:srgbClr val="2E2E2E"/>
                          </a:solidFill>
                          <a:latin typeface="Calibri"/>
                        </a:rPr>
                        <a:t>3.27</a:t>
                      </a:r>
                    </a:p>
                  </a:txBody>
                  <a:tcPr marL="85725" marR="38100" marT="19050" marB="19050" anchor="ctr">
                    <a:solidFill>
                      <a:srgbClr val="FFFFFF"/>
                    </a:solidFill>
                  </a:tcPr>
                </a:tc>
                <a:tc>
                  <a:txBody>
                    <a:bodyPr wrap="none"/>
                    <a:lstStyle/>
                    <a:p>
                      <a:pPr algn="l"/>
                      <a:r>
                        <a:rPr sz="800" b="0">
                          <a:solidFill>
                            <a:srgbClr val="2E2E2E"/>
                          </a:solidFill>
                          <a:latin typeface="Calibri"/>
                        </a:rPr>
                        <a:t>3.64</a:t>
                      </a:r>
                    </a:p>
                  </a:txBody>
                  <a:tcPr marL="85725" marR="38100" marT="19050" marB="19050" anchor="ctr">
                    <a:solidFill>
                      <a:srgbClr val="FFFFFF"/>
                    </a:solidFill>
                  </a:tcPr>
                </a:tc>
                <a:tc>
                  <a:txBody>
                    <a:bodyPr wrap="none"/>
                    <a:lstStyle/>
                    <a:p>
                      <a:pPr algn="l"/>
                      <a:r>
                        <a:rPr sz="800" b="0">
                          <a:solidFill>
                            <a:srgbClr val="2E2E2E"/>
                          </a:solidFill>
                          <a:latin typeface="Calibri"/>
                        </a:rPr>
                        <a:t>4.04</a:t>
                      </a:r>
                    </a:p>
                  </a:txBody>
                  <a:tcPr marL="85725" marR="38100" marT="19050" marB="19050" anchor="ctr">
                    <a:solidFill>
                      <a:srgbClr val="FFFFFF"/>
                    </a:solidFill>
                  </a:tcPr>
                </a:tc>
                <a:tc>
                  <a:txBody>
                    <a:bodyPr wrap="none"/>
                    <a:lstStyle/>
                    <a:p>
                      <a:pPr algn="l"/>
                      <a:r>
                        <a:rPr sz="800" b="0">
                          <a:solidFill>
                            <a:srgbClr val="2E2E2E"/>
                          </a:solidFill>
                          <a:latin typeface="Calibri"/>
                        </a:rPr>
                        <a:t>4.45</a:t>
                      </a:r>
                    </a:p>
                  </a:txBody>
                  <a:tcPr marL="85725" marR="38100" marT="19050" marB="19050" anchor="ctr">
                    <a:solidFill>
                      <a:srgbClr val="FFFFFF"/>
                    </a:solidFill>
                  </a:tcPr>
                </a:tc>
                <a:tc>
                  <a:txBody>
                    <a:bodyPr wrap="none"/>
                    <a:lstStyle/>
                    <a:p>
                      <a:pPr algn="l"/>
                      <a:r>
                        <a:rPr sz="800" b="0">
                          <a:solidFill>
                            <a:srgbClr val="2E2E2E"/>
                          </a:solidFill>
                          <a:latin typeface="Calibri"/>
                        </a:rPr>
                        <a:t>14.1%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Ophthalmology</a:t>
                      </a:r>
                    </a:p>
                  </a:txBody>
                  <a:tcPr marL="85725" marR="38100" marT="19050" marB="19050" anchor="ctr">
                    <a:solidFill>
                      <a:srgbClr val="F5F8FA"/>
                    </a:solidFill>
                  </a:tcPr>
                </a:tc>
                <a:tc>
                  <a:txBody>
                    <a:bodyPr wrap="none"/>
                    <a:lstStyle/>
                    <a:p>
                      <a:pPr algn="l"/>
                      <a:r>
                        <a:rPr sz="800" b="0">
                          <a:solidFill>
                            <a:srgbClr val="2E2E2E"/>
                          </a:solidFill>
                          <a:latin typeface="Calibri"/>
                        </a:rPr>
                        <a:t>0.11</a:t>
                      </a:r>
                    </a:p>
                  </a:txBody>
                  <a:tcPr marL="85725" marR="38100" marT="19050" marB="19050" anchor="ctr">
                    <a:solidFill>
                      <a:srgbClr val="F5F8FA"/>
                    </a:solidFill>
                  </a:tcPr>
                </a:tc>
                <a:tc>
                  <a:txBody>
                    <a:bodyPr wrap="none"/>
                    <a:lstStyle/>
                    <a:p>
                      <a:pPr algn="l"/>
                      <a:r>
                        <a:rPr sz="800" b="0">
                          <a:solidFill>
                            <a:srgbClr val="2E2E2E"/>
                          </a:solidFill>
                          <a:latin typeface="Calibri"/>
                        </a:rPr>
                        <a:t>0.14</a:t>
                      </a:r>
                    </a:p>
                  </a:txBody>
                  <a:tcPr marL="85725" marR="38100" marT="19050" marB="19050" anchor="ctr">
                    <a:solidFill>
                      <a:srgbClr val="F5F8FA"/>
                    </a:solidFill>
                  </a:tcPr>
                </a:tc>
                <a:tc>
                  <a:txBody>
                    <a:bodyPr wrap="none"/>
                    <a:lstStyle/>
                    <a:p>
                      <a:pPr algn="l"/>
                      <a:r>
                        <a:rPr sz="800" b="0">
                          <a:solidFill>
                            <a:srgbClr val="2E2E2E"/>
                          </a:solidFill>
                          <a:latin typeface="Calibri"/>
                        </a:rPr>
                        <a:t>0.17</a:t>
                      </a:r>
                    </a:p>
                  </a:txBody>
                  <a:tcPr marL="85725" marR="38100" marT="19050" marB="19050" anchor="ctr">
                    <a:solidFill>
                      <a:srgbClr val="F5F8FA"/>
                    </a:solidFill>
                  </a:tcPr>
                </a:tc>
                <a:tc>
                  <a:txBody>
                    <a:bodyPr wrap="none"/>
                    <a:lstStyle/>
                    <a:p>
                      <a:pPr algn="l"/>
                      <a:r>
                        <a:rPr sz="800" b="0">
                          <a:solidFill>
                            <a:srgbClr val="2E2E2E"/>
                          </a:solidFill>
                          <a:latin typeface="Calibri"/>
                        </a:rPr>
                        <a:t>0.22</a:t>
                      </a:r>
                    </a:p>
                  </a:txBody>
                  <a:tcPr marL="85725" marR="38100" marT="19050" marB="19050" anchor="ctr">
                    <a:solidFill>
                      <a:srgbClr val="F5F8FA"/>
                    </a:solidFill>
                  </a:tcPr>
                </a:tc>
                <a:tc>
                  <a:txBody>
                    <a:bodyPr wrap="none"/>
                    <a:lstStyle/>
                    <a:p>
                      <a:pPr algn="l"/>
                      <a:r>
                        <a:rPr sz="800" b="0">
                          <a:solidFill>
                            <a:srgbClr val="2E2E2E"/>
                          </a:solidFill>
                          <a:latin typeface="Calibri"/>
                        </a:rPr>
                        <a:t>0.28</a:t>
                      </a:r>
                    </a:p>
                  </a:txBody>
                  <a:tcPr marL="85725" marR="38100" marT="19050" marB="19050" anchor="ctr">
                    <a:solidFill>
                      <a:srgbClr val="F5F8FA"/>
                    </a:solidFill>
                  </a:tcPr>
                </a:tc>
                <a:tc>
                  <a:txBody>
                    <a:bodyPr wrap="none"/>
                    <a:lstStyle/>
                    <a:p>
                      <a:pPr algn="l"/>
                      <a:r>
                        <a:rPr sz="800" b="0">
                          <a:solidFill>
                            <a:srgbClr val="2E2E2E"/>
                          </a:solidFill>
                          <a:latin typeface="Calibri"/>
                        </a:rPr>
                        <a:t>0.34</a:t>
                      </a:r>
                    </a:p>
                  </a:txBody>
                  <a:tcPr marL="85725" marR="38100" marT="19050" marB="19050" anchor="ctr">
                    <a:solidFill>
                      <a:srgbClr val="F5F8FA"/>
                    </a:solidFill>
                  </a:tcPr>
                </a:tc>
                <a:tc>
                  <a:txBody>
                    <a:bodyPr wrap="none"/>
                    <a:lstStyle/>
                    <a:p>
                      <a:pPr algn="l"/>
                      <a:r>
                        <a:rPr sz="800" b="0">
                          <a:solidFill>
                            <a:srgbClr val="2E2E2E"/>
                          </a:solidFill>
                          <a:latin typeface="Calibri"/>
                        </a:rPr>
                        <a:t>0.41</a:t>
                      </a:r>
                    </a:p>
                  </a:txBody>
                  <a:tcPr marL="85725" marR="38100" marT="19050" marB="19050" anchor="ctr">
                    <a:solidFill>
                      <a:srgbClr val="F5F8FA"/>
                    </a:solidFill>
                  </a:tcPr>
                </a:tc>
                <a:tc>
                  <a:txBody>
                    <a:bodyPr wrap="none"/>
                    <a:lstStyle/>
                    <a:p>
                      <a:pPr algn="l"/>
                      <a:r>
                        <a:rPr sz="800" b="0">
                          <a:solidFill>
                            <a:srgbClr val="2E2E2E"/>
                          </a:solidFill>
                          <a:latin typeface="Calibri"/>
                        </a:rPr>
                        <a:t>0.48</a:t>
                      </a:r>
                    </a:p>
                  </a:txBody>
                  <a:tcPr marL="85725" marR="38100" marT="19050" marB="19050" anchor="ctr">
                    <a:solidFill>
                      <a:srgbClr val="F5F8FA"/>
                    </a:solidFill>
                  </a:tcPr>
                </a:tc>
                <a:tc>
                  <a:txBody>
                    <a:bodyPr wrap="none"/>
                    <a:lstStyle/>
                    <a:p>
                      <a:pPr algn="l"/>
                      <a:r>
                        <a:rPr sz="800" b="0">
                          <a:solidFill>
                            <a:srgbClr val="2E2E2E"/>
                          </a:solidFill>
                          <a:latin typeface="Calibri"/>
                        </a:rPr>
                        <a:t>0.56</a:t>
                      </a:r>
                    </a:p>
                  </a:txBody>
                  <a:tcPr marL="85725" marR="38100" marT="19050" marB="19050" anchor="ctr">
                    <a:solidFill>
                      <a:srgbClr val="F5F8FA"/>
                    </a:solidFill>
                  </a:tcPr>
                </a:tc>
                <a:tc>
                  <a:txBody>
                    <a:bodyPr wrap="none"/>
                    <a:lstStyle/>
                    <a:p>
                      <a:pPr algn="l"/>
                      <a:r>
                        <a:rPr sz="800" b="0">
                          <a:solidFill>
                            <a:srgbClr val="2E2E2E"/>
                          </a:solidFill>
                          <a:latin typeface="Calibri"/>
                        </a:rPr>
                        <a:t>0.65</a:t>
                      </a:r>
                    </a:p>
                  </a:txBody>
                  <a:tcPr marL="85725" marR="38100" marT="19050" marB="19050" anchor="ctr">
                    <a:solidFill>
                      <a:srgbClr val="F5F8FA"/>
                    </a:solidFill>
                  </a:tcPr>
                </a:tc>
                <a:tc>
                  <a:txBody>
                    <a:bodyPr wrap="none"/>
                    <a:lstStyle/>
                    <a:p>
                      <a:pPr algn="l"/>
                      <a:r>
                        <a:rPr sz="800" b="0">
                          <a:solidFill>
                            <a:srgbClr val="2E2E2E"/>
                          </a:solidFill>
                          <a:latin typeface="Calibri"/>
                        </a:rPr>
                        <a:t>0.74</a:t>
                      </a:r>
                    </a:p>
                  </a:txBody>
                  <a:tcPr marL="85725" marR="38100" marT="19050" marB="19050" anchor="ctr">
                    <a:solidFill>
                      <a:srgbClr val="F5F8FA"/>
                    </a:solidFill>
                  </a:tcPr>
                </a:tc>
                <a:tc>
                  <a:txBody>
                    <a:bodyPr wrap="none"/>
                    <a:lstStyle/>
                    <a:p>
                      <a:pPr algn="l"/>
                      <a:r>
                        <a:rPr sz="800" b="0">
                          <a:solidFill>
                            <a:srgbClr val="2E2E2E"/>
                          </a:solidFill>
                          <a:latin typeface="Calibri"/>
                        </a:rPr>
                        <a:t>0.83</a:t>
                      </a:r>
                    </a:p>
                  </a:txBody>
                  <a:tcPr marL="85725" marR="38100" marT="19050" marB="19050" anchor="ctr">
                    <a:solidFill>
                      <a:srgbClr val="F5F8FA"/>
                    </a:solidFill>
                  </a:tcPr>
                </a:tc>
                <a:tc>
                  <a:txBody>
                    <a:bodyPr wrap="none"/>
                    <a:lstStyle/>
                    <a:p>
                      <a:pPr algn="l"/>
                      <a:r>
                        <a:rPr sz="800" b="0">
                          <a:solidFill>
                            <a:srgbClr val="2E2E2E"/>
                          </a:solidFill>
                          <a:latin typeface="Calibri"/>
                        </a:rPr>
                        <a:t>0.93</a:t>
                      </a:r>
                    </a:p>
                  </a:txBody>
                  <a:tcPr marL="85725" marR="38100" marT="19050" marB="19050" anchor="ctr">
                    <a:solidFill>
                      <a:srgbClr val="F5F8FA"/>
                    </a:solidFill>
                  </a:tcPr>
                </a:tc>
                <a:tc>
                  <a:txBody>
                    <a:bodyPr wrap="none"/>
                    <a:lstStyle/>
                    <a:p>
                      <a:pPr algn="l"/>
                      <a:r>
                        <a:rPr sz="800" b="0">
                          <a:solidFill>
                            <a:srgbClr val="2E2E2E"/>
                          </a:solidFill>
                          <a:latin typeface="Calibri"/>
                        </a:rPr>
                        <a:t>1.03</a:t>
                      </a:r>
                    </a:p>
                  </a:txBody>
                  <a:tcPr marL="85725" marR="38100" marT="19050" marB="19050" anchor="ctr">
                    <a:solidFill>
                      <a:srgbClr val="F5F8FA"/>
                    </a:solidFill>
                  </a:tcPr>
                </a:tc>
                <a:tc>
                  <a:txBody>
                    <a:bodyPr wrap="none"/>
                    <a:lstStyle/>
                    <a:p>
                      <a:pPr algn="l"/>
                      <a:r>
                        <a:rPr sz="800" b="0">
                          <a:solidFill>
                            <a:srgbClr val="2E2E2E"/>
                          </a:solidFill>
                          <a:latin typeface="Calibri"/>
                        </a:rPr>
                        <a:t>1.15</a:t>
                      </a:r>
                    </a:p>
                  </a:txBody>
                  <a:tcPr marL="85725" marR="38100" marT="19050" marB="19050" anchor="ctr">
                    <a:solidFill>
                      <a:srgbClr val="F5F8FA"/>
                    </a:solidFill>
                  </a:tcPr>
                </a:tc>
                <a:tc>
                  <a:txBody>
                    <a:bodyPr wrap="none"/>
                    <a:lstStyle/>
                    <a:p>
                      <a:pPr algn="l"/>
                      <a:r>
                        <a:rPr sz="800" b="0">
                          <a:solidFill>
                            <a:srgbClr val="2E2E2E"/>
                          </a:solidFill>
                          <a:latin typeface="Calibri"/>
                        </a:rPr>
                        <a:t>1.26</a:t>
                      </a:r>
                    </a:p>
                  </a:txBody>
                  <a:tcPr marL="85725" marR="38100" marT="19050" marB="19050" anchor="ctr">
                    <a:solidFill>
                      <a:srgbClr val="F5F8FA"/>
                    </a:solidFill>
                  </a:tcPr>
                </a:tc>
                <a:tc>
                  <a:txBody>
                    <a:bodyPr wrap="none"/>
                    <a:lstStyle/>
                    <a:p>
                      <a:pPr algn="l"/>
                      <a:r>
                        <a:rPr sz="800" b="0">
                          <a:solidFill>
                            <a:srgbClr val="2E2E2E"/>
                          </a:solidFill>
                          <a:latin typeface="Calibri"/>
                        </a:rPr>
                        <a:t>14.0%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1.47</a:t>
                      </a:r>
                    </a:p>
                  </a:txBody>
                  <a:tcPr marL="85725" marR="38100" marT="19050" marB="19050" anchor="ctr">
                    <a:solidFill>
                      <a:srgbClr val="E0E8EF"/>
                    </a:solidFill>
                  </a:tcPr>
                </a:tc>
                <a:tc>
                  <a:txBody>
                    <a:bodyPr wrap="none"/>
                    <a:lstStyle/>
                    <a:p>
                      <a:pPr algn="l"/>
                      <a:r>
                        <a:rPr sz="800" b="1">
                          <a:solidFill>
                            <a:srgbClr val="2E2E2E"/>
                          </a:solidFill>
                          <a:latin typeface="Calibri"/>
                        </a:rPr>
                        <a:t>1.72</a:t>
                      </a:r>
                    </a:p>
                  </a:txBody>
                  <a:tcPr marL="85725" marR="38100" marT="19050" marB="19050" anchor="ctr">
                    <a:solidFill>
                      <a:srgbClr val="E0E8EF"/>
                    </a:solidFill>
                  </a:tcPr>
                </a:tc>
                <a:tc>
                  <a:txBody>
                    <a:bodyPr wrap="none"/>
                    <a:lstStyle/>
                    <a:p>
                      <a:pPr algn="l"/>
                      <a:r>
                        <a:rPr sz="800" b="1">
                          <a:solidFill>
                            <a:srgbClr val="2E2E2E"/>
                          </a:solidFill>
                          <a:latin typeface="Calibri"/>
                        </a:rPr>
                        <a:t>2.13</a:t>
                      </a:r>
                    </a:p>
                  </a:txBody>
                  <a:tcPr marL="85725" marR="38100" marT="19050" marB="19050" anchor="ctr">
                    <a:solidFill>
                      <a:srgbClr val="E0E8EF"/>
                    </a:solidFill>
                  </a:tcPr>
                </a:tc>
                <a:tc>
                  <a:txBody>
                    <a:bodyPr wrap="none"/>
                    <a:lstStyle/>
                    <a:p>
                      <a:pPr algn="l"/>
                      <a:r>
                        <a:rPr sz="800" b="1">
                          <a:solidFill>
                            <a:srgbClr val="2E2E2E"/>
                          </a:solidFill>
                          <a:latin typeface="Calibri"/>
                        </a:rPr>
                        <a:t>2.73</a:t>
                      </a:r>
                    </a:p>
                  </a:txBody>
                  <a:tcPr marL="85725" marR="38100" marT="19050" marB="19050" anchor="ctr">
                    <a:solidFill>
                      <a:srgbClr val="E0E8EF"/>
                    </a:solidFill>
                  </a:tcPr>
                </a:tc>
                <a:tc>
                  <a:txBody>
                    <a:bodyPr wrap="none"/>
                    <a:lstStyle/>
                    <a:p>
                      <a:pPr algn="l"/>
                      <a:r>
                        <a:rPr sz="800" b="1">
                          <a:solidFill>
                            <a:srgbClr val="2E2E2E"/>
                          </a:solidFill>
                          <a:latin typeface="Calibri"/>
                        </a:rPr>
                        <a:t>3.42</a:t>
                      </a:r>
                    </a:p>
                  </a:txBody>
                  <a:tcPr marL="85725" marR="38100" marT="19050" marB="19050" anchor="ctr">
                    <a:solidFill>
                      <a:srgbClr val="E0E8EF"/>
                    </a:solidFill>
                  </a:tcPr>
                </a:tc>
                <a:tc>
                  <a:txBody>
                    <a:bodyPr wrap="none"/>
                    <a:lstStyle/>
                    <a:p>
                      <a:pPr algn="l"/>
                      <a:r>
                        <a:rPr sz="800" b="1">
                          <a:solidFill>
                            <a:srgbClr val="2E2E2E"/>
                          </a:solidFill>
                          <a:latin typeface="Calibri"/>
                        </a:rPr>
                        <a:t>4.16</a:t>
                      </a:r>
                    </a:p>
                  </a:txBody>
                  <a:tcPr marL="85725" marR="38100" marT="19050" marB="19050" anchor="ctr">
                    <a:solidFill>
                      <a:srgbClr val="E0E8EF"/>
                    </a:solidFill>
                  </a:tcPr>
                </a:tc>
                <a:tc>
                  <a:txBody>
                    <a:bodyPr wrap="none"/>
                    <a:lstStyle/>
                    <a:p>
                      <a:pPr algn="l"/>
                      <a:r>
                        <a:rPr sz="800" b="1">
                          <a:solidFill>
                            <a:srgbClr val="2E2E2E"/>
                          </a:solidFill>
                          <a:latin typeface="Calibri"/>
                        </a:rPr>
                        <a:t>4.97</a:t>
                      </a:r>
                    </a:p>
                  </a:txBody>
                  <a:tcPr marL="85725" marR="38100" marT="19050" marB="19050" anchor="ctr">
                    <a:solidFill>
                      <a:srgbClr val="E0E8EF"/>
                    </a:solidFill>
                  </a:tcPr>
                </a:tc>
                <a:tc>
                  <a:txBody>
                    <a:bodyPr wrap="none"/>
                    <a:lstStyle/>
                    <a:p>
                      <a:pPr algn="l"/>
                      <a:r>
                        <a:rPr sz="800" b="1">
                          <a:solidFill>
                            <a:srgbClr val="2E2E2E"/>
                          </a:solidFill>
                          <a:latin typeface="Calibri"/>
                        </a:rPr>
                        <a:t>5.81</a:t>
                      </a:r>
                    </a:p>
                  </a:txBody>
                  <a:tcPr marL="85725" marR="38100" marT="19050" marB="19050" anchor="ctr">
                    <a:solidFill>
                      <a:srgbClr val="E0E8EF"/>
                    </a:solidFill>
                  </a:tcPr>
                </a:tc>
                <a:tc>
                  <a:txBody>
                    <a:bodyPr wrap="none"/>
                    <a:lstStyle/>
                    <a:p>
                      <a:pPr algn="l"/>
                      <a:r>
                        <a:rPr sz="800" b="1">
                          <a:solidFill>
                            <a:srgbClr val="2E2E2E"/>
                          </a:solidFill>
                          <a:latin typeface="Calibri"/>
                        </a:rPr>
                        <a:t>6.70</a:t>
                      </a:r>
                    </a:p>
                  </a:txBody>
                  <a:tcPr marL="85725" marR="38100" marT="19050" marB="19050" anchor="ctr">
                    <a:solidFill>
                      <a:srgbClr val="E0E8EF"/>
                    </a:solidFill>
                  </a:tcPr>
                </a:tc>
                <a:tc>
                  <a:txBody>
                    <a:bodyPr wrap="none"/>
                    <a:lstStyle/>
                    <a:p>
                      <a:pPr algn="l"/>
                      <a:r>
                        <a:rPr sz="800" b="1">
                          <a:solidFill>
                            <a:srgbClr val="2E2E2E"/>
                          </a:solidFill>
                          <a:latin typeface="Calibri"/>
                        </a:rPr>
                        <a:t>7.63</a:t>
                      </a:r>
                    </a:p>
                  </a:txBody>
                  <a:tcPr marL="85725" marR="38100" marT="19050" marB="19050" anchor="ctr">
                    <a:solidFill>
                      <a:srgbClr val="E0E8EF"/>
                    </a:solidFill>
                  </a:tcPr>
                </a:tc>
                <a:tc>
                  <a:txBody>
                    <a:bodyPr wrap="none"/>
                    <a:lstStyle/>
                    <a:p>
                      <a:pPr algn="l"/>
                      <a:r>
                        <a:rPr sz="800" b="1">
                          <a:solidFill>
                            <a:srgbClr val="2E2E2E"/>
                          </a:solidFill>
                          <a:latin typeface="Calibri"/>
                        </a:rPr>
                        <a:t>8.60</a:t>
                      </a:r>
                    </a:p>
                  </a:txBody>
                  <a:tcPr marL="85725" marR="38100" marT="19050" marB="19050" anchor="ctr">
                    <a:solidFill>
                      <a:srgbClr val="E0E8EF"/>
                    </a:solidFill>
                  </a:tcPr>
                </a:tc>
                <a:tc>
                  <a:txBody>
                    <a:bodyPr wrap="none"/>
                    <a:lstStyle/>
                    <a:p>
                      <a:pPr algn="l"/>
                      <a:r>
                        <a:rPr sz="800" b="1">
                          <a:solidFill>
                            <a:srgbClr val="2E2E2E"/>
                          </a:solidFill>
                          <a:latin typeface="Calibri"/>
                        </a:rPr>
                        <a:t>9.62</a:t>
                      </a:r>
                    </a:p>
                  </a:txBody>
                  <a:tcPr marL="85725" marR="38100" marT="19050" marB="19050" anchor="ctr">
                    <a:solidFill>
                      <a:srgbClr val="E0E8EF"/>
                    </a:solidFill>
                  </a:tcPr>
                </a:tc>
                <a:tc>
                  <a:txBody>
                    <a:bodyPr wrap="none"/>
                    <a:lstStyle/>
                    <a:p>
                      <a:pPr algn="l"/>
                      <a:r>
                        <a:rPr sz="800" b="1">
                          <a:solidFill>
                            <a:srgbClr val="2E2E2E"/>
                          </a:solidFill>
                          <a:latin typeface="Calibri"/>
                        </a:rPr>
                        <a:t>10.7</a:t>
                      </a:r>
                    </a:p>
                  </a:txBody>
                  <a:tcPr marL="85725" marR="38100" marT="19050" marB="19050" anchor="ctr">
                    <a:solidFill>
                      <a:srgbClr val="E0E8EF"/>
                    </a:solidFill>
                  </a:tcPr>
                </a:tc>
                <a:tc>
                  <a:txBody>
                    <a:bodyPr wrap="none"/>
                    <a:lstStyle/>
                    <a:p>
                      <a:pPr algn="l"/>
                      <a:r>
                        <a:rPr sz="800" b="1">
                          <a:solidFill>
                            <a:srgbClr val="2E2E2E"/>
                          </a:solidFill>
                          <a:latin typeface="Calibri"/>
                        </a:rPr>
                        <a:t>11.8</a:t>
                      </a:r>
                    </a:p>
                  </a:txBody>
                  <a:tcPr marL="85725" marR="38100" marT="19050" marB="19050" anchor="ctr">
                    <a:solidFill>
                      <a:srgbClr val="E0E8EF"/>
                    </a:solidFill>
                  </a:tcPr>
                </a:tc>
                <a:tc>
                  <a:txBody>
                    <a:bodyPr wrap="none"/>
                    <a:lstStyle/>
                    <a:p>
                      <a:pPr algn="l"/>
                      <a:r>
                        <a:rPr sz="800" b="1">
                          <a:solidFill>
                            <a:srgbClr val="2E2E2E"/>
                          </a:solidFill>
                          <a:latin typeface="Calibri"/>
                        </a:rPr>
                        <a:t>12.9</a:t>
                      </a:r>
                    </a:p>
                  </a:txBody>
                  <a:tcPr marL="85725" marR="38100" marT="19050" marB="19050" anchor="ctr">
                    <a:solidFill>
                      <a:srgbClr val="E0E8EF"/>
                    </a:solidFill>
                  </a:tcPr>
                </a:tc>
                <a:tc>
                  <a:txBody>
                    <a:bodyPr wrap="none"/>
                    <a:lstStyle/>
                    <a:p>
                      <a:pPr algn="l"/>
                      <a:r>
                        <a:rPr sz="800" b="1">
                          <a:solidFill>
                            <a:srgbClr val="2E2E2E"/>
                          </a:solidFill>
                          <a:latin typeface="Calibri"/>
                        </a:rPr>
                        <a:t>14.1</a:t>
                      </a:r>
                    </a:p>
                  </a:txBody>
                  <a:tcPr marL="85725" marR="38100" marT="19050" marB="19050" anchor="ctr">
                    <a:solidFill>
                      <a:srgbClr val="E0E8EF"/>
                    </a:solidFill>
                  </a:tcPr>
                </a:tc>
                <a:tc>
                  <a:txBody>
                    <a:bodyPr wrap="none"/>
                    <a:lstStyle/>
                    <a:p>
                      <a:pPr algn="l"/>
                      <a:r>
                        <a:rPr sz="800" b="1">
                          <a:solidFill>
                            <a:srgbClr val="2E2E2E"/>
                          </a:solidFill>
                          <a:latin typeface="Calibri"/>
                        </a:rPr>
                        <a:t>13.0%</a:t>
                      </a:r>
                    </a:p>
                  </a:txBody>
                  <a:tcPr marL="85725" marR="38100" marT="19050" marB="19050" anchor="ctr">
                    <a:solidFill>
                      <a:srgbClr val="E0E8EF"/>
                    </a:solidFill>
                  </a:tcPr>
                </a:tc>
              </a:tr>
            </a:tbl>
          </a:graphicData>
        </a:graphic>
      </p:graphicFrame>
      <p:sp>
        <p:nvSpPr>
          <p:cNvPr id="14" name="TextBox 13"/>
          <p:cNvSpPr txBox="1"/>
          <p:nvPr/>
        </p:nvSpPr>
        <p:spPr>
          <a:xfrm>
            <a:off x="219075" y="38481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4124325"/>
            <a:ext cx="11906250" cy="2600325"/>
          </a:xfrm>
          <a:prstGeom prst="roundRect">
            <a:avLst>
              <a:gd name="adj" fmla="val 29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2100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Analysis, By Therapeutic Application</a:t>
            </a:r>
          </a:p>
        </p:txBody>
      </p:sp>
      <p:sp>
        <p:nvSpPr>
          <p:cNvPr id="17" name="Rectangle 16"/>
          <p:cNvSpPr/>
          <p:nvPr/>
        </p:nvSpPr>
        <p:spPr>
          <a:xfrm>
            <a:off x="276225" y="44481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533900"/>
            <a:ext cx="11639550" cy="2114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'Rheumatology' is the largest therapeutic application at 48.3% of 2036 volume (6.82 Mn Doses).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'Gastroenterology' grows fastest 14.1%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'Gastroenterology' (+283 BPS) and away from 'Dermatology' (-360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volume rises from 4.16 to 14.1 Mn Doses across 4 categories.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Value Analysis, By Therapeutic Application (US$ Mn)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3133725"/>
          </a:xfrm>
          <a:prstGeom prst="roundRect">
            <a:avLst>
              <a:gd name="adj" fmla="val 24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Therapeutic Application (US$ Mn)</a:t>
            </a:r>
          </a:p>
        </p:txBody>
      </p:sp>
      <p:graphicFrame>
        <p:nvGraphicFramePr>
          <p:cNvPr id="13" name="Table 12"/>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Therapeutic Application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Rheumatology</a:t>
                      </a:r>
                    </a:p>
                  </a:txBody>
                  <a:tcPr marL="85725" marR="38100" marT="19050" marB="19050" anchor="ctr">
                    <a:solidFill>
                      <a:srgbClr val="FFFFFF"/>
                    </a:solidFill>
                  </a:tcPr>
                </a:tc>
                <a:tc>
                  <a:txBody>
                    <a:bodyPr wrap="none"/>
                    <a:lstStyle/>
                    <a:p>
                      <a:pPr algn="l"/>
                      <a:r>
                        <a:rPr sz="800" b="0">
                          <a:solidFill>
                            <a:srgbClr val="2E2E2E"/>
                          </a:solidFill>
                          <a:latin typeface="Calibri"/>
                        </a:rPr>
                        <a:t>366.6</a:t>
                      </a:r>
                    </a:p>
                  </a:txBody>
                  <a:tcPr marL="85725" marR="38100" marT="19050" marB="19050" anchor="ctr">
                    <a:solidFill>
                      <a:srgbClr val="FFFFFF"/>
                    </a:solidFill>
                  </a:tcPr>
                </a:tc>
                <a:tc>
                  <a:txBody>
                    <a:bodyPr wrap="none"/>
                    <a:lstStyle/>
                    <a:p>
                      <a:pPr algn="l"/>
                      <a:r>
                        <a:rPr sz="800" b="0">
                          <a:solidFill>
                            <a:srgbClr val="2E2E2E"/>
                          </a:solidFill>
                          <a:latin typeface="Calibri"/>
                        </a:rPr>
                        <a:t>412.3</a:t>
                      </a:r>
                    </a:p>
                  </a:txBody>
                  <a:tcPr marL="85725" marR="38100" marT="19050" marB="19050" anchor="ctr">
                    <a:solidFill>
                      <a:srgbClr val="FFFFFF"/>
                    </a:solidFill>
                  </a:tcPr>
                </a:tc>
                <a:tc>
                  <a:txBody>
                    <a:bodyPr wrap="none"/>
                    <a:lstStyle/>
                    <a:p>
                      <a:pPr algn="l"/>
                      <a:r>
                        <a:rPr sz="800" b="0">
                          <a:solidFill>
                            <a:srgbClr val="2E2E2E"/>
                          </a:solidFill>
                          <a:latin typeface="Calibri"/>
                        </a:rPr>
                        <a:t>492.0</a:t>
                      </a:r>
                    </a:p>
                  </a:txBody>
                  <a:tcPr marL="85725" marR="38100" marT="19050" marB="19050" anchor="ctr">
                    <a:solidFill>
                      <a:srgbClr val="FFFFFF"/>
                    </a:solidFill>
                  </a:tcPr>
                </a:tc>
                <a:tc>
                  <a:txBody>
                    <a:bodyPr wrap="none"/>
                    <a:lstStyle/>
                    <a:p>
                      <a:pPr algn="l"/>
                      <a:r>
                        <a:rPr sz="800" b="0">
                          <a:solidFill>
                            <a:srgbClr val="2E2E2E"/>
                          </a:solidFill>
                          <a:latin typeface="Calibri"/>
                        </a:rPr>
                        <a:t>605.7</a:t>
                      </a:r>
                    </a:p>
                  </a:txBody>
                  <a:tcPr marL="85725" marR="38100" marT="19050" marB="19050" anchor="ctr">
                    <a:solidFill>
                      <a:srgbClr val="FFFFFF"/>
                    </a:solidFill>
                  </a:tcPr>
                </a:tc>
                <a:tc>
                  <a:txBody>
                    <a:bodyPr wrap="none"/>
                    <a:lstStyle/>
                    <a:p>
                      <a:pPr algn="l"/>
                      <a:r>
                        <a:rPr sz="800" b="0">
                          <a:solidFill>
                            <a:srgbClr val="2E2E2E"/>
                          </a:solidFill>
                          <a:latin typeface="Calibri"/>
                        </a:rPr>
                        <a:t>730.0</a:t>
                      </a:r>
                    </a:p>
                  </a:txBody>
                  <a:tcPr marL="85725" marR="38100" marT="19050" marB="19050" anchor="ctr">
                    <a:solidFill>
                      <a:srgbClr val="FFFFFF"/>
                    </a:solidFill>
                  </a:tcPr>
                </a:tc>
                <a:tc>
                  <a:txBody>
                    <a:bodyPr wrap="none"/>
                    <a:lstStyle/>
                    <a:p>
                      <a:pPr algn="l"/>
                      <a:r>
                        <a:rPr sz="800" b="0">
                          <a:solidFill>
                            <a:srgbClr val="2E2E2E"/>
                          </a:solidFill>
                          <a:latin typeface="Calibri"/>
                        </a:rPr>
                        <a:t>853.2</a:t>
                      </a:r>
                    </a:p>
                  </a:txBody>
                  <a:tcPr marL="85725" marR="38100" marT="19050" marB="19050" anchor="ctr">
                    <a:solidFill>
                      <a:srgbClr val="FFFFFF"/>
                    </a:solidFill>
                  </a:tcPr>
                </a:tc>
                <a:tc>
                  <a:txBody>
                    <a:bodyPr wrap="none"/>
                    <a:lstStyle/>
                    <a:p>
                      <a:pPr algn="l"/>
                      <a:r>
                        <a:rPr sz="800" b="0">
                          <a:solidFill>
                            <a:srgbClr val="2E2E2E"/>
                          </a:solidFill>
                          <a:latin typeface="Calibri"/>
                        </a:rPr>
                        <a:t>979.1</a:t>
                      </a:r>
                    </a:p>
                  </a:txBody>
                  <a:tcPr marL="85725" marR="38100" marT="19050" marB="19050" anchor="ctr">
                    <a:solidFill>
                      <a:srgbClr val="FFFFFF"/>
                    </a:solidFill>
                  </a:tcPr>
                </a:tc>
                <a:tc>
                  <a:txBody>
                    <a:bodyPr wrap="none"/>
                    <a:lstStyle/>
                    <a:p>
                      <a:pPr algn="l"/>
                      <a:r>
                        <a:rPr sz="800" b="0">
                          <a:solidFill>
                            <a:srgbClr val="2E2E2E"/>
                          </a:solidFill>
                          <a:latin typeface="Calibri"/>
                        </a:rPr>
                        <a:t>1,101</a:t>
                      </a:r>
                    </a:p>
                  </a:txBody>
                  <a:tcPr marL="85725" marR="38100" marT="19050" marB="19050" anchor="ctr">
                    <a:solidFill>
                      <a:srgbClr val="FFFFFF"/>
                    </a:solidFill>
                  </a:tcPr>
                </a:tc>
                <a:tc>
                  <a:txBody>
                    <a:bodyPr wrap="none"/>
                    <a:lstStyle/>
                    <a:p>
                      <a:pPr algn="l"/>
                      <a:r>
                        <a:rPr sz="800" b="0">
                          <a:solidFill>
                            <a:srgbClr val="2E2E2E"/>
                          </a:solidFill>
                          <a:latin typeface="Calibri"/>
                        </a:rPr>
                        <a:t>1,220</a:t>
                      </a:r>
                    </a:p>
                  </a:txBody>
                  <a:tcPr marL="85725" marR="38100" marT="19050" marB="19050" anchor="ctr">
                    <a:solidFill>
                      <a:srgbClr val="FFFFFF"/>
                    </a:solidFill>
                  </a:tcPr>
                </a:tc>
                <a:tc>
                  <a:txBody>
                    <a:bodyPr wrap="none"/>
                    <a:lstStyle/>
                    <a:p>
                      <a:pPr algn="l"/>
                      <a:r>
                        <a:rPr sz="800" b="0">
                          <a:solidFill>
                            <a:srgbClr val="2E2E2E"/>
                          </a:solidFill>
                          <a:latin typeface="Calibri"/>
                        </a:rPr>
                        <a:t>1,336</a:t>
                      </a:r>
                    </a:p>
                  </a:txBody>
                  <a:tcPr marL="85725" marR="38100" marT="19050" marB="19050" anchor="ctr">
                    <a:solidFill>
                      <a:srgbClr val="FFFFFF"/>
                    </a:solidFill>
                  </a:tcPr>
                </a:tc>
                <a:tc>
                  <a:txBody>
                    <a:bodyPr wrap="none"/>
                    <a:lstStyle/>
                    <a:p>
                      <a:pPr algn="l"/>
                      <a:r>
                        <a:rPr sz="800" b="0">
                          <a:solidFill>
                            <a:srgbClr val="2E2E2E"/>
                          </a:solidFill>
                          <a:latin typeface="Calibri"/>
                        </a:rPr>
                        <a:t>1,449</a:t>
                      </a:r>
                    </a:p>
                  </a:txBody>
                  <a:tcPr marL="85725" marR="38100" marT="19050" marB="19050" anchor="ctr">
                    <a:solidFill>
                      <a:srgbClr val="FFFFFF"/>
                    </a:solidFill>
                  </a:tcPr>
                </a:tc>
                <a:tc>
                  <a:txBody>
                    <a:bodyPr wrap="none"/>
                    <a:lstStyle/>
                    <a:p>
                      <a:pPr algn="l"/>
                      <a:r>
                        <a:rPr sz="800" b="0">
                          <a:solidFill>
                            <a:srgbClr val="2E2E2E"/>
                          </a:solidFill>
                          <a:latin typeface="Calibri"/>
                        </a:rPr>
                        <a:t>1,557</a:t>
                      </a:r>
                    </a:p>
                  </a:txBody>
                  <a:tcPr marL="85725" marR="38100" marT="19050" marB="19050" anchor="ctr">
                    <a:solidFill>
                      <a:srgbClr val="FFFFFF"/>
                    </a:solidFill>
                  </a:tcPr>
                </a:tc>
                <a:tc>
                  <a:txBody>
                    <a:bodyPr wrap="none"/>
                    <a:lstStyle/>
                    <a:p>
                      <a:pPr algn="l"/>
                      <a:r>
                        <a:rPr sz="800" b="0">
                          <a:solidFill>
                            <a:srgbClr val="2E2E2E"/>
                          </a:solidFill>
                          <a:latin typeface="Calibri"/>
                        </a:rPr>
                        <a:t>1,661</a:t>
                      </a:r>
                    </a:p>
                  </a:txBody>
                  <a:tcPr marL="85725" marR="38100" marT="19050" marB="19050" anchor="ctr">
                    <a:solidFill>
                      <a:srgbClr val="FFFFFF"/>
                    </a:solidFill>
                  </a:tcPr>
                </a:tc>
                <a:tc>
                  <a:txBody>
                    <a:bodyPr wrap="none"/>
                    <a:lstStyle/>
                    <a:p>
                      <a:pPr algn="l"/>
                      <a:r>
                        <a:rPr sz="800" b="0">
                          <a:solidFill>
                            <a:srgbClr val="2E2E2E"/>
                          </a:solidFill>
                          <a:latin typeface="Calibri"/>
                        </a:rPr>
                        <a:t>1,762</a:t>
                      </a:r>
                    </a:p>
                  </a:txBody>
                  <a:tcPr marL="85725" marR="38100" marT="19050" marB="19050" anchor="ctr">
                    <a:solidFill>
                      <a:srgbClr val="FFFFFF"/>
                    </a:solidFill>
                  </a:tcPr>
                </a:tc>
                <a:tc>
                  <a:txBody>
                    <a:bodyPr wrap="none"/>
                    <a:lstStyle/>
                    <a:p>
                      <a:pPr algn="l"/>
                      <a:r>
                        <a:rPr sz="800" b="0">
                          <a:solidFill>
                            <a:srgbClr val="2E2E2E"/>
                          </a:solidFill>
                          <a:latin typeface="Calibri"/>
                        </a:rPr>
                        <a:t>1,860</a:t>
                      </a:r>
                    </a:p>
                  </a:txBody>
                  <a:tcPr marL="85725" marR="38100" marT="19050" marB="19050" anchor="ctr">
                    <a:solidFill>
                      <a:srgbClr val="FFFFFF"/>
                    </a:solidFill>
                  </a:tcPr>
                </a:tc>
                <a:tc>
                  <a:txBody>
                    <a:bodyPr wrap="none"/>
                    <a:lstStyle/>
                    <a:p>
                      <a:pPr algn="l"/>
                      <a:r>
                        <a:rPr sz="800" b="0">
                          <a:solidFill>
                            <a:srgbClr val="2E2E2E"/>
                          </a:solidFill>
                          <a:latin typeface="Calibri"/>
                        </a:rPr>
                        <a:t>1,956</a:t>
                      </a:r>
                    </a:p>
                  </a:txBody>
                  <a:tcPr marL="85725" marR="38100" marT="19050" marB="19050" anchor="ctr">
                    <a:solidFill>
                      <a:srgbClr val="FFFFFF"/>
                    </a:solidFill>
                  </a:tcPr>
                </a:tc>
                <a:tc>
                  <a:txBody>
                    <a:bodyPr wrap="none"/>
                    <a:lstStyle/>
                    <a:p>
                      <a:pPr algn="l"/>
                      <a:r>
                        <a:rPr sz="800" b="0">
                          <a:solidFill>
                            <a:srgbClr val="2E2E2E"/>
                          </a:solidFill>
                          <a:latin typeface="Calibri"/>
                        </a:rPr>
                        <a:t>8.7%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Dermatology</a:t>
                      </a:r>
                    </a:p>
                  </a:txBody>
                  <a:tcPr marL="85725" marR="38100" marT="19050" marB="19050" anchor="ctr">
                    <a:solidFill>
                      <a:srgbClr val="F5F8FA"/>
                    </a:solidFill>
                  </a:tcPr>
                </a:tc>
                <a:tc>
                  <a:txBody>
                    <a:bodyPr wrap="none"/>
                    <a:lstStyle/>
                    <a:p>
                      <a:pPr algn="l"/>
                      <a:r>
                        <a:rPr sz="800" b="0">
                          <a:solidFill>
                            <a:srgbClr val="2E2E2E"/>
                          </a:solidFill>
                          <a:latin typeface="Calibri"/>
                        </a:rPr>
                        <a:t>194.0</a:t>
                      </a:r>
                    </a:p>
                  </a:txBody>
                  <a:tcPr marL="85725" marR="38100" marT="19050" marB="19050" anchor="ctr">
                    <a:solidFill>
                      <a:srgbClr val="F5F8FA"/>
                    </a:solidFill>
                  </a:tcPr>
                </a:tc>
                <a:tc>
                  <a:txBody>
                    <a:bodyPr wrap="none"/>
                    <a:lstStyle/>
                    <a:p>
                      <a:pPr algn="l"/>
                      <a:r>
                        <a:rPr sz="800" b="0">
                          <a:solidFill>
                            <a:srgbClr val="2E2E2E"/>
                          </a:solidFill>
                          <a:latin typeface="Calibri"/>
                        </a:rPr>
                        <a:t>216.7</a:t>
                      </a:r>
                    </a:p>
                  </a:txBody>
                  <a:tcPr marL="85725" marR="38100" marT="19050" marB="19050" anchor="ctr">
                    <a:solidFill>
                      <a:srgbClr val="F5F8FA"/>
                    </a:solidFill>
                  </a:tcPr>
                </a:tc>
                <a:tc>
                  <a:txBody>
                    <a:bodyPr wrap="none"/>
                    <a:lstStyle/>
                    <a:p>
                      <a:pPr algn="l"/>
                      <a:r>
                        <a:rPr sz="800" b="0">
                          <a:solidFill>
                            <a:srgbClr val="2E2E2E"/>
                          </a:solidFill>
                          <a:latin typeface="Calibri"/>
                        </a:rPr>
                        <a:t>256.8</a:t>
                      </a:r>
                    </a:p>
                  </a:txBody>
                  <a:tcPr marL="85725" marR="38100" marT="19050" marB="19050" anchor="ctr">
                    <a:solidFill>
                      <a:srgbClr val="F5F8FA"/>
                    </a:solidFill>
                  </a:tcPr>
                </a:tc>
                <a:tc>
                  <a:txBody>
                    <a:bodyPr wrap="none"/>
                    <a:lstStyle/>
                    <a:p>
                      <a:pPr algn="l"/>
                      <a:r>
                        <a:rPr sz="800" b="0">
                          <a:solidFill>
                            <a:srgbClr val="2E2E2E"/>
                          </a:solidFill>
                          <a:latin typeface="Calibri"/>
                        </a:rPr>
                        <a:t>314.0</a:t>
                      </a:r>
                    </a:p>
                  </a:txBody>
                  <a:tcPr marL="85725" marR="38100" marT="19050" marB="19050" anchor="ctr">
                    <a:solidFill>
                      <a:srgbClr val="F5F8FA"/>
                    </a:solidFill>
                  </a:tcPr>
                </a:tc>
                <a:tc>
                  <a:txBody>
                    <a:bodyPr wrap="none"/>
                    <a:lstStyle/>
                    <a:p>
                      <a:pPr algn="l"/>
                      <a:r>
                        <a:rPr sz="800" b="0">
                          <a:solidFill>
                            <a:srgbClr val="2E2E2E"/>
                          </a:solidFill>
                          <a:latin typeface="Calibri"/>
                        </a:rPr>
                        <a:t>375.7</a:t>
                      </a:r>
                    </a:p>
                  </a:txBody>
                  <a:tcPr marL="85725" marR="38100" marT="19050" marB="19050" anchor="ctr">
                    <a:solidFill>
                      <a:srgbClr val="F5F8FA"/>
                    </a:solidFill>
                  </a:tcPr>
                </a:tc>
                <a:tc>
                  <a:txBody>
                    <a:bodyPr wrap="none"/>
                    <a:lstStyle/>
                    <a:p>
                      <a:pPr algn="l"/>
                      <a:r>
                        <a:rPr sz="800" b="0">
                          <a:solidFill>
                            <a:srgbClr val="2E2E2E"/>
                          </a:solidFill>
                          <a:latin typeface="Calibri"/>
                        </a:rPr>
                        <a:t>436.0</a:t>
                      </a:r>
                    </a:p>
                  </a:txBody>
                  <a:tcPr marL="85725" marR="38100" marT="19050" marB="19050" anchor="ctr">
                    <a:solidFill>
                      <a:srgbClr val="F5F8FA"/>
                    </a:solidFill>
                  </a:tcPr>
                </a:tc>
                <a:tc>
                  <a:txBody>
                    <a:bodyPr wrap="none"/>
                    <a:lstStyle/>
                    <a:p>
                      <a:pPr algn="l"/>
                      <a:r>
                        <a:rPr sz="800" b="0">
                          <a:solidFill>
                            <a:srgbClr val="2E2E2E"/>
                          </a:solidFill>
                          <a:latin typeface="Calibri"/>
                        </a:rPr>
                        <a:t>496.6</a:t>
                      </a:r>
                    </a:p>
                  </a:txBody>
                  <a:tcPr marL="85725" marR="38100" marT="19050" marB="19050" anchor="ctr">
                    <a:solidFill>
                      <a:srgbClr val="F5F8FA"/>
                    </a:solidFill>
                  </a:tcPr>
                </a:tc>
                <a:tc>
                  <a:txBody>
                    <a:bodyPr wrap="none"/>
                    <a:lstStyle/>
                    <a:p>
                      <a:pPr algn="l"/>
                      <a:r>
                        <a:rPr sz="800" b="0">
                          <a:solidFill>
                            <a:srgbClr val="2E2E2E"/>
                          </a:solidFill>
                          <a:latin typeface="Calibri"/>
                        </a:rPr>
                        <a:t>554.1</a:t>
                      </a:r>
                    </a:p>
                  </a:txBody>
                  <a:tcPr marL="85725" marR="38100" marT="19050" marB="19050" anchor="ctr">
                    <a:solidFill>
                      <a:srgbClr val="F5F8FA"/>
                    </a:solidFill>
                  </a:tcPr>
                </a:tc>
                <a:tc>
                  <a:txBody>
                    <a:bodyPr wrap="none"/>
                    <a:lstStyle/>
                    <a:p>
                      <a:pPr algn="l"/>
                      <a:r>
                        <a:rPr sz="800" b="0">
                          <a:solidFill>
                            <a:srgbClr val="2E2E2E"/>
                          </a:solidFill>
                          <a:latin typeface="Calibri"/>
                        </a:rPr>
                        <a:t>609.4</a:t>
                      </a:r>
                    </a:p>
                  </a:txBody>
                  <a:tcPr marL="85725" marR="38100" marT="19050" marB="19050" anchor="ctr">
                    <a:solidFill>
                      <a:srgbClr val="F5F8FA"/>
                    </a:solidFill>
                  </a:tcPr>
                </a:tc>
                <a:tc>
                  <a:txBody>
                    <a:bodyPr wrap="none"/>
                    <a:lstStyle/>
                    <a:p>
                      <a:pPr algn="l"/>
                      <a:r>
                        <a:rPr sz="800" b="0">
                          <a:solidFill>
                            <a:srgbClr val="2E2E2E"/>
                          </a:solidFill>
                          <a:latin typeface="Calibri"/>
                        </a:rPr>
                        <a:t>662.1</a:t>
                      </a:r>
                    </a:p>
                  </a:txBody>
                  <a:tcPr marL="85725" marR="38100" marT="19050" marB="19050" anchor="ctr">
                    <a:solidFill>
                      <a:srgbClr val="F5F8FA"/>
                    </a:solidFill>
                  </a:tcPr>
                </a:tc>
                <a:tc>
                  <a:txBody>
                    <a:bodyPr wrap="none"/>
                    <a:lstStyle/>
                    <a:p>
                      <a:pPr algn="l"/>
                      <a:r>
                        <a:rPr sz="800" b="0">
                          <a:solidFill>
                            <a:srgbClr val="2E2E2E"/>
                          </a:solidFill>
                          <a:latin typeface="Calibri"/>
                        </a:rPr>
                        <a:t>711.9</a:t>
                      </a:r>
                    </a:p>
                  </a:txBody>
                  <a:tcPr marL="85725" marR="38100" marT="19050" marB="19050" anchor="ctr">
                    <a:solidFill>
                      <a:srgbClr val="F5F8FA"/>
                    </a:solidFill>
                  </a:tcPr>
                </a:tc>
                <a:tc>
                  <a:txBody>
                    <a:bodyPr wrap="none"/>
                    <a:lstStyle/>
                    <a:p>
                      <a:pPr algn="l"/>
                      <a:r>
                        <a:rPr sz="800" b="0">
                          <a:solidFill>
                            <a:srgbClr val="2E2E2E"/>
                          </a:solidFill>
                          <a:latin typeface="Calibri"/>
                        </a:rPr>
                        <a:t>758.9</a:t>
                      </a:r>
                    </a:p>
                  </a:txBody>
                  <a:tcPr marL="85725" marR="38100" marT="19050" marB="19050" anchor="ctr">
                    <a:solidFill>
                      <a:srgbClr val="F5F8FA"/>
                    </a:solidFill>
                  </a:tcPr>
                </a:tc>
                <a:tc>
                  <a:txBody>
                    <a:bodyPr wrap="none"/>
                    <a:lstStyle/>
                    <a:p>
                      <a:pPr algn="l"/>
                      <a:r>
                        <a:rPr sz="800" b="0">
                          <a:solidFill>
                            <a:srgbClr val="2E2E2E"/>
                          </a:solidFill>
                          <a:latin typeface="Calibri"/>
                        </a:rPr>
                        <a:t>802.8</a:t>
                      </a:r>
                    </a:p>
                  </a:txBody>
                  <a:tcPr marL="85725" marR="38100" marT="19050" marB="19050" anchor="ctr">
                    <a:solidFill>
                      <a:srgbClr val="F5F8FA"/>
                    </a:solidFill>
                  </a:tcPr>
                </a:tc>
                <a:tc>
                  <a:txBody>
                    <a:bodyPr wrap="none"/>
                    <a:lstStyle/>
                    <a:p>
                      <a:pPr algn="l"/>
                      <a:r>
                        <a:rPr sz="800" b="0">
                          <a:solidFill>
                            <a:srgbClr val="2E2E2E"/>
                          </a:solidFill>
                          <a:latin typeface="Calibri"/>
                        </a:rPr>
                        <a:t>844.3</a:t>
                      </a:r>
                    </a:p>
                  </a:txBody>
                  <a:tcPr marL="85725" marR="38100" marT="19050" marB="19050" anchor="ctr">
                    <a:solidFill>
                      <a:srgbClr val="F5F8FA"/>
                    </a:solidFill>
                  </a:tcPr>
                </a:tc>
                <a:tc>
                  <a:txBody>
                    <a:bodyPr wrap="none"/>
                    <a:lstStyle/>
                    <a:p>
                      <a:pPr algn="l"/>
                      <a:r>
                        <a:rPr sz="800" b="0">
                          <a:solidFill>
                            <a:srgbClr val="2E2E2E"/>
                          </a:solidFill>
                          <a:latin typeface="Calibri"/>
                        </a:rPr>
                        <a:t>883.5</a:t>
                      </a:r>
                    </a:p>
                  </a:txBody>
                  <a:tcPr marL="85725" marR="38100" marT="19050" marB="19050" anchor="ctr">
                    <a:solidFill>
                      <a:srgbClr val="F5F8FA"/>
                    </a:solidFill>
                  </a:tcPr>
                </a:tc>
                <a:tc>
                  <a:txBody>
                    <a:bodyPr wrap="none"/>
                    <a:lstStyle/>
                    <a:p>
                      <a:pPr algn="l"/>
                      <a:r>
                        <a:rPr sz="800" b="0">
                          <a:solidFill>
                            <a:srgbClr val="2E2E2E"/>
                          </a:solidFill>
                          <a:latin typeface="Calibri"/>
                        </a:rPr>
                        <a:t>920.8</a:t>
                      </a:r>
                    </a:p>
                  </a:txBody>
                  <a:tcPr marL="85725" marR="38100" marT="19050" marB="19050" anchor="ctr">
                    <a:solidFill>
                      <a:srgbClr val="F5F8FA"/>
                    </a:solidFill>
                  </a:tcPr>
                </a:tc>
                <a:tc>
                  <a:txBody>
                    <a:bodyPr wrap="none"/>
                    <a:lstStyle/>
                    <a:p>
                      <a:pPr algn="l"/>
                      <a:r>
                        <a:rPr sz="800" b="0">
                          <a:solidFill>
                            <a:srgbClr val="2E2E2E"/>
                          </a:solidFill>
                          <a:latin typeface="Calibri"/>
                        </a:rPr>
                        <a:t>7.8%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Gastroenterology</a:t>
                      </a:r>
                    </a:p>
                  </a:txBody>
                  <a:tcPr marL="85725" marR="38100" marT="19050" marB="19050" anchor="ctr">
                    <a:solidFill>
                      <a:srgbClr val="FFFFFF"/>
                    </a:solidFill>
                  </a:tcPr>
                </a:tc>
                <a:tc>
                  <a:txBody>
                    <a:bodyPr wrap="none"/>
                    <a:lstStyle/>
                    <a:p>
                      <a:pPr algn="l"/>
                      <a:r>
                        <a:rPr sz="800" b="0">
                          <a:solidFill>
                            <a:srgbClr val="2E2E2E"/>
                          </a:solidFill>
                          <a:latin typeface="Calibri"/>
                        </a:rPr>
                        <a:t>177.8</a:t>
                      </a:r>
                    </a:p>
                  </a:txBody>
                  <a:tcPr marL="85725" marR="38100" marT="19050" marB="19050" anchor="ctr">
                    <a:solidFill>
                      <a:srgbClr val="FFFFFF"/>
                    </a:solidFill>
                  </a:tcPr>
                </a:tc>
                <a:tc>
                  <a:txBody>
                    <a:bodyPr wrap="none"/>
                    <a:lstStyle/>
                    <a:p>
                      <a:pPr algn="l"/>
                      <a:r>
                        <a:rPr sz="800" b="0">
                          <a:solidFill>
                            <a:srgbClr val="2E2E2E"/>
                          </a:solidFill>
                          <a:latin typeface="Calibri"/>
                        </a:rPr>
                        <a:t>202.1</a:t>
                      </a:r>
                    </a:p>
                  </a:txBody>
                  <a:tcPr marL="85725" marR="38100" marT="19050" marB="19050" anchor="ctr">
                    <a:solidFill>
                      <a:srgbClr val="FFFFFF"/>
                    </a:solidFill>
                  </a:tcPr>
                </a:tc>
                <a:tc>
                  <a:txBody>
                    <a:bodyPr wrap="none"/>
                    <a:lstStyle/>
                    <a:p>
                      <a:pPr algn="l"/>
                      <a:r>
                        <a:rPr sz="800" b="0">
                          <a:solidFill>
                            <a:srgbClr val="2E2E2E"/>
                          </a:solidFill>
                          <a:latin typeface="Calibri"/>
                        </a:rPr>
                        <a:t>243.6</a:t>
                      </a:r>
                    </a:p>
                  </a:txBody>
                  <a:tcPr marL="85725" marR="38100" marT="19050" marB="19050" anchor="ctr">
                    <a:solidFill>
                      <a:srgbClr val="FFFFFF"/>
                    </a:solidFill>
                  </a:tcPr>
                </a:tc>
                <a:tc>
                  <a:txBody>
                    <a:bodyPr wrap="none"/>
                    <a:lstStyle/>
                    <a:p>
                      <a:pPr algn="l"/>
                      <a:r>
                        <a:rPr sz="800" b="0">
                          <a:solidFill>
                            <a:srgbClr val="2E2E2E"/>
                          </a:solidFill>
                          <a:latin typeface="Calibri"/>
                        </a:rPr>
                        <a:t>303.0</a:t>
                      </a:r>
                    </a:p>
                  </a:txBody>
                  <a:tcPr marL="85725" marR="38100" marT="19050" marB="19050" anchor="ctr">
                    <a:solidFill>
                      <a:srgbClr val="FFFFFF"/>
                    </a:solidFill>
                  </a:tcPr>
                </a:tc>
                <a:tc>
                  <a:txBody>
                    <a:bodyPr wrap="none"/>
                    <a:lstStyle/>
                    <a:p>
                      <a:pPr algn="l"/>
                      <a:r>
                        <a:rPr sz="800" b="0">
                          <a:solidFill>
                            <a:srgbClr val="2E2E2E"/>
                          </a:solidFill>
                          <a:latin typeface="Calibri"/>
                        </a:rPr>
                        <a:t>368.8</a:t>
                      </a:r>
                    </a:p>
                  </a:txBody>
                  <a:tcPr marL="85725" marR="38100" marT="19050" marB="19050" anchor="ctr">
                    <a:solidFill>
                      <a:srgbClr val="FFFFFF"/>
                    </a:solidFill>
                  </a:tcPr>
                </a:tc>
                <a:tc>
                  <a:txBody>
                    <a:bodyPr wrap="none"/>
                    <a:lstStyle/>
                    <a:p>
                      <a:pPr algn="l"/>
                      <a:r>
                        <a:rPr sz="800" b="0">
                          <a:solidFill>
                            <a:srgbClr val="2E2E2E"/>
                          </a:solidFill>
                          <a:latin typeface="Calibri"/>
                        </a:rPr>
                        <a:t>435.3</a:t>
                      </a:r>
                    </a:p>
                  </a:txBody>
                  <a:tcPr marL="85725" marR="38100" marT="19050" marB="19050" anchor="ctr">
                    <a:solidFill>
                      <a:srgbClr val="FFFFFF"/>
                    </a:solidFill>
                  </a:tcPr>
                </a:tc>
                <a:tc>
                  <a:txBody>
                    <a:bodyPr wrap="none"/>
                    <a:lstStyle/>
                    <a:p>
                      <a:pPr algn="l"/>
                      <a:r>
                        <a:rPr sz="800" b="0">
                          <a:solidFill>
                            <a:srgbClr val="2E2E2E"/>
                          </a:solidFill>
                          <a:latin typeface="Calibri"/>
                        </a:rPr>
                        <a:t>504.6</a:t>
                      </a:r>
                    </a:p>
                  </a:txBody>
                  <a:tcPr marL="85725" marR="38100" marT="19050" marB="19050" anchor="ctr">
                    <a:solidFill>
                      <a:srgbClr val="FFFFFF"/>
                    </a:solidFill>
                  </a:tcPr>
                </a:tc>
                <a:tc>
                  <a:txBody>
                    <a:bodyPr wrap="none"/>
                    <a:lstStyle/>
                    <a:p>
                      <a:pPr algn="l"/>
                      <a:r>
                        <a:rPr sz="800" b="0">
                          <a:solidFill>
                            <a:srgbClr val="2E2E2E"/>
                          </a:solidFill>
                          <a:latin typeface="Calibri"/>
                        </a:rPr>
                        <a:t>573.0</a:t>
                      </a:r>
                    </a:p>
                  </a:txBody>
                  <a:tcPr marL="85725" marR="38100" marT="19050" marB="19050" anchor="ctr">
                    <a:solidFill>
                      <a:srgbClr val="FFFFFF"/>
                    </a:solidFill>
                  </a:tcPr>
                </a:tc>
                <a:tc>
                  <a:txBody>
                    <a:bodyPr wrap="none"/>
                    <a:lstStyle/>
                    <a:p>
                      <a:pPr algn="l"/>
                      <a:r>
                        <a:rPr sz="800" b="0">
                          <a:solidFill>
                            <a:srgbClr val="2E2E2E"/>
                          </a:solidFill>
                          <a:latin typeface="Calibri"/>
                        </a:rPr>
                        <a:t>641.3</a:t>
                      </a:r>
                    </a:p>
                  </a:txBody>
                  <a:tcPr marL="85725" marR="38100" marT="19050" marB="19050" anchor="ctr">
                    <a:solidFill>
                      <a:srgbClr val="FFFFFF"/>
                    </a:solidFill>
                  </a:tcPr>
                </a:tc>
                <a:tc>
                  <a:txBody>
                    <a:bodyPr wrap="none"/>
                    <a:lstStyle/>
                    <a:p>
                      <a:pPr algn="l"/>
                      <a:r>
                        <a:rPr sz="800" b="0">
                          <a:solidFill>
                            <a:srgbClr val="2E2E2E"/>
                          </a:solidFill>
                          <a:latin typeface="Calibri"/>
                        </a:rPr>
                        <a:t>709.1</a:t>
                      </a:r>
                    </a:p>
                  </a:txBody>
                  <a:tcPr marL="85725" marR="38100" marT="19050" marB="19050" anchor="ctr">
                    <a:solidFill>
                      <a:srgbClr val="FFFFFF"/>
                    </a:solidFill>
                  </a:tcPr>
                </a:tc>
                <a:tc>
                  <a:txBody>
                    <a:bodyPr wrap="none"/>
                    <a:lstStyle/>
                    <a:p>
                      <a:pPr algn="l"/>
                      <a:r>
                        <a:rPr sz="800" b="0">
                          <a:solidFill>
                            <a:srgbClr val="2E2E2E"/>
                          </a:solidFill>
                          <a:latin typeface="Calibri"/>
                        </a:rPr>
                        <a:t>776.1</a:t>
                      </a:r>
                    </a:p>
                  </a:txBody>
                  <a:tcPr marL="85725" marR="38100" marT="19050" marB="19050" anchor="ctr">
                    <a:solidFill>
                      <a:srgbClr val="FFFFFF"/>
                    </a:solidFill>
                  </a:tcPr>
                </a:tc>
                <a:tc>
                  <a:txBody>
                    <a:bodyPr wrap="none"/>
                    <a:lstStyle/>
                    <a:p>
                      <a:pPr algn="l"/>
                      <a:r>
                        <a:rPr sz="800" b="0">
                          <a:solidFill>
                            <a:srgbClr val="2E2E2E"/>
                          </a:solidFill>
                          <a:latin typeface="Calibri"/>
                        </a:rPr>
                        <a:t>842.3</a:t>
                      </a:r>
                    </a:p>
                  </a:txBody>
                  <a:tcPr marL="85725" marR="38100" marT="19050" marB="19050" anchor="ctr">
                    <a:solidFill>
                      <a:srgbClr val="FFFFFF"/>
                    </a:solidFill>
                  </a:tcPr>
                </a:tc>
                <a:tc>
                  <a:txBody>
                    <a:bodyPr wrap="none"/>
                    <a:lstStyle/>
                    <a:p>
                      <a:pPr algn="l"/>
                      <a:r>
                        <a:rPr sz="800" b="0">
                          <a:solidFill>
                            <a:srgbClr val="2E2E2E"/>
                          </a:solidFill>
                          <a:latin typeface="Calibri"/>
                        </a:rPr>
                        <a:t>907.2</a:t>
                      </a:r>
                    </a:p>
                  </a:txBody>
                  <a:tcPr marL="85725" marR="38100" marT="19050" marB="19050" anchor="ctr">
                    <a:solidFill>
                      <a:srgbClr val="FFFFFF"/>
                    </a:solidFill>
                  </a:tcPr>
                </a:tc>
                <a:tc>
                  <a:txBody>
                    <a:bodyPr wrap="none"/>
                    <a:lstStyle/>
                    <a:p>
                      <a:pPr algn="l"/>
                      <a:r>
                        <a:rPr sz="800" b="0">
                          <a:solidFill>
                            <a:srgbClr val="2E2E2E"/>
                          </a:solidFill>
                          <a:latin typeface="Calibri"/>
                        </a:rPr>
                        <a:t>971.4</a:t>
                      </a:r>
                    </a:p>
                  </a:txBody>
                  <a:tcPr marL="85725" marR="38100" marT="19050" marB="19050" anchor="ctr">
                    <a:solidFill>
                      <a:srgbClr val="FFFFFF"/>
                    </a:solidFill>
                  </a:tcPr>
                </a:tc>
                <a:tc>
                  <a:txBody>
                    <a:bodyPr wrap="none"/>
                    <a:lstStyle/>
                    <a:p>
                      <a:pPr algn="l"/>
                      <a:r>
                        <a:rPr sz="800" b="0">
                          <a:solidFill>
                            <a:srgbClr val="2E2E2E"/>
                          </a:solidFill>
                          <a:latin typeface="Calibri"/>
                        </a:rPr>
                        <a:t>1,035</a:t>
                      </a:r>
                    </a:p>
                  </a:txBody>
                  <a:tcPr marL="85725" marR="38100" marT="19050" marB="19050" anchor="ctr">
                    <a:solidFill>
                      <a:srgbClr val="FFFFFF"/>
                    </a:solidFill>
                  </a:tcPr>
                </a:tc>
                <a:tc>
                  <a:txBody>
                    <a:bodyPr wrap="none"/>
                    <a:lstStyle/>
                    <a:p>
                      <a:pPr algn="l"/>
                      <a:r>
                        <a:rPr sz="800" b="0">
                          <a:solidFill>
                            <a:srgbClr val="2E2E2E"/>
                          </a:solidFill>
                          <a:latin typeface="Calibri"/>
                        </a:rPr>
                        <a:t>1,099</a:t>
                      </a:r>
                    </a:p>
                  </a:txBody>
                  <a:tcPr marL="85725" marR="38100" marT="19050" marB="19050" anchor="ctr">
                    <a:solidFill>
                      <a:srgbClr val="FFFFFF"/>
                    </a:solidFill>
                  </a:tcPr>
                </a:tc>
                <a:tc>
                  <a:txBody>
                    <a:bodyPr wrap="none"/>
                    <a:lstStyle/>
                    <a:p>
                      <a:pPr algn="l"/>
                      <a:r>
                        <a:rPr sz="800" b="0">
                          <a:solidFill>
                            <a:srgbClr val="2E2E2E"/>
                          </a:solidFill>
                          <a:latin typeface="Calibri"/>
                        </a:rPr>
                        <a:t>9.7%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Ophthalmology</a:t>
                      </a:r>
                    </a:p>
                  </a:txBody>
                  <a:tcPr marL="85725" marR="38100" marT="19050" marB="19050" anchor="ctr">
                    <a:solidFill>
                      <a:srgbClr val="F5F8FA"/>
                    </a:solidFill>
                  </a:tcPr>
                </a:tc>
                <a:tc>
                  <a:txBody>
                    <a:bodyPr wrap="none"/>
                    <a:lstStyle/>
                    <a:p>
                      <a:pPr algn="l"/>
                      <a:r>
                        <a:rPr sz="800" b="0">
                          <a:solidFill>
                            <a:srgbClr val="2E2E2E"/>
                          </a:solidFill>
                          <a:latin typeface="Calibri"/>
                        </a:rPr>
                        <a:t>114.2</a:t>
                      </a:r>
                    </a:p>
                  </a:txBody>
                  <a:tcPr marL="85725" marR="38100" marT="19050" marB="19050" anchor="ctr">
                    <a:solidFill>
                      <a:srgbClr val="F5F8FA"/>
                    </a:solidFill>
                  </a:tcPr>
                </a:tc>
                <a:tc>
                  <a:txBody>
                    <a:bodyPr wrap="none"/>
                    <a:lstStyle/>
                    <a:p>
                      <a:pPr algn="l"/>
                      <a:r>
                        <a:rPr sz="800" b="0">
                          <a:solidFill>
                            <a:srgbClr val="2E2E2E"/>
                          </a:solidFill>
                          <a:latin typeface="Calibri"/>
                        </a:rPr>
                        <a:t>126.9</a:t>
                      </a:r>
                    </a:p>
                  </a:txBody>
                  <a:tcPr marL="85725" marR="38100" marT="19050" marB="19050" anchor="ctr">
                    <a:solidFill>
                      <a:srgbClr val="F5F8FA"/>
                    </a:solidFill>
                  </a:tcPr>
                </a:tc>
                <a:tc>
                  <a:txBody>
                    <a:bodyPr wrap="none"/>
                    <a:lstStyle/>
                    <a:p>
                      <a:pPr algn="l"/>
                      <a:r>
                        <a:rPr sz="800" b="0">
                          <a:solidFill>
                            <a:srgbClr val="2E2E2E"/>
                          </a:solidFill>
                          <a:latin typeface="Calibri"/>
                        </a:rPr>
                        <a:t>149.6</a:t>
                      </a:r>
                    </a:p>
                  </a:txBody>
                  <a:tcPr marL="85725" marR="38100" marT="19050" marB="19050" anchor="ctr">
                    <a:solidFill>
                      <a:srgbClr val="F5F8FA"/>
                    </a:solidFill>
                  </a:tcPr>
                </a:tc>
                <a:tc>
                  <a:txBody>
                    <a:bodyPr wrap="none"/>
                    <a:lstStyle/>
                    <a:p>
                      <a:pPr algn="l"/>
                      <a:r>
                        <a:rPr sz="800" b="0">
                          <a:solidFill>
                            <a:srgbClr val="2E2E2E"/>
                          </a:solidFill>
                          <a:latin typeface="Calibri"/>
                        </a:rPr>
                        <a:t>181.9</a:t>
                      </a:r>
                    </a:p>
                  </a:txBody>
                  <a:tcPr marL="85725" marR="38100" marT="19050" marB="19050" anchor="ctr">
                    <a:solidFill>
                      <a:srgbClr val="F5F8FA"/>
                    </a:solidFill>
                  </a:tcPr>
                </a:tc>
                <a:tc>
                  <a:txBody>
                    <a:bodyPr wrap="none"/>
                    <a:lstStyle/>
                    <a:p>
                      <a:pPr algn="l"/>
                      <a:r>
                        <a:rPr sz="800" b="0">
                          <a:solidFill>
                            <a:srgbClr val="2E2E2E"/>
                          </a:solidFill>
                          <a:latin typeface="Calibri"/>
                        </a:rPr>
                        <a:t>216.5</a:t>
                      </a:r>
                    </a:p>
                  </a:txBody>
                  <a:tcPr marL="85725" marR="38100" marT="19050" marB="19050" anchor="ctr">
                    <a:solidFill>
                      <a:srgbClr val="F5F8FA"/>
                    </a:solidFill>
                  </a:tcPr>
                </a:tc>
                <a:tc>
                  <a:txBody>
                    <a:bodyPr wrap="none"/>
                    <a:lstStyle/>
                    <a:p>
                      <a:pPr algn="l"/>
                      <a:r>
                        <a:rPr sz="800" b="0">
                          <a:solidFill>
                            <a:srgbClr val="2E2E2E"/>
                          </a:solidFill>
                          <a:latin typeface="Calibri"/>
                        </a:rPr>
                        <a:t>249.8</a:t>
                      </a:r>
                    </a:p>
                  </a:txBody>
                  <a:tcPr marL="85725" marR="38100" marT="19050" marB="19050" anchor="ctr">
                    <a:solidFill>
                      <a:srgbClr val="F5F8FA"/>
                    </a:solidFill>
                  </a:tcPr>
                </a:tc>
                <a:tc>
                  <a:txBody>
                    <a:bodyPr wrap="none"/>
                    <a:lstStyle/>
                    <a:p>
                      <a:pPr algn="l"/>
                      <a:r>
                        <a:rPr sz="800" b="0">
                          <a:solidFill>
                            <a:srgbClr val="2E2E2E"/>
                          </a:solidFill>
                          <a:latin typeface="Calibri"/>
                        </a:rPr>
                        <a:t>283.0</a:t>
                      </a:r>
                    </a:p>
                  </a:txBody>
                  <a:tcPr marL="85725" marR="38100" marT="19050" marB="19050" anchor="ctr">
                    <a:solidFill>
                      <a:srgbClr val="F5F8FA"/>
                    </a:solidFill>
                  </a:tcPr>
                </a:tc>
                <a:tc>
                  <a:txBody>
                    <a:bodyPr wrap="none"/>
                    <a:lstStyle/>
                    <a:p>
                      <a:pPr algn="l"/>
                      <a:r>
                        <a:rPr sz="800" b="0">
                          <a:solidFill>
                            <a:srgbClr val="2E2E2E"/>
                          </a:solidFill>
                          <a:latin typeface="Calibri"/>
                        </a:rPr>
                        <a:t>314.1</a:t>
                      </a:r>
                    </a:p>
                  </a:txBody>
                  <a:tcPr marL="85725" marR="38100" marT="19050" marB="19050" anchor="ctr">
                    <a:solidFill>
                      <a:srgbClr val="F5F8FA"/>
                    </a:solidFill>
                  </a:tcPr>
                </a:tc>
                <a:tc>
                  <a:txBody>
                    <a:bodyPr wrap="none"/>
                    <a:lstStyle/>
                    <a:p>
                      <a:pPr algn="l"/>
                      <a:r>
                        <a:rPr sz="800" b="0">
                          <a:solidFill>
                            <a:srgbClr val="2E2E2E"/>
                          </a:solidFill>
                          <a:latin typeface="Calibri"/>
                        </a:rPr>
                        <a:t>343.5</a:t>
                      </a:r>
                    </a:p>
                  </a:txBody>
                  <a:tcPr marL="85725" marR="38100" marT="19050" marB="19050" anchor="ctr">
                    <a:solidFill>
                      <a:srgbClr val="F5F8FA"/>
                    </a:solidFill>
                  </a:tcPr>
                </a:tc>
                <a:tc>
                  <a:txBody>
                    <a:bodyPr wrap="none"/>
                    <a:lstStyle/>
                    <a:p>
                      <a:pPr algn="l"/>
                      <a:r>
                        <a:rPr sz="800" b="0">
                          <a:solidFill>
                            <a:srgbClr val="2E2E2E"/>
                          </a:solidFill>
                          <a:latin typeface="Calibri"/>
                        </a:rPr>
                        <a:t>371.2</a:t>
                      </a:r>
                    </a:p>
                  </a:txBody>
                  <a:tcPr marL="85725" marR="38100" marT="19050" marB="19050" anchor="ctr">
                    <a:solidFill>
                      <a:srgbClr val="F5F8FA"/>
                    </a:solidFill>
                  </a:tcPr>
                </a:tc>
                <a:tc>
                  <a:txBody>
                    <a:bodyPr wrap="none"/>
                    <a:lstStyle/>
                    <a:p>
                      <a:pPr algn="l"/>
                      <a:r>
                        <a:rPr sz="800" b="0">
                          <a:solidFill>
                            <a:srgbClr val="2E2E2E"/>
                          </a:solidFill>
                          <a:latin typeface="Calibri"/>
                        </a:rPr>
                        <a:t>396.9</a:t>
                      </a:r>
                    </a:p>
                  </a:txBody>
                  <a:tcPr marL="85725" marR="38100" marT="19050" marB="19050" anchor="ctr">
                    <a:solidFill>
                      <a:srgbClr val="F5F8FA"/>
                    </a:solidFill>
                  </a:tcPr>
                </a:tc>
                <a:tc>
                  <a:txBody>
                    <a:bodyPr wrap="none"/>
                    <a:lstStyle/>
                    <a:p>
                      <a:pPr algn="l"/>
                      <a:r>
                        <a:rPr sz="800" b="0">
                          <a:solidFill>
                            <a:srgbClr val="2E2E2E"/>
                          </a:solidFill>
                          <a:latin typeface="Calibri"/>
                        </a:rPr>
                        <a:t>420.8</a:t>
                      </a:r>
                    </a:p>
                  </a:txBody>
                  <a:tcPr marL="85725" marR="38100" marT="19050" marB="19050" anchor="ctr">
                    <a:solidFill>
                      <a:srgbClr val="F5F8FA"/>
                    </a:solidFill>
                  </a:tcPr>
                </a:tc>
                <a:tc>
                  <a:txBody>
                    <a:bodyPr wrap="none"/>
                    <a:lstStyle/>
                    <a:p>
                      <a:pPr algn="l"/>
                      <a:r>
                        <a:rPr sz="800" b="0">
                          <a:solidFill>
                            <a:srgbClr val="2E2E2E"/>
                          </a:solidFill>
                          <a:latin typeface="Calibri"/>
                        </a:rPr>
                        <a:t>442.7</a:t>
                      </a:r>
                    </a:p>
                  </a:txBody>
                  <a:tcPr marL="85725" marR="38100" marT="19050" marB="19050" anchor="ctr">
                    <a:solidFill>
                      <a:srgbClr val="F5F8FA"/>
                    </a:solidFill>
                  </a:tcPr>
                </a:tc>
                <a:tc>
                  <a:txBody>
                    <a:bodyPr wrap="none"/>
                    <a:lstStyle/>
                    <a:p>
                      <a:pPr algn="l"/>
                      <a:r>
                        <a:rPr sz="800" b="0">
                          <a:solidFill>
                            <a:srgbClr val="2E2E2E"/>
                          </a:solidFill>
                          <a:latin typeface="Calibri"/>
                        </a:rPr>
                        <a:t>463.0</a:t>
                      </a:r>
                    </a:p>
                  </a:txBody>
                  <a:tcPr marL="85725" marR="38100" marT="19050" marB="19050" anchor="ctr">
                    <a:solidFill>
                      <a:srgbClr val="F5F8FA"/>
                    </a:solidFill>
                  </a:tcPr>
                </a:tc>
                <a:tc>
                  <a:txBody>
                    <a:bodyPr wrap="none"/>
                    <a:lstStyle/>
                    <a:p>
                      <a:pPr algn="l"/>
                      <a:r>
                        <a:rPr sz="800" b="0">
                          <a:solidFill>
                            <a:srgbClr val="2E2E2E"/>
                          </a:solidFill>
                          <a:latin typeface="Calibri"/>
                        </a:rPr>
                        <a:t>481.8</a:t>
                      </a:r>
                    </a:p>
                  </a:txBody>
                  <a:tcPr marL="85725" marR="38100" marT="19050" marB="19050" anchor="ctr">
                    <a:solidFill>
                      <a:srgbClr val="F5F8FA"/>
                    </a:solidFill>
                  </a:tcPr>
                </a:tc>
                <a:tc>
                  <a:txBody>
                    <a:bodyPr wrap="none"/>
                    <a:lstStyle/>
                    <a:p>
                      <a:pPr algn="l"/>
                      <a:r>
                        <a:rPr sz="800" b="0">
                          <a:solidFill>
                            <a:srgbClr val="2E2E2E"/>
                          </a:solidFill>
                          <a:latin typeface="Calibri"/>
                        </a:rPr>
                        <a:t>499.4</a:t>
                      </a:r>
                    </a:p>
                  </a:txBody>
                  <a:tcPr marL="85725" marR="38100" marT="19050" marB="19050" anchor="ctr">
                    <a:solidFill>
                      <a:srgbClr val="F5F8FA"/>
                    </a:solidFill>
                  </a:tcPr>
                </a:tc>
                <a:tc>
                  <a:txBody>
                    <a:bodyPr wrap="none"/>
                    <a:lstStyle/>
                    <a:p>
                      <a:pPr algn="l"/>
                      <a:r>
                        <a:rPr sz="800" b="0">
                          <a:solidFill>
                            <a:srgbClr val="2E2E2E"/>
                          </a:solidFill>
                          <a:latin typeface="Calibri"/>
                        </a:rPr>
                        <a:t>7.2%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852.6</a:t>
                      </a:r>
                    </a:p>
                  </a:txBody>
                  <a:tcPr marL="85725" marR="38100" marT="19050" marB="19050" anchor="ctr">
                    <a:solidFill>
                      <a:srgbClr val="E0E8EF"/>
                    </a:solidFill>
                  </a:tcPr>
                </a:tc>
                <a:tc>
                  <a:txBody>
                    <a:bodyPr wrap="none"/>
                    <a:lstStyle/>
                    <a:p>
                      <a:pPr algn="l"/>
                      <a:r>
                        <a:rPr sz="800" b="1">
                          <a:solidFill>
                            <a:srgbClr val="2E2E2E"/>
                          </a:solidFill>
                          <a:latin typeface="Calibri"/>
                        </a:rPr>
                        <a:t>958.1</a:t>
                      </a:r>
                    </a:p>
                  </a:txBody>
                  <a:tcPr marL="85725" marR="38100" marT="19050" marB="19050" anchor="ctr">
                    <a:solidFill>
                      <a:srgbClr val="E0E8EF"/>
                    </a:solidFill>
                  </a:tcPr>
                </a:tc>
                <a:tc>
                  <a:txBody>
                    <a:bodyPr wrap="none"/>
                    <a:lstStyle/>
                    <a:p>
                      <a:pPr algn="l"/>
                      <a:r>
                        <a:rPr sz="800" b="1">
                          <a:solidFill>
                            <a:srgbClr val="2E2E2E"/>
                          </a:solidFill>
                          <a:latin typeface="Calibri"/>
                        </a:rPr>
                        <a:t>1,142</a:t>
                      </a:r>
                    </a:p>
                  </a:txBody>
                  <a:tcPr marL="85725" marR="38100" marT="19050" marB="19050" anchor="ctr">
                    <a:solidFill>
                      <a:srgbClr val="E0E8EF"/>
                    </a:solidFill>
                  </a:tcPr>
                </a:tc>
                <a:tc>
                  <a:txBody>
                    <a:bodyPr wrap="none"/>
                    <a:lstStyle/>
                    <a:p>
                      <a:pPr algn="l"/>
                      <a:r>
                        <a:rPr sz="800" b="1">
                          <a:solidFill>
                            <a:srgbClr val="2E2E2E"/>
                          </a:solidFill>
                          <a:latin typeface="Calibri"/>
                        </a:rPr>
                        <a:t>1,405</a:t>
                      </a:r>
                    </a:p>
                  </a:txBody>
                  <a:tcPr marL="85725" marR="38100" marT="19050" marB="19050" anchor="ctr">
                    <a:solidFill>
                      <a:srgbClr val="E0E8EF"/>
                    </a:solidFill>
                  </a:tcPr>
                </a:tc>
                <a:tc>
                  <a:txBody>
                    <a:bodyPr wrap="none"/>
                    <a:lstStyle/>
                    <a:p>
                      <a:pPr algn="l"/>
                      <a:r>
                        <a:rPr sz="800" b="1">
                          <a:solidFill>
                            <a:srgbClr val="2E2E2E"/>
                          </a:solidFill>
                          <a:latin typeface="Calibri"/>
                        </a:rPr>
                        <a:t>1,691</a:t>
                      </a:r>
                    </a:p>
                  </a:txBody>
                  <a:tcPr marL="85725" marR="38100" marT="19050" marB="19050" anchor="ctr">
                    <a:solidFill>
                      <a:srgbClr val="E0E8EF"/>
                    </a:solidFill>
                  </a:tcPr>
                </a:tc>
                <a:tc>
                  <a:txBody>
                    <a:bodyPr wrap="none"/>
                    <a:lstStyle/>
                    <a:p>
                      <a:pPr algn="l"/>
                      <a:r>
                        <a:rPr sz="800" b="1">
                          <a:solidFill>
                            <a:srgbClr val="2E2E2E"/>
                          </a:solidFill>
                          <a:latin typeface="Calibri"/>
                        </a:rPr>
                        <a:t>1,974</a:t>
                      </a:r>
                    </a:p>
                  </a:txBody>
                  <a:tcPr marL="85725" marR="38100" marT="19050" marB="19050" anchor="ctr">
                    <a:solidFill>
                      <a:srgbClr val="E0E8EF"/>
                    </a:solidFill>
                  </a:tcPr>
                </a:tc>
                <a:tc>
                  <a:txBody>
                    <a:bodyPr wrap="none"/>
                    <a:lstStyle/>
                    <a:p>
                      <a:pPr algn="l"/>
                      <a:r>
                        <a:rPr sz="800" b="1">
                          <a:solidFill>
                            <a:srgbClr val="2E2E2E"/>
                          </a:solidFill>
                          <a:latin typeface="Calibri"/>
                        </a:rPr>
                        <a:t>2,263</a:t>
                      </a:r>
                    </a:p>
                  </a:txBody>
                  <a:tcPr marL="85725" marR="38100" marT="19050" marB="19050" anchor="ctr">
                    <a:solidFill>
                      <a:srgbClr val="E0E8EF"/>
                    </a:solidFill>
                  </a:tcPr>
                </a:tc>
                <a:tc>
                  <a:txBody>
                    <a:bodyPr wrap="none"/>
                    <a:lstStyle/>
                    <a:p>
                      <a:pPr algn="l"/>
                      <a:r>
                        <a:rPr sz="800" b="1">
                          <a:solidFill>
                            <a:srgbClr val="2E2E2E"/>
                          </a:solidFill>
                          <a:latin typeface="Calibri"/>
                        </a:rPr>
                        <a:t>2,542</a:t>
                      </a:r>
                    </a:p>
                  </a:txBody>
                  <a:tcPr marL="85725" marR="38100" marT="19050" marB="19050" anchor="ctr">
                    <a:solidFill>
                      <a:srgbClr val="E0E8EF"/>
                    </a:solidFill>
                  </a:tcPr>
                </a:tc>
                <a:tc>
                  <a:txBody>
                    <a:bodyPr wrap="none"/>
                    <a:lstStyle/>
                    <a:p>
                      <a:pPr algn="l"/>
                      <a:r>
                        <a:rPr sz="800" b="1">
                          <a:solidFill>
                            <a:srgbClr val="2E2E2E"/>
                          </a:solidFill>
                          <a:latin typeface="Calibri"/>
                        </a:rPr>
                        <a:t>2,814</a:t>
                      </a:r>
                    </a:p>
                  </a:txBody>
                  <a:tcPr marL="85725" marR="38100" marT="19050" marB="19050" anchor="ctr">
                    <a:solidFill>
                      <a:srgbClr val="E0E8EF"/>
                    </a:solidFill>
                  </a:tcPr>
                </a:tc>
                <a:tc>
                  <a:txBody>
                    <a:bodyPr wrap="none"/>
                    <a:lstStyle/>
                    <a:p>
                      <a:pPr algn="l"/>
                      <a:r>
                        <a:rPr sz="800" b="1">
                          <a:solidFill>
                            <a:srgbClr val="2E2E2E"/>
                          </a:solidFill>
                          <a:latin typeface="Calibri"/>
                        </a:rPr>
                        <a:t>3,079</a:t>
                      </a:r>
                    </a:p>
                  </a:txBody>
                  <a:tcPr marL="85725" marR="38100" marT="19050" marB="19050" anchor="ctr">
                    <a:solidFill>
                      <a:srgbClr val="E0E8EF"/>
                    </a:solidFill>
                  </a:tcPr>
                </a:tc>
                <a:tc>
                  <a:txBody>
                    <a:bodyPr wrap="none"/>
                    <a:lstStyle/>
                    <a:p>
                      <a:pPr algn="l"/>
                      <a:r>
                        <a:rPr sz="800" b="1">
                          <a:solidFill>
                            <a:srgbClr val="2E2E2E"/>
                          </a:solidFill>
                          <a:latin typeface="Calibri"/>
                        </a:rPr>
                        <a:t>3,334</a:t>
                      </a:r>
                    </a:p>
                  </a:txBody>
                  <a:tcPr marL="85725" marR="38100" marT="19050" marB="19050" anchor="ctr">
                    <a:solidFill>
                      <a:srgbClr val="E0E8EF"/>
                    </a:solidFill>
                  </a:tcPr>
                </a:tc>
                <a:tc>
                  <a:txBody>
                    <a:bodyPr wrap="none"/>
                    <a:lstStyle/>
                    <a:p>
                      <a:pPr algn="l"/>
                      <a:r>
                        <a:rPr sz="800" b="1">
                          <a:solidFill>
                            <a:srgbClr val="2E2E2E"/>
                          </a:solidFill>
                          <a:latin typeface="Calibri"/>
                        </a:rPr>
                        <a:t>3,579</a:t>
                      </a:r>
                    </a:p>
                  </a:txBody>
                  <a:tcPr marL="85725" marR="38100" marT="19050" marB="19050" anchor="ctr">
                    <a:solidFill>
                      <a:srgbClr val="E0E8EF"/>
                    </a:solidFill>
                  </a:tcPr>
                </a:tc>
                <a:tc>
                  <a:txBody>
                    <a:bodyPr wrap="none"/>
                    <a:lstStyle/>
                    <a:p>
                      <a:pPr algn="l"/>
                      <a:r>
                        <a:rPr sz="800" b="1">
                          <a:solidFill>
                            <a:srgbClr val="2E2E2E"/>
                          </a:solidFill>
                          <a:latin typeface="Calibri"/>
                        </a:rPr>
                        <a:t>3,814</a:t>
                      </a:r>
                    </a:p>
                  </a:txBody>
                  <a:tcPr marL="85725" marR="38100" marT="19050" marB="19050" anchor="ctr">
                    <a:solidFill>
                      <a:srgbClr val="E0E8EF"/>
                    </a:solidFill>
                  </a:tcPr>
                </a:tc>
                <a:tc>
                  <a:txBody>
                    <a:bodyPr wrap="none"/>
                    <a:lstStyle/>
                    <a:p>
                      <a:pPr algn="l"/>
                      <a:r>
                        <a:rPr sz="800" b="1">
                          <a:solidFill>
                            <a:srgbClr val="2E2E2E"/>
                          </a:solidFill>
                          <a:latin typeface="Calibri"/>
                        </a:rPr>
                        <a:t>4,041</a:t>
                      </a:r>
                    </a:p>
                  </a:txBody>
                  <a:tcPr marL="85725" marR="38100" marT="19050" marB="19050" anchor="ctr">
                    <a:solidFill>
                      <a:srgbClr val="E0E8EF"/>
                    </a:solidFill>
                  </a:tcPr>
                </a:tc>
                <a:tc>
                  <a:txBody>
                    <a:bodyPr wrap="none"/>
                    <a:lstStyle/>
                    <a:p>
                      <a:pPr algn="l"/>
                      <a:r>
                        <a:rPr sz="800" b="1">
                          <a:solidFill>
                            <a:srgbClr val="2E2E2E"/>
                          </a:solidFill>
                          <a:latin typeface="Calibri"/>
                        </a:rPr>
                        <a:t>4,260</a:t>
                      </a:r>
                    </a:p>
                  </a:txBody>
                  <a:tcPr marL="85725" marR="38100" marT="19050" marB="19050" anchor="ctr">
                    <a:solidFill>
                      <a:srgbClr val="E0E8EF"/>
                    </a:solidFill>
                  </a:tcPr>
                </a:tc>
                <a:tc>
                  <a:txBody>
                    <a:bodyPr wrap="none"/>
                    <a:lstStyle/>
                    <a:p>
                      <a:pPr algn="l"/>
                      <a:r>
                        <a:rPr sz="800" b="1">
                          <a:solidFill>
                            <a:srgbClr val="2E2E2E"/>
                          </a:solidFill>
                          <a:latin typeface="Calibri"/>
                        </a:rPr>
                        <a:t>4,475</a:t>
                      </a:r>
                    </a:p>
                  </a:txBody>
                  <a:tcPr marL="85725" marR="38100" marT="19050" marB="19050" anchor="ctr">
                    <a:solidFill>
                      <a:srgbClr val="E0E8EF"/>
                    </a:solidFill>
                  </a:tcPr>
                </a:tc>
                <a:tc>
                  <a:txBody>
                    <a:bodyPr wrap="none"/>
                    <a:lstStyle/>
                    <a:p>
                      <a:pPr algn="l"/>
                      <a:r>
                        <a:rPr sz="800" b="1">
                          <a:solidFill>
                            <a:srgbClr val="2E2E2E"/>
                          </a:solidFill>
                          <a:latin typeface="Calibri"/>
                        </a:rPr>
                        <a:t>8.5%</a:t>
                      </a:r>
                    </a:p>
                  </a:txBody>
                  <a:tcPr marL="85725" marR="38100" marT="19050" marB="19050" anchor="ctr">
                    <a:solidFill>
                      <a:srgbClr val="E0E8EF"/>
                    </a:solidFill>
                  </a:tcPr>
                </a:tc>
              </a:tr>
            </a:tbl>
          </a:graphicData>
        </a:graphic>
      </p:graphicFrame>
      <p:sp>
        <p:nvSpPr>
          <p:cNvPr id="14" name="TextBox 13"/>
          <p:cNvSpPr txBox="1"/>
          <p:nvPr/>
        </p:nvSpPr>
        <p:spPr>
          <a:xfrm>
            <a:off x="219075" y="38481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4124325"/>
            <a:ext cx="11906250" cy="2600325"/>
          </a:xfrm>
          <a:prstGeom prst="roundRect">
            <a:avLst>
              <a:gd name="adj" fmla="val 29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2100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Therapeutic Application</a:t>
            </a:r>
          </a:p>
        </p:txBody>
      </p:sp>
      <p:sp>
        <p:nvSpPr>
          <p:cNvPr id="17" name="Rectangle 16"/>
          <p:cNvSpPr/>
          <p:nvPr/>
        </p:nvSpPr>
        <p:spPr>
          <a:xfrm>
            <a:off x="276225" y="44481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533900"/>
            <a:ext cx="11639550" cy="2114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'Rheumatology' is the largest therapeutic application at 43.7% of 2036 value (1,956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'Gastroenterology' grows fastest 9.7%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'Gastroenterology' (+250 BPS) and away from 'Dermatology' (-150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rises from 1,974 to 4,475 US$ Mn across 4 categories.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Value &amp; Share Shift, By Therapeutic Application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7400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Therapeutic Application ·  2021 / 2026 / 2036 (US$ Mn)  ·  right axis = BPS share shift</a:t>
            </a:r>
          </a:p>
        </p:txBody>
      </p:sp>
      <p:graphicFrame>
        <p:nvGraphicFramePr>
          <p:cNvPr id="13" name="Chart 12"/>
          <p:cNvGraphicFramePr>
            <a:graphicFrameLocks noGrp="1"/>
          </p:cNvGraphicFramePr>
          <p:nvPr/>
        </p:nvGraphicFramePr>
        <p:xfrm>
          <a:off x="238125" y="1457325"/>
          <a:ext cx="5624132" cy="5210175"/>
        </p:xfrm>
        <a:graphic>
          <a:graphicData uri="http://schemas.openxmlformats.org/drawingml/2006/chart">
            <c:chart xmlns:c="http://schemas.openxmlformats.org/drawingml/2006/chart" r:id="rId3"/>
          </a:graphicData>
        </a:graphic>
      </p:graphicFrame>
      <p:sp>
        <p:nvSpPr>
          <p:cNvPr id="14" name="TextBox 13"/>
          <p:cNvSpPr txBox="1"/>
          <p:nvPr/>
        </p:nvSpPr>
        <p:spPr>
          <a:xfrm>
            <a:off x="6934200" y="1522857"/>
            <a:ext cx="552450" cy="114300"/>
          </a:xfrm>
          <a:prstGeom prst="rect">
            <a:avLst/>
          </a:prstGeom>
          <a:noFill/>
        </p:spPr>
        <p:txBody>
          <a:bodyPr wrap="square" lIns="28575" rIns="28575" tIns="9525" bIns="9525">
            <a:spAutoFit/>
          </a:bodyPr>
          <a:lstStyle/>
          <a:p>
            <a:pPr algn="l"/>
            <a:r>
              <a:rPr sz="750" b="1">
                <a:solidFill>
                  <a:srgbClr val="6C7A89"/>
                </a:solidFill>
                <a:latin typeface="Calibri"/>
              </a:rPr>
              <a:t>BPS Δ</a:t>
            </a:r>
          </a:p>
        </p:txBody>
      </p:sp>
      <p:cxnSp>
        <p:nvCxnSpPr>
          <p:cNvPr id="15" name="Connector 14"/>
          <p:cNvCxnSpPr/>
          <p:nvPr/>
        </p:nvCxnSpPr>
        <p:spPr>
          <a:xfrm>
            <a:off x="7010400" y="1665732"/>
            <a:ext cx="0" cy="4144518"/>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919406" y="3737991"/>
            <a:ext cx="1090994"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038975" y="5265361"/>
            <a:ext cx="419100" cy="133350"/>
          </a:xfrm>
          <a:prstGeom prst="rect">
            <a:avLst/>
          </a:prstGeom>
          <a:noFill/>
        </p:spPr>
        <p:txBody>
          <a:bodyPr wrap="none" lIns="0" rIns="0" tIns="0" bIns="0" anchor="ctr">
            <a:spAutoFit/>
          </a:bodyPr>
          <a:lstStyle/>
          <a:p>
            <a:pPr algn="l"/>
            <a:r>
              <a:rPr sz="750" b="0">
                <a:solidFill>
                  <a:srgbClr val="6C7A89"/>
                </a:solidFill>
                <a:latin typeface="Calibri"/>
              </a:rPr>
              <a:t>-250</a:t>
            </a:r>
          </a:p>
        </p:txBody>
      </p:sp>
      <p:sp>
        <p:nvSpPr>
          <p:cNvPr id="18" name="TextBox 17"/>
          <p:cNvSpPr txBox="1"/>
          <p:nvPr/>
        </p:nvSpPr>
        <p:spPr>
          <a:xfrm>
            <a:off x="7038975" y="3671316"/>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19" name="TextBox 18"/>
          <p:cNvSpPr txBox="1"/>
          <p:nvPr/>
        </p:nvSpPr>
        <p:spPr>
          <a:xfrm>
            <a:off x="7038975" y="2077271"/>
            <a:ext cx="419100" cy="133350"/>
          </a:xfrm>
          <a:prstGeom prst="rect">
            <a:avLst/>
          </a:prstGeom>
          <a:noFill/>
        </p:spPr>
        <p:txBody>
          <a:bodyPr wrap="none" lIns="0" rIns="0" tIns="0" bIns="0" anchor="ctr">
            <a:spAutoFit/>
          </a:bodyPr>
          <a:lstStyle/>
          <a:p>
            <a:pPr algn="l"/>
            <a:r>
              <a:rPr sz="750" b="0">
                <a:solidFill>
                  <a:srgbClr val="6C7A89"/>
                </a:solidFill>
                <a:latin typeface="Calibri"/>
              </a:rPr>
              <a:t>+250</a:t>
            </a:r>
          </a:p>
        </p:txBody>
      </p:sp>
      <p:sp>
        <p:nvSpPr>
          <p:cNvPr id="20" name="Oval 19"/>
          <p:cNvSpPr/>
          <p:nvPr/>
        </p:nvSpPr>
        <p:spPr>
          <a:xfrm>
            <a:off x="5971794" y="2101083"/>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971794" y="3378218"/>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71794" y="4647650"/>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71794" y="4653563"/>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81332" y="2067746"/>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+250</a:t>
            </a:r>
          </a:p>
        </p:txBody>
      </p:sp>
      <p:sp>
        <p:nvSpPr>
          <p:cNvPr id="25" name="TextBox 24"/>
          <p:cNvSpPr txBox="1"/>
          <p:nvPr/>
        </p:nvSpPr>
        <p:spPr>
          <a:xfrm>
            <a:off x="6081332" y="3344880"/>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+50</a:t>
            </a:r>
          </a:p>
        </p:txBody>
      </p:sp>
      <p:sp>
        <p:nvSpPr>
          <p:cNvPr id="26" name="TextBox 25"/>
          <p:cNvSpPr txBox="1"/>
          <p:nvPr/>
        </p:nvSpPr>
        <p:spPr>
          <a:xfrm>
            <a:off x="6081332" y="4614313"/>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-149</a:t>
            </a:r>
          </a:p>
        </p:txBody>
      </p:sp>
      <p:sp>
        <p:nvSpPr>
          <p:cNvPr id="27" name="TextBox 26"/>
          <p:cNvSpPr txBox="1"/>
          <p:nvPr/>
        </p:nvSpPr>
        <p:spPr>
          <a:xfrm>
            <a:off x="6081332" y="4738138"/>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-150</a:t>
            </a:r>
          </a:p>
        </p:txBody>
      </p:sp>
      <p:sp>
        <p:nvSpPr>
          <p:cNvPr id="28" name="Rounded Rectangle 27"/>
          <p:cNvSpPr/>
          <p:nvPr/>
        </p:nvSpPr>
        <p:spPr>
          <a:xfrm>
            <a:off x="7696200" y="857250"/>
            <a:ext cx="4343400" cy="5867400"/>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942975"/>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Therapeutic Application</a:t>
            </a:r>
          </a:p>
        </p:txBody>
      </p:sp>
      <p:sp>
        <p:nvSpPr>
          <p:cNvPr id="30" name="Rectangle 29"/>
          <p:cNvSpPr/>
          <p:nvPr/>
        </p:nvSpPr>
        <p:spPr>
          <a:xfrm>
            <a:off x="7829550" y="1181100"/>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266825"/>
            <a:ext cx="4076700" cy="538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'Gastroenterology' gains the most share +250 BPS between 2026 and 2036 (</a:t>
            </a:r>
            <a:r>
              <a:rPr sz="1150" b="0">
                <a:solidFill>
                  <a:srgbClr val="2E7D32"/>
                </a:solidFill>
                <a:latin typeface="Calibri"/>
              </a:rPr>
              <a:t>green ▲</a:t>
            </a:r>
            <a:r>
              <a:rPr sz="1150" b="0">
                <a:solidFill>
                  <a:srgbClr val="2E2E2E"/>
                </a:solidFill>
                <a:latin typeface="Calibri"/>
              </a:rPr>
              <a:t> on the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'Dermatology' cedes the most -150 BPS over the same window (</a:t>
            </a:r>
            <a:r>
              <a:rPr sz="1150" b="0">
                <a:solidFill>
                  <a:srgbClr val="E44D3A"/>
                </a:solidFill>
                <a:latin typeface="Calibri"/>
              </a:rPr>
              <a:t>red ▼</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'Gastroenterology' is the fastest-growing therapeutic application at 9.7%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climbs from 852.6 to 4,475 US$ Mn across 2021–2036.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Bars show the value mix at each snapshot; the scale shows how each share moves.</a:t>
            </a:r>
          </a:p>
        </p:txBody>
      </p:sp>
      <p:sp>
        <p:nvSpPr>
          <p:cNvPr id="32" name="Rectangle 3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4" name="Rounded Rectangle 33">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5" name="Rounded Rectangle 34">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6" name="Rounded Rectangle 35">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Volume, By Therapeutic Application (%)</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447925"/>
          </a:xfrm>
          <a:prstGeom prst="roundRect">
            <a:avLst>
              <a:gd name="adj" fmla="val 31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YoY Growth, By Therapeutic Application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Therapeutic Application</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Rheumatology</a:t>
                      </a:r>
                    </a:p>
                  </a:txBody>
                  <a:tcPr marL="85725" marR="38100" marT="19050" marB="19050" anchor="ctr">
                    <a:solidFill>
                      <a:srgbClr val="FFFFFF"/>
                    </a:solidFill>
                  </a:tcPr>
                </a:tc>
                <a:tc>
                  <a:txBody>
                    <a:bodyPr wrap="none"/>
                    <a:lstStyle/>
                    <a:p>
                      <a:pPr algn="l"/>
                      <a:r>
                        <a:rPr sz="800" b="1">
                          <a:solidFill>
                            <a:srgbClr val="2E7D32"/>
                          </a:solidFill>
                          <a:latin typeface="Calibri"/>
                        </a:rPr>
                        <a:t>▲ 17.1%</a:t>
                      </a:r>
                    </a:p>
                  </a:txBody>
                  <a:tcPr marL="85725" marR="38100" marT="19050" marB="19050" anchor="ctr">
                    <a:solidFill>
                      <a:srgbClr val="FFFFFF"/>
                    </a:solidFill>
                  </a:tcPr>
                </a:tc>
                <a:tc>
                  <a:txBody>
                    <a:bodyPr wrap="none"/>
                    <a:lstStyle/>
                    <a:p>
                      <a:pPr algn="l"/>
                      <a:r>
                        <a:rPr sz="800" b="1">
                          <a:solidFill>
                            <a:srgbClr val="2E7D32"/>
                          </a:solidFill>
                          <a:latin typeface="Calibri"/>
                        </a:rPr>
                        <a:t>▲ 24.2%</a:t>
                      </a:r>
                    </a:p>
                  </a:txBody>
                  <a:tcPr marL="85725" marR="38100" marT="19050" marB="19050" anchor="ctr">
                    <a:solidFill>
                      <a:srgbClr val="FFFFFF"/>
                    </a:solidFill>
                  </a:tcPr>
                </a:tc>
                <a:tc>
                  <a:txBody>
                    <a:bodyPr wrap="none"/>
                    <a:lstStyle/>
                    <a:p>
                      <a:pPr algn="l"/>
                      <a:r>
                        <a:rPr sz="800" b="1">
                          <a:solidFill>
                            <a:srgbClr val="2E7D32"/>
                          </a:solidFill>
                          <a:latin typeface="Calibri"/>
                        </a:rPr>
                        <a:t>▲ 28.2%</a:t>
                      </a:r>
                    </a:p>
                  </a:txBody>
                  <a:tcPr marL="85725" marR="38100" marT="19050" marB="19050" anchor="ctr">
                    <a:solidFill>
                      <a:srgbClr val="FFFFFF"/>
                    </a:solidFill>
                  </a:tcPr>
                </a:tc>
                <a:tc>
                  <a:txBody>
                    <a:bodyPr wrap="none"/>
                    <a:lstStyle/>
                    <a:p>
                      <a:pPr algn="l"/>
                      <a:r>
                        <a:rPr sz="800" b="1">
                          <a:solidFill>
                            <a:srgbClr val="2E7D32"/>
                          </a:solidFill>
                          <a:latin typeface="Calibri"/>
                        </a:rPr>
                        <a:t>▲ 25.4%</a:t>
                      </a:r>
                    </a:p>
                  </a:txBody>
                  <a:tcPr marL="85725" marR="38100" marT="19050" marB="19050" anchor="ctr">
                    <a:solidFill>
                      <a:srgbClr val="FFFFFF"/>
                    </a:solidFill>
                  </a:tcPr>
                </a:tc>
                <a:tc>
                  <a:txBody>
                    <a:bodyPr wrap="none"/>
                    <a:lstStyle/>
                    <a:p>
                      <a:pPr algn="l"/>
                      <a:r>
                        <a:rPr sz="800" b="1">
                          <a:solidFill>
                            <a:srgbClr val="2E7D32"/>
                          </a:solidFill>
                          <a:latin typeface="Calibri"/>
                        </a:rPr>
                        <a:t>▲ 21.6%</a:t>
                      </a:r>
                    </a:p>
                  </a:txBody>
                  <a:tcPr marL="85725" marR="38100" marT="19050" marB="19050" anchor="ctr">
                    <a:solidFill>
                      <a:srgbClr val="FFFFFF"/>
                    </a:solidFill>
                  </a:tcPr>
                </a:tc>
                <a:tc>
                  <a:txBody>
                    <a:bodyPr wrap="none"/>
                    <a:lstStyle/>
                    <a:p>
                      <a:pPr algn="l"/>
                      <a:r>
                        <a:rPr sz="800" b="1">
                          <a:solidFill>
                            <a:srgbClr val="2E7D32"/>
                          </a:solidFill>
                          <a:latin typeface="Calibri"/>
                        </a:rPr>
                        <a:t>▲ 19.4%</a:t>
                      </a:r>
                    </a:p>
                  </a:txBody>
                  <a:tcPr marL="85725" marR="38100" marT="19050" marB="19050" anchor="ctr">
                    <a:solidFill>
                      <a:srgbClr val="FFFFFF"/>
                    </a:solidFill>
                  </a:tcPr>
                </a:tc>
                <a:tc>
                  <a:txBody>
                    <a:bodyPr wrap="none"/>
                    <a:lstStyle/>
                    <a:p>
                      <a:pPr algn="l"/>
                      <a:r>
                        <a:rPr sz="800" b="1">
                          <a:solidFill>
                            <a:srgbClr val="2E7D32"/>
                          </a:solidFill>
                          <a:latin typeface="Calibri"/>
                        </a:rPr>
                        <a:t>▲ 17.0%</a:t>
                      </a:r>
                    </a:p>
                  </a:txBody>
                  <a:tcPr marL="85725" marR="38100" marT="19050" marB="19050" anchor="ctr">
                    <a:solidFill>
                      <a:srgbClr val="FFFFFF"/>
                    </a:solidFill>
                  </a:tcPr>
                </a:tc>
                <a:tc>
                  <a:txBody>
                    <a:bodyPr wrap="none"/>
                    <a:lstStyle/>
                    <a:p>
                      <a:pPr algn="l"/>
                      <a:r>
                        <a:rPr sz="800" b="1">
                          <a:solidFill>
                            <a:srgbClr val="2E7D32"/>
                          </a:solidFill>
                          <a:latin typeface="Calibri"/>
                        </a:rPr>
                        <a:t>▲ 15.3%</a:t>
                      </a:r>
                    </a:p>
                  </a:txBody>
                  <a:tcPr marL="85725" marR="38100" marT="19050" marB="19050" anchor="ctr">
                    <a:solidFill>
                      <a:srgbClr val="FFFFFF"/>
                    </a:solidFill>
                  </a:tcPr>
                </a:tc>
                <a:tc>
                  <a:txBody>
                    <a:bodyPr wrap="none"/>
                    <a:lstStyle/>
                    <a:p>
                      <a:pPr algn="l"/>
                      <a:r>
                        <a:rPr sz="800" b="1">
                          <a:solidFill>
                            <a:srgbClr val="2E7D32"/>
                          </a:solidFill>
                          <a:latin typeface="Calibri"/>
                        </a:rPr>
                        <a:t>▲ 13.9%</a:t>
                      </a:r>
                    </a:p>
                  </a:txBody>
                  <a:tcPr marL="85725" marR="38100" marT="19050" marB="19050" anchor="ctr">
                    <a:solidFill>
                      <a:srgbClr val="FFFFFF"/>
                    </a:solidFill>
                  </a:tcPr>
                </a:tc>
                <a:tc>
                  <a:txBody>
                    <a:bodyPr wrap="none"/>
                    <a:lstStyle/>
                    <a:p>
                      <a:pPr algn="l"/>
                      <a:r>
                        <a:rPr sz="800" b="1">
                          <a:solidFill>
                            <a:srgbClr val="2E7D32"/>
                          </a:solidFill>
                          <a:latin typeface="Calibri"/>
                        </a:rPr>
                        <a:t>▲ 12.8%</a:t>
                      </a:r>
                    </a:p>
                  </a:txBody>
                  <a:tcPr marL="85725" marR="38100" marT="19050" marB="19050" anchor="ctr">
                    <a:solidFill>
                      <a:srgbClr val="FFFFFF"/>
                    </a:solidFill>
                  </a:tcPr>
                </a:tc>
                <a:tc>
                  <a:txBody>
                    <a:bodyPr wrap="none"/>
                    <a:lstStyle/>
                    <a:p>
                      <a:pPr algn="l"/>
                      <a:r>
                        <a:rPr sz="800" b="1">
                          <a:solidFill>
                            <a:srgbClr val="2E7D32"/>
                          </a:solidFill>
                          <a:latin typeface="Calibri"/>
                        </a:rPr>
                        <a:t>▲ 11.8%</a:t>
                      </a:r>
                    </a:p>
                  </a:txBody>
                  <a:tcPr marL="85725" marR="38100" marT="19050" marB="19050" anchor="ctr">
                    <a:solidFill>
                      <a:srgbClr val="FFFFFF"/>
                    </a:solidFill>
                  </a:tcPr>
                </a:tc>
                <a:tc>
                  <a:txBody>
                    <a:bodyPr wrap="none"/>
                    <a:lstStyle/>
                    <a:p>
                      <a:pPr algn="l"/>
                      <a:r>
                        <a:rPr sz="800" b="1">
                          <a:solidFill>
                            <a:srgbClr val="A86F00"/>
                          </a:solidFill>
                          <a:latin typeface="Calibri"/>
                        </a:rPr>
                        <a:t>▶ 10.9%</a:t>
                      </a:r>
                    </a:p>
                  </a:txBody>
                  <a:tcPr marL="85725" marR="38100" marT="19050" marB="19050" anchor="ctr">
                    <a:solidFill>
                      <a:srgbClr val="FFFFFF"/>
                    </a:solidFill>
                  </a:tcPr>
                </a:tc>
                <a:tc>
                  <a:txBody>
                    <a:bodyPr wrap="none"/>
                    <a:lstStyle/>
                    <a:p>
                      <a:pPr algn="l"/>
                      <a:r>
                        <a:rPr sz="800" b="1">
                          <a:solidFill>
                            <a:srgbClr val="A86F00"/>
                          </a:solidFill>
                          <a:latin typeface="Calibri"/>
                        </a:rPr>
                        <a:t>▶ 10.3%</a:t>
                      </a:r>
                    </a:p>
                  </a:txBody>
                  <a:tcPr marL="85725" marR="38100" marT="19050" marB="19050" anchor="ctr">
                    <a:solidFill>
                      <a:srgbClr val="FFFFFF"/>
                    </a:solidFill>
                  </a:tcPr>
                </a:tc>
                <a:tc>
                  <a:txBody>
                    <a:bodyPr wrap="none"/>
                    <a:lstStyle/>
                    <a:p>
                      <a:pPr algn="l"/>
                      <a:r>
                        <a:rPr sz="800" b="1">
                          <a:solidFill>
                            <a:srgbClr val="A86F00"/>
                          </a:solidFill>
                          <a:latin typeface="Calibri"/>
                        </a:rPr>
                        <a:t>▶ 9.8%</a:t>
                      </a:r>
                    </a:p>
                  </a:txBody>
                  <a:tcPr marL="85725" marR="38100" marT="19050" marB="19050" anchor="ctr">
                    <a:solidFill>
                      <a:srgbClr val="FFFFFF"/>
                    </a:solidFill>
                  </a:tcPr>
                </a:tc>
                <a:tc>
                  <a:txBody>
                    <a:bodyPr wrap="none"/>
                    <a:lstStyle/>
                    <a:p>
                      <a:pPr algn="l"/>
                      <a:r>
                        <a:rPr sz="800" b="1">
                          <a:solidFill>
                            <a:srgbClr val="A86F00"/>
                          </a:solidFill>
                          <a:latin typeface="Calibri"/>
                        </a:rPr>
                        <a:t>▶ 9.3%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Dermatology</a:t>
                      </a:r>
                    </a:p>
                  </a:txBody>
                  <a:tcPr marL="85725" marR="38100" marT="19050" marB="19050" anchor="ctr">
                    <a:solidFill>
                      <a:srgbClr val="F5F8FA"/>
                    </a:solidFill>
                  </a:tcPr>
                </a:tc>
                <a:tc>
                  <a:txBody>
                    <a:bodyPr wrap="none"/>
                    <a:lstStyle/>
                    <a:p>
                      <a:pPr algn="l"/>
                      <a:r>
                        <a:rPr sz="800" b="1">
                          <a:solidFill>
                            <a:srgbClr val="A86F00"/>
                          </a:solidFill>
                          <a:latin typeface="Calibri"/>
                        </a:rPr>
                        <a:t>▶ 14.0%</a:t>
                      </a:r>
                    </a:p>
                  </a:txBody>
                  <a:tcPr marL="85725" marR="38100" marT="19050" marB="19050" anchor="ctr">
                    <a:solidFill>
                      <a:srgbClr val="F5F8FA"/>
                    </a:solidFill>
                  </a:tcPr>
                </a:tc>
                <a:tc>
                  <a:txBody>
                    <a:bodyPr wrap="none"/>
                    <a:lstStyle/>
                    <a:p>
                      <a:pPr algn="l"/>
                      <a:r>
                        <a:rPr sz="800" b="1">
                          <a:solidFill>
                            <a:srgbClr val="A86F00"/>
                          </a:solidFill>
                          <a:latin typeface="Calibri"/>
                        </a:rPr>
                        <a:t>▶ 20.9%</a:t>
                      </a:r>
                    </a:p>
                  </a:txBody>
                  <a:tcPr marL="85725" marR="38100" marT="19050" marB="19050" anchor="ctr">
                    <a:solidFill>
                      <a:srgbClr val="F5F8FA"/>
                    </a:solidFill>
                  </a:tcPr>
                </a:tc>
                <a:tc>
                  <a:txBody>
                    <a:bodyPr wrap="none"/>
                    <a:lstStyle/>
                    <a:p>
                      <a:pPr algn="l"/>
                      <a:r>
                        <a:rPr sz="800" b="1">
                          <a:solidFill>
                            <a:srgbClr val="A86F00"/>
                          </a:solidFill>
                          <a:latin typeface="Calibri"/>
                        </a:rPr>
                        <a:t>▶ 24.8%</a:t>
                      </a:r>
                    </a:p>
                  </a:txBody>
                  <a:tcPr marL="85725" marR="38100" marT="19050" marB="19050" anchor="ctr">
                    <a:solidFill>
                      <a:srgbClr val="F5F8FA"/>
                    </a:solidFill>
                  </a:tcPr>
                </a:tc>
                <a:tc>
                  <a:txBody>
                    <a:bodyPr wrap="none"/>
                    <a:lstStyle/>
                    <a:p>
                      <a:pPr algn="l"/>
                      <a:r>
                        <a:rPr sz="800" b="1">
                          <a:solidFill>
                            <a:srgbClr val="A86F00"/>
                          </a:solidFill>
                          <a:latin typeface="Calibri"/>
                        </a:rPr>
                        <a:t>▶ 22.1%</a:t>
                      </a:r>
                    </a:p>
                  </a:txBody>
                  <a:tcPr marL="85725" marR="38100" marT="19050" marB="19050" anchor="ctr">
                    <a:solidFill>
                      <a:srgbClr val="F5F8FA"/>
                    </a:solidFill>
                  </a:tcPr>
                </a:tc>
                <a:tc>
                  <a:txBody>
                    <a:bodyPr wrap="none"/>
                    <a:lstStyle/>
                    <a:p>
                      <a:pPr algn="l"/>
                      <a:r>
                        <a:rPr sz="800" b="1">
                          <a:solidFill>
                            <a:srgbClr val="A86F00"/>
                          </a:solidFill>
                          <a:latin typeface="Calibri"/>
                        </a:rPr>
                        <a:t>▶ 18.4%</a:t>
                      </a:r>
                    </a:p>
                  </a:txBody>
                  <a:tcPr marL="85725" marR="38100" marT="19050" marB="19050" anchor="ctr">
                    <a:solidFill>
                      <a:srgbClr val="F5F8FA"/>
                    </a:solidFill>
                  </a:tcPr>
                </a:tc>
                <a:tc>
                  <a:txBody>
                    <a:bodyPr wrap="none"/>
                    <a:lstStyle/>
                    <a:p>
                      <a:pPr algn="l"/>
                      <a:r>
                        <a:rPr sz="800" b="1">
                          <a:solidFill>
                            <a:srgbClr val="A86F00"/>
                          </a:solidFill>
                          <a:latin typeface="Calibri"/>
                        </a:rPr>
                        <a:t>▶ 16.2%</a:t>
                      </a:r>
                    </a:p>
                  </a:txBody>
                  <a:tcPr marL="85725" marR="38100" marT="19050" marB="19050" anchor="ctr">
                    <a:solidFill>
                      <a:srgbClr val="F5F8FA"/>
                    </a:solidFill>
                  </a:tcPr>
                </a:tc>
                <a:tc>
                  <a:txBody>
                    <a:bodyPr wrap="none"/>
                    <a:lstStyle/>
                    <a:p>
                      <a:pPr algn="l"/>
                      <a:r>
                        <a:rPr sz="800" b="1">
                          <a:solidFill>
                            <a:srgbClr val="A86F00"/>
                          </a:solidFill>
                          <a:latin typeface="Calibri"/>
                        </a:rPr>
                        <a:t>▶ 13.9%</a:t>
                      </a:r>
                    </a:p>
                  </a:txBody>
                  <a:tcPr marL="85725" marR="38100" marT="19050" marB="19050" anchor="ctr">
                    <a:solidFill>
                      <a:srgbClr val="F5F8FA"/>
                    </a:solidFill>
                  </a:tcPr>
                </a:tc>
                <a:tc>
                  <a:txBody>
                    <a:bodyPr wrap="none"/>
                    <a:lstStyle/>
                    <a:p>
                      <a:pPr algn="l"/>
                      <a:r>
                        <a:rPr sz="800" b="1">
                          <a:solidFill>
                            <a:srgbClr val="A86F00"/>
                          </a:solidFill>
                          <a:latin typeface="Calibri"/>
                        </a:rPr>
                        <a:t>▶ 12.2%</a:t>
                      </a:r>
                    </a:p>
                  </a:txBody>
                  <a:tcPr marL="85725" marR="38100" marT="19050" marB="19050" anchor="ctr">
                    <a:solidFill>
                      <a:srgbClr val="F5F8FA"/>
                    </a:solidFill>
                  </a:tcPr>
                </a:tc>
                <a:tc>
                  <a:txBody>
                    <a:bodyPr wrap="none"/>
                    <a:lstStyle/>
                    <a:p>
                      <a:pPr algn="l"/>
                      <a:r>
                        <a:rPr sz="800" b="1">
                          <a:solidFill>
                            <a:srgbClr val="A86F00"/>
                          </a:solidFill>
                          <a:latin typeface="Calibri"/>
                        </a:rPr>
                        <a:t>▶ 10.8%</a:t>
                      </a:r>
                    </a:p>
                  </a:txBody>
                  <a:tcPr marL="85725" marR="38100" marT="19050" marB="19050" anchor="ctr">
                    <a:solidFill>
                      <a:srgbClr val="F5F8FA"/>
                    </a:solidFill>
                  </a:tcPr>
                </a:tc>
                <a:tc>
                  <a:txBody>
                    <a:bodyPr wrap="none"/>
                    <a:lstStyle/>
                    <a:p>
                      <a:pPr algn="l"/>
                      <a:r>
                        <a:rPr sz="800" b="1">
                          <a:solidFill>
                            <a:srgbClr val="A86F00"/>
                          </a:solidFill>
                          <a:latin typeface="Calibri"/>
                        </a:rPr>
                        <a:t>▶ 9.7%</a:t>
                      </a:r>
                    </a:p>
                  </a:txBody>
                  <a:tcPr marL="85725" marR="38100" marT="19050" marB="19050" anchor="ctr">
                    <a:solidFill>
                      <a:srgbClr val="F5F8FA"/>
                    </a:solidFill>
                  </a:tcPr>
                </a:tc>
                <a:tc>
                  <a:txBody>
                    <a:bodyPr wrap="none"/>
                    <a:lstStyle/>
                    <a:p>
                      <a:pPr algn="l"/>
                      <a:r>
                        <a:rPr sz="800" b="1">
                          <a:solidFill>
                            <a:srgbClr val="A86F00"/>
                          </a:solidFill>
                          <a:latin typeface="Calibri"/>
                        </a:rPr>
                        <a:t>▶ 8.7%</a:t>
                      </a:r>
                    </a:p>
                  </a:txBody>
                  <a:tcPr marL="85725" marR="38100" marT="19050" marB="19050" anchor="ctr">
                    <a:solidFill>
                      <a:srgbClr val="F5F8FA"/>
                    </a:solidFill>
                  </a:tcPr>
                </a:tc>
                <a:tc>
                  <a:txBody>
                    <a:bodyPr wrap="none"/>
                    <a:lstStyle/>
                    <a:p>
                      <a:pPr algn="l"/>
                      <a:r>
                        <a:rPr sz="800" b="1">
                          <a:solidFill>
                            <a:srgbClr val="A86F00"/>
                          </a:solidFill>
                          <a:latin typeface="Calibri"/>
                        </a:rPr>
                        <a:t>▶ 7.9%</a:t>
                      </a:r>
                    </a:p>
                  </a:txBody>
                  <a:tcPr marL="85725" marR="38100" marT="19050" marB="19050" anchor="ctr">
                    <a:solidFill>
                      <a:srgbClr val="F5F8FA"/>
                    </a:solidFill>
                  </a:tcPr>
                </a:tc>
                <a:tc>
                  <a:txBody>
                    <a:bodyPr wrap="none"/>
                    <a:lstStyle/>
                    <a:p>
                      <a:pPr algn="l"/>
                      <a:r>
                        <a:rPr sz="800" b="1">
                          <a:solidFill>
                            <a:srgbClr val="A86F00"/>
                          </a:solidFill>
                          <a:latin typeface="Calibri"/>
                        </a:rPr>
                        <a:t>▶ 7.3%</a:t>
                      </a:r>
                    </a:p>
                  </a:txBody>
                  <a:tcPr marL="85725" marR="38100" marT="19050" marB="19050" anchor="ctr">
                    <a:solidFill>
                      <a:srgbClr val="F5F8FA"/>
                    </a:solidFill>
                  </a:tcPr>
                </a:tc>
                <a:tc>
                  <a:txBody>
                    <a:bodyPr wrap="none"/>
                    <a:lstStyle/>
                    <a:p>
                      <a:pPr algn="l"/>
                      <a:r>
                        <a:rPr sz="800" b="1">
                          <a:solidFill>
                            <a:srgbClr val="A86F00"/>
                          </a:solidFill>
                          <a:latin typeface="Calibri"/>
                        </a:rPr>
                        <a:t>▶ 6.7%</a:t>
                      </a:r>
                    </a:p>
                  </a:txBody>
                  <a:tcPr marL="85725" marR="38100" marT="19050" marB="19050" anchor="ctr">
                    <a:solidFill>
                      <a:srgbClr val="F5F8FA"/>
                    </a:solidFill>
                  </a:tcPr>
                </a:tc>
                <a:tc>
                  <a:txBody>
                    <a:bodyPr wrap="none"/>
                    <a:lstStyle/>
                    <a:p>
                      <a:pPr algn="l"/>
                      <a:r>
                        <a:rPr sz="800" b="1">
                          <a:solidFill>
                            <a:srgbClr val="A86F00"/>
                          </a:solidFill>
                          <a:latin typeface="Calibri"/>
                        </a:rPr>
                        <a:t>▶ 6.3%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Gastroenterology</a:t>
                      </a:r>
                    </a:p>
                  </a:txBody>
                  <a:tcPr marL="85725" marR="38100" marT="19050" marB="19050" anchor="ctr">
                    <a:solidFill>
                      <a:srgbClr val="FFFFFF"/>
                    </a:solidFill>
                  </a:tcPr>
                </a:tc>
                <a:tc>
                  <a:txBody>
                    <a:bodyPr wrap="none"/>
                    <a:lstStyle/>
                    <a:p>
                      <a:pPr algn="l"/>
                      <a:r>
                        <a:rPr sz="800" b="1">
                          <a:solidFill>
                            <a:srgbClr val="2E7D32"/>
                          </a:solidFill>
                          <a:latin typeface="Calibri"/>
                        </a:rPr>
                        <a:t>▲ 18.3%</a:t>
                      </a:r>
                    </a:p>
                  </a:txBody>
                  <a:tcPr marL="85725" marR="38100" marT="19050" marB="19050" anchor="ctr">
                    <a:solidFill>
                      <a:srgbClr val="FFFFFF"/>
                    </a:solidFill>
                  </a:tcPr>
                </a:tc>
                <a:tc>
                  <a:txBody>
                    <a:bodyPr wrap="none"/>
                    <a:lstStyle/>
                    <a:p>
                      <a:pPr algn="l"/>
                      <a:r>
                        <a:rPr sz="800" b="1">
                          <a:solidFill>
                            <a:srgbClr val="2E7D32"/>
                          </a:solidFill>
                          <a:latin typeface="Calibri"/>
                        </a:rPr>
                        <a:t>▲ 25.5%</a:t>
                      </a:r>
                    </a:p>
                  </a:txBody>
                  <a:tcPr marL="85725" marR="38100" marT="19050" marB="19050" anchor="ctr">
                    <a:solidFill>
                      <a:srgbClr val="FFFFFF"/>
                    </a:solidFill>
                  </a:tcPr>
                </a:tc>
                <a:tc>
                  <a:txBody>
                    <a:bodyPr wrap="none"/>
                    <a:lstStyle/>
                    <a:p>
                      <a:pPr algn="l"/>
                      <a:r>
                        <a:rPr sz="800" b="1">
                          <a:solidFill>
                            <a:srgbClr val="2E7D32"/>
                          </a:solidFill>
                          <a:latin typeface="Calibri"/>
                        </a:rPr>
                        <a:t>▲ 29.5%</a:t>
                      </a:r>
                    </a:p>
                  </a:txBody>
                  <a:tcPr marL="85725" marR="38100" marT="19050" marB="19050" anchor="ctr">
                    <a:solidFill>
                      <a:srgbClr val="FFFFFF"/>
                    </a:solidFill>
                  </a:tcPr>
                </a:tc>
                <a:tc>
                  <a:txBody>
                    <a:bodyPr wrap="none"/>
                    <a:lstStyle/>
                    <a:p>
                      <a:pPr algn="l"/>
                      <a:r>
                        <a:rPr sz="800" b="1">
                          <a:solidFill>
                            <a:srgbClr val="2E7D32"/>
                          </a:solidFill>
                          <a:latin typeface="Calibri"/>
                        </a:rPr>
                        <a:t>▲ 26.7%</a:t>
                      </a:r>
                    </a:p>
                  </a:txBody>
                  <a:tcPr marL="85725" marR="38100" marT="19050" marB="19050" anchor="ctr">
                    <a:solidFill>
                      <a:srgbClr val="FFFFFF"/>
                    </a:solidFill>
                  </a:tcPr>
                </a:tc>
                <a:tc>
                  <a:txBody>
                    <a:bodyPr wrap="none"/>
                    <a:lstStyle/>
                    <a:p>
                      <a:pPr algn="l"/>
                      <a:r>
                        <a:rPr sz="800" b="1">
                          <a:solidFill>
                            <a:srgbClr val="2E7D32"/>
                          </a:solidFill>
                          <a:latin typeface="Calibri"/>
                        </a:rPr>
                        <a:t>▲ 22.9%</a:t>
                      </a:r>
                    </a:p>
                  </a:txBody>
                  <a:tcPr marL="85725" marR="38100" marT="19050" marB="19050" anchor="ctr">
                    <a:solidFill>
                      <a:srgbClr val="FFFFFF"/>
                    </a:solidFill>
                  </a:tcPr>
                </a:tc>
                <a:tc>
                  <a:txBody>
                    <a:bodyPr wrap="none"/>
                    <a:lstStyle/>
                    <a:p>
                      <a:pPr algn="l"/>
                      <a:r>
                        <a:rPr sz="800" b="1">
                          <a:solidFill>
                            <a:srgbClr val="2E7D32"/>
                          </a:solidFill>
                          <a:latin typeface="Calibri"/>
                        </a:rPr>
                        <a:t>▲ 20.6%</a:t>
                      </a:r>
                    </a:p>
                  </a:txBody>
                  <a:tcPr marL="85725" marR="38100" marT="19050" marB="19050" anchor="ctr">
                    <a:solidFill>
                      <a:srgbClr val="FFFFFF"/>
                    </a:solidFill>
                  </a:tcPr>
                </a:tc>
                <a:tc>
                  <a:txBody>
                    <a:bodyPr wrap="none"/>
                    <a:lstStyle/>
                    <a:p>
                      <a:pPr algn="l"/>
                      <a:r>
                        <a:rPr sz="800" b="1">
                          <a:solidFill>
                            <a:srgbClr val="2E7D32"/>
                          </a:solidFill>
                          <a:latin typeface="Calibri"/>
                        </a:rPr>
                        <a:t>▲ 18.1%</a:t>
                      </a:r>
                    </a:p>
                  </a:txBody>
                  <a:tcPr marL="85725" marR="38100" marT="19050" marB="19050" anchor="ctr">
                    <a:solidFill>
                      <a:srgbClr val="FFFFFF"/>
                    </a:solidFill>
                  </a:tcPr>
                </a:tc>
                <a:tc>
                  <a:txBody>
                    <a:bodyPr wrap="none"/>
                    <a:lstStyle/>
                    <a:p>
                      <a:pPr algn="l"/>
                      <a:r>
                        <a:rPr sz="800" b="1">
                          <a:solidFill>
                            <a:srgbClr val="2E7D32"/>
                          </a:solidFill>
                          <a:latin typeface="Calibri"/>
                        </a:rPr>
                        <a:t>▲ 16.4%</a:t>
                      </a:r>
                    </a:p>
                  </a:txBody>
                  <a:tcPr marL="85725" marR="38100" marT="19050" marB="19050" anchor="ctr">
                    <a:solidFill>
                      <a:srgbClr val="FFFFFF"/>
                    </a:solidFill>
                  </a:tcPr>
                </a:tc>
                <a:tc>
                  <a:txBody>
                    <a:bodyPr wrap="none"/>
                    <a:lstStyle/>
                    <a:p>
                      <a:pPr algn="l"/>
                      <a:r>
                        <a:rPr sz="800" b="1">
                          <a:solidFill>
                            <a:srgbClr val="2E7D32"/>
                          </a:solidFill>
                          <a:latin typeface="Calibri"/>
                        </a:rPr>
                        <a:t>▲ 15.0%</a:t>
                      </a:r>
                    </a:p>
                  </a:txBody>
                  <a:tcPr marL="85725" marR="38100" marT="19050" marB="19050" anchor="ctr">
                    <a:solidFill>
                      <a:srgbClr val="FFFFFF"/>
                    </a:solidFill>
                  </a:tcPr>
                </a:tc>
                <a:tc>
                  <a:txBody>
                    <a:bodyPr wrap="none"/>
                    <a:lstStyle/>
                    <a:p>
                      <a:pPr algn="l"/>
                      <a:r>
                        <a:rPr sz="800" b="1">
                          <a:solidFill>
                            <a:srgbClr val="2E7D32"/>
                          </a:solidFill>
                          <a:latin typeface="Calibri"/>
                        </a:rPr>
                        <a:t>▲ 13.8%</a:t>
                      </a:r>
                    </a:p>
                  </a:txBody>
                  <a:tcPr marL="85725" marR="38100" marT="19050" marB="19050" anchor="ctr">
                    <a:solidFill>
                      <a:srgbClr val="FFFFFF"/>
                    </a:solidFill>
                  </a:tcPr>
                </a:tc>
                <a:tc>
                  <a:txBody>
                    <a:bodyPr wrap="none"/>
                    <a:lstStyle/>
                    <a:p>
                      <a:pPr algn="l"/>
                      <a:r>
                        <a:rPr sz="800" b="1">
                          <a:solidFill>
                            <a:srgbClr val="2E7D32"/>
                          </a:solidFill>
                          <a:latin typeface="Calibri"/>
                        </a:rPr>
                        <a:t>▲ 12.8%</a:t>
                      </a:r>
                    </a:p>
                  </a:txBody>
                  <a:tcPr marL="85725" marR="38100" marT="19050" marB="19050" anchor="ctr">
                    <a:solidFill>
                      <a:srgbClr val="FFFFFF"/>
                    </a:solidFill>
                  </a:tcPr>
                </a:tc>
                <a:tc>
                  <a:txBody>
                    <a:bodyPr wrap="none"/>
                    <a:lstStyle/>
                    <a:p>
                      <a:pPr algn="l"/>
                      <a:r>
                        <a:rPr sz="800" b="1">
                          <a:solidFill>
                            <a:srgbClr val="2E7D32"/>
                          </a:solidFill>
                          <a:latin typeface="Calibri"/>
                        </a:rPr>
                        <a:t>▲ 12.0%</a:t>
                      </a:r>
                    </a:p>
                  </a:txBody>
                  <a:tcPr marL="85725" marR="38100" marT="19050" marB="19050" anchor="ctr">
                    <a:solidFill>
                      <a:srgbClr val="FFFFFF"/>
                    </a:solidFill>
                  </a:tcPr>
                </a:tc>
                <a:tc>
                  <a:txBody>
                    <a:bodyPr wrap="none"/>
                    <a:lstStyle/>
                    <a:p>
                      <a:pPr algn="l"/>
                      <a:r>
                        <a:rPr sz="800" b="1">
                          <a:solidFill>
                            <a:srgbClr val="2E7D32"/>
                          </a:solidFill>
                          <a:latin typeface="Calibri"/>
                        </a:rPr>
                        <a:t>▲ 11.3%</a:t>
                      </a:r>
                    </a:p>
                  </a:txBody>
                  <a:tcPr marL="85725" marR="38100" marT="19050" marB="19050" anchor="ctr">
                    <a:solidFill>
                      <a:srgbClr val="FFFFFF"/>
                    </a:solidFill>
                  </a:tcPr>
                </a:tc>
                <a:tc>
                  <a:txBody>
                    <a:bodyPr wrap="none"/>
                    <a:lstStyle/>
                    <a:p>
                      <a:pPr algn="l"/>
                      <a:r>
                        <a:rPr sz="800" b="1">
                          <a:solidFill>
                            <a:srgbClr val="2E7D32"/>
                          </a:solidFill>
                          <a:latin typeface="Calibri"/>
                        </a:rPr>
                        <a:t>▲ 10.8%</a:t>
                      </a:r>
                    </a:p>
                  </a:txBody>
                  <a:tcPr marL="85725" marR="38100" marT="19050" marB="19050" anchor="ctr">
                    <a:solidFill>
                      <a:srgbClr val="FFFFFF"/>
                    </a:solidFill>
                  </a:tcPr>
                </a:tc>
                <a:tc>
                  <a:txBody>
                    <a:bodyPr wrap="none"/>
                    <a:lstStyle/>
                    <a:p>
                      <a:pPr algn="l"/>
                      <a:r>
                        <a:rPr sz="800" b="1">
                          <a:solidFill>
                            <a:srgbClr val="2E7D32"/>
                          </a:solidFill>
                          <a:latin typeface="Calibri"/>
                        </a:rPr>
                        <a:t>▲ 10.3%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Ophthalmology</a:t>
                      </a:r>
                    </a:p>
                  </a:txBody>
                  <a:tcPr marL="85725" marR="38100" marT="19050" marB="19050" anchor="ctr">
                    <a:solidFill>
                      <a:srgbClr val="F5F8FA"/>
                    </a:solidFill>
                  </a:tcPr>
                </a:tc>
                <a:tc>
                  <a:txBody>
                    <a:bodyPr wrap="none"/>
                    <a:lstStyle/>
                    <a:p>
                      <a:pPr algn="l"/>
                      <a:r>
                        <a:rPr sz="800" b="1">
                          <a:solidFill>
                            <a:srgbClr val="2E7D32"/>
                          </a:solidFill>
                          <a:latin typeface="Calibri"/>
                        </a:rPr>
                        <a:t>▲ 18.3%</a:t>
                      </a:r>
                    </a:p>
                  </a:txBody>
                  <a:tcPr marL="85725" marR="38100" marT="19050" marB="19050" anchor="ctr">
                    <a:solidFill>
                      <a:srgbClr val="F5F8FA"/>
                    </a:solidFill>
                  </a:tcPr>
                </a:tc>
                <a:tc>
                  <a:txBody>
                    <a:bodyPr wrap="none"/>
                    <a:lstStyle/>
                    <a:p>
                      <a:pPr algn="l"/>
                      <a:r>
                        <a:rPr sz="800" b="1">
                          <a:solidFill>
                            <a:srgbClr val="2E7D32"/>
                          </a:solidFill>
                          <a:latin typeface="Calibri"/>
                        </a:rPr>
                        <a:t>▲ 25.4%</a:t>
                      </a:r>
                    </a:p>
                  </a:txBody>
                  <a:tcPr marL="85725" marR="38100" marT="19050" marB="19050" anchor="ctr">
                    <a:solidFill>
                      <a:srgbClr val="F5F8FA"/>
                    </a:solidFill>
                  </a:tcPr>
                </a:tc>
                <a:tc>
                  <a:txBody>
                    <a:bodyPr wrap="none"/>
                    <a:lstStyle/>
                    <a:p>
                      <a:pPr algn="l"/>
                      <a:r>
                        <a:rPr sz="800" b="1">
                          <a:solidFill>
                            <a:srgbClr val="2E7D32"/>
                          </a:solidFill>
                          <a:latin typeface="Calibri"/>
                        </a:rPr>
                        <a:t>▲ 29.4%</a:t>
                      </a:r>
                    </a:p>
                  </a:txBody>
                  <a:tcPr marL="85725" marR="38100" marT="19050" marB="19050" anchor="ctr">
                    <a:solidFill>
                      <a:srgbClr val="F5F8FA"/>
                    </a:solidFill>
                  </a:tcPr>
                </a:tc>
                <a:tc>
                  <a:txBody>
                    <a:bodyPr wrap="none"/>
                    <a:lstStyle/>
                    <a:p>
                      <a:pPr algn="l"/>
                      <a:r>
                        <a:rPr sz="800" b="1">
                          <a:solidFill>
                            <a:srgbClr val="2E7D32"/>
                          </a:solidFill>
                          <a:latin typeface="Calibri"/>
                        </a:rPr>
                        <a:t>▲ 26.6%</a:t>
                      </a:r>
                    </a:p>
                  </a:txBody>
                  <a:tcPr marL="85725" marR="38100" marT="19050" marB="19050" anchor="ctr">
                    <a:solidFill>
                      <a:srgbClr val="F5F8FA"/>
                    </a:solidFill>
                  </a:tcPr>
                </a:tc>
                <a:tc>
                  <a:txBody>
                    <a:bodyPr wrap="none"/>
                    <a:lstStyle/>
                    <a:p>
                      <a:pPr algn="l"/>
                      <a:r>
                        <a:rPr sz="800" b="1">
                          <a:solidFill>
                            <a:srgbClr val="2E7D32"/>
                          </a:solidFill>
                          <a:latin typeface="Calibri"/>
                        </a:rPr>
                        <a:t>▲ 22.8%</a:t>
                      </a:r>
                    </a:p>
                  </a:txBody>
                  <a:tcPr marL="85725" marR="38100" marT="19050" marB="19050" anchor="ctr">
                    <a:solidFill>
                      <a:srgbClr val="F5F8FA"/>
                    </a:solidFill>
                  </a:tcPr>
                </a:tc>
                <a:tc>
                  <a:txBody>
                    <a:bodyPr wrap="none"/>
                    <a:lstStyle/>
                    <a:p>
                      <a:pPr algn="l"/>
                      <a:r>
                        <a:rPr sz="800" b="1">
                          <a:solidFill>
                            <a:srgbClr val="2E7D32"/>
                          </a:solidFill>
                          <a:latin typeface="Calibri"/>
                        </a:rPr>
                        <a:t>▲ 20.5%</a:t>
                      </a:r>
                    </a:p>
                  </a:txBody>
                  <a:tcPr marL="85725" marR="38100" marT="19050" marB="19050" anchor="ctr">
                    <a:solidFill>
                      <a:srgbClr val="F5F8FA"/>
                    </a:solidFill>
                  </a:tcPr>
                </a:tc>
                <a:tc>
                  <a:txBody>
                    <a:bodyPr wrap="none"/>
                    <a:lstStyle/>
                    <a:p>
                      <a:pPr algn="l"/>
                      <a:r>
                        <a:rPr sz="800" b="1">
                          <a:solidFill>
                            <a:srgbClr val="2E7D32"/>
                          </a:solidFill>
                          <a:latin typeface="Calibri"/>
                        </a:rPr>
                        <a:t>▲ 18.1%</a:t>
                      </a:r>
                    </a:p>
                  </a:txBody>
                  <a:tcPr marL="85725" marR="38100" marT="19050" marB="19050" anchor="ctr">
                    <a:solidFill>
                      <a:srgbClr val="F5F8FA"/>
                    </a:solidFill>
                  </a:tcPr>
                </a:tc>
                <a:tc>
                  <a:txBody>
                    <a:bodyPr wrap="none"/>
                    <a:lstStyle/>
                    <a:p>
                      <a:pPr algn="l"/>
                      <a:r>
                        <a:rPr sz="800" b="1">
                          <a:solidFill>
                            <a:srgbClr val="2E7D32"/>
                          </a:solidFill>
                          <a:latin typeface="Calibri"/>
                        </a:rPr>
                        <a:t>▲ 16.3%</a:t>
                      </a:r>
                    </a:p>
                  </a:txBody>
                  <a:tcPr marL="85725" marR="38100" marT="19050" marB="19050" anchor="ctr">
                    <a:solidFill>
                      <a:srgbClr val="F5F8FA"/>
                    </a:solidFill>
                  </a:tcPr>
                </a:tc>
                <a:tc>
                  <a:txBody>
                    <a:bodyPr wrap="none"/>
                    <a:lstStyle/>
                    <a:p>
                      <a:pPr algn="l"/>
                      <a:r>
                        <a:rPr sz="800" b="1">
                          <a:solidFill>
                            <a:srgbClr val="2E7D32"/>
                          </a:solidFill>
                          <a:latin typeface="Calibri"/>
                        </a:rPr>
                        <a:t>▲ 14.9%</a:t>
                      </a:r>
                    </a:p>
                  </a:txBody>
                  <a:tcPr marL="85725" marR="38100" marT="19050" marB="19050" anchor="ctr">
                    <a:solidFill>
                      <a:srgbClr val="F5F8FA"/>
                    </a:solidFill>
                  </a:tcPr>
                </a:tc>
                <a:tc>
                  <a:txBody>
                    <a:bodyPr wrap="none"/>
                    <a:lstStyle/>
                    <a:p>
                      <a:pPr algn="l"/>
                      <a:r>
                        <a:rPr sz="800" b="1">
                          <a:solidFill>
                            <a:srgbClr val="2E7D32"/>
                          </a:solidFill>
                          <a:latin typeface="Calibri"/>
                        </a:rPr>
                        <a:t>▲ 13.7%</a:t>
                      </a:r>
                    </a:p>
                  </a:txBody>
                  <a:tcPr marL="85725" marR="38100" marT="19050" marB="19050" anchor="ctr">
                    <a:solidFill>
                      <a:srgbClr val="F5F8FA"/>
                    </a:solidFill>
                  </a:tcPr>
                </a:tc>
                <a:tc>
                  <a:txBody>
                    <a:bodyPr wrap="none"/>
                    <a:lstStyle/>
                    <a:p>
                      <a:pPr algn="l"/>
                      <a:r>
                        <a:rPr sz="800" b="1">
                          <a:solidFill>
                            <a:srgbClr val="2E7D32"/>
                          </a:solidFill>
                          <a:latin typeface="Calibri"/>
                        </a:rPr>
                        <a:t>▲ 12.8%</a:t>
                      </a:r>
                    </a:p>
                  </a:txBody>
                  <a:tcPr marL="85725" marR="38100" marT="19050" marB="19050" anchor="ctr">
                    <a:solidFill>
                      <a:srgbClr val="F5F8FA"/>
                    </a:solidFill>
                  </a:tcPr>
                </a:tc>
                <a:tc>
                  <a:txBody>
                    <a:bodyPr wrap="none"/>
                    <a:lstStyle/>
                    <a:p>
                      <a:pPr algn="l"/>
                      <a:r>
                        <a:rPr sz="800" b="1">
                          <a:solidFill>
                            <a:srgbClr val="2E7D32"/>
                          </a:solidFill>
                          <a:latin typeface="Calibri"/>
                        </a:rPr>
                        <a:t>▲ 11.9%</a:t>
                      </a:r>
                    </a:p>
                  </a:txBody>
                  <a:tcPr marL="85725" marR="38100" marT="19050" marB="19050" anchor="ctr">
                    <a:solidFill>
                      <a:srgbClr val="F5F8FA"/>
                    </a:solidFill>
                  </a:tcPr>
                </a:tc>
                <a:tc>
                  <a:txBody>
                    <a:bodyPr wrap="none"/>
                    <a:lstStyle/>
                    <a:p>
                      <a:pPr algn="l"/>
                      <a:r>
                        <a:rPr sz="800" b="1">
                          <a:solidFill>
                            <a:srgbClr val="2E7D32"/>
                          </a:solidFill>
                          <a:latin typeface="Calibri"/>
                        </a:rPr>
                        <a:t>▲ 11.2%</a:t>
                      </a:r>
                    </a:p>
                  </a:txBody>
                  <a:tcPr marL="85725" marR="38100" marT="19050" marB="19050" anchor="ctr">
                    <a:solidFill>
                      <a:srgbClr val="F5F8FA"/>
                    </a:solidFill>
                  </a:tcPr>
                </a:tc>
                <a:tc>
                  <a:txBody>
                    <a:bodyPr wrap="none"/>
                    <a:lstStyle/>
                    <a:p>
                      <a:pPr algn="l"/>
                      <a:r>
                        <a:rPr sz="800" b="1">
                          <a:solidFill>
                            <a:srgbClr val="2E7D32"/>
                          </a:solidFill>
                          <a:latin typeface="Calibri"/>
                        </a:rPr>
                        <a:t>▲ 10.7%</a:t>
                      </a:r>
                    </a:p>
                  </a:txBody>
                  <a:tcPr marL="85725" marR="38100" marT="19050" marB="19050" anchor="ctr">
                    <a:solidFill>
                      <a:srgbClr val="F5F8FA"/>
                    </a:solidFill>
                  </a:tcPr>
                </a:tc>
                <a:tc>
                  <a:txBody>
                    <a:bodyPr wrap="none"/>
                    <a:lstStyle/>
                    <a:p>
                      <a:pPr algn="l"/>
                      <a:r>
                        <a:rPr sz="800" b="1">
                          <a:solidFill>
                            <a:srgbClr val="2E7D32"/>
                          </a:solidFill>
                          <a:latin typeface="Calibri"/>
                        </a:rPr>
                        <a:t>▲ 10.2%</a:t>
                      </a:r>
                    </a:p>
                  </a:txBody>
                  <a:tcPr marL="85725" marR="38100" marT="19050" marB="19050" anchor="ctr">
                    <a:solidFill>
                      <a:srgbClr val="F5F8FA"/>
                    </a:solidFill>
                  </a:tcPr>
                </a:tc>
              </a:tr>
            </a:tbl>
          </a:graphicData>
        </a:graphic>
      </p:graphicFrame>
      <p:sp>
        <p:nvSpPr>
          <p:cNvPr id="14" name="TextBox 13"/>
          <p:cNvSpPr txBox="1"/>
          <p:nvPr/>
        </p:nvSpPr>
        <p:spPr>
          <a:xfrm>
            <a:off x="219075" y="31623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438525"/>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956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YoY Heatmap, By Therapeutic Application (%)  ·  light = lower, dark = higher growth</a:t>
            </a:r>
          </a:p>
        </p:txBody>
      </p:sp>
      <p:sp>
        <p:nvSpPr>
          <p:cNvPr id="17" name="TextBox 16"/>
          <p:cNvSpPr txBox="1"/>
          <p:nvPr/>
        </p:nvSpPr>
        <p:spPr>
          <a:xfrm>
            <a:off x="18573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8" name="TextBox 17"/>
          <p:cNvSpPr txBox="1"/>
          <p:nvPr/>
        </p:nvSpPr>
        <p:spPr>
          <a:xfrm>
            <a:off x="25012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19" name="TextBox 18"/>
          <p:cNvSpPr txBox="1"/>
          <p:nvPr/>
        </p:nvSpPr>
        <p:spPr>
          <a:xfrm>
            <a:off x="31451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0" name="TextBox 19"/>
          <p:cNvSpPr txBox="1"/>
          <p:nvPr/>
        </p:nvSpPr>
        <p:spPr>
          <a:xfrm>
            <a:off x="37890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1" name="TextBox 20"/>
          <p:cNvSpPr txBox="1"/>
          <p:nvPr/>
        </p:nvSpPr>
        <p:spPr>
          <a:xfrm>
            <a:off x="44329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2" name="TextBox 21"/>
          <p:cNvSpPr txBox="1"/>
          <p:nvPr/>
        </p:nvSpPr>
        <p:spPr>
          <a:xfrm>
            <a:off x="507682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3" name="TextBox 22"/>
          <p:cNvSpPr txBox="1"/>
          <p:nvPr/>
        </p:nvSpPr>
        <p:spPr>
          <a:xfrm>
            <a:off x="572071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4" name="TextBox 23"/>
          <p:cNvSpPr txBox="1"/>
          <p:nvPr/>
        </p:nvSpPr>
        <p:spPr>
          <a:xfrm>
            <a:off x="636460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5" name="TextBox 24"/>
          <p:cNvSpPr txBox="1"/>
          <p:nvPr/>
        </p:nvSpPr>
        <p:spPr>
          <a:xfrm>
            <a:off x="700849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6" name="TextBox 25"/>
          <p:cNvSpPr txBox="1"/>
          <p:nvPr/>
        </p:nvSpPr>
        <p:spPr>
          <a:xfrm>
            <a:off x="765238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7" name="TextBox 26"/>
          <p:cNvSpPr txBox="1"/>
          <p:nvPr/>
        </p:nvSpPr>
        <p:spPr>
          <a:xfrm>
            <a:off x="82962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8" name="TextBox 27"/>
          <p:cNvSpPr txBox="1"/>
          <p:nvPr/>
        </p:nvSpPr>
        <p:spPr>
          <a:xfrm>
            <a:off x="89401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29" name="TextBox 28"/>
          <p:cNvSpPr txBox="1"/>
          <p:nvPr/>
        </p:nvSpPr>
        <p:spPr>
          <a:xfrm>
            <a:off x="95840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0" name="TextBox 29"/>
          <p:cNvSpPr txBox="1"/>
          <p:nvPr/>
        </p:nvSpPr>
        <p:spPr>
          <a:xfrm>
            <a:off x="102279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1" name="TextBox 30"/>
          <p:cNvSpPr txBox="1"/>
          <p:nvPr/>
        </p:nvSpPr>
        <p:spPr>
          <a:xfrm>
            <a:off x="108718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2" name="TextBox 31"/>
          <p:cNvSpPr txBox="1"/>
          <p:nvPr/>
        </p:nvSpPr>
        <p:spPr>
          <a:xfrm>
            <a:off x="238125" y="3867150"/>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Rheumatology</a:t>
            </a:r>
          </a:p>
        </p:txBody>
      </p:sp>
      <p:sp>
        <p:nvSpPr>
          <p:cNvPr id="33" name="Rectangle 32"/>
          <p:cNvSpPr/>
          <p:nvPr/>
        </p:nvSpPr>
        <p:spPr>
          <a:xfrm>
            <a:off x="1857375" y="3867150"/>
            <a:ext cx="643890" cy="700088"/>
          </a:xfrm>
          <a:prstGeom prst="rect">
            <a:avLst/>
          </a:prstGeom>
          <a:solidFill>
            <a:srgbClr val="9F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01265" y="3867150"/>
            <a:ext cx="643890" cy="700088"/>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45155" y="3867150"/>
            <a:ext cx="643890" cy="700088"/>
          </a:xfrm>
          <a:prstGeom prst="rect">
            <a:avLst/>
          </a:prstGeom>
          <a:solidFill>
            <a:srgbClr val="0C4A7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89045" y="3867150"/>
            <a:ext cx="643890" cy="700088"/>
          </a:xfrm>
          <a:prstGeom prst="rect">
            <a:avLst/>
          </a:prstGeom>
          <a:solidFill>
            <a:srgbClr val="18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32935" y="3867150"/>
            <a:ext cx="643890" cy="700088"/>
          </a:xfrm>
          <a:prstGeom prst="rect">
            <a:avLst/>
          </a:prstGeom>
          <a:solidFill>
            <a:srgbClr val="4F98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6825" y="3867150"/>
            <a:ext cx="643890" cy="700088"/>
          </a:xfrm>
          <a:prstGeom prst="rect">
            <a:avLst/>
          </a:prstGeom>
          <a:solidFill>
            <a:srgbClr val="7AB0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20715" y="3867150"/>
            <a:ext cx="643890" cy="700088"/>
          </a:xfrm>
          <a:prstGeom prst="rect">
            <a:avLst/>
          </a:prstGeom>
          <a:solidFill>
            <a:srgbClr val="A1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64605" y="3867150"/>
            <a:ext cx="643890" cy="700088"/>
          </a:xfrm>
          <a:prstGeom prst="rect">
            <a:avLst/>
          </a:prstGeom>
          <a:solidFill>
            <a:srgbClr val="B6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08495" y="3867150"/>
            <a:ext cx="643890" cy="700088"/>
          </a:xfrm>
          <a:prstGeom prst="rect">
            <a:avLst/>
          </a:prstGeom>
          <a:solidFill>
            <a:srgbClr val="C8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52385" y="3867150"/>
            <a:ext cx="643890" cy="700088"/>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96275" y="3867150"/>
            <a:ext cx="643890" cy="700088"/>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40165" y="3867150"/>
            <a:ext cx="643890" cy="700088"/>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84055" y="3867150"/>
            <a:ext cx="643890" cy="700088"/>
          </a:xfrm>
          <a:prstGeom prst="rect">
            <a:avLst/>
          </a:prstGeom>
          <a:solidFill>
            <a:srgbClr val="E4F1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27945" y="3867150"/>
            <a:ext cx="643890" cy="700088"/>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71835" y="3867150"/>
            <a:ext cx="643890" cy="700088"/>
          </a:xfrm>
          <a:prstGeom prst="rect">
            <a:avLst/>
          </a:prstGeom>
          <a:solidFill>
            <a:srgbClr val="EB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8125" y="4567238"/>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Dermatology</a:t>
            </a:r>
          </a:p>
        </p:txBody>
      </p:sp>
      <p:sp>
        <p:nvSpPr>
          <p:cNvPr id="49" name="Rectangle 48"/>
          <p:cNvSpPr/>
          <p:nvPr/>
        </p:nvSpPr>
        <p:spPr>
          <a:xfrm>
            <a:off x="1857375" y="4567238"/>
            <a:ext cx="643890" cy="700088"/>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01265" y="4567238"/>
            <a:ext cx="643890" cy="700088"/>
          </a:xfrm>
          <a:prstGeom prst="rect">
            <a:avLst/>
          </a:prstGeom>
          <a:solidFill>
            <a:srgbClr val="5DA0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45155" y="4567238"/>
            <a:ext cx="643890" cy="700088"/>
          </a:xfrm>
          <a:prstGeom prst="rect">
            <a:avLst/>
          </a:prstGeom>
          <a:solidFill>
            <a:srgbClr val="217D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789045" y="4567238"/>
            <a:ext cx="643890" cy="700088"/>
          </a:xfrm>
          <a:prstGeom prst="rect">
            <a:avLst/>
          </a:prstGeom>
          <a:solidFill>
            <a:srgbClr val="4694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32935" y="4567238"/>
            <a:ext cx="643890" cy="700088"/>
          </a:xfrm>
          <a:prstGeom prst="rect">
            <a:avLst/>
          </a:prstGeom>
          <a:solidFill>
            <a:srgbClr val="8E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76825" y="4567238"/>
            <a:ext cx="643890" cy="700088"/>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720715" y="4567238"/>
            <a:ext cx="643890" cy="700088"/>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64605" y="4567238"/>
            <a:ext cx="643890" cy="700088"/>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08495" y="4567238"/>
            <a:ext cx="643890" cy="700088"/>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652385" y="4567238"/>
            <a:ext cx="643890" cy="700088"/>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96275" y="4567238"/>
            <a:ext cx="643890" cy="700088"/>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40165" y="4567238"/>
            <a:ext cx="643890" cy="700088"/>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584055" y="4567238"/>
            <a:ext cx="643890" cy="700088"/>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27945" y="4567238"/>
            <a:ext cx="643890" cy="700088"/>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871835" y="4567238"/>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38125" y="5267325"/>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Gastroenterology</a:t>
            </a:r>
          </a:p>
        </p:txBody>
      </p:sp>
      <p:sp>
        <p:nvSpPr>
          <p:cNvPr id="65" name="Rectangle 64"/>
          <p:cNvSpPr/>
          <p:nvPr/>
        </p:nvSpPr>
        <p:spPr>
          <a:xfrm>
            <a:off x="1857375" y="5267325"/>
            <a:ext cx="643890" cy="700088"/>
          </a:xfrm>
          <a:prstGeom prst="rect">
            <a:avLst/>
          </a:prstGeom>
          <a:solidFill>
            <a:srgbClr val="8F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501265" y="5267325"/>
            <a:ext cx="643890" cy="700088"/>
          </a:xfrm>
          <a:prstGeom prst="rect">
            <a:avLst/>
          </a:prstGeom>
          <a:solidFill>
            <a:srgbClr val="1878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145155" y="5267325"/>
            <a:ext cx="643890" cy="70008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789045" y="5267325"/>
            <a:ext cx="643890" cy="700088"/>
          </a:xfrm>
          <a:prstGeom prst="rect">
            <a:avLst/>
          </a:prstGeom>
          <a:solidFill>
            <a:srgbClr val="0E68A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432935" y="5267325"/>
            <a:ext cx="643890" cy="700088"/>
          </a:xfrm>
          <a:prstGeom prst="rect">
            <a:avLst/>
          </a:prstGeom>
          <a:solidFill>
            <a:srgbClr val="3A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076825" y="5267325"/>
            <a:ext cx="643890" cy="700088"/>
          </a:xfrm>
          <a:prstGeom prst="rect">
            <a:avLst/>
          </a:prstGeom>
          <a:solidFill>
            <a:srgbClr val="63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720715" y="5267325"/>
            <a:ext cx="643890" cy="700088"/>
          </a:xfrm>
          <a:prstGeom prst="rect">
            <a:avLst/>
          </a:prstGeom>
          <a:solidFill>
            <a:srgbClr val="92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364605" y="5267325"/>
            <a:ext cx="643890" cy="700088"/>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008495" y="5267325"/>
            <a:ext cx="643890" cy="700088"/>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652385" y="5267325"/>
            <a:ext cx="643890" cy="700088"/>
          </a:xfrm>
          <a:prstGeom prst="rect">
            <a:avLst/>
          </a:prstGeom>
          <a:solidFill>
            <a:srgbClr val="CADC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296275" y="5267325"/>
            <a:ext cx="643890" cy="700088"/>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940165" y="5267325"/>
            <a:ext cx="643890" cy="700088"/>
          </a:xfrm>
          <a:prstGeom prst="rect">
            <a:avLst/>
          </a:prstGeom>
          <a:solidFill>
            <a:srgbClr val="D8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584055" y="5267325"/>
            <a:ext cx="643890" cy="700088"/>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227945" y="5267325"/>
            <a:ext cx="643890" cy="700088"/>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871835" y="5267325"/>
            <a:ext cx="643890" cy="700088"/>
          </a:xfrm>
          <a:prstGeom prst="rect">
            <a:avLst/>
          </a:prstGeom>
          <a:solidFill>
            <a:srgbClr val="E4F1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8125" y="5967412"/>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Ophthalmology</a:t>
            </a:r>
          </a:p>
        </p:txBody>
      </p:sp>
      <p:sp>
        <p:nvSpPr>
          <p:cNvPr id="81" name="Rectangle 80"/>
          <p:cNvSpPr/>
          <p:nvPr/>
        </p:nvSpPr>
        <p:spPr>
          <a:xfrm>
            <a:off x="1857375" y="5967412"/>
            <a:ext cx="643890" cy="700088"/>
          </a:xfrm>
          <a:prstGeom prst="rect">
            <a:avLst/>
          </a:prstGeom>
          <a:solidFill>
            <a:srgbClr val="90BC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501265" y="5967412"/>
            <a:ext cx="643890" cy="700088"/>
          </a:xfrm>
          <a:prstGeom prst="rect">
            <a:avLst/>
          </a:prstGeom>
          <a:solidFill>
            <a:srgbClr val="19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145155" y="5967412"/>
            <a:ext cx="643890" cy="700088"/>
          </a:xfrm>
          <a:prstGeom prst="rect">
            <a:avLst/>
          </a:prstGeom>
          <a:solidFill>
            <a:srgbClr val="0B304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789045" y="5967412"/>
            <a:ext cx="643890" cy="700088"/>
          </a:xfrm>
          <a:prstGeom prst="rect">
            <a:avLst/>
          </a:prstGeom>
          <a:solidFill>
            <a:srgbClr val="0E6AA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432935" y="5967412"/>
            <a:ext cx="643890" cy="700088"/>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076825" y="5967412"/>
            <a:ext cx="643890" cy="700088"/>
          </a:xfrm>
          <a:prstGeom prst="rect">
            <a:avLst/>
          </a:prstGeom>
          <a:solidFill>
            <a:srgbClr val="65A4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720715" y="5967412"/>
            <a:ext cx="643890" cy="700088"/>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364605" y="5967412"/>
            <a:ext cx="643890" cy="700088"/>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008495" y="5967412"/>
            <a:ext cx="643890" cy="700088"/>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652385" y="5967412"/>
            <a:ext cx="643890" cy="700088"/>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296275" y="5967412"/>
            <a:ext cx="643890" cy="700088"/>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940165" y="5967412"/>
            <a:ext cx="643890" cy="700088"/>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584055" y="5967412"/>
            <a:ext cx="643890" cy="700088"/>
          </a:xfrm>
          <a:prstGeom prst="rect">
            <a:avLst/>
          </a:prstGeom>
          <a:solidFill>
            <a:srgbClr val="DD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227945" y="5967412"/>
            <a:ext cx="643890" cy="700088"/>
          </a:xfrm>
          <a:prstGeom prst="rect">
            <a:avLst/>
          </a:prstGeom>
          <a:solidFill>
            <a:srgbClr val="E2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871835" y="5967412"/>
            <a:ext cx="643890" cy="700088"/>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1572875" y="3905250"/>
            <a:ext cx="104775" cy="7572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973354"/>
            <a:ext cx="104775" cy="75724"/>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4041458"/>
            <a:ext cx="104775" cy="75724"/>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4109561"/>
            <a:ext cx="104775" cy="75724"/>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4177665"/>
            <a:ext cx="104775" cy="75724"/>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4245769"/>
            <a:ext cx="104775" cy="75724"/>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4313872"/>
            <a:ext cx="104775" cy="75724"/>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4381976"/>
            <a:ext cx="104775" cy="75724"/>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4450080"/>
            <a:ext cx="104775" cy="75724"/>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4518184"/>
            <a:ext cx="104775" cy="75724"/>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4586288"/>
            <a:ext cx="104775" cy="75724"/>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654391"/>
            <a:ext cx="104775" cy="75724"/>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722495"/>
            <a:ext cx="104775" cy="75724"/>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790599"/>
            <a:ext cx="104775" cy="75724"/>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858702"/>
            <a:ext cx="104775" cy="75724"/>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926806"/>
            <a:ext cx="104775" cy="75724"/>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994910"/>
            <a:ext cx="104775" cy="75724"/>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5063014"/>
            <a:ext cx="104775" cy="75724"/>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5131118"/>
            <a:ext cx="104775" cy="75724"/>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5199221"/>
            <a:ext cx="104775" cy="75724"/>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5267325"/>
            <a:ext cx="104775" cy="75724"/>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5335429"/>
            <a:ext cx="104775" cy="75724"/>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5403532"/>
            <a:ext cx="104775" cy="75724"/>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471636"/>
            <a:ext cx="104775" cy="75724"/>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539740"/>
            <a:ext cx="104775" cy="75724"/>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607844"/>
            <a:ext cx="104775" cy="75724"/>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675948"/>
            <a:ext cx="104775" cy="75724"/>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744051"/>
            <a:ext cx="104775" cy="75724"/>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812155"/>
            <a:ext cx="104775" cy="75724"/>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880259"/>
            <a:ext cx="104775" cy="75724"/>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948362"/>
            <a:ext cx="104775" cy="75724"/>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6016466"/>
            <a:ext cx="104775" cy="75724"/>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6084570"/>
            <a:ext cx="104775" cy="75724"/>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6152674"/>
            <a:ext cx="104775" cy="75724"/>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220778"/>
            <a:ext cx="104775" cy="75724"/>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288881"/>
            <a:ext cx="104775" cy="75724"/>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356985"/>
            <a:ext cx="104775" cy="75724"/>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425089"/>
            <a:ext cx="104775" cy="75724"/>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493192"/>
            <a:ext cx="104775" cy="75724"/>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561296"/>
            <a:ext cx="104775" cy="75724"/>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3905250"/>
            <a:ext cx="104775" cy="27241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1687175" y="3838575"/>
            <a:ext cx="276225" cy="133350"/>
          </a:xfrm>
          <a:prstGeom prst="rect">
            <a:avLst/>
          </a:prstGeom>
          <a:noFill/>
        </p:spPr>
        <p:txBody>
          <a:bodyPr wrap="none" lIns="0" rIns="0" tIns="0" bIns="0" anchor="ctr">
            <a:spAutoFit/>
          </a:bodyPr>
          <a:lstStyle/>
          <a:p>
            <a:pPr algn="l"/>
            <a:r>
              <a:rPr sz="700" b="0">
                <a:solidFill>
                  <a:srgbClr val="6C7A89"/>
                </a:solidFill>
                <a:latin typeface="Calibri"/>
              </a:rPr>
              <a:t>29%</a:t>
            </a:r>
          </a:p>
        </p:txBody>
      </p:sp>
      <p:sp>
        <p:nvSpPr>
          <p:cNvPr id="138" name="TextBox 137"/>
          <p:cNvSpPr txBox="1"/>
          <p:nvPr/>
        </p:nvSpPr>
        <p:spPr>
          <a:xfrm>
            <a:off x="11687175" y="5200650"/>
            <a:ext cx="276225" cy="133350"/>
          </a:xfrm>
          <a:prstGeom prst="rect">
            <a:avLst/>
          </a:prstGeom>
          <a:noFill/>
        </p:spPr>
        <p:txBody>
          <a:bodyPr wrap="none" lIns="0" rIns="0" tIns="0" bIns="0" anchor="ctr">
            <a:spAutoFit/>
          </a:bodyPr>
          <a:lstStyle/>
          <a:p>
            <a:pPr algn="l"/>
            <a:r>
              <a:rPr sz="700" b="0">
                <a:solidFill>
                  <a:srgbClr val="6C7A89"/>
                </a:solidFill>
                <a:latin typeface="Calibri"/>
              </a:rPr>
              <a:t>18%</a:t>
            </a:r>
          </a:p>
        </p:txBody>
      </p:sp>
      <p:sp>
        <p:nvSpPr>
          <p:cNvPr id="139" name="TextBox 138"/>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6%</a:t>
            </a:r>
          </a:p>
        </p:txBody>
      </p:sp>
      <p:sp>
        <p:nvSpPr>
          <p:cNvPr id="140" name="Rectangle 13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2" name="Rounded Rectangle 14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3" name="Rounded Rectangle 14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4" name="Rounded Rectangle 14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Value, By Therapeutic Application (%)</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447925"/>
          </a:xfrm>
          <a:prstGeom prst="roundRect">
            <a:avLst>
              <a:gd name="adj" fmla="val 31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YoY Growth, By Therapeutic Application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Therapeutic Application</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Rheumatology</a:t>
                      </a:r>
                    </a:p>
                  </a:txBody>
                  <a:tcPr marL="85725" marR="38100" marT="19050" marB="19050" anchor="ctr">
                    <a:solidFill>
                      <a:srgbClr val="FFFFFF"/>
                    </a:solidFill>
                  </a:tcPr>
                </a:tc>
                <a:tc>
                  <a:txBody>
                    <a:bodyPr wrap="none"/>
                    <a:lstStyle/>
                    <a:p>
                      <a:pPr algn="l"/>
                      <a:r>
                        <a:rPr sz="800" b="1">
                          <a:solidFill>
                            <a:srgbClr val="2E7D32"/>
                          </a:solidFill>
                          <a:latin typeface="Calibri"/>
                        </a:rPr>
                        <a:t>▲ 12.5%</a:t>
                      </a:r>
                    </a:p>
                  </a:txBody>
                  <a:tcPr marL="85725" marR="38100" marT="19050" marB="19050" anchor="ctr">
                    <a:solidFill>
                      <a:srgbClr val="FFFFFF"/>
                    </a:solidFill>
                  </a:tcPr>
                </a:tc>
                <a:tc>
                  <a:txBody>
                    <a:bodyPr wrap="none"/>
                    <a:lstStyle/>
                    <a:p>
                      <a:pPr algn="l"/>
                      <a:r>
                        <a:rPr sz="800" b="1">
                          <a:solidFill>
                            <a:srgbClr val="2E7D32"/>
                          </a:solidFill>
                          <a:latin typeface="Calibri"/>
                        </a:rPr>
                        <a:t>▲ 19.3%</a:t>
                      </a:r>
                    </a:p>
                  </a:txBody>
                  <a:tcPr marL="85725" marR="38100" marT="19050" marB="19050" anchor="ctr">
                    <a:solidFill>
                      <a:srgbClr val="FFFFFF"/>
                    </a:solidFill>
                  </a:tcPr>
                </a:tc>
                <a:tc>
                  <a:txBody>
                    <a:bodyPr wrap="none"/>
                    <a:lstStyle/>
                    <a:p>
                      <a:pPr algn="l"/>
                      <a:r>
                        <a:rPr sz="800" b="1">
                          <a:solidFill>
                            <a:srgbClr val="2E7D32"/>
                          </a:solidFill>
                          <a:latin typeface="Calibri"/>
                        </a:rPr>
                        <a:t>▲ 23.1%</a:t>
                      </a:r>
                    </a:p>
                  </a:txBody>
                  <a:tcPr marL="85725" marR="38100" marT="19050" marB="19050" anchor="ctr">
                    <a:solidFill>
                      <a:srgbClr val="FFFFFF"/>
                    </a:solidFill>
                  </a:tcPr>
                </a:tc>
                <a:tc>
                  <a:txBody>
                    <a:bodyPr wrap="none"/>
                    <a:lstStyle/>
                    <a:p>
                      <a:pPr algn="l"/>
                      <a:r>
                        <a:rPr sz="800" b="1">
                          <a:solidFill>
                            <a:srgbClr val="2E7D32"/>
                          </a:solidFill>
                          <a:latin typeface="Calibri"/>
                        </a:rPr>
                        <a:t>▲ 20.5%</a:t>
                      </a:r>
                    </a:p>
                  </a:txBody>
                  <a:tcPr marL="85725" marR="38100" marT="19050" marB="19050" anchor="ctr">
                    <a:solidFill>
                      <a:srgbClr val="FFFFFF"/>
                    </a:solidFill>
                  </a:tcPr>
                </a:tc>
                <a:tc>
                  <a:txBody>
                    <a:bodyPr wrap="none"/>
                    <a:lstStyle/>
                    <a:p>
                      <a:pPr algn="l"/>
                      <a:r>
                        <a:rPr sz="800" b="1">
                          <a:solidFill>
                            <a:srgbClr val="2E7D32"/>
                          </a:solidFill>
                          <a:latin typeface="Calibri"/>
                        </a:rPr>
                        <a:t>▲ 16.9%</a:t>
                      </a:r>
                    </a:p>
                  </a:txBody>
                  <a:tcPr marL="85725" marR="38100" marT="19050" marB="19050" anchor="ctr">
                    <a:solidFill>
                      <a:srgbClr val="FFFFFF"/>
                    </a:solidFill>
                  </a:tcPr>
                </a:tc>
                <a:tc>
                  <a:txBody>
                    <a:bodyPr wrap="none"/>
                    <a:lstStyle/>
                    <a:p>
                      <a:pPr algn="l"/>
                      <a:r>
                        <a:rPr sz="800" b="1">
                          <a:solidFill>
                            <a:srgbClr val="2E7D32"/>
                          </a:solidFill>
                          <a:latin typeface="Calibri"/>
                        </a:rPr>
                        <a:t>▲ 14.8%</a:t>
                      </a:r>
                    </a:p>
                  </a:txBody>
                  <a:tcPr marL="85725" marR="38100" marT="19050" marB="19050" anchor="ctr">
                    <a:solidFill>
                      <a:srgbClr val="FFFFFF"/>
                    </a:solidFill>
                  </a:tcPr>
                </a:tc>
                <a:tc>
                  <a:txBody>
                    <a:bodyPr wrap="none"/>
                    <a:lstStyle/>
                    <a:p>
                      <a:pPr algn="l"/>
                      <a:r>
                        <a:rPr sz="800" b="1">
                          <a:solidFill>
                            <a:srgbClr val="2E7D32"/>
                          </a:solidFill>
                          <a:latin typeface="Calibri"/>
                        </a:rPr>
                        <a:t>▲ 12.4%</a:t>
                      </a:r>
                    </a:p>
                  </a:txBody>
                  <a:tcPr marL="85725" marR="38100" marT="19050" marB="19050" anchor="ctr">
                    <a:solidFill>
                      <a:srgbClr val="FFFFFF"/>
                    </a:solidFill>
                  </a:tcPr>
                </a:tc>
                <a:tc>
                  <a:txBody>
                    <a:bodyPr wrap="none"/>
                    <a:lstStyle/>
                    <a:p>
                      <a:pPr algn="l"/>
                      <a:r>
                        <a:rPr sz="800" b="1">
                          <a:solidFill>
                            <a:srgbClr val="2E7D32"/>
                          </a:solidFill>
                          <a:latin typeface="Calibri"/>
                        </a:rPr>
                        <a:t>▲ 10.8%</a:t>
                      </a:r>
                    </a:p>
                  </a:txBody>
                  <a:tcPr marL="85725" marR="38100" marT="19050" marB="19050" anchor="ctr">
                    <a:solidFill>
                      <a:srgbClr val="FFFFFF"/>
                    </a:solidFill>
                  </a:tcPr>
                </a:tc>
                <a:tc>
                  <a:txBody>
                    <a:bodyPr wrap="none"/>
                    <a:lstStyle/>
                    <a:p>
                      <a:pPr algn="l"/>
                      <a:r>
                        <a:rPr sz="800" b="1">
                          <a:solidFill>
                            <a:srgbClr val="2E7D32"/>
                          </a:solidFill>
                          <a:latin typeface="Calibri"/>
                        </a:rPr>
                        <a:t>▲ 9.5%</a:t>
                      </a:r>
                    </a:p>
                  </a:txBody>
                  <a:tcPr marL="85725" marR="38100" marT="19050" marB="19050" anchor="ctr">
                    <a:solidFill>
                      <a:srgbClr val="FFFFFF"/>
                    </a:solidFill>
                  </a:tcPr>
                </a:tc>
                <a:tc>
                  <a:txBody>
                    <a:bodyPr wrap="none"/>
                    <a:lstStyle/>
                    <a:p>
                      <a:pPr algn="l"/>
                      <a:r>
                        <a:rPr sz="800" b="1">
                          <a:solidFill>
                            <a:srgbClr val="2E7D32"/>
                          </a:solidFill>
                          <a:latin typeface="Calibri"/>
                        </a:rPr>
                        <a:t>▲ 8.4%</a:t>
                      </a:r>
                    </a:p>
                  </a:txBody>
                  <a:tcPr marL="85725" marR="38100" marT="19050" marB="19050" anchor="ctr">
                    <a:solidFill>
                      <a:srgbClr val="FFFFFF"/>
                    </a:solidFill>
                  </a:tcPr>
                </a:tc>
                <a:tc>
                  <a:txBody>
                    <a:bodyPr wrap="none"/>
                    <a:lstStyle/>
                    <a:p>
                      <a:pPr algn="l"/>
                      <a:r>
                        <a:rPr sz="800" b="1">
                          <a:solidFill>
                            <a:srgbClr val="2E7D32"/>
                          </a:solidFill>
                          <a:latin typeface="Calibri"/>
                        </a:rPr>
                        <a:t>▲ 7.5%</a:t>
                      </a:r>
                    </a:p>
                  </a:txBody>
                  <a:tcPr marL="85725" marR="38100" marT="19050" marB="19050" anchor="ctr">
                    <a:solidFill>
                      <a:srgbClr val="FFFFFF"/>
                    </a:solidFill>
                  </a:tcPr>
                </a:tc>
                <a:tc>
                  <a:txBody>
                    <a:bodyPr wrap="none"/>
                    <a:lstStyle/>
                    <a:p>
                      <a:pPr algn="l"/>
                      <a:r>
                        <a:rPr sz="800" b="1">
                          <a:solidFill>
                            <a:srgbClr val="2E7D32"/>
                          </a:solidFill>
                          <a:latin typeface="Calibri"/>
                        </a:rPr>
                        <a:t>▲ 6.7%</a:t>
                      </a:r>
                    </a:p>
                  </a:txBody>
                  <a:tcPr marL="85725" marR="38100" marT="19050" marB="19050" anchor="ctr">
                    <a:solidFill>
                      <a:srgbClr val="FFFFFF"/>
                    </a:solidFill>
                  </a:tcPr>
                </a:tc>
                <a:tc>
                  <a:txBody>
                    <a:bodyPr wrap="none"/>
                    <a:lstStyle/>
                    <a:p>
                      <a:pPr algn="l"/>
                      <a:r>
                        <a:rPr sz="800" b="1">
                          <a:solidFill>
                            <a:srgbClr val="2E7D32"/>
                          </a:solidFill>
                          <a:latin typeface="Calibri"/>
                        </a:rPr>
                        <a:t>▲ 6.1%</a:t>
                      </a:r>
                    </a:p>
                  </a:txBody>
                  <a:tcPr marL="85725" marR="38100" marT="19050" marB="19050" anchor="ctr">
                    <a:solidFill>
                      <a:srgbClr val="FFFFFF"/>
                    </a:solidFill>
                  </a:tcPr>
                </a:tc>
                <a:tc>
                  <a:txBody>
                    <a:bodyPr wrap="none"/>
                    <a:lstStyle/>
                    <a:p>
                      <a:pPr algn="l"/>
                      <a:r>
                        <a:rPr sz="800" b="1">
                          <a:solidFill>
                            <a:srgbClr val="2E7D32"/>
                          </a:solidFill>
                          <a:latin typeface="Calibri"/>
                        </a:rPr>
                        <a:t>▲ 5.6%</a:t>
                      </a:r>
                    </a:p>
                  </a:txBody>
                  <a:tcPr marL="85725" marR="38100" marT="19050" marB="19050" anchor="ctr">
                    <a:solidFill>
                      <a:srgbClr val="FFFFFF"/>
                    </a:solidFill>
                  </a:tcPr>
                </a:tc>
                <a:tc>
                  <a:txBody>
                    <a:bodyPr wrap="none"/>
                    <a:lstStyle/>
                    <a:p>
                      <a:pPr algn="l"/>
                      <a:r>
                        <a:rPr sz="800" b="1">
                          <a:solidFill>
                            <a:srgbClr val="2E7D32"/>
                          </a:solidFill>
                          <a:latin typeface="Calibri"/>
                        </a:rPr>
                        <a:t>▲ 5.2%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Dermatology</a:t>
                      </a:r>
                    </a:p>
                  </a:txBody>
                  <a:tcPr marL="85725" marR="38100" marT="19050" marB="19050" anchor="ctr">
                    <a:solidFill>
                      <a:srgbClr val="F5F8FA"/>
                    </a:solidFill>
                  </a:tcPr>
                </a:tc>
                <a:tc>
                  <a:txBody>
                    <a:bodyPr wrap="none"/>
                    <a:lstStyle/>
                    <a:p>
                      <a:pPr algn="l"/>
                      <a:r>
                        <a:rPr sz="800" b="1">
                          <a:solidFill>
                            <a:srgbClr val="A86F00"/>
                          </a:solidFill>
                          <a:latin typeface="Calibri"/>
                        </a:rPr>
                        <a:t>▶ 11.7%</a:t>
                      </a:r>
                    </a:p>
                  </a:txBody>
                  <a:tcPr marL="85725" marR="38100" marT="19050" marB="19050" anchor="ctr">
                    <a:solidFill>
                      <a:srgbClr val="F5F8FA"/>
                    </a:solidFill>
                  </a:tcPr>
                </a:tc>
                <a:tc>
                  <a:txBody>
                    <a:bodyPr wrap="none"/>
                    <a:lstStyle/>
                    <a:p>
                      <a:pPr algn="l"/>
                      <a:r>
                        <a:rPr sz="800" b="1">
                          <a:solidFill>
                            <a:srgbClr val="A86F00"/>
                          </a:solidFill>
                          <a:latin typeface="Calibri"/>
                        </a:rPr>
                        <a:t>▶ 18.5%</a:t>
                      </a:r>
                    </a:p>
                  </a:txBody>
                  <a:tcPr marL="85725" marR="38100" marT="19050" marB="19050" anchor="ctr">
                    <a:solidFill>
                      <a:srgbClr val="F5F8FA"/>
                    </a:solidFill>
                  </a:tcPr>
                </a:tc>
                <a:tc>
                  <a:txBody>
                    <a:bodyPr wrap="none"/>
                    <a:lstStyle/>
                    <a:p>
                      <a:pPr algn="l"/>
                      <a:r>
                        <a:rPr sz="800" b="1">
                          <a:solidFill>
                            <a:srgbClr val="A86F00"/>
                          </a:solidFill>
                          <a:latin typeface="Calibri"/>
                        </a:rPr>
                        <a:t>▶ 22.3%</a:t>
                      </a:r>
                    </a:p>
                  </a:txBody>
                  <a:tcPr marL="85725" marR="38100" marT="19050" marB="19050" anchor="ctr">
                    <a:solidFill>
                      <a:srgbClr val="F5F8FA"/>
                    </a:solidFill>
                  </a:tcPr>
                </a:tc>
                <a:tc>
                  <a:txBody>
                    <a:bodyPr wrap="none"/>
                    <a:lstStyle/>
                    <a:p>
                      <a:pPr algn="l"/>
                      <a:r>
                        <a:rPr sz="800" b="1">
                          <a:solidFill>
                            <a:srgbClr val="A86F00"/>
                          </a:solidFill>
                          <a:latin typeface="Calibri"/>
                        </a:rPr>
                        <a:t>▶ 19.6%</a:t>
                      </a:r>
                    </a:p>
                  </a:txBody>
                  <a:tcPr marL="85725" marR="38100" marT="19050" marB="19050" anchor="ctr">
                    <a:solidFill>
                      <a:srgbClr val="F5F8FA"/>
                    </a:solidFill>
                  </a:tcPr>
                </a:tc>
                <a:tc>
                  <a:txBody>
                    <a:bodyPr wrap="none"/>
                    <a:lstStyle/>
                    <a:p>
                      <a:pPr algn="l"/>
                      <a:r>
                        <a:rPr sz="800" b="1">
                          <a:solidFill>
                            <a:srgbClr val="A86F00"/>
                          </a:solidFill>
                          <a:latin typeface="Calibri"/>
                        </a:rPr>
                        <a:t>▶ 16.0%</a:t>
                      </a:r>
                    </a:p>
                  </a:txBody>
                  <a:tcPr marL="85725" marR="38100" marT="19050" marB="19050" anchor="ctr">
                    <a:solidFill>
                      <a:srgbClr val="F5F8FA"/>
                    </a:solidFill>
                  </a:tcPr>
                </a:tc>
                <a:tc>
                  <a:txBody>
                    <a:bodyPr wrap="none"/>
                    <a:lstStyle/>
                    <a:p>
                      <a:pPr algn="l"/>
                      <a:r>
                        <a:rPr sz="800" b="1">
                          <a:solidFill>
                            <a:srgbClr val="A86F00"/>
                          </a:solidFill>
                          <a:latin typeface="Calibri"/>
                        </a:rPr>
                        <a:t>▶ 13.9%</a:t>
                      </a:r>
                    </a:p>
                  </a:txBody>
                  <a:tcPr marL="85725" marR="38100" marT="19050" marB="19050" anchor="ctr">
                    <a:solidFill>
                      <a:srgbClr val="F5F8FA"/>
                    </a:solidFill>
                  </a:tcPr>
                </a:tc>
                <a:tc>
                  <a:txBody>
                    <a:bodyPr wrap="none"/>
                    <a:lstStyle/>
                    <a:p>
                      <a:pPr algn="l"/>
                      <a:r>
                        <a:rPr sz="800" b="1">
                          <a:solidFill>
                            <a:srgbClr val="A86F00"/>
                          </a:solidFill>
                          <a:latin typeface="Calibri"/>
                        </a:rPr>
                        <a:t>▶ 11.6%</a:t>
                      </a:r>
                    </a:p>
                  </a:txBody>
                  <a:tcPr marL="85725" marR="38100" marT="19050" marB="19050" anchor="ctr">
                    <a:solidFill>
                      <a:srgbClr val="F5F8FA"/>
                    </a:solidFill>
                  </a:tcPr>
                </a:tc>
                <a:tc>
                  <a:txBody>
                    <a:bodyPr wrap="none"/>
                    <a:lstStyle/>
                    <a:p>
                      <a:pPr algn="l"/>
                      <a:r>
                        <a:rPr sz="800" b="1">
                          <a:solidFill>
                            <a:srgbClr val="A86F00"/>
                          </a:solidFill>
                          <a:latin typeface="Calibri"/>
                        </a:rPr>
                        <a:t>▶ 10.0%</a:t>
                      </a:r>
                    </a:p>
                  </a:txBody>
                  <a:tcPr marL="85725" marR="38100" marT="19050" marB="19050" anchor="ctr">
                    <a:solidFill>
                      <a:srgbClr val="F5F8FA"/>
                    </a:solidFill>
                  </a:tcPr>
                </a:tc>
                <a:tc>
                  <a:txBody>
                    <a:bodyPr wrap="none"/>
                    <a:lstStyle/>
                    <a:p>
                      <a:pPr algn="l"/>
                      <a:r>
                        <a:rPr sz="800" b="1">
                          <a:solidFill>
                            <a:srgbClr val="A86F00"/>
                          </a:solidFill>
                          <a:latin typeface="Calibri"/>
                        </a:rPr>
                        <a:t>▶ 8.6%</a:t>
                      </a:r>
                    </a:p>
                  </a:txBody>
                  <a:tcPr marL="85725" marR="38100" marT="19050" marB="19050" anchor="ctr">
                    <a:solidFill>
                      <a:srgbClr val="F5F8FA"/>
                    </a:solidFill>
                  </a:tcPr>
                </a:tc>
                <a:tc>
                  <a:txBody>
                    <a:bodyPr wrap="none"/>
                    <a:lstStyle/>
                    <a:p>
                      <a:pPr algn="l"/>
                      <a:r>
                        <a:rPr sz="800" b="1">
                          <a:solidFill>
                            <a:srgbClr val="A86F00"/>
                          </a:solidFill>
                          <a:latin typeface="Calibri"/>
                        </a:rPr>
                        <a:t>▶ 7.5%</a:t>
                      </a:r>
                    </a:p>
                  </a:txBody>
                  <a:tcPr marL="85725" marR="38100" marT="19050" marB="19050" anchor="ctr">
                    <a:solidFill>
                      <a:srgbClr val="F5F8FA"/>
                    </a:solidFill>
                  </a:tcPr>
                </a:tc>
                <a:tc>
                  <a:txBody>
                    <a:bodyPr wrap="none"/>
                    <a:lstStyle/>
                    <a:p>
                      <a:pPr algn="l"/>
                      <a:r>
                        <a:rPr sz="800" b="1">
                          <a:solidFill>
                            <a:srgbClr val="A86F00"/>
                          </a:solidFill>
                          <a:latin typeface="Calibri"/>
                        </a:rPr>
                        <a:t>▶ 6.6%</a:t>
                      </a:r>
                    </a:p>
                  </a:txBody>
                  <a:tcPr marL="85725" marR="38100" marT="19050" marB="19050" anchor="ctr">
                    <a:solidFill>
                      <a:srgbClr val="F5F8FA"/>
                    </a:solidFill>
                  </a:tcPr>
                </a:tc>
                <a:tc>
                  <a:txBody>
                    <a:bodyPr wrap="none"/>
                    <a:lstStyle/>
                    <a:p>
                      <a:pPr algn="l"/>
                      <a:r>
                        <a:rPr sz="800" b="1">
                          <a:solidFill>
                            <a:srgbClr val="A86F00"/>
                          </a:solidFill>
                          <a:latin typeface="Calibri"/>
                        </a:rPr>
                        <a:t>▶ 5.8%</a:t>
                      </a:r>
                    </a:p>
                  </a:txBody>
                  <a:tcPr marL="85725" marR="38100" marT="19050" marB="19050" anchor="ctr">
                    <a:solidFill>
                      <a:srgbClr val="F5F8FA"/>
                    </a:solidFill>
                  </a:tcPr>
                </a:tc>
                <a:tc>
                  <a:txBody>
                    <a:bodyPr wrap="none"/>
                    <a:lstStyle/>
                    <a:p>
                      <a:pPr algn="l"/>
                      <a:r>
                        <a:rPr sz="800" b="1">
                          <a:solidFill>
                            <a:srgbClr val="A86F00"/>
                          </a:solidFill>
                          <a:latin typeface="Calibri"/>
                        </a:rPr>
                        <a:t>▶ 5.2%</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c>
                  <a:txBody>
                    <a:bodyPr wrap="none"/>
                    <a:lstStyle/>
                    <a:p>
                      <a:pPr algn="l"/>
                      <a:r>
                        <a:rPr sz="800" b="1">
                          <a:solidFill>
                            <a:srgbClr val="A86F00"/>
                          </a:solidFill>
                          <a:latin typeface="Calibri"/>
                        </a:rPr>
                        <a:t>▶ 4.2%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Gastroenterology</a:t>
                      </a:r>
                    </a:p>
                  </a:txBody>
                  <a:tcPr marL="85725" marR="38100" marT="19050" marB="19050" anchor="ctr">
                    <a:solidFill>
                      <a:srgbClr val="FFFFFF"/>
                    </a:solidFill>
                  </a:tcPr>
                </a:tc>
                <a:tc>
                  <a:txBody>
                    <a:bodyPr wrap="none"/>
                    <a:lstStyle/>
                    <a:p>
                      <a:pPr algn="l"/>
                      <a:r>
                        <a:rPr sz="800" b="1">
                          <a:solidFill>
                            <a:srgbClr val="2E7D32"/>
                          </a:solidFill>
                          <a:latin typeface="Calibri"/>
                        </a:rPr>
                        <a:t>▲ 13.6%</a:t>
                      </a:r>
                    </a:p>
                  </a:txBody>
                  <a:tcPr marL="85725" marR="38100" marT="19050" marB="19050" anchor="ctr">
                    <a:solidFill>
                      <a:srgbClr val="FFFFFF"/>
                    </a:solidFill>
                  </a:tcPr>
                </a:tc>
                <a:tc>
                  <a:txBody>
                    <a:bodyPr wrap="none"/>
                    <a:lstStyle/>
                    <a:p>
                      <a:pPr algn="l"/>
                      <a:r>
                        <a:rPr sz="800" b="1">
                          <a:solidFill>
                            <a:srgbClr val="2E7D32"/>
                          </a:solidFill>
                          <a:latin typeface="Calibri"/>
                        </a:rPr>
                        <a:t>▲ 20.5%</a:t>
                      </a:r>
                    </a:p>
                  </a:txBody>
                  <a:tcPr marL="85725" marR="38100" marT="19050" marB="19050" anchor="ctr">
                    <a:solidFill>
                      <a:srgbClr val="FFFFFF"/>
                    </a:solidFill>
                  </a:tcPr>
                </a:tc>
                <a:tc>
                  <a:txBody>
                    <a:bodyPr wrap="none"/>
                    <a:lstStyle/>
                    <a:p>
                      <a:pPr algn="l"/>
                      <a:r>
                        <a:rPr sz="800" b="1">
                          <a:solidFill>
                            <a:srgbClr val="2E7D32"/>
                          </a:solidFill>
                          <a:latin typeface="Calibri"/>
                        </a:rPr>
                        <a:t>▲ 24.4%</a:t>
                      </a:r>
                    </a:p>
                  </a:txBody>
                  <a:tcPr marL="85725" marR="38100" marT="19050" marB="19050" anchor="ctr">
                    <a:solidFill>
                      <a:srgbClr val="FFFFFF"/>
                    </a:solidFill>
                  </a:tcPr>
                </a:tc>
                <a:tc>
                  <a:txBody>
                    <a:bodyPr wrap="none"/>
                    <a:lstStyle/>
                    <a:p>
                      <a:pPr algn="l"/>
                      <a:r>
                        <a:rPr sz="800" b="1">
                          <a:solidFill>
                            <a:srgbClr val="2E7D32"/>
                          </a:solidFill>
                          <a:latin typeface="Calibri"/>
                        </a:rPr>
                        <a:t>▲ 21.7%</a:t>
                      </a:r>
                    </a:p>
                  </a:txBody>
                  <a:tcPr marL="85725" marR="38100" marT="19050" marB="19050" anchor="ctr">
                    <a:solidFill>
                      <a:srgbClr val="FFFFFF"/>
                    </a:solidFill>
                  </a:tcPr>
                </a:tc>
                <a:tc>
                  <a:txBody>
                    <a:bodyPr wrap="none"/>
                    <a:lstStyle/>
                    <a:p>
                      <a:pPr algn="l"/>
                      <a:r>
                        <a:rPr sz="800" b="1">
                          <a:solidFill>
                            <a:srgbClr val="2E7D32"/>
                          </a:solidFill>
                          <a:latin typeface="Calibri"/>
                        </a:rPr>
                        <a:t>▲ 18.1%</a:t>
                      </a:r>
                    </a:p>
                  </a:txBody>
                  <a:tcPr marL="85725" marR="38100" marT="19050" marB="19050" anchor="ctr">
                    <a:solidFill>
                      <a:srgbClr val="FFFFFF"/>
                    </a:solidFill>
                  </a:tcPr>
                </a:tc>
                <a:tc>
                  <a:txBody>
                    <a:bodyPr wrap="none"/>
                    <a:lstStyle/>
                    <a:p>
                      <a:pPr algn="l"/>
                      <a:r>
                        <a:rPr sz="800" b="1">
                          <a:solidFill>
                            <a:srgbClr val="2E7D32"/>
                          </a:solidFill>
                          <a:latin typeface="Calibri"/>
                        </a:rPr>
                        <a:t>▲ 15.9%</a:t>
                      </a:r>
                    </a:p>
                  </a:txBody>
                  <a:tcPr marL="85725" marR="38100" marT="19050" marB="19050" anchor="ctr">
                    <a:solidFill>
                      <a:srgbClr val="FFFFFF"/>
                    </a:solidFill>
                  </a:tcPr>
                </a:tc>
                <a:tc>
                  <a:txBody>
                    <a:bodyPr wrap="none"/>
                    <a:lstStyle/>
                    <a:p>
                      <a:pPr algn="l"/>
                      <a:r>
                        <a:rPr sz="800" b="1">
                          <a:solidFill>
                            <a:srgbClr val="2E7D32"/>
                          </a:solidFill>
                          <a:latin typeface="Calibri"/>
                        </a:rPr>
                        <a:t>▲ 13.6%</a:t>
                      </a:r>
                    </a:p>
                  </a:txBody>
                  <a:tcPr marL="85725" marR="38100" marT="19050" marB="19050" anchor="ctr">
                    <a:solidFill>
                      <a:srgbClr val="FFFFFF"/>
                    </a:solidFill>
                  </a:tcPr>
                </a:tc>
                <a:tc>
                  <a:txBody>
                    <a:bodyPr wrap="none"/>
                    <a:lstStyle/>
                    <a:p>
                      <a:pPr algn="l"/>
                      <a:r>
                        <a:rPr sz="800" b="1">
                          <a:solidFill>
                            <a:srgbClr val="2E7D32"/>
                          </a:solidFill>
                          <a:latin typeface="Calibri"/>
                        </a:rPr>
                        <a:t>▲ 11.9%</a:t>
                      </a:r>
                    </a:p>
                  </a:txBody>
                  <a:tcPr marL="85725" marR="38100" marT="19050" marB="19050" anchor="ctr">
                    <a:solidFill>
                      <a:srgbClr val="FFFFFF"/>
                    </a:solidFill>
                  </a:tcPr>
                </a:tc>
                <a:tc>
                  <a:txBody>
                    <a:bodyPr wrap="none"/>
                    <a:lstStyle/>
                    <a:p>
                      <a:pPr algn="l"/>
                      <a:r>
                        <a:rPr sz="800" b="1">
                          <a:solidFill>
                            <a:srgbClr val="2E7D32"/>
                          </a:solidFill>
                          <a:latin typeface="Calibri"/>
                        </a:rPr>
                        <a:t>▲ 10.6%</a:t>
                      </a:r>
                    </a:p>
                  </a:txBody>
                  <a:tcPr marL="85725" marR="38100" marT="19050" marB="19050" anchor="ctr">
                    <a:solidFill>
                      <a:srgbClr val="FFFFFF"/>
                    </a:solidFill>
                  </a:tcPr>
                </a:tc>
                <a:tc>
                  <a:txBody>
                    <a:bodyPr wrap="none"/>
                    <a:lstStyle/>
                    <a:p>
                      <a:pPr algn="l"/>
                      <a:r>
                        <a:rPr sz="800" b="1">
                          <a:solidFill>
                            <a:srgbClr val="2E7D32"/>
                          </a:solidFill>
                          <a:latin typeface="Calibri"/>
                        </a:rPr>
                        <a:t>▲ 9.5%</a:t>
                      </a:r>
                    </a:p>
                  </a:txBody>
                  <a:tcPr marL="85725" marR="38100" marT="19050" marB="19050" anchor="ctr">
                    <a:solidFill>
                      <a:srgbClr val="FFFFFF"/>
                    </a:solidFill>
                  </a:tcPr>
                </a:tc>
                <a:tc>
                  <a:txBody>
                    <a:bodyPr wrap="none"/>
                    <a:lstStyle/>
                    <a:p>
                      <a:pPr algn="l"/>
                      <a:r>
                        <a:rPr sz="800" b="1">
                          <a:solidFill>
                            <a:srgbClr val="2E7D32"/>
                          </a:solidFill>
                          <a:latin typeface="Calibri"/>
                        </a:rPr>
                        <a:t>▲ 8.5%</a:t>
                      </a:r>
                    </a:p>
                  </a:txBody>
                  <a:tcPr marL="85725" marR="38100" marT="19050" marB="19050" anchor="ctr">
                    <a:solidFill>
                      <a:srgbClr val="FFFFFF"/>
                    </a:solidFill>
                  </a:tcPr>
                </a:tc>
                <a:tc>
                  <a:txBody>
                    <a:bodyPr wrap="none"/>
                    <a:lstStyle/>
                    <a:p>
                      <a:pPr algn="l"/>
                      <a:r>
                        <a:rPr sz="800" b="1">
                          <a:solidFill>
                            <a:srgbClr val="2E7D32"/>
                          </a:solidFill>
                          <a:latin typeface="Calibri"/>
                        </a:rPr>
                        <a:t>▲ 7.7%</a:t>
                      </a:r>
                    </a:p>
                  </a:txBody>
                  <a:tcPr marL="85725" marR="38100" marT="19050" marB="19050" anchor="ctr">
                    <a:solidFill>
                      <a:srgbClr val="FFFFFF"/>
                    </a:solidFill>
                  </a:tcPr>
                </a:tc>
                <a:tc>
                  <a:txBody>
                    <a:bodyPr wrap="none"/>
                    <a:lstStyle/>
                    <a:p>
                      <a:pPr algn="l"/>
                      <a:r>
                        <a:rPr sz="800" b="1">
                          <a:solidFill>
                            <a:srgbClr val="2E7D32"/>
                          </a:solidFill>
                          <a:latin typeface="Calibri"/>
                        </a:rPr>
                        <a:t>▲ 7.1%</a:t>
                      </a:r>
                    </a:p>
                  </a:txBody>
                  <a:tcPr marL="85725" marR="38100" marT="19050" marB="19050" anchor="ctr">
                    <a:solidFill>
                      <a:srgbClr val="FFFFFF"/>
                    </a:solidFill>
                  </a:tcPr>
                </a:tc>
                <a:tc>
                  <a:txBody>
                    <a:bodyPr wrap="none"/>
                    <a:lstStyle/>
                    <a:p>
                      <a:pPr algn="l"/>
                      <a:r>
                        <a:rPr sz="800" b="1">
                          <a:solidFill>
                            <a:srgbClr val="2E7D32"/>
                          </a:solidFill>
                          <a:latin typeface="Calibri"/>
                        </a:rPr>
                        <a:t>▲ 6.6%</a:t>
                      </a:r>
                    </a:p>
                  </a:txBody>
                  <a:tcPr marL="85725" marR="38100" marT="19050" marB="19050" anchor="ctr">
                    <a:solidFill>
                      <a:srgbClr val="FFFFFF"/>
                    </a:solidFill>
                  </a:tcPr>
                </a:tc>
                <a:tc>
                  <a:txBody>
                    <a:bodyPr wrap="none"/>
                    <a:lstStyle/>
                    <a:p>
                      <a:pPr algn="l"/>
                      <a:r>
                        <a:rPr sz="800" b="1">
                          <a:solidFill>
                            <a:srgbClr val="2E7D32"/>
                          </a:solidFill>
                          <a:latin typeface="Calibri"/>
                        </a:rPr>
                        <a:t>▲ 6.1%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Ophthalmology</a:t>
                      </a:r>
                    </a:p>
                  </a:txBody>
                  <a:tcPr marL="85725" marR="38100" marT="19050" marB="19050" anchor="ctr">
                    <a:solidFill>
                      <a:srgbClr val="F5F8FA"/>
                    </a:solidFill>
                  </a:tcPr>
                </a:tc>
                <a:tc>
                  <a:txBody>
                    <a:bodyPr wrap="none"/>
                    <a:lstStyle/>
                    <a:p>
                      <a:pPr algn="l"/>
                      <a:r>
                        <a:rPr sz="800" b="1">
                          <a:solidFill>
                            <a:srgbClr val="A86F00"/>
                          </a:solidFill>
                          <a:latin typeface="Calibri"/>
                        </a:rPr>
                        <a:t>▶ 11.1%</a:t>
                      </a:r>
                    </a:p>
                  </a:txBody>
                  <a:tcPr marL="85725" marR="38100" marT="19050" marB="19050" anchor="ctr">
                    <a:solidFill>
                      <a:srgbClr val="F5F8FA"/>
                    </a:solidFill>
                  </a:tcPr>
                </a:tc>
                <a:tc>
                  <a:txBody>
                    <a:bodyPr wrap="none"/>
                    <a:lstStyle/>
                    <a:p>
                      <a:pPr algn="l"/>
                      <a:r>
                        <a:rPr sz="800" b="1">
                          <a:solidFill>
                            <a:srgbClr val="A86F00"/>
                          </a:solidFill>
                          <a:latin typeface="Calibri"/>
                        </a:rPr>
                        <a:t>▶ 17.9%</a:t>
                      </a:r>
                    </a:p>
                  </a:txBody>
                  <a:tcPr marL="85725" marR="38100" marT="19050" marB="19050" anchor="ctr">
                    <a:solidFill>
                      <a:srgbClr val="F5F8FA"/>
                    </a:solidFill>
                  </a:tcPr>
                </a:tc>
                <a:tc>
                  <a:txBody>
                    <a:bodyPr wrap="none"/>
                    <a:lstStyle/>
                    <a:p>
                      <a:pPr algn="l"/>
                      <a:r>
                        <a:rPr sz="800" b="1">
                          <a:solidFill>
                            <a:srgbClr val="A86F00"/>
                          </a:solidFill>
                          <a:latin typeface="Calibri"/>
                        </a:rPr>
                        <a:t>▶ 21.6%</a:t>
                      </a:r>
                    </a:p>
                  </a:txBody>
                  <a:tcPr marL="85725" marR="38100" marT="19050" marB="19050" anchor="ctr">
                    <a:solidFill>
                      <a:srgbClr val="F5F8FA"/>
                    </a:solidFill>
                  </a:tcPr>
                </a:tc>
                <a:tc>
                  <a:txBody>
                    <a:bodyPr wrap="none"/>
                    <a:lstStyle/>
                    <a:p>
                      <a:pPr algn="l"/>
                      <a:r>
                        <a:rPr sz="800" b="1">
                          <a:solidFill>
                            <a:srgbClr val="A86F00"/>
                          </a:solidFill>
                          <a:latin typeface="Calibri"/>
                        </a:rPr>
                        <a:t>▶ 19.0%</a:t>
                      </a:r>
                    </a:p>
                  </a:txBody>
                  <a:tcPr marL="85725" marR="38100" marT="19050" marB="19050" anchor="ctr">
                    <a:solidFill>
                      <a:srgbClr val="F5F8FA"/>
                    </a:solidFill>
                  </a:tcPr>
                </a:tc>
                <a:tc>
                  <a:txBody>
                    <a:bodyPr wrap="none"/>
                    <a:lstStyle/>
                    <a:p>
                      <a:pPr algn="l"/>
                      <a:r>
                        <a:rPr sz="800" b="1">
                          <a:solidFill>
                            <a:srgbClr val="A86F00"/>
                          </a:solidFill>
                          <a:latin typeface="Calibri"/>
                        </a:rPr>
                        <a:t>▶ 15.4%</a:t>
                      </a:r>
                    </a:p>
                  </a:txBody>
                  <a:tcPr marL="85725" marR="38100" marT="19050" marB="19050" anchor="ctr">
                    <a:solidFill>
                      <a:srgbClr val="F5F8FA"/>
                    </a:solidFill>
                  </a:tcPr>
                </a:tc>
                <a:tc>
                  <a:txBody>
                    <a:bodyPr wrap="none"/>
                    <a:lstStyle/>
                    <a:p>
                      <a:pPr algn="l"/>
                      <a:r>
                        <a:rPr sz="800" b="1">
                          <a:solidFill>
                            <a:srgbClr val="A86F00"/>
                          </a:solidFill>
                          <a:latin typeface="Calibri"/>
                        </a:rPr>
                        <a:t>▶ 13.3%</a:t>
                      </a:r>
                    </a:p>
                  </a:txBody>
                  <a:tcPr marL="85725" marR="38100" marT="19050" marB="19050" anchor="ctr">
                    <a:solidFill>
                      <a:srgbClr val="F5F8FA"/>
                    </a:solidFill>
                  </a:tcPr>
                </a:tc>
                <a:tc>
                  <a:txBody>
                    <a:bodyPr wrap="none"/>
                    <a:lstStyle/>
                    <a:p>
                      <a:pPr algn="l"/>
                      <a:r>
                        <a:rPr sz="800" b="1">
                          <a:solidFill>
                            <a:srgbClr val="A86F00"/>
                          </a:solidFill>
                          <a:latin typeface="Calibri"/>
                        </a:rPr>
                        <a:t>▶ 11.0%</a:t>
                      </a:r>
                    </a:p>
                  </a:txBody>
                  <a:tcPr marL="85725" marR="38100" marT="19050" marB="19050" anchor="ctr">
                    <a:solidFill>
                      <a:srgbClr val="F5F8FA"/>
                    </a:solidFill>
                  </a:tcPr>
                </a:tc>
                <a:tc>
                  <a:txBody>
                    <a:bodyPr wrap="none"/>
                    <a:lstStyle/>
                    <a:p>
                      <a:pPr algn="l"/>
                      <a:r>
                        <a:rPr sz="800" b="1">
                          <a:solidFill>
                            <a:srgbClr val="A86F00"/>
                          </a:solidFill>
                          <a:latin typeface="Calibri"/>
                        </a:rPr>
                        <a:t>▶ 9.4%</a:t>
                      </a:r>
                    </a:p>
                  </a:txBody>
                  <a:tcPr marL="85725" marR="38100" marT="19050" marB="19050" anchor="ctr">
                    <a:solidFill>
                      <a:srgbClr val="F5F8FA"/>
                    </a:solidFill>
                  </a:tcPr>
                </a:tc>
                <a:tc>
                  <a:txBody>
                    <a:bodyPr wrap="none"/>
                    <a:lstStyle/>
                    <a:p>
                      <a:pPr algn="l"/>
                      <a:r>
                        <a:rPr sz="800" b="1">
                          <a:solidFill>
                            <a:srgbClr val="A86F00"/>
                          </a:solidFill>
                          <a:latin typeface="Calibri"/>
                        </a:rPr>
                        <a:t>▶ 8.1%</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6.0%</a:t>
                      </a:r>
                    </a:p>
                  </a:txBody>
                  <a:tcPr marL="85725" marR="38100" marT="19050" marB="19050" anchor="ctr">
                    <a:solidFill>
                      <a:srgbClr val="F5F8FA"/>
                    </a:solidFill>
                  </a:tcPr>
                </a:tc>
                <a:tc>
                  <a:txBody>
                    <a:bodyPr wrap="none"/>
                    <a:lstStyle/>
                    <a:p>
                      <a:pPr algn="l"/>
                      <a:r>
                        <a:rPr sz="800" b="1">
                          <a:solidFill>
                            <a:srgbClr val="A86F00"/>
                          </a:solidFill>
                          <a:latin typeface="Calibri"/>
                        </a:rPr>
                        <a:t>▶ 5.2%</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c>
                  <a:txBody>
                    <a:bodyPr wrap="none"/>
                    <a:lstStyle/>
                    <a:p>
                      <a:pPr algn="l"/>
                      <a:r>
                        <a:rPr sz="800" b="1">
                          <a:solidFill>
                            <a:srgbClr val="A86F00"/>
                          </a:solidFill>
                          <a:latin typeface="Calibri"/>
                        </a:rPr>
                        <a:t>▶ 4.1%</a:t>
                      </a:r>
                    </a:p>
                  </a:txBody>
                  <a:tcPr marL="85725" marR="38100" marT="19050" marB="19050" anchor="ctr">
                    <a:solidFill>
                      <a:srgbClr val="F5F8FA"/>
                    </a:solidFill>
                  </a:tcPr>
                </a:tc>
                <a:tc>
                  <a:txBody>
                    <a:bodyPr wrap="none"/>
                    <a:lstStyle/>
                    <a:p>
                      <a:pPr algn="l"/>
                      <a:r>
                        <a:rPr sz="800" b="1">
                          <a:solidFill>
                            <a:srgbClr val="A86F00"/>
                          </a:solidFill>
                          <a:latin typeface="Calibri"/>
                        </a:rPr>
                        <a:t>▶ 3.6%</a:t>
                      </a:r>
                    </a:p>
                  </a:txBody>
                  <a:tcPr marL="85725" marR="38100" marT="19050" marB="19050" anchor="ctr">
                    <a:solidFill>
                      <a:srgbClr val="F5F8FA"/>
                    </a:solidFill>
                  </a:tcPr>
                </a:tc>
              </a:tr>
            </a:tbl>
          </a:graphicData>
        </a:graphic>
      </p:graphicFrame>
      <p:sp>
        <p:nvSpPr>
          <p:cNvPr id="14" name="TextBox 13"/>
          <p:cNvSpPr txBox="1"/>
          <p:nvPr/>
        </p:nvSpPr>
        <p:spPr>
          <a:xfrm>
            <a:off x="219075" y="31623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438525"/>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956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YoY Heatmap, By Therapeutic Application (%)  ·  light = lower, dark = higher growth</a:t>
            </a:r>
          </a:p>
        </p:txBody>
      </p:sp>
      <p:sp>
        <p:nvSpPr>
          <p:cNvPr id="17" name="TextBox 16"/>
          <p:cNvSpPr txBox="1"/>
          <p:nvPr/>
        </p:nvSpPr>
        <p:spPr>
          <a:xfrm>
            <a:off x="18573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8" name="TextBox 17"/>
          <p:cNvSpPr txBox="1"/>
          <p:nvPr/>
        </p:nvSpPr>
        <p:spPr>
          <a:xfrm>
            <a:off x="25012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19" name="TextBox 18"/>
          <p:cNvSpPr txBox="1"/>
          <p:nvPr/>
        </p:nvSpPr>
        <p:spPr>
          <a:xfrm>
            <a:off x="31451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0" name="TextBox 19"/>
          <p:cNvSpPr txBox="1"/>
          <p:nvPr/>
        </p:nvSpPr>
        <p:spPr>
          <a:xfrm>
            <a:off x="37890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1" name="TextBox 20"/>
          <p:cNvSpPr txBox="1"/>
          <p:nvPr/>
        </p:nvSpPr>
        <p:spPr>
          <a:xfrm>
            <a:off x="44329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2" name="TextBox 21"/>
          <p:cNvSpPr txBox="1"/>
          <p:nvPr/>
        </p:nvSpPr>
        <p:spPr>
          <a:xfrm>
            <a:off x="507682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3" name="TextBox 22"/>
          <p:cNvSpPr txBox="1"/>
          <p:nvPr/>
        </p:nvSpPr>
        <p:spPr>
          <a:xfrm>
            <a:off x="572071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4" name="TextBox 23"/>
          <p:cNvSpPr txBox="1"/>
          <p:nvPr/>
        </p:nvSpPr>
        <p:spPr>
          <a:xfrm>
            <a:off x="636460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5" name="TextBox 24"/>
          <p:cNvSpPr txBox="1"/>
          <p:nvPr/>
        </p:nvSpPr>
        <p:spPr>
          <a:xfrm>
            <a:off x="700849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6" name="TextBox 25"/>
          <p:cNvSpPr txBox="1"/>
          <p:nvPr/>
        </p:nvSpPr>
        <p:spPr>
          <a:xfrm>
            <a:off x="765238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7" name="TextBox 26"/>
          <p:cNvSpPr txBox="1"/>
          <p:nvPr/>
        </p:nvSpPr>
        <p:spPr>
          <a:xfrm>
            <a:off x="82962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8" name="TextBox 27"/>
          <p:cNvSpPr txBox="1"/>
          <p:nvPr/>
        </p:nvSpPr>
        <p:spPr>
          <a:xfrm>
            <a:off x="89401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29" name="TextBox 28"/>
          <p:cNvSpPr txBox="1"/>
          <p:nvPr/>
        </p:nvSpPr>
        <p:spPr>
          <a:xfrm>
            <a:off x="95840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0" name="TextBox 29"/>
          <p:cNvSpPr txBox="1"/>
          <p:nvPr/>
        </p:nvSpPr>
        <p:spPr>
          <a:xfrm>
            <a:off x="102279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1" name="TextBox 30"/>
          <p:cNvSpPr txBox="1"/>
          <p:nvPr/>
        </p:nvSpPr>
        <p:spPr>
          <a:xfrm>
            <a:off x="108718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2" name="TextBox 31"/>
          <p:cNvSpPr txBox="1"/>
          <p:nvPr/>
        </p:nvSpPr>
        <p:spPr>
          <a:xfrm>
            <a:off x="238125" y="3867150"/>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Rheumatology</a:t>
            </a:r>
          </a:p>
        </p:txBody>
      </p:sp>
      <p:sp>
        <p:nvSpPr>
          <p:cNvPr id="33" name="Rectangle 32"/>
          <p:cNvSpPr/>
          <p:nvPr/>
        </p:nvSpPr>
        <p:spPr>
          <a:xfrm>
            <a:off x="1857375" y="3867150"/>
            <a:ext cx="643890" cy="700088"/>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01265" y="3867150"/>
            <a:ext cx="643890" cy="700088"/>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45155" y="3867150"/>
            <a:ext cx="643890" cy="700088"/>
          </a:xfrm>
          <a:prstGeom prst="rect">
            <a:avLst/>
          </a:prstGeom>
          <a:solidFill>
            <a:srgbClr val="0C4B7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89045" y="3867150"/>
            <a:ext cx="643890" cy="700088"/>
          </a:xfrm>
          <a:prstGeom prst="rect">
            <a:avLst/>
          </a:prstGeom>
          <a:solidFill>
            <a:srgbClr val="1C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32935" y="3867150"/>
            <a:ext cx="643890" cy="700088"/>
          </a:xfrm>
          <a:prstGeom prst="rect">
            <a:avLst/>
          </a:prstGeom>
          <a:solidFill>
            <a:srgbClr val="5A9E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6825" y="3867150"/>
            <a:ext cx="643890" cy="700088"/>
          </a:xfrm>
          <a:prstGeom prst="rect">
            <a:avLst/>
          </a:prstGeom>
          <a:solidFill>
            <a:srgbClr val="88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20715" y="3867150"/>
            <a:ext cx="643890" cy="700088"/>
          </a:xfrm>
          <a:prstGeom prst="rect">
            <a:avLst/>
          </a:prstGeom>
          <a:solidFill>
            <a:srgbClr val="ACCB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64605" y="3867150"/>
            <a:ext cx="643890" cy="700088"/>
          </a:xfrm>
          <a:prstGeom prst="rect">
            <a:avLst/>
          </a:prstGeom>
          <a:solidFill>
            <a:srgbClr val="C3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08495" y="3867150"/>
            <a:ext cx="643890" cy="700088"/>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52385" y="3867150"/>
            <a:ext cx="643890" cy="700088"/>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96275" y="3867150"/>
            <a:ext cx="643890" cy="700088"/>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40165" y="3867150"/>
            <a:ext cx="643890" cy="700088"/>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84055" y="3867150"/>
            <a:ext cx="643890" cy="700088"/>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27945" y="3867150"/>
            <a:ext cx="643890" cy="700088"/>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71835" y="3867150"/>
            <a:ext cx="643890" cy="700088"/>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8125" y="4567238"/>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Dermatology</a:t>
            </a:r>
          </a:p>
        </p:txBody>
      </p:sp>
      <p:sp>
        <p:nvSpPr>
          <p:cNvPr id="49" name="Rectangle 48"/>
          <p:cNvSpPr/>
          <p:nvPr/>
        </p:nvSpPr>
        <p:spPr>
          <a:xfrm>
            <a:off x="1857375" y="4567238"/>
            <a:ext cx="643890" cy="700088"/>
          </a:xfrm>
          <a:prstGeom prst="rect">
            <a:avLst/>
          </a:prstGeom>
          <a:solidFill>
            <a:srgbClr val="B6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01265" y="4567238"/>
            <a:ext cx="643890" cy="700088"/>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45155" y="4567238"/>
            <a:ext cx="643890" cy="700088"/>
          </a:xfrm>
          <a:prstGeom prst="rect">
            <a:avLst/>
          </a:prstGeom>
          <a:solidFill>
            <a:srgbClr val="0D5F9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789045" y="4567238"/>
            <a:ext cx="643890" cy="700088"/>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32935" y="4567238"/>
            <a:ext cx="643890" cy="700088"/>
          </a:xfrm>
          <a:prstGeom prst="rect">
            <a:avLst/>
          </a:prstGeom>
          <a:solidFill>
            <a:srgbClr val="6CA8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76825" y="4567238"/>
            <a:ext cx="643890" cy="700088"/>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720715" y="4567238"/>
            <a:ext cx="643890" cy="700088"/>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64605" y="4567238"/>
            <a:ext cx="643890" cy="700088"/>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08495" y="4567238"/>
            <a:ext cx="643890" cy="700088"/>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652385" y="4567238"/>
            <a:ext cx="643890" cy="700088"/>
          </a:xfrm>
          <a:prstGeom prst="rect">
            <a:avLst/>
          </a:prstGeom>
          <a:solidFill>
            <a:srgbClr val="E2EF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96275" y="4567238"/>
            <a:ext cx="643890" cy="700088"/>
          </a:xfrm>
          <a:prstGeom prst="rect">
            <a:avLst/>
          </a:prstGeom>
          <a:solidFill>
            <a:srgbClr val="E9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40165" y="4567238"/>
            <a:ext cx="643890" cy="700088"/>
          </a:xfrm>
          <a:prstGeom prst="rect">
            <a:avLst/>
          </a:prstGeom>
          <a:solidFill>
            <a:srgbClr val="F0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584055" y="4567238"/>
            <a:ext cx="643890" cy="700088"/>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27945" y="4567238"/>
            <a:ext cx="643890" cy="700088"/>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871835" y="4567238"/>
            <a:ext cx="643890" cy="700088"/>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38125" y="5267325"/>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Gastroenterology</a:t>
            </a:r>
          </a:p>
        </p:txBody>
      </p:sp>
      <p:sp>
        <p:nvSpPr>
          <p:cNvPr id="65" name="Rectangle 64"/>
          <p:cNvSpPr/>
          <p:nvPr/>
        </p:nvSpPr>
        <p:spPr>
          <a:xfrm>
            <a:off x="1857375" y="5267325"/>
            <a:ext cx="643890" cy="700088"/>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501265" y="5267325"/>
            <a:ext cx="643890" cy="700088"/>
          </a:xfrm>
          <a:prstGeom prst="rect">
            <a:avLst/>
          </a:prstGeom>
          <a:solidFill>
            <a:srgbClr val="1C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145155" y="5267325"/>
            <a:ext cx="643890" cy="70008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789045" y="5267325"/>
            <a:ext cx="643890" cy="700088"/>
          </a:xfrm>
          <a:prstGeom prst="rect">
            <a:avLst/>
          </a:prstGeom>
          <a:solidFill>
            <a:srgbClr val="0E6CA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432935" y="5267325"/>
            <a:ext cx="643890" cy="700088"/>
          </a:xfrm>
          <a:prstGeom prst="rect">
            <a:avLst/>
          </a:prstGeom>
          <a:solidFill>
            <a:srgbClr val="4090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076825" y="5267325"/>
            <a:ext cx="643890" cy="700088"/>
          </a:xfrm>
          <a:prstGeom prst="rect">
            <a:avLst/>
          </a:prstGeom>
          <a:solidFill>
            <a:srgbClr val="6FAA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720715" y="5267325"/>
            <a:ext cx="643890" cy="700088"/>
          </a:xfrm>
          <a:prstGeom prst="rect">
            <a:avLst/>
          </a:prstGeom>
          <a:solidFill>
            <a:srgbClr val="9C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364605" y="5267325"/>
            <a:ext cx="643890" cy="700088"/>
          </a:xfrm>
          <a:prstGeom prst="rect">
            <a:avLst/>
          </a:prstGeom>
          <a:solidFill>
            <a:srgbClr val="B3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008495" y="5267325"/>
            <a:ext cx="643890" cy="700088"/>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652385" y="5267325"/>
            <a:ext cx="643890" cy="700088"/>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296275" y="5267325"/>
            <a:ext cx="643890" cy="700088"/>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940165" y="5267325"/>
            <a:ext cx="643890" cy="700088"/>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584055" y="5267325"/>
            <a:ext cx="643890" cy="700088"/>
          </a:xfrm>
          <a:prstGeom prst="rect">
            <a:avLst/>
          </a:prstGeom>
          <a:solidFill>
            <a:srgbClr val="E6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227945" y="5267325"/>
            <a:ext cx="643890" cy="700088"/>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871835" y="5267325"/>
            <a:ext cx="643890" cy="700088"/>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8125" y="5967412"/>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Ophthalmology</a:t>
            </a:r>
          </a:p>
        </p:txBody>
      </p:sp>
      <p:sp>
        <p:nvSpPr>
          <p:cNvPr id="81" name="Rectangle 80"/>
          <p:cNvSpPr/>
          <p:nvPr/>
        </p:nvSpPr>
        <p:spPr>
          <a:xfrm>
            <a:off x="1857375" y="5967412"/>
            <a:ext cx="643890" cy="700088"/>
          </a:xfrm>
          <a:prstGeom prst="rect">
            <a:avLst/>
          </a:prstGeom>
          <a:solidFill>
            <a:srgbClr val="BF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501265" y="5967412"/>
            <a:ext cx="643890" cy="700088"/>
          </a:xfrm>
          <a:prstGeom prst="rect">
            <a:avLst/>
          </a:prstGeom>
          <a:solidFill>
            <a:srgbClr val="4492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145155" y="5967412"/>
            <a:ext cx="643890" cy="700088"/>
          </a:xfrm>
          <a:prstGeom prst="rect">
            <a:avLst/>
          </a:prstGeom>
          <a:solidFill>
            <a:srgbClr val="0E6FA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789045" y="5967412"/>
            <a:ext cx="643890" cy="700088"/>
          </a:xfrm>
          <a:prstGeom prst="rect">
            <a:avLst/>
          </a:prstGeom>
          <a:solidFill>
            <a:srgbClr val="3288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432935" y="5967412"/>
            <a:ext cx="643890" cy="700088"/>
          </a:xfrm>
          <a:prstGeom prst="rect">
            <a:avLst/>
          </a:prstGeom>
          <a:solidFill>
            <a:srgbClr val="7AB0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076825" y="5967412"/>
            <a:ext cx="643890" cy="700088"/>
          </a:xfrm>
          <a:prstGeom prst="rect">
            <a:avLst/>
          </a:prstGeom>
          <a:solidFill>
            <a:srgbClr val="9F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720715" y="5967412"/>
            <a:ext cx="643890" cy="700088"/>
          </a:xfrm>
          <a:prstGeom prst="rect">
            <a:avLst/>
          </a:prstGeom>
          <a:solidFill>
            <a:srgbClr val="C1D7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364605" y="5967412"/>
            <a:ext cx="643890" cy="700088"/>
          </a:xfrm>
          <a:prstGeom prst="rect">
            <a:avLst/>
          </a:prstGeom>
          <a:solidFill>
            <a:srgbClr val="D3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008495" y="5967412"/>
            <a:ext cx="643890" cy="700088"/>
          </a:xfrm>
          <a:prstGeom prst="rect">
            <a:avLst/>
          </a:prstGeom>
          <a:solidFill>
            <a:srgbClr val="DD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652385" y="5967412"/>
            <a:ext cx="643890" cy="700088"/>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296275" y="5967412"/>
            <a:ext cx="643890" cy="700088"/>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940165" y="5967412"/>
            <a:ext cx="643890" cy="700088"/>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584055" y="5967412"/>
            <a:ext cx="643890" cy="700088"/>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227945" y="5967412"/>
            <a:ext cx="643890" cy="700088"/>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871835" y="5967412"/>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1572875" y="3905250"/>
            <a:ext cx="104775" cy="7572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973354"/>
            <a:ext cx="104775" cy="75724"/>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4041458"/>
            <a:ext cx="104775" cy="75724"/>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4109561"/>
            <a:ext cx="104775" cy="75724"/>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4177665"/>
            <a:ext cx="104775" cy="75724"/>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4245769"/>
            <a:ext cx="104775" cy="75724"/>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4313872"/>
            <a:ext cx="104775" cy="75724"/>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4381976"/>
            <a:ext cx="104775" cy="75724"/>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4450080"/>
            <a:ext cx="104775" cy="75724"/>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4518184"/>
            <a:ext cx="104775" cy="75724"/>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4586288"/>
            <a:ext cx="104775" cy="75724"/>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654391"/>
            <a:ext cx="104775" cy="75724"/>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722495"/>
            <a:ext cx="104775" cy="75724"/>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790599"/>
            <a:ext cx="104775" cy="75724"/>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858702"/>
            <a:ext cx="104775" cy="75724"/>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926806"/>
            <a:ext cx="104775" cy="75724"/>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994910"/>
            <a:ext cx="104775" cy="75724"/>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5063014"/>
            <a:ext cx="104775" cy="75724"/>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5131118"/>
            <a:ext cx="104775" cy="75724"/>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5199221"/>
            <a:ext cx="104775" cy="75724"/>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5267325"/>
            <a:ext cx="104775" cy="75724"/>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5335429"/>
            <a:ext cx="104775" cy="75724"/>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5403532"/>
            <a:ext cx="104775" cy="75724"/>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471636"/>
            <a:ext cx="104775" cy="75724"/>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539740"/>
            <a:ext cx="104775" cy="75724"/>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607844"/>
            <a:ext cx="104775" cy="75724"/>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675948"/>
            <a:ext cx="104775" cy="75724"/>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744051"/>
            <a:ext cx="104775" cy="75724"/>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812155"/>
            <a:ext cx="104775" cy="75724"/>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880259"/>
            <a:ext cx="104775" cy="75724"/>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948362"/>
            <a:ext cx="104775" cy="75724"/>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6016466"/>
            <a:ext cx="104775" cy="75724"/>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6084570"/>
            <a:ext cx="104775" cy="75724"/>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6152674"/>
            <a:ext cx="104775" cy="75724"/>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220778"/>
            <a:ext cx="104775" cy="75724"/>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288881"/>
            <a:ext cx="104775" cy="75724"/>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356985"/>
            <a:ext cx="104775" cy="75724"/>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425089"/>
            <a:ext cx="104775" cy="75724"/>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493192"/>
            <a:ext cx="104775" cy="75724"/>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561296"/>
            <a:ext cx="104775" cy="75724"/>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3905250"/>
            <a:ext cx="104775" cy="27241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1687175" y="3838575"/>
            <a:ext cx="276225" cy="133350"/>
          </a:xfrm>
          <a:prstGeom prst="rect">
            <a:avLst/>
          </a:prstGeom>
          <a:noFill/>
        </p:spPr>
        <p:txBody>
          <a:bodyPr wrap="none" lIns="0" rIns="0" tIns="0" bIns="0" anchor="ctr">
            <a:spAutoFit/>
          </a:bodyPr>
          <a:lstStyle/>
          <a:p>
            <a:pPr algn="l"/>
            <a:r>
              <a:rPr sz="700" b="0">
                <a:solidFill>
                  <a:srgbClr val="6C7A89"/>
                </a:solidFill>
                <a:latin typeface="Calibri"/>
              </a:rPr>
              <a:t>24%</a:t>
            </a:r>
          </a:p>
        </p:txBody>
      </p:sp>
      <p:sp>
        <p:nvSpPr>
          <p:cNvPr id="138" name="TextBox 137"/>
          <p:cNvSpPr txBox="1"/>
          <p:nvPr/>
        </p:nvSpPr>
        <p:spPr>
          <a:xfrm>
            <a:off x="11687175" y="5200650"/>
            <a:ext cx="276225" cy="133350"/>
          </a:xfrm>
          <a:prstGeom prst="rect">
            <a:avLst/>
          </a:prstGeom>
          <a:noFill/>
        </p:spPr>
        <p:txBody>
          <a:bodyPr wrap="none" lIns="0" rIns="0" tIns="0" bIns="0" anchor="ctr">
            <a:spAutoFit/>
          </a:bodyPr>
          <a:lstStyle/>
          <a:p>
            <a:pPr algn="l"/>
            <a:r>
              <a:rPr sz="700" b="0">
                <a:solidFill>
                  <a:srgbClr val="6C7A89"/>
                </a:solidFill>
                <a:latin typeface="Calibri"/>
              </a:rPr>
              <a:t>14%</a:t>
            </a:r>
          </a:p>
        </p:txBody>
      </p:sp>
      <p:sp>
        <p:nvSpPr>
          <p:cNvPr id="139" name="TextBox 138"/>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4%</a:t>
            </a:r>
          </a:p>
        </p:txBody>
      </p:sp>
      <p:sp>
        <p:nvSpPr>
          <p:cNvPr id="140" name="Rectangle 13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2" name="Rounded Rectangle 14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3" name="Rounded Rectangle 14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4" name="Rounded Rectangle 14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Buyer Type</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By Buyer Type Segment Outlook</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Structure &amp; Attractiveness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Absolute $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Volume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Value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09</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By Buyer Type Segment Outlook</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TextBox 10"/>
          <p:cNvSpPr txBox="1"/>
          <p:nvPr/>
        </p:nvSpPr>
        <p:spPr>
          <a:xfrm>
            <a:off x="323850" y="857250"/>
            <a:ext cx="11544300" cy="323850"/>
          </a:xfrm>
          <a:prstGeom prst="rect">
            <a:avLst/>
          </a:prstGeom>
          <a:noFill/>
        </p:spPr>
        <p:txBody>
          <a:bodyPr wrap="square" lIns="28575" rIns="28575" tIns="9525" bIns="9525">
            <a:spAutoFit/>
          </a:bodyPr>
          <a:lstStyle/>
          <a:p>
            <a:pPr algn="l"/>
            <a:r>
              <a:rPr sz="1150" b="0">
                <a:solidFill>
                  <a:srgbClr val="2E2E2E"/>
                </a:solidFill>
                <a:latin typeface="Calibri"/>
              </a:rPr>
              <a:t>The Buyer Type segment categorizes the market by buyer type. Each sub-category is evaluated on market size, growth outlook and adoption trends across the forecast period.</a:t>
            </a:r>
          </a:p>
        </p:txBody>
      </p:sp>
      <p:sp>
        <p:nvSpPr>
          <p:cNvPr id="12" name="Rectangle 11"/>
          <p:cNvSpPr/>
          <p:nvPr/>
        </p:nvSpPr>
        <p:spPr>
          <a:xfrm>
            <a:off x="323850" y="1657350"/>
            <a:ext cx="1428750" cy="457200"/>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657350"/>
            <a:ext cx="1295400" cy="457200"/>
          </a:xfrm>
          <a:prstGeom prst="rect">
            <a:avLst/>
          </a:prstGeom>
          <a:noFill/>
        </p:spPr>
        <p:txBody>
          <a:bodyPr wrap="square" lIns="28575" rIns="28575" tIns="9525" bIns="9525" anchor="ctr">
            <a:spAutoFit/>
          </a:bodyPr>
          <a:lstStyle/>
          <a:p>
            <a:pPr algn="l"/>
            <a:r>
              <a:rPr sz="1050" b="1">
                <a:solidFill>
                  <a:srgbClr val="0B2E4A"/>
                </a:solidFill>
                <a:latin typeface="Calibri"/>
              </a:rPr>
              <a:t>Sub-Segment</a:t>
            </a:r>
          </a:p>
        </p:txBody>
      </p:sp>
      <p:sp>
        <p:nvSpPr>
          <p:cNvPr id="14" name="Rectangle 13"/>
          <p:cNvSpPr/>
          <p:nvPr/>
        </p:nvSpPr>
        <p:spPr>
          <a:xfrm>
            <a:off x="323850" y="21336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1336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2026 Value (US$ Mn)</a:t>
            </a:r>
          </a:p>
        </p:txBody>
      </p:sp>
      <p:sp>
        <p:nvSpPr>
          <p:cNvPr id="16" name="Rectangle 15"/>
          <p:cNvSpPr/>
          <p:nvPr/>
        </p:nvSpPr>
        <p:spPr>
          <a:xfrm>
            <a:off x="323850" y="264795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64795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2036 Value (US$ Mn)</a:t>
            </a:r>
          </a:p>
        </p:txBody>
      </p:sp>
      <p:sp>
        <p:nvSpPr>
          <p:cNvPr id="18" name="Rectangle 17"/>
          <p:cNvSpPr/>
          <p:nvPr/>
        </p:nvSpPr>
        <p:spPr>
          <a:xfrm>
            <a:off x="323850" y="31623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1623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CAGR (2026–2036)</a:t>
            </a:r>
          </a:p>
        </p:txBody>
      </p:sp>
      <p:sp>
        <p:nvSpPr>
          <p:cNvPr id="20" name="Rounded Rectangle 19"/>
          <p:cNvSpPr/>
          <p:nvPr/>
        </p:nvSpPr>
        <p:spPr>
          <a:xfrm>
            <a:off x="1866900" y="1657350"/>
            <a:ext cx="2414588"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885950"/>
            <a:ext cx="2414588"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Specialty Clinics</a:t>
            </a:r>
          </a:p>
        </p:txBody>
      </p:sp>
      <p:sp>
        <p:nvSpPr>
          <p:cNvPr id="23" name="Rectangle 22"/>
          <p:cNvSpPr/>
          <p:nvPr/>
        </p:nvSpPr>
        <p:spPr>
          <a:xfrm>
            <a:off x="1866900"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655.0</a:t>
            </a:r>
          </a:p>
        </p:txBody>
      </p:sp>
      <p:sp>
        <p:nvSpPr>
          <p:cNvPr id="24" name="Rectangle 23"/>
          <p:cNvSpPr/>
          <p:nvPr/>
        </p:nvSpPr>
        <p:spPr>
          <a:xfrm>
            <a:off x="1866900"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1,334</a:t>
            </a:r>
          </a:p>
        </p:txBody>
      </p:sp>
      <p:sp>
        <p:nvSpPr>
          <p:cNvPr id="25" name="Rectangle 24"/>
          <p:cNvSpPr/>
          <p:nvPr/>
        </p:nvSpPr>
        <p:spPr>
          <a:xfrm>
            <a:off x="1866900"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7.4%</a:t>
            </a:r>
          </a:p>
        </p:txBody>
      </p:sp>
      <p:sp>
        <p:nvSpPr>
          <p:cNvPr id="26" name="Oval 25"/>
          <p:cNvSpPr/>
          <p:nvPr/>
        </p:nvSpPr>
        <p:spPr>
          <a:xfrm>
            <a:off x="2912269"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4395788" y="1657350"/>
            <a:ext cx="2414588"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95788" y="1885950"/>
            <a:ext cx="2414588"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3888"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Retail / Specialty Pharmacies</a:t>
            </a:r>
          </a:p>
        </p:txBody>
      </p:sp>
      <p:sp>
        <p:nvSpPr>
          <p:cNvPr id="30" name="Rectangle 29"/>
          <p:cNvSpPr/>
          <p:nvPr/>
        </p:nvSpPr>
        <p:spPr>
          <a:xfrm>
            <a:off x="4395788"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485.4</a:t>
            </a:r>
          </a:p>
        </p:txBody>
      </p:sp>
      <p:sp>
        <p:nvSpPr>
          <p:cNvPr id="31" name="Rectangle 30"/>
          <p:cNvSpPr/>
          <p:nvPr/>
        </p:nvSpPr>
        <p:spPr>
          <a:xfrm>
            <a:off x="4395788"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1,051</a:t>
            </a:r>
          </a:p>
        </p:txBody>
      </p:sp>
      <p:sp>
        <p:nvSpPr>
          <p:cNvPr id="32" name="Rectangle 31"/>
          <p:cNvSpPr/>
          <p:nvPr/>
        </p:nvSpPr>
        <p:spPr>
          <a:xfrm>
            <a:off x="4395788"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8.0%</a:t>
            </a:r>
          </a:p>
        </p:txBody>
      </p:sp>
      <p:sp>
        <p:nvSpPr>
          <p:cNvPr id="33" name="Oval 32"/>
          <p:cNvSpPr/>
          <p:nvPr/>
        </p:nvSpPr>
        <p:spPr>
          <a:xfrm>
            <a:off x="5441156"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6924675" y="1657350"/>
            <a:ext cx="2414588" cy="457200"/>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24675" y="1885950"/>
            <a:ext cx="2414588" cy="22860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62775"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Hospitals</a:t>
            </a:r>
          </a:p>
        </p:txBody>
      </p:sp>
      <p:sp>
        <p:nvSpPr>
          <p:cNvPr id="37" name="Rectangle 36"/>
          <p:cNvSpPr/>
          <p:nvPr/>
        </p:nvSpPr>
        <p:spPr>
          <a:xfrm>
            <a:off x="6924675"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418.2</a:t>
            </a:r>
          </a:p>
        </p:txBody>
      </p:sp>
      <p:sp>
        <p:nvSpPr>
          <p:cNvPr id="38" name="Rectangle 37"/>
          <p:cNvSpPr/>
          <p:nvPr/>
        </p:nvSpPr>
        <p:spPr>
          <a:xfrm>
            <a:off x="6924675"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1,140</a:t>
            </a:r>
          </a:p>
        </p:txBody>
      </p:sp>
      <p:sp>
        <p:nvSpPr>
          <p:cNvPr id="39" name="Rectangle 38"/>
          <p:cNvSpPr/>
          <p:nvPr/>
        </p:nvSpPr>
        <p:spPr>
          <a:xfrm>
            <a:off x="6924675"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10.6%</a:t>
            </a:r>
          </a:p>
        </p:txBody>
      </p:sp>
      <p:sp>
        <p:nvSpPr>
          <p:cNvPr id="40" name="Oval 39"/>
          <p:cNvSpPr/>
          <p:nvPr/>
        </p:nvSpPr>
        <p:spPr>
          <a:xfrm>
            <a:off x="7970044" y="1314450"/>
            <a:ext cx="323850" cy="323850"/>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9453562" y="1657350"/>
            <a:ext cx="2414588" cy="457200"/>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453562" y="1885950"/>
            <a:ext cx="2414588" cy="2286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91662"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Institutional Buyers</a:t>
            </a:r>
          </a:p>
        </p:txBody>
      </p:sp>
      <p:sp>
        <p:nvSpPr>
          <p:cNvPr id="44" name="Rectangle 43"/>
          <p:cNvSpPr/>
          <p:nvPr/>
        </p:nvSpPr>
        <p:spPr>
          <a:xfrm>
            <a:off x="9453562"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415.8</a:t>
            </a:r>
          </a:p>
        </p:txBody>
      </p:sp>
      <p:sp>
        <p:nvSpPr>
          <p:cNvPr id="45" name="Rectangle 44"/>
          <p:cNvSpPr/>
          <p:nvPr/>
        </p:nvSpPr>
        <p:spPr>
          <a:xfrm>
            <a:off x="9453562"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949.1</a:t>
            </a:r>
          </a:p>
        </p:txBody>
      </p:sp>
      <p:sp>
        <p:nvSpPr>
          <p:cNvPr id="46" name="Rectangle 45"/>
          <p:cNvSpPr/>
          <p:nvPr/>
        </p:nvSpPr>
        <p:spPr>
          <a:xfrm>
            <a:off x="9453562"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8.6%</a:t>
            </a:r>
          </a:p>
        </p:txBody>
      </p:sp>
      <p:sp>
        <p:nvSpPr>
          <p:cNvPr id="47" name="Oval 46"/>
          <p:cNvSpPr/>
          <p:nvPr/>
        </p:nvSpPr>
        <p:spPr>
          <a:xfrm>
            <a:off x="10498931" y="1314450"/>
            <a:ext cx="323850" cy="323850"/>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323850" y="3829050"/>
            <a:ext cx="323850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3924300"/>
            <a:ext cx="2971800" cy="190500"/>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0" name="Rectangle 49"/>
          <p:cNvSpPr/>
          <p:nvPr/>
        </p:nvSpPr>
        <p:spPr>
          <a:xfrm>
            <a:off x="457200" y="4133850"/>
            <a:ext cx="2971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4210050"/>
            <a:ext cx="297180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'Specialty Clinics' holds the largest share in 2026 33% of segment value.</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'Hospitals' is the fastest-growing sub-segment at 10.6% CAGR through 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Segment value expands from 1,974 to 4,475 US$ Mn across 2026–2036.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4 sub-segments make up the buyer type landscape.</a:t>
            </a:r>
          </a:p>
        </p:txBody>
      </p:sp>
      <p:sp>
        <p:nvSpPr>
          <p:cNvPr id="52" name="Rounded Rectangle 51"/>
          <p:cNvSpPr/>
          <p:nvPr/>
        </p:nvSpPr>
        <p:spPr>
          <a:xfrm>
            <a:off x="3676650" y="3829050"/>
            <a:ext cx="447675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3924300"/>
            <a:ext cx="4210050" cy="190500"/>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4" name="Rectangle 53"/>
          <p:cNvSpPr/>
          <p:nvPr/>
        </p:nvSpPr>
        <p:spPr>
          <a:xfrm>
            <a:off x="3810000" y="4133850"/>
            <a:ext cx="42100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10000" y="4210050"/>
            <a:ext cx="42100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900" b="0">
                <a:solidFill>
                  <a:srgbClr val="0B2E4A"/>
                </a:solidFill>
                <a:latin typeface="Calibri"/>
              </a:rPr>
              <a:t>●  </a:t>
            </a:r>
            <a:r>
              <a:rPr sz="1000" b="1">
                <a:solidFill>
                  <a:srgbClr val="0B2E4A"/>
                </a:solidFill>
                <a:latin typeface="Calibri"/>
              </a:rPr>
              <a:t>Specialty Clinics: </a:t>
            </a:r>
            <a:r>
              <a:rPr sz="1000" b="0">
                <a:solidFill>
                  <a:srgbClr val="2E2E2E"/>
                </a:solidFill>
                <a:latin typeface="Calibri"/>
              </a:rPr>
              <a:t>33% of 2026 value · 7.4% CAGR leads the segment.</a:t>
            </a:r>
          </a:p>
          <a:p>
            <a:pPr algn="l">
              <a:lnSpc>
                <a:spcPct val="110000"/>
              </a:lnSpc>
              <a:spcBef>
                <a:spcPts val="0"/>
              </a:spcBef>
              <a:spcAft>
                <a:spcPts val="500"/>
              </a:spcAft>
            </a:pPr>
            <a:r>
              <a:rPr sz="900" b="0">
                <a:solidFill>
                  <a:srgbClr val="0E72AE"/>
                </a:solidFill>
                <a:latin typeface="Calibri"/>
              </a:rPr>
              <a:t>●  </a:t>
            </a:r>
            <a:r>
              <a:rPr sz="1000" b="1">
                <a:solidFill>
                  <a:srgbClr val="0E72AE"/>
                </a:solidFill>
                <a:latin typeface="Calibri"/>
              </a:rPr>
              <a:t>Retail / Specialty Pharmacies: </a:t>
            </a:r>
            <a:r>
              <a:rPr sz="1000" b="0">
                <a:solidFill>
                  <a:srgbClr val="2E2E2E"/>
                </a:solidFill>
                <a:latin typeface="Calibri"/>
              </a:rPr>
              <a:t>25% of 2026 value · 8.0% CAGR serves a niche.</a:t>
            </a:r>
          </a:p>
          <a:p>
            <a:pPr algn="l">
              <a:lnSpc>
                <a:spcPct val="110000"/>
              </a:lnSpc>
              <a:spcBef>
                <a:spcPts val="0"/>
              </a:spcBef>
              <a:spcAft>
                <a:spcPts val="500"/>
              </a:spcAft>
            </a:pPr>
            <a:r>
              <a:rPr sz="900" b="0">
                <a:solidFill>
                  <a:srgbClr val="008189"/>
                </a:solidFill>
                <a:latin typeface="Calibri"/>
              </a:rPr>
              <a:t>●  </a:t>
            </a:r>
            <a:r>
              <a:rPr sz="1000" b="1">
                <a:solidFill>
                  <a:srgbClr val="008189"/>
                </a:solidFill>
                <a:latin typeface="Calibri"/>
              </a:rPr>
              <a:t>Hospitals: </a:t>
            </a:r>
            <a:r>
              <a:rPr sz="1000" b="0">
                <a:solidFill>
                  <a:srgbClr val="2E2E2E"/>
                </a:solidFill>
                <a:latin typeface="Calibri"/>
              </a:rPr>
              <a:t>21% of 2026 value · 10.6% CAGR grows fastest.</a:t>
            </a:r>
          </a:p>
          <a:p>
            <a:pPr algn="l">
              <a:lnSpc>
                <a:spcPct val="110000"/>
              </a:lnSpc>
              <a:spcBef>
                <a:spcPts val="0"/>
              </a:spcBef>
              <a:spcAft>
                <a:spcPts val="500"/>
              </a:spcAft>
            </a:pPr>
            <a:r>
              <a:rPr sz="900" b="0">
                <a:solidFill>
                  <a:srgbClr val="6F3CC2"/>
                </a:solidFill>
                <a:latin typeface="Calibri"/>
              </a:rPr>
              <a:t>●  </a:t>
            </a:r>
            <a:r>
              <a:rPr sz="1000" b="1">
                <a:solidFill>
                  <a:srgbClr val="6F3CC2"/>
                </a:solidFill>
                <a:latin typeface="Calibri"/>
              </a:rPr>
              <a:t>Institutional Buyers: </a:t>
            </a:r>
            <a:r>
              <a:rPr sz="1000" b="0">
                <a:solidFill>
                  <a:srgbClr val="2E2E2E"/>
                </a:solidFill>
                <a:latin typeface="Calibri"/>
              </a:rPr>
              <a:t>21% of 2026 value · 8.6% CAGR serves a niche.</a:t>
            </a:r>
          </a:p>
        </p:txBody>
      </p:sp>
      <p:sp>
        <p:nvSpPr>
          <p:cNvPr id="56" name="Rounded Rectangle 55"/>
          <p:cNvSpPr/>
          <p:nvPr/>
        </p:nvSpPr>
        <p:spPr>
          <a:xfrm>
            <a:off x="8267700" y="3829050"/>
            <a:ext cx="3600450" cy="2686050"/>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3924300"/>
            <a:ext cx="3333750" cy="190500"/>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8" name="Rectangle 57"/>
          <p:cNvSpPr/>
          <p:nvPr/>
        </p:nvSpPr>
        <p:spPr>
          <a:xfrm>
            <a:off x="8401050" y="4133850"/>
            <a:ext cx="33337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01050" y="4210050"/>
            <a:ext cx="33337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The Buyer Type split shows how demand is distributed across buyer type types and where growth concentrates.</a:t>
            </a:r>
          </a:p>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Shifting preferences and product innovation are reshaping the mix through 2036.</a:t>
            </a:r>
          </a:p>
        </p:txBody>
      </p:sp>
      <p:sp>
        <p:nvSpPr>
          <p:cNvPr id="60" name="Rectangle 59"/>
          <p:cNvSpPr/>
          <p:nvPr/>
        </p:nvSpPr>
        <p:spPr>
          <a:xfrm>
            <a:off x="8401050" y="5810250"/>
            <a:ext cx="3333750" cy="552450"/>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401050" y="5810250"/>
            <a:ext cx="38100" cy="5524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96300" y="5848350"/>
            <a:ext cx="3219450" cy="476250"/>
          </a:xfrm>
          <a:prstGeom prst="rect">
            <a:avLst/>
          </a:prstGeom>
          <a:noFill/>
        </p:spPr>
        <p:txBody>
          <a:bodyPr wrap="square" lIns="28575" rIns="28575" tIns="9525" bIns="9525" anchor="ctr">
            <a:spAutoFit/>
          </a:bodyPr>
          <a:lstStyle/>
          <a:p>
            <a:pPr algn="l"/>
            <a:r>
              <a:rPr sz="1150" b="1">
                <a:solidFill>
                  <a:srgbClr val="0B2E4A"/>
                </a:solidFill>
                <a:latin typeface="Calibri"/>
              </a:rPr>
              <a:t>The Buyer Type segment is projected to grow at a CAGR of 8.5% from 2026 to 2036.</a:t>
            </a:r>
          </a:p>
        </p:txBody>
      </p:sp>
      <p:sp>
        <p:nvSpPr>
          <p:cNvPr id="63" name="TextBox 62"/>
          <p:cNvSpPr txBox="1"/>
          <p:nvPr/>
        </p:nvSpPr>
        <p:spPr>
          <a:xfrm>
            <a:off x="323850" y="6591300"/>
            <a:ext cx="3048000" cy="133350"/>
          </a:xfrm>
          <a:prstGeom prst="rect">
            <a:avLst/>
          </a:prstGeom>
          <a:noFill/>
        </p:spPr>
        <p:txBody>
          <a:bodyPr wrap="none">
            <a:spAutoFit/>
          </a:bodyPr>
          <a:lstStyle/>
          <a:p>
            <a:r>
              <a:rPr sz="800" i="1">
                <a:solidFill>
                  <a:srgbClr val="6C7A89"/>
                </a:solidFill>
                <a:latin typeface="Calibri"/>
              </a:rPr>
              <a:t>Source: FMI Analysis, 2026</a:t>
            </a:r>
          </a:p>
        </p:txBody>
      </p:sp>
      <p:sp>
        <p:nvSpPr>
          <p:cNvPr id="64" name="Rectangle 6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6" name="Rounded Rectangle 6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7" name="Rounded Rectangle 6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8" name="Rounded Rectangle 6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Structure &amp; Attractiveness, By Buyer Type (Value)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6343650"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Buyer Type mix within each country (share of 2036 value) · row label = country size (US$ Mn), largest first</a:t>
            </a:r>
          </a:p>
        </p:txBody>
      </p:sp>
      <p:graphicFrame>
        <p:nvGraphicFramePr>
          <p:cNvPr id="13" name="Chart 12"/>
          <p:cNvGraphicFramePr>
            <a:graphicFrameLocks noGrp="1"/>
          </p:cNvGraphicFramePr>
          <p:nvPr/>
        </p:nvGraphicFramePr>
        <p:xfrm>
          <a:off x="238125" y="1314450"/>
          <a:ext cx="6153150" cy="39243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857250"/>
            <a:ext cx="5400675"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914400"/>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Buyer Type (bubble = 2036 size)</a:t>
            </a:r>
          </a:p>
        </p:txBody>
      </p:sp>
      <p:graphicFrame>
        <p:nvGraphicFramePr>
          <p:cNvPr id="16" name="Chart 15"/>
          <p:cNvGraphicFramePr>
            <a:graphicFrameLocks noGrp="1"/>
          </p:cNvGraphicFramePr>
          <p:nvPr/>
        </p:nvGraphicFramePr>
        <p:xfrm>
          <a:off x="6734175" y="1143000"/>
          <a:ext cx="5210175" cy="40957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29250"/>
            <a:ext cx="11906250" cy="1295400"/>
          </a:xfrm>
          <a:prstGeom prst="roundRect">
            <a:avLst>
              <a:gd name="adj" fmla="val 58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Between 2026 and 2036, 'Hospitals' gains the most share in the North America market (+431 BPS) while 'Specialty Clinics' cedes 337 BPS. Bubbles right of the CAGR-Index line grow faster than the segment average.</a:t>
            </a:r>
          </a:p>
        </p:txBody>
      </p:sp>
      <p:sp>
        <p:nvSpPr>
          <p:cNvPr id="18" name="Rectangle 1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0" name="Rounded Rectangle 19">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Absolute $ Opportunity Analysis, By Buyer Type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2021–2025 (US$ Mn)</a:t>
            </a:r>
          </a:p>
        </p:txBody>
      </p:sp>
      <p:graphicFrame>
        <p:nvGraphicFramePr>
          <p:cNvPr id="13" name="Chart 12"/>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2026–2031 (US$ Mn)</a:t>
            </a:r>
          </a:p>
        </p:txBody>
      </p:sp>
      <p:graphicFrame>
        <p:nvGraphicFramePr>
          <p:cNvPr id="16" name="Chart 15"/>
          <p:cNvGraphicFramePr>
            <a:graphicFrameLocks noGrp="1"/>
          </p:cNvGraphicFramePr>
          <p:nvPr/>
        </p:nvGraphicFramePr>
        <p:xfrm>
          <a:off x="6267450" y="1143000"/>
          <a:ext cx="5686425" cy="25241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2031–2036 (US$ Mn)</a:t>
            </a:r>
          </a:p>
        </p:txBody>
      </p:sp>
      <p:graphicFrame>
        <p:nvGraphicFramePr>
          <p:cNvPr id="19" name="Chart 18"/>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Buyer Type (2026–2036)</a:t>
            </a:r>
          </a:p>
        </p:txBody>
      </p:sp>
      <p:graphicFrame>
        <p:nvGraphicFramePr>
          <p:cNvPr id="22" name="Table 21"/>
          <p:cNvGraphicFramePr>
            <a:graphicFrameLocks noGrp="1"/>
          </p:cNvGraphicFramePr>
          <p:nvPr/>
        </p:nvGraphicFramePr>
        <p:xfrm>
          <a:off x="6267450" y="4143375"/>
          <a:ext cx="5686426" cy="904875"/>
        </p:xfrm>
        <a:graphic>
          <a:graphicData uri="http://schemas.openxmlformats.org/drawingml/2006/table">
            <a:tbl>
              <a:tblPr>
                <a:tableStyleId>{5C22544A-7EE6-4342-B048-85BDC9FD1C3A}</a:tableStyleId>
              </a:tblPr>
              <a:tblGrid>
                <a:gridCol w="1705928"/>
                <a:gridCol w="1990249"/>
                <a:gridCol w="1990249"/>
              </a:tblGrid>
              <a:tr h="180975">
                <a:tc>
                  <a:txBody>
                    <a:bodyPr wrap="none"/>
                    <a:lstStyle/>
                    <a:p>
                      <a:pPr algn="l"/>
                      <a:r>
                        <a:rPr sz="900" b="1">
                          <a:solidFill>
                            <a:srgbClr val="0B2E4A"/>
                          </a:solidFill>
                          <a:latin typeface="Calibri"/>
                        </a:rPr>
                        <a:t>Buyer Type</a:t>
                      </a:r>
                    </a:p>
                  </a:txBody>
                  <a:tcPr marL="85725" marR="38100" marT="19050" marB="19050" anchor="ctr">
                    <a:solidFill>
                      <a:srgbClr val="E0E8EF"/>
                    </a:solidFill>
                  </a:tcPr>
                </a:tc>
                <a:tc>
                  <a:txBody>
                    <a:bodyPr wrap="none"/>
                    <a:lstStyle/>
                    <a:p>
                      <a:pPr algn="l"/>
                      <a:r>
                        <a:rPr sz="900" b="1">
                          <a:solidFill>
                            <a:srgbClr val="0B2E4A"/>
                          </a:solidFill>
                          <a:latin typeface="Calibri"/>
                        </a:rPr>
                        <a:t>Absolute $ Opportunity (US$ Mn)</a:t>
                      </a:r>
                    </a:p>
                  </a:txBody>
                  <a:tcPr marL="85725" marR="38100" marT="19050" marB="19050" anchor="ctr">
                    <a:solidFill>
                      <a:srgbClr val="E0E8EF"/>
                    </a:solidFill>
                  </a:tcPr>
                </a:tc>
                <a:tc>
                  <a:txBody>
                    <a:bodyPr wrap="none"/>
                    <a:lstStyle/>
                    <a:p>
                      <a:pPr algn="l"/>
                      <a:r>
                        <a:rPr sz="900" b="1">
                          <a:solidFill>
                            <a:srgbClr val="0B2E4A"/>
                          </a:solidFill>
                          <a:latin typeface="Calibri"/>
                        </a:rPr>
                        <a:t>Share of Increment</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Hospitals</a:t>
                      </a:r>
                    </a:p>
                  </a:txBody>
                  <a:tcPr marL="85725" marR="38100" marT="19050" marB="19050" anchor="ctr">
                    <a:solidFill>
                      <a:srgbClr val="FFFFFF"/>
                    </a:solidFill>
                  </a:tcPr>
                </a:tc>
                <a:tc>
                  <a:txBody>
                    <a:bodyPr wrap="none"/>
                    <a:lstStyle/>
                    <a:p>
                      <a:pPr algn="l"/>
                      <a:r>
                        <a:rPr sz="900" b="0">
                          <a:solidFill>
                            <a:srgbClr val="2E2E2E"/>
                          </a:solidFill>
                          <a:latin typeface="Calibri"/>
                        </a:rPr>
                        <a:t>722.2</a:t>
                      </a:r>
                    </a:p>
                  </a:txBody>
                  <a:tcPr marL="85725" marR="38100" marT="19050" marB="19050" anchor="ctr">
                    <a:solidFill>
                      <a:srgbClr val="FFFFFF"/>
                    </a:solidFill>
                  </a:tcPr>
                </a:tc>
                <a:tc>
                  <a:txBody>
                    <a:bodyPr wrap="none"/>
                    <a:lstStyle/>
                    <a:p>
                      <a:pPr algn="l"/>
                      <a:r>
                        <a:rPr sz="900" b="0">
                          <a:solidFill>
                            <a:srgbClr val="2E2E2E"/>
                          </a:solidFill>
                          <a:latin typeface="Calibri"/>
                        </a:rPr>
                        <a:t>28.9%</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Specialty Clinics</a:t>
                      </a:r>
                    </a:p>
                  </a:txBody>
                  <a:tcPr marL="85725" marR="38100" marT="19050" marB="19050" anchor="ctr">
                    <a:solidFill>
                      <a:srgbClr val="F5F8FA"/>
                    </a:solidFill>
                  </a:tcPr>
                </a:tc>
                <a:tc>
                  <a:txBody>
                    <a:bodyPr wrap="none"/>
                    <a:lstStyle/>
                    <a:p>
                      <a:pPr algn="l"/>
                      <a:r>
                        <a:rPr sz="900" b="0">
                          <a:solidFill>
                            <a:srgbClr val="2E2E2E"/>
                          </a:solidFill>
                          <a:latin typeface="Calibri"/>
                        </a:rPr>
                        <a:t>678.9</a:t>
                      </a:r>
                    </a:p>
                  </a:txBody>
                  <a:tcPr marL="85725" marR="38100" marT="19050" marB="19050" anchor="ctr">
                    <a:solidFill>
                      <a:srgbClr val="F5F8FA"/>
                    </a:solidFill>
                  </a:tcPr>
                </a:tc>
                <a:tc>
                  <a:txBody>
                    <a:bodyPr wrap="none"/>
                    <a:lstStyle/>
                    <a:p>
                      <a:pPr algn="l"/>
                      <a:r>
                        <a:rPr sz="900" b="0">
                          <a:solidFill>
                            <a:srgbClr val="2E2E2E"/>
                          </a:solidFill>
                          <a:latin typeface="Calibri"/>
                        </a:rPr>
                        <a:t>27.2%</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Retail / Specialty Pharmacies</a:t>
                      </a:r>
                    </a:p>
                  </a:txBody>
                  <a:tcPr marL="85725" marR="38100" marT="19050" marB="19050" anchor="ctr">
                    <a:solidFill>
                      <a:srgbClr val="FFFFFF"/>
                    </a:solidFill>
                  </a:tcPr>
                </a:tc>
                <a:tc>
                  <a:txBody>
                    <a:bodyPr wrap="none"/>
                    <a:lstStyle/>
                    <a:p>
                      <a:pPr algn="l"/>
                      <a:r>
                        <a:rPr sz="900" b="0">
                          <a:solidFill>
                            <a:srgbClr val="2E2E2E"/>
                          </a:solidFill>
                          <a:latin typeface="Calibri"/>
                        </a:rPr>
                        <a:t>566.0</a:t>
                      </a:r>
                    </a:p>
                  </a:txBody>
                  <a:tcPr marL="85725" marR="38100" marT="19050" marB="19050" anchor="ctr">
                    <a:solidFill>
                      <a:srgbClr val="FFFFFF"/>
                    </a:solidFill>
                  </a:tcPr>
                </a:tc>
                <a:tc>
                  <a:txBody>
                    <a:bodyPr wrap="none"/>
                    <a:lstStyle/>
                    <a:p>
                      <a:pPr algn="l"/>
                      <a:r>
                        <a:rPr sz="900" b="0">
                          <a:solidFill>
                            <a:srgbClr val="2E2E2E"/>
                          </a:solidFill>
                          <a:latin typeface="Calibri"/>
                        </a:rPr>
                        <a:t>22.6%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Institutional Buyers</a:t>
                      </a:r>
                    </a:p>
                  </a:txBody>
                  <a:tcPr marL="85725" marR="38100" marT="19050" marB="19050" anchor="ctr">
                    <a:solidFill>
                      <a:srgbClr val="F5F8FA"/>
                    </a:solidFill>
                  </a:tcPr>
                </a:tc>
                <a:tc>
                  <a:txBody>
                    <a:bodyPr wrap="none"/>
                    <a:lstStyle/>
                    <a:p>
                      <a:pPr algn="l"/>
                      <a:r>
                        <a:rPr sz="900" b="0">
                          <a:solidFill>
                            <a:srgbClr val="2E2E2E"/>
                          </a:solidFill>
                          <a:latin typeface="Calibri"/>
                        </a:rPr>
                        <a:t>533.3</a:t>
                      </a:r>
                    </a:p>
                  </a:txBody>
                  <a:tcPr marL="85725" marR="38100" marT="19050" marB="19050" anchor="ctr">
                    <a:solidFill>
                      <a:srgbClr val="F5F8FA"/>
                    </a:solidFill>
                  </a:tcPr>
                </a:tc>
                <a:tc>
                  <a:txBody>
                    <a:bodyPr wrap="none"/>
                    <a:lstStyle/>
                    <a:p>
                      <a:pPr algn="l"/>
                      <a:r>
                        <a:rPr sz="900" b="0">
                          <a:solidFill>
                            <a:srgbClr val="2E2E2E"/>
                          </a:solidFill>
                          <a:latin typeface="Calibri"/>
                        </a:rPr>
                        <a:t>21.3%</a:t>
                      </a:r>
                    </a:p>
                  </a:txBody>
                  <a:tcPr marL="85725" marR="38100" marT="19050" marB="19050" anchor="ctr">
                    <a:solidFill>
                      <a:srgbClr val="F5F8FA"/>
                    </a:solidFill>
                  </a:tcPr>
                </a:tc>
              </a:tr>
            </a:tbl>
          </a:graphicData>
        </a:graphic>
      </p:graphicFrame>
      <p:sp>
        <p:nvSpPr>
          <p:cNvPr id="23" name="TextBox 22"/>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Volume Analysis, By Buyer Type (Mn Doses)</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3133725"/>
          </a:xfrm>
          <a:prstGeom prst="roundRect">
            <a:avLst>
              <a:gd name="adj" fmla="val 24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Buyer Type (Mn Doses)</a:t>
            </a:r>
          </a:p>
        </p:txBody>
      </p:sp>
      <p:graphicFrame>
        <p:nvGraphicFramePr>
          <p:cNvPr id="13" name="Table 12"/>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Buyer Type</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Hospitals</a:t>
                      </a:r>
                    </a:p>
                  </a:txBody>
                  <a:tcPr marL="85725" marR="38100" marT="19050" marB="19050" anchor="ctr">
                    <a:solidFill>
                      <a:srgbClr val="FFFFFF"/>
                    </a:solidFill>
                  </a:tcPr>
                </a:tc>
                <a:tc>
                  <a:txBody>
                    <a:bodyPr wrap="none"/>
                    <a:lstStyle/>
                    <a:p>
                      <a:pPr algn="l"/>
                      <a:r>
                        <a:rPr sz="800" b="0">
                          <a:solidFill>
                            <a:srgbClr val="2E2E2E"/>
                          </a:solidFill>
                          <a:latin typeface="Calibri"/>
                        </a:rPr>
                        <a:t>0.30</a:t>
                      </a:r>
                    </a:p>
                  </a:txBody>
                  <a:tcPr marL="85725" marR="38100" marT="19050" marB="19050" anchor="ctr">
                    <a:solidFill>
                      <a:srgbClr val="FFFFFF"/>
                    </a:solidFill>
                  </a:tcPr>
                </a:tc>
                <a:tc>
                  <a:txBody>
                    <a:bodyPr wrap="none"/>
                    <a:lstStyle/>
                    <a:p>
                      <a:pPr algn="l"/>
                      <a:r>
                        <a:rPr sz="800" b="0">
                          <a:solidFill>
                            <a:srgbClr val="2E2E2E"/>
                          </a:solidFill>
                          <a:latin typeface="Calibri"/>
                        </a:rPr>
                        <a:t>0.36</a:t>
                      </a:r>
                    </a:p>
                  </a:txBody>
                  <a:tcPr marL="85725" marR="38100" marT="19050" marB="19050" anchor="ctr">
                    <a:solidFill>
                      <a:srgbClr val="FFFFFF"/>
                    </a:solidFill>
                  </a:tcPr>
                </a:tc>
                <a:tc>
                  <a:txBody>
                    <a:bodyPr wrap="none"/>
                    <a:lstStyle/>
                    <a:p>
                      <a:pPr algn="l"/>
                      <a:r>
                        <a:rPr sz="800" b="0">
                          <a:solidFill>
                            <a:srgbClr val="2E2E2E"/>
                          </a:solidFill>
                          <a:latin typeface="Calibri"/>
                        </a:rPr>
                        <a:t>0.46</a:t>
                      </a:r>
                    </a:p>
                  </a:txBody>
                  <a:tcPr marL="85725" marR="38100" marT="19050" marB="19050" anchor="ctr">
                    <a:solidFill>
                      <a:srgbClr val="FFFFFF"/>
                    </a:solidFill>
                  </a:tcPr>
                </a:tc>
                <a:tc>
                  <a:txBody>
                    <a:bodyPr wrap="none"/>
                    <a:lstStyle/>
                    <a:p>
                      <a:pPr algn="l"/>
                      <a:r>
                        <a:rPr sz="800" b="0">
                          <a:solidFill>
                            <a:srgbClr val="2E2E2E"/>
                          </a:solidFill>
                          <a:latin typeface="Calibri"/>
                        </a:rPr>
                        <a:t>0.60</a:t>
                      </a:r>
                    </a:p>
                  </a:txBody>
                  <a:tcPr marL="85725" marR="38100" marT="19050" marB="19050" anchor="ctr">
                    <a:solidFill>
                      <a:srgbClr val="FFFFFF"/>
                    </a:solidFill>
                  </a:tcPr>
                </a:tc>
                <a:tc>
                  <a:txBody>
                    <a:bodyPr wrap="none"/>
                    <a:lstStyle/>
                    <a:p>
                      <a:pPr algn="l"/>
                      <a:r>
                        <a:rPr sz="800" b="0">
                          <a:solidFill>
                            <a:srgbClr val="2E2E2E"/>
                          </a:solidFill>
                          <a:latin typeface="Calibri"/>
                        </a:rPr>
                        <a:t>0.76</a:t>
                      </a:r>
                    </a:p>
                  </a:txBody>
                  <a:tcPr marL="85725" marR="38100" marT="19050" marB="19050" anchor="ctr">
                    <a:solidFill>
                      <a:srgbClr val="FFFFFF"/>
                    </a:solidFill>
                  </a:tcPr>
                </a:tc>
                <a:tc>
                  <a:txBody>
                    <a:bodyPr wrap="none"/>
                    <a:lstStyle/>
                    <a:p>
                      <a:pPr algn="l"/>
                      <a:r>
                        <a:rPr sz="800" b="0">
                          <a:solidFill>
                            <a:srgbClr val="2E2E2E"/>
                          </a:solidFill>
                          <a:latin typeface="Calibri"/>
                        </a:rPr>
                        <a:t>0.94</a:t>
                      </a:r>
                    </a:p>
                  </a:txBody>
                  <a:tcPr marL="85725" marR="38100" marT="19050" marB="19050" anchor="ctr">
                    <a:solidFill>
                      <a:srgbClr val="FFFFFF"/>
                    </a:solidFill>
                  </a:tcPr>
                </a:tc>
                <a:tc>
                  <a:txBody>
                    <a:bodyPr wrap="none"/>
                    <a:lstStyle/>
                    <a:p>
                      <a:pPr algn="l"/>
                      <a:r>
                        <a:rPr sz="800" b="0">
                          <a:solidFill>
                            <a:srgbClr val="2E2E2E"/>
                          </a:solidFill>
                          <a:latin typeface="Calibri"/>
                        </a:rPr>
                        <a:t>1.14</a:t>
                      </a:r>
                    </a:p>
                  </a:txBody>
                  <a:tcPr marL="85725" marR="38100" marT="19050" marB="19050" anchor="ctr">
                    <a:solidFill>
                      <a:srgbClr val="FFFFFF"/>
                    </a:solidFill>
                  </a:tcPr>
                </a:tc>
                <a:tc>
                  <a:txBody>
                    <a:bodyPr wrap="none"/>
                    <a:lstStyle/>
                    <a:p>
                      <a:pPr algn="l"/>
                      <a:r>
                        <a:rPr sz="800" b="0">
                          <a:solidFill>
                            <a:srgbClr val="2E2E2E"/>
                          </a:solidFill>
                          <a:latin typeface="Calibri"/>
                        </a:rPr>
                        <a:t>1.36</a:t>
                      </a:r>
                    </a:p>
                  </a:txBody>
                  <a:tcPr marL="85725" marR="38100" marT="19050" marB="19050" anchor="ctr">
                    <a:solidFill>
                      <a:srgbClr val="FFFFFF"/>
                    </a:solidFill>
                  </a:tcPr>
                </a:tc>
                <a:tc>
                  <a:txBody>
                    <a:bodyPr wrap="none"/>
                    <a:lstStyle/>
                    <a:p>
                      <a:pPr algn="l"/>
                      <a:r>
                        <a:rPr sz="800" b="0">
                          <a:solidFill>
                            <a:srgbClr val="2E2E2E"/>
                          </a:solidFill>
                          <a:latin typeface="Calibri"/>
                        </a:rPr>
                        <a:t>1.59</a:t>
                      </a:r>
                    </a:p>
                  </a:txBody>
                  <a:tcPr marL="85725" marR="38100" marT="19050" marB="19050" anchor="ctr">
                    <a:solidFill>
                      <a:srgbClr val="FFFFFF"/>
                    </a:solidFill>
                  </a:tcPr>
                </a:tc>
                <a:tc>
                  <a:txBody>
                    <a:bodyPr wrap="none"/>
                    <a:lstStyle/>
                    <a:p>
                      <a:pPr algn="l"/>
                      <a:r>
                        <a:rPr sz="800" b="0">
                          <a:solidFill>
                            <a:srgbClr val="2E2E2E"/>
                          </a:solidFill>
                          <a:latin typeface="Calibri"/>
                        </a:rPr>
                        <a:t>1.85</a:t>
                      </a:r>
                    </a:p>
                  </a:txBody>
                  <a:tcPr marL="85725" marR="38100" marT="19050" marB="19050" anchor="ctr">
                    <a:solidFill>
                      <a:srgbClr val="FFFFFF"/>
                    </a:solidFill>
                  </a:tcPr>
                </a:tc>
                <a:tc>
                  <a:txBody>
                    <a:bodyPr wrap="none"/>
                    <a:lstStyle/>
                    <a:p>
                      <a:pPr algn="l"/>
                      <a:r>
                        <a:rPr sz="800" b="0">
                          <a:solidFill>
                            <a:srgbClr val="2E2E2E"/>
                          </a:solidFill>
                          <a:latin typeface="Calibri"/>
                        </a:rPr>
                        <a:t>2.12</a:t>
                      </a:r>
                    </a:p>
                  </a:txBody>
                  <a:tcPr marL="85725" marR="38100" marT="19050" marB="19050" anchor="ctr">
                    <a:solidFill>
                      <a:srgbClr val="FFFFFF"/>
                    </a:solidFill>
                  </a:tcPr>
                </a:tc>
                <a:tc>
                  <a:txBody>
                    <a:bodyPr wrap="none"/>
                    <a:lstStyle/>
                    <a:p>
                      <a:pPr algn="l"/>
                      <a:r>
                        <a:rPr sz="800" b="0">
                          <a:solidFill>
                            <a:srgbClr val="2E2E2E"/>
                          </a:solidFill>
                          <a:latin typeface="Calibri"/>
                        </a:rPr>
                        <a:t>2.41</a:t>
                      </a:r>
                    </a:p>
                  </a:txBody>
                  <a:tcPr marL="85725" marR="38100" marT="19050" marB="19050" anchor="ctr">
                    <a:solidFill>
                      <a:srgbClr val="FFFFFF"/>
                    </a:solidFill>
                  </a:tcPr>
                </a:tc>
                <a:tc>
                  <a:txBody>
                    <a:bodyPr wrap="none"/>
                    <a:lstStyle/>
                    <a:p>
                      <a:pPr algn="l"/>
                      <a:r>
                        <a:rPr sz="800" b="0">
                          <a:solidFill>
                            <a:srgbClr val="2E2E2E"/>
                          </a:solidFill>
                          <a:latin typeface="Calibri"/>
                        </a:rPr>
                        <a:t>2.72</a:t>
                      </a:r>
                    </a:p>
                  </a:txBody>
                  <a:tcPr marL="85725" marR="38100" marT="19050" marB="19050" anchor="ctr">
                    <a:solidFill>
                      <a:srgbClr val="FFFFFF"/>
                    </a:solidFill>
                  </a:tcPr>
                </a:tc>
                <a:tc>
                  <a:txBody>
                    <a:bodyPr wrap="none"/>
                    <a:lstStyle/>
                    <a:p>
                      <a:pPr algn="l"/>
                      <a:r>
                        <a:rPr sz="800" b="0">
                          <a:solidFill>
                            <a:srgbClr val="2E2E2E"/>
                          </a:solidFill>
                          <a:latin typeface="Calibri"/>
                        </a:rPr>
                        <a:t>3.05</a:t>
                      </a:r>
                    </a:p>
                  </a:txBody>
                  <a:tcPr marL="85725" marR="38100" marT="19050" marB="19050" anchor="ctr">
                    <a:solidFill>
                      <a:srgbClr val="FFFFFF"/>
                    </a:solidFill>
                  </a:tcPr>
                </a:tc>
                <a:tc>
                  <a:txBody>
                    <a:bodyPr wrap="none"/>
                    <a:lstStyle/>
                    <a:p>
                      <a:pPr algn="l"/>
                      <a:r>
                        <a:rPr sz="800" b="0">
                          <a:solidFill>
                            <a:srgbClr val="2E2E2E"/>
                          </a:solidFill>
                          <a:latin typeface="Calibri"/>
                        </a:rPr>
                        <a:t>3.40</a:t>
                      </a:r>
                    </a:p>
                  </a:txBody>
                  <a:tcPr marL="85725" marR="38100" marT="19050" marB="19050" anchor="ctr">
                    <a:solidFill>
                      <a:srgbClr val="FFFFFF"/>
                    </a:solidFill>
                  </a:tcPr>
                </a:tc>
                <a:tc>
                  <a:txBody>
                    <a:bodyPr wrap="none"/>
                    <a:lstStyle/>
                    <a:p>
                      <a:pPr algn="l"/>
                      <a:r>
                        <a:rPr sz="800" b="0">
                          <a:solidFill>
                            <a:srgbClr val="2E2E2E"/>
                          </a:solidFill>
                          <a:latin typeface="Calibri"/>
                        </a:rPr>
                        <a:t>3.78</a:t>
                      </a:r>
                    </a:p>
                  </a:txBody>
                  <a:tcPr marL="85725" marR="38100" marT="19050" marB="19050" anchor="ctr">
                    <a:solidFill>
                      <a:srgbClr val="FFFFFF"/>
                    </a:solidFill>
                  </a:tcPr>
                </a:tc>
                <a:tc>
                  <a:txBody>
                    <a:bodyPr wrap="none"/>
                    <a:lstStyle/>
                    <a:p>
                      <a:pPr algn="l"/>
                      <a:r>
                        <a:rPr sz="800" b="0">
                          <a:solidFill>
                            <a:srgbClr val="2E2E2E"/>
                          </a:solidFill>
                          <a:latin typeface="Calibri"/>
                        </a:rPr>
                        <a:t>14.9%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Specialty Clinics</a:t>
                      </a:r>
                    </a:p>
                  </a:txBody>
                  <a:tcPr marL="85725" marR="38100" marT="19050" marB="19050" anchor="ctr">
                    <a:solidFill>
                      <a:srgbClr val="F5F8FA"/>
                    </a:solidFill>
                  </a:tcPr>
                </a:tc>
                <a:tc>
                  <a:txBody>
                    <a:bodyPr wrap="none"/>
                    <a:lstStyle/>
                    <a:p>
                      <a:pPr algn="l"/>
                      <a:r>
                        <a:rPr sz="800" b="0">
                          <a:solidFill>
                            <a:srgbClr val="2E2E2E"/>
                          </a:solidFill>
                          <a:latin typeface="Calibri"/>
                        </a:rPr>
                        <a:t>0.55</a:t>
                      </a:r>
                    </a:p>
                  </a:txBody>
                  <a:tcPr marL="85725" marR="38100" marT="19050" marB="19050" anchor="ctr">
                    <a:solidFill>
                      <a:srgbClr val="F5F8FA"/>
                    </a:solidFill>
                  </a:tcPr>
                </a:tc>
                <a:tc>
                  <a:txBody>
                    <a:bodyPr wrap="none"/>
                    <a:lstStyle/>
                    <a:p>
                      <a:pPr algn="l"/>
                      <a:r>
                        <a:rPr sz="800" b="0">
                          <a:solidFill>
                            <a:srgbClr val="2E2E2E"/>
                          </a:solidFill>
                          <a:latin typeface="Calibri"/>
                        </a:rPr>
                        <a:t>0.63</a:t>
                      </a:r>
                    </a:p>
                  </a:txBody>
                  <a:tcPr marL="85725" marR="38100" marT="19050" marB="19050" anchor="ctr">
                    <a:solidFill>
                      <a:srgbClr val="F5F8FA"/>
                    </a:solidFill>
                  </a:tcPr>
                </a:tc>
                <a:tc>
                  <a:txBody>
                    <a:bodyPr wrap="none"/>
                    <a:lstStyle/>
                    <a:p>
                      <a:pPr algn="l"/>
                      <a:r>
                        <a:rPr sz="800" b="0">
                          <a:solidFill>
                            <a:srgbClr val="2E2E2E"/>
                          </a:solidFill>
                          <a:latin typeface="Calibri"/>
                        </a:rPr>
                        <a:t>0.78</a:t>
                      </a:r>
                    </a:p>
                  </a:txBody>
                  <a:tcPr marL="85725" marR="38100" marT="19050" marB="19050" anchor="ctr">
                    <a:solidFill>
                      <a:srgbClr val="F5F8FA"/>
                    </a:solidFill>
                  </a:tcPr>
                </a:tc>
                <a:tc>
                  <a:txBody>
                    <a:bodyPr wrap="none"/>
                    <a:lstStyle/>
                    <a:p>
                      <a:pPr algn="l"/>
                      <a:r>
                        <a:rPr sz="800" b="0">
                          <a:solidFill>
                            <a:srgbClr val="2E2E2E"/>
                          </a:solidFill>
                          <a:latin typeface="Calibri"/>
                        </a:rPr>
                        <a:t>0.98</a:t>
                      </a:r>
                    </a:p>
                  </a:txBody>
                  <a:tcPr marL="85725" marR="38100" marT="19050" marB="19050" anchor="ctr">
                    <a:solidFill>
                      <a:srgbClr val="F5F8FA"/>
                    </a:solidFill>
                  </a:tcPr>
                </a:tc>
                <a:tc>
                  <a:txBody>
                    <a:bodyPr wrap="none"/>
                    <a:lstStyle/>
                    <a:p>
                      <a:pPr algn="l"/>
                      <a:r>
                        <a:rPr sz="800" b="0">
                          <a:solidFill>
                            <a:srgbClr val="2E2E2E"/>
                          </a:solidFill>
                          <a:latin typeface="Calibri"/>
                        </a:rPr>
                        <a:t>1.22</a:t>
                      </a:r>
                    </a:p>
                  </a:txBody>
                  <a:tcPr marL="85725" marR="38100" marT="19050" marB="19050" anchor="ctr">
                    <a:solidFill>
                      <a:srgbClr val="F5F8FA"/>
                    </a:solidFill>
                  </a:tcPr>
                </a:tc>
                <a:tc>
                  <a:txBody>
                    <a:bodyPr wrap="none"/>
                    <a:lstStyle/>
                    <a:p>
                      <a:pPr algn="l"/>
                      <a:r>
                        <a:rPr sz="800" b="0">
                          <a:solidFill>
                            <a:srgbClr val="2E2E2E"/>
                          </a:solidFill>
                          <a:latin typeface="Calibri"/>
                        </a:rPr>
                        <a:t>1.47</a:t>
                      </a:r>
                    </a:p>
                  </a:txBody>
                  <a:tcPr marL="85725" marR="38100" marT="19050" marB="19050" anchor="ctr">
                    <a:solidFill>
                      <a:srgbClr val="F5F8FA"/>
                    </a:solidFill>
                  </a:tcPr>
                </a:tc>
                <a:tc>
                  <a:txBody>
                    <a:bodyPr wrap="none"/>
                    <a:lstStyle/>
                    <a:p>
                      <a:pPr algn="l"/>
                      <a:r>
                        <a:rPr sz="800" b="0">
                          <a:solidFill>
                            <a:srgbClr val="2E2E2E"/>
                          </a:solidFill>
                          <a:latin typeface="Calibri"/>
                        </a:rPr>
                        <a:t>1.73</a:t>
                      </a:r>
                    </a:p>
                  </a:txBody>
                  <a:tcPr marL="85725" marR="38100" marT="19050" marB="19050" anchor="ctr">
                    <a:solidFill>
                      <a:srgbClr val="F5F8FA"/>
                    </a:solidFill>
                  </a:tcPr>
                </a:tc>
                <a:tc>
                  <a:txBody>
                    <a:bodyPr wrap="none"/>
                    <a:lstStyle/>
                    <a:p>
                      <a:pPr algn="l"/>
                      <a:r>
                        <a:rPr sz="800" b="0">
                          <a:solidFill>
                            <a:srgbClr val="2E2E2E"/>
                          </a:solidFill>
                          <a:latin typeface="Calibri"/>
                        </a:rPr>
                        <a:t>2.00</a:t>
                      </a:r>
                    </a:p>
                  </a:txBody>
                  <a:tcPr marL="85725" marR="38100" marT="19050" marB="19050" anchor="ctr">
                    <a:solidFill>
                      <a:srgbClr val="F5F8FA"/>
                    </a:solidFill>
                  </a:tcPr>
                </a:tc>
                <a:tc>
                  <a:txBody>
                    <a:bodyPr wrap="none"/>
                    <a:lstStyle/>
                    <a:p>
                      <a:pPr algn="l"/>
                      <a:r>
                        <a:rPr sz="800" b="0">
                          <a:solidFill>
                            <a:srgbClr val="2E2E2E"/>
                          </a:solidFill>
                          <a:latin typeface="Calibri"/>
                        </a:rPr>
                        <a:t>2.28</a:t>
                      </a:r>
                    </a:p>
                  </a:txBody>
                  <a:tcPr marL="85725" marR="38100" marT="19050" marB="19050" anchor="ctr">
                    <a:solidFill>
                      <a:srgbClr val="F5F8FA"/>
                    </a:solidFill>
                  </a:tcPr>
                </a:tc>
                <a:tc>
                  <a:txBody>
                    <a:bodyPr wrap="none"/>
                    <a:lstStyle/>
                    <a:p>
                      <a:pPr algn="l"/>
                      <a:r>
                        <a:rPr sz="800" b="0">
                          <a:solidFill>
                            <a:srgbClr val="2E2E2E"/>
                          </a:solidFill>
                          <a:latin typeface="Calibri"/>
                        </a:rPr>
                        <a:t>2.57</a:t>
                      </a:r>
                    </a:p>
                  </a:txBody>
                  <a:tcPr marL="85725" marR="38100" marT="19050" marB="19050" anchor="ctr">
                    <a:solidFill>
                      <a:srgbClr val="F5F8FA"/>
                    </a:solidFill>
                  </a:tcPr>
                </a:tc>
                <a:tc>
                  <a:txBody>
                    <a:bodyPr wrap="none"/>
                    <a:lstStyle/>
                    <a:p>
                      <a:pPr algn="l"/>
                      <a:r>
                        <a:rPr sz="800" b="0">
                          <a:solidFill>
                            <a:srgbClr val="2E2E2E"/>
                          </a:solidFill>
                          <a:latin typeface="Calibri"/>
                        </a:rPr>
                        <a:t>2.86</a:t>
                      </a:r>
                    </a:p>
                  </a:txBody>
                  <a:tcPr marL="85725" marR="38100" marT="19050" marB="19050" anchor="ctr">
                    <a:solidFill>
                      <a:srgbClr val="F5F8FA"/>
                    </a:solidFill>
                  </a:tcPr>
                </a:tc>
                <a:tc>
                  <a:txBody>
                    <a:bodyPr wrap="none"/>
                    <a:lstStyle/>
                    <a:p>
                      <a:pPr algn="l"/>
                      <a:r>
                        <a:rPr sz="800" b="0">
                          <a:solidFill>
                            <a:srgbClr val="2E2E2E"/>
                          </a:solidFill>
                          <a:latin typeface="Calibri"/>
                        </a:rPr>
                        <a:t>3.16</a:t>
                      </a:r>
                    </a:p>
                  </a:txBody>
                  <a:tcPr marL="85725" marR="38100" marT="19050" marB="19050" anchor="ctr">
                    <a:solidFill>
                      <a:srgbClr val="F5F8FA"/>
                    </a:solidFill>
                  </a:tcPr>
                </a:tc>
                <a:tc>
                  <a:txBody>
                    <a:bodyPr wrap="none"/>
                    <a:lstStyle/>
                    <a:p>
                      <a:pPr algn="l"/>
                      <a:r>
                        <a:rPr sz="800" b="0">
                          <a:solidFill>
                            <a:srgbClr val="2E2E2E"/>
                          </a:solidFill>
                          <a:latin typeface="Calibri"/>
                        </a:rPr>
                        <a:t>3.47</a:t>
                      </a:r>
                    </a:p>
                  </a:txBody>
                  <a:tcPr marL="85725" marR="38100" marT="19050" marB="19050" anchor="ctr">
                    <a:solidFill>
                      <a:srgbClr val="F5F8FA"/>
                    </a:solidFill>
                  </a:tcPr>
                </a:tc>
                <a:tc>
                  <a:txBody>
                    <a:bodyPr wrap="none"/>
                    <a:lstStyle/>
                    <a:p>
                      <a:pPr algn="l"/>
                      <a:r>
                        <a:rPr sz="800" b="0">
                          <a:solidFill>
                            <a:srgbClr val="2E2E2E"/>
                          </a:solidFill>
                          <a:latin typeface="Calibri"/>
                        </a:rPr>
                        <a:t>3.78</a:t>
                      </a:r>
                    </a:p>
                  </a:txBody>
                  <a:tcPr marL="85725" marR="38100" marT="19050" marB="19050" anchor="ctr">
                    <a:solidFill>
                      <a:srgbClr val="F5F8FA"/>
                    </a:solidFill>
                  </a:tcPr>
                </a:tc>
                <a:tc>
                  <a:txBody>
                    <a:bodyPr wrap="none"/>
                    <a:lstStyle/>
                    <a:p>
                      <a:pPr algn="l"/>
                      <a:r>
                        <a:rPr sz="800" b="0">
                          <a:solidFill>
                            <a:srgbClr val="2E2E2E"/>
                          </a:solidFill>
                          <a:latin typeface="Calibri"/>
                        </a:rPr>
                        <a:t>4.10</a:t>
                      </a:r>
                    </a:p>
                  </a:txBody>
                  <a:tcPr marL="85725" marR="38100" marT="19050" marB="19050" anchor="ctr">
                    <a:solidFill>
                      <a:srgbClr val="F5F8FA"/>
                    </a:solidFill>
                  </a:tcPr>
                </a:tc>
                <a:tc>
                  <a:txBody>
                    <a:bodyPr wrap="none"/>
                    <a:lstStyle/>
                    <a:p>
                      <a:pPr algn="l"/>
                      <a:r>
                        <a:rPr sz="800" b="0">
                          <a:solidFill>
                            <a:srgbClr val="2E2E2E"/>
                          </a:solidFill>
                          <a:latin typeface="Calibri"/>
                        </a:rPr>
                        <a:t>4.43</a:t>
                      </a:r>
                    </a:p>
                  </a:txBody>
                  <a:tcPr marL="85725" marR="38100" marT="19050" marB="19050" anchor="ctr">
                    <a:solidFill>
                      <a:srgbClr val="F5F8FA"/>
                    </a:solidFill>
                  </a:tcPr>
                </a:tc>
                <a:tc>
                  <a:txBody>
                    <a:bodyPr wrap="none"/>
                    <a:lstStyle/>
                    <a:p>
                      <a:pPr algn="l"/>
                      <a:r>
                        <a:rPr sz="800" b="0">
                          <a:solidFill>
                            <a:srgbClr val="2E2E2E"/>
                          </a:solidFill>
                          <a:latin typeface="Calibri"/>
                        </a:rPr>
                        <a:t>11.7%</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Retail / Specialty Pharmacies</a:t>
                      </a:r>
                    </a:p>
                  </a:txBody>
                  <a:tcPr marL="85725" marR="38100" marT="19050" marB="19050" anchor="ctr">
                    <a:solidFill>
                      <a:srgbClr val="FFFFFF"/>
                    </a:solidFill>
                  </a:tcPr>
                </a:tc>
                <a:tc>
                  <a:txBody>
                    <a:bodyPr wrap="none"/>
                    <a:lstStyle/>
                    <a:p>
                      <a:pPr algn="l"/>
                      <a:r>
                        <a:rPr sz="800" b="0">
                          <a:solidFill>
                            <a:srgbClr val="2E2E2E"/>
                          </a:solidFill>
                          <a:latin typeface="Calibri"/>
                        </a:rPr>
                        <a:t>0.28</a:t>
                      </a:r>
                    </a:p>
                  </a:txBody>
                  <a:tcPr marL="85725" marR="38100" marT="19050" marB="19050" anchor="ctr">
                    <a:solidFill>
                      <a:srgbClr val="FFFFFF"/>
                    </a:solidFill>
                  </a:tcPr>
                </a:tc>
                <a:tc>
                  <a:txBody>
                    <a:bodyPr wrap="none"/>
                    <a:lstStyle/>
                    <a:p>
                      <a:pPr algn="l"/>
                      <a:r>
                        <a:rPr sz="800" b="0">
                          <a:solidFill>
                            <a:srgbClr val="2E2E2E"/>
                          </a:solidFill>
                          <a:latin typeface="Calibri"/>
                        </a:rPr>
                        <a:t>0.33</a:t>
                      </a:r>
                    </a:p>
                  </a:txBody>
                  <a:tcPr marL="85725" marR="38100" marT="19050" marB="19050" anchor="ctr">
                    <a:solidFill>
                      <a:srgbClr val="FFFFFF"/>
                    </a:solidFill>
                  </a:tcPr>
                </a:tc>
                <a:tc>
                  <a:txBody>
                    <a:bodyPr wrap="none"/>
                    <a:lstStyle/>
                    <a:p>
                      <a:pPr algn="l"/>
                      <a:r>
                        <a:rPr sz="800" b="0">
                          <a:solidFill>
                            <a:srgbClr val="2E2E2E"/>
                          </a:solidFill>
                          <a:latin typeface="Calibri"/>
                        </a:rPr>
                        <a:t>0.40</a:t>
                      </a:r>
                    </a:p>
                  </a:txBody>
                  <a:tcPr marL="85725" marR="38100" marT="19050" marB="19050" anchor="ctr">
                    <a:solidFill>
                      <a:srgbClr val="FFFFFF"/>
                    </a:solidFill>
                  </a:tcPr>
                </a:tc>
                <a:tc>
                  <a:txBody>
                    <a:bodyPr wrap="none"/>
                    <a:lstStyle/>
                    <a:p>
                      <a:pPr algn="l"/>
                      <a:r>
                        <a:rPr sz="800" b="0">
                          <a:solidFill>
                            <a:srgbClr val="2E2E2E"/>
                          </a:solidFill>
                          <a:latin typeface="Calibri"/>
                        </a:rPr>
                        <a:t>0.52</a:t>
                      </a:r>
                    </a:p>
                  </a:txBody>
                  <a:tcPr marL="85725" marR="38100" marT="19050" marB="19050" anchor="ctr">
                    <a:solidFill>
                      <a:srgbClr val="FFFFFF"/>
                    </a:solidFill>
                  </a:tcPr>
                </a:tc>
                <a:tc>
                  <a:txBody>
                    <a:bodyPr wrap="none"/>
                    <a:lstStyle/>
                    <a:p>
                      <a:pPr algn="l"/>
                      <a:r>
                        <a:rPr sz="800" b="0">
                          <a:solidFill>
                            <a:srgbClr val="2E2E2E"/>
                          </a:solidFill>
                          <a:latin typeface="Calibri"/>
                        </a:rPr>
                        <a:t>0.65</a:t>
                      </a:r>
                    </a:p>
                  </a:txBody>
                  <a:tcPr marL="85725" marR="38100" marT="19050" marB="19050" anchor="ctr">
                    <a:solidFill>
                      <a:srgbClr val="FFFFFF"/>
                    </a:solidFill>
                  </a:tcPr>
                </a:tc>
                <a:tc>
                  <a:txBody>
                    <a:bodyPr wrap="none"/>
                    <a:lstStyle/>
                    <a:p>
                      <a:pPr algn="l"/>
                      <a:r>
                        <a:rPr sz="800" b="0">
                          <a:solidFill>
                            <a:srgbClr val="2E2E2E"/>
                          </a:solidFill>
                          <a:latin typeface="Calibri"/>
                        </a:rPr>
                        <a:t>0.79</a:t>
                      </a:r>
                    </a:p>
                  </a:txBody>
                  <a:tcPr marL="85725" marR="38100" marT="19050" marB="19050" anchor="ctr">
                    <a:solidFill>
                      <a:srgbClr val="FFFFFF"/>
                    </a:solidFill>
                  </a:tcPr>
                </a:tc>
                <a:tc>
                  <a:txBody>
                    <a:bodyPr wrap="none"/>
                    <a:lstStyle/>
                    <a:p>
                      <a:pPr algn="l"/>
                      <a:r>
                        <a:rPr sz="800" b="0">
                          <a:solidFill>
                            <a:srgbClr val="2E2E2E"/>
                          </a:solidFill>
                          <a:latin typeface="Calibri"/>
                        </a:rPr>
                        <a:t>0.95</a:t>
                      </a:r>
                    </a:p>
                  </a:txBody>
                  <a:tcPr marL="85725" marR="38100" marT="19050" marB="19050" anchor="ctr">
                    <a:solidFill>
                      <a:srgbClr val="FFFFFF"/>
                    </a:solidFill>
                  </a:tcPr>
                </a:tc>
                <a:tc>
                  <a:txBody>
                    <a:bodyPr wrap="none"/>
                    <a:lstStyle/>
                    <a:p>
                      <a:pPr algn="l"/>
                      <a:r>
                        <a:rPr sz="800" b="0">
                          <a:solidFill>
                            <a:srgbClr val="2E2E2E"/>
                          </a:solidFill>
                          <a:latin typeface="Calibri"/>
                        </a:rPr>
                        <a:t>1.11</a:t>
                      </a:r>
                    </a:p>
                  </a:txBody>
                  <a:tcPr marL="85725" marR="38100" marT="19050" marB="19050" anchor="ctr">
                    <a:solidFill>
                      <a:srgbClr val="FFFFFF"/>
                    </a:solidFill>
                  </a:tcPr>
                </a:tc>
                <a:tc>
                  <a:txBody>
                    <a:bodyPr wrap="none"/>
                    <a:lstStyle/>
                    <a:p>
                      <a:pPr algn="l"/>
                      <a:r>
                        <a:rPr sz="800" b="0">
                          <a:solidFill>
                            <a:srgbClr val="2E2E2E"/>
                          </a:solidFill>
                          <a:latin typeface="Calibri"/>
                        </a:rPr>
                        <a:t>1.28</a:t>
                      </a:r>
                    </a:p>
                  </a:txBody>
                  <a:tcPr marL="85725" marR="38100" marT="19050" marB="19050" anchor="ctr">
                    <a:solidFill>
                      <a:srgbClr val="FFFFFF"/>
                    </a:solidFill>
                  </a:tcPr>
                </a:tc>
                <a:tc>
                  <a:txBody>
                    <a:bodyPr wrap="none"/>
                    <a:lstStyle/>
                    <a:p>
                      <a:pPr algn="l"/>
                      <a:r>
                        <a:rPr sz="800" b="0">
                          <a:solidFill>
                            <a:srgbClr val="2E2E2E"/>
                          </a:solidFill>
                          <a:latin typeface="Calibri"/>
                        </a:rPr>
                        <a:t>1.46</a:t>
                      </a:r>
                    </a:p>
                  </a:txBody>
                  <a:tcPr marL="85725" marR="38100" marT="19050" marB="19050" anchor="ctr">
                    <a:solidFill>
                      <a:srgbClr val="FFFFFF"/>
                    </a:solidFill>
                  </a:tcPr>
                </a:tc>
                <a:tc>
                  <a:txBody>
                    <a:bodyPr wrap="none"/>
                    <a:lstStyle/>
                    <a:p>
                      <a:pPr algn="l"/>
                      <a:r>
                        <a:rPr sz="800" b="0">
                          <a:solidFill>
                            <a:srgbClr val="2E2E2E"/>
                          </a:solidFill>
                          <a:latin typeface="Calibri"/>
                        </a:rPr>
                        <a:t>1.65</a:t>
                      </a:r>
                    </a:p>
                  </a:txBody>
                  <a:tcPr marL="85725" marR="38100" marT="19050" marB="19050" anchor="ctr">
                    <a:solidFill>
                      <a:srgbClr val="FFFFFF"/>
                    </a:solidFill>
                  </a:tcPr>
                </a:tc>
                <a:tc>
                  <a:txBody>
                    <a:bodyPr wrap="none"/>
                    <a:lstStyle/>
                    <a:p>
                      <a:pPr algn="l"/>
                      <a:r>
                        <a:rPr sz="800" b="0">
                          <a:solidFill>
                            <a:srgbClr val="2E2E2E"/>
                          </a:solidFill>
                          <a:latin typeface="Calibri"/>
                        </a:rPr>
                        <a:t>1.85</a:t>
                      </a:r>
                    </a:p>
                  </a:txBody>
                  <a:tcPr marL="85725" marR="38100" marT="19050" marB="19050" anchor="ctr">
                    <a:solidFill>
                      <a:srgbClr val="FFFFFF"/>
                    </a:solidFill>
                  </a:tcPr>
                </a:tc>
                <a:tc>
                  <a:txBody>
                    <a:bodyPr wrap="none"/>
                    <a:lstStyle/>
                    <a:p>
                      <a:pPr algn="l"/>
                      <a:r>
                        <a:rPr sz="800" b="0">
                          <a:solidFill>
                            <a:srgbClr val="2E2E2E"/>
                          </a:solidFill>
                          <a:latin typeface="Calibri"/>
                        </a:rPr>
                        <a:t>2.05</a:t>
                      </a:r>
                    </a:p>
                  </a:txBody>
                  <a:tcPr marL="85725" marR="38100" marT="19050" marB="19050" anchor="ctr">
                    <a:solidFill>
                      <a:srgbClr val="FFFFFF"/>
                    </a:solidFill>
                  </a:tcPr>
                </a:tc>
                <a:tc>
                  <a:txBody>
                    <a:bodyPr wrap="none"/>
                    <a:lstStyle/>
                    <a:p>
                      <a:pPr algn="l"/>
                      <a:r>
                        <a:rPr sz="800" b="0">
                          <a:solidFill>
                            <a:srgbClr val="2E2E2E"/>
                          </a:solidFill>
                          <a:latin typeface="Calibri"/>
                        </a:rPr>
                        <a:t>2.27</a:t>
                      </a:r>
                    </a:p>
                  </a:txBody>
                  <a:tcPr marL="85725" marR="38100" marT="19050" marB="19050" anchor="ctr">
                    <a:solidFill>
                      <a:srgbClr val="FFFFFF"/>
                    </a:solidFill>
                  </a:tcPr>
                </a:tc>
                <a:tc>
                  <a:txBody>
                    <a:bodyPr wrap="none"/>
                    <a:lstStyle/>
                    <a:p>
                      <a:pPr algn="l"/>
                      <a:r>
                        <a:rPr sz="800" b="0">
                          <a:solidFill>
                            <a:srgbClr val="2E2E2E"/>
                          </a:solidFill>
                          <a:latin typeface="Calibri"/>
                        </a:rPr>
                        <a:t>2.49</a:t>
                      </a:r>
                    </a:p>
                  </a:txBody>
                  <a:tcPr marL="85725" marR="38100" marT="19050" marB="19050" anchor="ctr">
                    <a:solidFill>
                      <a:srgbClr val="FFFFFF"/>
                    </a:solidFill>
                  </a:tcPr>
                </a:tc>
                <a:tc>
                  <a:txBody>
                    <a:bodyPr wrap="none"/>
                    <a:lstStyle/>
                    <a:p>
                      <a:pPr algn="l"/>
                      <a:r>
                        <a:rPr sz="800" b="0">
                          <a:solidFill>
                            <a:srgbClr val="2E2E2E"/>
                          </a:solidFill>
                          <a:latin typeface="Calibri"/>
                        </a:rPr>
                        <a:t>2.73</a:t>
                      </a:r>
                    </a:p>
                  </a:txBody>
                  <a:tcPr marL="85725" marR="38100" marT="19050" marB="19050" anchor="ctr">
                    <a:solidFill>
                      <a:srgbClr val="FFFFFF"/>
                    </a:solidFill>
                  </a:tcPr>
                </a:tc>
                <a:tc>
                  <a:txBody>
                    <a:bodyPr wrap="none"/>
                    <a:lstStyle/>
                    <a:p>
                      <a:pPr algn="l"/>
                      <a:r>
                        <a:rPr sz="800" b="0">
                          <a:solidFill>
                            <a:srgbClr val="2E2E2E"/>
                          </a:solidFill>
                          <a:latin typeface="Calibri"/>
                        </a:rPr>
                        <a:t>13.1%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Institutional Buyers</a:t>
                      </a:r>
                    </a:p>
                  </a:txBody>
                  <a:tcPr marL="85725" marR="38100" marT="19050" marB="19050" anchor="ctr">
                    <a:solidFill>
                      <a:srgbClr val="F5F8FA"/>
                    </a:solidFill>
                  </a:tcPr>
                </a:tc>
                <a:tc>
                  <a:txBody>
                    <a:bodyPr wrap="none"/>
                    <a:lstStyle/>
                    <a:p>
                      <a:pPr algn="l"/>
                      <a:r>
                        <a:rPr sz="800" b="0">
                          <a:solidFill>
                            <a:srgbClr val="2E2E2E"/>
                          </a:solidFill>
                          <a:latin typeface="Calibri"/>
                        </a:rPr>
                        <a:t>0.34</a:t>
                      </a:r>
                    </a:p>
                  </a:txBody>
                  <a:tcPr marL="85725" marR="38100" marT="19050" marB="19050" anchor="ctr">
                    <a:solidFill>
                      <a:srgbClr val="F5F8FA"/>
                    </a:solidFill>
                  </a:tcPr>
                </a:tc>
                <a:tc>
                  <a:txBody>
                    <a:bodyPr wrap="none"/>
                    <a:lstStyle/>
                    <a:p>
                      <a:pPr algn="l"/>
                      <a:r>
                        <a:rPr sz="800" b="0">
                          <a:solidFill>
                            <a:srgbClr val="2E2E2E"/>
                          </a:solidFill>
                          <a:latin typeface="Calibri"/>
                        </a:rPr>
                        <a:t>0.40</a:t>
                      </a:r>
                    </a:p>
                  </a:txBody>
                  <a:tcPr marL="85725" marR="38100" marT="19050" marB="19050" anchor="ctr">
                    <a:solidFill>
                      <a:srgbClr val="F5F8FA"/>
                    </a:solidFill>
                  </a:tcPr>
                </a:tc>
                <a:tc>
                  <a:txBody>
                    <a:bodyPr wrap="none"/>
                    <a:lstStyle/>
                    <a:p>
                      <a:pPr algn="l"/>
                      <a:r>
                        <a:rPr sz="800" b="0">
                          <a:solidFill>
                            <a:srgbClr val="2E2E2E"/>
                          </a:solidFill>
                          <a:latin typeface="Calibri"/>
                        </a:rPr>
                        <a:t>0.49</a:t>
                      </a:r>
                    </a:p>
                  </a:txBody>
                  <a:tcPr marL="85725" marR="38100" marT="19050" marB="19050" anchor="ctr">
                    <a:solidFill>
                      <a:srgbClr val="F5F8FA"/>
                    </a:solidFill>
                  </a:tcPr>
                </a:tc>
                <a:tc>
                  <a:txBody>
                    <a:bodyPr wrap="none"/>
                    <a:lstStyle/>
                    <a:p>
                      <a:pPr algn="l"/>
                      <a:r>
                        <a:rPr sz="800" b="0">
                          <a:solidFill>
                            <a:srgbClr val="2E2E2E"/>
                          </a:solidFill>
                          <a:latin typeface="Calibri"/>
                        </a:rPr>
                        <a:t>0.63</a:t>
                      </a:r>
                    </a:p>
                  </a:txBody>
                  <a:tcPr marL="85725" marR="38100" marT="19050" marB="19050" anchor="ctr">
                    <a:solidFill>
                      <a:srgbClr val="F5F8FA"/>
                    </a:solidFill>
                  </a:tcPr>
                </a:tc>
                <a:tc>
                  <a:txBody>
                    <a:bodyPr wrap="none"/>
                    <a:lstStyle/>
                    <a:p>
                      <a:pPr algn="l"/>
                      <a:r>
                        <a:rPr sz="800" b="0">
                          <a:solidFill>
                            <a:srgbClr val="2E2E2E"/>
                          </a:solidFill>
                          <a:latin typeface="Calibri"/>
                        </a:rPr>
                        <a:t>0.79</a:t>
                      </a:r>
                    </a:p>
                  </a:txBody>
                  <a:tcPr marL="85725" marR="38100" marT="19050" marB="19050" anchor="ctr">
                    <a:solidFill>
                      <a:srgbClr val="F5F8FA"/>
                    </a:solidFill>
                  </a:tcPr>
                </a:tc>
                <a:tc>
                  <a:txBody>
                    <a:bodyPr wrap="none"/>
                    <a:lstStyle/>
                    <a:p>
                      <a:pPr algn="l"/>
                      <a:r>
                        <a:rPr sz="800" b="0">
                          <a:solidFill>
                            <a:srgbClr val="2E2E2E"/>
                          </a:solidFill>
                          <a:latin typeface="Calibri"/>
                        </a:rPr>
                        <a:t>0.96</a:t>
                      </a:r>
                    </a:p>
                  </a:txBody>
                  <a:tcPr marL="85725" marR="38100" marT="19050" marB="19050" anchor="ctr">
                    <a:solidFill>
                      <a:srgbClr val="F5F8FA"/>
                    </a:solidFill>
                  </a:tcPr>
                </a:tc>
                <a:tc>
                  <a:txBody>
                    <a:bodyPr wrap="none"/>
                    <a:lstStyle/>
                    <a:p>
                      <a:pPr algn="l"/>
                      <a:r>
                        <a:rPr sz="800" b="0">
                          <a:solidFill>
                            <a:srgbClr val="2E2E2E"/>
                          </a:solidFill>
                          <a:latin typeface="Calibri"/>
                        </a:rPr>
                        <a:t>1.15</a:t>
                      </a:r>
                    </a:p>
                  </a:txBody>
                  <a:tcPr marL="85725" marR="38100" marT="19050" marB="19050" anchor="ctr">
                    <a:solidFill>
                      <a:srgbClr val="F5F8FA"/>
                    </a:solidFill>
                  </a:tcPr>
                </a:tc>
                <a:tc>
                  <a:txBody>
                    <a:bodyPr wrap="none"/>
                    <a:lstStyle/>
                    <a:p>
                      <a:pPr algn="l"/>
                      <a:r>
                        <a:rPr sz="800" b="0">
                          <a:solidFill>
                            <a:srgbClr val="2E2E2E"/>
                          </a:solidFill>
                          <a:latin typeface="Calibri"/>
                        </a:rPr>
                        <a:t>1.34</a:t>
                      </a:r>
                    </a:p>
                  </a:txBody>
                  <a:tcPr marL="85725" marR="38100" marT="19050" marB="19050" anchor="ctr">
                    <a:solidFill>
                      <a:srgbClr val="F5F8FA"/>
                    </a:solidFill>
                  </a:tcPr>
                </a:tc>
                <a:tc>
                  <a:txBody>
                    <a:bodyPr wrap="none"/>
                    <a:lstStyle/>
                    <a:p>
                      <a:pPr algn="l"/>
                      <a:r>
                        <a:rPr sz="800" b="0">
                          <a:solidFill>
                            <a:srgbClr val="2E2E2E"/>
                          </a:solidFill>
                          <a:latin typeface="Calibri"/>
                        </a:rPr>
                        <a:t>1.54</a:t>
                      </a:r>
                    </a:p>
                  </a:txBody>
                  <a:tcPr marL="85725" marR="38100" marT="19050" marB="19050" anchor="ctr">
                    <a:solidFill>
                      <a:srgbClr val="F5F8FA"/>
                    </a:solidFill>
                  </a:tcPr>
                </a:tc>
                <a:tc>
                  <a:txBody>
                    <a:bodyPr wrap="none"/>
                    <a:lstStyle/>
                    <a:p>
                      <a:pPr algn="l"/>
                      <a:r>
                        <a:rPr sz="800" b="0">
                          <a:solidFill>
                            <a:srgbClr val="2E2E2E"/>
                          </a:solidFill>
                          <a:latin typeface="Calibri"/>
                        </a:rPr>
                        <a:t>1.75</a:t>
                      </a:r>
                    </a:p>
                  </a:txBody>
                  <a:tcPr marL="85725" marR="38100" marT="19050" marB="19050" anchor="ctr">
                    <a:solidFill>
                      <a:srgbClr val="F5F8FA"/>
                    </a:solidFill>
                  </a:tcPr>
                </a:tc>
                <a:tc>
                  <a:txBody>
                    <a:bodyPr wrap="none"/>
                    <a:lstStyle/>
                    <a:p>
                      <a:pPr algn="l"/>
                      <a:r>
                        <a:rPr sz="800" b="0">
                          <a:solidFill>
                            <a:srgbClr val="2E2E2E"/>
                          </a:solidFill>
                          <a:latin typeface="Calibri"/>
                        </a:rPr>
                        <a:t>1.97</a:t>
                      </a:r>
                    </a:p>
                  </a:txBody>
                  <a:tcPr marL="85725" marR="38100" marT="19050" marB="19050" anchor="ctr">
                    <a:solidFill>
                      <a:srgbClr val="F5F8FA"/>
                    </a:solidFill>
                  </a:tcPr>
                </a:tc>
                <a:tc>
                  <a:txBody>
                    <a:bodyPr wrap="none"/>
                    <a:lstStyle/>
                    <a:p>
                      <a:pPr algn="l"/>
                      <a:r>
                        <a:rPr sz="800" b="0">
                          <a:solidFill>
                            <a:srgbClr val="2E2E2E"/>
                          </a:solidFill>
                          <a:latin typeface="Calibri"/>
                        </a:rPr>
                        <a:t>2.20</a:t>
                      </a:r>
                    </a:p>
                  </a:txBody>
                  <a:tcPr marL="85725" marR="38100" marT="19050" marB="19050" anchor="ctr">
                    <a:solidFill>
                      <a:srgbClr val="F5F8FA"/>
                    </a:solidFill>
                  </a:tcPr>
                </a:tc>
                <a:tc>
                  <a:txBody>
                    <a:bodyPr wrap="none"/>
                    <a:lstStyle/>
                    <a:p>
                      <a:pPr algn="l"/>
                      <a:r>
                        <a:rPr sz="800" b="0">
                          <a:solidFill>
                            <a:srgbClr val="2E2E2E"/>
                          </a:solidFill>
                          <a:latin typeface="Calibri"/>
                        </a:rPr>
                        <a:t>2.43</a:t>
                      </a:r>
                    </a:p>
                  </a:txBody>
                  <a:tcPr marL="85725" marR="38100" marT="19050" marB="19050" anchor="ctr">
                    <a:solidFill>
                      <a:srgbClr val="F5F8FA"/>
                    </a:solidFill>
                  </a:tcPr>
                </a:tc>
                <a:tc>
                  <a:txBody>
                    <a:bodyPr wrap="none"/>
                    <a:lstStyle/>
                    <a:p>
                      <a:pPr algn="l"/>
                      <a:r>
                        <a:rPr sz="800" b="0">
                          <a:solidFill>
                            <a:srgbClr val="2E2E2E"/>
                          </a:solidFill>
                          <a:latin typeface="Calibri"/>
                        </a:rPr>
                        <a:t>2.68</a:t>
                      </a:r>
                    </a:p>
                  </a:txBody>
                  <a:tcPr marL="85725" marR="38100" marT="19050" marB="19050" anchor="ctr">
                    <a:solidFill>
                      <a:srgbClr val="F5F8FA"/>
                    </a:solidFill>
                  </a:tcPr>
                </a:tc>
                <a:tc>
                  <a:txBody>
                    <a:bodyPr wrap="none"/>
                    <a:lstStyle/>
                    <a:p>
                      <a:pPr algn="l"/>
                      <a:r>
                        <a:rPr sz="800" b="0">
                          <a:solidFill>
                            <a:srgbClr val="2E2E2E"/>
                          </a:solidFill>
                          <a:latin typeface="Calibri"/>
                        </a:rPr>
                        <a:t>2.93</a:t>
                      </a:r>
                    </a:p>
                  </a:txBody>
                  <a:tcPr marL="85725" marR="38100" marT="19050" marB="19050" anchor="ctr">
                    <a:solidFill>
                      <a:srgbClr val="F5F8FA"/>
                    </a:solidFill>
                  </a:tcPr>
                </a:tc>
                <a:tc>
                  <a:txBody>
                    <a:bodyPr wrap="none"/>
                    <a:lstStyle/>
                    <a:p>
                      <a:pPr algn="l"/>
                      <a:r>
                        <a:rPr sz="800" b="0">
                          <a:solidFill>
                            <a:srgbClr val="2E2E2E"/>
                          </a:solidFill>
                          <a:latin typeface="Calibri"/>
                        </a:rPr>
                        <a:t>3.20</a:t>
                      </a:r>
                    </a:p>
                  </a:txBody>
                  <a:tcPr marL="85725" marR="38100" marT="19050" marB="19050" anchor="ctr">
                    <a:solidFill>
                      <a:srgbClr val="F5F8FA"/>
                    </a:solidFill>
                  </a:tcPr>
                </a:tc>
                <a:tc>
                  <a:txBody>
                    <a:bodyPr wrap="none"/>
                    <a:lstStyle/>
                    <a:p>
                      <a:pPr algn="l"/>
                      <a:r>
                        <a:rPr sz="800" b="0">
                          <a:solidFill>
                            <a:srgbClr val="2E2E2E"/>
                          </a:solidFill>
                          <a:latin typeface="Calibri"/>
                        </a:rPr>
                        <a:t>12.8%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1.47</a:t>
                      </a:r>
                    </a:p>
                  </a:txBody>
                  <a:tcPr marL="85725" marR="38100" marT="19050" marB="19050" anchor="ctr">
                    <a:solidFill>
                      <a:srgbClr val="E0E8EF"/>
                    </a:solidFill>
                  </a:tcPr>
                </a:tc>
                <a:tc>
                  <a:txBody>
                    <a:bodyPr wrap="none"/>
                    <a:lstStyle/>
                    <a:p>
                      <a:pPr algn="l"/>
                      <a:r>
                        <a:rPr sz="800" b="1">
                          <a:solidFill>
                            <a:srgbClr val="2E2E2E"/>
                          </a:solidFill>
                          <a:latin typeface="Calibri"/>
                        </a:rPr>
                        <a:t>1.72</a:t>
                      </a:r>
                    </a:p>
                  </a:txBody>
                  <a:tcPr marL="85725" marR="38100" marT="19050" marB="19050" anchor="ctr">
                    <a:solidFill>
                      <a:srgbClr val="E0E8EF"/>
                    </a:solidFill>
                  </a:tcPr>
                </a:tc>
                <a:tc>
                  <a:txBody>
                    <a:bodyPr wrap="none"/>
                    <a:lstStyle/>
                    <a:p>
                      <a:pPr algn="l"/>
                      <a:r>
                        <a:rPr sz="800" b="1">
                          <a:solidFill>
                            <a:srgbClr val="2E2E2E"/>
                          </a:solidFill>
                          <a:latin typeface="Calibri"/>
                        </a:rPr>
                        <a:t>2.13</a:t>
                      </a:r>
                    </a:p>
                  </a:txBody>
                  <a:tcPr marL="85725" marR="38100" marT="19050" marB="19050" anchor="ctr">
                    <a:solidFill>
                      <a:srgbClr val="E0E8EF"/>
                    </a:solidFill>
                  </a:tcPr>
                </a:tc>
                <a:tc>
                  <a:txBody>
                    <a:bodyPr wrap="none"/>
                    <a:lstStyle/>
                    <a:p>
                      <a:pPr algn="l"/>
                      <a:r>
                        <a:rPr sz="800" b="1">
                          <a:solidFill>
                            <a:srgbClr val="2E2E2E"/>
                          </a:solidFill>
                          <a:latin typeface="Calibri"/>
                        </a:rPr>
                        <a:t>2.73</a:t>
                      </a:r>
                    </a:p>
                  </a:txBody>
                  <a:tcPr marL="85725" marR="38100" marT="19050" marB="19050" anchor="ctr">
                    <a:solidFill>
                      <a:srgbClr val="E0E8EF"/>
                    </a:solidFill>
                  </a:tcPr>
                </a:tc>
                <a:tc>
                  <a:txBody>
                    <a:bodyPr wrap="none"/>
                    <a:lstStyle/>
                    <a:p>
                      <a:pPr algn="l"/>
                      <a:r>
                        <a:rPr sz="800" b="1">
                          <a:solidFill>
                            <a:srgbClr val="2E2E2E"/>
                          </a:solidFill>
                          <a:latin typeface="Calibri"/>
                        </a:rPr>
                        <a:t>3.42</a:t>
                      </a:r>
                    </a:p>
                  </a:txBody>
                  <a:tcPr marL="85725" marR="38100" marT="19050" marB="19050" anchor="ctr">
                    <a:solidFill>
                      <a:srgbClr val="E0E8EF"/>
                    </a:solidFill>
                  </a:tcPr>
                </a:tc>
                <a:tc>
                  <a:txBody>
                    <a:bodyPr wrap="none"/>
                    <a:lstStyle/>
                    <a:p>
                      <a:pPr algn="l"/>
                      <a:r>
                        <a:rPr sz="800" b="1">
                          <a:solidFill>
                            <a:srgbClr val="2E2E2E"/>
                          </a:solidFill>
                          <a:latin typeface="Calibri"/>
                        </a:rPr>
                        <a:t>4.16</a:t>
                      </a:r>
                    </a:p>
                  </a:txBody>
                  <a:tcPr marL="85725" marR="38100" marT="19050" marB="19050" anchor="ctr">
                    <a:solidFill>
                      <a:srgbClr val="E0E8EF"/>
                    </a:solidFill>
                  </a:tcPr>
                </a:tc>
                <a:tc>
                  <a:txBody>
                    <a:bodyPr wrap="none"/>
                    <a:lstStyle/>
                    <a:p>
                      <a:pPr algn="l"/>
                      <a:r>
                        <a:rPr sz="800" b="1">
                          <a:solidFill>
                            <a:srgbClr val="2E2E2E"/>
                          </a:solidFill>
                          <a:latin typeface="Calibri"/>
                        </a:rPr>
                        <a:t>4.97</a:t>
                      </a:r>
                    </a:p>
                  </a:txBody>
                  <a:tcPr marL="85725" marR="38100" marT="19050" marB="19050" anchor="ctr">
                    <a:solidFill>
                      <a:srgbClr val="E0E8EF"/>
                    </a:solidFill>
                  </a:tcPr>
                </a:tc>
                <a:tc>
                  <a:txBody>
                    <a:bodyPr wrap="none"/>
                    <a:lstStyle/>
                    <a:p>
                      <a:pPr algn="l"/>
                      <a:r>
                        <a:rPr sz="800" b="1">
                          <a:solidFill>
                            <a:srgbClr val="2E2E2E"/>
                          </a:solidFill>
                          <a:latin typeface="Calibri"/>
                        </a:rPr>
                        <a:t>5.81</a:t>
                      </a:r>
                    </a:p>
                  </a:txBody>
                  <a:tcPr marL="85725" marR="38100" marT="19050" marB="19050" anchor="ctr">
                    <a:solidFill>
                      <a:srgbClr val="E0E8EF"/>
                    </a:solidFill>
                  </a:tcPr>
                </a:tc>
                <a:tc>
                  <a:txBody>
                    <a:bodyPr wrap="none"/>
                    <a:lstStyle/>
                    <a:p>
                      <a:pPr algn="l"/>
                      <a:r>
                        <a:rPr sz="800" b="1">
                          <a:solidFill>
                            <a:srgbClr val="2E2E2E"/>
                          </a:solidFill>
                          <a:latin typeface="Calibri"/>
                        </a:rPr>
                        <a:t>6.70</a:t>
                      </a:r>
                    </a:p>
                  </a:txBody>
                  <a:tcPr marL="85725" marR="38100" marT="19050" marB="19050" anchor="ctr">
                    <a:solidFill>
                      <a:srgbClr val="E0E8EF"/>
                    </a:solidFill>
                  </a:tcPr>
                </a:tc>
                <a:tc>
                  <a:txBody>
                    <a:bodyPr wrap="none"/>
                    <a:lstStyle/>
                    <a:p>
                      <a:pPr algn="l"/>
                      <a:r>
                        <a:rPr sz="800" b="1">
                          <a:solidFill>
                            <a:srgbClr val="2E2E2E"/>
                          </a:solidFill>
                          <a:latin typeface="Calibri"/>
                        </a:rPr>
                        <a:t>7.63</a:t>
                      </a:r>
                    </a:p>
                  </a:txBody>
                  <a:tcPr marL="85725" marR="38100" marT="19050" marB="19050" anchor="ctr">
                    <a:solidFill>
                      <a:srgbClr val="E0E8EF"/>
                    </a:solidFill>
                  </a:tcPr>
                </a:tc>
                <a:tc>
                  <a:txBody>
                    <a:bodyPr wrap="none"/>
                    <a:lstStyle/>
                    <a:p>
                      <a:pPr algn="l"/>
                      <a:r>
                        <a:rPr sz="800" b="1">
                          <a:solidFill>
                            <a:srgbClr val="2E2E2E"/>
                          </a:solidFill>
                          <a:latin typeface="Calibri"/>
                        </a:rPr>
                        <a:t>8.60</a:t>
                      </a:r>
                    </a:p>
                  </a:txBody>
                  <a:tcPr marL="85725" marR="38100" marT="19050" marB="19050" anchor="ctr">
                    <a:solidFill>
                      <a:srgbClr val="E0E8EF"/>
                    </a:solidFill>
                  </a:tcPr>
                </a:tc>
                <a:tc>
                  <a:txBody>
                    <a:bodyPr wrap="none"/>
                    <a:lstStyle/>
                    <a:p>
                      <a:pPr algn="l"/>
                      <a:r>
                        <a:rPr sz="800" b="1">
                          <a:solidFill>
                            <a:srgbClr val="2E2E2E"/>
                          </a:solidFill>
                          <a:latin typeface="Calibri"/>
                        </a:rPr>
                        <a:t>9.62</a:t>
                      </a:r>
                    </a:p>
                  </a:txBody>
                  <a:tcPr marL="85725" marR="38100" marT="19050" marB="19050" anchor="ctr">
                    <a:solidFill>
                      <a:srgbClr val="E0E8EF"/>
                    </a:solidFill>
                  </a:tcPr>
                </a:tc>
                <a:tc>
                  <a:txBody>
                    <a:bodyPr wrap="none"/>
                    <a:lstStyle/>
                    <a:p>
                      <a:pPr algn="l"/>
                      <a:r>
                        <a:rPr sz="800" b="1">
                          <a:solidFill>
                            <a:srgbClr val="2E2E2E"/>
                          </a:solidFill>
                          <a:latin typeface="Calibri"/>
                        </a:rPr>
                        <a:t>10.7</a:t>
                      </a:r>
                    </a:p>
                  </a:txBody>
                  <a:tcPr marL="85725" marR="38100" marT="19050" marB="19050" anchor="ctr">
                    <a:solidFill>
                      <a:srgbClr val="E0E8EF"/>
                    </a:solidFill>
                  </a:tcPr>
                </a:tc>
                <a:tc>
                  <a:txBody>
                    <a:bodyPr wrap="none"/>
                    <a:lstStyle/>
                    <a:p>
                      <a:pPr algn="l"/>
                      <a:r>
                        <a:rPr sz="800" b="1">
                          <a:solidFill>
                            <a:srgbClr val="2E2E2E"/>
                          </a:solidFill>
                          <a:latin typeface="Calibri"/>
                        </a:rPr>
                        <a:t>11.8</a:t>
                      </a:r>
                    </a:p>
                  </a:txBody>
                  <a:tcPr marL="85725" marR="38100" marT="19050" marB="19050" anchor="ctr">
                    <a:solidFill>
                      <a:srgbClr val="E0E8EF"/>
                    </a:solidFill>
                  </a:tcPr>
                </a:tc>
                <a:tc>
                  <a:txBody>
                    <a:bodyPr wrap="none"/>
                    <a:lstStyle/>
                    <a:p>
                      <a:pPr algn="l"/>
                      <a:r>
                        <a:rPr sz="800" b="1">
                          <a:solidFill>
                            <a:srgbClr val="2E2E2E"/>
                          </a:solidFill>
                          <a:latin typeface="Calibri"/>
                        </a:rPr>
                        <a:t>12.9</a:t>
                      </a:r>
                    </a:p>
                  </a:txBody>
                  <a:tcPr marL="85725" marR="38100" marT="19050" marB="19050" anchor="ctr">
                    <a:solidFill>
                      <a:srgbClr val="E0E8EF"/>
                    </a:solidFill>
                  </a:tcPr>
                </a:tc>
                <a:tc>
                  <a:txBody>
                    <a:bodyPr wrap="none"/>
                    <a:lstStyle/>
                    <a:p>
                      <a:pPr algn="l"/>
                      <a:r>
                        <a:rPr sz="800" b="1">
                          <a:solidFill>
                            <a:srgbClr val="2E2E2E"/>
                          </a:solidFill>
                          <a:latin typeface="Calibri"/>
                        </a:rPr>
                        <a:t>14.1</a:t>
                      </a:r>
                    </a:p>
                  </a:txBody>
                  <a:tcPr marL="85725" marR="38100" marT="19050" marB="19050" anchor="ctr">
                    <a:solidFill>
                      <a:srgbClr val="E0E8EF"/>
                    </a:solidFill>
                  </a:tcPr>
                </a:tc>
                <a:tc>
                  <a:txBody>
                    <a:bodyPr wrap="none"/>
                    <a:lstStyle/>
                    <a:p>
                      <a:pPr algn="l"/>
                      <a:r>
                        <a:rPr sz="800" b="1">
                          <a:solidFill>
                            <a:srgbClr val="2E2E2E"/>
                          </a:solidFill>
                          <a:latin typeface="Calibri"/>
                        </a:rPr>
                        <a:t>13.0%</a:t>
                      </a:r>
                    </a:p>
                  </a:txBody>
                  <a:tcPr marL="85725" marR="38100" marT="19050" marB="19050" anchor="ctr">
                    <a:solidFill>
                      <a:srgbClr val="E0E8EF"/>
                    </a:solidFill>
                  </a:tcPr>
                </a:tc>
              </a:tr>
            </a:tbl>
          </a:graphicData>
        </a:graphic>
      </p:graphicFrame>
      <p:sp>
        <p:nvSpPr>
          <p:cNvPr id="14" name="TextBox 13"/>
          <p:cNvSpPr txBox="1"/>
          <p:nvPr/>
        </p:nvSpPr>
        <p:spPr>
          <a:xfrm>
            <a:off x="219075" y="38481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4124325"/>
            <a:ext cx="11906250" cy="2600325"/>
          </a:xfrm>
          <a:prstGeom prst="roundRect">
            <a:avLst>
              <a:gd name="adj" fmla="val 29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2100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Analysis, By Buyer Type</a:t>
            </a:r>
          </a:p>
        </p:txBody>
      </p:sp>
      <p:sp>
        <p:nvSpPr>
          <p:cNvPr id="17" name="Rectangle 16"/>
          <p:cNvSpPr/>
          <p:nvPr/>
        </p:nvSpPr>
        <p:spPr>
          <a:xfrm>
            <a:off x="276225" y="44481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533900"/>
            <a:ext cx="11639550" cy="2114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'Specialty Clinics' is the largest buyer type at 31.3% of 2036 volume (4.43 Mn Doses).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'Hospitals' grows fastest 14.9%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'Hospitals' (+417 BPS) and away from 'Specialty Clinics' (-395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volume rises from 4.16 to 14.1 Mn Doses across 4 categories.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Value Analysis, By Buyer Type (US$ Mn)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3133725"/>
          </a:xfrm>
          <a:prstGeom prst="roundRect">
            <a:avLst>
              <a:gd name="adj" fmla="val 24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Buyer Type (US$ Mn)</a:t>
            </a:r>
          </a:p>
        </p:txBody>
      </p:sp>
      <p:graphicFrame>
        <p:nvGraphicFramePr>
          <p:cNvPr id="13" name="Table 12"/>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Buyer Type</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Hospitals</a:t>
                      </a:r>
                    </a:p>
                  </a:txBody>
                  <a:tcPr marL="85725" marR="38100" marT="19050" marB="19050" anchor="ctr">
                    <a:solidFill>
                      <a:srgbClr val="FFFFFF"/>
                    </a:solidFill>
                  </a:tcPr>
                </a:tc>
                <a:tc>
                  <a:txBody>
                    <a:bodyPr wrap="none"/>
                    <a:lstStyle/>
                    <a:p>
                      <a:pPr algn="l"/>
                      <a:r>
                        <a:rPr sz="800" b="0">
                          <a:solidFill>
                            <a:srgbClr val="2E2E2E"/>
                          </a:solidFill>
                          <a:latin typeface="Calibri"/>
                        </a:rPr>
                        <a:t>163.5</a:t>
                      </a:r>
                    </a:p>
                  </a:txBody>
                  <a:tcPr marL="85725" marR="38100" marT="19050" marB="19050" anchor="ctr">
                    <a:solidFill>
                      <a:srgbClr val="FFFFFF"/>
                    </a:solidFill>
                  </a:tcPr>
                </a:tc>
                <a:tc>
                  <a:txBody>
                    <a:bodyPr wrap="none"/>
                    <a:lstStyle/>
                    <a:p>
                      <a:pPr algn="l"/>
                      <a:r>
                        <a:rPr sz="800" b="0">
                          <a:solidFill>
                            <a:srgbClr val="2E2E2E"/>
                          </a:solidFill>
                          <a:latin typeface="Calibri"/>
                        </a:rPr>
                        <a:t>187.5</a:t>
                      </a:r>
                    </a:p>
                  </a:txBody>
                  <a:tcPr marL="85725" marR="38100" marT="19050" marB="19050" anchor="ctr">
                    <a:solidFill>
                      <a:srgbClr val="FFFFFF"/>
                    </a:solidFill>
                  </a:tcPr>
                </a:tc>
                <a:tc>
                  <a:txBody>
                    <a:bodyPr wrap="none"/>
                    <a:lstStyle/>
                    <a:p>
                      <a:pPr algn="l"/>
                      <a:r>
                        <a:rPr sz="800" b="0">
                          <a:solidFill>
                            <a:srgbClr val="2E2E2E"/>
                          </a:solidFill>
                          <a:latin typeface="Calibri"/>
                        </a:rPr>
                        <a:t>228.0</a:t>
                      </a:r>
                    </a:p>
                  </a:txBody>
                  <a:tcPr marL="85725" marR="38100" marT="19050" marB="19050" anchor="ctr">
                    <a:solidFill>
                      <a:srgbClr val="FFFFFF"/>
                    </a:solidFill>
                  </a:tcPr>
                </a:tc>
                <a:tc>
                  <a:txBody>
                    <a:bodyPr wrap="none"/>
                    <a:lstStyle/>
                    <a:p>
                      <a:pPr algn="l"/>
                      <a:r>
                        <a:rPr sz="800" b="0">
                          <a:solidFill>
                            <a:srgbClr val="2E2E2E"/>
                          </a:solidFill>
                          <a:latin typeface="Calibri"/>
                        </a:rPr>
                        <a:t>286.1</a:t>
                      </a:r>
                    </a:p>
                  </a:txBody>
                  <a:tcPr marL="85725" marR="38100" marT="19050" marB="19050" anchor="ctr">
                    <a:solidFill>
                      <a:srgbClr val="FFFFFF"/>
                    </a:solidFill>
                  </a:tcPr>
                </a:tc>
                <a:tc>
                  <a:txBody>
                    <a:bodyPr wrap="none"/>
                    <a:lstStyle/>
                    <a:p>
                      <a:pPr algn="l"/>
                      <a:r>
                        <a:rPr sz="800" b="0">
                          <a:solidFill>
                            <a:srgbClr val="2E2E2E"/>
                          </a:solidFill>
                          <a:latin typeface="Calibri"/>
                        </a:rPr>
                        <a:t>351.2</a:t>
                      </a:r>
                    </a:p>
                  </a:txBody>
                  <a:tcPr marL="85725" marR="38100" marT="19050" marB="19050" anchor="ctr">
                    <a:solidFill>
                      <a:srgbClr val="FFFFFF"/>
                    </a:solidFill>
                  </a:tcPr>
                </a:tc>
                <a:tc>
                  <a:txBody>
                    <a:bodyPr wrap="none"/>
                    <a:lstStyle/>
                    <a:p>
                      <a:pPr algn="l"/>
                      <a:r>
                        <a:rPr sz="800" b="0">
                          <a:solidFill>
                            <a:srgbClr val="2E2E2E"/>
                          </a:solidFill>
                          <a:latin typeface="Calibri"/>
                        </a:rPr>
                        <a:t>418.2</a:t>
                      </a:r>
                    </a:p>
                  </a:txBody>
                  <a:tcPr marL="85725" marR="38100" marT="19050" marB="19050" anchor="ctr">
                    <a:solidFill>
                      <a:srgbClr val="FFFFFF"/>
                    </a:solidFill>
                  </a:tcPr>
                </a:tc>
                <a:tc>
                  <a:txBody>
                    <a:bodyPr wrap="none"/>
                    <a:lstStyle/>
                    <a:p>
                      <a:pPr algn="l"/>
                      <a:r>
                        <a:rPr sz="800" b="0">
                          <a:solidFill>
                            <a:srgbClr val="2E2E2E"/>
                          </a:solidFill>
                          <a:latin typeface="Calibri"/>
                        </a:rPr>
                        <a:t>488.7</a:t>
                      </a:r>
                    </a:p>
                  </a:txBody>
                  <a:tcPr marL="85725" marR="38100" marT="19050" marB="19050" anchor="ctr">
                    <a:solidFill>
                      <a:srgbClr val="FFFFFF"/>
                    </a:solidFill>
                  </a:tcPr>
                </a:tc>
                <a:tc>
                  <a:txBody>
                    <a:bodyPr wrap="none"/>
                    <a:lstStyle/>
                    <a:p>
                      <a:pPr algn="l"/>
                      <a:r>
                        <a:rPr sz="800" b="0">
                          <a:solidFill>
                            <a:srgbClr val="2E2E2E"/>
                          </a:solidFill>
                          <a:latin typeface="Calibri"/>
                        </a:rPr>
                        <a:t>559.6</a:t>
                      </a:r>
                    </a:p>
                  </a:txBody>
                  <a:tcPr marL="85725" marR="38100" marT="19050" marB="19050" anchor="ctr">
                    <a:solidFill>
                      <a:srgbClr val="FFFFFF"/>
                    </a:solidFill>
                  </a:tcPr>
                </a:tc>
                <a:tc>
                  <a:txBody>
                    <a:bodyPr wrap="none"/>
                    <a:lstStyle/>
                    <a:p>
                      <a:pPr algn="l"/>
                      <a:r>
                        <a:rPr sz="800" b="0">
                          <a:solidFill>
                            <a:srgbClr val="2E2E2E"/>
                          </a:solidFill>
                          <a:latin typeface="Calibri"/>
                        </a:rPr>
                        <a:t>631.3</a:t>
                      </a:r>
                    </a:p>
                  </a:txBody>
                  <a:tcPr marL="85725" marR="38100" marT="19050" marB="19050" anchor="ctr">
                    <a:solidFill>
                      <a:srgbClr val="FFFFFF"/>
                    </a:solidFill>
                  </a:tcPr>
                </a:tc>
                <a:tc>
                  <a:txBody>
                    <a:bodyPr wrap="none"/>
                    <a:lstStyle/>
                    <a:p>
                      <a:pPr algn="l"/>
                      <a:r>
                        <a:rPr sz="800" b="0">
                          <a:solidFill>
                            <a:srgbClr val="2E2E2E"/>
                          </a:solidFill>
                          <a:latin typeface="Calibri"/>
                        </a:rPr>
                        <a:t>703.7</a:t>
                      </a:r>
                    </a:p>
                  </a:txBody>
                  <a:tcPr marL="85725" marR="38100" marT="19050" marB="19050" anchor="ctr">
                    <a:solidFill>
                      <a:srgbClr val="FFFFFF"/>
                    </a:solidFill>
                  </a:tcPr>
                </a:tc>
                <a:tc>
                  <a:txBody>
                    <a:bodyPr wrap="none"/>
                    <a:lstStyle/>
                    <a:p>
                      <a:pPr algn="l"/>
                      <a:r>
                        <a:rPr sz="800" b="0">
                          <a:solidFill>
                            <a:srgbClr val="2E2E2E"/>
                          </a:solidFill>
                          <a:latin typeface="Calibri"/>
                        </a:rPr>
                        <a:t>776.3</a:t>
                      </a:r>
                    </a:p>
                  </a:txBody>
                  <a:tcPr marL="85725" marR="38100" marT="19050" marB="19050" anchor="ctr">
                    <a:solidFill>
                      <a:srgbClr val="FFFFFF"/>
                    </a:solidFill>
                  </a:tcPr>
                </a:tc>
                <a:tc>
                  <a:txBody>
                    <a:bodyPr wrap="none"/>
                    <a:lstStyle/>
                    <a:p>
                      <a:pPr algn="l"/>
                      <a:r>
                        <a:rPr sz="800" b="0">
                          <a:solidFill>
                            <a:srgbClr val="2E2E2E"/>
                          </a:solidFill>
                          <a:latin typeface="Calibri"/>
                        </a:rPr>
                        <a:t>849.0</a:t>
                      </a:r>
                    </a:p>
                  </a:txBody>
                  <a:tcPr marL="85725" marR="38100" marT="19050" marB="19050" anchor="ctr">
                    <a:solidFill>
                      <a:srgbClr val="FFFFFF"/>
                    </a:solidFill>
                  </a:tcPr>
                </a:tc>
                <a:tc>
                  <a:txBody>
                    <a:bodyPr wrap="none"/>
                    <a:lstStyle/>
                    <a:p>
                      <a:pPr algn="l"/>
                      <a:r>
                        <a:rPr sz="800" b="0">
                          <a:solidFill>
                            <a:srgbClr val="2E2E2E"/>
                          </a:solidFill>
                          <a:latin typeface="Calibri"/>
                        </a:rPr>
                        <a:t>921.3</a:t>
                      </a:r>
                    </a:p>
                  </a:txBody>
                  <a:tcPr marL="85725" marR="38100" marT="19050" marB="19050" anchor="ctr">
                    <a:solidFill>
                      <a:srgbClr val="FFFFFF"/>
                    </a:solidFill>
                  </a:tcPr>
                </a:tc>
                <a:tc>
                  <a:txBody>
                    <a:bodyPr wrap="none"/>
                    <a:lstStyle/>
                    <a:p>
                      <a:pPr algn="l"/>
                      <a:r>
                        <a:rPr sz="800" b="0">
                          <a:solidFill>
                            <a:srgbClr val="2E2E2E"/>
                          </a:solidFill>
                          <a:latin typeface="Calibri"/>
                        </a:rPr>
                        <a:t>993.8</a:t>
                      </a:r>
                    </a:p>
                  </a:txBody>
                  <a:tcPr marL="85725" marR="38100" marT="19050" marB="19050" anchor="ctr">
                    <a:solidFill>
                      <a:srgbClr val="FFFFFF"/>
                    </a:solidFill>
                  </a:tcPr>
                </a:tc>
                <a:tc>
                  <a:txBody>
                    <a:bodyPr wrap="none"/>
                    <a:lstStyle/>
                    <a:p>
                      <a:pPr algn="l"/>
                      <a:r>
                        <a:rPr sz="800" b="0">
                          <a:solidFill>
                            <a:srgbClr val="2E2E2E"/>
                          </a:solidFill>
                          <a:latin typeface="Calibri"/>
                        </a:rPr>
                        <a:t>1,067</a:t>
                      </a:r>
                    </a:p>
                  </a:txBody>
                  <a:tcPr marL="85725" marR="38100" marT="19050" marB="19050" anchor="ctr">
                    <a:solidFill>
                      <a:srgbClr val="FFFFFF"/>
                    </a:solidFill>
                  </a:tcPr>
                </a:tc>
                <a:tc>
                  <a:txBody>
                    <a:bodyPr wrap="none"/>
                    <a:lstStyle/>
                    <a:p>
                      <a:pPr algn="l"/>
                      <a:r>
                        <a:rPr sz="800" b="0">
                          <a:solidFill>
                            <a:srgbClr val="2E2E2E"/>
                          </a:solidFill>
                          <a:latin typeface="Calibri"/>
                        </a:rPr>
                        <a:t>1,140</a:t>
                      </a:r>
                    </a:p>
                  </a:txBody>
                  <a:tcPr marL="85725" marR="38100" marT="19050" marB="19050" anchor="ctr">
                    <a:solidFill>
                      <a:srgbClr val="FFFFFF"/>
                    </a:solidFill>
                  </a:tcPr>
                </a:tc>
                <a:tc>
                  <a:txBody>
                    <a:bodyPr wrap="none"/>
                    <a:lstStyle/>
                    <a:p>
                      <a:pPr algn="l"/>
                      <a:r>
                        <a:rPr sz="800" b="0">
                          <a:solidFill>
                            <a:srgbClr val="2E2E2E"/>
                          </a:solidFill>
                          <a:latin typeface="Calibri"/>
                        </a:rPr>
                        <a:t>10.6%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Specialty Clinics</a:t>
                      </a:r>
                    </a:p>
                  </a:txBody>
                  <a:tcPr marL="85725" marR="38100" marT="19050" marB="19050" anchor="ctr">
                    <a:solidFill>
                      <a:srgbClr val="F5F8FA"/>
                    </a:solidFill>
                  </a:tcPr>
                </a:tc>
                <a:tc>
                  <a:txBody>
                    <a:bodyPr wrap="none"/>
                    <a:lstStyle/>
                    <a:p>
                      <a:pPr algn="l"/>
                      <a:r>
                        <a:rPr sz="800" b="0">
                          <a:solidFill>
                            <a:srgbClr val="2E2E2E"/>
                          </a:solidFill>
                          <a:latin typeface="Calibri"/>
                        </a:rPr>
                        <a:t>296.6</a:t>
                      </a:r>
                    </a:p>
                  </a:txBody>
                  <a:tcPr marL="85725" marR="38100" marT="19050" marB="19050" anchor="ctr">
                    <a:solidFill>
                      <a:srgbClr val="F5F8FA"/>
                    </a:solidFill>
                  </a:tcPr>
                </a:tc>
                <a:tc>
                  <a:txBody>
                    <a:bodyPr wrap="none"/>
                    <a:lstStyle/>
                    <a:p>
                      <a:pPr algn="l"/>
                      <a:r>
                        <a:rPr sz="800" b="0">
                          <a:solidFill>
                            <a:srgbClr val="2E2E2E"/>
                          </a:solidFill>
                          <a:latin typeface="Calibri"/>
                        </a:rPr>
                        <a:t>330.3</a:t>
                      </a:r>
                    </a:p>
                  </a:txBody>
                  <a:tcPr marL="85725" marR="38100" marT="19050" marB="19050" anchor="ctr">
                    <a:solidFill>
                      <a:srgbClr val="F5F8FA"/>
                    </a:solidFill>
                  </a:tcPr>
                </a:tc>
                <a:tc>
                  <a:txBody>
                    <a:bodyPr wrap="none"/>
                    <a:lstStyle/>
                    <a:p>
                      <a:pPr algn="l"/>
                      <a:r>
                        <a:rPr sz="800" b="0">
                          <a:solidFill>
                            <a:srgbClr val="2E2E2E"/>
                          </a:solidFill>
                          <a:latin typeface="Calibri"/>
                        </a:rPr>
                        <a:t>390.0</a:t>
                      </a:r>
                    </a:p>
                  </a:txBody>
                  <a:tcPr marL="85725" marR="38100" marT="19050" marB="19050" anchor="ctr">
                    <a:solidFill>
                      <a:srgbClr val="F5F8FA"/>
                    </a:solidFill>
                  </a:tcPr>
                </a:tc>
                <a:tc>
                  <a:txBody>
                    <a:bodyPr wrap="none"/>
                    <a:lstStyle/>
                    <a:p>
                      <a:pPr algn="l"/>
                      <a:r>
                        <a:rPr sz="800" b="0">
                          <a:solidFill>
                            <a:srgbClr val="2E2E2E"/>
                          </a:solidFill>
                          <a:latin typeface="Calibri"/>
                        </a:rPr>
                        <a:t>475.2</a:t>
                      </a:r>
                    </a:p>
                  </a:txBody>
                  <a:tcPr marL="85725" marR="38100" marT="19050" marB="19050" anchor="ctr">
                    <a:solidFill>
                      <a:srgbClr val="F5F8FA"/>
                    </a:solidFill>
                  </a:tcPr>
                </a:tc>
                <a:tc>
                  <a:txBody>
                    <a:bodyPr wrap="none"/>
                    <a:lstStyle/>
                    <a:p>
                      <a:pPr algn="l"/>
                      <a:r>
                        <a:rPr sz="800" b="0">
                          <a:solidFill>
                            <a:srgbClr val="2E2E2E"/>
                          </a:solidFill>
                          <a:latin typeface="Calibri"/>
                        </a:rPr>
                        <a:t>566.5</a:t>
                      </a:r>
                    </a:p>
                  </a:txBody>
                  <a:tcPr marL="85725" marR="38100" marT="19050" marB="19050" anchor="ctr">
                    <a:solidFill>
                      <a:srgbClr val="F5F8FA"/>
                    </a:solidFill>
                  </a:tcPr>
                </a:tc>
                <a:tc>
                  <a:txBody>
                    <a:bodyPr wrap="none"/>
                    <a:lstStyle/>
                    <a:p>
                      <a:pPr algn="l"/>
                      <a:r>
                        <a:rPr sz="800" b="0">
                          <a:solidFill>
                            <a:srgbClr val="2E2E2E"/>
                          </a:solidFill>
                          <a:latin typeface="Calibri"/>
                        </a:rPr>
                        <a:t>655.0</a:t>
                      </a:r>
                    </a:p>
                  </a:txBody>
                  <a:tcPr marL="85725" marR="38100" marT="19050" marB="19050" anchor="ctr">
                    <a:solidFill>
                      <a:srgbClr val="F5F8FA"/>
                    </a:solidFill>
                  </a:tcPr>
                </a:tc>
                <a:tc>
                  <a:txBody>
                    <a:bodyPr wrap="none"/>
                    <a:lstStyle/>
                    <a:p>
                      <a:pPr algn="l"/>
                      <a:r>
                        <a:rPr sz="800" b="0">
                          <a:solidFill>
                            <a:srgbClr val="2E2E2E"/>
                          </a:solidFill>
                          <a:latin typeface="Calibri"/>
                        </a:rPr>
                        <a:t>743.4</a:t>
                      </a:r>
                    </a:p>
                  </a:txBody>
                  <a:tcPr marL="85725" marR="38100" marT="19050" marB="19050" anchor="ctr">
                    <a:solidFill>
                      <a:srgbClr val="F5F8FA"/>
                    </a:solidFill>
                  </a:tcPr>
                </a:tc>
                <a:tc>
                  <a:txBody>
                    <a:bodyPr wrap="none"/>
                    <a:lstStyle/>
                    <a:p>
                      <a:pPr algn="l"/>
                      <a:r>
                        <a:rPr sz="800" b="0">
                          <a:solidFill>
                            <a:srgbClr val="2E2E2E"/>
                          </a:solidFill>
                          <a:latin typeface="Calibri"/>
                        </a:rPr>
                        <a:t>826.6</a:t>
                      </a:r>
                    </a:p>
                  </a:txBody>
                  <a:tcPr marL="85725" marR="38100" marT="19050" marB="19050" anchor="ctr">
                    <a:solidFill>
                      <a:srgbClr val="F5F8FA"/>
                    </a:solidFill>
                  </a:tcPr>
                </a:tc>
                <a:tc>
                  <a:txBody>
                    <a:bodyPr wrap="none"/>
                    <a:lstStyle/>
                    <a:p>
                      <a:pPr algn="l"/>
                      <a:r>
                        <a:rPr sz="800" b="0">
                          <a:solidFill>
                            <a:srgbClr val="2E2E2E"/>
                          </a:solidFill>
                          <a:latin typeface="Calibri"/>
                        </a:rPr>
                        <a:t>905.7</a:t>
                      </a:r>
                    </a:p>
                  </a:txBody>
                  <a:tcPr marL="85725" marR="38100" marT="19050" marB="19050" anchor="ctr">
                    <a:solidFill>
                      <a:srgbClr val="F5F8FA"/>
                    </a:solidFill>
                  </a:tcPr>
                </a:tc>
                <a:tc>
                  <a:txBody>
                    <a:bodyPr wrap="none"/>
                    <a:lstStyle/>
                    <a:p>
                      <a:pPr algn="l"/>
                      <a:r>
                        <a:rPr sz="800" b="0">
                          <a:solidFill>
                            <a:srgbClr val="2E2E2E"/>
                          </a:solidFill>
                          <a:latin typeface="Calibri"/>
                        </a:rPr>
                        <a:t>980.5</a:t>
                      </a:r>
                    </a:p>
                  </a:txBody>
                  <a:tcPr marL="85725" marR="38100" marT="19050" marB="19050" anchor="ctr">
                    <a:solidFill>
                      <a:srgbClr val="F5F8FA"/>
                    </a:solidFill>
                  </a:tcPr>
                </a:tc>
                <a:tc>
                  <a:txBody>
                    <a:bodyPr wrap="none"/>
                    <a:lstStyle/>
                    <a:p>
                      <a:pPr algn="l"/>
                      <a:r>
                        <a:rPr sz="800" b="0">
                          <a:solidFill>
                            <a:srgbClr val="2E2E2E"/>
                          </a:solidFill>
                          <a:latin typeface="Calibri"/>
                        </a:rPr>
                        <a:t>1,050</a:t>
                      </a:r>
                    </a:p>
                  </a:txBody>
                  <a:tcPr marL="85725" marR="38100" marT="19050" marB="19050" anchor="ctr">
                    <a:solidFill>
                      <a:srgbClr val="F5F8FA"/>
                    </a:solidFill>
                  </a:tcPr>
                </a:tc>
                <a:tc>
                  <a:txBody>
                    <a:bodyPr wrap="none"/>
                    <a:lstStyle/>
                    <a:p>
                      <a:pPr algn="l"/>
                      <a:r>
                        <a:rPr sz="800" b="0">
                          <a:solidFill>
                            <a:srgbClr val="2E2E2E"/>
                          </a:solidFill>
                          <a:latin typeface="Calibri"/>
                        </a:rPr>
                        <a:t>1,116</a:t>
                      </a:r>
                    </a:p>
                  </a:txBody>
                  <a:tcPr marL="85725" marR="38100" marT="19050" marB="19050" anchor="ctr">
                    <a:solidFill>
                      <a:srgbClr val="F5F8FA"/>
                    </a:solidFill>
                  </a:tcPr>
                </a:tc>
                <a:tc>
                  <a:txBody>
                    <a:bodyPr wrap="none"/>
                    <a:lstStyle/>
                    <a:p>
                      <a:pPr algn="l"/>
                      <a:r>
                        <a:rPr sz="800" b="0">
                          <a:solidFill>
                            <a:srgbClr val="2E2E2E"/>
                          </a:solidFill>
                          <a:latin typeface="Calibri"/>
                        </a:rPr>
                        <a:t>1,176</a:t>
                      </a:r>
                    </a:p>
                  </a:txBody>
                  <a:tcPr marL="85725" marR="38100" marT="19050" marB="19050" anchor="ctr">
                    <a:solidFill>
                      <a:srgbClr val="F5F8FA"/>
                    </a:solidFill>
                  </a:tcPr>
                </a:tc>
                <a:tc>
                  <a:txBody>
                    <a:bodyPr wrap="none"/>
                    <a:lstStyle/>
                    <a:p>
                      <a:pPr algn="l"/>
                      <a:r>
                        <a:rPr sz="800" b="0">
                          <a:solidFill>
                            <a:srgbClr val="2E2E2E"/>
                          </a:solidFill>
                          <a:latin typeface="Calibri"/>
                        </a:rPr>
                        <a:t>1,232</a:t>
                      </a:r>
                    </a:p>
                  </a:txBody>
                  <a:tcPr marL="85725" marR="38100" marT="19050" marB="19050" anchor="ctr">
                    <a:solidFill>
                      <a:srgbClr val="F5F8FA"/>
                    </a:solidFill>
                  </a:tcPr>
                </a:tc>
                <a:tc>
                  <a:txBody>
                    <a:bodyPr wrap="none"/>
                    <a:lstStyle/>
                    <a:p>
                      <a:pPr algn="l"/>
                      <a:r>
                        <a:rPr sz="800" b="0">
                          <a:solidFill>
                            <a:srgbClr val="2E2E2E"/>
                          </a:solidFill>
                          <a:latin typeface="Calibri"/>
                        </a:rPr>
                        <a:t>1,285</a:t>
                      </a:r>
                    </a:p>
                  </a:txBody>
                  <a:tcPr marL="85725" marR="38100" marT="19050" marB="19050" anchor="ctr">
                    <a:solidFill>
                      <a:srgbClr val="F5F8FA"/>
                    </a:solidFill>
                  </a:tcPr>
                </a:tc>
                <a:tc>
                  <a:txBody>
                    <a:bodyPr wrap="none"/>
                    <a:lstStyle/>
                    <a:p>
                      <a:pPr algn="l"/>
                      <a:r>
                        <a:rPr sz="800" b="0">
                          <a:solidFill>
                            <a:srgbClr val="2E2E2E"/>
                          </a:solidFill>
                          <a:latin typeface="Calibri"/>
                        </a:rPr>
                        <a:t>1,334</a:t>
                      </a:r>
                    </a:p>
                  </a:txBody>
                  <a:tcPr marL="85725" marR="38100" marT="19050" marB="19050" anchor="ctr">
                    <a:solidFill>
                      <a:srgbClr val="F5F8FA"/>
                    </a:solidFill>
                  </a:tcPr>
                </a:tc>
                <a:tc>
                  <a:txBody>
                    <a:bodyPr wrap="none"/>
                    <a:lstStyle/>
                    <a:p>
                      <a:pPr algn="l"/>
                      <a:r>
                        <a:rPr sz="800" b="0">
                          <a:solidFill>
                            <a:srgbClr val="2E2E2E"/>
                          </a:solidFill>
                          <a:latin typeface="Calibri"/>
                        </a:rPr>
                        <a:t>7.4%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Retail / Specialty Pharmacies</a:t>
                      </a:r>
                    </a:p>
                  </a:txBody>
                  <a:tcPr marL="85725" marR="38100" marT="19050" marB="19050" anchor="ctr">
                    <a:solidFill>
                      <a:srgbClr val="FFFFFF"/>
                    </a:solidFill>
                  </a:tcPr>
                </a:tc>
                <a:tc>
                  <a:txBody>
                    <a:bodyPr wrap="none"/>
                    <a:lstStyle/>
                    <a:p>
                      <a:pPr algn="l"/>
                      <a:r>
                        <a:rPr sz="800" b="0">
                          <a:solidFill>
                            <a:srgbClr val="2E2E2E"/>
                          </a:solidFill>
                          <a:latin typeface="Calibri"/>
                        </a:rPr>
                        <a:t>214.0</a:t>
                      </a:r>
                    </a:p>
                  </a:txBody>
                  <a:tcPr marL="85725" marR="38100" marT="19050" marB="19050" anchor="ctr">
                    <a:solidFill>
                      <a:srgbClr val="FFFFFF"/>
                    </a:solidFill>
                  </a:tcPr>
                </a:tc>
                <a:tc>
                  <a:txBody>
                    <a:bodyPr wrap="none"/>
                    <a:lstStyle/>
                    <a:p>
                      <a:pPr algn="l"/>
                      <a:r>
                        <a:rPr sz="800" b="0">
                          <a:solidFill>
                            <a:srgbClr val="2E2E2E"/>
                          </a:solidFill>
                          <a:latin typeface="Calibri"/>
                        </a:rPr>
                        <a:t>239.5</a:t>
                      </a:r>
                    </a:p>
                  </a:txBody>
                  <a:tcPr marL="85725" marR="38100" marT="19050" marB="19050" anchor="ctr">
                    <a:solidFill>
                      <a:srgbClr val="FFFFFF"/>
                    </a:solidFill>
                  </a:tcPr>
                </a:tc>
                <a:tc>
                  <a:txBody>
                    <a:bodyPr wrap="none"/>
                    <a:lstStyle/>
                    <a:p>
                      <a:pPr algn="l"/>
                      <a:r>
                        <a:rPr sz="800" b="0">
                          <a:solidFill>
                            <a:srgbClr val="2E2E2E"/>
                          </a:solidFill>
                          <a:latin typeface="Calibri"/>
                        </a:rPr>
                        <a:t>284.3</a:t>
                      </a:r>
                    </a:p>
                  </a:txBody>
                  <a:tcPr marL="85725" marR="38100" marT="19050" marB="19050" anchor="ctr">
                    <a:solidFill>
                      <a:srgbClr val="FFFFFF"/>
                    </a:solidFill>
                  </a:tcPr>
                </a:tc>
                <a:tc>
                  <a:txBody>
                    <a:bodyPr wrap="none"/>
                    <a:lstStyle/>
                    <a:p>
                      <a:pPr algn="l"/>
                      <a:r>
                        <a:rPr sz="800" b="0">
                          <a:solidFill>
                            <a:srgbClr val="2E2E2E"/>
                          </a:solidFill>
                          <a:latin typeface="Calibri"/>
                        </a:rPr>
                        <a:t>348.3</a:t>
                      </a:r>
                    </a:p>
                  </a:txBody>
                  <a:tcPr marL="85725" marR="38100" marT="19050" marB="19050" anchor="ctr">
                    <a:solidFill>
                      <a:srgbClr val="FFFFFF"/>
                    </a:solidFill>
                  </a:tcPr>
                </a:tc>
                <a:tc>
                  <a:txBody>
                    <a:bodyPr wrap="none"/>
                    <a:lstStyle/>
                    <a:p>
                      <a:pPr algn="l"/>
                      <a:r>
                        <a:rPr sz="800" b="0">
                          <a:solidFill>
                            <a:srgbClr val="2E2E2E"/>
                          </a:solidFill>
                          <a:latin typeface="Calibri"/>
                        </a:rPr>
                        <a:t>417.5</a:t>
                      </a:r>
                    </a:p>
                  </a:txBody>
                  <a:tcPr marL="85725" marR="38100" marT="19050" marB="19050" anchor="ctr">
                    <a:solidFill>
                      <a:srgbClr val="FFFFFF"/>
                    </a:solidFill>
                  </a:tcPr>
                </a:tc>
                <a:tc>
                  <a:txBody>
                    <a:bodyPr wrap="none"/>
                    <a:lstStyle/>
                    <a:p>
                      <a:pPr algn="l"/>
                      <a:r>
                        <a:rPr sz="800" b="0">
                          <a:solidFill>
                            <a:srgbClr val="2E2E2E"/>
                          </a:solidFill>
                          <a:latin typeface="Calibri"/>
                        </a:rPr>
                        <a:t>485.4</a:t>
                      </a:r>
                    </a:p>
                  </a:txBody>
                  <a:tcPr marL="85725" marR="38100" marT="19050" marB="19050" anchor="ctr">
                    <a:solidFill>
                      <a:srgbClr val="FFFFFF"/>
                    </a:solidFill>
                  </a:tcPr>
                </a:tc>
                <a:tc>
                  <a:txBody>
                    <a:bodyPr wrap="none"/>
                    <a:lstStyle/>
                    <a:p>
                      <a:pPr algn="l"/>
                      <a:r>
                        <a:rPr sz="800" b="0">
                          <a:solidFill>
                            <a:srgbClr val="2E2E2E"/>
                          </a:solidFill>
                          <a:latin typeface="Calibri"/>
                        </a:rPr>
                        <a:t>554.1</a:t>
                      </a:r>
                    </a:p>
                  </a:txBody>
                  <a:tcPr marL="85725" marR="38100" marT="19050" marB="19050" anchor="ctr">
                    <a:solidFill>
                      <a:srgbClr val="FFFFFF"/>
                    </a:solidFill>
                  </a:tcPr>
                </a:tc>
                <a:tc>
                  <a:txBody>
                    <a:bodyPr wrap="none"/>
                    <a:lstStyle/>
                    <a:p>
                      <a:pPr algn="l"/>
                      <a:r>
                        <a:rPr sz="800" b="0">
                          <a:solidFill>
                            <a:srgbClr val="2E2E2E"/>
                          </a:solidFill>
                          <a:latin typeface="Calibri"/>
                        </a:rPr>
                        <a:t>619.6</a:t>
                      </a:r>
                    </a:p>
                  </a:txBody>
                  <a:tcPr marL="85725" marR="38100" marT="19050" marB="19050" anchor="ctr">
                    <a:solidFill>
                      <a:srgbClr val="FFFFFF"/>
                    </a:solidFill>
                  </a:tcPr>
                </a:tc>
                <a:tc>
                  <a:txBody>
                    <a:bodyPr wrap="none"/>
                    <a:lstStyle/>
                    <a:p>
                      <a:pPr algn="l"/>
                      <a:r>
                        <a:rPr sz="800" b="0">
                          <a:solidFill>
                            <a:srgbClr val="2E2E2E"/>
                          </a:solidFill>
                          <a:latin typeface="Calibri"/>
                        </a:rPr>
                        <a:t>683.0</a:t>
                      </a:r>
                    </a:p>
                  </a:txBody>
                  <a:tcPr marL="85725" marR="38100" marT="19050" marB="19050" anchor="ctr">
                    <a:solidFill>
                      <a:srgbClr val="FFFFFF"/>
                    </a:solidFill>
                  </a:tcPr>
                </a:tc>
                <a:tc>
                  <a:txBody>
                    <a:bodyPr wrap="none"/>
                    <a:lstStyle/>
                    <a:p>
                      <a:pPr algn="l"/>
                      <a:r>
                        <a:rPr sz="800" b="0">
                          <a:solidFill>
                            <a:srgbClr val="2E2E2E"/>
                          </a:solidFill>
                          <a:latin typeface="Calibri"/>
                        </a:rPr>
                        <a:t>743.8</a:t>
                      </a:r>
                    </a:p>
                  </a:txBody>
                  <a:tcPr marL="85725" marR="38100" marT="19050" marB="19050" anchor="ctr">
                    <a:solidFill>
                      <a:srgbClr val="FFFFFF"/>
                    </a:solidFill>
                  </a:tcPr>
                </a:tc>
                <a:tc>
                  <a:txBody>
                    <a:bodyPr wrap="none"/>
                    <a:lstStyle/>
                    <a:p>
                      <a:pPr algn="l"/>
                      <a:r>
                        <a:rPr sz="800" b="0">
                          <a:solidFill>
                            <a:srgbClr val="2E2E2E"/>
                          </a:solidFill>
                          <a:latin typeface="Calibri"/>
                        </a:rPr>
                        <a:t>801.8</a:t>
                      </a:r>
                    </a:p>
                  </a:txBody>
                  <a:tcPr marL="85725" marR="38100" marT="19050" marB="19050" anchor="ctr">
                    <a:solidFill>
                      <a:srgbClr val="FFFFFF"/>
                    </a:solidFill>
                  </a:tcPr>
                </a:tc>
                <a:tc>
                  <a:txBody>
                    <a:bodyPr wrap="none"/>
                    <a:lstStyle/>
                    <a:p>
                      <a:pPr algn="l"/>
                      <a:r>
                        <a:rPr sz="800" b="0">
                          <a:solidFill>
                            <a:srgbClr val="2E2E2E"/>
                          </a:solidFill>
                          <a:latin typeface="Calibri"/>
                        </a:rPr>
                        <a:t>856.9</a:t>
                      </a:r>
                    </a:p>
                  </a:txBody>
                  <a:tcPr marL="85725" marR="38100" marT="19050" marB="19050" anchor="ctr">
                    <a:solidFill>
                      <a:srgbClr val="FFFFFF"/>
                    </a:solidFill>
                  </a:tcPr>
                </a:tc>
                <a:tc>
                  <a:txBody>
                    <a:bodyPr wrap="none"/>
                    <a:lstStyle/>
                    <a:p>
                      <a:pPr algn="l"/>
                      <a:r>
                        <a:rPr sz="800" b="0">
                          <a:solidFill>
                            <a:srgbClr val="2E2E2E"/>
                          </a:solidFill>
                          <a:latin typeface="Calibri"/>
                        </a:rPr>
                        <a:t>908.9</a:t>
                      </a:r>
                    </a:p>
                  </a:txBody>
                  <a:tcPr marL="85725" marR="38100" marT="19050" marB="19050" anchor="ctr">
                    <a:solidFill>
                      <a:srgbClr val="FFFFFF"/>
                    </a:solidFill>
                  </a:tcPr>
                </a:tc>
                <a:tc>
                  <a:txBody>
                    <a:bodyPr wrap="none"/>
                    <a:lstStyle/>
                    <a:p>
                      <a:pPr algn="l"/>
                      <a:r>
                        <a:rPr sz="800" b="0">
                          <a:solidFill>
                            <a:srgbClr val="2E2E2E"/>
                          </a:solidFill>
                          <a:latin typeface="Calibri"/>
                        </a:rPr>
                        <a:t>958.5</a:t>
                      </a:r>
                    </a:p>
                  </a:txBody>
                  <a:tcPr marL="85725" marR="38100" marT="19050" marB="19050" anchor="ctr">
                    <a:solidFill>
                      <a:srgbClr val="FFFFFF"/>
                    </a:solidFill>
                  </a:tcPr>
                </a:tc>
                <a:tc>
                  <a:txBody>
                    <a:bodyPr wrap="none"/>
                    <a:lstStyle/>
                    <a:p>
                      <a:pPr algn="l"/>
                      <a:r>
                        <a:rPr sz="800" b="0">
                          <a:solidFill>
                            <a:srgbClr val="2E2E2E"/>
                          </a:solidFill>
                          <a:latin typeface="Calibri"/>
                        </a:rPr>
                        <a:t>1,006</a:t>
                      </a:r>
                    </a:p>
                  </a:txBody>
                  <a:tcPr marL="85725" marR="38100" marT="19050" marB="19050" anchor="ctr">
                    <a:solidFill>
                      <a:srgbClr val="FFFFFF"/>
                    </a:solidFill>
                  </a:tcPr>
                </a:tc>
                <a:tc>
                  <a:txBody>
                    <a:bodyPr wrap="none"/>
                    <a:lstStyle/>
                    <a:p>
                      <a:pPr algn="l"/>
                      <a:r>
                        <a:rPr sz="800" b="0">
                          <a:solidFill>
                            <a:srgbClr val="2E2E2E"/>
                          </a:solidFill>
                          <a:latin typeface="Calibri"/>
                        </a:rPr>
                        <a:t>1,051</a:t>
                      </a:r>
                    </a:p>
                  </a:txBody>
                  <a:tcPr marL="85725" marR="38100" marT="19050" marB="19050" anchor="ctr">
                    <a:solidFill>
                      <a:srgbClr val="FFFFFF"/>
                    </a:solidFill>
                  </a:tcPr>
                </a:tc>
                <a:tc>
                  <a:txBody>
                    <a:bodyPr wrap="none"/>
                    <a:lstStyle/>
                    <a:p>
                      <a:pPr algn="l"/>
                      <a:r>
                        <a:rPr sz="800" b="0">
                          <a:solidFill>
                            <a:srgbClr val="2E2E2E"/>
                          </a:solidFill>
                          <a:latin typeface="Calibri"/>
                        </a:rPr>
                        <a:t>8.0%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Institutional Buyers</a:t>
                      </a:r>
                    </a:p>
                  </a:txBody>
                  <a:tcPr marL="85725" marR="38100" marT="19050" marB="19050" anchor="ctr">
                    <a:solidFill>
                      <a:srgbClr val="F5F8FA"/>
                    </a:solidFill>
                  </a:tcPr>
                </a:tc>
                <a:tc>
                  <a:txBody>
                    <a:bodyPr wrap="none"/>
                    <a:lstStyle/>
                    <a:p>
                      <a:pPr algn="l"/>
                      <a:r>
                        <a:rPr sz="800" b="0">
                          <a:solidFill>
                            <a:srgbClr val="2E2E2E"/>
                          </a:solidFill>
                          <a:latin typeface="Calibri"/>
                        </a:rPr>
                        <a:t>178.5</a:t>
                      </a:r>
                    </a:p>
                  </a:txBody>
                  <a:tcPr marL="85725" marR="38100" marT="19050" marB="19050" anchor="ctr">
                    <a:solidFill>
                      <a:srgbClr val="F5F8FA"/>
                    </a:solidFill>
                  </a:tcPr>
                </a:tc>
                <a:tc>
                  <a:txBody>
                    <a:bodyPr wrap="none"/>
                    <a:lstStyle/>
                    <a:p>
                      <a:pPr algn="l"/>
                      <a:r>
                        <a:rPr sz="800" b="0">
                          <a:solidFill>
                            <a:srgbClr val="2E2E2E"/>
                          </a:solidFill>
                          <a:latin typeface="Calibri"/>
                        </a:rPr>
                        <a:t>200.8</a:t>
                      </a:r>
                    </a:p>
                  </a:txBody>
                  <a:tcPr marL="85725" marR="38100" marT="19050" marB="19050" anchor="ctr">
                    <a:solidFill>
                      <a:srgbClr val="F5F8FA"/>
                    </a:solidFill>
                  </a:tcPr>
                </a:tc>
                <a:tc>
                  <a:txBody>
                    <a:bodyPr wrap="none"/>
                    <a:lstStyle/>
                    <a:p>
                      <a:pPr algn="l"/>
                      <a:r>
                        <a:rPr sz="800" b="0">
                          <a:solidFill>
                            <a:srgbClr val="2E2E2E"/>
                          </a:solidFill>
                          <a:latin typeface="Calibri"/>
                        </a:rPr>
                        <a:t>239.7</a:t>
                      </a:r>
                    </a:p>
                  </a:txBody>
                  <a:tcPr marL="85725" marR="38100" marT="19050" marB="19050" anchor="ctr">
                    <a:solidFill>
                      <a:srgbClr val="F5F8FA"/>
                    </a:solidFill>
                  </a:tcPr>
                </a:tc>
                <a:tc>
                  <a:txBody>
                    <a:bodyPr wrap="none"/>
                    <a:lstStyle/>
                    <a:p>
                      <a:pPr algn="l"/>
                      <a:r>
                        <a:rPr sz="800" b="0">
                          <a:solidFill>
                            <a:srgbClr val="2E2E2E"/>
                          </a:solidFill>
                          <a:latin typeface="Calibri"/>
                        </a:rPr>
                        <a:t>295.2</a:t>
                      </a:r>
                    </a:p>
                  </a:txBody>
                  <a:tcPr marL="85725" marR="38100" marT="19050" marB="19050" anchor="ctr">
                    <a:solidFill>
                      <a:srgbClr val="F5F8FA"/>
                    </a:solidFill>
                  </a:tcPr>
                </a:tc>
                <a:tc>
                  <a:txBody>
                    <a:bodyPr wrap="none"/>
                    <a:lstStyle/>
                    <a:p>
                      <a:pPr algn="l"/>
                      <a:r>
                        <a:rPr sz="800" b="0">
                          <a:solidFill>
                            <a:srgbClr val="2E2E2E"/>
                          </a:solidFill>
                          <a:latin typeface="Calibri"/>
                        </a:rPr>
                        <a:t>355.7</a:t>
                      </a:r>
                    </a:p>
                  </a:txBody>
                  <a:tcPr marL="85725" marR="38100" marT="19050" marB="19050" anchor="ctr">
                    <a:solidFill>
                      <a:srgbClr val="F5F8FA"/>
                    </a:solidFill>
                  </a:tcPr>
                </a:tc>
                <a:tc>
                  <a:txBody>
                    <a:bodyPr wrap="none"/>
                    <a:lstStyle/>
                    <a:p>
                      <a:pPr algn="l"/>
                      <a:r>
                        <a:rPr sz="800" b="0">
                          <a:solidFill>
                            <a:srgbClr val="2E2E2E"/>
                          </a:solidFill>
                          <a:latin typeface="Calibri"/>
                        </a:rPr>
                        <a:t>415.8</a:t>
                      </a:r>
                    </a:p>
                  </a:txBody>
                  <a:tcPr marL="85725" marR="38100" marT="19050" marB="19050" anchor="ctr">
                    <a:solidFill>
                      <a:srgbClr val="F5F8FA"/>
                    </a:solidFill>
                  </a:tcPr>
                </a:tc>
                <a:tc>
                  <a:txBody>
                    <a:bodyPr wrap="none"/>
                    <a:lstStyle/>
                    <a:p>
                      <a:pPr algn="l"/>
                      <a:r>
                        <a:rPr sz="800" b="0">
                          <a:solidFill>
                            <a:srgbClr val="2E2E2E"/>
                          </a:solidFill>
                          <a:latin typeface="Calibri"/>
                        </a:rPr>
                        <a:t>477.1</a:t>
                      </a:r>
                    </a:p>
                  </a:txBody>
                  <a:tcPr marL="85725" marR="38100" marT="19050" marB="19050" anchor="ctr">
                    <a:solidFill>
                      <a:srgbClr val="F5F8FA"/>
                    </a:solidFill>
                  </a:tcPr>
                </a:tc>
                <a:tc>
                  <a:txBody>
                    <a:bodyPr wrap="none"/>
                    <a:lstStyle/>
                    <a:p>
                      <a:pPr algn="l"/>
                      <a:r>
                        <a:rPr sz="800" b="0">
                          <a:solidFill>
                            <a:srgbClr val="2E2E2E"/>
                          </a:solidFill>
                          <a:latin typeface="Calibri"/>
                        </a:rPr>
                        <a:t>536.4</a:t>
                      </a:r>
                    </a:p>
                  </a:txBody>
                  <a:tcPr marL="85725" marR="38100" marT="19050" marB="19050" anchor="ctr">
                    <a:solidFill>
                      <a:srgbClr val="F5F8FA"/>
                    </a:solidFill>
                  </a:tcPr>
                </a:tc>
                <a:tc>
                  <a:txBody>
                    <a:bodyPr wrap="none"/>
                    <a:lstStyle/>
                    <a:p>
                      <a:pPr algn="l"/>
                      <a:r>
                        <a:rPr sz="800" b="0">
                          <a:solidFill>
                            <a:srgbClr val="2E2E2E"/>
                          </a:solidFill>
                          <a:latin typeface="Calibri"/>
                        </a:rPr>
                        <a:t>594.3</a:t>
                      </a:r>
                    </a:p>
                  </a:txBody>
                  <a:tcPr marL="85725" marR="38100" marT="19050" marB="19050" anchor="ctr">
                    <a:solidFill>
                      <a:srgbClr val="F5F8FA"/>
                    </a:solidFill>
                  </a:tcPr>
                </a:tc>
                <a:tc>
                  <a:txBody>
                    <a:bodyPr wrap="none"/>
                    <a:lstStyle/>
                    <a:p>
                      <a:pPr algn="l"/>
                      <a:r>
                        <a:rPr sz="800" b="0">
                          <a:solidFill>
                            <a:srgbClr val="2E2E2E"/>
                          </a:solidFill>
                          <a:latin typeface="Calibri"/>
                        </a:rPr>
                        <a:t>650.7</a:t>
                      </a:r>
                    </a:p>
                  </a:txBody>
                  <a:tcPr marL="85725" marR="38100" marT="19050" marB="19050" anchor="ctr">
                    <a:solidFill>
                      <a:srgbClr val="F5F8FA"/>
                    </a:solidFill>
                  </a:tcPr>
                </a:tc>
                <a:tc>
                  <a:txBody>
                    <a:bodyPr wrap="none"/>
                    <a:lstStyle/>
                    <a:p>
                      <a:pPr algn="l"/>
                      <a:r>
                        <a:rPr sz="800" b="0">
                          <a:solidFill>
                            <a:srgbClr val="2E2E2E"/>
                          </a:solidFill>
                          <a:latin typeface="Calibri"/>
                        </a:rPr>
                        <a:t>705.0</a:t>
                      </a:r>
                    </a:p>
                  </a:txBody>
                  <a:tcPr marL="85725" marR="38100" marT="19050" marB="19050" anchor="ctr">
                    <a:solidFill>
                      <a:srgbClr val="F5F8FA"/>
                    </a:solidFill>
                  </a:tcPr>
                </a:tc>
                <a:tc>
                  <a:txBody>
                    <a:bodyPr wrap="none"/>
                    <a:lstStyle/>
                    <a:p>
                      <a:pPr algn="l"/>
                      <a:r>
                        <a:rPr sz="800" b="0">
                          <a:solidFill>
                            <a:srgbClr val="2E2E2E"/>
                          </a:solidFill>
                          <a:latin typeface="Calibri"/>
                        </a:rPr>
                        <a:t>757.5</a:t>
                      </a:r>
                    </a:p>
                  </a:txBody>
                  <a:tcPr marL="85725" marR="38100" marT="19050" marB="19050" anchor="ctr">
                    <a:solidFill>
                      <a:srgbClr val="F5F8FA"/>
                    </a:solidFill>
                  </a:tcPr>
                </a:tc>
                <a:tc>
                  <a:txBody>
                    <a:bodyPr wrap="none"/>
                    <a:lstStyle/>
                    <a:p>
                      <a:pPr algn="l"/>
                      <a:r>
                        <a:rPr sz="800" b="0">
                          <a:solidFill>
                            <a:srgbClr val="2E2E2E"/>
                          </a:solidFill>
                          <a:latin typeface="Calibri"/>
                        </a:rPr>
                        <a:t>807.7</a:t>
                      </a:r>
                    </a:p>
                  </a:txBody>
                  <a:tcPr marL="85725" marR="38100" marT="19050" marB="19050" anchor="ctr">
                    <a:solidFill>
                      <a:srgbClr val="F5F8FA"/>
                    </a:solidFill>
                  </a:tcPr>
                </a:tc>
                <a:tc>
                  <a:txBody>
                    <a:bodyPr wrap="none"/>
                    <a:lstStyle/>
                    <a:p>
                      <a:pPr algn="l"/>
                      <a:r>
                        <a:rPr sz="800" b="0">
                          <a:solidFill>
                            <a:srgbClr val="2E2E2E"/>
                          </a:solidFill>
                          <a:latin typeface="Calibri"/>
                        </a:rPr>
                        <a:t>856.2</a:t>
                      </a:r>
                    </a:p>
                  </a:txBody>
                  <a:tcPr marL="85725" marR="38100" marT="19050" marB="19050" anchor="ctr">
                    <a:solidFill>
                      <a:srgbClr val="F5F8FA"/>
                    </a:solidFill>
                  </a:tcPr>
                </a:tc>
                <a:tc>
                  <a:txBody>
                    <a:bodyPr wrap="none"/>
                    <a:lstStyle/>
                    <a:p>
                      <a:pPr algn="l"/>
                      <a:r>
                        <a:rPr sz="800" b="0">
                          <a:solidFill>
                            <a:srgbClr val="2E2E2E"/>
                          </a:solidFill>
                          <a:latin typeface="Calibri"/>
                        </a:rPr>
                        <a:t>903.2</a:t>
                      </a:r>
                    </a:p>
                  </a:txBody>
                  <a:tcPr marL="85725" marR="38100" marT="19050" marB="19050" anchor="ctr">
                    <a:solidFill>
                      <a:srgbClr val="F5F8FA"/>
                    </a:solidFill>
                  </a:tcPr>
                </a:tc>
                <a:tc>
                  <a:txBody>
                    <a:bodyPr wrap="none"/>
                    <a:lstStyle/>
                    <a:p>
                      <a:pPr algn="l"/>
                      <a:r>
                        <a:rPr sz="800" b="0">
                          <a:solidFill>
                            <a:srgbClr val="2E2E2E"/>
                          </a:solidFill>
                          <a:latin typeface="Calibri"/>
                        </a:rPr>
                        <a:t>949.1</a:t>
                      </a:r>
                    </a:p>
                  </a:txBody>
                  <a:tcPr marL="85725" marR="38100" marT="19050" marB="19050" anchor="ctr">
                    <a:solidFill>
                      <a:srgbClr val="F5F8FA"/>
                    </a:solidFill>
                  </a:tcPr>
                </a:tc>
                <a:tc>
                  <a:txBody>
                    <a:bodyPr wrap="none"/>
                    <a:lstStyle/>
                    <a:p>
                      <a:pPr algn="l"/>
                      <a:r>
                        <a:rPr sz="800" b="0">
                          <a:solidFill>
                            <a:srgbClr val="2E2E2E"/>
                          </a:solidFill>
                          <a:latin typeface="Calibri"/>
                        </a:rPr>
                        <a:t>8.6%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852.6</a:t>
                      </a:r>
                    </a:p>
                  </a:txBody>
                  <a:tcPr marL="85725" marR="38100" marT="19050" marB="19050" anchor="ctr">
                    <a:solidFill>
                      <a:srgbClr val="E0E8EF"/>
                    </a:solidFill>
                  </a:tcPr>
                </a:tc>
                <a:tc>
                  <a:txBody>
                    <a:bodyPr wrap="none"/>
                    <a:lstStyle/>
                    <a:p>
                      <a:pPr algn="l"/>
                      <a:r>
                        <a:rPr sz="800" b="1">
                          <a:solidFill>
                            <a:srgbClr val="2E2E2E"/>
                          </a:solidFill>
                          <a:latin typeface="Calibri"/>
                        </a:rPr>
                        <a:t>958.1</a:t>
                      </a:r>
                    </a:p>
                  </a:txBody>
                  <a:tcPr marL="85725" marR="38100" marT="19050" marB="19050" anchor="ctr">
                    <a:solidFill>
                      <a:srgbClr val="E0E8EF"/>
                    </a:solidFill>
                  </a:tcPr>
                </a:tc>
                <a:tc>
                  <a:txBody>
                    <a:bodyPr wrap="none"/>
                    <a:lstStyle/>
                    <a:p>
                      <a:pPr algn="l"/>
                      <a:r>
                        <a:rPr sz="800" b="1">
                          <a:solidFill>
                            <a:srgbClr val="2E2E2E"/>
                          </a:solidFill>
                          <a:latin typeface="Calibri"/>
                        </a:rPr>
                        <a:t>1,142</a:t>
                      </a:r>
                    </a:p>
                  </a:txBody>
                  <a:tcPr marL="85725" marR="38100" marT="19050" marB="19050" anchor="ctr">
                    <a:solidFill>
                      <a:srgbClr val="E0E8EF"/>
                    </a:solidFill>
                  </a:tcPr>
                </a:tc>
                <a:tc>
                  <a:txBody>
                    <a:bodyPr wrap="none"/>
                    <a:lstStyle/>
                    <a:p>
                      <a:pPr algn="l"/>
                      <a:r>
                        <a:rPr sz="800" b="1">
                          <a:solidFill>
                            <a:srgbClr val="2E2E2E"/>
                          </a:solidFill>
                          <a:latin typeface="Calibri"/>
                        </a:rPr>
                        <a:t>1,405</a:t>
                      </a:r>
                    </a:p>
                  </a:txBody>
                  <a:tcPr marL="85725" marR="38100" marT="19050" marB="19050" anchor="ctr">
                    <a:solidFill>
                      <a:srgbClr val="E0E8EF"/>
                    </a:solidFill>
                  </a:tcPr>
                </a:tc>
                <a:tc>
                  <a:txBody>
                    <a:bodyPr wrap="none"/>
                    <a:lstStyle/>
                    <a:p>
                      <a:pPr algn="l"/>
                      <a:r>
                        <a:rPr sz="800" b="1">
                          <a:solidFill>
                            <a:srgbClr val="2E2E2E"/>
                          </a:solidFill>
                          <a:latin typeface="Calibri"/>
                        </a:rPr>
                        <a:t>1,691</a:t>
                      </a:r>
                    </a:p>
                  </a:txBody>
                  <a:tcPr marL="85725" marR="38100" marT="19050" marB="19050" anchor="ctr">
                    <a:solidFill>
                      <a:srgbClr val="E0E8EF"/>
                    </a:solidFill>
                  </a:tcPr>
                </a:tc>
                <a:tc>
                  <a:txBody>
                    <a:bodyPr wrap="none"/>
                    <a:lstStyle/>
                    <a:p>
                      <a:pPr algn="l"/>
                      <a:r>
                        <a:rPr sz="800" b="1">
                          <a:solidFill>
                            <a:srgbClr val="2E2E2E"/>
                          </a:solidFill>
                          <a:latin typeface="Calibri"/>
                        </a:rPr>
                        <a:t>1,974</a:t>
                      </a:r>
                    </a:p>
                  </a:txBody>
                  <a:tcPr marL="85725" marR="38100" marT="19050" marB="19050" anchor="ctr">
                    <a:solidFill>
                      <a:srgbClr val="E0E8EF"/>
                    </a:solidFill>
                  </a:tcPr>
                </a:tc>
                <a:tc>
                  <a:txBody>
                    <a:bodyPr wrap="none"/>
                    <a:lstStyle/>
                    <a:p>
                      <a:pPr algn="l"/>
                      <a:r>
                        <a:rPr sz="800" b="1">
                          <a:solidFill>
                            <a:srgbClr val="2E2E2E"/>
                          </a:solidFill>
                          <a:latin typeface="Calibri"/>
                        </a:rPr>
                        <a:t>2,263</a:t>
                      </a:r>
                    </a:p>
                  </a:txBody>
                  <a:tcPr marL="85725" marR="38100" marT="19050" marB="19050" anchor="ctr">
                    <a:solidFill>
                      <a:srgbClr val="E0E8EF"/>
                    </a:solidFill>
                  </a:tcPr>
                </a:tc>
                <a:tc>
                  <a:txBody>
                    <a:bodyPr wrap="none"/>
                    <a:lstStyle/>
                    <a:p>
                      <a:pPr algn="l"/>
                      <a:r>
                        <a:rPr sz="800" b="1">
                          <a:solidFill>
                            <a:srgbClr val="2E2E2E"/>
                          </a:solidFill>
                          <a:latin typeface="Calibri"/>
                        </a:rPr>
                        <a:t>2,542</a:t>
                      </a:r>
                    </a:p>
                  </a:txBody>
                  <a:tcPr marL="85725" marR="38100" marT="19050" marB="19050" anchor="ctr">
                    <a:solidFill>
                      <a:srgbClr val="E0E8EF"/>
                    </a:solidFill>
                  </a:tcPr>
                </a:tc>
                <a:tc>
                  <a:txBody>
                    <a:bodyPr wrap="none"/>
                    <a:lstStyle/>
                    <a:p>
                      <a:pPr algn="l"/>
                      <a:r>
                        <a:rPr sz="800" b="1">
                          <a:solidFill>
                            <a:srgbClr val="2E2E2E"/>
                          </a:solidFill>
                          <a:latin typeface="Calibri"/>
                        </a:rPr>
                        <a:t>2,814</a:t>
                      </a:r>
                    </a:p>
                  </a:txBody>
                  <a:tcPr marL="85725" marR="38100" marT="19050" marB="19050" anchor="ctr">
                    <a:solidFill>
                      <a:srgbClr val="E0E8EF"/>
                    </a:solidFill>
                  </a:tcPr>
                </a:tc>
                <a:tc>
                  <a:txBody>
                    <a:bodyPr wrap="none"/>
                    <a:lstStyle/>
                    <a:p>
                      <a:pPr algn="l"/>
                      <a:r>
                        <a:rPr sz="800" b="1">
                          <a:solidFill>
                            <a:srgbClr val="2E2E2E"/>
                          </a:solidFill>
                          <a:latin typeface="Calibri"/>
                        </a:rPr>
                        <a:t>3,079</a:t>
                      </a:r>
                    </a:p>
                  </a:txBody>
                  <a:tcPr marL="85725" marR="38100" marT="19050" marB="19050" anchor="ctr">
                    <a:solidFill>
                      <a:srgbClr val="E0E8EF"/>
                    </a:solidFill>
                  </a:tcPr>
                </a:tc>
                <a:tc>
                  <a:txBody>
                    <a:bodyPr wrap="none"/>
                    <a:lstStyle/>
                    <a:p>
                      <a:pPr algn="l"/>
                      <a:r>
                        <a:rPr sz="800" b="1">
                          <a:solidFill>
                            <a:srgbClr val="2E2E2E"/>
                          </a:solidFill>
                          <a:latin typeface="Calibri"/>
                        </a:rPr>
                        <a:t>3,334</a:t>
                      </a:r>
                    </a:p>
                  </a:txBody>
                  <a:tcPr marL="85725" marR="38100" marT="19050" marB="19050" anchor="ctr">
                    <a:solidFill>
                      <a:srgbClr val="E0E8EF"/>
                    </a:solidFill>
                  </a:tcPr>
                </a:tc>
                <a:tc>
                  <a:txBody>
                    <a:bodyPr wrap="none"/>
                    <a:lstStyle/>
                    <a:p>
                      <a:pPr algn="l"/>
                      <a:r>
                        <a:rPr sz="800" b="1">
                          <a:solidFill>
                            <a:srgbClr val="2E2E2E"/>
                          </a:solidFill>
                          <a:latin typeface="Calibri"/>
                        </a:rPr>
                        <a:t>3,579</a:t>
                      </a:r>
                    </a:p>
                  </a:txBody>
                  <a:tcPr marL="85725" marR="38100" marT="19050" marB="19050" anchor="ctr">
                    <a:solidFill>
                      <a:srgbClr val="E0E8EF"/>
                    </a:solidFill>
                  </a:tcPr>
                </a:tc>
                <a:tc>
                  <a:txBody>
                    <a:bodyPr wrap="none"/>
                    <a:lstStyle/>
                    <a:p>
                      <a:pPr algn="l"/>
                      <a:r>
                        <a:rPr sz="800" b="1">
                          <a:solidFill>
                            <a:srgbClr val="2E2E2E"/>
                          </a:solidFill>
                          <a:latin typeface="Calibri"/>
                        </a:rPr>
                        <a:t>3,814</a:t>
                      </a:r>
                    </a:p>
                  </a:txBody>
                  <a:tcPr marL="85725" marR="38100" marT="19050" marB="19050" anchor="ctr">
                    <a:solidFill>
                      <a:srgbClr val="E0E8EF"/>
                    </a:solidFill>
                  </a:tcPr>
                </a:tc>
                <a:tc>
                  <a:txBody>
                    <a:bodyPr wrap="none"/>
                    <a:lstStyle/>
                    <a:p>
                      <a:pPr algn="l"/>
                      <a:r>
                        <a:rPr sz="800" b="1">
                          <a:solidFill>
                            <a:srgbClr val="2E2E2E"/>
                          </a:solidFill>
                          <a:latin typeface="Calibri"/>
                        </a:rPr>
                        <a:t>4,041</a:t>
                      </a:r>
                    </a:p>
                  </a:txBody>
                  <a:tcPr marL="85725" marR="38100" marT="19050" marB="19050" anchor="ctr">
                    <a:solidFill>
                      <a:srgbClr val="E0E8EF"/>
                    </a:solidFill>
                  </a:tcPr>
                </a:tc>
                <a:tc>
                  <a:txBody>
                    <a:bodyPr wrap="none"/>
                    <a:lstStyle/>
                    <a:p>
                      <a:pPr algn="l"/>
                      <a:r>
                        <a:rPr sz="800" b="1">
                          <a:solidFill>
                            <a:srgbClr val="2E2E2E"/>
                          </a:solidFill>
                          <a:latin typeface="Calibri"/>
                        </a:rPr>
                        <a:t>4,260</a:t>
                      </a:r>
                    </a:p>
                  </a:txBody>
                  <a:tcPr marL="85725" marR="38100" marT="19050" marB="19050" anchor="ctr">
                    <a:solidFill>
                      <a:srgbClr val="E0E8EF"/>
                    </a:solidFill>
                  </a:tcPr>
                </a:tc>
                <a:tc>
                  <a:txBody>
                    <a:bodyPr wrap="none"/>
                    <a:lstStyle/>
                    <a:p>
                      <a:pPr algn="l"/>
                      <a:r>
                        <a:rPr sz="800" b="1">
                          <a:solidFill>
                            <a:srgbClr val="2E2E2E"/>
                          </a:solidFill>
                          <a:latin typeface="Calibri"/>
                        </a:rPr>
                        <a:t>4,475</a:t>
                      </a:r>
                    </a:p>
                  </a:txBody>
                  <a:tcPr marL="85725" marR="38100" marT="19050" marB="19050" anchor="ctr">
                    <a:solidFill>
                      <a:srgbClr val="E0E8EF"/>
                    </a:solidFill>
                  </a:tcPr>
                </a:tc>
                <a:tc>
                  <a:txBody>
                    <a:bodyPr wrap="none"/>
                    <a:lstStyle/>
                    <a:p>
                      <a:pPr algn="l"/>
                      <a:r>
                        <a:rPr sz="800" b="1">
                          <a:solidFill>
                            <a:srgbClr val="2E2E2E"/>
                          </a:solidFill>
                          <a:latin typeface="Calibri"/>
                        </a:rPr>
                        <a:t>8.5%</a:t>
                      </a:r>
                    </a:p>
                  </a:txBody>
                  <a:tcPr marL="85725" marR="38100" marT="19050" marB="19050" anchor="ctr">
                    <a:solidFill>
                      <a:srgbClr val="E0E8EF"/>
                    </a:solidFill>
                  </a:tcPr>
                </a:tc>
              </a:tr>
            </a:tbl>
          </a:graphicData>
        </a:graphic>
      </p:graphicFrame>
      <p:sp>
        <p:nvSpPr>
          <p:cNvPr id="14" name="TextBox 13"/>
          <p:cNvSpPr txBox="1"/>
          <p:nvPr/>
        </p:nvSpPr>
        <p:spPr>
          <a:xfrm>
            <a:off x="219075" y="38481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4124325"/>
            <a:ext cx="11906250" cy="2600325"/>
          </a:xfrm>
          <a:prstGeom prst="roundRect">
            <a:avLst>
              <a:gd name="adj" fmla="val 29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2100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Buyer Type</a:t>
            </a:r>
          </a:p>
        </p:txBody>
      </p:sp>
      <p:sp>
        <p:nvSpPr>
          <p:cNvPr id="17" name="Rectangle 16"/>
          <p:cNvSpPr/>
          <p:nvPr/>
        </p:nvSpPr>
        <p:spPr>
          <a:xfrm>
            <a:off x="276225" y="44481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533900"/>
            <a:ext cx="11639550" cy="2114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'Specialty Clinics' is the largest buyer type at 29.8% of 2036 value (1,334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'Hospitals' grows fastest 10.6%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'Hospitals' (+431 BPS) and away from 'Specialty Clinics' (-337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rises from 1,974 to 4,475 US$ Mn across 4 categories.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Value &amp; Share Shift, By Buyer Type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7400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Buyer Type ·  2021 / 2026 / 2036 (US$ Mn)  ·  right axis = BPS share shift</a:t>
            </a:r>
          </a:p>
        </p:txBody>
      </p:sp>
      <p:graphicFrame>
        <p:nvGraphicFramePr>
          <p:cNvPr id="13" name="Chart 12"/>
          <p:cNvGraphicFramePr>
            <a:graphicFrameLocks noGrp="1"/>
          </p:cNvGraphicFramePr>
          <p:nvPr/>
        </p:nvGraphicFramePr>
        <p:xfrm>
          <a:off x="238125" y="1457325"/>
          <a:ext cx="5624132" cy="5210175"/>
        </p:xfrm>
        <a:graphic>
          <a:graphicData uri="http://schemas.openxmlformats.org/drawingml/2006/chart">
            <c:chart xmlns:c="http://schemas.openxmlformats.org/drawingml/2006/chart" r:id="rId3"/>
          </a:graphicData>
        </a:graphic>
      </p:graphicFrame>
      <p:sp>
        <p:nvSpPr>
          <p:cNvPr id="14" name="TextBox 13"/>
          <p:cNvSpPr txBox="1"/>
          <p:nvPr/>
        </p:nvSpPr>
        <p:spPr>
          <a:xfrm>
            <a:off x="6934200" y="1522857"/>
            <a:ext cx="552450" cy="114300"/>
          </a:xfrm>
          <a:prstGeom prst="rect">
            <a:avLst/>
          </a:prstGeom>
          <a:noFill/>
        </p:spPr>
        <p:txBody>
          <a:bodyPr wrap="square" lIns="28575" rIns="28575" tIns="9525" bIns="9525">
            <a:spAutoFit/>
          </a:bodyPr>
          <a:lstStyle/>
          <a:p>
            <a:pPr algn="l"/>
            <a:r>
              <a:rPr sz="750" b="1">
                <a:solidFill>
                  <a:srgbClr val="6C7A89"/>
                </a:solidFill>
                <a:latin typeface="Calibri"/>
              </a:rPr>
              <a:t>BPS Δ</a:t>
            </a:r>
          </a:p>
        </p:txBody>
      </p:sp>
      <p:cxnSp>
        <p:nvCxnSpPr>
          <p:cNvPr id="15" name="Connector 14"/>
          <p:cNvCxnSpPr/>
          <p:nvPr/>
        </p:nvCxnSpPr>
        <p:spPr>
          <a:xfrm>
            <a:off x="7010400" y="1665732"/>
            <a:ext cx="0" cy="4144518"/>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919406" y="3737991"/>
            <a:ext cx="1090994"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038975" y="5265361"/>
            <a:ext cx="419100" cy="133350"/>
          </a:xfrm>
          <a:prstGeom prst="rect">
            <a:avLst/>
          </a:prstGeom>
          <a:noFill/>
        </p:spPr>
        <p:txBody>
          <a:bodyPr wrap="none" lIns="0" rIns="0" tIns="0" bIns="0" anchor="ctr">
            <a:spAutoFit/>
          </a:bodyPr>
          <a:lstStyle/>
          <a:p>
            <a:pPr algn="l"/>
            <a:r>
              <a:rPr sz="750" b="0">
                <a:solidFill>
                  <a:srgbClr val="6C7A89"/>
                </a:solidFill>
                <a:latin typeface="Calibri"/>
              </a:rPr>
              <a:t>-431</a:t>
            </a:r>
          </a:p>
        </p:txBody>
      </p:sp>
      <p:sp>
        <p:nvSpPr>
          <p:cNvPr id="18" name="TextBox 17"/>
          <p:cNvSpPr txBox="1"/>
          <p:nvPr/>
        </p:nvSpPr>
        <p:spPr>
          <a:xfrm>
            <a:off x="7038975" y="3671316"/>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19" name="TextBox 18"/>
          <p:cNvSpPr txBox="1"/>
          <p:nvPr/>
        </p:nvSpPr>
        <p:spPr>
          <a:xfrm>
            <a:off x="7038975" y="2077271"/>
            <a:ext cx="419100" cy="133350"/>
          </a:xfrm>
          <a:prstGeom prst="rect">
            <a:avLst/>
          </a:prstGeom>
          <a:noFill/>
        </p:spPr>
        <p:txBody>
          <a:bodyPr wrap="none" lIns="0" rIns="0" tIns="0" bIns="0" anchor="ctr">
            <a:spAutoFit/>
          </a:bodyPr>
          <a:lstStyle/>
          <a:p>
            <a:pPr algn="l"/>
            <a:r>
              <a:rPr sz="750" b="0">
                <a:solidFill>
                  <a:srgbClr val="6C7A89"/>
                </a:solidFill>
                <a:latin typeface="Calibri"/>
              </a:rPr>
              <a:t>+431</a:t>
            </a:r>
          </a:p>
        </p:txBody>
      </p:sp>
      <p:sp>
        <p:nvSpPr>
          <p:cNvPr id="20" name="Oval 19"/>
          <p:cNvSpPr/>
          <p:nvPr/>
        </p:nvSpPr>
        <p:spPr>
          <a:xfrm>
            <a:off x="5971794" y="2101083"/>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971794" y="3639274"/>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71794" y="4098457"/>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71794" y="4941700"/>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81332" y="2067746"/>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+431</a:t>
            </a:r>
          </a:p>
        </p:txBody>
      </p:sp>
      <p:sp>
        <p:nvSpPr>
          <p:cNvPr id="25" name="TextBox 24"/>
          <p:cNvSpPr txBox="1"/>
          <p:nvPr/>
        </p:nvSpPr>
        <p:spPr>
          <a:xfrm>
            <a:off x="6081332" y="3605936"/>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+15</a:t>
            </a:r>
          </a:p>
        </p:txBody>
      </p:sp>
      <p:sp>
        <p:nvSpPr>
          <p:cNvPr id="26" name="TextBox 25"/>
          <p:cNvSpPr txBox="1"/>
          <p:nvPr/>
        </p:nvSpPr>
        <p:spPr>
          <a:xfrm>
            <a:off x="6081332" y="4065120"/>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-109</a:t>
            </a:r>
          </a:p>
        </p:txBody>
      </p:sp>
      <p:sp>
        <p:nvSpPr>
          <p:cNvPr id="27" name="TextBox 26"/>
          <p:cNvSpPr txBox="1"/>
          <p:nvPr/>
        </p:nvSpPr>
        <p:spPr>
          <a:xfrm>
            <a:off x="6081332" y="4908363"/>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-337</a:t>
            </a:r>
          </a:p>
        </p:txBody>
      </p:sp>
      <p:sp>
        <p:nvSpPr>
          <p:cNvPr id="28" name="Rounded Rectangle 27"/>
          <p:cNvSpPr/>
          <p:nvPr/>
        </p:nvSpPr>
        <p:spPr>
          <a:xfrm>
            <a:off x="7696200" y="857250"/>
            <a:ext cx="4343400" cy="5867400"/>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942975"/>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Buyer Type</a:t>
            </a:r>
          </a:p>
        </p:txBody>
      </p:sp>
      <p:sp>
        <p:nvSpPr>
          <p:cNvPr id="30" name="Rectangle 29"/>
          <p:cNvSpPr/>
          <p:nvPr/>
        </p:nvSpPr>
        <p:spPr>
          <a:xfrm>
            <a:off x="7829550" y="1181100"/>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266825"/>
            <a:ext cx="4076700" cy="538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'Hospitals' gains the most share +431 BPS between 2026 and 2036 (</a:t>
            </a:r>
            <a:r>
              <a:rPr sz="1150" b="0">
                <a:solidFill>
                  <a:srgbClr val="2E7D32"/>
                </a:solidFill>
                <a:latin typeface="Calibri"/>
              </a:rPr>
              <a:t>green ▲</a:t>
            </a:r>
            <a:r>
              <a:rPr sz="1150" b="0">
                <a:solidFill>
                  <a:srgbClr val="2E2E2E"/>
                </a:solidFill>
                <a:latin typeface="Calibri"/>
              </a:rPr>
              <a:t> on the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'Specialty Clinics' cedes the most -337 BPS over the same window (</a:t>
            </a:r>
            <a:r>
              <a:rPr sz="1150" b="0">
                <a:solidFill>
                  <a:srgbClr val="E44D3A"/>
                </a:solidFill>
                <a:latin typeface="Calibri"/>
              </a:rPr>
              <a:t>red ▼</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'Hospitals' is the fastest-growing buyer type at 10.6%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climbs from 852.6 to 4,475 US$ Mn across 2021–2036.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Bars show the value mix at each snapshot; the scale shows how each share moves.</a:t>
            </a:r>
          </a:p>
        </p:txBody>
      </p:sp>
      <p:sp>
        <p:nvSpPr>
          <p:cNvPr id="32" name="Rectangle 3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4" name="Rounded Rectangle 33">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5" name="Rounded Rectangle 34">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6" name="Rounded Rectangle 35">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Volume, By Buyer Type (%)</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447925"/>
          </a:xfrm>
          <a:prstGeom prst="roundRect">
            <a:avLst>
              <a:gd name="adj" fmla="val 31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YoY Growth, By Buyer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Buyer Type</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Hospitals</a:t>
                      </a:r>
                    </a:p>
                  </a:txBody>
                  <a:tcPr marL="85725" marR="38100" marT="19050" marB="19050" anchor="ctr">
                    <a:solidFill>
                      <a:srgbClr val="FFFFFF"/>
                    </a:solidFill>
                  </a:tcPr>
                </a:tc>
                <a:tc>
                  <a:txBody>
                    <a:bodyPr wrap="none"/>
                    <a:lstStyle/>
                    <a:p>
                      <a:pPr algn="l"/>
                      <a:r>
                        <a:rPr sz="800" b="1">
                          <a:solidFill>
                            <a:srgbClr val="2E7D32"/>
                          </a:solidFill>
                          <a:latin typeface="Calibri"/>
                        </a:rPr>
                        <a:t>▲ 19.1%</a:t>
                      </a:r>
                    </a:p>
                  </a:txBody>
                  <a:tcPr marL="85725" marR="38100" marT="19050" marB="19050" anchor="ctr">
                    <a:solidFill>
                      <a:srgbClr val="FFFFFF"/>
                    </a:solidFill>
                  </a:tcPr>
                </a:tc>
                <a:tc>
                  <a:txBody>
                    <a:bodyPr wrap="none"/>
                    <a:lstStyle/>
                    <a:p>
                      <a:pPr algn="l"/>
                      <a:r>
                        <a:rPr sz="800" b="1">
                          <a:solidFill>
                            <a:srgbClr val="2E7D32"/>
                          </a:solidFill>
                          <a:latin typeface="Calibri"/>
                        </a:rPr>
                        <a:t>▲ 26.3%</a:t>
                      </a:r>
                    </a:p>
                  </a:txBody>
                  <a:tcPr marL="85725" marR="38100" marT="19050" marB="19050" anchor="ctr">
                    <a:solidFill>
                      <a:srgbClr val="FFFFFF"/>
                    </a:solidFill>
                  </a:tcPr>
                </a:tc>
                <a:tc>
                  <a:txBody>
                    <a:bodyPr wrap="none"/>
                    <a:lstStyle/>
                    <a:p>
                      <a:pPr algn="l"/>
                      <a:r>
                        <a:rPr sz="800" b="1">
                          <a:solidFill>
                            <a:srgbClr val="2E7D32"/>
                          </a:solidFill>
                          <a:latin typeface="Calibri"/>
                        </a:rPr>
                        <a:t>▲ 30.3%</a:t>
                      </a:r>
                    </a:p>
                  </a:txBody>
                  <a:tcPr marL="85725" marR="38100" marT="19050" marB="19050" anchor="ctr">
                    <a:solidFill>
                      <a:srgbClr val="FFFFFF"/>
                    </a:solidFill>
                  </a:tcPr>
                </a:tc>
                <a:tc>
                  <a:txBody>
                    <a:bodyPr wrap="none"/>
                    <a:lstStyle/>
                    <a:p>
                      <a:pPr algn="l"/>
                      <a:r>
                        <a:rPr sz="800" b="1">
                          <a:solidFill>
                            <a:srgbClr val="2E7D32"/>
                          </a:solidFill>
                          <a:latin typeface="Calibri"/>
                        </a:rPr>
                        <a:t>▲ 27.5%</a:t>
                      </a:r>
                    </a:p>
                  </a:txBody>
                  <a:tcPr marL="85725" marR="38100" marT="19050" marB="19050" anchor="ctr">
                    <a:solidFill>
                      <a:srgbClr val="FFFFFF"/>
                    </a:solidFill>
                  </a:tcPr>
                </a:tc>
                <a:tc>
                  <a:txBody>
                    <a:bodyPr wrap="none"/>
                    <a:lstStyle/>
                    <a:p>
                      <a:pPr algn="l"/>
                      <a:r>
                        <a:rPr sz="800" b="1">
                          <a:solidFill>
                            <a:srgbClr val="2E7D32"/>
                          </a:solidFill>
                          <a:latin typeface="Calibri"/>
                        </a:rPr>
                        <a:t>▲ 23.7%</a:t>
                      </a:r>
                    </a:p>
                  </a:txBody>
                  <a:tcPr marL="85725" marR="38100" marT="19050" marB="19050" anchor="ctr">
                    <a:solidFill>
                      <a:srgbClr val="FFFFFF"/>
                    </a:solidFill>
                  </a:tcPr>
                </a:tc>
                <a:tc>
                  <a:txBody>
                    <a:bodyPr wrap="none"/>
                    <a:lstStyle/>
                    <a:p>
                      <a:pPr algn="l"/>
                      <a:r>
                        <a:rPr sz="800" b="1">
                          <a:solidFill>
                            <a:srgbClr val="2E7D32"/>
                          </a:solidFill>
                          <a:latin typeface="Calibri"/>
                        </a:rPr>
                        <a:t>▲ 21.4%</a:t>
                      </a:r>
                    </a:p>
                  </a:txBody>
                  <a:tcPr marL="85725" marR="38100" marT="19050" marB="19050" anchor="ctr">
                    <a:solidFill>
                      <a:srgbClr val="FFFFFF"/>
                    </a:solidFill>
                  </a:tcPr>
                </a:tc>
                <a:tc>
                  <a:txBody>
                    <a:bodyPr wrap="none"/>
                    <a:lstStyle/>
                    <a:p>
                      <a:pPr algn="l"/>
                      <a:r>
                        <a:rPr sz="800" b="1">
                          <a:solidFill>
                            <a:srgbClr val="2E7D32"/>
                          </a:solidFill>
                          <a:latin typeface="Calibri"/>
                        </a:rPr>
                        <a:t>▲ 19.0%</a:t>
                      </a:r>
                    </a:p>
                  </a:txBody>
                  <a:tcPr marL="85725" marR="38100" marT="19050" marB="19050" anchor="ctr">
                    <a:solidFill>
                      <a:srgbClr val="FFFFFF"/>
                    </a:solidFill>
                  </a:tcPr>
                </a:tc>
                <a:tc>
                  <a:txBody>
                    <a:bodyPr wrap="none"/>
                    <a:lstStyle/>
                    <a:p>
                      <a:pPr algn="l"/>
                      <a:r>
                        <a:rPr sz="800" b="1">
                          <a:solidFill>
                            <a:srgbClr val="2E7D32"/>
                          </a:solidFill>
                          <a:latin typeface="Calibri"/>
                        </a:rPr>
                        <a:t>▲ 17.3%</a:t>
                      </a:r>
                    </a:p>
                  </a:txBody>
                  <a:tcPr marL="85725" marR="38100" marT="19050" marB="19050" anchor="ctr">
                    <a:solidFill>
                      <a:srgbClr val="FFFFFF"/>
                    </a:solidFill>
                  </a:tcPr>
                </a:tc>
                <a:tc>
                  <a:txBody>
                    <a:bodyPr wrap="none"/>
                    <a:lstStyle/>
                    <a:p>
                      <a:pPr algn="l"/>
                      <a:r>
                        <a:rPr sz="800" b="1">
                          <a:solidFill>
                            <a:srgbClr val="2E7D32"/>
                          </a:solidFill>
                          <a:latin typeface="Calibri"/>
                        </a:rPr>
                        <a:t>▲ 15.9%</a:t>
                      </a:r>
                    </a:p>
                  </a:txBody>
                  <a:tcPr marL="85725" marR="38100" marT="19050" marB="19050" anchor="ctr">
                    <a:solidFill>
                      <a:srgbClr val="FFFFFF"/>
                    </a:solidFill>
                  </a:tcPr>
                </a:tc>
                <a:tc>
                  <a:txBody>
                    <a:bodyPr wrap="none"/>
                    <a:lstStyle/>
                    <a:p>
                      <a:pPr algn="l"/>
                      <a:r>
                        <a:rPr sz="800" b="1">
                          <a:solidFill>
                            <a:srgbClr val="2E7D32"/>
                          </a:solidFill>
                          <a:latin typeface="Calibri"/>
                        </a:rPr>
                        <a:t>▲ 14.7%</a:t>
                      </a:r>
                    </a:p>
                  </a:txBody>
                  <a:tcPr marL="85725" marR="38100" marT="19050" marB="19050" anchor="ctr">
                    <a:solidFill>
                      <a:srgbClr val="FFFFFF"/>
                    </a:solidFill>
                  </a:tcPr>
                </a:tc>
                <a:tc>
                  <a:txBody>
                    <a:bodyPr wrap="none"/>
                    <a:lstStyle/>
                    <a:p>
                      <a:pPr algn="l"/>
                      <a:r>
                        <a:rPr sz="800" b="1">
                          <a:solidFill>
                            <a:srgbClr val="2E7D32"/>
                          </a:solidFill>
                          <a:latin typeface="Calibri"/>
                        </a:rPr>
                        <a:t>▲ 13.7%</a:t>
                      </a:r>
                    </a:p>
                  </a:txBody>
                  <a:tcPr marL="85725" marR="38100" marT="19050" marB="19050" anchor="ctr">
                    <a:solidFill>
                      <a:srgbClr val="FFFFFF"/>
                    </a:solidFill>
                  </a:tcPr>
                </a:tc>
                <a:tc>
                  <a:txBody>
                    <a:bodyPr wrap="none"/>
                    <a:lstStyle/>
                    <a:p>
                      <a:pPr algn="l"/>
                      <a:r>
                        <a:rPr sz="800" b="1">
                          <a:solidFill>
                            <a:srgbClr val="2E7D32"/>
                          </a:solidFill>
                          <a:latin typeface="Calibri"/>
                        </a:rPr>
                        <a:t>▲ 12.8%</a:t>
                      </a:r>
                    </a:p>
                  </a:txBody>
                  <a:tcPr marL="85725" marR="38100" marT="19050" marB="19050" anchor="ctr">
                    <a:solidFill>
                      <a:srgbClr val="FFFFFF"/>
                    </a:solidFill>
                  </a:tcPr>
                </a:tc>
                <a:tc>
                  <a:txBody>
                    <a:bodyPr wrap="none"/>
                    <a:lstStyle/>
                    <a:p>
                      <a:pPr algn="l"/>
                      <a:r>
                        <a:rPr sz="800" b="1">
                          <a:solidFill>
                            <a:srgbClr val="2E7D32"/>
                          </a:solidFill>
                          <a:latin typeface="Calibri"/>
                        </a:rPr>
                        <a:t>▲ 12.2%</a:t>
                      </a:r>
                    </a:p>
                  </a:txBody>
                  <a:tcPr marL="85725" marR="38100" marT="19050" marB="19050" anchor="ctr">
                    <a:solidFill>
                      <a:srgbClr val="FFFFFF"/>
                    </a:solidFill>
                  </a:tcPr>
                </a:tc>
                <a:tc>
                  <a:txBody>
                    <a:bodyPr wrap="none"/>
                    <a:lstStyle/>
                    <a:p>
                      <a:pPr algn="l"/>
                      <a:r>
                        <a:rPr sz="800" b="1">
                          <a:solidFill>
                            <a:srgbClr val="2E7D32"/>
                          </a:solidFill>
                          <a:latin typeface="Calibri"/>
                        </a:rPr>
                        <a:t>▲ 11.6%</a:t>
                      </a:r>
                    </a:p>
                  </a:txBody>
                  <a:tcPr marL="85725" marR="38100" marT="19050" marB="19050" anchor="ctr">
                    <a:solidFill>
                      <a:srgbClr val="FFFFFF"/>
                    </a:solidFill>
                  </a:tcPr>
                </a:tc>
                <a:tc>
                  <a:txBody>
                    <a:bodyPr wrap="none"/>
                    <a:lstStyle/>
                    <a:p>
                      <a:pPr algn="l"/>
                      <a:r>
                        <a:rPr sz="800" b="1">
                          <a:solidFill>
                            <a:srgbClr val="2E7D32"/>
                          </a:solidFill>
                          <a:latin typeface="Calibri"/>
                        </a:rPr>
                        <a:t>▲ 11.2%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Specialty Clinics</a:t>
                      </a:r>
                    </a:p>
                  </a:txBody>
                  <a:tcPr marL="85725" marR="38100" marT="19050" marB="19050" anchor="ctr">
                    <a:solidFill>
                      <a:srgbClr val="F5F8FA"/>
                    </a:solidFill>
                  </a:tcPr>
                </a:tc>
                <a:tc>
                  <a:txBody>
                    <a:bodyPr wrap="none"/>
                    <a:lstStyle/>
                    <a:p>
                      <a:pPr algn="l"/>
                      <a:r>
                        <a:rPr sz="800" b="1">
                          <a:solidFill>
                            <a:srgbClr val="A86F00"/>
                          </a:solidFill>
                          <a:latin typeface="Calibri"/>
                        </a:rPr>
                        <a:t>▶ 15.8%</a:t>
                      </a:r>
                    </a:p>
                  </a:txBody>
                  <a:tcPr marL="85725" marR="38100" marT="19050" marB="19050" anchor="ctr">
                    <a:solidFill>
                      <a:srgbClr val="F5F8FA"/>
                    </a:solidFill>
                  </a:tcPr>
                </a:tc>
                <a:tc>
                  <a:txBody>
                    <a:bodyPr wrap="none"/>
                    <a:lstStyle/>
                    <a:p>
                      <a:pPr algn="l"/>
                      <a:r>
                        <a:rPr sz="800" b="1">
                          <a:solidFill>
                            <a:srgbClr val="A86F00"/>
                          </a:solidFill>
                          <a:latin typeface="Calibri"/>
                        </a:rPr>
                        <a:t>▶ 22.8%</a:t>
                      </a:r>
                    </a:p>
                  </a:txBody>
                  <a:tcPr marL="85725" marR="38100" marT="19050" marB="19050" anchor="ctr">
                    <a:solidFill>
                      <a:srgbClr val="F5F8FA"/>
                    </a:solidFill>
                  </a:tcPr>
                </a:tc>
                <a:tc>
                  <a:txBody>
                    <a:bodyPr wrap="none"/>
                    <a:lstStyle/>
                    <a:p>
                      <a:pPr algn="l"/>
                      <a:r>
                        <a:rPr sz="800" b="1">
                          <a:solidFill>
                            <a:srgbClr val="A86F00"/>
                          </a:solidFill>
                          <a:latin typeface="Calibri"/>
                        </a:rPr>
                        <a:t>▶ 26.7%</a:t>
                      </a:r>
                    </a:p>
                  </a:txBody>
                  <a:tcPr marL="85725" marR="38100" marT="19050" marB="19050" anchor="ctr">
                    <a:solidFill>
                      <a:srgbClr val="F5F8FA"/>
                    </a:solidFill>
                  </a:tcPr>
                </a:tc>
                <a:tc>
                  <a:txBody>
                    <a:bodyPr wrap="none"/>
                    <a:lstStyle/>
                    <a:p>
                      <a:pPr algn="l"/>
                      <a:r>
                        <a:rPr sz="800" b="1">
                          <a:solidFill>
                            <a:srgbClr val="A86F00"/>
                          </a:solidFill>
                          <a:latin typeface="Calibri"/>
                        </a:rPr>
                        <a:t>▶ 24.0%</a:t>
                      </a:r>
                    </a:p>
                  </a:txBody>
                  <a:tcPr marL="85725" marR="38100" marT="19050" marB="19050" anchor="ctr">
                    <a:solidFill>
                      <a:srgbClr val="F5F8FA"/>
                    </a:solidFill>
                  </a:tcPr>
                </a:tc>
                <a:tc>
                  <a:txBody>
                    <a:bodyPr wrap="none"/>
                    <a:lstStyle/>
                    <a:p>
                      <a:pPr algn="l"/>
                      <a:r>
                        <a:rPr sz="800" b="1">
                          <a:solidFill>
                            <a:srgbClr val="A86F00"/>
                          </a:solidFill>
                          <a:latin typeface="Calibri"/>
                        </a:rPr>
                        <a:t>▶ 20.3%</a:t>
                      </a:r>
                    </a:p>
                  </a:txBody>
                  <a:tcPr marL="85725" marR="38100" marT="19050" marB="19050" anchor="ctr">
                    <a:solidFill>
                      <a:srgbClr val="F5F8FA"/>
                    </a:solidFill>
                  </a:tcPr>
                </a:tc>
                <a:tc>
                  <a:txBody>
                    <a:bodyPr wrap="none"/>
                    <a:lstStyle/>
                    <a:p>
                      <a:pPr algn="l"/>
                      <a:r>
                        <a:rPr sz="800" b="1">
                          <a:solidFill>
                            <a:srgbClr val="A86F00"/>
                          </a:solidFill>
                          <a:latin typeface="Calibri"/>
                        </a:rPr>
                        <a:t>▶ 18.1%</a:t>
                      </a:r>
                    </a:p>
                  </a:txBody>
                  <a:tcPr marL="85725" marR="38100" marT="19050" marB="19050" anchor="ctr">
                    <a:solidFill>
                      <a:srgbClr val="F5F8FA"/>
                    </a:solidFill>
                  </a:tcPr>
                </a:tc>
                <a:tc>
                  <a:txBody>
                    <a:bodyPr wrap="none"/>
                    <a:lstStyle/>
                    <a:p>
                      <a:pPr algn="l"/>
                      <a:r>
                        <a:rPr sz="800" b="1">
                          <a:solidFill>
                            <a:srgbClr val="A86F00"/>
                          </a:solidFill>
                          <a:latin typeface="Calibri"/>
                        </a:rPr>
                        <a:t>▶ 15.6%</a:t>
                      </a:r>
                    </a:p>
                  </a:txBody>
                  <a:tcPr marL="85725" marR="38100" marT="19050" marB="19050" anchor="ctr">
                    <a:solidFill>
                      <a:srgbClr val="F5F8FA"/>
                    </a:solidFill>
                  </a:tcPr>
                </a:tc>
                <a:tc>
                  <a:txBody>
                    <a:bodyPr wrap="none"/>
                    <a:lstStyle/>
                    <a:p>
                      <a:pPr algn="l"/>
                      <a:r>
                        <a:rPr sz="800" b="1">
                          <a:solidFill>
                            <a:srgbClr val="A86F00"/>
                          </a:solidFill>
                          <a:latin typeface="Calibri"/>
                        </a:rPr>
                        <a:t>▶ 14.0%</a:t>
                      </a:r>
                    </a:p>
                  </a:txBody>
                  <a:tcPr marL="85725" marR="38100" marT="19050" marB="19050" anchor="ctr">
                    <a:solidFill>
                      <a:srgbClr val="F5F8FA"/>
                    </a:solidFill>
                  </a:tcPr>
                </a:tc>
                <a:tc>
                  <a:txBody>
                    <a:bodyPr wrap="none"/>
                    <a:lstStyle/>
                    <a:p>
                      <a:pPr algn="l"/>
                      <a:r>
                        <a:rPr sz="800" b="1">
                          <a:solidFill>
                            <a:srgbClr val="A86F00"/>
                          </a:solidFill>
                          <a:latin typeface="Calibri"/>
                        </a:rPr>
                        <a:t>▶ 12.6%</a:t>
                      </a:r>
                    </a:p>
                  </a:txBody>
                  <a:tcPr marL="85725" marR="38100" marT="19050" marB="19050" anchor="ctr">
                    <a:solidFill>
                      <a:srgbClr val="F5F8FA"/>
                    </a:solidFill>
                  </a:tcPr>
                </a:tc>
                <a:tc>
                  <a:txBody>
                    <a:bodyPr wrap="none"/>
                    <a:lstStyle/>
                    <a:p>
                      <a:pPr algn="l"/>
                      <a:r>
                        <a:rPr sz="800" b="1">
                          <a:solidFill>
                            <a:srgbClr val="A86F00"/>
                          </a:solidFill>
                          <a:latin typeface="Calibri"/>
                        </a:rPr>
                        <a:t>▶ 11.4%</a:t>
                      </a:r>
                    </a:p>
                  </a:txBody>
                  <a:tcPr marL="85725" marR="38100" marT="19050" marB="19050" anchor="ctr">
                    <a:solidFill>
                      <a:srgbClr val="F5F8FA"/>
                    </a:solidFill>
                  </a:tcPr>
                </a:tc>
                <a:tc>
                  <a:txBody>
                    <a:bodyPr wrap="none"/>
                    <a:lstStyle/>
                    <a:p>
                      <a:pPr algn="l"/>
                      <a:r>
                        <a:rPr sz="800" b="1">
                          <a:solidFill>
                            <a:srgbClr val="A86F00"/>
                          </a:solidFill>
                          <a:latin typeface="Calibri"/>
                        </a:rPr>
                        <a:t>▶ 10.5%</a:t>
                      </a:r>
                    </a:p>
                  </a:txBody>
                  <a:tcPr marL="85725" marR="38100" marT="19050" marB="19050" anchor="ctr">
                    <a:solidFill>
                      <a:srgbClr val="F5F8FA"/>
                    </a:solidFill>
                  </a:tcPr>
                </a:tc>
                <a:tc>
                  <a:txBody>
                    <a:bodyPr wrap="none"/>
                    <a:lstStyle/>
                    <a:p>
                      <a:pPr algn="l"/>
                      <a:r>
                        <a:rPr sz="800" b="1">
                          <a:solidFill>
                            <a:srgbClr val="A86F00"/>
                          </a:solidFill>
                          <a:latin typeface="Calibri"/>
                        </a:rPr>
                        <a:t>▶ 9.6%</a:t>
                      </a:r>
                    </a:p>
                  </a:txBody>
                  <a:tcPr marL="85725" marR="38100" marT="19050" marB="19050" anchor="ctr">
                    <a:solidFill>
                      <a:srgbClr val="F5F8FA"/>
                    </a:solidFill>
                  </a:tcPr>
                </a:tc>
                <a:tc>
                  <a:txBody>
                    <a:bodyPr wrap="none"/>
                    <a:lstStyle/>
                    <a:p>
                      <a:pPr algn="l"/>
                      <a:r>
                        <a:rPr sz="800" b="1">
                          <a:solidFill>
                            <a:srgbClr val="A86F00"/>
                          </a:solidFill>
                          <a:latin typeface="Calibri"/>
                        </a:rPr>
                        <a:t>▶ 9.0%</a:t>
                      </a:r>
                    </a:p>
                  </a:txBody>
                  <a:tcPr marL="85725" marR="38100" marT="19050" marB="19050" anchor="ctr">
                    <a:solidFill>
                      <a:srgbClr val="F5F8FA"/>
                    </a:solidFill>
                  </a:tcPr>
                </a:tc>
                <a:tc>
                  <a:txBody>
                    <a:bodyPr wrap="none"/>
                    <a:lstStyle/>
                    <a:p>
                      <a:pPr algn="l"/>
                      <a:r>
                        <a:rPr sz="800" b="1">
                          <a:solidFill>
                            <a:srgbClr val="A86F00"/>
                          </a:solidFill>
                          <a:latin typeface="Calibri"/>
                        </a:rPr>
                        <a:t>▶ 8.4%</a:t>
                      </a:r>
                    </a:p>
                  </a:txBody>
                  <a:tcPr marL="85725" marR="38100" marT="19050" marB="19050" anchor="ctr">
                    <a:solidFill>
                      <a:srgbClr val="F5F8FA"/>
                    </a:solidFill>
                  </a:tcPr>
                </a:tc>
                <a:tc>
                  <a:txBody>
                    <a:bodyPr wrap="none"/>
                    <a:lstStyle/>
                    <a:p>
                      <a:pPr algn="l"/>
                      <a:r>
                        <a:rPr sz="800" b="1">
                          <a:solidFill>
                            <a:srgbClr val="A86F00"/>
                          </a:solidFill>
                          <a:latin typeface="Calibri"/>
                        </a:rPr>
                        <a:t>▶ 8.0%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Retail / Specialty Pharmacies</a:t>
                      </a:r>
                    </a:p>
                  </a:txBody>
                  <a:tcPr marL="85725" marR="38100" marT="19050" marB="19050" anchor="ctr">
                    <a:solidFill>
                      <a:srgbClr val="FFFFFF"/>
                    </a:solidFill>
                  </a:tcPr>
                </a:tc>
                <a:tc>
                  <a:txBody>
                    <a:bodyPr wrap="none"/>
                    <a:lstStyle/>
                    <a:p>
                      <a:pPr algn="l"/>
                      <a:r>
                        <a:rPr sz="800" b="1">
                          <a:solidFill>
                            <a:srgbClr val="2E7D32"/>
                          </a:solidFill>
                          <a:latin typeface="Calibri"/>
                        </a:rPr>
                        <a:t>▲ 17.2%</a:t>
                      </a:r>
                    </a:p>
                  </a:txBody>
                  <a:tcPr marL="85725" marR="38100" marT="19050" marB="19050" anchor="ctr">
                    <a:solidFill>
                      <a:srgbClr val="FFFFFF"/>
                    </a:solidFill>
                  </a:tcPr>
                </a:tc>
                <a:tc>
                  <a:txBody>
                    <a:bodyPr wrap="none"/>
                    <a:lstStyle/>
                    <a:p>
                      <a:pPr algn="l"/>
                      <a:r>
                        <a:rPr sz="800" b="1">
                          <a:solidFill>
                            <a:srgbClr val="2E7D32"/>
                          </a:solidFill>
                          <a:latin typeface="Calibri"/>
                        </a:rPr>
                        <a:t>▲ 24.3%</a:t>
                      </a:r>
                    </a:p>
                  </a:txBody>
                  <a:tcPr marL="85725" marR="38100" marT="19050" marB="19050" anchor="ctr">
                    <a:solidFill>
                      <a:srgbClr val="FFFFFF"/>
                    </a:solidFill>
                  </a:tcPr>
                </a:tc>
                <a:tc>
                  <a:txBody>
                    <a:bodyPr wrap="none"/>
                    <a:lstStyle/>
                    <a:p>
                      <a:pPr algn="l"/>
                      <a:r>
                        <a:rPr sz="800" b="1">
                          <a:solidFill>
                            <a:srgbClr val="2E7D32"/>
                          </a:solidFill>
                          <a:latin typeface="Calibri"/>
                        </a:rPr>
                        <a:t>▲ 28.3%</a:t>
                      </a:r>
                    </a:p>
                  </a:txBody>
                  <a:tcPr marL="85725" marR="38100" marT="19050" marB="19050" anchor="ctr">
                    <a:solidFill>
                      <a:srgbClr val="FFFFFF"/>
                    </a:solidFill>
                  </a:tcPr>
                </a:tc>
                <a:tc>
                  <a:txBody>
                    <a:bodyPr wrap="none"/>
                    <a:lstStyle/>
                    <a:p>
                      <a:pPr algn="l"/>
                      <a:r>
                        <a:rPr sz="800" b="1">
                          <a:solidFill>
                            <a:srgbClr val="2E7D32"/>
                          </a:solidFill>
                          <a:latin typeface="Calibri"/>
                        </a:rPr>
                        <a:t>▲ 25.6%</a:t>
                      </a:r>
                    </a:p>
                  </a:txBody>
                  <a:tcPr marL="85725" marR="38100" marT="19050" marB="19050" anchor="ctr">
                    <a:solidFill>
                      <a:srgbClr val="FFFFFF"/>
                    </a:solidFill>
                  </a:tcPr>
                </a:tc>
                <a:tc>
                  <a:txBody>
                    <a:bodyPr wrap="none"/>
                    <a:lstStyle/>
                    <a:p>
                      <a:pPr algn="l"/>
                      <a:r>
                        <a:rPr sz="800" b="1">
                          <a:solidFill>
                            <a:srgbClr val="2E7D32"/>
                          </a:solidFill>
                          <a:latin typeface="Calibri"/>
                        </a:rPr>
                        <a:t>▲ 21.8%</a:t>
                      </a:r>
                    </a:p>
                  </a:txBody>
                  <a:tcPr marL="85725" marR="38100" marT="19050" marB="19050" anchor="ctr">
                    <a:solidFill>
                      <a:srgbClr val="FFFFFF"/>
                    </a:solidFill>
                  </a:tcPr>
                </a:tc>
                <a:tc>
                  <a:txBody>
                    <a:bodyPr wrap="none"/>
                    <a:lstStyle/>
                    <a:p>
                      <a:pPr algn="l"/>
                      <a:r>
                        <a:rPr sz="800" b="1">
                          <a:solidFill>
                            <a:srgbClr val="2E7D32"/>
                          </a:solidFill>
                          <a:latin typeface="Calibri"/>
                        </a:rPr>
                        <a:t>▲ 19.6%</a:t>
                      </a:r>
                    </a:p>
                  </a:txBody>
                  <a:tcPr marL="85725" marR="38100" marT="19050" marB="19050" anchor="ctr">
                    <a:solidFill>
                      <a:srgbClr val="FFFFFF"/>
                    </a:solidFill>
                  </a:tcPr>
                </a:tc>
                <a:tc>
                  <a:txBody>
                    <a:bodyPr wrap="none"/>
                    <a:lstStyle/>
                    <a:p>
                      <a:pPr algn="l"/>
                      <a:r>
                        <a:rPr sz="800" b="1">
                          <a:solidFill>
                            <a:srgbClr val="2E7D32"/>
                          </a:solidFill>
                          <a:latin typeface="Calibri"/>
                        </a:rPr>
                        <a:t>▲ 17.1%</a:t>
                      </a:r>
                    </a:p>
                  </a:txBody>
                  <a:tcPr marL="85725" marR="38100" marT="19050" marB="19050" anchor="ctr">
                    <a:solidFill>
                      <a:srgbClr val="FFFFFF"/>
                    </a:solidFill>
                  </a:tcPr>
                </a:tc>
                <a:tc>
                  <a:txBody>
                    <a:bodyPr wrap="none"/>
                    <a:lstStyle/>
                    <a:p>
                      <a:pPr algn="l"/>
                      <a:r>
                        <a:rPr sz="800" b="1">
                          <a:solidFill>
                            <a:srgbClr val="2E7D32"/>
                          </a:solidFill>
                          <a:latin typeface="Calibri"/>
                        </a:rPr>
                        <a:t>▲ 15.4%</a:t>
                      </a:r>
                    </a:p>
                  </a:txBody>
                  <a:tcPr marL="85725" marR="38100" marT="19050" marB="19050" anchor="ctr">
                    <a:solidFill>
                      <a:srgbClr val="FFFFFF"/>
                    </a:solidFill>
                  </a:tcPr>
                </a:tc>
                <a:tc>
                  <a:txBody>
                    <a:bodyPr wrap="none"/>
                    <a:lstStyle/>
                    <a:p>
                      <a:pPr algn="l"/>
                      <a:r>
                        <a:rPr sz="800" b="1">
                          <a:solidFill>
                            <a:srgbClr val="2E7D32"/>
                          </a:solidFill>
                          <a:latin typeface="Calibri"/>
                        </a:rPr>
                        <a:t>▲ 14.1%</a:t>
                      </a:r>
                    </a:p>
                  </a:txBody>
                  <a:tcPr marL="85725" marR="38100" marT="19050" marB="19050" anchor="ctr">
                    <a:solidFill>
                      <a:srgbClr val="FFFFFF"/>
                    </a:solidFill>
                  </a:tcPr>
                </a:tc>
                <a:tc>
                  <a:txBody>
                    <a:bodyPr wrap="none"/>
                    <a:lstStyle/>
                    <a:p>
                      <a:pPr algn="l"/>
                      <a:r>
                        <a:rPr sz="800" b="1">
                          <a:solidFill>
                            <a:srgbClr val="2E7D32"/>
                          </a:solidFill>
                          <a:latin typeface="Calibri"/>
                        </a:rPr>
                        <a:t>▲ 12.9%</a:t>
                      </a:r>
                    </a:p>
                  </a:txBody>
                  <a:tcPr marL="85725" marR="38100" marT="19050" marB="19050" anchor="ctr">
                    <a:solidFill>
                      <a:srgbClr val="FFFFFF"/>
                    </a:solidFill>
                  </a:tcPr>
                </a:tc>
                <a:tc>
                  <a:txBody>
                    <a:bodyPr wrap="none"/>
                    <a:lstStyle/>
                    <a:p>
                      <a:pPr algn="l"/>
                      <a:r>
                        <a:rPr sz="800" b="1">
                          <a:solidFill>
                            <a:srgbClr val="2E7D32"/>
                          </a:solidFill>
                          <a:latin typeface="Calibri"/>
                        </a:rPr>
                        <a:t>▲ 11.9%</a:t>
                      </a:r>
                    </a:p>
                  </a:txBody>
                  <a:tcPr marL="85725" marR="38100" marT="19050" marB="19050" anchor="ctr">
                    <a:solidFill>
                      <a:srgbClr val="FFFFFF"/>
                    </a:solidFill>
                  </a:tcPr>
                </a:tc>
                <a:tc>
                  <a:txBody>
                    <a:bodyPr wrap="none"/>
                    <a:lstStyle/>
                    <a:p>
                      <a:pPr algn="l"/>
                      <a:r>
                        <a:rPr sz="800" b="1">
                          <a:solidFill>
                            <a:srgbClr val="2E7D32"/>
                          </a:solidFill>
                          <a:latin typeface="Calibri"/>
                        </a:rPr>
                        <a:t>▲ 11.1%</a:t>
                      </a:r>
                    </a:p>
                  </a:txBody>
                  <a:tcPr marL="85725" marR="38100" marT="19050" marB="19050" anchor="ctr">
                    <a:solidFill>
                      <a:srgbClr val="FFFFFF"/>
                    </a:solidFill>
                  </a:tcPr>
                </a:tc>
                <a:tc>
                  <a:txBody>
                    <a:bodyPr wrap="none"/>
                    <a:lstStyle/>
                    <a:p>
                      <a:pPr algn="l"/>
                      <a:r>
                        <a:rPr sz="800" b="1">
                          <a:solidFill>
                            <a:srgbClr val="2E7D32"/>
                          </a:solidFill>
                          <a:latin typeface="Calibri"/>
                        </a:rPr>
                        <a:t>▲ 10.4%</a:t>
                      </a:r>
                    </a:p>
                  </a:txBody>
                  <a:tcPr marL="85725" marR="38100" marT="19050" marB="19050" anchor="ctr">
                    <a:solidFill>
                      <a:srgbClr val="FFFFFF"/>
                    </a:solidFill>
                  </a:tcPr>
                </a:tc>
                <a:tc>
                  <a:txBody>
                    <a:bodyPr wrap="none"/>
                    <a:lstStyle/>
                    <a:p>
                      <a:pPr algn="l"/>
                      <a:r>
                        <a:rPr sz="800" b="1">
                          <a:solidFill>
                            <a:srgbClr val="2E7D32"/>
                          </a:solidFill>
                          <a:latin typeface="Calibri"/>
                        </a:rPr>
                        <a:t>▲ 9.9%</a:t>
                      </a:r>
                    </a:p>
                  </a:txBody>
                  <a:tcPr marL="85725" marR="38100" marT="19050" marB="19050" anchor="ctr">
                    <a:solidFill>
                      <a:srgbClr val="FFFFFF"/>
                    </a:solidFill>
                  </a:tcPr>
                </a:tc>
                <a:tc>
                  <a:txBody>
                    <a:bodyPr wrap="none"/>
                    <a:lstStyle/>
                    <a:p>
                      <a:pPr algn="l"/>
                      <a:r>
                        <a:rPr sz="800" b="1">
                          <a:solidFill>
                            <a:srgbClr val="2E7D32"/>
                          </a:solidFill>
                          <a:latin typeface="Calibri"/>
                        </a:rPr>
                        <a:t>▲ 9.5%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Institutional Buyers</a:t>
                      </a:r>
                    </a:p>
                  </a:txBody>
                  <a:tcPr marL="85725" marR="38100" marT="19050" marB="19050" anchor="ctr">
                    <a:solidFill>
                      <a:srgbClr val="F5F8FA"/>
                    </a:solidFill>
                  </a:tcPr>
                </a:tc>
                <a:tc>
                  <a:txBody>
                    <a:bodyPr wrap="none"/>
                    <a:lstStyle/>
                    <a:p>
                      <a:pPr algn="l"/>
                      <a:r>
                        <a:rPr sz="800" b="1">
                          <a:solidFill>
                            <a:srgbClr val="A86F00"/>
                          </a:solidFill>
                          <a:latin typeface="Calibri"/>
                        </a:rPr>
                        <a:t>▶ 17.0%</a:t>
                      </a:r>
                    </a:p>
                  </a:txBody>
                  <a:tcPr marL="85725" marR="38100" marT="19050" marB="19050" anchor="ctr">
                    <a:solidFill>
                      <a:srgbClr val="F5F8FA"/>
                    </a:solidFill>
                  </a:tcPr>
                </a:tc>
                <a:tc>
                  <a:txBody>
                    <a:bodyPr wrap="none"/>
                    <a:lstStyle/>
                    <a:p>
                      <a:pPr algn="l"/>
                      <a:r>
                        <a:rPr sz="800" b="1">
                          <a:solidFill>
                            <a:srgbClr val="A86F00"/>
                          </a:solidFill>
                          <a:latin typeface="Calibri"/>
                        </a:rPr>
                        <a:t>▶ 24.1%</a:t>
                      </a:r>
                    </a:p>
                  </a:txBody>
                  <a:tcPr marL="85725" marR="38100" marT="19050" marB="19050" anchor="ctr">
                    <a:solidFill>
                      <a:srgbClr val="F5F8FA"/>
                    </a:solidFill>
                  </a:tcPr>
                </a:tc>
                <a:tc>
                  <a:txBody>
                    <a:bodyPr wrap="none"/>
                    <a:lstStyle/>
                    <a:p>
                      <a:pPr algn="l"/>
                      <a:r>
                        <a:rPr sz="800" b="1">
                          <a:solidFill>
                            <a:srgbClr val="A86F00"/>
                          </a:solidFill>
                          <a:latin typeface="Calibri"/>
                        </a:rPr>
                        <a:t>▶ 28.0%</a:t>
                      </a:r>
                    </a:p>
                  </a:txBody>
                  <a:tcPr marL="85725" marR="38100" marT="19050" marB="19050" anchor="ctr">
                    <a:solidFill>
                      <a:srgbClr val="F5F8FA"/>
                    </a:solidFill>
                  </a:tcPr>
                </a:tc>
                <a:tc>
                  <a:txBody>
                    <a:bodyPr wrap="none"/>
                    <a:lstStyle/>
                    <a:p>
                      <a:pPr algn="l"/>
                      <a:r>
                        <a:rPr sz="800" b="1">
                          <a:solidFill>
                            <a:srgbClr val="A86F00"/>
                          </a:solidFill>
                          <a:latin typeface="Calibri"/>
                        </a:rPr>
                        <a:t>▶ 25.3%</a:t>
                      </a:r>
                    </a:p>
                  </a:txBody>
                  <a:tcPr marL="85725" marR="38100" marT="19050" marB="19050" anchor="ctr">
                    <a:solidFill>
                      <a:srgbClr val="F5F8FA"/>
                    </a:solidFill>
                  </a:tcPr>
                </a:tc>
                <a:tc>
                  <a:txBody>
                    <a:bodyPr wrap="none"/>
                    <a:lstStyle/>
                    <a:p>
                      <a:pPr algn="l"/>
                      <a:r>
                        <a:rPr sz="800" b="1">
                          <a:solidFill>
                            <a:srgbClr val="A86F00"/>
                          </a:solidFill>
                          <a:latin typeface="Calibri"/>
                        </a:rPr>
                        <a:t>▶ 21.5%</a:t>
                      </a:r>
                    </a:p>
                  </a:txBody>
                  <a:tcPr marL="85725" marR="38100" marT="19050" marB="19050" anchor="ctr">
                    <a:solidFill>
                      <a:srgbClr val="F5F8FA"/>
                    </a:solidFill>
                  </a:tcPr>
                </a:tc>
                <a:tc>
                  <a:txBody>
                    <a:bodyPr wrap="none"/>
                    <a:lstStyle/>
                    <a:p>
                      <a:pPr algn="l"/>
                      <a:r>
                        <a:rPr sz="800" b="1">
                          <a:solidFill>
                            <a:srgbClr val="A86F00"/>
                          </a:solidFill>
                          <a:latin typeface="Calibri"/>
                        </a:rPr>
                        <a:t>▶ 19.2%</a:t>
                      </a:r>
                    </a:p>
                  </a:txBody>
                  <a:tcPr marL="85725" marR="38100" marT="19050" marB="19050" anchor="ctr">
                    <a:solidFill>
                      <a:srgbClr val="F5F8FA"/>
                    </a:solidFill>
                  </a:tcPr>
                </a:tc>
                <a:tc>
                  <a:txBody>
                    <a:bodyPr wrap="none"/>
                    <a:lstStyle/>
                    <a:p>
                      <a:pPr algn="l"/>
                      <a:r>
                        <a:rPr sz="800" b="1">
                          <a:solidFill>
                            <a:srgbClr val="A86F00"/>
                          </a:solidFill>
                          <a:latin typeface="Calibri"/>
                        </a:rPr>
                        <a:t>▶ 16.8%</a:t>
                      </a:r>
                    </a:p>
                  </a:txBody>
                  <a:tcPr marL="85725" marR="38100" marT="19050" marB="19050" anchor="ctr">
                    <a:solidFill>
                      <a:srgbClr val="F5F8FA"/>
                    </a:solidFill>
                  </a:tcPr>
                </a:tc>
                <a:tc>
                  <a:txBody>
                    <a:bodyPr wrap="none"/>
                    <a:lstStyle/>
                    <a:p>
                      <a:pPr algn="l"/>
                      <a:r>
                        <a:rPr sz="800" b="1">
                          <a:solidFill>
                            <a:srgbClr val="A86F00"/>
                          </a:solidFill>
                          <a:latin typeface="Calibri"/>
                        </a:rPr>
                        <a:t>▶ 15.1%</a:t>
                      </a:r>
                    </a:p>
                  </a:txBody>
                  <a:tcPr marL="85725" marR="38100" marT="19050" marB="19050" anchor="ctr">
                    <a:solidFill>
                      <a:srgbClr val="F5F8FA"/>
                    </a:solidFill>
                  </a:tcPr>
                </a:tc>
                <a:tc>
                  <a:txBody>
                    <a:bodyPr wrap="none"/>
                    <a:lstStyle/>
                    <a:p>
                      <a:pPr algn="l"/>
                      <a:r>
                        <a:rPr sz="800" b="1">
                          <a:solidFill>
                            <a:srgbClr val="A86F00"/>
                          </a:solidFill>
                          <a:latin typeface="Calibri"/>
                        </a:rPr>
                        <a:t>▶ 13.7%</a:t>
                      </a:r>
                    </a:p>
                  </a:txBody>
                  <a:tcPr marL="85725" marR="38100" marT="19050" marB="19050" anchor="ctr">
                    <a:solidFill>
                      <a:srgbClr val="F5F8FA"/>
                    </a:solidFill>
                  </a:tcPr>
                </a:tc>
                <a:tc>
                  <a:txBody>
                    <a:bodyPr wrap="none"/>
                    <a:lstStyle/>
                    <a:p>
                      <a:pPr algn="l"/>
                      <a:r>
                        <a:rPr sz="800" b="1">
                          <a:solidFill>
                            <a:srgbClr val="A86F00"/>
                          </a:solidFill>
                          <a:latin typeface="Calibri"/>
                        </a:rPr>
                        <a:t>▶ 12.5%</a:t>
                      </a:r>
                    </a:p>
                  </a:txBody>
                  <a:tcPr marL="85725" marR="38100" marT="19050" marB="19050" anchor="ctr">
                    <a:solidFill>
                      <a:srgbClr val="F5F8FA"/>
                    </a:solidFill>
                  </a:tcPr>
                </a:tc>
                <a:tc>
                  <a:txBody>
                    <a:bodyPr wrap="none"/>
                    <a:lstStyle/>
                    <a:p>
                      <a:pPr algn="l"/>
                      <a:r>
                        <a:rPr sz="800" b="1">
                          <a:solidFill>
                            <a:srgbClr val="A86F00"/>
                          </a:solidFill>
                          <a:latin typeface="Calibri"/>
                        </a:rPr>
                        <a:t>▶ 11.6%</a:t>
                      </a:r>
                    </a:p>
                  </a:txBody>
                  <a:tcPr marL="85725" marR="38100" marT="19050" marB="19050" anchor="ctr">
                    <a:solidFill>
                      <a:srgbClr val="F5F8FA"/>
                    </a:solidFill>
                  </a:tcPr>
                </a:tc>
                <a:tc>
                  <a:txBody>
                    <a:bodyPr wrap="none"/>
                    <a:lstStyle/>
                    <a:p>
                      <a:pPr algn="l"/>
                      <a:r>
                        <a:rPr sz="800" b="1">
                          <a:solidFill>
                            <a:srgbClr val="A86F00"/>
                          </a:solidFill>
                          <a:latin typeface="Calibri"/>
                        </a:rPr>
                        <a:t>▶ 10.7%</a:t>
                      </a:r>
                    </a:p>
                  </a:txBody>
                  <a:tcPr marL="85725" marR="38100" marT="19050" marB="19050" anchor="ctr">
                    <a:solidFill>
                      <a:srgbClr val="F5F8FA"/>
                    </a:solidFill>
                  </a:tcPr>
                </a:tc>
                <a:tc>
                  <a:txBody>
                    <a:bodyPr wrap="none"/>
                    <a:lstStyle/>
                    <a:p>
                      <a:pPr algn="l"/>
                      <a:r>
                        <a:rPr sz="800" b="1">
                          <a:solidFill>
                            <a:srgbClr val="A86F00"/>
                          </a:solidFill>
                          <a:latin typeface="Calibri"/>
                        </a:rPr>
                        <a:t>▶ 10.1%</a:t>
                      </a:r>
                    </a:p>
                  </a:txBody>
                  <a:tcPr marL="85725" marR="38100" marT="19050" marB="19050" anchor="ctr">
                    <a:solidFill>
                      <a:srgbClr val="F5F8FA"/>
                    </a:solidFill>
                  </a:tcPr>
                </a:tc>
                <a:tc>
                  <a:txBody>
                    <a:bodyPr wrap="none"/>
                    <a:lstStyle/>
                    <a:p>
                      <a:pPr algn="l"/>
                      <a:r>
                        <a:rPr sz="800" b="1">
                          <a:solidFill>
                            <a:srgbClr val="A86F00"/>
                          </a:solidFill>
                          <a:latin typeface="Calibri"/>
                        </a:rPr>
                        <a:t>▶ 9.5%</a:t>
                      </a:r>
                    </a:p>
                  </a:txBody>
                  <a:tcPr marL="85725" marR="38100" marT="19050" marB="19050" anchor="ctr">
                    <a:solidFill>
                      <a:srgbClr val="F5F8FA"/>
                    </a:solidFill>
                  </a:tcPr>
                </a:tc>
                <a:tc>
                  <a:txBody>
                    <a:bodyPr wrap="none"/>
                    <a:lstStyle/>
                    <a:p>
                      <a:pPr algn="l"/>
                      <a:r>
                        <a:rPr sz="800" b="1">
                          <a:solidFill>
                            <a:srgbClr val="A86F00"/>
                          </a:solidFill>
                          <a:latin typeface="Calibri"/>
                        </a:rPr>
                        <a:t>▶ 9.1%</a:t>
                      </a:r>
                    </a:p>
                  </a:txBody>
                  <a:tcPr marL="85725" marR="38100" marT="19050" marB="19050" anchor="ctr">
                    <a:solidFill>
                      <a:srgbClr val="F5F8FA"/>
                    </a:solidFill>
                  </a:tcPr>
                </a:tc>
              </a:tr>
            </a:tbl>
          </a:graphicData>
        </a:graphic>
      </p:graphicFrame>
      <p:sp>
        <p:nvSpPr>
          <p:cNvPr id="14" name="TextBox 13"/>
          <p:cNvSpPr txBox="1"/>
          <p:nvPr/>
        </p:nvSpPr>
        <p:spPr>
          <a:xfrm>
            <a:off x="219075" y="31623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438525"/>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956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YoY Heatmap, By Buyer Type (%)  ·  light = lower, dark = higher growth</a:t>
            </a:r>
          </a:p>
        </p:txBody>
      </p:sp>
      <p:sp>
        <p:nvSpPr>
          <p:cNvPr id="17" name="TextBox 16"/>
          <p:cNvSpPr txBox="1"/>
          <p:nvPr/>
        </p:nvSpPr>
        <p:spPr>
          <a:xfrm>
            <a:off x="18573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8" name="TextBox 17"/>
          <p:cNvSpPr txBox="1"/>
          <p:nvPr/>
        </p:nvSpPr>
        <p:spPr>
          <a:xfrm>
            <a:off x="25012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19" name="TextBox 18"/>
          <p:cNvSpPr txBox="1"/>
          <p:nvPr/>
        </p:nvSpPr>
        <p:spPr>
          <a:xfrm>
            <a:off x="31451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0" name="TextBox 19"/>
          <p:cNvSpPr txBox="1"/>
          <p:nvPr/>
        </p:nvSpPr>
        <p:spPr>
          <a:xfrm>
            <a:off x="37890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1" name="TextBox 20"/>
          <p:cNvSpPr txBox="1"/>
          <p:nvPr/>
        </p:nvSpPr>
        <p:spPr>
          <a:xfrm>
            <a:off x="44329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2" name="TextBox 21"/>
          <p:cNvSpPr txBox="1"/>
          <p:nvPr/>
        </p:nvSpPr>
        <p:spPr>
          <a:xfrm>
            <a:off x="507682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3" name="TextBox 22"/>
          <p:cNvSpPr txBox="1"/>
          <p:nvPr/>
        </p:nvSpPr>
        <p:spPr>
          <a:xfrm>
            <a:off x="572071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4" name="TextBox 23"/>
          <p:cNvSpPr txBox="1"/>
          <p:nvPr/>
        </p:nvSpPr>
        <p:spPr>
          <a:xfrm>
            <a:off x="636460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5" name="TextBox 24"/>
          <p:cNvSpPr txBox="1"/>
          <p:nvPr/>
        </p:nvSpPr>
        <p:spPr>
          <a:xfrm>
            <a:off x="700849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6" name="TextBox 25"/>
          <p:cNvSpPr txBox="1"/>
          <p:nvPr/>
        </p:nvSpPr>
        <p:spPr>
          <a:xfrm>
            <a:off x="765238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7" name="TextBox 26"/>
          <p:cNvSpPr txBox="1"/>
          <p:nvPr/>
        </p:nvSpPr>
        <p:spPr>
          <a:xfrm>
            <a:off x="82962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8" name="TextBox 27"/>
          <p:cNvSpPr txBox="1"/>
          <p:nvPr/>
        </p:nvSpPr>
        <p:spPr>
          <a:xfrm>
            <a:off x="89401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29" name="TextBox 28"/>
          <p:cNvSpPr txBox="1"/>
          <p:nvPr/>
        </p:nvSpPr>
        <p:spPr>
          <a:xfrm>
            <a:off x="95840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0" name="TextBox 29"/>
          <p:cNvSpPr txBox="1"/>
          <p:nvPr/>
        </p:nvSpPr>
        <p:spPr>
          <a:xfrm>
            <a:off x="102279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1" name="TextBox 30"/>
          <p:cNvSpPr txBox="1"/>
          <p:nvPr/>
        </p:nvSpPr>
        <p:spPr>
          <a:xfrm>
            <a:off x="108718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2" name="TextBox 31"/>
          <p:cNvSpPr txBox="1"/>
          <p:nvPr/>
        </p:nvSpPr>
        <p:spPr>
          <a:xfrm>
            <a:off x="238125" y="3867150"/>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Hospitals</a:t>
            </a:r>
          </a:p>
        </p:txBody>
      </p:sp>
      <p:sp>
        <p:nvSpPr>
          <p:cNvPr id="33" name="Rectangle 32"/>
          <p:cNvSpPr/>
          <p:nvPr/>
        </p:nvSpPr>
        <p:spPr>
          <a:xfrm>
            <a:off x="1857375" y="3867150"/>
            <a:ext cx="643890" cy="700088"/>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01265" y="3867150"/>
            <a:ext cx="643890" cy="700088"/>
          </a:xfrm>
          <a:prstGeom prst="rect">
            <a:avLst/>
          </a:prstGeom>
          <a:solidFill>
            <a:srgbClr val="1A79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45155" y="3867150"/>
            <a:ext cx="643890" cy="70008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89045" y="3867150"/>
            <a:ext cx="643890" cy="700088"/>
          </a:xfrm>
          <a:prstGeom prst="rect">
            <a:avLst/>
          </a:prstGeom>
          <a:solidFill>
            <a:srgbClr val="0E6BA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32935" y="3867150"/>
            <a:ext cx="643890" cy="700088"/>
          </a:xfrm>
          <a:prstGeom prst="rect">
            <a:avLst/>
          </a:prstGeom>
          <a:solidFill>
            <a:srgbClr val="3D8E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6825" y="3867150"/>
            <a:ext cx="643890" cy="700088"/>
          </a:xfrm>
          <a:prstGeom prst="rect">
            <a:avLst/>
          </a:prstGeom>
          <a:solidFill>
            <a:srgbClr val="6A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20715" y="3867150"/>
            <a:ext cx="643890" cy="700088"/>
          </a:xfrm>
          <a:prstGeom prst="rect">
            <a:avLst/>
          </a:prstGeom>
          <a:solidFill>
            <a:srgbClr val="97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64605" y="3867150"/>
            <a:ext cx="643890" cy="700088"/>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08495" y="3867150"/>
            <a:ext cx="643890" cy="700088"/>
          </a:xfrm>
          <a:prstGeom prst="rect">
            <a:avLst/>
          </a:prstGeom>
          <a:solidFill>
            <a:srgbClr val="C1D7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52385" y="3867150"/>
            <a:ext cx="643890" cy="700088"/>
          </a:xfrm>
          <a:prstGeom prst="rect">
            <a:avLst/>
          </a:prstGeom>
          <a:solidFill>
            <a:srgbClr val="CFE0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96275" y="3867150"/>
            <a:ext cx="643890" cy="700088"/>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40165" y="3867150"/>
            <a:ext cx="643890" cy="700088"/>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84055" y="3867150"/>
            <a:ext cx="643890" cy="700088"/>
          </a:xfrm>
          <a:prstGeom prst="rect">
            <a:avLst/>
          </a:prstGeom>
          <a:solidFill>
            <a:srgbClr val="E2EF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27945" y="3867150"/>
            <a:ext cx="643890" cy="700088"/>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71835" y="3867150"/>
            <a:ext cx="643890" cy="700088"/>
          </a:xfrm>
          <a:prstGeom prst="rect">
            <a:avLst/>
          </a:prstGeom>
          <a:solidFill>
            <a:srgbClr val="E9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8125" y="4567238"/>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Specialty Clinics</a:t>
            </a:r>
          </a:p>
        </p:txBody>
      </p:sp>
      <p:sp>
        <p:nvSpPr>
          <p:cNvPr id="49" name="Rectangle 48"/>
          <p:cNvSpPr/>
          <p:nvPr/>
        </p:nvSpPr>
        <p:spPr>
          <a:xfrm>
            <a:off x="1857375" y="4567238"/>
            <a:ext cx="643890" cy="700088"/>
          </a:xfrm>
          <a:prstGeom prst="rect">
            <a:avLst/>
          </a:prstGeom>
          <a:solidFill>
            <a:srgbClr val="C2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01265" y="4567238"/>
            <a:ext cx="643890" cy="700088"/>
          </a:xfrm>
          <a:prstGeom prst="rect">
            <a:avLst/>
          </a:prstGeom>
          <a:solidFill>
            <a:srgbClr val="4E98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45155" y="4567238"/>
            <a:ext cx="643890" cy="700088"/>
          </a:xfrm>
          <a:prstGeom prst="rect">
            <a:avLst/>
          </a:prstGeom>
          <a:solidFill>
            <a:srgbClr val="14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789045" y="4567238"/>
            <a:ext cx="643890" cy="700088"/>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32935" y="4567238"/>
            <a:ext cx="643890" cy="700088"/>
          </a:xfrm>
          <a:prstGeom prst="rect">
            <a:avLst/>
          </a:prstGeom>
          <a:solidFill>
            <a:srgbClr val="82B4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76825" y="4567238"/>
            <a:ext cx="643890" cy="700088"/>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720715" y="4567238"/>
            <a:ext cx="643890" cy="700088"/>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64605" y="4567238"/>
            <a:ext cx="643890" cy="700088"/>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08495" y="4567238"/>
            <a:ext cx="643890" cy="700088"/>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652385" y="4567238"/>
            <a:ext cx="643890" cy="700088"/>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96275" y="4567238"/>
            <a:ext cx="643890" cy="700088"/>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40165" y="4567238"/>
            <a:ext cx="643890" cy="700088"/>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584055" y="4567238"/>
            <a:ext cx="643890" cy="700088"/>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27945" y="4567238"/>
            <a:ext cx="643890" cy="700088"/>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871835" y="4567238"/>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38125" y="5267325"/>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Retail / Specialty Pharmacies</a:t>
            </a:r>
          </a:p>
        </p:txBody>
      </p:sp>
      <p:sp>
        <p:nvSpPr>
          <p:cNvPr id="65" name="Rectangle 64"/>
          <p:cNvSpPr/>
          <p:nvPr/>
        </p:nvSpPr>
        <p:spPr>
          <a:xfrm>
            <a:off x="1857375" y="5267325"/>
            <a:ext cx="643890" cy="700088"/>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501265" y="5267325"/>
            <a:ext cx="643890" cy="700088"/>
          </a:xfrm>
          <a:prstGeom prst="rect">
            <a:avLst/>
          </a:prstGeom>
          <a:solidFill>
            <a:srgbClr val="34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145155" y="5267325"/>
            <a:ext cx="643890" cy="700088"/>
          </a:xfrm>
          <a:prstGeom prst="rect">
            <a:avLst/>
          </a:prstGeom>
          <a:solidFill>
            <a:srgbClr val="0D5A8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789045" y="5267325"/>
            <a:ext cx="643890" cy="700088"/>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432935" y="5267325"/>
            <a:ext cx="643890" cy="700088"/>
          </a:xfrm>
          <a:prstGeom prst="rect">
            <a:avLst/>
          </a:prstGeom>
          <a:solidFill>
            <a:srgbClr val="63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076825" y="5267325"/>
            <a:ext cx="643890" cy="700088"/>
          </a:xfrm>
          <a:prstGeom prst="rect">
            <a:avLst/>
          </a:prstGeom>
          <a:solidFill>
            <a:srgbClr val="90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720715" y="5267325"/>
            <a:ext cx="643890" cy="700088"/>
          </a:xfrm>
          <a:prstGeom prst="rect">
            <a:avLst/>
          </a:prstGeom>
          <a:solidFill>
            <a:srgbClr val="B0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364605" y="5267325"/>
            <a:ext cx="643890" cy="700088"/>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008495" y="5267325"/>
            <a:ext cx="643890" cy="700088"/>
          </a:xfrm>
          <a:prstGeom prst="rect">
            <a:avLst/>
          </a:prstGeom>
          <a:solidFill>
            <a:srgbClr val="D3E4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652385" y="5267325"/>
            <a:ext cx="643890" cy="700088"/>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296275" y="5267325"/>
            <a:ext cx="643890" cy="700088"/>
          </a:xfrm>
          <a:prstGeom prst="rect">
            <a:avLst/>
          </a:prstGeom>
          <a:solidFill>
            <a:srgbClr val="E4F1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940165" y="5267325"/>
            <a:ext cx="643890" cy="700088"/>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584055" y="5267325"/>
            <a:ext cx="643890" cy="700088"/>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227945" y="5267325"/>
            <a:ext cx="643890" cy="700088"/>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871835" y="5267325"/>
            <a:ext cx="643890" cy="700088"/>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8125" y="5967412"/>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Institutional Buyers</a:t>
            </a:r>
          </a:p>
        </p:txBody>
      </p:sp>
      <p:sp>
        <p:nvSpPr>
          <p:cNvPr id="81" name="Rectangle 80"/>
          <p:cNvSpPr/>
          <p:nvPr/>
        </p:nvSpPr>
        <p:spPr>
          <a:xfrm>
            <a:off x="1857375" y="5967412"/>
            <a:ext cx="643890" cy="700088"/>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501265" y="5967412"/>
            <a:ext cx="643890" cy="700088"/>
          </a:xfrm>
          <a:prstGeom prst="rect">
            <a:avLst/>
          </a:prstGeom>
          <a:solidFill>
            <a:srgbClr val="38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145155" y="5967412"/>
            <a:ext cx="643890" cy="700088"/>
          </a:xfrm>
          <a:prstGeom prst="rect">
            <a:avLst/>
          </a:prstGeom>
          <a:solidFill>
            <a:srgbClr val="0D619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789045" y="5967412"/>
            <a:ext cx="643890" cy="700088"/>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432935" y="5967412"/>
            <a:ext cx="643890" cy="700088"/>
          </a:xfrm>
          <a:prstGeom prst="rect">
            <a:avLst/>
          </a:prstGeom>
          <a:solidFill>
            <a:srgbClr val="6A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076825" y="5967412"/>
            <a:ext cx="643890" cy="700088"/>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720715" y="5967412"/>
            <a:ext cx="643890" cy="700088"/>
          </a:xfrm>
          <a:prstGeom prst="rect">
            <a:avLst/>
          </a:prstGeom>
          <a:solidFill>
            <a:srgbClr val="B5D0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364605" y="5967412"/>
            <a:ext cx="643890" cy="700088"/>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008495" y="5967412"/>
            <a:ext cx="643890" cy="700088"/>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652385" y="5967412"/>
            <a:ext cx="643890" cy="700088"/>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296275" y="5967412"/>
            <a:ext cx="643890" cy="700088"/>
          </a:xfrm>
          <a:prstGeom prst="rect">
            <a:avLst/>
          </a:prstGeom>
          <a:solidFill>
            <a:srgbClr val="E6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940165" y="5967412"/>
            <a:ext cx="643890" cy="700088"/>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584055" y="5967412"/>
            <a:ext cx="643890" cy="700088"/>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227945" y="5967412"/>
            <a:ext cx="643890" cy="700088"/>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871835" y="5967412"/>
            <a:ext cx="643890" cy="700088"/>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1572875" y="3905250"/>
            <a:ext cx="104775" cy="7572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973354"/>
            <a:ext cx="104775" cy="75724"/>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4041458"/>
            <a:ext cx="104775" cy="75724"/>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4109561"/>
            <a:ext cx="104775" cy="75724"/>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4177665"/>
            <a:ext cx="104775" cy="75724"/>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4245769"/>
            <a:ext cx="104775" cy="75724"/>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4313872"/>
            <a:ext cx="104775" cy="75724"/>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4381976"/>
            <a:ext cx="104775" cy="75724"/>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4450080"/>
            <a:ext cx="104775" cy="75724"/>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4518184"/>
            <a:ext cx="104775" cy="75724"/>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4586288"/>
            <a:ext cx="104775" cy="75724"/>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654391"/>
            <a:ext cx="104775" cy="75724"/>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722495"/>
            <a:ext cx="104775" cy="75724"/>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790599"/>
            <a:ext cx="104775" cy="75724"/>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858702"/>
            <a:ext cx="104775" cy="75724"/>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926806"/>
            <a:ext cx="104775" cy="75724"/>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994910"/>
            <a:ext cx="104775" cy="75724"/>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5063014"/>
            <a:ext cx="104775" cy="75724"/>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5131118"/>
            <a:ext cx="104775" cy="75724"/>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5199221"/>
            <a:ext cx="104775" cy="75724"/>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5267325"/>
            <a:ext cx="104775" cy="75724"/>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5335429"/>
            <a:ext cx="104775" cy="75724"/>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5403532"/>
            <a:ext cx="104775" cy="75724"/>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471636"/>
            <a:ext cx="104775" cy="75724"/>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539740"/>
            <a:ext cx="104775" cy="75724"/>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607844"/>
            <a:ext cx="104775" cy="75724"/>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675948"/>
            <a:ext cx="104775" cy="75724"/>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744051"/>
            <a:ext cx="104775" cy="75724"/>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812155"/>
            <a:ext cx="104775" cy="75724"/>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880259"/>
            <a:ext cx="104775" cy="75724"/>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948362"/>
            <a:ext cx="104775" cy="75724"/>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6016466"/>
            <a:ext cx="104775" cy="75724"/>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6084570"/>
            <a:ext cx="104775" cy="75724"/>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6152674"/>
            <a:ext cx="104775" cy="75724"/>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220778"/>
            <a:ext cx="104775" cy="75724"/>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288881"/>
            <a:ext cx="104775" cy="75724"/>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356985"/>
            <a:ext cx="104775" cy="75724"/>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425089"/>
            <a:ext cx="104775" cy="75724"/>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493192"/>
            <a:ext cx="104775" cy="75724"/>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561296"/>
            <a:ext cx="104775" cy="75724"/>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3905250"/>
            <a:ext cx="104775" cy="27241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1687175" y="3838575"/>
            <a:ext cx="276225" cy="133350"/>
          </a:xfrm>
          <a:prstGeom prst="rect">
            <a:avLst/>
          </a:prstGeom>
          <a:noFill/>
        </p:spPr>
        <p:txBody>
          <a:bodyPr wrap="none" lIns="0" rIns="0" tIns="0" bIns="0" anchor="ctr">
            <a:spAutoFit/>
          </a:bodyPr>
          <a:lstStyle/>
          <a:p>
            <a:pPr algn="l"/>
            <a:r>
              <a:rPr sz="700" b="0">
                <a:solidFill>
                  <a:srgbClr val="6C7A89"/>
                </a:solidFill>
                <a:latin typeface="Calibri"/>
              </a:rPr>
              <a:t>30%</a:t>
            </a:r>
          </a:p>
        </p:txBody>
      </p:sp>
      <p:sp>
        <p:nvSpPr>
          <p:cNvPr id="138" name="TextBox 137"/>
          <p:cNvSpPr txBox="1"/>
          <p:nvPr/>
        </p:nvSpPr>
        <p:spPr>
          <a:xfrm>
            <a:off x="11687175" y="5200650"/>
            <a:ext cx="276225" cy="133350"/>
          </a:xfrm>
          <a:prstGeom prst="rect">
            <a:avLst/>
          </a:prstGeom>
          <a:noFill/>
        </p:spPr>
        <p:txBody>
          <a:bodyPr wrap="none" lIns="0" rIns="0" tIns="0" bIns="0" anchor="ctr">
            <a:spAutoFit/>
          </a:bodyPr>
          <a:lstStyle/>
          <a:p>
            <a:pPr algn="l"/>
            <a:r>
              <a:rPr sz="700" b="0">
                <a:solidFill>
                  <a:srgbClr val="6C7A89"/>
                </a:solidFill>
                <a:latin typeface="Calibri"/>
              </a:rPr>
              <a:t>19%</a:t>
            </a:r>
          </a:p>
        </p:txBody>
      </p:sp>
      <p:sp>
        <p:nvSpPr>
          <p:cNvPr id="139" name="TextBox 138"/>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140" name="Rectangle 13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2" name="Rounded Rectangle 14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3" name="Rounded Rectangle 14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4" name="Rounded Rectangle 14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Value, By Buyer Type (%)</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447925"/>
          </a:xfrm>
          <a:prstGeom prst="roundRect">
            <a:avLst>
              <a:gd name="adj" fmla="val 31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YoY Growth, By Buyer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Buyer Type</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Hospitals</a:t>
                      </a:r>
                    </a:p>
                  </a:txBody>
                  <a:tcPr marL="85725" marR="38100" marT="19050" marB="19050" anchor="ctr">
                    <a:solidFill>
                      <a:srgbClr val="FFFFFF"/>
                    </a:solidFill>
                  </a:tcPr>
                </a:tc>
                <a:tc>
                  <a:txBody>
                    <a:bodyPr wrap="none"/>
                    <a:lstStyle/>
                    <a:p>
                      <a:pPr algn="l"/>
                      <a:r>
                        <a:rPr sz="800" b="1">
                          <a:solidFill>
                            <a:srgbClr val="2E7D32"/>
                          </a:solidFill>
                          <a:latin typeface="Calibri"/>
                        </a:rPr>
                        <a:t>▲ 14.7%</a:t>
                      </a:r>
                    </a:p>
                  </a:txBody>
                  <a:tcPr marL="85725" marR="38100" marT="19050" marB="19050" anchor="ctr">
                    <a:solidFill>
                      <a:srgbClr val="FFFFFF"/>
                    </a:solidFill>
                  </a:tcPr>
                </a:tc>
                <a:tc>
                  <a:txBody>
                    <a:bodyPr wrap="none"/>
                    <a:lstStyle/>
                    <a:p>
                      <a:pPr algn="l"/>
                      <a:r>
                        <a:rPr sz="800" b="1">
                          <a:solidFill>
                            <a:srgbClr val="2E7D32"/>
                          </a:solidFill>
                          <a:latin typeface="Calibri"/>
                        </a:rPr>
                        <a:t>▲ 21.6%</a:t>
                      </a:r>
                    </a:p>
                  </a:txBody>
                  <a:tcPr marL="85725" marR="38100" marT="19050" marB="19050" anchor="ctr">
                    <a:solidFill>
                      <a:srgbClr val="FFFFFF"/>
                    </a:solidFill>
                  </a:tcPr>
                </a:tc>
                <a:tc>
                  <a:txBody>
                    <a:bodyPr wrap="none"/>
                    <a:lstStyle/>
                    <a:p>
                      <a:pPr algn="l"/>
                      <a:r>
                        <a:rPr sz="800" b="1">
                          <a:solidFill>
                            <a:srgbClr val="2E7D32"/>
                          </a:solidFill>
                          <a:latin typeface="Calibri"/>
                        </a:rPr>
                        <a:t>▲ 25.5%</a:t>
                      </a:r>
                    </a:p>
                  </a:txBody>
                  <a:tcPr marL="85725" marR="38100" marT="19050" marB="19050" anchor="ctr">
                    <a:solidFill>
                      <a:srgbClr val="FFFFFF"/>
                    </a:solidFill>
                  </a:tcPr>
                </a:tc>
                <a:tc>
                  <a:txBody>
                    <a:bodyPr wrap="none"/>
                    <a:lstStyle/>
                    <a:p>
                      <a:pPr algn="l"/>
                      <a:r>
                        <a:rPr sz="800" b="1">
                          <a:solidFill>
                            <a:srgbClr val="2E7D32"/>
                          </a:solidFill>
                          <a:latin typeface="Calibri"/>
                        </a:rPr>
                        <a:t>▲ 22.8%</a:t>
                      </a:r>
                    </a:p>
                  </a:txBody>
                  <a:tcPr marL="85725" marR="38100" marT="19050" marB="19050" anchor="ctr">
                    <a:solidFill>
                      <a:srgbClr val="FFFFFF"/>
                    </a:solidFill>
                  </a:tcPr>
                </a:tc>
                <a:tc>
                  <a:txBody>
                    <a:bodyPr wrap="none"/>
                    <a:lstStyle/>
                    <a:p>
                      <a:pPr algn="l"/>
                      <a:r>
                        <a:rPr sz="800" b="1">
                          <a:solidFill>
                            <a:srgbClr val="2E7D32"/>
                          </a:solidFill>
                          <a:latin typeface="Calibri"/>
                        </a:rPr>
                        <a:t>▲ 19.1%</a:t>
                      </a:r>
                    </a:p>
                  </a:txBody>
                  <a:tcPr marL="85725" marR="38100" marT="19050" marB="19050" anchor="ctr">
                    <a:solidFill>
                      <a:srgbClr val="FFFFFF"/>
                    </a:solidFill>
                  </a:tcPr>
                </a:tc>
                <a:tc>
                  <a:txBody>
                    <a:bodyPr wrap="none"/>
                    <a:lstStyle/>
                    <a:p>
                      <a:pPr algn="l"/>
                      <a:r>
                        <a:rPr sz="800" b="1">
                          <a:solidFill>
                            <a:srgbClr val="2E7D32"/>
                          </a:solidFill>
                          <a:latin typeface="Calibri"/>
                        </a:rPr>
                        <a:t>▲ 16.9%</a:t>
                      </a:r>
                    </a:p>
                  </a:txBody>
                  <a:tcPr marL="85725" marR="38100" marT="19050" marB="19050" anchor="ctr">
                    <a:solidFill>
                      <a:srgbClr val="FFFFFF"/>
                    </a:solidFill>
                  </a:tcPr>
                </a:tc>
                <a:tc>
                  <a:txBody>
                    <a:bodyPr wrap="none"/>
                    <a:lstStyle/>
                    <a:p>
                      <a:pPr algn="l"/>
                      <a:r>
                        <a:rPr sz="800" b="1">
                          <a:solidFill>
                            <a:srgbClr val="2E7D32"/>
                          </a:solidFill>
                          <a:latin typeface="Calibri"/>
                        </a:rPr>
                        <a:t>▲ 14.5%</a:t>
                      </a:r>
                    </a:p>
                  </a:txBody>
                  <a:tcPr marL="85725" marR="38100" marT="19050" marB="19050" anchor="ctr">
                    <a:solidFill>
                      <a:srgbClr val="FFFFFF"/>
                    </a:solidFill>
                  </a:tcPr>
                </a:tc>
                <a:tc>
                  <a:txBody>
                    <a:bodyPr wrap="none"/>
                    <a:lstStyle/>
                    <a:p>
                      <a:pPr algn="l"/>
                      <a:r>
                        <a:rPr sz="800" b="1">
                          <a:solidFill>
                            <a:srgbClr val="2E7D32"/>
                          </a:solidFill>
                          <a:latin typeface="Calibri"/>
                        </a:rPr>
                        <a:t>▲ 12.8%</a:t>
                      </a:r>
                    </a:p>
                  </a:txBody>
                  <a:tcPr marL="85725" marR="38100" marT="19050" marB="19050" anchor="ctr">
                    <a:solidFill>
                      <a:srgbClr val="FFFFFF"/>
                    </a:solidFill>
                  </a:tcPr>
                </a:tc>
                <a:tc>
                  <a:txBody>
                    <a:bodyPr wrap="none"/>
                    <a:lstStyle/>
                    <a:p>
                      <a:pPr algn="l"/>
                      <a:r>
                        <a:rPr sz="800" b="1">
                          <a:solidFill>
                            <a:srgbClr val="2E7D32"/>
                          </a:solidFill>
                          <a:latin typeface="Calibri"/>
                        </a:rPr>
                        <a:t>▲ 11.5%</a:t>
                      </a:r>
                    </a:p>
                  </a:txBody>
                  <a:tcPr marL="85725" marR="38100" marT="19050" marB="19050" anchor="ctr">
                    <a:solidFill>
                      <a:srgbClr val="FFFFFF"/>
                    </a:solidFill>
                  </a:tcPr>
                </a:tc>
                <a:tc>
                  <a:txBody>
                    <a:bodyPr wrap="none"/>
                    <a:lstStyle/>
                    <a:p>
                      <a:pPr algn="l"/>
                      <a:r>
                        <a:rPr sz="800" b="1">
                          <a:solidFill>
                            <a:srgbClr val="2E7D32"/>
                          </a:solidFill>
                          <a:latin typeface="Calibri"/>
                        </a:rPr>
                        <a:t>▲ 10.3%</a:t>
                      </a:r>
                    </a:p>
                  </a:txBody>
                  <a:tcPr marL="85725" marR="38100" marT="19050" marB="19050" anchor="ctr">
                    <a:solidFill>
                      <a:srgbClr val="FFFFFF"/>
                    </a:solidFill>
                  </a:tcPr>
                </a:tc>
                <a:tc>
                  <a:txBody>
                    <a:bodyPr wrap="none"/>
                    <a:lstStyle/>
                    <a:p>
                      <a:pPr algn="l"/>
                      <a:r>
                        <a:rPr sz="800" b="1">
                          <a:solidFill>
                            <a:srgbClr val="2E7D32"/>
                          </a:solidFill>
                          <a:latin typeface="Calibri"/>
                        </a:rPr>
                        <a:t>▲ 9.4%</a:t>
                      </a:r>
                    </a:p>
                  </a:txBody>
                  <a:tcPr marL="85725" marR="38100" marT="19050" marB="19050" anchor="ctr">
                    <a:solidFill>
                      <a:srgbClr val="FFFFFF"/>
                    </a:solidFill>
                  </a:tcPr>
                </a:tc>
                <a:tc>
                  <a:txBody>
                    <a:bodyPr wrap="none"/>
                    <a:lstStyle/>
                    <a:p>
                      <a:pPr algn="l"/>
                      <a:r>
                        <a:rPr sz="800" b="1">
                          <a:solidFill>
                            <a:srgbClr val="2E7D32"/>
                          </a:solidFill>
                          <a:latin typeface="Calibri"/>
                        </a:rPr>
                        <a:t>▲ 8.5%</a:t>
                      </a:r>
                    </a:p>
                  </a:txBody>
                  <a:tcPr marL="85725" marR="38100" marT="19050" marB="19050" anchor="ctr">
                    <a:solidFill>
                      <a:srgbClr val="FFFFFF"/>
                    </a:solidFill>
                  </a:tcPr>
                </a:tc>
                <a:tc>
                  <a:txBody>
                    <a:bodyPr wrap="none"/>
                    <a:lstStyle/>
                    <a:p>
                      <a:pPr algn="l"/>
                      <a:r>
                        <a:rPr sz="800" b="1">
                          <a:solidFill>
                            <a:srgbClr val="2E7D32"/>
                          </a:solidFill>
                          <a:latin typeface="Calibri"/>
                        </a:rPr>
                        <a:t>▲ 7.9%</a:t>
                      </a:r>
                    </a:p>
                  </a:txBody>
                  <a:tcPr marL="85725" marR="38100" marT="19050" marB="19050" anchor="ctr">
                    <a:solidFill>
                      <a:srgbClr val="FFFFFF"/>
                    </a:solidFill>
                  </a:tcPr>
                </a:tc>
                <a:tc>
                  <a:txBody>
                    <a:bodyPr wrap="none"/>
                    <a:lstStyle/>
                    <a:p>
                      <a:pPr algn="l"/>
                      <a:r>
                        <a:rPr sz="800" b="1">
                          <a:solidFill>
                            <a:srgbClr val="2E7D32"/>
                          </a:solidFill>
                          <a:latin typeface="Calibri"/>
                        </a:rPr>
                        <a:t>▲ 7.3%</a:t>
                      </a:r>
                    </a:p>
                  </a:txBody>
                  <a:tcPr marL="85725" marR="38100" marT="19050" marB="19050" anchor="ctr">
                    <a:solidFill>
                      <a:srgbClr val="FFFFFF"/>
                    </a:solidFill>
                  </a:tcPr>
                </a:tc>
                <a:tc>
                  <a:txBody>
                    <a:bodyPr wrap="none"/>
                    <a:lstStyle/>
                    <a:p>
                      <a:pPr algn="l"/>
                      <a:r>
                        <a:rPr sz="800" b="1">
                          <a:solidFill>
                            <a:srgbClr val="2E7D32"/>
                          </a:solidFill>
                          <a:latin typeface="Calibri"/>
                        </a:rPr>
                        <a:t>▲ 6.9%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Specialty Clinics</a:t>
                      </a:r>
                    </a:p>
                  </a:txBody>
                  <a:tcPr marL="85725" marR="38100" marT="19050" marB="19050" anchor="ctr">
                    <a:solidFill>
                      <a:srgbClr val="F5F8FA"/>
                    </a:solidFill>
                  </a:tcPr>
                </a:tc>
                <a:tc>
                  <a:txBody>
                    <a:bodyPr wrap="none"/>
                    <a:lstStyle/>
                    <a:p>
                      <a:pPr algn="l"/>
                      <a:r>
                        <a:rPr sz="800" b="1">
                          <a:solidFill>
                            <a:srgbClr val="A86F00"/>
                          </a:solidFill>
                          <a:latin typeface="Calibri"/>
                        </a:rPr>
                        <a:t>▶ 11.3%</a:t>
                      </a:r>
                    </a:p>
                  </a:txBody>
                  <a:tcPr marL="85725" marR="38100" marT="19050" marB="19050" anchor="ctr">
                    <a:solidFill>
                      <a:srgbClr val="F5F8FA"/>
                    </a:solidFill>
                  </a:tcPr>
                </a:tc>
                <a:tc>
                  <a:txBody>
                    <a:bodyPr wrap="none"/>
                    <a:lstStyle/>
                    <a:p>
                      <a:pPr algn="l"/>
                      <a:r>
                        <a:rPr sz="800" b="1">
                          <a:solidFill>
                            <a:srgbClr val="A86F00"/>
                          </a:solidFill>
                          <a:latin typeface="Calibri"/>
                        </a:rPr>
                        <a:t>▶ 18.1%</a:t>
                      </a:r>
                    </a:p>
                  </a:txBody>
                  <a:tcPr marL="85725" marR="38100" marT="19050" marB="19050" anchor="ctr">
                    <a:solidFill>
                      <a:srgbClr val="F5F8FA"/>
                    </a:solidFill>
                  </a:tcPr>
                </a:tc>
                <a:tc>
                  <a:txBody>
                    <a:bodyPr wrap="none"/>
                    <a:lstStyle/>
                    <a:p>
                      <a:pPr algn="l"/>
                      <a:r>
                        <a:rPr sz="800" b="1">
                          <a:solidFill>
                            <a:srgbClr val="A86F00"/>
                          </a:solidFill>
                          <a:latin typeface="Calibri"/>
                        </a:rPr>
                        <a:t>▶ 21.8%</a:t>
                      </a:r>
                    </a:p>
                  </a:txBody>
                  <a:tcPr marL="85725" marR="38100" marT="19050" marB="19050" anchor="ctr">
                    <a:solidFill>
                      <a:srgbClr val="F5F8FA"/>
                    </a:solidFill>
                  </a:tcPr>
                </a:tc>
                <a:tc>
                  <a:txBody>
                    <a:bodyPr wrap="none"/>
                    <a:lstStyle/>
                    <a:p>
                      <a:pPr algn="l"/>
                      <a:r>
                        <a:rPr sz="800" b="1">
                          <a:solidFill>
                            <a:srgbClr val="A86F00"/>
                          </a:solidFill>
                          <a:latin typeface="Calibri"/>
                        </a:rPr>
                        <a:t>▶ 19.2%</a:t>
                      </a:r>
                    </a:p>
                  </a:txBody>
                  <a:tcPr marL="85725" marR="38100" marT="19050" marB="19050" anchor="ctr">
                    <a:solidFill>
                      <a:srgbClr val="F5F8FA"/>
                    </a:solidFill>
                  </a:tcPr>
                </a:tc>
                <a:tc>
                  <a:txBody>
                    <a:bodyPr wrap="none"/>
                    <a:lstStyle/>
                    <a:p>
                      <a:pPr algn="l"/>
                      <a:r>
                        <a:rPr sz="800" b="1">
                          <a:solidFill>
                            <a:srgbClr val="A86F00"/>
                          </a:solidFill>
                          <a:latin typeface="Calibri"/>
                        </a:rPr>
                        <a:t>▶ 15.6%</a:t>
                      </a:r>
                    </a:p>
                  </a:txBody>
                  <a:tcPr marL="85725" marR="38100" marT="19050" marB="19050" anchor="ctr">
                    <a:solidFill>
                      <a:srgbClr val="F5F8FA"/>
                    </a:solidFill>
                  </a:tcPr>
                </a:tc>
                <a:tc>
                  <a:txBody>
                    <a:bodyPr wrap="none"/>
                    <a:lstStyle/>
                    <a:p>
                      <a:pPr algn="l"/>
                      <a:r>
                        <a:rPr sz="800" b="1">
                          <a:solidFill>
                            <a:srgbClr val="A86F00"/>
                          </a:solidFill>
                          <a:latin typeface="Calibri"/>
                        </a:rPr>
                        <a:t>▶ 13.5%</a:t>
                      </a:r>
                    </a:p>
                  </a:txBody>
                  <a:tcPr marL="85725" marR="38100" marT="19050" marB="19050" anchor="ctr">
                    <a:solidFill>
                      <a:srgbClr val="F5F8FA"/>
                    </a:solidFill>
                  </a:tcPr>
                </a:tc>
                <a:tc>
                  <a:txBody>
                    <a:bodyPr wrap="none"/>
                    <a:lstStyle/>
                    <a:p>
                      <a:pPr algn="l"/>
                      <a:r>
                        <a:rPr sz="800" b="1">
                          <a:solidFill>
                            <a:srgbClr val="A86F00"/>
                          </a:solidFill>
                          <a:latin typeface="Calibri"/>
                        </a:rPr>
                        <a:t>▶ 11.2%</a:t>
                      </a:r>
                    </a:p>
                  </a:txBody>
                  <a:tcPr marL="85725" marR="38100" marT="19050" marB="19050" anchor="ctr">
                    <a:solidFill>
                      <a:srgbClr val="F5F8FA"/>
                    </a:solidFill>
                  </a:tcPr>
                </a:tc>
                <a:tc>
                  <a:txBody>
                    <a:bodyPr wrap="none"/>
                    <a:lstStyle/>
                    <a:p>
                      <a:pPr algn="l"/>
                      <a:r>
                        <a:rPr sz="800" b="1">
                          <a:solidFill>
                            <a:srgbClr val="A86F00"/>
                          </a:solidFill>
                          <a:latin typeface="Calibri"/>
                        </a:rPr>
                        <a:t>▶ 9.6%</a:t>
                      </a:r>
                    </a:p>
                  </a:txBody>
                  <a:tcPr marL="85725" marR="38100" marT="19050" marB="19050" anchor="ctr">
                    <a:solidFill>
                      <a:srgbClr val="F5F8FA"/>
                    </a:solidFill>
                  </a:tcPr>
                </a:tc>
                <a:tc>
                  <a:txBody>
                    <a:bodyPr wrap="none"/>
                    <a:lstStyle/>
                    <a:p>
                      <a:pPr algn="l"/>
                      <a:r>
                        <a:rPr sz="800" b="1">
                          <a:solidFill>
                            <a:srgbClr val="A86F00"/>
                          </a:solidFill>
                          <a:latin typeface="Calibri"/>
                        </a:rPr>
                        <a:t>▶ 8.3%</a:t>
                      </a:r>
                    </a:p>
                  </a:txBody>
                  <a:tcPr marL="85725" marR="38100" marT="19050" marB="19050" anchor="ctr">
                    <a:solidFill>
                      <a:srgbClr val="F5F8FA"/>
                    </a:solidFill>
                  </a:tcPr>
                </a:tc>
                <a:tc>
                  <a:txBody>
                    <a:bodyPr wrap="none"/>
                    <a:lstStyle/>
                    <a:p>
                      <a:pPr algn="l"/>
                      <a:r>
                        <a:rPr sz="800" b="1">
                          <a:solidFill>
                            <a:srgbClr val="A86F00"/>
                          </a:solidFill>
                          <a:latin typeface="Calibri"/>
                        </a:rPr>
                        <a:t>▶ 7.1%</a:t>
                      </a:r>
                    </a:p>
                  </a:txBody>
                  <a:tcPr marL="85725" marR="38100" marT="19050" marB="19050" anchor="ctr">
                    <a:solidFill>
                      <a:srgbClr val="F5F8FA"/>
                    </a:solidFill>
                  </a:tcPr>
                </a:tc>
                <a:tc>
                  <a:txBody>
                    <a:bodyPr wrap="none"/>
                    <a:lstStyle/>
                    <a:p>
                      <a:pPr algn="l"/>
                      <a:r>
                        <a:rPr sz="800" b="1">
                          <a:solidFill>
                            <a:srgbClr val="A86F00"/>
                          </a:solidFill>
                          <a:latin typeface="Calibri"/>
                        </a:rPr>
                        <a:t>▶ 6.2%</a:t>
                      </a:r>
                    </a:p>
                  </a:txBody>
                  <a:tcPr marL="85725" marR="38100" marT="19050" marB="19050" anchor="ctr">
                    <a:solidFill>
                      <a:srgbClr val="F5F8FA"/>
                    </a:solidFill>
                  </a:tcPr>
                </a:tc>
                <a:tc>
                  <a:txBody>
                    <a:bodyPr wrap="none"/>
                    <a:lstStyle/>
                    <a:p>
                      <a:pPr algn="l"/>
                      <a:r>
                        <a:rPr sz="800" b="1">
                          <a:solidFill>
                            <a:srgbClr val="A86F00"/>
                          </a:solidFill>
                          <a:latin typeface="Calibri"/>
                        </a:rPr>
                        <a:t>▶ 5.4%</a:t>
                      </a:r>
                    </a:p>
                  </a:txBody>
                  <a:tcPr marL="85725" marR="38100" marT="19050" marB="19050" anchor="ctr">
                    <a:solidFill>
                      <a:srgbClr val="F5F8FA"/>
                    </a:solidFill>
                  </a:tcPr>
                </a:tc>
                <a:tc>
                  <a:txBody>
                    <a:bodyPr wrap="none"/>
                    <a:lstStyle/>
                    <a:p>
                      <a:pPr algn="l"/>
                      <a:r>
                        <a:rPr sz="800" b="1">
                          <a:solidFill>
                            <a:srgbClr val="A86F00"/>
                          </a:solidFill>
                          <a:latin typeface="Calibri"/>
                        </a:rPr>
                        <a:t>▶ 4.8%</a:t>
                      </a:r>
                    </a:p>
                  </a:txBody>
                  <a:tcPr marL="85725" marR="38100" marT="19050" marB="19050" anchor="ctr">
                    <a:solidFill>
                      <a:srgbClr val="F5F8FA"/>
                    </a:solidFill>
                  </a:tcPr>
                </a:tc>
                <a:tc>
                  <a:txBody>
                    <a:bodyPr wrap="none"/>
                    <a:lstStyle/>
                    <a:p>
                      <a:pPr algn="l"/>
                      <a:r>
                        <a:rPr sz="800" b="1">
                          <a:solidFill>
                            <a:srgbClr val="A86F00"/>
                          </a:solidFill>
                          <a:latin typeface="Calibri"/>
                        </a:rPr>
                        <a:t>▶ 4.3%</a:t>
                      </a:r>
                    </a:p>
                  </a:txBody>
                  <a:tcPr marL="85725" marR="38100" marT="19050" marB="19050" anchor="ctr">
                    <a:solidFill>
                      <a:srgbClr val="F5F8FA"/>
                    </a:solidFill>
                  </a:tcPr>
                </a:tc>
                <a:tc>
                  <a:txBody>
                    <a:bodyPr wrap="none"/>
                    <a:lstStyle/>
                    <a:p>
                      <a:pPr algn="l"/>
                      <a:r>
                        <a:rPr sz="800" b="1">
                          <a:solidFill>
                            <a:srgbClr val="A86F00"/>
                          </a:solidFill>
                          <a:latin typeface="Calibri"/>
                        </a:rPr>
                        <a:t>▶ 3.8%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Retail / Specialty Pharmacies</a:t>
                      </a:r>
                    </a:p>
                  </a:txBody>
                  <a:tcPr marL="85725" marR="38100" marT="19050" marB="19050" anchor="ctr">
                    <a:solidFill>
                      <a:srgbClr val="FFFFFF"/>
                    </a:solidFill>
                  </a:tcPr>
                </a:tc>
                <a:tc>
                  <a:txBody>
                    <a:bodyPr wrap="none"/>
                    <a:lstStyle/>
                    <a:p>
                      <a:pPr algn="l"/>
                      <a:r>
                        <a:rPr sz="800" b="1">
                          <a:solidFill>
                            <a:srgbClr val="A86F00"/>
                          </a:solidFill>
                          <a:latin typeface="Calibri"/>
                        </a:rPr>
                        <a:t>▶ 11.9%</a:t>
                      </a:r>
                    </a:p>
                  </a:txBody>
                  <a:tcPr marL="85725" marR="38100" marT="19050" marB="19050" anchor="ctr">
                    <a:solidFill>
                      <a:srgbClr val="FFFFFF"/>
                    </a:solidFill>
                  </a:tcPr>
                </a:tc>
                <a:tc>
                  <a:txBody>
                    <a:bodyPr wrap="none"/>
                    <a:lstStyle/>
                    <a:p>
                      <a:pPr algn="l"/>
                      <a:r>
                        <a:rPr sz="800" b="1">
                          <a:solidFill>
                            <a:srgbClr val="A86F00"/>
                          </a:solidFill>
                          <a:latin typeface="Calibri"/>
                        </a:rPr>
                        <a:t>▶ 18.7%</a:t>
                      </a:r>
                    </a:p>
                  </a:txBody>
                  <a:tcPr marL="85725" marR="38100" marT="19050" marB="19050" anchor="ctr">
                    <a:solidFill>
                      <a:srgbClr val="FFFFFF"/>
                    </a:solidFill>
                  </a:tcPr>
                </a:tc>
                <a:tc>
                  <a:txBody>
                    <a:bodyPr wrap="none"/>
                    <a:lstStyle/>
                    <a:p>
                      <a:pPr algn="l"/>
                      <a:r>
                        <a:rPr sz="800" b="1">
                          <a:solidFill>
                            <a:srgbClr val="A86F00"/>
                          </a:solidFill>
                          <a:latin typeface="Calibri"/>
                        </a:rPr>
                        <a:t>▶ 22.5%</a:t>
                      </a:r>
                    </a:p>
                  </a:txBody>
                  <a:tcPr marL="85725" marR="38100" marT="19050" marB="19050" anchor="ctr">
                    <a:solidFill>
                      <a:srgbClr val="FFFFFF"/>
                    </a:solidFill>
                  </a:tcPr>
                </a:tc>
                <a:tc>
                  <a:txBody>
                    <a:bodyPr wrap="none"/>
                    <a:lstStyle/>
                    <a:p>
                      <a:pPr algn="l"/>
                      <a:r>
                        <a:rPr sz="800" b="1">
                          <a:solidFill>
                            <a:srgbClr val="A86F00"/>
                          </a:solidFill>
                          <a:latin typeface="Calibri"/>
                        </a:rPr>
                        <a:t>▶ 19.9%</a:t>
                      </a:r>
                    </a:p>
                  </a:txBody>
                  <a:tcPr marL="85725" marR="38100" marT="19050" marB="19050" anchor="ctr">
                    <a:solidFill>
                      <a:srgbClr val="FFFFFF"/>
                    </a:solidFill>
                  </a:tcPr>
                </a:tc>
                <a:tc>
                  <a:txBody>
                    <a:bodyPr wrap="none"/>
                    <a:lstStyle/>
                    <a:p>
                      <a:pPr algn="l"/>
                      <a:r>
                        <a:rPr sz="800" b="1">
                          <a:solidFill>
                            <a:srgbClr val="A86F00"/>
                          </a:solidFill>
                          <a:latin typeface="Calibri"/>
                        </a:rPr>
                        <a:t>▶ 16.3%</a:t>
                      </a:r>
                    </a:p>
                  </a:txBody>
                  <a:tcPr marL="85725" marR="38100" marT="19050" marB="19050" anchor="ctr">
                    <a:solidFill>
                      <a:srgbClr val="FFFFFF"/>
                    </a:solidFill>
                  </a:tcPr>
                </a:tc>
                <a:tc>
                  <a:txBody>
                    <a:bodyPr wrap="none"/>
                    <a:lstStyle/>
                    <a:p>
                      <a:pPr algn="l"/>
                      <a:r>
                        <a:rPr sz="800" b="1">
                          <a:solidFill>
                            <a:srgbClr val="A86F00"/>
                          </a:solidFill>
                          <a:latin typeface="Calibri"/>
                        </a:rPr>
                        <a:t>▶ 14.1%</a:t>
                      </a:r>
                    </a:p>
                  </a:txBody>
                  <a:tcPr marL="85725" marR="38100" marT="19050" marB="19050" anchor="ctr">
                    <a:solidFill>
                      <a:srgbClr val="FFFFFF"/>
                    </a:solidFill>
                  </a:tcPr>
                </a:tc>
                <a:tc>
                  <a:txBody>
                    <a:bodyPr wrap="none"/>
                    <a:lstStyle/>
                    <a:p>
                      <a:pPr algn="l"/>
                      <a:r>
                        <a:rPr sz="800" b="1">
                          <a:solidFill>
                            <a:srgbClr val="A86F00"/>
                          </a:solidFill>
                          <a:latin typeface="Calibri"/>
                        </a:rPr>
                        <a:t>▶ 11.8%</a:t>
                      </a:r>
                    </a:p>
                  </a:txBody>
                  <a:tcPr marL="85725" marR="38100" marT="19050" marB="19050" anchor="ctr">
                    <a:solidFill>
                      <a:srgbClr val="FFFFFF"/>
                    </a:solidFill>
                  </a:tcPr>
                </a:tc>
                <a:tc>
                  <a:txBody>
                    <a:bodyPr wrap="none"/>
                    <a:lstStyle/>
                    <a:p>
                      <a:pPr algn="l"/>
                      <a:r>
                        <a:rPr sz="800" b="1">
                          <a:solidFill>
                            <a:srgbClr val="A86F00"/>
                          </a:solidFill>
                          <a:latin typeface="Calibri"/>
                        </a:rPr>
                        <a:t>▶ 10.2%</a:t>
                      </a:r>
                    </a:p>
                  </a:txBody>
                  <a:tcPr marL="85725" marR="38100" marT="19050" marB="19050" anchor="ctr">
                    <a:solidFill>
                      <a:srgbClr val="FFFFFF"/>
                    </a:solidFill>
                  </a:tcPr>
                </a:tc>
                <a:tc>
                  <a:txBody>
                    <a:bodyPr wrap="none"/>
                    <a:lstStyle/>
                    <a:p>
                      <a:pPr algn="l"/>
                      <a:r>
                        <a:rPr sz="800" b="1">
                          <a:solidFill>
                            <a:srgbClr val="A86F00"/>
                          </a:solidFill>
                          <a:latin typeface="Calibri"/>
                        </a:rPr>
                        <a:t>▶ 8.9%</a:t>
                      </a:r>
                    </a:p>
                  </a:txBody>
                  <a:tcPr marL="85725" marR="38100" marT="19050" marB="19050" anchor="ctr">
                    <a:solidFill>
                      <a:srgbClr val="FFFFFF"/>
                    </a:solidFill>
                  </a:tcPr>
                </a:tc>
                <a:tc>
                  <a:txBody>
                    <a:bodyPr wrap="none"/>
                    <a:lstStyle/>
                    <a:p>
                      <a:pPr algn="l"/>
                      <a:r>
                        <a:rPr sz="800" b="1">
                          <a:solidFill>
                            <a:srgbClr val="A86F00"/>
                          </a:solidFill>
                          <a:latin typeface="Calibri"/>
                        </a:rPr>
                        <a:t>▶ 7.8%</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6.1%</a:t>
                      </a:r>
                    </a:p>
                  </a:txBody>
                  <a:tcPr marL="85725" marR="38100" marT="19050" marB="19050" anchor="ctr">
                    <a:solidFill>
                      <a:srgbClr val="FFFFFF"/>
                    </a:solidFill>
                  </a:tcPr>
                </a:tc>
                <a:tc>
                  <a:txBody>
                    <a:bodyPr wrap="none"/>
                    <a:lstStyle/>
                    <a:p>
                      <a:pPr algn="l"/>
                      <a:r>
                        <a:rPr sz="800" b="1">
                          <a:solidFill>
                            <a:srgbClr val="A86F00"/>
                          </a:solidFill>
                          <a:latin typeface="Calibri"/>
                        </a:rPr>
                        <a:t>▶ 5.5%</a:t>
                      </a:r>
                    </a:p>
                  </a:txBody>
                  <a:tcPr marL="85725" marR="38100" marT="19050" marB="19050" anchor="ctr">
                    <a:solidFill>
                      <a:srgbClr val="FFFFFF"/>
                    </a:solidFill>
                  </a:tcPr>
                </a:tc>
                <a:tc>
                  <a:txBody>
                    <a:bodyPr wrap="none"/>
                    <a:lstStyle/>
                    <a:p>
                      <a:pPr algn="l"/>
                      <a:r>
                        <a:rPr sz="800" b="1">
                          <a:solidFill>
                            <a:srgbClr val="A86F00"/>
                          </a:solidFill>
                          <a:latin typeface="Calibri"/>
                        </a:rPr>
                        <a:t>▶ 4.9%</a:t>
                      </a:r>
                    </a:p>
                  </a:txBody>
                  <a:tcPr marL="85725" marR="38100" marT="19050" marB="19050" anchor="ctr">
                    <a:solidFill>
                      <a:srgbClr val="FFFFFF"/>
                    </a:solidFill>
                  </a:tcPr>
                </a:tc>
                <a:tc>
                  <a:txBody>
                    <a:bodyPr wrap="none"/>
                    <a:lstStyle/>
                    <a:p>
                      <a:pPr algn="l"/>
                      <a:r>
                        <a:rPr sz="800" b="1">
                          <a:solidFill>
                            <a:srgbClr val="A86F00"/>
                          </a:solidFill>
                          <a:latin typeface="Calibri"/>
                        </a:rPr>
                        <a:t>▶ 4.5%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Institutional Buyers</a:t>
                      </a:r>
                    </a:p>
                  </a:txBody>
                  <a:tcPr marL="85725" marR="38100" marT="19050" marB="19050" anchor="ctr">
                    <a:solidFill>
                      <a:srgbClr val="F5F8FA"/>
                    </a:solidFill>
                  </a:tcPr>
                </a:tc>
                <a:tc>
                  <a:txBody>
                    <a:bodyPr wrap="none"/>
                    <a:lstStyle/>
                    <a:p>
                      <a:pPr algn="l"/>
                      <a:r>
                        <a:rPr sz="800" b="1">
                          <a:solidFill>
                            <a:srgbClr val="2E7D32"/>
                          </a:solidFill>
                          <a:latin typeface="Calibri"/>
                        </a:rPr>
                        <a:t>▲ 12.5%</a:t>
                      </a:r>
                    </a:p>
                  </a:txBody>
                  <a:tcPr marL="85725" marR="38100" marT="19050" marB="19050" anchor="ctr">
                    <a:solidFill>
                      <a:srgbClr val="F5F8FA"/>
                    </a:solidFill>
                  </a:tcPr>
                </a:tc>
                <a:tc>
                  <a:txBody>
                    <a:bodyPr wrap="none"/>
                    <a:lstStyle/>
                    <a:p>
                      <a:pPr algn="l"/>
                      <a:r>
                        <a:rPr sz="800" b="1">
                          <a:solidFill>
                            <a:srgbClr val="2E7D32"/>
                          </a:solidFill>
                          <a:latin typeface="Calibri"/>
                        </a:rPr>
                        <a:t>▲ 19.3%</a:t>
                      </a:r>
                    </a:p>
                  </a:txBody>
                  <a:tcPr marL="85725" marR="38100" marT="19050" marB="19050" anchor="ctr">
                    <a:solidFill>
                      <a:srgbClr val="F5F8FA"/>
                    </a:solidFill>
                  </a:tcPr>
                </a:tc>
                <a:tc>
                  <a:txBody>
                    <a:bodyPr wrap="none"/>
                    <a:lstStyle/>
                    <a:p>
                      <a:pPr algn="l"/>
                      <a:r>
                        <a:rPr sz="800" b="1">
                          <a:solidFill>
                            <a:srgbClr val="2E7D32"/>
                          </a:solidFill>
                          <a:latin typeface="Calibri"/>
                        </a:rPr>
                        <a:t>▲ 23.1%</a:t>
                      </a:r>
                    </a:p>
                  </a:txBody>
                  <a:tcPr marL="85725" marR="38100" marT="19050" marB="19050" anchor="ctr">
                    <a:solidFill>
                      <a:srgbClr val="F5F8FA"/>
                    </a:solidFill>
                  </a:tcPr>
                </a:tc>
                <a:tc>
                  <a:txBody>
                    <a:bodyPr wrap="none"/>
                    <a:lstStyle/>
                    <a:p>
                      <a:pPr algn="l"/>
                      <a:r>
                        <a:rPr sz="800" b="1">
                          <a:solidFill>
                            <a:srgbClr val="2E7D32"/>
                          </a:solidFill>
                          <a:latin typeface="Calibri"/>
                        </a:rPr>
                        <a:t>▲ 20.5%</a:t>
                      </a:r>
                    </a:p>
                  </a:txBody>
                  <a:tcPr marL="85725" marR="38100" marT="19050" marB="19050" anchor="ctr">
                    <a:solidFill>
                      <a:srgbClr val="F5F8FA"/>
                    </a:solidFill>
                  </a:tcPr>
                </a:tc>
                <a:tc>
                  <a:txBody>
                    <a:bodyPr wrap="none"/>
                    <a:lstStyle/>
                    <a:p>
                      <a:pPr algn="l"/>
                      <a:r>
                        <a:rPr sz="800" b="1">
                          <a:solidFill>
                            <a:srgbClr val="2E7D32"/>
                          </a:solidFill>
                          <a:latin typeface="Calibri"/>
                        </a:rPr>
                        <a:t>▲ 16.9%</a:t>
                      </a:r>
                    </a:p>
                  </a:txBody>
                  <a:tcPr marL="85725" marR="38100" marT="19050" marB="19050" anchor="ctr">
                    <a:solidFill>
                      <a:srgbClr val="F5F8FA"/>
                    </a:solidFill>
                  </a:tcPr>
                </a:tc>
                <a:tc>
                  <a:txBody>
                    <a:bodyPr wrap="none"/>
                    <a:lstStyle/>
                    <a:p>
                      <a:pPr algn="l"/>
                      <a:r>
                        <a:rPr sz="800" b="1">
                          <a:solidFill>
                            <a:srgbClr val="2E7D32"/>
                          </a:solidFill>
                          <a:latin typeface="Calibri"/>
                        </a:rPr>
                        <a:t>▲ 14.8%</a:t>
                      </a:r>
                    </a:p>
                  </a:txBody>
                  <a:tcPr marL="85725" marR="38100" marT="19050" marB="19050" anchor="ctr">
                    <a:solidFill>
                      <a:srgbClr val="F5F8FA"/>
                    </a:solidFill>
                  </a:tcPr>
                </a:tc>
                <a:tc>
                  <a:txBody>
                    <a:bodyPr wrap="none"/>
                    <a:lstStyle/>
                    <a:p>
                      <a:pPr algn="l"/>
                      <a:r>
                        <a:rPr sz="800" b="1">
                          <a:solidFill>
                            <a:srgbClr val="2E7D32"/>
                          </a:solidFill>
                          <a:latin typeface="Calibri"/>
                        </a:rPr>
                        <a:t>▲ 12.4%</a:t>
                      </a:r>
                    </a:p>
                  </a:txBody>
                  <a:tcPr marL="85725" marR="38100" marT="19050" marB="19050" anchor="ctr">
                    <a:solidFill>
                      <a:srgbClr val="F5F8FA"/>
                    </a:solidFill>
                  </a:tcPr>
                </a:tc>
                <a:tc>
                  <a:txBody>
                    <a:bodyPr wrap="none"/>
                    <a:lstStyle/>
                    <a:p>
                      <a:pPr algn="l"/>
                      <a:r>
                        <a:rPr sz="800" b="1">
                          <a:solidFill>
                            <a:srgbClr val="2E7D32"/>
                          </a:solidFill>
                          <a:latin typeface="Calibri"/>
                        </a:rPr>
                        <a:t>▲ 10.8%</a:t>
                      </a:r>
                    </a:p>
                  </a:txBody>
                  <a:tcPr marL="85725" marR="38100" marT="19050" marB="19050" anchor="ctr">
                    <a:solidFill>
                      <a:srgbClr val="F5F8FA"/>
                    </a:solidFill>
                  </a:tcPr>
                </a:tc>
                <a:tc>
                  <a:txBody>
                    <a:bodyPr wrap="none"/>
                    <a:lstStyle/>
                    <a:p>
                      <a:pPr algn="l"/>
                      <a:r>
                        <a:rPr sz="800" b="1">
                          <a:solidFill>
                            <a:srgbClr val="2E7D32"/>
                          </a:solidFill>
                          <a:latin typeface="Calibri"/>
                        </a:rPr>
                        <a:t>▲ 9.5%</a:t>
                      </a:r>
                    </a:p>
                  </a:txBody>
                  <a:tcPr marL="85725" marR="38100" marT="19050" marB="19050" anchor="ctr">
                    <a:solidFill>
                      <a:srgbClr val="F5F8FA"/>
                    </a:solidFill>
                  </a:tcPr>
                </a:tc>
                <a:tc>
                  <a:txBody>
                    <a:bodyPr wrap="none"/>
                    <a:lstStyle/>
                    <a:p>
                      <a:pPr algn="l"/>
                      <a:r>
                        <a:rPr sz="800" b="1">
                          <a:solidFill>
                            <a:srgbClr val="2E7D32"/>
                          </a:solidFill>
                          <a:latin typeface="Calibri"/>
                        </a:rPr>
                        <a:t>▲ 8.4%</a:t>
                      </a:r>
                    </a:p>
                  </a:txBody>
                  <a:tcPr marL="85725" marR="38100" marT="19050" marB="19050" anchor="ctr">
                    <a:solidFill>
                      <a:srgbClr val="F5F8FA"/>
                    </a:solidFill>
                  </a:tcPr>
                </a:tc>
                <a:tc>
                  <a:txBody>
                    <a:bodyPr wrap="none"/>
                    <a:lstStyle/>
                    <a:p>
                      <a:pPr algn="l"/>
                      <a:r>
                        <a:rPr sz="800" b="1">
                          <a:solidFill>
                            <a:srgbClr val="2E7D32"/>
                          </a:solidFill>
                          <a:latin typeface="Calibri"/>
                        </a:rPr>
                        <a:t>▲ 7.4%</a:t>
                      </a:r>
                    </a:p>
                  </a:txBody>
                  <a:tcPr marL="85725" marR="38100" marT="19050" marB="19050" anchor="ctr">
                    <a:solidFill>
                      <a:srgbClr val="F5F8FA"/>
                    </a:solidFill>
                  </a:tcPr>
                </a:tc>
                <a:tc>
                  <a:txBody>
                    <a:bodyPr wrap="none"/>
                    <a:lstStyle/>
                    <a:p>
                      <a:pPr algn="l"/>
                      <a:r>
                        <a:rPr sz="800" b="1">
                          <a:solidFill>
                            <a:srgbClr val="2E7D32"/>
                          </a:solidFill>
                          <a:latin typeface="Calibri"/>
                        </a:rPr>
                        <a:t>▲ 6.6%</a:t>
                      </a:r>
                    </a:p>
                  </a:txBody>
                  <a:tcPr marL="85725" marR="38100" marT="19050" marB="19050" anchor="ctr">
                    <a:solidFill>
                      <a:srgbClr val="F5F8FA"/>
                    </a:solidFill>
                  </a:tcPr>
                </a:tc>
                <a:tc>
                  <a:txBody>
                    <a:bodyPr wrap="none"/>
                    <a:lstStyle/>
                    <a:p>
                      <a:pPr algn="l"/>
                      <a:r>
                        <a:rPr sz="800" b="1">
                          <a:solidFill>
                            <a:srgbClr val="2E7D32"/>
                          </a:solidFill>
                          <a:latin typeface="Calibri"/>
                        </a:rPr>
                        <a:t>▲ 6.0%</a:t>
                      </a:r>
                    </a:p>
                  </a:txBody>
                  <a:tcPr marL="85725" marR="38100" marT="19050" marB="19050" anchor="ctr">
                    <a:solidFill>
                      <a:srgbClr val="F5F8FA"/>
                    </a:solidFill>
                  </a:tcPr>
                </a:tc>
                <a:tc>
                  <a:txBody>
                    <a:bodyPr wrap="none"/>
                    <a:lstStyle/>
                    <a:p>
                      <a:pPr algn="l"/>
                      <a:r>
                        <a:rPr sz="800" b="1">
                          <a:solidFill>
                            <a:srgbClr val="2E7D32"/>
                          </a:solidFill>
                          <a:latin typeface="Calibri"/>
                        </a:rPr>
                        <a:t>▲ 5.5%</a:t>
                      </a:r>
                    </a:p>
                  </a:txBody>
                  <a:tcPr marL="85725" marR="38100" marT="19050" marB="19050" anchor="ctr">
                    <a:solidFill>
                      <a:srgbClr val="F5F8FA"/>
                    </a:solidFill>
                  </a:tcPr>
                </a:tc>
                <a:tc>
                  <a:txBody>
                    <a:bodyPr wrap="none"/>
                    <a:lstStyle/>
                    <a:p>
                      <a:pPr algn="l"/>
                      <a:r>
                        <a:rPr sz="800" b="1">
                          <a:solidFill>
                            <a:srgbClr val="2E7D32"/>
                          </a:solidFill>
                          <a:latin typeface="Calibri"/>
                        </a:rPr>
                        <a:t>▲ 5.1%</a:t>
                      </a:r>
                    </a:p>
                  </a:txBody>
                  <a:tcPr marL="85725" marR="38100" marT="19050" marB="19050" anchor="ctr">
                    <a:solidFill>
                      <a:srgbClr val="F5F8FA"/>
                    </a:solidFill>
                  </a:tcPr>
                </a:tc>
              </a:tr>
            </a:tbl>
          </a:graphicData>
        </a:graphic>
      </p:graphicFrame>
      <p:sp>
        <p:nvSpPr>
          <p:cNvPr id="14" name="TextBox 13"/>
          <p:cNvSpPr txBox="1"/>
          <p:nvPr/>
        </p:nvSpPr>
        <p:spPr>
          <a:xfrm>
            <a:off x="219075" y="31623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438525"/>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956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YoY Heatmap, By Buyer Type (%)  ·  light = lower, dark = higher growth</a:t>
            </a:r>
          </a:p>
        </p:txBody>
      </p:sp>
      <p:sp>
        <p:nvSpPr>
          <p:cNvPr id="17" name="TextBox 16"/>
          <p:cNvSpPr txBox="1"/>
          <p:nvPr/>
        </p:nvSpPr>
        <p:spPr>
          <a:xfrm>
            <a:off x="18573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8" name="TextBox 17"/>
          <p:cNvSpPr txBox="1"/>
          <p:nvPr/>
        </p:nvSpPr>
        <p:spPr>
          <a:xfrm>
            <a:off x="25012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19" name="TextBox 18"/>
          <p:cNvSpPr txBox="1"/>
          <p:nvPr/>
        </p:nvSpPr>
        <p:spPr>
          <a:xfrm>
            <a:off x="31451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0" name="TextBox 19"/>
          <p:cNvSpPr txBox="1"/>
          <p:nvPr/>
        </p:nvSpPr>
        <p:spPr>
          <a:xfrm>
            <a:off x="37890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1" name="TextBox 20"/>
          <p:cNvSpPr txBox="1"/>
          <p:nvPr/>
        </p:nvSpPr>
        <p:spPr>
          <a:xfrm>
            <a:off x="44329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2" name="TextBox 21"/>
          <p:cNvSpPr txBox="1"/>
          <p:nvPr/>
        </p:nvSpPr>
        <p:spPr>
          <a:xfrm>
            <a:off x="507682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3" name="TextBox 22"/>
          <p:cNvSpPr txBox="1"/>
          <p:nvPr/>
        </p:nvSpPr>
        <p:spPr>
          <a:xfrm>
            <a:off x="572071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4" name="TextBox 23"/>
          <p:cNvSpPr txBox="1"/>
          <p:nvPr/>
        </p:nvSpPr>
        <p:spPr>
          <a:xfrm>
            <a:off x="636460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5" name="TextBox 24"/>
          <p:cNvSpPr txBox="1"/>
          <p:nvPr/>
        </p:nvSpPr>
        <p:spPr>
          <a:xfrm>
            <a:off x="700849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6" name="TextBox 25"/>
          <p:cNvSpPr txBox="1"/>
          <p:nvPr/>
        </p:nvSpPr>
        <p:spPr>
          <a:xfrm>
            <a:off x="765238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7" name="TextBox 26"/>
          <p:cNvSpPr txBox="1"/>
          <p:nvPr/>
        </p:nvSpPr>
        <p:spPr>
          <a:xfrm>
            <a:off x="82962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8" name="TextBox 27"/>
          <p:cNvSpPr txBox="1"/>
          <p:nvPr/>
        </p:nvSpPr>
        <p:spPr>
          <a:xfrm>
            <a:off x="89401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29" name="TextBox 28"/>
          <p:cNvSpPr txBox="1"/>
          <p:nvPr/>
        </p:nvSpPr>
        <p:spPr>
          <a:xfrm>
            <a:off x="95840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0" name="TextBox 29"/>
          <p:cNvSpPr txBox="1"/>
          <p:nvPr/>
        </p:nvSpPr>
        <p:spPr>
          <a:xfrm>
            <a:off x="102279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1" name="TextBox 30"/>
          <p:cNvSpPr txBox="1"/>
          <p:nvPr/>
        </p:nvSpPr>
        <p:spPr>
          <a:xfrm>
            <a:off x="108718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2" name="TextBox 31"/>
          <p:cNvSpPr txBox="1"/>
          <p:nvPr/>
        </p:nvSpPr>
        <p:spPr>
          <a:xfrm>
            <a:off x="238125" y="3867150"/>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Hospitals</a:t>
            </a:r>
          </a:p>
        </p:txBody>
      </p:sp>
      <p:sp>
        <p:nvSpPr>
          <p:cNvPr id="33" name="Rectangle 32"/>
          <p:cNvSpPr/>
          <p:nvPr/>
        </p:nvSpPr>
        <p:spPr>
          <a:xfrm>
            <a:off x="1857375" y="3867150"/>
            <a:ext cx="643890" cy="700088"/>
          </a:xfrm>
          <a:prstGeom prst="rect">
            <a:avLst/>
          </a:prstGeom>
          <a:solidFill>
            <a:srgbClr val="95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01265" y="3867150"/>
            <a:ext cx="643890" cy="700088"/>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45155" y="3867150"/>
            <a:ext cx="643890" cy="70008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89045" y="3867150"/>
            <a:ext cx="643890" cy="700088"/>
          </a:xfrm>
          <a:prstGeom prst="rect">
            <a:avLst/>
          </a:prstGeom>
          <a:solidFill>
            <a:srgbClr val="0E6BA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32935" y="3867150"/>
            <a:ext cx="643890" cy="700088"/>
          </a:xfrm>
          <a:prstGeom prst="rect">
            <a:avLst/>
          </a:prstGeom>
          <a:solidFill>
            <a:srgbClr val="3D8E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6825" y="3867150"/>
            <a:ext cx="643890" cy="700088"/>
          </a:xfrm>
          <a:prstGeom prst="rect">
            <a:avLst/>
          </a:prstGeom>
          <a:solidFill>
            <a:srgbClr val="6A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20715" y="3867150"/>
            <a:ext cx="643890" cy="700088"/>
          </a:xfrm>
          <a:prstGeom prst="rect">
            <a:avLst/>
          </a:prstGeom>
          <a:solidFill>
            <a:srgbClr val="97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64605" y="3867150"/>
            <a:ext cx="643890" cy="700088"/>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08495" y="3867150"/>
            <a:ext cx="643890" cy="700088"/>
          </a:xfrm>
          <a:prstGeom prst="rect">
            <a:avLst/>
          </a:prstGeom>
          <a:solidFill>
            <a:srgbClr val="C1D7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52385" y="3867150"/>
            <a:ext cx="643890" cy="700088"/>
          </a:xfrm>
          <a:prstGeom prst="rect">
            <a:avLst/>
          </a:prstGeom>
          <a:solidFill>
            <a:srgbClr val="CFE0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96275" y="3867150"/>
            <a:ext cx="643890" cy="700088"/>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40165" y="3867150"/>
            <a:ext cx="643890" cy="700088"/>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84055" y="3867150"/>
            <a:ext cx="643890" cy="700088"/>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27945" y="3867150"/>
            <a:ext cx="643890" cy="700088"/>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71835" y="3867150"/>
            <a:ext cx="643890" cy="700088"/>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8125" y="4567238"/>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Specialty Clinics</a:t>
            </a:r>
          </a:p>
        </p:txBody>
      </p:sp>
      <p:sp>
        <p:nvSpPr>
          <p:cNvPr id="49" name="Rectangle 48"/>
          <p:cNvSpPr/>
          <p:nvPr/>
        </p:nvSpPr>
        <p:spPr>
          <a:xfrm>
            <a:off x="1857375" y="4567238"/>
            <a:ext cx="643890" cy="700088"/>
          </a:xfrm>
          <a:prstGeom prst="rect">
            <a:avLst/>
          </a:prstGeom>
          <a:solidFill>
            <a:srgbClr val="C3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01265" y="4567238"/>
            <a:ext cx="643890" cy="700088"/>
          </a:xfrm>
          <a:prstGeom prst="rect">
            <a:avLst/>
          </a:prstGeom>
          <a:solidFill>
            <a:srgbClr val="51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45155" y="4567238"/>
            <a:ext cx="643890" cy="700088"/>
          </a:xfrm>
          <a:prstGeom prst="rect">
            <a:avLst/>
          </a:prstGeom>
          <a:solidFill>
            <a:srgbClr val="16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789045" y="4567238"/>
            <a:ext cx="643890" cy="700088"/>
          </a:xfrm>
          <a:prstGeom prst="rect">
            <a:avLst/>
          </a:prstGeom>
          <a:solidFill>
            <a:srgbClr val="3B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32935" y="4567238"/>
            <a:ext cx="643890" cy="700088"/>
          </a:xfrm>
          <a:prstGeom prst="rect">
            <a:avLst/>
          </a:prstGeom>
          <a:solidFill>
            <a:srgbClr val="84B5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76825" y="4567238"/>
            <a:ext cx="643890" cy="700088"/>
          </a:xfrm>
          <a:prstGeom prst="rect">
            <a:avLst/>
          </a:prstGeom>
          <a:solidFill>
            <a:srgbClr val="A5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720715" y="4567238"/>
            <a:ext cx="643890" cy="700088"/>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64605" y="4567238"/>
            <a:ext cx="643890" cy="700088"/>
          </a:xfrm>
          <a:prstGeom prst="rect">
            <a:avLst/>
          </a:prstGeom>
          <a:solidFill>
            <a:srgbClr val="D4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08495" y="4567238"/>
            <a:ext cx="643890" cy="700088"/>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652385" y="4567238"/>
            <a:ext cx="643890" cy="700088"/>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96275" y="4567238"/>
            <a:ext cx="643890" cy="700088"/>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40165" y="4567238"/>
            <a:ext cx="643890" cy="700088"/>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584055" y="4567238"/>
            <a:ext cx="643890" cy="700088"/>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27945" y="4567238"/>
            <a:ext cx="643890" cy="700088"/>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871835" y="4567238"/>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38125" y="5267325"/>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Retail / Specialty Pharmacies</a:t>
            </a:r>
          </a:p>
        </p:txBody>
      </p:sp>
      <p:sp>
        <p:nvSpPr>
          <p:cNvPr id="65" name="Rectangle 64"/>
          <p:cNvSpPr/>
          <p:nvPr/>
        </p:nvSpPr>
        <p:spPr>
          <a:xfrm>
            <a:off x="1857375" y="5267325"/>
            <a:ext cx="643890" cy="700088"/>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501265" y="5267325"/>
            <a:ext cx="643890" cy="700088"/>
          </a:xfrm>
          <a:prstGeom prst="rect">
            <a:avLst/>
          </a:prstGeom>
          <a:solidFill>
            <a:srgbClr val="4492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145155" y="5267325"/>
            <a:ext cx="643890" cy="700088"/>
          </a:xfrm>
          <a:prstGeom prst="rect">
            <a:avLst/>
          </a:prstGeom>
          <a:solidFill>
            <a:srgbClr val="0E71A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789045" y="5267325"/>
            <a:ext cx="643890" cy="700088"/>
          </a:xfrm>
          <a:prstGeom prst="rect">
            <a:avLst/>
          </a:prstGeom>
          <a:solidFill>
            <a:srgbClr val="32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432935" y="5267325"/>
            <a:ext cx="643890" cy="700088"/>
          </a:xfrm>
          <a:prstGeom prst="rect">
            <a:avLst/>
          </a:prstGeom>
          <a:solidFill>
            <a:srgbClr val="77AE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076825" y="5267325"/>
            <a:ext cx="643890" cy="700088"/>
          </a:xfrm>
          <a:prstGeom prst="rect">
            <a:avLst/>
          </a:prstGeom>
          <a:solidFill>
            <a:srgbClr val="9C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720715" y="5267325"/>
            <a:ext cx="643890" cy="700088"/>
          </a:xfrm>
          <a:prstGeom prst="rect">
            <a:avLst/>
          </a:prstGeom>
          <a:solidFill>
            <a:srgbClr val="BC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364605" y="5267325"/>
            <a:ext cx="643890" cy="700088"/>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008495" y="5267325"/>
            <a:ext cx="643890" cy="700088"/>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652385" y="5267325"/>
            <a:ext cx="643890" cy="700088"/>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296275" y="5267325"/>
            <a:ext cx="643890" cy="700088"/>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940165" y="5267325"/>
            <a:ext cx="643890" cy="700088"/>
          </a:xfrm>
          <a:prstGeom prst="rect">
            <a:avLst/>
          </a:prstGeom>
          <a:solidFill>
            <a:srgbClr val="F0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584055" y="5267325"/>
            <a:ext cx="643890" cy="700088"/>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227945" y="5267325"/>
            <a:ext cx="643890" cy="700088"/>
          </a:xfrm>
          <a:prstGeom prst="rect">
            <a:avLst/>
          </a:prstGeom>
          <a:solidFill>
            <a:srgbClr val="F7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871835" y="5267325"/>
            <a:ext cx="643890" cy="700088"/>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8125" y="5967412"/>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Institutional Buyers</a:t>
            </a:r>
          </a:p>
        </p:txBody>
      </p:sp>
      <p:sp>
        <p:nvSpPr>
          <p:cNvPr id="81" name="Rectangle 80"/>
          <p:cNvSpPr/>
          <p:nvPr/>
        </p:nvSpPr>
        <p:spPr>
          <a:xfrm>
            <a:off x="1857375" y="5967412"/>
            <a:ext cx="643890" cy="700088"/>
          </a:xfrm>
          <a:prstGeom prst="rect">
            <a:avLst/>
          </a:prstGeom>
          <a:solidFill>
            <a:srgbClr val="B3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501265" y="5967412"/>
            <a:ext cx="643890" cy="700088"/>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145155" y="5967412"/>
            <a:ext cx="643890" cy="700088"/>
          </a:xfrm>
          <a:prstGeom prst="rect">
            <a:avLst/>
          </a:prstGeom>
          <a:solidFill>
            <a:srgbClr val="0D629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789045" y="5967412"/>
            <a:ext cx="643890" cy="700088"/>
          </a:xfrm>
          <a:prstGeom prst="rect">
            <a:avLst/>
          </a:prstGeom>
          <a:solidFill>
            <a:srgbClr val="29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432935" y="5967412"/>
            <a:ext cx="643890" cy="700088"/>
          </a:xfrm>
          <a:prstGeom prst="rect">
            <a:avLst/>
          </a:prstGeom>
          <a:solidFill>
            <a:srgbClr val="6A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076825" y="5967412"/>
            <a:ext cx="643890" cy="700088"/>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720715" y="5967412"/>
            <a:ext cx="643890" cy="700088"/>
          </a:xfrm>
          <a:prstGeom prst="rect">
            <a:avLst/>
          </a:prstGeom>
          <a:solidFill>
            <a:srgbClr val="B4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364605" y="5967412"/>
            <a:ext cx="643890" cy="700088"/>
          </a:xfrm>
          <a:prstGeom prst="rect">
            <a:avLst/>
          </a:prstGeom>
          <a:solidFill>
            <a:srgbClr val="CA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008495" y="5967412"/>
            <a:ext cx="643890" cy="700088"/>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652385" y="5967412"/>
            <a:ext cx="643890" cy="700088"/>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296275" y="5967412"/>
            <a:ext cx="643890" cy="700088"/>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940165" y="5967412"/>
            <a:ext cx="643890" cy="700088"/>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584055" y="5967412"/>
            <a:ext cx="643890" cy="700088"/>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227945" y="5967412"/>
            <a:ext cx="643890" cy="700088"/>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871835" y="5967412"/>
            <a:ext cx="643890" cy="700088"/>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1572875" y="3905250"/>
            <a:ext cx="104775" cy="7572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973354"/>
            <a:ext cx="104775" cy="75724"/>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4041458"/>
            <a:ext cx="104775" cy="75724"/>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4109561"/>
            <a:ext cx="104775" cy="75724"/>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4177665"/>
            <a:ext cx="104775" cy="75724"/>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4245769"/>
            <a:ext cx="104775" cy="75724"/>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4313872"/>
            <a:ext cx="104775" cy="75724"/>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4381976"/>
            <a:ext cx="104775" cy="75724"/>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4450080"/>
            <a:ext cx="104775" cy="75724"/>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4518184"/>
            <a:ext cx="104775" cy="75724"/>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4586288"/>
            <a:ext cx="104775" cy="75724"/>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654391"/>
            <a:ext cx="104775" cy="75724"/>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722495"/>
            <a:ext cx="104775" cy="75724"/>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790599"/>
            <a:ext cx="104775" cy="75724"/>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858702"/>
            <a:ext cx="104775" cy="75724"/>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926806"/>
            <a:ext cx="104775" cy="75724"/>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994910"/>
            <a:ext cx="104775" cy="75724"/>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5063014"/>
            <a:ext cx="104775" cy="75724"/>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5131118"/>
            <a:ext cx="104775" cy="75724"/>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5199221"/>
            <a:ext cx="104775" cy="75724"/>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5267325"/>
            <a:ext cx="104775" cy="75724"/>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5335429"/>
            <a:ext cx="104775" cy="75724"/>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5403532"/>
            <a:ext cx="104775" cy="75724"/>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471636"/>
            <a:ext cx="104775" cy="75724"/>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539740"/>
            <a:ext cx="104775" cy="75724"/>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607844"/>
            <a:ext cx="104775" cy="75724"/>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675948"/>
            <a:ext cx="104775" cy="75724"/>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744051"/>
            <a:ext cx="104775" cy="75724"/>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812155"/>
            <a:ext cx="104775" cy="75724"/>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880259"/>
            <a:ext cx="104775" cy="75724"/>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948362"/>
            <a:ext cx="104775" cy="75724"/>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6016466"/>
            <a:ext cx="104775" cy="75724"/>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6084570"/>
            <a:ext cx="104775" cy="75724"/>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6152674"/>
            <a:ext cx="104775" cy="75724"/>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220778"/>
            <a:ext cx="104775" cy="75724"/>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288881"/>
            <a:ext cx="104775" cy="75724"/>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356985"/>
            <a:ext cx="104775" cy="75724"/>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425089"/>
            <a:ext cx="104775" cy="75724"/>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493192"/>
            <a:ext cx="104775" cy="75724"/>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561296"/>
            <a:ext cx="104775" cy="75724"/>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3905250"/>
            <a:ext cx="104775" cy="27241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1687175" y="3838575"/>
            <a:ext cx="276225" cy="133350"/>
          </a:xfrm>
          <a:prstGeom prst="rect">
            <a:avLst/>
          </a:prstGeom>
          <a:noFill/>
        </p:spPr>
        <p:txBody>
          <a:bodyPr wrap="none" lIns="0" rIns="0" tIns="0" bIns="0" anchor="ctr">
            <a:spAutoFit/>
          </a:bodyPr>
          <a:lstStyle/>
          <a:p>
            <a:pPr algn="l"/>
            <a:r>
              <a:rPr sz="700" b="0">
                <a:solidFill>
                  <a:srgbClr val="6C7A89"/>
                </a:solidFill>
                <a:latin typeface="Calibri"/>
              </a:rPr>
              <a:t>25%</a:t>
            </a:r>
          </a:p>
        </p:txBody>
      </p:sp>
      <p:sp>
        <p:nvSpPr>
          <p:cNvPr id="138" name="TextBox 137"/>
          <p:cNvSpPr txBox="1"/>
          <p:nvPr/>
        </p:nvSpPr>
        <p:spPr>
          <a:xfrm>
            <a:off x="11687175" y="5200650"/>
            <a:ext cx="276225" cy="133350"/>
          </a:xfrm>
          <a:prstGeom prst="rect">
            <a:avLst/>
          </a:prstGeom>
          <a:noFill/>
        </p:spPr>
        <p:txBody>
          <a:bodyPr wrap="none" lIns="0" rIns="0" tIns="0" bIns="0" anchor="ctr">
            <a:spAutoFit/>
          </a:bodyPr>
          <a:lstStyle/>
          <a:p>
            <a:pPr algn="l"/>
            <a:r>
              <a:rPr sz="700" b="0">
                <a:solidFill>
                  <a:srgbClr val="6C7A89"/>
                </a:solidFill>
                <a:latin typeface="Calibri"/>
              </a:rPr>
              <a:t>15%</a:t>
            </a:r>
          </a:p>
        </p:txBody>
      </p:sp>
      <p:sp>
        <p:nvSpPr>
          <p:cNvPr id="139" name="TextBox 138"/>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4%</a:t>
            </a:r>
          </a:p>
        </p:txBody>
      </p:sp>
      <p:sp>
        <p:nvSpPr>
          <p:cNvPr id="140" name="Rectangle 13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2" name="Rounded Rectangle 14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3" name="Rounded Rectangle 14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4" name="Rounded Rectangle 14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Sales / Distribution Channel</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By Sales / Distribution Channel Segment Outlook</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Structure &amp; Attractiveness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Absolute $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Volume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Value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10</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By Sales / Distribution Channel Segment Outlook</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TextBox 10"/>
          <p:cNvSpPr txBox="1"/>
          <p:nvPr/>
        </p:nvSpPr>
        <p:spPr>
          <a:xfrm>
            <a:off x="323850" y="857250"/>
            <a:ext cx="11544300" cy="323850"/>
          </a:xfrm>
          <a:prstGeom prst="rect">
            <a:avLst/>
          </a:prstGeom>
          <a:noFill/>
        </p:spPr>
        <p:txBody>
          <a:bodyPr wrap="square" lIns="28575" rIns="28575" tIns="9525" bIns="9525">
            <a:spAutoFit/>
          </a:bodyPr>
          <a:lstStyle/>
          <a:p>
            <a:pPr algn="l"/>
            <a:r>
              <a:rPr sz="1150" b="0">
                <a:solidFill>
                  <a:srgbClr val="2E2E2E"/>
                </a:solidFill>
                <a:latin typeface="Calibri"/>
              </a:rPr>
              <a:t>The Sales / Distribution Channel segment categorizes the market by sales / distribution channel. Each sub-category is evaluated on market size, growth outlook and adoption trends across the forecast period.</a:t>
            </a:r>
          </a:p>
        </p:txBody>
      </p:sp>
      <p:sp>
        <p:nvSpPr>
          <p:cNvPr id="12" name="Rectangle 11"/>
          <p:cNvSpPr/>
          <p:nvPr/>
        </p:nvSpPr>
        <p:spPr>
          <a:xfrm>
            <a:off x="323850" y="1657350"/>
            <a:ext cx="1428750" cy="457200"/>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657350"/>
            <a:ext cx="1295400" cy="457200"/>
          </a:xfrm>
          <a:prstGeom prst="rect">
            <a:avLst/>
          </a:prstGeom>
          <a:noFill/>
        </p:spPr>
        <p:txBody>
          <a:bodyPr wrap="square" lIns="28575" rIns="28575" tIns="9525" bIns="9525" anchor="ctr">
            <a:spAutoFit/>
          </a:bodyPr>
          <a:lstStyle/>
          <a:p>
            <a:pPr algn="l"/>
            <a:r>
              <a:rPr sz="1050" b="1">
                <a:solidFill>
                  <a:srgbClr val="0B2E4A"/>
                </a:solidFill>
                <a:latin typeface="Calibri"/>
              </a:rPr>
              <a:t>Sub-Segment</a:t>
            </a:r>
          </a:p>
        </p:txBody>
      </p:sp>
      <p:sp>
        <p:nvSpPr>
          <p:cNvPr id="14" name="Rectangle 13"/>
          <p:cNvSpPr/>
          <p:nvPr/>
        </p:nvSpPr>
        <p:spPr>
          <a:xfrm>
            <a:off x="323850" y="21336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1336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2026 Value (US$ Mn)</a:t>
            </a:r>
          </a:p>
        </p:txBody>
      </p:sp>
      <p:sp>
        <p:nvSpPr>
          <p:cNvPr id="16" name="Rectangle 15"/>
          <p:cNvSpPr/>
          <p:nvPr/>
        </p:nvSpPr>
        <p:spPr>
          <a:xfrm>
            <a:off x="323850" y="264795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64795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2036 Value (US$ Mn)</a:t>
            </a:r>
          </a:p>
        </p:txBody>
      </p:sp>
      <p:sp>
        <p:nvSpPr>
          <p:cNvPr id="18" name="Rectangle 17"/>
          <p:cNvSpPr/>
          <p:nvPr/>
        </p:nvSpPr>
        <p:spPr>
          <a:xfrm>
            <a:off x="323850" y="31623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1623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CAGR (2026–2036)</a:t>
            </a:r>
          </a:p>
        </p:txBody>
      </p:sp>
      <p:sp>
        <p:nvSpPr>
          <p:cNvPr id="20" name="Rounded Rectangle 19"/>
          <p:cNvSpPr/>
          <p:nvPr/>
        </p:nvSpPr>
        <p:spPr>
          <a:xfrm>
            <a:off x="1866900" y="1657350"/>
            <a:ext cx="2414588"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885950"/>
            <a:ext cx="2414588"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Specialty Distribution</a:t>
            </a:r>
          </a:p>
        </p:txBody>
      </p:sp>
      <p:sp>
        <p:nvSpPr>
          <p:cNvPr id="23" name="Rectangle 22"/>
          <p:cNvSpPr/>
          <p:nvPr/>
        </p:nvSpPr>
        <p:spPr>
          <a:xfrm>
            <a:off x="1866900"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557.4</a:t>
            </a:r>
          </a:p>
        </p:txBody>
      </p:sp>
      <p:sp>
        <p:nvSpPr>
          <p:cNvPr id="24" name="Rectangle 23"/>
          <p:cNvSpPr/>
          <p:nvPr/>
        </p:nvSpPr>
        <p:spPr>
          <a:xfrm>
            <a:off x="1866900"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1,214</a:t>
            </a:r>
          </a:p>
        </p:txBody>
      </p:sp>
      <p:sp>
        <p:nvSpPr>
          <p:cNvPr id="25" name="Rectangle 24"/>
          <p:cNvSpPr/>
          <p:nvPr/>
        </p:nvSpPr>
        <p:spPr>
          <a:xfrm>
            <a:off x="1866900"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8.1%</a:t>
            </a:r>
          </a:p>
        </p:txBody>
      </p:sp>
      <p:sp>
        <p:nvSpPr>
          <p:cNvPr id="26" name="Oval 25"/>
          <p:cNvSpPr/>
          <p:nvPr/>
        </p:nvSpPr>
        <p:spPr>
          <a:xfrm>
            <a:off x="2912269"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4395788" y="1657350"/>
            <a:ext cx="2414588"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95788" y="1885950"/>
            <a:ext cx="2414588"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3888"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Direct Institutional Sales</a:t>
            </a:r>
          </a:p>
        </p:txBody>
      </p:sp>
      <p:sp>
        <p:nvSpPr>
          <p:cNvPr id="30" name="Rectangle 29"/>
          <p:cNvSpPr/>
          <p:nvPr/>
        </p:nvSpPr>
        <p:spPr>
          <a:xfrm>
            <a:off x="4395788"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528.1</a:t>
            </a:r>
          </a:p>
        </p:txBody>
      </p:sp>
      <p:sp>
        <p:nvSpPr>
          <p:cNvPr id="31" name="Rectangle 30"/>
          <p:cNvSpPr/>
          <p:nvPr/>
        </p:nvSpPr>
        <p:spPr>
          <a:xfrm>
            <a:off x="4395788"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1,260</a:t>
            </a:r>
          </a:p>
        </p:txBody>
      </p:sp>
      <p:sp>
        <p:nvSpPr>
          <p:cNvPr id="32" name="Rectangle 31"/>
          <p:cNvSpPr/>
          <p:nvPr/>
        </p:nvSpPr>
        <p:spPr>
          <a:xfrm>
            <a:off x="4395788"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9.1%</a:t>
            </a:r>
          </a:p>
        </p:txBody>
      </p:sp>
      <p:sp>
        <p:nvSpPr>
          <p:cNvPr id="33" name="Oval 32"/>
          <p:cNvSpPr/>
          <p:nvPr/>
        </p:nvSpPr>
        <p:spPr>
          <a:xfrm>
            <a:off x="5441156"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6924675" y="1657350"/>
            <a:ext cx="2414588" cy="457200"/>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24675" y="1885950"/>
            <a:ext cx="2414588" cy="22860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62775"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Online / Digital Pharmacy</a:t>
            </a:r>
          </a:p>
        </p:txBody>
      </p:sp>
      <p:sp>
        <p:nvSpPr>
          <p:cNvPr id="37" name="Rectangle 36"/>
          <p:cNvSpPr/>
          <p:nvPr/>
        </p:nvSpPr>
        <p:spPr>
          <a:xfrm>
            <a:off x="6924675"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522.4</a:t>
            </a:r>
          </a:p>
        </p:txBody>
      </p:sp>
      <p:sp>
        <p:nvSpPr>
          <p:cNvPr id="38" name="Rectangle 37"/>
          <p:cNvSpPr/>
          <p:nvPr/>
        </p:nvSpPr>
        <p:spPr>
          <a:xfrm>
            <a:off x="6924675"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1,130</a:t>
            </a:r>
          </a:p>
        </p:txBody>
      </p:sp>
      <p:sp>
        <p:nvSpPr>
          <p:cNvPr id="39" name="Rectangle 38"/>
          <p:cNvSpPr/>
          <p:nvPr/>
        </p:nvSpPr>
        <p:spPr>
          <a:xfrm>
            <a:off x="6924675"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8.0%</a:t>
            </a:r>
          </a:p>
        </p:txBody>
      </p:sp>
      <p:sp>
        <p:nvSpPr>
          <p:cNvPr id="40" name="Oval 39"/>
          <p:cNvSpPr/>
          <p:nvPr/>
        </p:nvSpPr>
        <p:spPr>
          <a:xfrm>
            <a:off x="7970044" y="1314450"/>
            <a:ext cx="323850" cy="323850"/>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9453562" y="1657350"/>
            <a:ext cx="2414588" cy="457200"/>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453562" y="1885950"/>
            <a:ext cx="2414588" cy="2286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91662"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Pharmacy Channel</a:t>
            </a:r>
          </a:p>
        </p:txBody>
      </p:sp>
      <p:sp>
        <p:nvSpPr>
          <p:cNvPr id="44" name="Rectangle 43"/>
          <p:cNvSpPr/>
          <p:nvPr/>
        </p:nvSpPr>
        <p:spPr>
          <a:xfrm>
            <a:off x="9453562"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366.4</a:t>
            </a:r>
          </a:p>
        </p:txBody>
      </p:sp>
      <p:sp>
        <p:nvSpPr>
          <p:cNvPr id="45" name="Rectangle 44"/>
          <p:cNvSpPr/>
          <p:nvPr/>
        </p:nvSpPr>
        <p:spPr>
          <a:xfrm>
            <a:off x="9453562"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870.8</a:t>
            </a:r>
          </a:p>
        </p:txBody>
      </p:sp>
      <p:sp>
        <p:nvSpPr>
          <p:cNvPr id="46" name="Rectangle 45"/>
          <p:cNvSpPr/>
          <p:nvPr/>
        </p:nvSpPr>
        <p:spPr>
          <a:xfrm>
            <a:off x="9453562"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9.0%</a:t>
            </a:r>
          </a:p>
        </p:txBody>
      </p:sp>
      <p:sp>
        <p:nvSpPr>
          <p:cNvPr id="47" name="Oval 46"/>
          <p:cNvSpPr/>
          <p:nvPr/>
        </p:nvSpPr>
        <p:spPr>
          <a:xfrm>
            <a:off x="10498931" y="1314450"/>
            <a:ext cx="323850" cy="323850"/>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323850" y="3829050"/>
            <a:ext cx="323850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3924300"/>
            <a:ext cx="2971800" cy="190500"/>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0" name="Rectangle 49"/>
          <p:cNvSpPr/>
          <p:nvPr/>
        </p:nvSpPr>
        <p:spPr>
          <a:xfrm>
            <a:off x="457200" y="4133850"/>
            <a:ext cx="2971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4210050"/>
            <a:ext cx="297180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'Specialty Distribution' holds the largest share in 2026 28% of segment value.</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'Direct Institutional Sales' is the fastest-growing sub-segment at 9.1% CAGR through 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Segment value expands from 1,974 to 4,475 US$ Mn across 2026–2036.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4 sub-segments make up the sales / distribution channel landscape.</a:t>
            </a:r>
          </a:p>
        </p:txBody>
      </p:sp>
      <p:sp>
        <p:nvSpPr>
          <p:cNvPr id="52" name="Rounded Rectangle 51"/>
          <p:cNvSpPr/>
          <p:nvPr/>
        </p:nvSpPr>
        <p:spPr>
          <a:xfrm>
            <a:off x="3676650" y="3829050"/>
            <a:ext cx="447675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3924300"/>
            <a:ext cx="4210050" cy="190500"/>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4" name="Rectangle 53"/>
          <p:cNvSpPr/>
          <p:nvPr/>
        </p:nvSpPr>
        <p:spPr>
          <a:xfrm>
            <a:off x="3810000" y="4133850"/>
            <a:ext cx="42100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10000" y="4210050"/>
            <a:ext cx="42100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900" b="0">
                <a:solidFill>
                  <a:srgbClr val="0B2E4A"/>
                </a:solidFill>
                <a:latin typeface="Calibri"/>
              </a:rPr>
              <a:t>●  </a:t>
            </a:r>
            <a:r>
              <a:rPr sz="1000" b="1">
                <a:solidFill>
                  <a:srgbClr val="0B2E4A"/>
                </a:solidFill>
                <a:latin typeface="Calibri"/>
              </a:rPr>
              <a:t>Specialty Distribution: </a:t>
            </a:r>
            <a:r>
              <a:rPr sz="1000" b="0">
                <a:solidFill>
                  <a:srgbClr val="2E2E2E"/>
                </a:solidFill>
                <a:latin typeface="Calibri"/>
              </a:rPr>
              <a:t>28% of 2026 value · 8.1% CAGR leads the segment.</a:t>
            </a:r>
          </a:p>
          <a:p>
            <a:pPr algn="l">
              <a:lnSpc>
                <a:spcPct val="110000"/>
              </a:lnSpc>
              <a:spcBef>
                <a:spcPts val="0"/>
              </a:spcBef>
              <a:spcAft>
                <a:spcPts val="500"/>
              </a:spcAft>
            </a:pPr>
            <a:r>
              <a:rPr sz="900" b="0">
                <a:solidFill>
                  <a:srgbClr val="0E72AE"/>
                </a:solidFill>
                <a:latin typeface="Calibri"/>
              </a:rPr>
              <a:t>●  </a:t>
            </a:r>
            <a:r>
              <a:rPr sz="1000" b="1">
                <a:solidFill>
                  <a:srgbClr val="0E72AE"/>
                </a:solidFill>
                <a:latin typeface="Calibri"/>
              </a:rPr>
              <a:t>Direct Institutional Sales: </a:t>
            </a:r>
            <a:r>
              <a:rPr sz="1000" b="0">
                <a:solidFill>
                  <a:srgbClr val="2E2E2E"/>
                </a:solidFill>
                <a:latin typeface="Calibri"/>
              </a:rPr>
              <a:t>27% of 2026 value · 9.1% CAGR grows fastest.</a:t>
            </a:r>
          </a:p>
          <a:p>
            <a:pPr algn="l">
              <a:lnSpc>
                <a:spcPct val="110000"/>
              </a:lnSpc>
              <a:spcBef>
                <a:spcPts val="0"/>
              </a:spcBef>
              <a:spcAft>
                <a:spcPts val="500"/>
              </a:spcAft>
            </a:pPr>
            <a:r>
              <a:rPr sz="900" b="0">
                <a:solidFill>
                  <a:srgbClr val="008189"/>
                </a:solidFill>
                <a:latin typeface="Calibri"/>
              </a:rPr>
              <a:t>●  </a:t>
            </a:r>
            <a:r>
              <a:rPr sz="1000" b="1">
                <a:solidFill>
                  <a:srgbClr val="008189"/>
                </a:solidFill>
                <a:latin typeface="Calibri"/>
              </a:rPr>
              <a:t>Online / Digital Pharmacy: </a:t>
            </a:r>
            <a:r>
              <a:rPr sz="1000" b="0">
                <a:solidFill>
                  <a:srgbClr val="2E2E2E"/>
                </a:solidFill>
                <a:latin typeface="Calibri"/>
              </a:rPr>
              <a:t>26% of 2026 value · 8.0% CAGR serves a niche.</a:t>
            </a:r>
          </a:p>
          <a:p>
            <a:pPr algn="l">
              <a:lnSpc>
                <a:spcPct val="110000"/>
              </a:lnSpc>
              <a:spcBef>
                <a:spcPts val="0"/>
              </a:spcBef>
              <a:spcAft>
                <a:spcPts val="500"/>
              </a:spcAft>
            </a:pPr>
            <a:r>
              <a:rPr sz="900" b="0">
                <a:solidFill>
                  <a:srgbClr val="6F3CC2"/>
                </a:solidFill>
                <a:latin typeface="Calibri"/>
              </a:rPr>
              <a:t>●  </a:t>
            </a:r>
            <a:r>
              <a:rPr sz="1000" b="1">
                <a:solidFill>
                  <a:srgbClr val="6F3CC2"/>
                </a:solidFill>
                <a:latin typeface="Calibri"/>
              </a:rPr>
              <a:t>Pharmacy Channel: </a:t>
            </a:r>
            <a:r>
              <a:rPr sz="1000" b="0">
                <a:solidFill>
                  <a:srgbClr val="2E2E2E"/>
                </a:solidFill>
                <a:latin typeface="Calibri"/>
              </a:rPr>
              <a:t>19% of 2026 value · 9.0% CAGR serves a niche.</a:t>
            </a:r>
          </a:p>
        </p:txBody>
      </p:sp>
      <p:sp>
        <p:nvSpPr>
          <p:cNvPr id="56" name="Rounded Rectangle 55"/>
          <p:cNvSpPr/>
          <p:nvPr/>
        </p:nvSpPr>
        <p:spPr>
          <a:xfrm>
            <a:off x="8267700" y="3829050"/>
            <a:ext cx="3600450" cy="2686050"/>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3924300"/>
            <a:ext cx="3333750" cy="190500"/>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8" name="Rectangle 57"/>
          <p:cNvSpPr/>
          <p:nvPr/>
        </p:nvSpPr>
        <p:spPr>
          <a:xfrm>
            <a:off x="8401050" y="4133850"/>
            <a:ext cx="33337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01050" y="4210050"/>
            <a:ext cx="33337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The Sales / Distribution Channel split shows how demand is distributed across sales / distribution channel types and where growth concentrates.</a:t>
            </a:r>
          </a:p>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Shifting preferences and product innovation are reshaping the mix through 2036.</a:t>
            </a:r>
          </a:p>
        </p:txBody>
      </p:sp>
      <p:sp>
        <p:nvSpPr>
          <p:cNvPr id="60" name="Rectangle 59"/>
          <p:cNvSpPr/>
          <p:nvPr/>
        </p:nvSpPr>
        <p:spPr>
          <a:xfrm>
            <a:off x="8401050" y="5810250"/>
            <a:ext cx="3333750" cy="552450"/>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401050" y="5810250"/>
            <a:ext cx="38100" cy="5524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96300" y="5848350"/>
            <a:ext cx="3219450" cy="476250"/>
          </a:xfrm>
          <a:prstGeom prst="rect">
            <a:avLst/>
          </a:prstGeom>
          <a:noFill/>
        </p:spPr>
        <p:txBody>
          <a:bodyPr wrap="square" lIns="28575" rIns="28575" tIns="9525" bIns="9525" anchor="ctr">
            <a:spAutoFit/>
          </a:bodyPr>
          <a:lstStyle/>
          <a:p>
            <a:pPr algn="l"/>
            <a:r>
              <a:rPr sz="1150" b="1">
                <a:solidFill>
                  <a:srgbClr val="0B2E4A"/>
                </a:solidFill>
                <a:latin typeface="Calibri"/>
              </a:rPr>
              <a:t>The Sales / Distribution Channel segment is projected to grow at a CAGR of 8.5% from 2026 to 2036.</a:t>
            </a:r>
          </a:p>
        </p:txBody>
      </p:sp>
      <p:sp>
        <p:nvSpPr>
          <p:cNvPr id="63" name="TextBox 62"/>
          <p:cNvSpPr txBox="1"/>
          <p:nvPr/>
        </p:nvSpPr>
        <p:spPr>
          <a:xfrm>
            <a:off x="323850" y="6591300"/>
            <a:ext cx="3048000" cy="133350"/>
          </a:xfrm>
          <a:prstGeom prst="rect">
            <a:avLst/>
          </a:prstGeom>
          <a:noFill/>
        </p:spPr>
        <p:txBody>
          <a:bodyPr wrap="none">
            <a:spAutoFit/>
          </a:bodyPr>
          <a:lstStyle/>
          <a:p>
            <a:r>
              <a:rPr sz="800" i="1">
                <a:solidFill>
                  <a:srgbClr val="6C7A89"/>
                </a:solidFill>
                <a:latin typeface="Calibri"/>
              </a:rPr>
              <a:t>Source: FMI Analysis, 2026</a:t>
            </a:r>
          </a:p>
        </p:txBody>
      </p:sp>
      <p:sp>
        <p:nvSpPr>
          <p:cNvPr id="64" name="Rectangle 6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6" name="Rounded Rectangle 6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7" name="Rounded Rectangle 6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8" name="Rounded Rectangle 6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Structure &amp; Attractiveness, By Sales / Distribution Channel (Value)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6343650"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 Distribution Channel mix within each country (share of 2036 value) · row label = country size (US$ Mn), largest first</a:t>
            </a:r>
          </a:p>
        </p:txBody>
      </p:sp>
      <p:graphicFrame>
        <p:nvGraphicFramePr>
          <p:cNvPr id="13" name="Chart 12"/>
          <p:cNvGraphicFramePr>
            <a:graphicFrameLocks noGrp="1"/>
          </p:cNvGraphicFramePr>
          <p:nvPr/>
        </p:nvGraphicFramePr>
        <p:xfrm>
          <a:off x="238125" y="1314450"/>
          <a:ext cx="6153150" cy="39243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857250"/>
            <a:ext cx="5400675"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914400"/>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Sales / Distribution Channel (bubble = 2036 size)</a:t>
            </a:r>
          </a:p>
        </p:txBody>
      </p:sp>
      <p:graphicFrame>
        <p:nvGraphicFramePr>
          <p:cNvPr id="16" name="Chart 15"/>
          <p:cNvGraphicFramePr>
            <a:graphicFrameLocks noGrp="1"/>
          </p:cNvGraphicFramePr>
          <p:nvPr/>
        </p:nvGraphicFramePr>
        <p:xfrm>
          <a:off x="6734175" y="1314450"/>
          <a:ext cx="5210175" cy="39243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29250"/>
            <a:ext cx="11906250" cy="1295400"/>
          </a:xfrm>
          <a:prstGeom prst="roundRect">
            <a:avLst>
              <a:gd name="adj" fmla="val 58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Between 2026 and 2036, 'Direct Institutional Sales' gains the most share in the North America market (+140 BPS) while 'Online / Digital Pharmacy' cedes 120 BPS. Bubbles right of the CAGR-Index line grow faster than the segment average.</a:t>
            </a:r>
          </a:p>
        </p:txBody>
      </p:sp>
      <p:sp>
        <p:nvSpPr>
          <p:cNvPr id="18" name="Rectangle 1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0" name="Rounded Rectangle 19">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Absolute $ Opportunity Analysis, By Sales / Distribution Channel</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2021–2025 (US$ Mn)</a:t>
            </a:r>
          </a:p>
        </p:txBody>
      </p:sp>
      <p:graphicFrame>
        <p:nvGraphicFramePr>
          <p:cNvPr id="13" name="Chart 12"/>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2026–2031 (US$ Mn)</a:t>
            </a:r>
          </a:p>
        </p:txBody>
      </p:sp>
      <p:graphicFrame>
        <p:nvGraphicFramePr>
          <p:cNvPr id="16" name="Chart 15"/>
          <p:cNvGraphicFramePr>
            <a:graphicFrameLocks noGrp="1"/>
          </p:cNvGraphicFramePr>
          <p:nvPr/>
        </p:nvGraphicFramePr>
        <p:xfrm>
          <a:off x="6267450" y="1143000"/>
          <a:ext cx="5686425" cy="25241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2031–2036 (US$ Mn)</a:t>
            </a:r>
          </a:p>
        </p:txBody>
      </p:sp>
      <p:graphicFrame>
        <p:nvGraphicFramePr>
          <p:cNvPr id="19" name="Chart 18"/>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Sales / Distribution Channel (2026–2036)</a:t>
            </a:r>
          </a:p>
        </p:txBody>
      </p:sp>
      <p:graphicFrame>
        <p:nvGraphicFramePr>
          <p:cNvPr id="22" name="Table 21"/>
          <p:cNvGraphicFramePr>
            <a:graphicFrameLocks noGrp="1"/>
          </p:cNvGraphicFramePr>
          <p:nvPr/>
        </p:nvGraphicFramePr>
        <p:xfrm>
          <a:off x="6267450" y="4143375"/>
          <a:ext cx="5686426" cy="904875"/>
        </p:xfrm>
        <a:graphic>
          <a:graphicData uri="http://schemas.openxmlformats.org/drawingml/2006/table">
            <a:tbl>
              <a:tblPr>
                <a:tableStyleId>{5C22544A-7EE6-4342-B048-85BDC9FD1C3A}</a:tableStyleId>
              </a:tblPr>
              <a:tblGrid>
                <a:gridCol w="1705928"/>
                <a:gridCol w="1990249"/>
                <a:gridCol w="1990249"/>
              </a:tblGrid>
              <a:tr h="180975">
                <a:tc>
                  <a:txBody>
                    <a:bodyPr wrap="none"/>
                    <a:lstStyle/>
                    <a:p>
                      <a:pPr algn="l"/>
                      <a:r>
                        <a:rPr sz="900" b="1">
                          <a:solidFill>
                            <a:srgbClr val="0B2E4A"/>
                          </a:solidFill>
                          <a:latin typeface="Calibri"/>
                        </a:rPr>
                        <a:t>Sales / Distribution Channel</a:t>
                      </a:r>
                    </a:p>
                  </a:txBody>
                  <a:tcPr marL="85725" marR="38100" marT="19050" marB="19050" anchor="ctr">
                    <a:solidFill>
                      <a:srgbClr val="E0E8EF"/>
                    </a:solidFill>
                  </a:tcPr>
                </a:tc>
                <a:tc>
                  <a:txBody>
                    <a:bodyPr wrap="none"/>
                    <a:lstStyle/>
                    <a:p>
                      <a:pPr algn="l"/>
                      <a:r>
                        <a:rPr sz="900" b="1">
                          <a:solidFill>
                            <a:srgbClr val="0B2E4A"/>
                          </a:solidFill>
                          <a:latin typeface="Calibri"/>
                        </a:rPr>
                        <a:t>Absolute $ Opportunity (US$ Mn)</a:t>
                      </a:r>
                    </a:p>
                  </a:txBody>
                  <a:tcPr marL="85725" marR="38100" marT="19050" marB="19050" anchor="ctr">
                    <a:solidFill>
                      <a:srgbClr val="E0E8EF"/>
                    </a:solidFill>
                  </a:tcPr>
                </a:tc>
                <a:tc>
                  <a:txBody>
                    <a:bodyPr wrap="none"/>
                    <a:lstStyle/>
                    <a:p>
                      <a:pPr algn="l"/>
                      <a:r>
                        <a:rPr sz="900" b="1">
                          <a:solidFill>
                            <a:srgbClr val="0B2E4A"/>
                          </a:solidFill>
                          <a:latin typeface="Calibri"/>
                        </a:rPr>
                        <a:t>Share of Increment</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Direct Institutional Sales</a:t>
                      </a:r>
                    </a:p>
                  </a:txBody>
                  <a:tcPr marL="85725" marR="38100" marT="19050" marB="19050" anchor="ctr">
                    <a:solidFill>
                      <a:srgbClr val="FFFFFF"/>
                    </a:solidFill>
                  </a:tcPr>
                </a:tc>
                <a:tc>
                  <a:txBody>
                    <a:bodyPr wrap="none"/>
                    <a:lstStyle/>
                    <a:p>
                      <a:pPr algn="l"/>
                      <a:r>
                        <a:rPr sz="900" b="0">
                          <a:solidFill>
                            <a:srgbClr val="2E2E2E"/>
                          </a:solidFill>
                          <a:latin typeface="Calibri"/>
                        </a:rPr>
                        <a:t>731.4</a:t>
                      </a:r>
                    </a:p>
                  </a:txBody>
                  <a:tcPr marL="85725" marR="38100" marT="19050" marB="19050" anchor="ctr">
                    <a:solidFill>
                      <a:srgbClr val="FFFFFF"/>
                    </a:solidFill>
                  </a:tcPr>
                </a:tc>
                <a:tc>
                  <a:txBody>
                    <a:bodyPr wrap="none"/>
                    <a:lstStyle/>
                    <a:p>
                      <a:pPr algn="l"/>
                      <a:r>
                        <a:rPr sz="900" b="0">
                          <a:solidFill>
                            <a:srgbClr val="2E2E2E"/>
                          </a:solidFill>
                          <a:latin typeface="Calibri"/>
                        </a:rPr>
                        <a:t>29.3%</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Specialty Distribution</a:t>
                      </a:r>
                    </a:p>
                  </a:txBody>
                  <a:tcPr marL="85725" marR="38100" marT="19050" marB="19050" anchor="ctr">
                    <a:solidFill>
                      <a:srgbClr val="F5F8FA"/>
                    </a:solidFill>
                  </a:tcPr>
                </a:tc>
                <a:tc>
                  <a:txBody>
                    <a:bodyPr wrap="none"/>
                    <a:lstStyle/>
                    <a:p>
                      <a:pPr algn="l"/>
                      <a:r>
                        <a:rPr sz="900" b="0">
                          <a:solidFill>
                            <a:srgbClr val="2E2E2E"/>
                          </a:solidFill>
                          <a:latin typeface="Calibri"/>
                        </a:rPr>
                        <a:t>656.8</a:t>
                      </a:r>
                    </a:p>
                  </a:txBody>
                  <a:tcPr marL="85725" marR="38100" marT="19050" marB="19050" anchor="ctr">
                    <a:solidFill>
                      <a:srgbClr val="F5F8FA"/>
                    </a:solidFill>
                  </a:tcPr>
                </a:tc>
                <a:tc>
                  <a:txBody>
                    <a:bodyPr wrap="none"/>
                    <a:lstStyle/>
                    <a:p>
                      <a:pPr algn="l"/>
                      <a:r>
                        <a:rPr sz="900" b="0">
                          <a:solidFill>
                            <a:srgbClr val="2E2E2E"/>
                          </a:solidFill>
                          <a:latin typeface="Calibri"/>
                        </a:rPr>
                        <a:t>26.3%</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Pharmacy Channel</a:t>
                      </a:r>
                    </a:p>
                  </a:txBody>
                  <a:tcPr marL="85725" marR="38100" marT="19050" marB="19050" anchor="ctr">
                    <a:solidFill>
                      <a:srgbClr val="FFFFFF"/>
                    </a:solidFill>
                  </a:tcPr>
                </a:tc>
                <a:tc>
                  <a:txBody>
                    <a:bodyPr wrap="none"/>
                    <a:lstStyle/>
                    <a:p>
                      <a:pPr algn="l"/>
                      <a:r>
                        <a:rPr sz="900" b="0">
                          <a:solidFill>
                            <a:srgbClr val="2E2E2E"/>
                          </a:solidFill>
                          <a:latin typeface="Calibri"/>
                        </a:rPr>
                        <a:t>504.4</a:t>
                      </a:r>
                    </a:p>
                  </a:txBody>
                  <a:tcPr marL="85725" marR="38100" marT="19050" marB="19050" anchor="ctr">
                    <a:solidFill>
                      <a:srgbClr val="FFFFFF"/>
                    </a:solidFill>
                  </a:tcPr>
                </a:tc>
                <a:tc>
                  <a:txBody>
                    <a:bodyPr wrap="none"/>
                    <a:lstStyle/>
                    <a:p>
                      <a:pPr algn="l"/>
                      <a:r>
                        <a:rPr sz="900" b="0">
                          <a:solidFill>
                            <a:srgbClr val="2E2E2E"/>
                          </a:solidFill>
                          <a:latin typeface="Calibri"/>
                        </a:rPr>
                        <a:t>20.2%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Online / Digital Pharmacy</a:t>
                      </a:r>
                    </a:p>
                  </a:txBody>
                  <a:tcPr marL="85725" marR="38100" marT="19050" marB="19050" anchor="ctr">
                    <a:solidFill>
                      <a:srgbClr val="F5F8FA"/>
                    </a:solidFill>
                  </a:tcPr>
                </a:tc>
                <a:tc>
                  <a:txBody>
                    <a:bodyPr wrap="none"/>
                    <a:lstStyle/>
                    <a:p>
                      <a:pPr algn="l"/>
                      <a:r>
                        <a:rPr sz="900" b="0">
                          <a:solidFill>
                            <a:srgbClr val="2E2E2E"/>
                          </a:solidFill>
                          <a:latin typeface="Calibri"/>
                        </a:rPr>
                        <a:t>607.9</a:t>
                      </a:r>
                    </a:p>
                  </a:txBody>
                  <a:tcPr marL="85725" marR="38100" marT="19050" marB="19050" anchor="ctr">
                    <a:solidFill>
                      <a:srgbClr val="F5F8FA"/>
                    </a:solidFill>
                  </a:tcPr>
                </a:tc>
                <a:tc>
                  <a:txBody>
                    <a:bodyPr wrap="none"/>
                    <a:lstStyle/>
                    <a:p>
                      <a:pPr algn="l"/>
                      <a:r>
                        <a:rPr sz="900" b="0">
                          <a:solidFill>
                            <a:srgbClr val="2E2E2E"/>
                          </a:solidFill>
                          <a:latin typeface="Calibri"/>
                        </a:rPr>
                        <a:t>24.3%</a:t>
                      </a:r>
                    </a:p>
                  </a:txBody>
                  <a:tcPr marL="85725" marR="38100" marT="19050" marB="19050" anchor="ctr">
                    <a:solidFill>
                      <a:srgbClr val="F5F8FA"/>
                    </a:solidFill>
                  </a:tcPr>
                </a:tc>
              </a:tr>
            </a:tbl>
          </a:graphicData>
        </a:graphic>
      </p:graphicFrame>
      <p:sp>
        <p:nvSpPr>
          <p:cNvPr id="23" name="TextBox 22"/>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Volume Analysis, By Sales / Distribution Channel (Mn Doses)</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3133725"/>
          </a:xfrm>
          <a:prstGeom prst="roundRect">
            <a:avLst>
              <a:gd name="adj" fmla="val 24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Sales / Distribution Channel (Mn Doses)</a:t>
            </a:r>
          </a:p>
        </p:txBody>
      </p:sp>
      <p:graphicFrame>
        <p:nvGraphicFramePr>
          <p:cNvPr id="13" name="Table 12"/>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Sales / Distribution Channel</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Direct Institutional Sales</a:t>
                      </a:r>
                    </a:p>
                  </a:txBody>
                  <a:tcPr marL="85725" marR="38100" marT="19050" marB="19050" anchor="ctr">
                    <a:solidFill>
                      <a:srgbClr val="FFFFFF"/>
                    </a:solidFill>
                  </a:tcPr>
                </a:tc>
                <a:tc>
                  <a:txBody>
                    <a:bodyPr wrap="none"/>
                    <a:lstStyle/>
                    <a:p>
                      <a:pPr algn="l"/>
                      <a:r>
                        <a:rPr sz="800" b="0">
                          <a:solidFill>
                            <a:srgbClr val="2E2E2E"/>
                          </a:solidFill>
                          <a:latin typeface="Calibri"/>
                        </a:rPr>
                        <a:t>0.37</a:t>
                      </a:r>
                    </a:p>
                  </a:txBody>
                  <a:tcPr marL="85725" marR="38100" marT="19050" marB="19050" anchor="ctr">
                    <a:solidFill>
                      <a:srgbClr val="FFFFFF"/>
                    </a:solidFill>
                  </a:tcPr>
                </a:tc>
                <a:tc>
                  <a:txBody>
                    <a:bodyPr wrap="none"/>
                    <a:lstStyle/>
                    <a:p>
                      <a:pPr algn="l"/>
                      <a:r>
                        <a:rPr sz="800" b="0">
                          <a:solidFill>
                            <a:srgbClr val="2E2E2E"/>
                          </a:solidFill>
                          <a:latin typeface="Calibri"/>
                        </a:rPr>
                        <a:t>0.43</a:t>
                      </a:r>
                    </a:p>
                  </a:txBody>
                  <a:tcPr marL="85725" marR="38100" marT="19050" marB="19050" anchor="ctr">
                    <a:solidFill>
                      <a:srgbClr val="FFFFFF"/>
                    </a:solidFill>
                  </a:tcPr>
                </a:tc>
                <a:tc>
                  <a:txBody>
                    <a:bodyPr wrap="none"/>
                    <a:lstStyle/>
                    <a:p>
                      <a:pPr algn="l"/>
                      <a:r>
                        <a:rPr sz="800" b="0">
                          <a:solidFill>
                            <a:srgbClr val="2E2E2E"/>
                          </a:solidFill>
                          <a:latin typeface="Calibri"/>
                        </a:rPr>
                        <a:t>0.54</a:t>
                      </a:r>
                    </a:p>
                  </a:txBody>
                  <a:tcPr marL="85725" marR="38100" marT="19050" marB="19050" anchor="ctr">
                    <a:solidFill>
                      <a:srgbClr val="FFFFFF"/>
                    </a:solidFill>
                  </a:tcPr>
                </a:tc>
                <a:tc>
                  <a:txBody>
                    <a:bodyPr wrap="none"/>
                    <a:lstStyle/>
                    <a:p>
                      <a:pPr algn="l"/>
                      <a:r>
                        <a:rPr sz="800" b="0">
                          <a:solidFill>
                            <a:srgbClr val="2E2E2E"/>
                          </a:solidFill>
                          <a:latin typeface="Calibri"/>
                        </a:rPr>
                        <a:t>0.68</a:t>
                      </a:r>
                    </a:p>
                  </a:txBody>
                  <a:tcPr marL="85725" marR="38100" marT="19050" marB="19050" anchor="ctr">
                    <a:solidFill>
                      <a:srgbClr val="FFFFFF"/>
                    </a:solidFill>
                  </a:tcPr>
                </a:tc>
                <a:tc>
                  <a:txBody>
                    <a:bodyPr wrap="none"/>
                    <a:lstStyle/>
                    <a:p>
                      <a:pPr algn="l"/>
                      <a:r>
                        <a:rPr sz="800" b="0">
                          <a:solidFill>
                            <a:srgbClr val="2E2E2E"/>
                          </a:solidFill>
                          <a:latin typeface="Calibri"/>
                        </a:rPr>
                        <a:t>0.85</a:t>
                      </a:r>
                    </a:p>
                  </a:txBody>
                  <a:tcPr marL="85725" marR="38100" marT="19050" marB="19050" anchor="ctr">
                    <a:solidFill>
                      <a:srgbClr val="FFFFFF"/>
                    </a:solidFill>
                  </a:tcPr>
                </a:tc>
                <a:tc>
                  <a:txBody>
                    <a:bodyPr wrap="none"/>
                    <a:lstStyle/>
                    <a:p>
                      <a:pPr algn="l"/>
                      <a:r>
                        <a:rPr sz="800" b="0">
                          <a:solidFill>
                            <a:srgbClr val="2E2E2E"/>
                          </a:solidFill>
                          <a:latin typeface="Calibri"/>
                        </a:rPr>
                        <a:t>1.03</a:t>
                      </a:r>
                    </a:p>
                  </a:txBody>
                  <a:tcPr marL="85725" marR="38100" marT="19050" marB="19050" anchor="ctr">
                    <a:solidFill>
                      <a:srgbClr val="FFFFFF"/>
                    </a:solidFill>
                  </a:tcPr>
                </a:tc>
                <a:tc>
                  <a:txBody>
                    <a:bodyPr wrap="none"/>
                    <a:lstStyle/>
                    <a:p>
                      <a:pPr algn="l"/>
                      <a:r>
                        <a:rPr sz="800" b="0">
                          <a:solidFill>
                            <a:srgbClr val="2E2E2E"/>
                          </a:solidFill>
                          <a:latin typeface="Calibri"/>
                        </a:rPr>
                        <a:t>1.22</a:t>
                      </a:r>
                    </a:p>
                  </a:txBody>
                  <a:tcPr marL="85725" marR="38100" marT="19050" marB="19050" anchor="ctr">
                    <a:solidFill>
                      <a:srgbClr val="FFFFFF"/>
                    </a:solidFill>
                  </a:tcPr>
                </a:tc>
                <a:tc>
                  <a:txBody>
                    <a:bodyPr wrap="none"/>
                    <a:lstStyle/>
                    <a:p>
                      <a:pPr algn="l"/>
                      <a:r>
                        <a:rPr sz="800" b="0">
                          <a:solidFill>
                            <a:srgbClr val="2E2E2E"/>
                          </a:solidFill>
                          <a:latin typeface="Calibri"/>
                        </a:rPr>
                        <a:t>1.41</a:t>
                      </a:r>
                    </a:p>
                  </a:txBody>
                  <a:tcPr marL="85725" marR="38100" marT="19050" marB="19050" anchor="ctr">
                    <a:solidFill>
                      <a:srgbClr val="FFFFFF"/>
                    </a:solidFill>
                  </a:tcPr>
                </a:tc>
                <a:tc>
                  <a:txBody>
                    <a:bodyPr wrap="none"/>
                    <a:lstStyle/>
                    <a:p>
                      <a:pPr algn="l"/>
                      <a:r>
                        <a:rPr sz="800" b="0">
                          <a:solidFill>
                            <a:srgbClr val="2E2E2E"/>
                          </a:solidFill>
                          <a:latin typeface="Calibri"/>
                        </a:rPr>
                        <a:t>1.62</a:t>
                      </a:r>
                    </a:p>
                  </a:txBody>
                  <a:tcPr marL="85725" marR="38100" marT="19050" marB="19050" anchor="ctr">
                    <a:solidFill>
                      <a:srgbClr val="FFFFFF"/>
                    </a:solidFill>
                  </a:tcPr>
                </a:tc>
                <a:tc>
                  <a:txBody>
                    <a:bodyPr wrap="none"/>
                    <a:lstStyle/>
                    <a:p>
                      <a:pPr algn="l"/>
                      <a:r>
                        <a:rPr sz="800" b="0">
                          <a:solidFill>
                            <a:srgbClr val="2E2E2E"/>
                          </a:solidFill>
                          <a:latin typeface="Calibri"/>
                        </a:rPr>
                        <a:t>1.83</a:t>
                      </a:r>
                    </a:p>
                  </a:txBody>
                  <a:tcPr marL="85725" marR="38100" marT="19050" marB="19050" anchor="ctr">
                    <a:solidFill>
                      <a:srgbClr val="FFFFFF"/>
                    </a:solidFill>
                  </a:tcPr>
                </a:tc>
                <a:tc>
                  <a:txBody>
                    <a:bodyPr wrap="none"/>
                    <a:lstStyle/>
                    <a:p>
                      <a:pPr algn="l"/>
                      <a:r>
                        <a:rPr sz="800" b="0">
                          <a:solidFill>
                            <a:srgbClr val="2E2E2E"/>
                          </a:solidFill>
                          <a:latin typeface="Calibri"/>
                        </a:rPr>
                        <a:t>2.05</a:t>
                      </a:r>
                    </a:p>
                  </a:txBody>
                  <a:tcPr marL="85725" marR="38100" marT="19050" marB="19050" anchor="ctr">
                    <a:solidFill>
                      <a:srgbClr val="FFFFFF"/>
                    </a:solidFill>
                  </a:tcPr>
                </a:tc>
                <a:tc>
                  <a:txBody>
                    <a:bodyPr wrap="none"/>
                    <a:lstStyle/>
                    <a:p>
                      <a:pPr algn="l"/>
                      <a:r>
                        <a:rPr sz="800" b="0">
                          <a:solidFill>
                            <a:srgbClr val="2E2E2E"/>
                          </a:solidFill>
                          <a:latin typeface="Calibri"/>
                        </a:rPr>
                        <a:t>2.27</a:t>
                      </a:r>
                    </a:p>
                  </a:txBody>
                  <a:tcPr marL="85725" marR="38100" marT="19050" marB="19050" anchor="ctr">
                    <a:solidFill>
                      <a:srgbClr val="FFFFFF"/>
                    </a:solidFill>
                  </a:tcPr>
                </a:tc>
                <a:tc>
                  <a:txBody>
                    <a:bodyPr wrap="none"/>
                    <a:lstStyle/>
                    <a:p>
                      <a:pPr algn="l"/>
                      <a:r>
                        <a:rPr sz="800" b="0">
                          <a:solidFill>
                            <a:srgbClr val="2E2E2E"/>
                          </a:solidFill>
                          <a:latin typeface="Calibri"/>
                        </a:rPr>
                        <a:t>2.50</a:t>
                      </a:r>
                    </a:p>
                  </a:txBody>
                  <a:tcPr marL="85725" marR="38100" marT="19050" marB="19050" anchor="ctr">
                    <a:solidFill>
                      <a:srgbClr val="FFFFFF"/>
                    </a:solidFill>
                  </a:tcPr>
                </a:tc>
                <a:tc>
                  <a:txBody>
                    <a:bodyPr wrap="none"/>
                    <a:lstStyle/>
                    <a:p>
                      <a:pPr algn="l"/>
                      <a:r>
                        <a:rPr sz="800" b="0">
                          <a:solidFill>
                            <a:srgbClr val="2E2E2E"/>
                          </a:solidFill>
                          <a:latin typeface="Calibri"/>
                        </a:rPr>
                        <a:t>2.74</a:t>
                      </a:r>
                    </a:p>
                  </a:txBody>
                  <a:tcPr marL="85725" marR="38100" marT="19050" marB="19050" anchor="ctr">
                    <a:solidFill>
                      <a:srgbClr val="FFFFFF"/>
                    </a:solidFill>
                  </a:tcPr>
                </a:tc>
                <a:tc>
                  <a:txBody>
                    <a:bodyPr wrap="none"/>
                    <a:lstStyle/>
                    <a:p>
                      <a:pPr algn="l"/>
                      <a:r>
                        <a:rPr sz="800" b="0">
                          <a:solidFill>
                            <a:srgbClr val="2E2E2E"/>
                          </a:solidFill>
                          <a:latin typeface="Calibri"/>
                        </a:rPr>
                        <a:t>2.98</a:t>
                      </a:r>
                    </a:p>
                  </a:txBody>
                  <a:tcPr marL="85725" marR="38100" marT="19050" marB="19050" anchor="ctr">
                    <a:solidFill>
                      <a:srgbClr val="FFFFFF"/>
                    </a:solidFill>
                  </a:tcPr>
                </a:tc>
                <a:tc>
                  <a:txBody>
                    <a:bodyPr wrap="none"/>
                    <a:lstStyle/>
                    <a:p>
                      <a:pPr algn="l"/>
                      <a:r>
                        <a:rPr sz="800" b="0">
                          <a:solidFill>
                            <a:srgbClr val="2E2E2E"/>
                          </a:solidFill>
                          <a:latin typeface="Calibri"/>
                        </a:rPr>
                        <a:t>3.23</a:t>
                      </a:r>
                    </a:p>
                  </a:txBody>
                  <a:tcPr marL="85725" marR="38100" marT="19050" marB="19050" anchor="ctr">
                    <a:solidFill>
                      <a:srgbClr val="FFFFFF"/>
                    </a:solidFill>
                  </a:tcPr>
                </a:tc>
                <a:tc>
                  <a:txBody>
                    <a:bodyPr wrap="none"/>
                    <a:lstStyle/>
                    <a:p>
                      <a:pPr algn="l"/>
                      <a:r>
                        <a:rPr sz="800" b="0">
                          <a:solidFill>
                            <a:srgbClr val="2E2E2E"/>
                          </a:solidFill>
                          <a:latin typeface="Calibri"/>
                        </a:rPr>
                        <a:t>12.1%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Specialty Distribution</a:t>
                      </a:r>
                    </a:p>
                  </a:txBody>
                  <a:tcPr marL="85725" marR="38100" marT="19050" marB="19050" anchor="ctr">
                    <a:solidFill>
                      <a:srgbClr val="F5F8FA"/>
                    </a:solidFill>
                  </a:tcPr>
                </a:tc>
                <a:tc>
                  <a:txBody>
                    <a:bodyPr wrap="none"/>
                    <a:lstStyle/>
                    <a:p>
                      <a:pPr algn="l"/>
                      <a:r>
                        <a:rPr sz="800" b="0">
                          <a:solidFill>
                            <a:srgbClr val="2E2E2E"/>
                          </a:solidFill>
                          <a:latin typeface="Calibri"/>
                        </a:rPr>
                        <a:t>0.39</a:t>
                      </a:r>
                    </a:p>
                  </a:txBody>
                  <a:tcPr marL="85725" marR="38100" marT="19050" marB="19050" anchor="ctr">
                    <a:solidFill>
                      <a:srgbClr val="F5F8FA"/>
                    </a:solidFill>
                  </a:tcPr>
                </a:tc>
                <a:tc>
                  <a:txBody>
                    <a:bodyPr wrap="none"/>
                    <a:lstStyle/>
                    <a:p>
                      <a:pPr algn="l"/>
                      <a:r>
                        <a:rPr sz="800" b="0">
                          <a:solidFill>
                            <a:srgbClr val="2E2E2E"/>
                          </a:solidFill>
                          <a:latin typeface="Calibri"/>
                        </a:rPr>
                        <a:t>0.46</a:t>
                      </a:r>
                    </a:p>
                  </a:txBody>
                  <a:tcPr marL="85725" marR="38100" marT="19050" marB="19050" anchor="ctr">
                    <a:solidFill>
                      <a:srgbClr val="F5F8FA"/>
                    </a:solidFill>
                  </a:tcPr>
                </a:tc>
                <a:tc>
                  <a:txBody>
                    <a:bodyPr wrap="none"/>
                    <a:lstStyle/>
                    <a:p>
                      <a:pPr algn="l"/>
                      <a:r>
                        <a:rPr sz="800" b="0">
                          <a:solidFill>
                            <a:srgbClr val="2E2E2E"/>
                          </a:solidFill>
                          <a:latin typeface="Calibri"/>
                        </a:rPr>
                        <a:t>0.57</a:t>
                      </a:r>
                    </a:p>
                  </a:txBody>
                  <a:tcPr marL="85725" marR="38100" marT="19050" marB="19050" anchor="ctr">
                    <a:solidFill>
                      <a:srgbClr val="F5F8FA"/>
                    </a:solidFill>
                  </a:tcPr>
                </a:tc>
                <a:tc>
                  <a:txBody>
                    <a:bodyPr wrap="none"/>
                    <a:lstStyle/>
                    <a:p>
                      <a:pPr algn="l"/>
                      <a:r>
                        <a:rPr sz="800" b="0">
                          <a:solidFill>
                            <a:srgbClr val="2E2E2E"/>
                          </a:solidFill>
                          <a:latin typeface="Calibri"/>
                        </a:rPr>
                        <a:t>0.74</a:t>
                      </a:r>
                    </a:p>
                  </a:txBody>
                  <a:tcPr marL="85725" marR="38100" marT="19050" marB="19050" anchor="ctr">
                    <a:solidFill>
                      <a:srgbClr val="F5F8FA"/>
                    </a:solidFill>
                  </a:tcPr>
                </a:tc>
                <a:tc>
                  <a:txBody>
                    <a:bodyPr wrap="none"/>
                    <a:lstStyle/>
                    <a:p>
                      <a:pPr algn="l"/>
                      <a:r>
                        <a:rPr sz="800" b="0">
                          <a:solidFill>
                            <a:srgbClr val="2E2E2E"/>
                          </a:solidFill>
                          <a:latin typeface="Calibri"/>
                        </a:rPr>
                        <a:t>0.93</a:t>
                      </a:r>
                    </a:p>
                  </a:txBody>
                  <a:tcPr marL="85725" marR="38100" marT="19050" marB="19050" anchor="ctr">
                    <a:solidFill>
                      <a:srgbClr val="F5F8FA"/>
                    </a:solidFill>
                  </a:tcPr>
                </a:tc>
                <a:tc>
                  <a:txBody>
                    <a:bodyPr wrap="none"/>
                    <a:lstStyle/>
                    <a:p>
                      <a:pPr algn="l"/>
                      <a:r>
                        <a:rPr sz="800" b="0">
                          <a:solidFill>
                            <a:srgbClr val="2E2E2E"/>
                          </a:solidFill>
                          <a:latin typeface="Calibri"/>
                        </a:rPr>
                        <a:t>1.14</a:t>
                      </a:r>
                    </a:p>
                  </a:txBody>
                  <a:tcPr marL="85725" marR="38100" marT="19050" marB="19050" anchor="ctr">
                    <a:solidFill>
                      <a:srgbClr val="F5F8FA"/>
                    </a:solidFill>
                  </a:tcPr>
                </a:tc>
                <a:tc>
                  <a:txBody>
                    <a:bodyPr wrap="none"/>
                    <a:lstStyle/>
                    <a:p>
                      <a:pPr algn="l"/>
                      <a:r>
                        <a:rPr sz="800" b="0">
                          <a:solidFill>
                            <a:srgbClr val="2E2E2E"/>
                          </a:solidFill>
                          <a:latin typeface="Calibri"/>
                        </a:rPr>
                        <a:t>1.37</a:t>
                      </a:r>
                    </a:p>
                  </a:txBody>
                  <a:tcPr marL="85725" marR="38100" marT="19050" marB="19050" anchor="ctr">
                    <a:solidFill>
                      <a:srgbClr val="F5F8FA"/>
                    </a:solidFill>
                  </a:tcPr>
                </a:tc>
                <a:tc>
                  <a:txBody>
                    <a:bodyPr wrap="none"/>
                    <a:lstStyle/>
                    <a:p>
                      <a:pPr algn="l"/>
                      <a:r>
                        <a:rPr sz="800" b="0">
                          <a:solidFill>
                            <a:srgbClr val="2E2E2E"/>
                          </a:solidFill>
                          <a:latin typeface="Calibri"/>
                        </a:rPr>
                        <a:t>1.61</a:t>
                      </a:r>
                    </a:p>
                  </a:txBody>
                  <a:tcPr marL="85725" marR="38100" marT="19050" marB="19050" anchor="ctr">
                    <a:solidFill>
                      <a:srgbClr val="F5F8FA"/>
                    </a:solidFill>
                  </a:tcPr>
                </a:tc>
                <a:tc>
                  <a:txBody>
                    <a:bodyPr wrap="none"/>
                    <a:lstStyle/>
                    <a:p>
                      <a:pPr algn="l"/>
                      <a:r>
                        <a:rPr sz="800" b="0">
                          <a:solidFill>
                            <a:srgbClr val="2E2E2E"/>
                          </a:solidFill>
                          <a:latin typeface="Calibri"/>
                        </a:rPr>
                        <a:t>1.87</a:t>
                      </a:r>
                    </a:p>
                  </a:txBody>
                  <a:tcPr marL="85725" marR="38100" marT="19050" marB="19050" anchor="ctr">
                    <a:solidFill>
                      <a:srgbClr val="F5F8FA"/>
                    </a:solidFill>
                  </a:tcPr>
                </a:tc>
                <a:tc>
                  <a:txBody>
                    <a:bodyPr wrap="none"/>
                    <a:lstStyle/>
                    <a:p>
                      <a:pPr algn="l"/>
                      <a:r>
                        <a:rPr sz="800" b="0">
                          <a:solidFill>
                            <a:srgbClr val="2E2E2E"/>
                          </a:solidFill>
                          <a:latin typeface="Calibri"/>
                        </a:rPr>
                        <a:t>2.15</a:t>
                      </a:r>
                    </a:p>
                  </a:txBody>
                  <a:tcPr marL="85725" marR="38100" marT="19050" marB="19050" anchor="ctr">
                    <a:solidFill>
                      <a:srgbClr val="F5F8FA"/>
                    </a:solidFill>
                  </a:tcPr>
                </a:tc>
                <a:tc>
                  <a:txBody>
                    <a:bodyPr wrap="none"/>
                    <a:lstStyle/>
                    <a:p>
                      <a:pPr algn="l"/>
                      <a:r>
                        <a:rPr sz="800" b="0">
                          <a:solidFill>
                            <a:srgbClr val="2E2E2E"/>
                          </a:solidFill>
                          <a:latin typeface="Calibri"/>
                        </a:rPr>
                        <a:t>2.44</a:t>
                      </a:r>
                    </a:p>
                  </a:txBody>
                  <a:tcPr marL="85725" marR="38100" marT="19050" marB="19050" anchor="ctr">
                    <a:solidFill>
                      <a:srgbClr val="F5F8FA"/>
                    </a:solidFill>
                  </a:tcPr>
                </a:tc>
                <a:tc>
                  <a:txBody>
                    <a:bodyPr wrap="none"/>
                    <a:lstStyle/>
                    <a:p>
                      <a:pPr algn="l"/>
                      <a:r>
                        <a:rPr sz="800" b="0">
                          <a:solidFill>
                            <a:srgbClr val="2E2E2E"/>
                          </a:solidFill>
                          <a:latin typeface="Calibri"/>
                        </a:rPr>
                        <a:t>2.74</a:t>
                      </a:r>
                    </a:p>
                  </a:txBody>
                  <a:tcPr marL="85725" marR="38100" marT="19050" marB="19050" anchor="ctr">
                    <a:solidFill>
                      <a:srgbClr val="F5F8FA"/>
                    </a:solidFill>
                  </a:tcPr>
                </a:tc>
                <a:tc>
                  <a:txBody>
                    <a:bodyPr wrap="none"/>
                    <a:lstStyle/>
                    <a:p>
                      <a:pPr algn="l"/>
                      <a:r>
                        <a:rPr sz="800" b="0">
                          <a:solidFill>
                            <a:srgbClr val="2E2E2E"/>
                          </a:solidFill>
                          <a:latin typeface="Calibri"/>
                        </a:rPr>
                        <a:t>3.07</a:t>
                      </a:r>
                    </a:p>
                  </a:txBody>
                  <a:tcPr marL="85725" marR="38100" marT="19050" marB="19050" anchor="ctr">
                    <a:solidFill>
                      <a:srgbClr val="F5F8FA"/>
                    </a:solidFill>
                  </a:tcPr>
                </a:tc>
                <a:tc>
                  <a:txBody>
                    <a:bodyPr wrap="none"/>
                    <a:lstStyle/>
                    <a:p>
                      <a:pPr algn="l"/>
                      <a:r>
                        <a:rPr sz="800" b="0">
                          <a:solidFill>
                            <a:srgbClr val="2E2E2E"/>
                          </a:solidFill>
                          <a:latin typeface="Calibri"/>
                        </a:rPr>
                        <a:t>3.41</a:t>
                      </a:r>
                    </a:p>
                  </a:txBody>
                  <a:tcPr marL="85725" marR="38100" marT="19050" marB="19050" anchor="ctr">
                    <a:solidFill>
                      <a:srgbClr val="F5F8FA"/>
                    </a:solidFill>
                  </a:tcPr>
                </a:tc>
                <a:tc>
                  <a:txBody>
                    <a:bodyPr wrap="none"/>
                    <a:lstStyle/>
                    <a:p>
                      <a:pPr algn="l"/>
                      <a:r>
                        <a:rPr sz="800" b="0">
                          <a:solidFill>
                            <a:srgbClr val="2E2E2E"/>
                          </a:solidFill>
                          <a:latin typeface="Calibri"/>
                        </a:rPr>
                        <a:t>3.77</a:t>
                      </a:r>
                    </a:p>
                  </a:txBody>
                  <a:tcPr marL="85725" marR="38100" marT="19050" marB="19050" anchor="ctr">
                    <a:solidFill>
                      <a:srgbClr val="F5F8FA"/>
                    </a:solidFill>
                  </a:tcPr>
                </a:tc>
                <a:tc>
                  <a:txBody>
                    <a:bodyPr wrap="none"/>
                    <a:lstStyle/>
                    <a:p>
                      <a:pPr algn="l"/>
                      <a:r>
                        <a:rPr sz="800" b="0">
                          <a:solidFill>
                            <a:srgbClr val="2E2E2E"/>
                          </a:solidFill>
                          <a:latin typeface="Calibri"/>
                        </a:rPr>
                        <a:t>4.16</a:t>
                      </a:r>
                    </a:p>
                  </a:txBody>
                  <a:tcPr marL="85725" marR="38100" marT="19050" marB="19050" anchor="ctr">
                    <a:solidFill>
                      <a:srgbClr val="F5F8FA"/>
                    </a:solidFill>
                  </a:tcPr>
                </a:tc>
                <a:tc>
                  <a:txBody>
                    <a:bodyPr wrap="none"/>
                    <a:lstStyle/>
                    <a:p>
                      <a:pPr algn="l"/>
                      <a:r>
                        <a:rPr sz="800" b="0">
                          <a:solidFill>
                            <a:srgbClr val="2E2E2E"/>
                          </a:solidFill>
                          <a:latin typeface="Calibri"/>
                        </a:rPr>
                        <a:t>13.8%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Pharmacy Channel</a:t>
                      </a:r>
                    </a:p>
                  </a:txBody>
                  <a:tcPr marL="85725" marR="38100" marT="19050" marB="19050" anchor="ctr">
                    <a:solidFill>
                      <a:srgbClr val="FFFFFF"/>
                    </a:solidFill>
                  </a:tcPr>
                </a:tc>
                <a:tc>
                  <a:txBody>
                    <a:bodyPr wrap="none"/>
                    <a:lstStyle/>
                    <a:p>
                      <a:pPr algn="l"/>
                      <a:r>
                        <a:rPr sz="800" b="0">
                          <a:solidFill>
                            <a:srgbClr val="2E2E2E"/>
                          </a:solidFill>
                          <a:latin typeface="Calibri"/>
                        </a:rPr>
                        <a:t>0.26</a:t>
                      </a:r>
                    </a:p>
                  </a:txBody>
                  <a:tcPr marL="85725" marR="38100" marT="19050" marB="19050" anchor="ctr">
                    <a:solidFill>
                      <a:srgbClr val="FFFFFF"/>
                    </a:solidFill>
                  </a:tcPr>
                </a:tc>
                <a:tc>
                  <a:txBody>
                    <a:bodyPr wrap="none"/>
                    <a:lstStyle/>
                    <a:p>
                      <a:pPr algn="l"/>
                      <a:r>
                        <a:rPr sz="800" b="0">
                          <a:solidFill>
                            <a:srgbClr val="2E2E2E"/>
                          </a:solidFill>
                          <a:latin typeface="Calibri"/>
                        </a:rPr>
                        <a:t>0.30</a:t>
                      </a:r>
                    </a:p>
                  </a:txBody>
                  <a:tcPr marL="85725" marR="38100" marT="19050" marB="19050" anchor="ctr">
                    <a:solidFill>
                      <a:srgbClr val="FFFFFF"/>
                    </a:solidFill>
                  </a:tcPr>
                </a:tc>
                <a:tc>
                  <a:txBody>
                    <a:bodyPr wrap="none"/>
                    <a:lstStyle/>
                    <a:p>
                      <a:pPr algn="l"/>
                      <a:r>
                        <a:rPr sz="800" b="0">
                          <a:solidFill>
                            <a:srgbClr val="2E2E2E"/>
                          </a:solidFill>
                          <a:latin typeface="Calibri"/>
                        </a:rPr>
                        <a:t>0.37</a:t>
                      </a:r>
                    </a:p>
                  </a:txBody>
                  <a:tcPr marL="85725" marR="38100" marT="19050" marB="19050" anchor="ctr">
                    <a:solidFill>
                      <a:srgbClr val="FFFFFF"/>
                    </a:solidFill>
                  </a:tcPr>
                </a:tc>
                <a:tc>
                  <a:txBody>
                    <a:bodyPr wrap="none"/>
                    <a:lstStyle/>
                    <a:p>
                      <a:pPr algn="l"/>
                      <a:r>
                        <a:rPr sz="800" b="0">
                          <a:solidFill>
                            <a:srgbClr val="2E2E2E"/>
                          </a:solidFill>
                          <a:latin typeface="Calibri"/>
                        </a:rPr>
                        <a:t>0.48</a:t>
                      </a:r>
                    </a:p>
                  </a:txBody>
                  <a:tcPr marL="85725" marR="38100" marT="19050" marB="19050" anchor="ctr">
                    <a:solidFill>
                      <a:srgbClr val="FFFFFF"/>
                    </a:solidFill>
                  </a:tcPr>
                </a:tc>
                <a:tc>
                  <a:txBody>
                    <a:bodyPr wrap="none"/>
                    <a:lstStyle/>
                    <a:p>
                      <a:pPr algn="l"/>
                      <a:r>
                        <a:rPr sz="800" b="0">
                          <a:solidFill>
                            <a:srgbClr val="2E2E2E"/>
                          </a:solidFill>
                          <a:latin typeface="Calibri"/>
                        </a:rPr>
                        <a:t>0.59</a:t>
                      </a:r>
                    </a:p>
                  </a:txBody>
                  <a:tcPr marL="85725" marR="38100" marT="19050" marB="19050" anchor="ctr">
                    <a:solidFill>
                      <a:srgbClr val="FFFFFF"/>
                    </a:solidFill>
                  </a:tcPr>
                </a:tc>
                <a:tc>
                  <a:txBody>
                    <a:bodyPr wrap="none"/>
                    <a:lstStyle/>
                    <a:p>
                      <a:pPr algn="l"/>
                      <a:r>
                        <a:rPr sz="800" b="0">
                          <a:solidFill>
                            <a:srgbClr val="2E2E2E"/>
                          </a:solidFill>
                          <a:latin typeface="Calibri"/>
                        </a:rPr>
                        <a:t>0.72</a:t>
                      </a:r>
                    </a:p>
                  </a:txBody>
                  <a:tcPr marL="85725" marR="38100" marT="19050" marB="19050" anchor="ctr">
                    <a:solidFill>
                      <a:srgbClr val="FFFFFF"/>
                    </a:solidFill>
                  </a:tcPr>
                </a:tc>
                <a:tc>
                  <a:txBody>
                    <a:bodyPr wrap="none"/>
                    <a:lstStyle/>
                    <a:p>
                      <a:pPr algn="l"/>
                      <a:r>
                        <a:rPr sz="800" b="0">
                          <a:solidFill>
                            <a:srgbClr val="2E2E2E"/>
                          </a:solidFill>
                          <a:latin typeface="Calibri"/>
                        </a:rPr>
                        <a:t>0.86</a:t>
                      </a:r>
                    </a:p>
                  </a:txBody>
                  <a:tcPr marL="85725" marR="38100" marT="19050" marB="19050" anchor="ctr">
                    <a:solidFill>
                      <a:srgbClr val="FFFFFF"/>
                    </a:solidFill>
                  </a:tcPr>
                </a:tc>
                <a:tc>
                  <a:txBody>
                    <a:bodyPr wrap="none"/>
                    <a:lstStyle/>
                    <a:p>
                      <a:pPr algn="l"/>
                      <a:r>
                        <a:rPr sz="800" b="0">
                          <a:solidFill>
                            <a:srgbClr val="2E2E2E"/>
                          </a:solidFill>
                          <a:latin typeface="Calibri"/>
                        </a:rPr>
                        <a:t>1.00</a:t>
                      </a:r>
                    </a:p>
                  </a:txBody>
                  <a:tcPr marL="85725" marR="38100" marT="19050" marB="19050" anchor="ctr">
                    <a:solidFill>
                      <a:srgbClr val="FFFFFF"/>
                    </a:solidFill>
                  </a:tcPr>
                </a:tc>
                <a:tc>
                  <a:txBody>
                    <a:bodyPr wrap="none"/>
                    <a:lstStyle/>
                    <a:p>
                      <a:pPr algn="l"/>
                      <a:r>
                        <a:rPr sz="800" b="0">
                          <a:solidFill>
                            <a:srgbClr val="2E2E2E"/>
                          </a:solidFill>
                          <a:latin typeface="Calibri"/>
                        </a:rPr>
                        <a:t>1.15</a:t>
                      </a:r>
                    </a:p>
                  </a:txBody>
                  <a:tcPr marL="85725" marR="38100" marT="19050" marB="19050" anchor="ctr">
                    <a:solidFill>
                      <a:srgbClr val="FFFFFF"/>
                    </a:solidFill>
                  </a:tcPr>
                </a:tc>
                <a:tc>
                  <a:txBody>
                    <a:bodyPr wrap="none"/>
                    <a:lstStyle/>
                    <a:p>
                      <a:pPr algn="l"/>
                      <a:r>
                        <a:rPr sz="800" b="0">
                          <a:solidFill>
                            <a:srgbClr val="2E2E2E"/>
                          </a:solidFill>
                          <a:latin typeface="Calibri"/>
                        </a:rPr>
                        <a:t>1.31</a:t>
                      </a:r>
                    </a:p>
                  </a:txBody>
                  <a:tcPr marL="85725" marR="38100" marT="19050" marB="19050" anchor="ctr">
                    <a:solidFill>
                      <a:srgbClr val="FFFFFF"/>
                    </a:solidFill>
                  </a:tcPr>
                </a:tc>
                <a:tc>
                  <a:txBody>
                    <a:bodyPr wrap="none"/>
                    <a:lstStyle/>
                    <a:p>
                      <a:pPr algn="l"/>
                      <a:r>
                        <a:rPr sz="800" b="0">
                          <a:solidFill>
                            <a:srgbClr val="2E2E2E"/>
                          </a:solidFill>
                          <a:latin typeface="Calibri"/>
                        </a:rPr>
                        <a:t>1.48</a:t>
                      </a:r>
                    </a:p>
                  </a:txBody>
                  <a:tcPr marL="85725" marR="38100" marT="19050" marB="19050" anchor="ctr">
                    <a:solidFill>
                      <a:srgbClr val="FFFFFF"/>
                    </a:solidFill>
                  </a:tcPr>
                </a:tc>
                <a:tc>
                  <a:txBody>
                    <a:bodyPr wrap="none"/>
                    <a:lstStyle/>
                    <a:p>
                      <a:pPr algn="l"/>
                      <a:r>
                        <a:rPr sz="800" b="0">
                          <a:solidFill>
                            <a:srgbClr val="2E2E2E"/>
                          </a:solidFill>
                          <a:latin typeface="Calibri"/>
                        </a:rPr>
                        <a:t>1.65</a:t>
                      </a:r>
                    </a:p>
                  </a:txBody>
                  <a:tcPr marL="85725" marR="38100" marT="19050" marB="19050" anchor="ctr">
                    <a:solidFill>
                      <a:srgbClr val="FFFFFF"/>
                    </a:solidFill>
                  </a:tcPr>
                </a:tc>
                <a:tc>
                  <a:txBody>
                    <a:bodyPr wrap="none"/>
                    <a:lstStyle/>
                    <a:p>
                      <a:pPr algn="l"/>
                      <a:r>
                        <a:rPr sz="800" b="0">
                          <a:solidFill>
                            <a:srgbClr val="2E2E2E"/>
                          </a:solidFill>
                          <a:latin typeface="Calibri"/>
                        </a:rPr>
                        <a:t>1.83</a:t>
                      </a:r>
                    </a:p>
                  </a:txBody>
                  <a:tcPr marL="85725" marR="38100" marT="19050" marB="19050" anchor="ctr">
                    <a:solidFill>
                      <a:srgbClr val="FFFFFF"/>
                    </a:solidFill>
                  </a:tcPr>
                </a:tc>
                <a:tc>
                  <a:txBody>
                    <a:bodyPr wrap="none"/>
                    <a:lstStyle/>
                    <a:p>
                      <a:pPr algn="l"/>
                      <a:r>
                        <a:rPr sz="800" b="0">
                          <a:solidFill>
                            <a:srgbClr val="2E2E2E"/>
                          </a:solidFill>
                          <a:latin typeface="Calibri"/>
                        </a:rPr>
                        <a:t>2.02</a:t>
                      </a:r>
                    </a:p>
                  </a:txBody>
                  <a:tcPr marL="85725" marR="38100" marT="19050" marB="19050" anchor="ctr">
                    <a:solidFill>
                      <a:srgbClr val="FFFFFF"/>
                    </a:solidFill>
                  </a:tcPr>
                </a:tc>
                <a:tc>
                  <a:txBody>
                    <a:bodyPr wrap="none"/>
                    <a:lstStyle/>
                    <a:p>
                      <a:pPr algn="l"/>
                      <a:r>
                        <a:rPr sz="800" b="0">
                          <a:solidFill>
                            <a:srgbClr val="2E2E2E"/>
                          </a:solidFill>
                          <a:latin typeface="Calibri"/>
                        </a:rPr>
                        <a:t>2.21</a:t>
                      </a:r>
                    </a:p>
                  </a:txBody>
                  <a:tcPr marL="85725" marR="38100" marT="19050" marB="19050" anchor="ctr">
                    <a:solidFill>
                      <a:srgbClr val="FFFFFF"/>
                    </a:solidFill>
                  </a:tcPr>
                </a:tc>
                <a:tc>
                  <a:txBody>
                    <a:bodyPr wrap="none"/>
                    <a:lstStyle/>
                    <a:p>
                      <a:pPr algn="l"/>
                      <a:r>
                        <a:rPr sz="800" b="0">
                          <a:solidFill>
                            <a:srgbClr val="2E2E2E"/>
                          </a:solidFill>
                          <a:latin typeface="Calibri"/>
                        </a:rPr>
                        <a:t>2.42</a:t>
                      </a:r>
                    </a:p>
                  </a:txBody>
                  <a:tcPr marL="85725" marR="38100" marT="19050" marB="19050" anchor="ctr">
                    <a:solidFill>
                      <a:srgbClr val="FFFFFF"/>
                    </a:solidFill>
                  </a:tcPr>
                </a:tc>
                <a:tc>
                  <a:txBody>
                    <a:bodyPr wrap="none"/>
                    <a:lstStyle/>
                    <a:p>
                      <a:pPr algn="l"/>
                      <a:r>
                        <a:rPr sz="800" b="0">
                          <a:solidFill>
                            <a:srgbClr val="2E2E2E"/>
                          </a:solidFill>
                          <a:latin typeface="Calibri"/>
                        </a:rPr>
                        <a:t>12.9%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Online / Digital Pharmacy</a:t>
                      </a:r>
                    </a:p>
                  </a:txBody>
                  <a:tcPr marL="85725" marR="38100" marT="19050" marB="19050" anchor="ctr">
                    <a:solidFill>
                      <a:srgbClr val="F5F8FA"/>
                    </a:solidFill>
                  </a:tcPr>
                </a:tc>
                <a:tc>
                  <a:txBody>
                    <a:bodyPr wrap="none"/>
                    <a:lstStyle/>
                    <a:p>
                      <a:pPr algn="l"/>
                      <a:r>
                        <a:rPr sz="800" b="0">
                          <a:solidFill>
                            <a:srgbClr val="2E2E2E"/>
                          </a:solidFill>
                          <a:latin typeface="Calibri"/>
                        </a:rPr>
                        <a:t>0.45</a:t>
                      </a:r>
                    </a:p>
                  </a:txBody>
                  <a:tcPr marL="85725" marR="38100" marT="19050" marB="19050" anchor="ctr">
                    <a:solidFill>
                      <a:srgbClr val="F5F8FA"/>
                    </a:solidFill>
                  </a:tcPr>
                </a:tc>
                <a:tc>
                  <a:txBody>
                    <a:bodyPr wrap="none"/>
                    <a:lstStyle/>
                    <a:p>
                      <a:pPr algn="l"/>
                      <a:r>
                        <a:rPr sz="800" b="0">
                          <a:solidFill>
                            <a:srgbClr val="2E2E2E"/>
                          </a:solidFill>
                          <a:latin typeface="Calibri"/>
                        </a:rPr>
                        <a:t>0.52</a:t>
                      </a:r>
                    </a:p>
                  </a:txBody>
                  <a:tcPr marL="85725" marR="38100" marT="19050" marB="19050" anchor="ctr">
                    <a:solidFill>
                      <a:srgbClr val="F5F8FA"/>
                    </a:solidFill>
                  </a:tcPr>
                </a:tc>
                <a:tc>
                  <a:txBody>
                    <a:bodyPr wrap="none"/>
                    <a:lstStyle/>
                    <a:p>
                      <a:pPr algn="l"/>
                      <a:r>
                        <a:rPr sz="800" b="0">
                          <a:solidFill>
                            <a:srgbClr val="2E2E2E"/>
                          </a:solidFill>
                          <a:latin typeface="Calibri"/>
                        </a:rPr>
                        <a:t>0.65</a:t>
                      </a:r>
                    </a:p>
                  </a:txBody>
                  <a:tcPr marL="85725" marR="38100" marT="19050" marB="19050" anchor="ctr">
                    <a:solidFill>
                      <a:srgbClr val="F5F8FA"/>
                    </a:solidFill>
                  </a:tcPr>
                </a:tc>
                <a:tc>
                  <a:txBody>
                    <a:bodyPr wrap="none"/>
                    <a:lstStyle/>
                    <a:p>
                      <a:pPr algn="l"/>
                      <a:r>
                        <a:rPr sz="800" b="0">
                          <a:solidFill>
                            <a:srgbClr val="2E2E2E"/>
                          </a:solidFill>
                          <a:latin typeface="Calibri"/>
                        </a:rPr>
                        <a:t>0.84</a:t>
                      </a:r>
                    </a:p>
                  </a:txBody>
                  <a:tcPr marL="85725" marR="38100" marT="19050" marB="19050" anchor="ctr">
                    <a:solidFill>
                      <a:srgbClr val="F5F8FA"/>
                    </a:solidFill>
                  </a:tcPr>
                </a:tc>
                <a:tc>
                  <a:txBody>
                    <a:bodyPr wrap="none"/>
                    <a:lstStyle/>
                    <a:p>
                      <a:pPr algn="l"/>
                      <a:r>
                        <a:rPr sz="800" b="0">
                          <a:solidFill>
                            <a:srgbClr val="2E2E2E"/>
                          </a:solidFill>
                          <a:latin typeface="Calibri"/>
                        </a:rPr>
                        <a:t>1.05</a:t>
                      </a:r>
                    </a:p>
                  </a:txBody>
                  <a:tcPr marL="85725" marR="38100" marT="19050" marB="19050" anchor="ctr">
                    <a:solidFill>
                      <a:srgbClr val="F5F8FA"/>
                    </a:solidFill>
                  </a:tcPr>
                </a:tc>
                <a:tc>
                  <a:txBody>
                    <a:bodyPr wrap="none"/>
                    <a:lstStyle/>
                    <a:p>
                      <a:pPr algn="l"/>
                      <a:r>
                        <a:rPr sz="800" b="0">
                          <a:solidFill>
                            <a:srgbClr val="2E2E2E"/>
                          </a:solidFill>
                          <a:latin typeface="Calibri"/>
                        </a:rPr>
                        <a:t>1.28</a:t>
                      </a:r>
                    </a:p>
                  </a:txBody>
                  <a:tcPr marL="85725" marR="38100" marT="19050" marB="19050" anchor="ctr">
                    <a:solidFill>
                      <a:srgbClr val="F5F8FA"/>
                    </a:solidFill>
                  </a:tcPr>
                </a:tc>
                <a:tc>
                  <a:txBody>
                    <a:bodyPr wrap="none"/>
                    <a:lstStyle/>
                    <a:p>
                      <a:pPr algn="l"/>
                      <a:r>
                        <a:rPr sz="800" b="0">
                          <a:solidFill>
                            <a:srgbClr val="2E2E2E"/>
                          </a:solidFill>
                          <a:latin typeface="Calibri"/>
                        </a:rPr>
                        <a:t>1.52</a:t>
                      </a:r>
                    </a:p>
                  </a:txBody>
                  <a:tcPr marL="85725" marR="38100" marT="19050" marB="19050" anchor="ctr">
                    <a:solidFill>
                      <a:srgbClr val="F5F8FA"/>
                    </a:solidFill>
                  </a:tcPr>
                </a:tc>
                <a:tc>
                  <a:txBody>
                    <a:bodyPr wrap="none"/>
                    <a:lstStyle/>
                    <a:p>
                      <a:pPr algn="l"/>
                      <a:r>
                        <a:rPr sz="800" b="0">
                          <a:solidFill>
                            <a:srgbClr val="2E2E2E"/>
                          </a:solidFill>
                          <a:latin typeface="Calibri"/>
                        </a:rPr>
                        <a:t>1.78</a:t>
                      </a:r>
                    </a:p>
                  </a:txBody>
                  <a:tcPr marL="85725" marR="38100" marT="19050" marB="19050" anchor="ctr">
                    <a:solidFill>
                      <a:srgbClr val="F5F8FA"/>
                    </a:solidFill>
                  </a:tcPr>
                </a:tc>
                <a:tc>
                  <a:txBody>
                    <a:bodyPr wrap="none"/>
                    <a:lstStyle/>
                    <a:p>
                      <a:pPr algn="l"/>
                      <a:r>
                        <a:rPr sz="800" b="0">
                          <a:solidFill>
                            <a:srgbClr val="2E2E2E"/>
                          </a:solidFill>
                          <a:latin typeface="Calibri"/>
                        </a:rPr>
                        <a:t>2.06</a:t>
                      </a:r>
                    </a:p>
                  </a:txBody>
                  <a:tcPr marL="85725" marR="38100" marT="19050" marB="19050" anchor="ctr">
                    <a:solidFill>
                      <a:srgbClr val="F5F8FA"/>
                    </a:solidFill>
                  </a:tcPr>
                </a:tc>
                <a:tc>
                  <a:txBody>
                    <a:bodyPr wrap="none"/>
                    <a:lstStyle/>
                    <a:p>
                      <a:pPr algn="l"/>
                      <a:r>
                        <a:rPr sz="800" b="0">
                          <a:solidFill>
                            <a:srgbClr val="2E2E2E"/>
                          </a:solidFill>
                          <a:latin typeface="Calibri"/>
                        </a:rPr>
                        <a:t>2.35</a:t>
                      </a:r>
                    </a:p>
                  </a:txBody>
                  <a:tcPr marL="85725" marR="38100" marT="19050" marB="19050" anchor="ctr">
                    <a:solidFill>
                      <a:srgbClr val="F5F8FA"/>
                    </a:solidFill>
                  </a:tcPr>
                </a:tc>
                <a:tc>
                  <a:txBody>
                    <a:bodyPr wrap="none"/>
                    <a:lstStyle/>
                    <a:p>
                      <a:pPr algn="l"/>
                      <a:r>
                        <a:rPr sz="800" b="0">
                          <a:solidFill>
                            <a:srgbClr val="2E2E2E"/>
                          </a:solidFill>
                          <a:latin typeface="Calibri"/>
                        </a:rPr>
                        <a:t>2.64</a:t>
                      </a:r>
                    </a:p>
                  </a:txBody>
                  <a:tcPr marL="85725" marR="38100" marT="19050" marB="19050" anchor="ctr">
                    <a:solidFill>
                      <a:srgbClr val="F5F8FA"/>
                    </a:solidFill>
                  </a:tcPr>
                </a:tc>
                <a:tc>
                  <a:txBody>
                    <a:bodyPr wrap="none"/>
                    <a:lstStyle/>
                    <a:p>
                      <a:pPr algn="l"/>
                      <a:r>
                        <a:rPr sz="800" b="0">
                          <a:solidFill>
                            <a:srgbClr val="2E2E2E"/>
                          </a:solidFill>
                          <a:latin typeface="Calibri"/>
                        </a:rPr>
                        <a:t>2.96</a:t>
                      </a:r>
                    </a:p>
                  </a:txBody>
                  <a:tcPr marL="85725" marR="38100" marT="19050" marB="19050" anchor="ctr">
                    <a:solidFill>
                      <a:srgbClr val="F5F8FA"/>
                    </a:solidFill>
                  </a:tcPr>
                </a:tc>
                <a:tc>
                  <a:txBody>
                    <a:bodyPr wrap="none"/>
                    <a:lstStyle/>
                    <a:p>
                      <a:pPr algn="l"/>
                      <a:r>
                        <a:rPr sz="800" b="0">
                          <a:solidFill>
                            <a:srgbClr val="2E2E2E"/>
                          </a:solidFill>
                          <a:latin typeface="Calibri"/>
                        </a:rPr>
                        <a:t>3.28</a:t>
                      </a:r>
                    </a:p>
                  </a:txBody>
                  <a:tcPr marL="85725" marR="38100" marT="19050" marB="19050" anchor="ctr">
                    <a:solidFill>
                      <a:srgbClr val="F5F8FA"/>
                    </a:solidFill>
                  </a:tcPr>
                </a:tc>
                <a:tc>
                  <a:txBody>
                    <a:bodyPr wrap="none"/>
                    <a:lstStyle/>
                    <a:p>
                      <a:pPr algn="l"/>
                      <a:r>
                        <a:rPr sz="800" b="0">
                          <a:solidFill>
                            <a:srgbClr val="2E2E2E"/>
                          </a:solidFill>
                          <a:latin typeface="Calibri"/>
                        </a:rPr>
                        <a:t>3.61</a:t>
                      </a:r>
                    </a:p>
                  </a:txBody>
                  <a:tcPr marL="85725" marR="38100" marT="19050" marB="19050" anchor="ctr">
                    <a:solidFill>
                      <a:srgbClr val="F5F8FA"/>
                    </a:solidFill>
                  </a:tcPr>
                </a:tc>
                <a:tc>
                  <a:txBody>
                    <a:bodyPr wrap="none"/>
                    <a:lstStyle/>
                    <a:p>
                      <a:pPr algn="l"/>
                      <a:r>
                        <a:rPr sz="800" b="0">
                          <a:solidFill>
                            <a:srgbClr val="2E2E2E"/>
                          </a:solidFill>
                          <a:latin typeface="Calibri"/>
                        </a:rPr>
                        <a:t>3.96</a:t>
                      </a:r>
                    </a:p>
                  </a:txBody>
                  <a:tcPr marL="85725" marR="38100" marT="19050" marB="19050" anchor="ctr">
                    <a:solidFill>
                      <a:srgbClr val="F5F8FA"/>
                    </a:solidFill>
                  </a:tcPr>
                </a:tc>
                <a:tc>
                  <a:txBody>
                    <a:bodyPr wrap="none"/>
                    <a:lstStyle/>
                    <a:p>
                      <a:pPr algn="l"/>
                      <a:r>
                        <a:rPr sz="800" b="0">
                          <a:solidFill>
                            <a:srgbClr val="2E2E2E"/>
                          </a:solidFill>
                          <a:latin typeface="Calibri"/>
                        </a:rPr>
                        <a:t>4.33</a:t>
                      </a:r>
                    </a:p>
                  </a:txBody>
                  <a:tcPr marL="85725" marR="38100" marT="19050" marB="19050" anchor="ctr">
                    <a:solidFill>
                      <a:srgbClr val="F5F8FA"/>
                    </a:solidFill>
                  </a:tcPr>
                </a:tc>
                <a:tc>
                  <a:txBody>
                    <a:bodyPr wrap="none"/>
                    <a:lstStyle/>
                    <a:p>
                      <a:pPr algn="l"/>
                      <a:r>
                        <a:rPr sz="800" b="0">
                          <a:solidFill>
                            <a:srgbClr val="2E2E2E"/>
                          </a:solidFill>
                          <a:latin typeface="Calibri"/>
                        </a:rPr>
                        <a:t>13.0%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1.47</a:t>
                      </a:r>
                    </a:p>
                  </a:txBody>
                  <a:tcPr marL="85725" marR="38100" marT="19050" marB="19050" anchor="ctr">
                    <a:solidFill>
                      <a:srgbClr val="E0E8EF"/>
                    </a:solidFill>
                  </a:tcPr>
                </a:tc>
                <a:tc>
                  <a:txBody>
                    <a:bodyPr wrap="none"/>
                    <a:lstStyle/>
                    <a:p>
                      <a:pPr algn="l"/>
                      <a:r>
                        <a:rPr sz="800" b="1">
                          <a:solidFill>
                            <a:srgbClr val="2E2E2E"/>
                          </a:solidFill>
                          <a:latin typeface="Calibri"/>
                        </a:rPr>
                        <a:t>1.72</a:t>
                      </a:r>
                    </a:p>
                  </a:txBody>
                  <a:tcPr marL="85725" marR="38100" marT="19050" marB="19050" anchor="ctr">
                    <a:solidFill>
                      <a:srgbClr val="E0E8EF"/>
                    </a:solidFill>
                  </a:tcPr>
                </a:tc>
                <a:tc>
                  <a:txBody>
                    <a:bodyPr wrap="none"/>
                    <a:lstStyle/>
                    <a:p>
                      <a:pPr algn="l"/>
                      <a:r>
                        <a:rPr sz="800" b="1">
                          <a:solidFill>
                            <a:srgbClr val="2E2E2E"/>
                          </a:solidFill>
                          <a:latin typeface="Calibri"/>
                        </a:rPr>
                        <a:t>2.13</a:t>
                      </a:r>
                    </a:p>
                  </a:txBody>
                  <a:tcPr marL="85725" marR="38100" marT="19050" marB="19050" anchor="ctr">
                    <a:solidFill>
                      <a:srgbClr val="E0E8EF"/>
                    </a:solidFill>
                  </a:tcPr>
                </a:tc>
                <a:tc>
                  <a:txBody>
                    <a:bodyPr wrap="none"/>
                    <a:lstStyle/>
                    <a:p>
                      <a:pPr algn="l"/>
                      <a:r>
                        <a:rPr sz="800" b="1">
                          <a:solidFill>
                            <a:srgbClr val="2E2E2E"/>
                          </a:solidFill>
                          <a:latin typeface="Calibri"/>
                        </a:rPr>
                        <a:t>2.73</a:t>
                      </a:r>
                    </a:p>
                  </a:txBody>
                  <a:tcPr marL="85725" marR="38100" marT="19050" marB="19050" anchor="ctr">
                    <a:solidFill>
                      <a:srgbClr val="E0E8EF"/>
                    </a:solidFill>
                  </a:tcPr>
                </a:tc>
                <a:tc>
                  <a:txBody>
                    <a:bodyPr wrap="none"/>
                    <a:lstStyle/>
                    <a:p>
                      <a:pPr algn="l"/>
                      <a:r>
                        <a:rPr sz="800" b="1">
                          <a:solidFill>
                            <a:srgbClr val="2E2E2E"/>
                          </a:solidFill>
                          <a:latin typeface="Calibri"/>
                        </a:rPr>
                        <a:t>3.42</a:t>
                      </a:r>
                    </a:p>
                  </a:txBody>
                  <a:tcPr marL="85725" marR="38100" marT="19050" marB="19050" anchor="ctr">
                    <a:solidFill>
                      <a:srgbClr val="E0E8EF"/>
                    </a:solidFill>
                  </a:tcPr>
                </a:tc>
                <a:tc>
                  <a:txBody>
                    <a:bodyPr wrap="none"/>
                    <a:lstStyle/>
                    <a:p>
                      <a:pPr algn="l"/>
                      <a:r>
                        <a:rPr sz="800" b="1">
                          <a:solidFill>
                            <a:srgbClr val="2E2E2E"/>
                          </a:solidFill>
                          <a:latin typeface="Calibri"/>
                        </a:rPr>
                        <a:t>4.16</a:t>
                      </a:r>
                    </a:p>
                  </a:txBody>
                  <a:tcPr marL="85725" marR="38100" marT="19050" marB="19050" anchor="ctr">
                    <a:solidFill>
                      <a:srgbClr val="E0E8EF"/>
                    </a:solidFill>
                  </a:tcPr>
                </a:tc>
                <a:tc>
                  <a:txBody>
                    <a:bodyPr wrap="none"/>
                    <a:lstStyle/>
                    <a:p>
                      <a:pPr algn="l"/>
                      <a:r>
                        <a:rPr sz="800" b="1">
                          <a:solidFill>
                            <a:srgbClr val="2E2E2E"/>
                          </a:solidFill>
                          <a:latin typeface="Calibri"/>
                        </a:rPr>
                        <a:t>4.97</a:t>
                      </a:r>
                    </a:p>
                  </a:txBody>
                  <a:tcPr marL="85725" marR="38100" marT="19050" marB="19050" anchor="ctr">
                    <a:solidFill>
                      <a:srgbClr val="E0E8EF"/>
                    </a:solidFill>
                  </a:tcPr>
                </a:tc>
                <a:tc>
                  <a:txBody>
                    <a:bodyPr wrap="none"/>
                    <a:lstStyle/>
                    <a:p>
                      <a:pPr algn="l"/>
                      <a:r>
                        <a:rPr sz="800" b="1">
                          <a:solidFill>
                            <a:srgbClr val="2E2E2E"/>
                          </a:solidFill>
                          <a:latin typeface="Calibri"/>
                        </a:rPr>
                        <a:t>5.81</a:t>
                      </a:r>
                    </a:p>
                  </a:txBody>
                  <a:tcPr marL="85725" marR="38100" marT="19050" marB="19050" anchor="ctr">
                    <a:solidFill>
                      <a:srgbClr val="E0E8EF"/>
                    </a:solidFill>
                  </a:tcPr>
                </a:tc>
                <a:tc>
                  <a:txBody>
                    <a:bodyPr wrap="none"/>
                    <a:lstStyle/>
                    <a:p>
                      <a:pPr algn="l"/>
                      <a:r>
                        <a:rPr sz="800" b="1">
                          <a:solidFill>
                            <a:srgbClr val="2E2E2E"/>
                          </a:solidFill>
                          <a:latin typeface="Calibri"/>
                        </a:rPr>
                        <a:t>6.70</a:t>
                      </a:r>
                    </a:p>
                  </a:txBody>
                  <a:tcPr marL="85725" marR="38100" marT="19050" marB="19050" anchor="ctr">
                    <a:solidFill>
                      <a:srgbClr val="E0E8EF"/>
                    </a:solidFill>
                  </a:tcPr>
                </a:tc>
                <a:tc>
                  <a:txBody>
                    <a:bodyPr wrap="none"/>
                    <a:lstStyle/>
                    <a:p>
                      <a:pPr algn="l"/>
                      <a:r>
                        <a:rPr sz="800" b="1">
                          <a:solidFill>
                            <a:srgbClr val="2E2E2E"/>
                          </a:solidFill>
                          <a:latin typeface="Calibri"/>
                        </a:rPr>
                        <a:t>7.63</a:t>
                      </a:r>
                    </a:p>
                  </a:txBody>
                  <a:tcPr marL="85725" marR="38100" marT="19050" marB="19050" anchor="ctr">
                    <a:solidFill>
                      <a:srgbClr val="E0E8EF"/>
                    </a:solidFill>
                  </a:tcPr>
                </a:tc>
                <a:tc>
                  <a:txBody>
                    <a:bodyPr wrap="none"/>
                    <a:lstStyle/>
                    <a:p>
                      <a:pPr algn="l"/>
                      <a:r>
                        <a:rPr sz="800" b="1">
                          <a:solidFill>
                            <a:srgbClr val="2E2E2E"/>
                          </a:solidFill>
                          <a:latin typeface="Calibri"/>
                        </a:rPr>
                        <a:t>8.60</a:t>
                      </a:r>
                    </a:p>
                  </a:txBody>
                  <a:tcPr marL="85725" marR="38100" marT="19050" marB="19050" anchor="ctr">
                    <a:solidFill>
                      <a:srgbClr val="E0E8EF"/>
                    </a:solidFill>
                  </a:tcPr>
                </a:tc>
                <a:tc>
                  <a:txBody>
                    <a:bodyPr wrap="none"/>
                    <a:lstStyle/>
                    <a:p>
                      <a:pPr algn="l"/>
                      <a:r>
                        <a:rPr sz="800" b="1">
                          <a:solidFill>
                            <a:srgbClr val="2E2E2E"/>
                          </a:solidFill>
                          <a:latin typeface="Calibri"/>
                        </a:rPr>
                        <a:t>9.62</a:t>
                      </a:r>
                    </a:p>
                  </a:txBody>
                  <a:tcPr marL="85725" marR="38100" marT="19050" marB="19050" anchor="ctr">
                    <a:solidFill>
                      <a:srgbClr val="E0E8EF"/>
                    </a:solidFill>
                  </a:tcPr>
                </a:tc>
                <a:tc>
                  <a:txBody>
                    <a:bodyPr wrap="none"/>
                    <a:lstStyle/>
                    <a:p>
                      <a:pPr algn="l"/>
                      <a:r>
                        <a:rPr sz="800" b="1">
                          <a:solidFill>
                            <a:srgbClr val="2E2E2E"/>
                          </a:solidFill>
                          <a:latin typeface="Calibri"/>
                        </a:rPr>
                        <a:t>10.7</a:t>
                      </a:r>
                    </a:p>
                  </a:txBody>
                  <a:tcPr marL="85725" marR="38100" marT="19050" marB="19050" anchor="ctr">
                    <a:solidFill>
                      <a:srgbClr val="E0E8EF"/>
                    </a:solidFill>
                  </a:tcPr>
                </a:tc>
                <a:tc>
                  <a:txBody>
                    <a:bodyPr wrap="none"/>
                    <a:lstStyle/>
                    <a:p>
                      <a:pPr algn="l"/>
                      <a:r>
                        <a:rPr sz="800" b="1">
                          <a:solidFill>
                            <a:srgbClr val="2E2E2E"/>
                          </a:solidFill>
                          <a:latin typeface="Calibri"/>
                        </a:rPr>
                        <a:t>11.8</a:t>
                      </a:r>
                    </a:p>
                  </a:txBody>
                  <a:tcPr marL="85725" marR="38100" marT="19050" marB="19050" anchor="ctr">
                    <a:solidFill>
                      <a:srgbClr val="E0E8EF"/>
                    </a:solidFill>
                  </a:tcPr>
                </a:tc>
                <a:tc>
                  <a:txBody>
                    <a:bodyPr wrap="none"/>
                    <a:lstStyle/>
                    <a:p>
                      <a:pPr algn="l"/>
                      <a:r>
                        <a:rPr sz="800" b="1">
                          <a:solidFill>
                            <a:srgbClr val="2E2E2E"/>
                          </a:solidFill>
                          <a:latin typeface="Calibri"/>
                        </a:rPr>
                        <a:t>12.9</a:t>
                      </a:r>
                    </a:p>
                  </a:txBody>
                  <a:tcPr marL="85725" marR="38100" marT="19050" marB="19050" anchor="ctr">
                    <a:solidFill>
                      <a:srgbClr val="E0E8EF"/>
                    </a:solidFill>
                  </a:tcPr>
                </a:tc>
                <a:tc>
                  <a:txBody>
                    <a:bodyPr wrap="none"/>
                    <a:lstStyle/>
                    <a:p>
                      <a:pPr algn="l"/>
                      <a:r>
                        <a:rPr sz="800" b="1">
                          <a:solidFill>
                            <a:srgbClr val="2E2E2E"/>
                          </a:solidFill>
                          <a:latin typeface="Calibri"/>
                        </a:rPr>
                        <a:t>14.1</a:t>
                      </a:r>
                    </a:p>
                  </a:txBody>
                  <a:tcPr marL="85725" marR="38100" marT="19050" marB="19050" anchor="ctr">
                    <a:solidFill>
                      <a:srgbClr val="E0E8EF"/>
                    </a:solidFill>
                  </a:tcPr>
                </a:tc>
                <a:tc>
                  <a:txBody>
                    <a:bodyPr wrap="none"/>
                    <a:lstStyle/>
                    <a:p>
                      <a:pPr algn="l"/>
                      <a:r>
                        <a:rPr sz="800" b="1">
                          <a:solidFill>
                            <a:srgbClr val="2E2E2E"/>
                          </a:solidFill>
                          <a:latin typeface="Calibri"/>
                        </a:rPr>
                        <a:t>13.0%</a:t>
                      </a:r>
                    </a:p>
                  </a:txBody>
                  <a:tcPr marL="85725" marR="38100" marT="19050" marB="19050" anchor="ctr">
                    <a:solidFill>
                      <a:srgbClr val="E0E8EF"/>
                    </a:solidFill>
                  </a:tcPr>
                </a:tc>
              </a:tr>
            </a:tbl>
          </a:graphicData>
        </a:graphic>
      </p:graphicFrame>
      <p:sp>
        <p:nvSpPr>
          <p:cNvPr id="14" name="TextBox 13"/>
          <p:cNvSpPr txBox="1"/>
          <p:nvPr/>
        </p:nvSpPr>
        <p:spPr>
          <a:xfrm>
            <a:off x="219075" y="38481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4124325"/>
            <a:ext cx="11906250" cy="2600325"/>
          </a:xfrm>
          <a:prstGeom prst="roundRect">
            <a:avLst>
              <a:gd name="adj" fmla="val 29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2100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Analysis, By Sales / Distribution Channel</a:t>
            </a:r>
          </a:p>
        </p:txBody>
      </p:sp>
      <p:sp>
        <p:nvSpPr>
          <p:cNvPr id="17" name="Rectangle 16"/>
          <p:cNvSpPr/>
          <p:nvPr/>
        </p:nvSpPr>
        <p:spPr>
          <a:xfrm>
            <a:off x="276225" y="44481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533900"/>
            <a:ext cx="11639550" cy="2114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'Online / Digital Pharmacy' is the largest sales / distribution channel at 30.6% of 2036 volume (4.33 Mn Doses).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'Specialty Distribution' grows fastest 13.8%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'Specialty Distribution' (+208 BPS) and away from 'Direct Institutional Sales' (-183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volume rises from 4.16 to 14.1 Mn Doses across 4 categories.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Value Analysis, By Sales / Distribution Channel (US$ Mn)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3133725"/>
          </a:xfrm>
          <a:prstGeom prst="roundRect">
            <a:avLst>
              <a:gd name="adj" fmla="val 24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Sales / Distribution Channel (US$ Mn)</a:t>
            </a:r>
          </a:p>
        </p:txBody>
      </p:sp>
      <p:graphicFrame>
        <p:nvGraphicFramePr>
          <p:cNvPr id="13" name="Table 12"/>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Sales / Distribution Channel</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Direct Institutional Sales</a:t>
                      </a:r>
                    </a:p>
                  </a:txBody>
                  <a:tcPr marL="85725" marR="38100" marT="19050" marB="19050" anchor="ctr">
                    <a:solidFill>
                      <a:srgbClr val="FFFFFF"/>
                    </a:solidFill>
                  </a:tcPr>
                </a:tc>
                <a:tc>
                  <a:txBody>
                    <a:bodyPr wrap="none"/>
                    <a:lstStyle/>
                    <a:p>
                      <a:pPr algn="l"/>
                      <a:r>
                        <a:rPr sz="800" b="0">
                          <a:solidFill>
                            <a:srgbClr val="2E2E2E"/>
                          </a:solidFill>
                          <a:latin typeface="Calibri"/>
                        </a:rPr>
                        <a:t>222.0</a:t>
                      </a:r>
                    </a:p>
                  </a:txBody>
                  <a:tcPr marL="85725" marR="38100" marT="19050" marB="19050" anchor="ctr">
                    <a:solidFill>
                      <a:srgbClr val="FFFFFF"/>
                    </a:solidFill>
                  </a:tcPr>
                </a:tc>
                <a:tc>
                  <a:txBody>
                    <a:bodyPr wrap="none"/>
                    <a:lstStyle/>
                    <a:p>
                      <a:pPr algn="l"/>
                      <a:r>
                        <a:rPr sz="800" b="0">
                          <a:solidFill>
                            <a:srgbClr val="2E2E2E"/>
                          </a:solidFill>
                          <a:latin typeface="Calibri"/>
                        </a:rPr>
                        <a:t>250.8</a:t>
                      </a:r>
                    </a:p>
                  </a:txBody>
                  <a:tcPr marL="85725" marR="38100" marT="19050" marB="19050" anchor="ctr">
                    <a:solidFill>
                      <a:srgbClr val="FFFFFF"/>
                    </a:solidFill>
                  </a:tcPr>
                </a:tc>
                <a:tc>
                  <a:txBody>
                    <a:bodyPr wrap="none"/>
                    <a:lstStyle/>
                    <a:p>
                      <a:pPr algn="l"/>
                      <a:r>
                        <a:rPr sz="800" b="0">
                          <a:solidFill>
                            <a:srgbClr val="2E2E2E"/>
                          </a:solidFill>
                          <a:latin typeface="Calibri"/>
                        </a:rPr>
                        <a:t>300.6</a:t>
                      </a:r>
                    </a:p>
                  </a:txBody>
                  <a:tcPr marL="85725" marR="38100" marT="19050" marB="19050" anchor="ctr">
                    <a:solidFill>
                      <a:srgbClr val="FFFFFF"/>
                    </a:solidFill>
                  </a:tcPr>
                </a:tc>
                <a:tc>
                  <a:txBody>
                    <a:bodyPr wrap="none"/>
                    <a:lstStyle/>
                    <a:p>
                      <a:pPr algn="l"/>
                      <a:r>
                        <a:rPr sz="800" b="0">
                          <a:solidFill>
                            <a:srgbClr val="2E2E2E"/>
                          </a:solidFill>
                          <a:latin typeface="Calibri"/>
                        </a:rPr>
                        <a:t>371.7</a:t>
                      </a:r>
                    </a:p>
                  </a:txBody>
                  <a:tcPr marL="85725" marR="38100" marT="19050" marB="19050" anchor="ctr">
                    <a:solidFill>
                      <a:srgbClr val="FFFFFF"/>
                    </a:solidFill>
                  </a:tcPr>
                </a:tc>
                <a:tc>
                  <a:txBody>
                    <a:bodyPr wrap="none"/>
                    <a:lstStyle/>
                    <a:p>
                      <a:pPr algn="l"/>
                      <a:r>
                        <a:rPr sz="800" b="0">
                          <a:solidFill>
                            <a:srgbClr val="2E2E2E"/>
                          </a:solidFill>
                          <a:latin typeface="Calibri"/>
                        </a:rPr>
                        <a:t>449.9</a:t>
                      </a:r>
                    </a:p>
                  </a:txBody>
                  <a:tcPr marL="85725" marR="38100" marT="19050" marB="19050" anchor="ctr">
                    <a:solidFill>
                      <a:srgbClr val="FFFFFF"/>
                    </a:solidFill>
                  </a:tcPr>
                </a:tc>
                <a:tc>
                  <a:txBody>
                    <a:bodyPr wrap="none"/>
                    <a:lstStyle/>
                    <a:p>
                      <a:pPr algn="l"/>
                      <a:r>
                        <a:rPr sz="800" b="0">
                          <a:solidFill>
                            <a:srgbClr val="2E2E2E"/>
                          </a:solidFill>
                          <a:latin typeface="Calibri"/>
                        </a:rPr>
                        <a:t>528.1</a:t>
                      </a:r>
                    </a:p>
                  </a:txBody>
                  <a:tcPr marL="85725" marR="38100" marT="19050" marB="19050" anchor="ctr">
                    <a:solidFill>
                      <a:srgbClr val="FFFFFF"/>
                    </a:solidFill>
                  </a:tcPr>
                </a:tc>
                <a:tc>
                  <a:txBody>
                    <a:bodyPr wrap="none"/>
                    <a:lstStyle/>
                    <a:p>
                      <a:pPr algn="l"/>
                      <a:r>
                        <a:rPr sz="800" b="0">
                          <a:solidFill>
                            <a:srgbClr val="2E2E2E"/>
                          </a:solidFill>
                          <a:latin typeface="Calibri"/>
                        </a:rPr>
                        <a:t>608.6</a:t>
                      </a:r>
                    </a:p>
                  </a:txBody>
                  <a:tcPr marL="85725" marR="38100" marT="19050" marB="19050" anchor="ctr">
                    <a:solidFill>
                      <a:srgbClr val="FFFFFF"/>
                    </a:solidFill>
                  </a:tcPr>
                </a:tc>
                <a:tc>
                  <a:txBody>
                    <a:bodyPr wrap="none"/>
                    <a:lstStyle/>
                    <a:p>
                      <a:pPr algn="l"/>
                      <a:r>
                        <a:rPr sz="800" b="0">
                          <a:solidFill>
                            <a:srgbClr val="2E2E2E"/>
                          </a:solidFill>
                          <a:latin typeface="Calibri"/>
                        </a:rPr>
                        <a:t>687.2</a:t>
                      </a:r>
                    </a:p>
                  </a:txBody>
                  <a:tcPr marL="85725" marR="38100" marT="19050" marB="19050" anchor="ctr">
                    <a:solidFill>
                      <a:srgbClr val="FFFFFF"/>
                    </a:solidFill>
                  </a:tcPr>
                </a:tc>
                <a:tc>
                  <a:txBody>
                    <a:bodyPr wrap="none"/>
                    <a:lstStyle/>
                    <a:p>
                      <a:pPr algn="l"/>
                      <a:r>
                        <a:rPr sz="800" b="0">
                          <a:solidFill>
                            <a:srgbClr val="2E2E2E"/>
                          </a:solidFill>
                          <a:latin typeface="Calibri"/>
                        </a:rPr>
                        <a:t>764.7</a:t>
                      </a:r>
                    </a:p>
                  </a:txBody>
                  <a:tcPr marL="85725" marR="38100" marT="19050" marB="19050" anchor="ctr">
                    <a:solidFill>
                      <a:srgbClr val="FFFFFF"/>
                    </a:solidFill>
                  </a:tcPr>
                </a:tc>
                <a:tc>
                  <a:txBody>
                    <a:bodyPr wrap="none"/>
                    <a:lstStyle/>
                    <a:p>
                      <a:pPr algn="l"/>
                      <a:r>
                        <a:rPr sz="800" b="0">
                          <a:solidFill>
                            <a:srgbClr val="2E2E2E"/>
                          </a:solidFill>
                          <a:latin typeface="Calibri"/>
                        </a:rPr>
                        <a:t>840.9</a:t>
                      </a:r>
                    </a:p>
                  </a:txBody>
                  <a:tcPr marL="85725" marR="38100" marT="19050" marB="19050" anchor="ctr">
                    <a:solidFill>
                      <a:srgbClr val="FFFFFF"/>
                    </a:solidFill>
                  </a:tcPr>
                </a:tc>
                <a:tc>
                  <a:txBody>
                    <a:bodyPr wrap="none"/>
                    <a:lstStyle/>
                    <a:p>
                      <a:pPr algn="l"/>
                      <a:r>
                        <a:rPr sz="800" b="0">
                          <a:solidFill>
                            <a:srgbClr val="2E2E2E"/>
                          </a:solidFill>
                          <a:latin typeface="Calibri"/>
                        </a:rPr>
                        <a:t>915.2</a:t>
                      </a:r>
                    </a:p>
                  </a:txBody>
                  <a:tcPr marL="85725" marR="38100" marT="19050" marB="19050" anchor="ctr">
                    <a:solidFill>
                      <a:srgbClr val="FFFFFF"/>
                    </a:solidFill>
                  </a:tcPr>
                </a:tc>
                <a:tc>
                  <a:txBody>
                    <a:bodyPr wrap="none"/>
                    <a:lstStyle/>
                    <a:p>
                      <a:pPr algn="l"/>
                      <a:r>
                        <a:rPr sz="800" b="0">
                          <a:solidFill>
                            <a:srgbClr val="2E2E2E"/>
                          </a:solidFill>
                          <a:latin typeface="Calibri"/>
                        </a:rPr>
                        <a:t>987.6</a:t>
                      </a:r>
                    </a:p>
                  </a:txBody>
                  <a:tcPr marL="85725" marR="38100" marT="19050" marB="19050" anchor="ctr">
                    <a:solidFill>
                      <a:srgbClr val="FFFFFF"/>
                    </a:solidFill>
                  </a:tcPr>
                </a:tc>
                <a:tc>
                  <a:txBody>
                    <a:bodyPr wrap="none"/>
                    <a:lstStyle/>
                    <a:p>
                      <a:pPr algn="l"/>
                      <a:r>
                        <a:rPr sz="800" b="0">
                          <a:solidFill>
                            <a:srgbClr val="2E2E2E"/>
                          </a:solidFill>
                          <a:latin typeface="Calibri"/>
                        </a:rPr>
                        <a:t>1,058</a:t>
                      </a:r>
                    </a:p>
                  </a:txBody>
                  <a:tcPr marL="85725" marR="38100" marT="19050" marB="19050" anchor="ctr">
                    <a:solidFill>
                      <a:srgbClr val="FFFFFF"/>
                    </a:solidFill>
                  </a:tcPr>
                </a:tc>
                <a:tc>
                  <a:txBody>
                    <a:bodyPr wrap="none"/>
                    <a:lstStyle/>
                    <a:p>
                      <a:pPr algn="l"/>
                      <a:r>
                        <a:rPr sz="800" b="0">
                          <a:solidFill>
                            <a:srgbClr val="2E2E2E"/>
                          </a:solidFill>
                          <a:latin typeface="Calibri"/>
                        </a:rPr>
                        <a:t>1,126</a:t>
                      </a:r>
                    </a:p>
                  </a:txBody>
                  <a:tcPr marL="85725" marR="38100" marT="19050" marB="19050" anchor="ctr">
                    <a:solidFill>
                      <a:srgbClr val="FFFFFF"/>
                    </a:solidFill>
                  </a:tcPr>
                </a:tc>
                <a:tc>
                  <a:txBody>
                    <a:bodyPr wrap="none"/>
                    <a:lstStyle/>
                    <a:p>
                      <a:pPr algn="l"/>
                      <a:r>
                        <a:rPr sz="800" b="0">
                          <a:solidFill>
                            <a:srgbClr val="2E2E2E"/>
                          </a:solidFill>
                          <a:latin typeface="Calibri"/>
                        </a:rPr>
                        <a:t>1,193</a:t>
                      </a:r>
                    </a:p>
                  </a:txBody>
                  <a:tcPr marL="85725" marR="38100" marT="19050" marB="19050" anchor="ctr">
                    <a:solidFill>
                      <a:srgbClr val="FFFFFF"/>
                    </a:solidFill>
                  </a:tcPr>
                </a:tc>
                <a:tc>
                  <a:txBody>
                    <a:bodyPr wrap="none"/>
                    <a:lstStyle/>
                    <a:p>
                      <a:pPr algn="l"/>
                      <a:r>
                        <a:rPr sz="800" b="0">
                          <a:solidFill>
                            <a:srgbClr val="2E2E2E"/>
                          </a:solidFill>
                          <a:latin typeface="Calibri"/>
                        </a:rPr>
                        <a:t>1,260</a:t>
                      </a:r>
                    </a:p>
                  </a:txBody>
                  <a:tcPr marL="85725" marR="38100" marT="19050" marB="19050" anchor="ctr">
                    <a:solidFill>
                      <a:srgbClr val="FFFFFF"/>
                    </a:solidFill>
                  </a:tcPr>
                </a:tc>
                <a:tc>
                  <a:txBody>
                    <a:bodyPr wrap="none"/>
                    <a:lstStyle/>
                    <a:p>
                      <a:pPr algn="l"/>
                      <a:r>
                        <a:rPr sz="800" b="0">
                          <a:solidFill>
                            <a:srgbClr val="2E2E2E"/>
                          </a:solidFill>
                          <a:latin typeface="Calibri"/>
                        </a:rPr>
                        <a:t>9.1%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Specialty Distribution</a:t>
                      </a:r>
                    </a:p>
                  </a:txBody>
                  <a:tcPr marL="85725" marR="38100" marT="19050" marB="19050" anchor="ctr">
                    <a:solidFill>
                      <a:srgbClr val="F5F8FA"/>
                    </a:solidFill>
                  </a:tcPr>
                </a:tc>
                <a:tc>
                  <a:txBody>
                    <a:bodyPr wrap="none"/>
                    <a:lstStyle/>
                    <a:p>
                      <a:pPr algn="l"/>
                      <a:r>
                        <a:rPr sz="800" b="0">
                          <a:solidFill>
                            <a:srgbClr val="2E2E2E"/>
                          </a:solidFill>
                          <a:latin typeface="Calibri"/>
                        </a:rPr>
                        <a:t>244.9</a:t>
                      </a:r>
                    </a:p>
                  </a:txBody>
                  <a:tcPr marL="85725" marR="38100" marT="19050" marB="19050" anchor="ctr">
                    <a:solidFill>
                      <a:srgbClr val="F5F8FA"/>
                    </a:solidFill>
                  </a:tcPr>
                </a:tc>
                <a:tc>
                  <a:txBody>
                    <a:bodyPr wrap="none"/>
                    <a:lstStyle/>
                    <a:p>
                      <a:pPr algn="l"/>
                      <a:r>
                        <a:rPr sz="800" b="0">
                          <a:solidFill>
                            <a:srgbClr val="2E2E2E"/>
                          </a:solidFill>
                          <a:latin typeface="Calibri"/>
                        </a:rPr>
                        <a:t>274.3</a:t>
                      </a:r>
                    </a:p>
                  </a:txBody>
                  <a:tcPr marL="85725" marR="38100" marT="19050" marB="19050" anchor="ctr">
                    <a:solidFill>
                      <a:srgbClr val="F5F8FA"/>
                    </a:solidFill>
                  </a:tcPr>
                </a:tc>
                <a:tc>
                  <a:txBody>
                    <a:bodyPr wrap="none"/>
                    <a:lstStyle/>
                    <a:p>
                      <a:pPr algn="l"/>
                      <a:r>
                        <a:rPr sz="800" b="0">
                          <a:solidFill>
                            <a:srgbClr val="2E2E2E"/>
                          </a:solidFill>
                          <a:latin typeface="Calibri"/>
                        </a:rPr>
                        <a:t>325.8</a:t>
                      </a:r>
                    </a:p>
                  </a:txBody>
                  <a:tcPr marL="85725" marR="38100" marT="19050" marB="19050" anchor="ctr">
                    <a:solidFill>
                      <a:srgbClr val="F5F8FA"/>
                    </a:solidFill>
                  </a:tcPr>
                </a:tc>
                <a:tc>
                  <a:txBody>
                    <a:bodyPr wrap="none"/>
                    <a:lstStyle/>
                    <a:p>
                      <a:pPr algn="l"/>
                      <a:r>
                        <a:rPr sz="800" b="0">
                          <a:solidFill>
                            <a:srgbClr val="2E2E2E"/>
                          </a:solidFill>
                          <a:latin typeface="Calibri"/>
                        </a:rPr>
                        <a:t>399.4</a:t>
                      </a:r>
                    </a:p>
                  </a:txBody>
                  <a:tcPr marL="85725" marR="38100" marT="19050" marB="19050" anchor="ctr">
                    <a:solidFill>
                      <a:srgbClr val="F5F8FA"/>
                    </a:solidFill>
                  </a:tcPr>
                </a:tc>
                <a:tc>
                  <a:txBody>
                    <a:bodyPr wrap="none"/>
                    <a:lstStyle/>
                    <a:p>
                      <a:pPr algn="l"/>
                      <a:r>
                        <a:rPr sz="800" b="0">
                          <a:solidFill>
                            <a:srgbClr val="2E2E2E"/>
                          </a:solidFill>
                          <a:latin typeface="Calibri"/>
                        </a:rPr>
                        <a:t>479.1</a:t>
                      </a:r>
                    </a:p>
                  </a:txBody>
                  <a:tcPr marL="85725" marR="38100" marT="19050" marB="19050" anchor="ctr">
                    <a:solidFill>
                      <a:srgbClr val="F5F8FA"/>
                    </a:solidFill>
                  </a:tcPr>
                </a:tc>
                <a:tc>
                  <a:txBody>
                    <a:bodyPr wrap="none"/>
                    <a:lstStyle/>
                    <a:p>
                      <a:pPr algn="l"/>
                      <a:r>
                        <a:rPr sz="800" b="0">
                          <a:solidFill>
                            <a:srgbClr val="2E2E2E"/>
                          </a:solidFill>
                          <a:latin typeface="Calibri"/>
                        </a:rPr>
                        <a:t>557.4</a:t>
                      </a:r>
                    </a:p>
                  </a:txBody>
                  <a:tcPr marL="85725" marR="38100" marT="19050" marB="19050" anchor="ctr">
                    <a:solidFill>
                      <a:srgbClr val="F5F8FA"/>
                    </a:solidFill>
                  </a:tcPr>
                </a:tc>
                <a:tc>
                  <a:txBody>
                    <a:bodyPr wrap="none"/>
                    <a:lstStyle/>
                    <a:p>
                      <a:pPr algn="l"/>
                      <a:r>
                        <a:rPr sz="800" b="0">
                          <a:solidFill>
                            <a:srgbClr val="2E2E2E"/>
                          </a:solidFill>
                          <a:latin typeface="Calibri"/>
                        </a:rPr>
                        <a:t>636.7</a:t>
                      </a:r>
                    </a:p>
                  </a:txBody>
                  <a:tcPr marL="85725" marR="38100" marT="19050" marB="19050" anchor="ctr">
                    <a:solidFill>
                      <a:srgbClr val="F5F8FA"/>
                    </a:solidFill>
                  </a:tcPr>
                </a:tc>
                <a:tc>
                  <a:txBody>
                    <a:bodyPr wrap="none"/>
                    <a:lstStyle/>
                    <a:p>
                      <a:pPr algn="l"/>
                      <a:r>
                        <a:rPr sz="800" b="0">
                          <a:solidFill>
                            <a:srgbClr val="2E2E2E"/>
                          </a:solidFill>
                          <a:latin typeface="Calibri"/>
                        </a:rPr>
                        <a:t>712.4</a:t>
                      </a:r>
                    </a:p>
                  </a:txBody>
                  <a:tcPr marL="85725" marR="38100" marT="19050" marB="19050" anchor="ctr">
                    <a:solidFill>
                      <a:srgbClr val="F5F8FA"/>
                    </a:solidFill>
                  </a:tcPr>
                </a:tc>
                <a:tc>
                  <a:txBody>
                    <a:bodyPr wrap="none"/>
                    <a:lstStyle/>
                    <a:p>
                      <a:pPr algn="l"/>
                      <a:r>
                        <a:rPr sz="800" b="0">
                          <a:solidFill>
                            <a:srgbClr val="2E2E2E"/>
                          </a:solidFill>
                          <a:latin typeface="Calibri"/>
                        </a:rPr>
                        <a:t>785.7</a:t>
                      </a:r>
                    </a:p>
                  </a:txBody>
                  <a:tcPr marL="85725" marR="38100" marT="19050" marB="19050" anchor="ctr">
                    <a:solidFill>
                      <a:srgbClr val="F5F8FA"/>
                    </a:solidFill>
                  </a:tcPr>
                </a:tc>
                <a:tc>
                  <a:txBody>
                    <a:bodyPr wrap="none"/>
                    <a:lstStyle/>
                    <a:p>
                      <a:pPr algn="l"/>
                      <a:r>
                        <a:rPr sz="800" b="0">
                          <a:solidFill>
                            <a:srgbClr val="2E2E2E"/>
                          </a:solidFill>
                          <a:latin typeface="Calibri"/>
                        </a:rPr>
                        <a:t>856.2</a:t>
                      </a:r>
                    </a:p>
                  </a:txBody>
                  <a:tcPr marL="85725" marR="38100" marT="19050" marB="19050" anchor="ctr">
                    <a:solidFill>
                      <a:srgbClr val="F5F8FA"/>
                    </a:solidFill>
                  </a:tcPr>
                </a:tc>
                <a:tc>
                  <a:txBody>
                    <a:bodyPr wrap="none"/>
                    <a:lstStyle/>
                    <a:p>
                      <a:pPr algn="l"/>
                      <a:r>
                        <a:rPr sz="800" b="0">
                          <a:solidFill>
                            <a:srgbClr val="2E2E2E"/>
                          </a:solidFill>
                          <a:latin typeface="Calibri"/>
                        </a:rPr>
                        <a:t>923.5</a:t>
                      </a:r>
                    </a:p>
                  </a:txBody>
                  <a:tcPr marL="85725" marR="38100" marT="19050" marB="19050" anchor="ctr">
                    <a:solidFill>
                      <a:srgbClr val="F5F8FA"/>
                    </a:solidFill>
                  </a:tcPr>
                </a:tc>
                <a:tc>
                  <a:txBody>
                    <a:bodyPr wrap="none"/>
                    <a:lstStyle/>
                    <a:p>
                      <a:pPr algn="l"/>
                      <a:r>
                        <a:rPr sz="800" b="0">
                          <a:solidFill>
                            <a:srgbClr val="2E2E2E"/>
                          </a:solidFill>
                          <a:latin typeface="Calibri"/>
                        </a:rPr>
                        <a:t>987.5</a:t>
                      </a:r>
                    </a:p>
                  </a:txBody>
                  <a:tcPr marL="85725" marR="38100" marT="19050" marB="19050" anchor="ctr">
                    <a:solidFill>
                      <a:srgbClr val="F5F8FA"/>
                    </a:solidFill>
                  </a:tcPr>
                </a:tc>
                <a:tc>
                  <a:txBody>
                    <a:bodyPr wrap="none"/>
                    <a:lstStyle/>
                    <a:p>
                      <a:pPr algn="l"/>
                      <a:r>
                        <a:rPr sz="800" b="0">
                          <a:solidFill>
                            <a:srgbClr val="2E2E2E"/>
                          </a:solidFill>
                          <a:latin typeface="Calibri"/>
                        </a:rPr>
                        <a:t>1,048</a:t>
                      </a:r>
                    </a:p>
                  </a:txBody>
                  <a:tcPr marL="85725" marR="38100" marT="19050" marB="19050" anchor="ctr">
                    <a:solidFill>
                      <a:srgbClr val="F5F8FA"/>
                    </a:solidFill>
                  </a:tcPr>
                </a:tc>
                <a:tc>
                  <a:txBody>
                    <a:bodyPr wrap="none"/>
                    <a:lstStyle/>
                    <a:p>
                      <a:pPr algn="l"/>
                      <a:r>
                        <a:rPr sz="800" b="0">
                          <a:solidFill>
                            <a:srgbClr val="2E2E2E"/>
                          </a:solidFill>
                          <a:latin typeface="Calibri"/>
                        </a:rPr>
                        <a:t>1,106</a:t>
                      </a:r>
                    </a:p>
                  </a:txBody>
                  <a:tcPr marL="85725" marR="38100" marT="19050" marB="19050" anchor="ctr">
                    <a:solidFill>
                      <a:srgbClr val="F5F8FA"/>
                    </a:solidFill>
                  </a:tcPr>
                </a:tc>
                <a:tc>
                  <a:txBody>
                    <a:bodyPr wrap="none"/>
                    <a:lstStyle/>
                    <a:p>
                      <a:pPr algn="l"/>
                      <a:r>
                        <a:rPr sz="800" b="0">
                          <a:solidFill>
                            <a:srgbClr val="2E2E2E"/>
                          </a:solidFill>
                          <a:latin typeface="Calibri"/>
                        </a:rPr>
                        <a:t>1,161</a:t>
                      </a:r>
                    </a:p>
                  </a:txBody>
                  <a:tcPr marL="85725" marR="38100" marT="19050" marB="19050" anchor="ctr">
                    <a:solidFill>
                      <a:srgbClr val="F5F8FA"/>
                    </a:solidFill>
                  </a:tcPr>
                </a:tc>
                <a:tc>
                  <a:txBody>
                    <a:bodyPr wrap="none"/>
                    <a:lstStyle/>
                    <a:p>
                      <a:pPr algn="l"/>
                      <a:r>
                        <a:rPr sz="800" b="0">
                          <a:solidFill>
                            <a:srgbClr val="2E2E2E"/>
                          </a:solidFill>
                          <a:latin typeface="Calibri"/>
                        </a:rPr>
                        <a:t>1,214</a:t>
                      </a:r>
                    </a:p>
                  </a:txBody>
                  <a:tcPr marL="85725" marR="38100" marT="19050" marB="19050" anchor="ctr">
                    <a:solidFill>
                      <a:srgbClr val="F5F8FA"/>
                    </a:solidFill>
                  </a:tcPr>
                </a:tc>
                <a:tc>
                  <a:txBody>
                    <a:bodyPr wrap="none"/>
                    <a:lstStyle/>
                    <a:p>
                      <a:pPr algn="l"/>
                      <a:r>
                        <a:rPr sz="800" b="0">
                          <a:solidFill>
                            <a:srgbClr val="2E2E2E"/>
                          </a:solidFill>
                          <a:latin typeface="Calibri"/>
                        </a:rPr>
                        <a:t>8.1%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Pharmacy Channel</a:t>
                      </a:r>
                    </a:p>
                  </a:txBody>
                  <a:tcPr marL="85725" marR="38100" marT="19050" marB="19050" anchor="ctr">
                    <a:solidFill>
                      <a:srgbClr val="FFFFFF"/>
                    </a:solidFill>
                  </a:tcPr>
                </a:tc>
                <a:tc>
                  <a:txBody>
                    <a:bodyPr wrap="none"/>
                    <a:lstStyle/>
                    <a:p>
                      <a:pPr algn="l"/>
                      <a:r>
                        <a:rPr sz="800" b="0">
                          <a:solidFill>
                            <a:srgbClr val="2E2E2E"/>
                          </a:solidFill>
                          <a:latin typeface="Calibri"/>
                        </a:rPr>
                        <a:t>153.9</a:t>
                      </a:r>
                    </a:p>
                  </a:txBody>
                  <a:tcPr marL="85725" marR="38100" marT="19050" marB="19050" anchor="ctr">
                    <a:solidFill>
                      <a:srgbClr val="FFFFFF"/>
                    </a:solidFill>
                  </a:tcPr>
                </a:tc>
                <a:tc>
                  <a:txBody>
                    <a:bodyPr wrap="none"/>
                    <a:lstStyle/>
                    <a:p>
                      <a:pPr algn="l"/>
                      <a:r>
                        <a:rPr sz="800" b="0">
                          <a:solidFill>
                            <a:srgbClr val="2E2E2E"/>
                          </a:solidFill>
                          <a:latin typeface="Calibri"/>
                        </a:rPr>
                        <a:t>174.0</a:t>
                      </a:r>
                    </a:p>
                  </a:txBody>
                  <a:tcPr marL="85725" marR="38100" marT="19050" marB="19050" anchor="ctr">
                    <a:solidFill>
                      <a:srgbClr val="FFFFFF"/>
                    </a:solidFill>
                  </a:tcPr>
                </a:tc>
                <a:tc>
                  <a:txBody>
                    <a:bodyPr wrap="none"/>
                    <a:lstStyle/>
                    <a:p>
                      <a:pPr algn="l"/>
                      <a:r>
                        <a:rPr sz="800" b="0">
                          <a:solidFill>
                            <a:srgbClr val="2E2E2E"/>
                          </a:solidFill>
                          <a:latin typeface="Calibri"/>
                        </a:rPr>
                        <a:t>208.5</a:t>
                      </a:r>
                    </a:p>
                  </a:txBody>
                  <a:tcPr marL="85725" marR="38100" marT="19050" marB="19050" anchor="ctr">
                    <a:solidFill>
                      <a:srgbClr val="FFFFFF"/>
                    </a:solidFill>
                  </a:tcPr>
                </a:tc>
                <a:tc>
                  <a:txBody>
                    <a:bodyPr wrap="none"/>
                    <a:lstStyle/>
                    <a:p>
                      <a:pPr algn="l"/>
                      <a:r>
                        <a:rPr sz="800" b="0">
                          <a:solidFill>
                            <a:srgbClr val="2E2E2E"/>
                          </a:solidFill>
                          <a:latin typeface="Calibri"/>
                        </a:rPr>
                        <a:t>257.9</a:t>
                      </a:r>
                    </a:p>
                  </a:txBody>
                  <a:tcPr marL="85725" marR="38100" marT="19050" marB="19050" anchor="ctr">
                    <a:solidFill>
                      <a:srgbClr val="FFFFFF"/>
                    </a:solidFill>
                  </a:tcPr>
                </a:tc>
                <a:tc>
                  <a:txBody>
                    <a:bodyPr wrap="none"/>
                    <a:lstStyle/>
                    <a:p>
                      <a:pPr algn="l"/>
                      <a:r>
                        <a:rPr sz="800" b="0">
                          <a:solidFill>
                            <a:srgbClr val="2E2E2E"/>
                          </a:solidFill>
                          <a:latin typeface="Calibri"/>
                        </a:rPr>
                        <a:t>312.2</a:t>
                      </a:r>
                    </a:p>
                  </a:txBody>
                  <a:tcPr marL="85725" marR="38100" marT="19050" marB="19050" anchor="ctr">
                    <a:solidFill>
                      <a:srgbClr val="FFFFFF"/>
                    </a:solidFill>
                  </a:tcPr>
                </a:tc>
                <a:tc>
                  <a:txBody>
                    <a:bodyPr wrap="none"/>
                    <a:lstStyle/>
                    <a:p>
                      <a:pPr algn="l"/>
                      <a:r>
                        <a:rPr sz="800" b="0">
                          <a:solidFill>
                            <a:srgbClr val="2E2E2E"/>
                          </a:solidFill>
                          <a:latin typeface="Calibri"/>
                        </a:rPr>
                        <a:t>366.4</a:t>
                      </a:r>
                    </a:p>
                  </a:txBody>
                  <a:tcPr marL="85725" marR="38100" marT="19050" marB="19050" anchor="ctr">
                    <a:solidFill>
                      <a:srgbClr val="FFFFFF"/>
                    </a:solidFill>
                  </a:tcPr>
                </a:tc>
                <a:tc>
                  <a:txBody>
                    <a:bodyPr wrap="none"/>
                    <a:lstStyle/>
                    <a:p>
                      <a:pPr algn="l"/>
                      <a:r>
                        <a:rPr sz="800" b="0">
                          <a:solidFill>
                            <a:srgbClr val="2E2E2E"/>
                          </a:solidFill>
                          <a:latin typeface="Calibri"/>
                        </a:rPr>
                        <a:t>422.2</a:t>
                      </a:r>
                    </a:p>
                  </a:txBody>
                  <a:tcPr marL="85725" marR="38100" marT="19050" marB="19050" anchor="ctr">
                    <a:solidFill>
                      <a:srgbClr val="FFFFFF"/>
                    </a:solidFill>
                  </a:tcPr>
                </a:tc>
                <a:tc>
                  <a:txBody>
                    <a:bodyPr wrap="none"/>
                    <a:lstStyle/>
                    <a:p>
                      <a:pPr algn="l"/>
                      <a:r>
                        <a:rPr sz="800" b="0">
                          <a:solidFill>
                            <a:srgbClr val="2E2E2E"/>
                          </a:solidFill>
                          <a:latin typeface="Calibri"/>
                        </a:rPr>
                        <a:t>476.7</a:t>
                      </a:r>
                    </a:p>
                  </a:txBody>
                  <a:tcPr marL="85725" marR="38100" marT="19050" marB="19050" anchor="ctr">
                    <a:solidFill>
                      <a:srgbClr val="FFFFFF"/>
                    </a:solidFill>
                  </a:tcPr>
                </a:tc>
                <a:tc>
                  <a:txBody>
                    <a:bodyPr wrap="none"/>
                    <a:lstStyle/>
                    <a:p>
                      <a:pPr algn="l"/>
                      <a:r>
                        <a:rPr sz="800" b="0">
                          <a:solidFill>
                            <a:srgbClr val="2E2E2E"/>
                          </a:solidFill>
                          <a:latin typeface="Calibri"/>
                        </a:rPr>
                        <a:t>530.4</a:t>
                      </a:r>
                    </a:p>
                  </a:txBody>
                  <a:tcPr marL="85725" marR="38100" marT="19050" marB="19050" anchor="ctr">
                    <a:solidFill>
                      <a:srgbClr val="FFFFFF"/>
                    </a:solidFill>
                  </a:tcPr>
                </a:tc>
                <a:tc>
                  <a:txBody>
                    <a:bodyPr wrap="none"/>
                    <a:lstStyle/>
                    <a:p>
                      <a:pPr algn="l"/>
                      <a:r>
                        <a:rPr sz="800" b="0">
                          <a:solidFill>
                            <a:srgbClr val="2E2E2E"/>
                          </a:solidFill>
                          <a:latin typeface="Calibri"/>
                        </a:rPr>
                        <a:t>583.0</a:t>
                      </a:r>
                    </a:p>
                  </a:txBody>
                  <a:tcPr marL="85725" marR="38100" marT="19050" marB="19050" anchor="ctr">
                    <a:solidFill>
                      <a:srgbClr val="FFFFFF"/>
                    </a:solidFill>
                  </a:tcPr>
                </a:tc>
                <a:tc>
                  <a:txBody>
                    <a:bodyPr wrap="none"/>
                    <a:lstStyle/>
                    <a:p>
                      <a:pPr algn="l"/>
                      <a:r>
                        <a:rPr sz="800" b="0">
                          <a:solidFill>
                            <a:srgbClr val="2E2E2E"/>
                          </a:solidFill>
                          <a:latin typeface="Calibri"/>
                        </a:rPr>
                        <a:t>634.3</a:t>
                      </a:r>
                    </a:p>
                  </a:txBody>
                  <a:tcPr marL="85725" marR="38100" marT="19050" marB="19050" anchor="ctr">
                    <a:solidFill>
                      <a:srgbClr val="FFFFFF"/>
                    </a:solidFill>
                  </a:tcPr>
                </a:tc>
                <a:tc>
                  <a:txBody>
                    <a:bodyPr wrap="none"/>
                    <a:lstStyle/>
                    <a:p>
                      <a:pPr algn="l"/>
                      <a:r>
                        <a:rPr sz="800" b="0">
                          <a:solidFill>
                            <a:srgbClr val="2E2E2E"/>
                          </a:solidFill>
                          <a:latin typeface="Calibri"/>
                        </a:rPr>
                        <a:t>684.2</a:t>
                      </a:r>
                    </a:p>
                  </a:txBody>
                  <a:tcPr marL="85725" marR="38100" marT="19050" marB="19050" anchor="ctr">
                    <a:solidFill>
                      <a:srgbClr val="FFFFFF"/>
                    </a:solidFill>
                  </a:tcPr>
                </a:tc>
                <a:tc>
                  <a:txBody>
                    <a:bodyPr wrap="none"/>
                    <a:lstStyle/>
                    <a:p>
                      <a:pPr algn="l"/>
                      <a:r>
                        <a:rPr sz="800" b="0">
                          <a:solidFill>
                            <a:srgbClr val="2E2E2E"/>
                          </a:solidFill>
                          <a:latin typeface="Calibri"/>
                        </a:rPr>
                        <a:t>732.5</a:t>
                      </a:r>
                    </a:p>
                  </a:txBody>
                  <a:tcPr marL="85725" marR="38100" marT="19050" marB="19050" anchor="ctr">
                    <a:solidFill>
                      <a:srgbClr val="FFFFFF"/>
                    </a:solidFill>
                  </a:tcPr>
                </a:tc>
                <a:tc>
                  <a:txBody>
                    <a:bodyPr wrap="none"/>
                    <a:lstStyle/>
                    <a:p>
                      <a:pPr algn="l"/>
                      <a:r>
                        <a:rPr sz="800" b="0">
                          <a:solidFill>
                            <a:srgbClr val="2E2E2E"/>
                          </a:solidFill>
                          <a:latin typeface="Calibri"/>
                        </a:rPr>
                        <a:t>779.5</a:t>
                      </a:r>
                    </a:p>
                  </a:txBody>
                  <a:tcPr marL="85725" marR="38100" marT="19050" marB="19050" anchor="ctr">
                    <a:solidFill>
                      <a:srgbClr val="FFFFFF"/>
                    </a:solidFill>
                  </a:tcPr>
                </a:tc>
                <a:tc>
                  <a:txBody>
                    <a:bodyPr wrap="none"/>
                    <a:lstStyle/>
                    <a:p>
                      <a:pPr algn="l"/>
                      <a:r>
                        <a:rPr sz="800" b="0">
                          <a:solidFill>
                            <a:srgbClr val="2E2E2E"/>
                          </a:solidFill>
                          <a:latin typeface="Calibri"/>
                        </a:rPr>
                        <a:t>825.5</a:t>
                      </a:r>
                    </a:p>
                  </a:txBody>
                  <a:tcPr marL="85725" marR="38100" marT="19050" marB="19050" anchor="ctr">
                    <a:solidFill>
                      <a:srgbClr val="FFFFFF"/>
                    </a:solidFill>
                  </a:tcPr>
                </a:tc>
                <a:tc>
                  <a:txBody>
                    <a:bodyPr wrap="none"/>
                    <a:lstStyle/>
                    <a:p>
                      <a:pPr algn="l"/>
                      <a:r>
                        <a:rPr sz="800" b="0">
                          <a:solidFill>
                            <a:srgbClr val="2E2E2E"/>
                          </a:solidFill>
                          <a:latin typeface="Calibri"/>
                        </a:rPr>
                        <a:t>870.8</a:t>
                      </a:r>
                    </a:p>
                  </a:txBody>
                  <a:tcPr marL="85725" marR="38100" marT="19050" marB="19050" anchor="ctr">
                    <a:solidFill>
                      <a:srgbClr val="FFFFFF"/>
                    </a:solidFill>
                  </a:tcPr>
                </a:tc>
                <a:tc>
                  <a:txBody>
                    <a:bodyPr wrap="none"/>
                    <a:lstStyle/>
                    <a:p>
                      <a:pPr algn="l"/>
                      <a:r>
                        <a:rPr sz="800" b="0">
                          <a:solidFill>
                            <a:srgbClr val="2E2E2E"/>
                          </a:solidFill>
                          <a:latin typeface="Calibri"/>
                        </a:rPr>
                        <a:t>9.0%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Online / Digital Pharmacy</a:t>
                      </a:r>
                    </a:p>
                  </a:txBody>
                  <a:tcPr marL="85725" marR="38100" marT="19050" marB="19050" anchor="ctr">
                    <a:solidFill>
                      <a:srgbClr val="F5F8FA"/>
                    </a:solidFill>
                  </a:tcPr>
                </a:tc>
                <a:tc>
                  <a:txBody>
                    <a:bodyPr wrap="none"/>
                    <a:lstStyle/>
                    <a:p>
                      <a:pPr algn="l"/>
                      <a:r>
                        <a:rPr sz="800" b="0">
                          <a:solidFill>
                            <a:srgbClr val="2E2E2E"/>
                          </a:solidFill>
                          <a:latin typeface="Calibri"/>
                        </a:rPr>
                        <a:t>231.8</a:t>
                      </a:r>
                    </a:p>
                  </a:txBody>
                  <a:tcPr marL="85725" marR="38100" marT="19050" marB="19050" anchor="ctr">
                    <a:solidFill>
                      <a:srgbClr val="F5F8FA"/>
                    </a:solidFill>
                  </a:tcPr>
                </a:tc>
                <a:tc>
                  <a:txBody>
                    <a:bodyPr wrap="none"/>
                    <a:lstStyle/>
                    <a:p>
                      <a:pPr algn="l"/>
                      <a:r>
                        <a:rPr sz="800" b="0">
                          <a:solidFill>
                            <a:srgbClr val="2E2E2E"/>
                          </a:solidFill>
                          <a:latin typeface="Calibri"/>
                        </a:rPr>
                        <a:t>259.0</a:t>
                      </a:r>
                    </a:p>
                  </a:txBody>
                  <a:tcPr marL="85725" marR="38100" marT="19050" marB="19050" anchor="ctr">
                    <a:solidFill>
                      <a:srgbClr val="F5F8FA"/>
                    </a:solidFill>
                  </a:tcPr>
                </a:tc>
                <a:tc>
                  <a:txBody>
                    <a:bodyPr wrap="none"/>
                    <a:lstStyle/>
                    <a:p>
                      <a:pPr algn="l"/>
                      <a:r>
                        <a:rPr sz="800" b="0">
                          <a:solidFill>
                            <a:srgbClr val="2E2E2E"/>
                          </a:solidFill>
                          <a:latin typeface="Calibri"/>
                        </a:rPr>
                        <a:t>307.0</a:t>
                      </a:r>
                    </a:p>
                  </a:txBody>
                  <a:tcPr marL="85725" marR="38100" marT="19050" marB="19050" anchor="ctr">
                    <a:solidFill>
                      <a:srgbClr val="F5F8FA"/>
                    </a:solidFill>
                  </a:tcPr>
                </a:tc>
                <a:tc>
                  <a:txBody>
                    <a:bodyPr wrap="none"/>
                    <a:lstStyle/>
                    <a:p>
                      <a:pPr algn="l"/>
                      <a:r>
                        <a:rPr sz="800" b="0">
                          <a:solidFill>
                            <a:srgbClr val="2E2E2E"/>
                          </a:solidFill>
                          <a:latin typeface="Calibri"/>
                        </a:rPr>
                        <a:t>375.6</a:t>
                      </a:r>
                    </a:p>
                  </a:txBody>
                  <a:tcPr marL="85725" marR="38100" marT="19050" marB="19050" anchor="ctr">
                    <a:solidFill>
                      <a:srgbClr val="F5F8FA"/>
                    </a:solidFill>
                  </a:tcPr>
                </a:tc>
                <a:tc>
                  <a:txBody>
                    <a:bodyPr wrap="none"/>
                    <a:lstStyle/>
                    <a:p>
                      <a:pPr algn="l"/>
                      <a:r>
                        <a:rPr sz="800" b="0">
                          <a:solidFill>
                            <a:srgbClr val="2E2E2E"/>
                          </a:solidFill>
                          <a:latin typeface="Calibri"/>
                        </a:rPr>
                        <a:t>449.8</a:t>
                      </a:r>
                    </a:p>
                  </a:txBody>
                  <a:tcPr marL="85725" marR="38100" marT="19050" marB="19050" anchor="ctr">
                    <a:solidFill>
                      <a:srgbClr val="F5F8FA"/>
                    </a:solidFill>
                  </a:tcPr>
                </a:tc>
                <a:tc>
                  <a:txBody>
                    <a:bodyPr wrap="none"/>
                    <a:lstStyle/>
                    <a:p>
                      <a:pPr algn="l"/>
                      <a:r>
                        <a:rPr sz="800" b="0">
                          <a:solidFill>
                            <a:srgbClr val="2E2E2E"/>
                          </a:solidFill>
                          <a:latin typeface="Calibri"/>
                        </a:rPr>
                        <a:t>522.4</a:t>
                      </a:r>
                    </a:p>
                  </a:txBody>
                  <a:tcPr marL="85725" marR="38100" marT="19050" marB="19050" anchor="ctr">
                    <a:solidFill>
                      <a:srgbClr val="F5F8FA"/>
                    </a:solidFill>
                  </a:tcPr>
                </a:tc>
                <a:tc>
                  <a:txBody>
                    <a:bodyPr wrap="none"/>
                    <a:lstStyle/>
                    <a:p>
                      <a:pPr algn="l"/>
                      <a:r>
                        <a:rPr sz="800" b="0">
                          <a:solidFill>
                            <a:srgbClr val="2E2E2E"/>
                          </a:solidFill>
                          <a:latin typeface="Calibri"/>
                        </a:rPr>
                        <a:t>595.8</a:t>
                      </a:r>
                    </a:p>
                  </a:txBody>
                  <a:tcPr marL="85725" marR="38100" marT="19050" marB="19050" anchor="ctr">
                    <a:solidFill>
                      <a:srgbClr val="F5F8FA"/>
                    </a:solidFill>
                  </a:tcPr>
                </a:tc>
                <a:tc>
                  <a:txBody>
                    <a:bodyPr wrap="none"/>
                    <a:lstStyle/>
                    <a:p>
                      <a:pPr algn="l"/>
                      <a:r>
                        <a:rPr sz="800" b="0">
                          <a:solidFill>
                            <a:srgbClr val="2E2E2E"/>
                          </a:solidFill>
                          <a:latin typeface="Calibri"/>
                        </a:rPr>
                        <a:t>665.8</a:t>
                      </a:r>
                    </a:p>
                  </a:txBody>
                  <a:tcPr marL="85725" marR="38100" marT="19050" marB="19050" anchor="ctr">
                    <a:solidFill>
                      <a:srgbClr val="F5F8FA"/>
                    </a:solidFill>
                  </a:tcPr>
                </a:tc>
                <a:tc>
                  <a:txBody>
                    <a:bodyPr wrap="none"/>
                    <a:lstStyle/>
                    <a:p>
                      <a:pPr algn="l"/>
                      <a:r>
                        <a:rPr sz="800" b="0">
                          <a:solidFill>
                            <a:srgbClr val="2E2E2E"/>
                          </a:solidFill>
                          <a:latin typeface="Calibri"/>
                        </a:rPr>
                        <a:t>733.5</a:t>
                      </a:r>
                    </a:p>
                  </a:txBody>
                  <a:tcPr marL="85725" marR="38100" marT="19050" marB="19050" anchor="ctr">
                    <a:solidFill>
                      <a:srgbClr val="F5F8FA"/>
                    </a:solidFill>
                  </a:tcPr>
                </a:tc>
                <a:tc>
                  <a:txBody>
                    <a:bodyPr wrap="none"/>
                    <a:lstStyle/>
                    <a:p>
                      <a:pPr algn="l"/>
                      <a:r>
                        <a:rPr sz="800" b="0">
                          <a:solidFill>
                            <a:srgbClr val="2E2E2E"/>
                          </a:solidFill>
                          <a:latin typeface="Calibri"/>
                        </a:rPr>
                        <a:t>798.5</a:t>
                      </a:r>
                    </a:p>
                  </a:txBody>
                  <a:tcPr marL="85725" marR="38100" marT="19050" marB="19050" anchor="ctr">
                    <a:solidFill>
                      <a:srgbClr val="F5F8FA"/>
                    </a:solidFill>
                  </a:tcPr>
                </a:tc>
                <a:tc>
                  <a:txBody>
                    <a:bodyPr wrap="none"/>
                    <a:lstStyle/>
                    <a:p>
                      <a:pPr algn="l"/>
                      <a:r>
                        <a:rPr sz="800" b="0">
                          <a:solidFill>
                            <a:srgbClr val="2E2E2E"/>
                          </a:solidFill>
                          <a:latin typeface="Calibri"/>
                        </a:rPr>
                        <a:t>860.6</a:t>
                      </a:r>
                    </a:p>
                  </a:txBody>
                  <a:tcPr marL="85725" marR="38100" marT="19050" marB="19050" anchor="ctr">
                    <a:solidFill>
                      <a:srgbClr val="F5F8FA"/>
                    </a:solidFill>
                  </a:tcPr>
                </a:tc>
                <a:tc>
                  <a:txBody>
                    <a:bodyPr wrap="none"/>
                    <a:lstStyle/>
                    <a:p>
                      <a:pPr algn="l"/>
                      <a:r>
                        <a:rPr sz="800" b="0">
                          <a:solidFill>
                            <a:srgbClr val="2E2E2E"/>
                          </a:solidFill>
                          <a:latin typeface="Calibri"/>
                        </a:rPr>
                        <a:t>919.8</a:t>
                      </a:r>
                    </a:p>
                  </a:txBody>
                  <a:tcPr marL="85725" marR="38100" marT="19050" marB="19050" anchor="ctr">
                    <a:solidFill>
                      <a:srgbClr val="F5F8FA"/>
                    </a:solidFill>
                  </a:tcPr>
                </a:tc>
                <a:tc>
                  <a:txBody>
                    <a:bodyPr wrap="none"/>
                    <a:lstStyle/>
                    <a:p>
                      <a:pPr algn="l"/>
                      <a:r>
                        <a:rPr sz="800" b="0">
                          <a:solidFill>
                            <a:srgbClr val="2E2E2E"/>
                          </a:solidFill>
                          <a:latin typeface="Calibri"/>
                        </a:rPr>
                        <a:t>975.7</a:t>
                      </a:r>
                    </a:p>
                  </a:txBody>
                  <a:tcPr marL="85725" marR="38100" marT="19050" marB="19050" anchor="ctr">
                    <a:solidFill>
                      <a:srgbClr val="F5F8FA"/>
                    </a:solidFill>
                  </a:tcPr>
                </a:tc>
                <a:tc>
                  <a:txBody>
                    <a:bodyPr wrap="none"/>
                    <a:lstStyle/>
                    <a:p>
                      <a:pPr algn="l"/>
                      <a:r>
                        <a:rPr sz="800" b="0">
                          <a:solidFill>
                            <a:srgbClr val="2E2E2E"/>
                          </a:solidFill>
                          <a:latin typeface="Calibri"/>
                        </a:rPr>
                        <a:t>1,029</a:t>
                      </a:r>
                    </a:p>
                  </a:txBody>
                  <a:tcPr marL="85725" marR="38100" marT="19050" marB="19050" anchor="ctr">
                    <a:solidFill>
                      <a:srgbClr val="F5F8FA"/>
                    </a:solidFill>
                  </a:tcPr>
                </a:tc>
                <a:tc>
                  <a:txBody>
                    <a:bodyPr wrap="none"/>
                    <a:lstStyle/>
                    <a:p>
                      <a:pPr algn="l"/>
                      <a:r>
                        <a:rPr sz="800" b="0">
                          <a:solidFill>
                            <a:srgbClr val="2E2E2E"/>
                          </a:solidFill>
                          <a:latin typeface="Calibri"/>
                        </a:rPr>
                        <a:t>1,081</a:t>
                      </a:r>
                    </a:p>
                  </a:txBody>
                  <a:tcPr marL="85725" marR="38100" marT="19050" marB="19050" anchor="ctr">
                    <a:solidFill>
                      <a:srgbClr val="F5F8FA"/>
                    </a:solidFill>
                  </a:tcPr>
                </a:tc>
                <a:tc>
                  <a:txBody>
                    <a:bodyPr wrap="none"/>
                    <a:lstStyle/>
                    <a:p>
                      <a:pPr algn="l"/>
                      <a:r>
                        <a:rPr sz="800" b="0">
                          <a:solidFill>
                            <a:srgbClr val="2E2E2E"/>
                          </a:solidFill>
                          <a:latin typeface="Calibri"/>
                        </a:rPr>
                        <a:t>1,130</a:t>
                      </a:r>
                    </a:p>
                  </a:txBody>
                  <a:tcPr marL="85725" marR="38100" marT="19050" marB="19050" anchor="ctr">
                    <a:solidFill>
                      <a:srgbClr val="F5F8FA"/>
                    </a:solidFill>
                  </a:tcPr>
                </a:tc>
                <a:tc>
                  <a:txBody>
                    <a:bodyPr wrap="none"/>
                    <a:lstStyle/>
                    <a:p>
                      <a:pPr algn="l"/>
                      <a:r>
                        <a:rPr sz="800" b="0">
                          <a:solidFill>
                            <a:srgbClr val="2E2E2E"/>
                          </a:solidFill>
                          <a:latin typeface="Calibri"/>
                        </a:rPr>
                        <a:t>8.0%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852.6</a:t>
                      </a:r>
                    </a:p>
                  </a:txBody>
                  <a:tcPr marL="85725" marR="38100" marT="19050" marB="19050" anchor="ctr">
                    <a:solidFill>
                      <a:srgbClr val="E0E8EF"/>
                    </a:solidFill>
                  </a:tcPr>
                </a:tc>
                <a:tc>
                  <a:txBody>
                    <a:bodyPr wrap="none"/>
                    <a:lstStyle/>
                    <a:p>
                      <a:pPr algn="l"/>
                      <a:r>
                        <a:rPr sz="800" b="1">
                          <a:solidFill>
                            <a:srgbClr val="2E2E2E"/>
                          </a:solidFill>
                          <a:latin typeface="Calibri"/>
                        </a:rPr>
                        <a:t>958.1</a:t>
                      </a:r>
                    </a:p>
                  </a:txBody>
                  <a:tcPr marL="85725" marR="38100" marT="19050" marB="19050" anchor="ctr">
                    <a:solidFill>
                      <a:srgbClr val="E0E8EF"/>
                    </a:solidFill>
                  </a:tcPr>
                </a:tc>
                <a:tc>
                  <a:txBody>
                    <a:bodyPr wrap="none"/>
                    <a:lstStyle/>
                    <a:p>
                      <a:pPr algn="l"/>
                      <a:r>
                        <a:rPr sz="800" b="1">
                          <a:solidFill>
                            <a:srgbClr val="2E2E2E"/>
                          </a:solidFill>
                          <a:latin typeface="Calibri"/>
                        </a:rPr>
                        <a:t>1,142</a:t>
                      </a:r>
                    </a:p>
                  </a:txBody>
                  <a:tcPr marL="85725" marR="38100" marT="19050" marB="19050" anchor="ctr">
                    <a:solidFill>
                      <a:srgbClr val="E0E8EF"/>
                    </a:solidFill>
                  </a:tcPr>
                </a:tc>
                <a:tc>
                  <a:txBody>
                    <a:bodyPr wrap="none"/>
                    <a:lstStyle/>
                    <a:p>
                      <a:pPr algn="l"/>
                      <a:r>
                        <a:rPr sz="800" b="1">
                          <a:solidFill>
                            <a:srgbClr val="2E2E2E"/>
                          </a:solidFill>
                          <a:latin typeface="Calibri"/>
                        </a:rPr>
                        <a:t>1,405</a:t>
                      </a:r>
                    </a:p>
                  </a:txBody>
                  <a:tcPr marL="85725" marR="38100" marT="19050" marB="19050" anchor="ctr">
                    <a:solidFill>
                      <a:srgbClr val="E0E8EF"/>
                    </a:solidFill>
                  </a:tcPr>
                </a:tc>
                <a:tc>
                  <a:txBody>
                    <a:bodyPr wrap="none"/>
                    <a:lstStyle/>
                    <a:p>
                      <a:pPr algn="l"/>
                      <a:r>
                        <a:rPr sz="800" b="1">
                          <a:solidFill>
                            <a:srgbClr val="2E2E2E"/>
                          </a:solidFill>
                          <a:latin typeface="Calibri"/>
                        </a:rPr>
                        <a:t>1,691</a:t>
                      </a:r>
                    </a:p>
                  </a:txBody>
                  <a:tcPr marL="85725" marR="38100" marT="19050" marB="19050" anchor="ctr">
                    <a:solidFill>
                      <a:srgbClr val="E0E8EF"/>
                    </a:solidFill>
                  </a:tcPr>
                </a:tc>
                <a:tc>
                  <a:txBody>
                    <a:bodyPr wrap="none"/>
                    <a:lstStyle/>
                    <a:p>
                      <a:pPr algn="l"/>
                      <a:r>
                        <a:rPr sz="800" b="1">
                          <a:solidFill>
                            <a:srgbClr val="2E2E2E"/>
                          </a:solidFill>
                          <a:latin typeface="Calibri"/>
                        </a:rPr>
                        <a:t>1,974</a:t>
                      </a:r>
                    </a:p>
                  </a:txBody>
                  <a:tcPr marL="85725" marR="38100" marT="19050" marB="19050" anchor="ctr">
                    <a:solidFill>
                      <a:srgbClr val="E0E8EF"/>
                    </a:solidFill>
                  </a:tcPr>
                </a:tc>
                <a:tc>
                  <a:txBody>
                    <a:bodyPr wrap="none"/>
                    <a:lstStyle/>
                    <a:p>
                      <a:pPr algn="l"/>
                      <a:r>
                        <a:rPr sz="800" b="1">
                          <a:solidFill>
                            <a:srgbClr val="2E2E2E"/>
                          </a:solidFill>
                          <a:latin typeface="Calibri"/>
                        </a:rPr>
                        <a:t>2,263</a:t>
                      </a:r>
                    </a:p>
                  </a:txBody>
                  <a:tcPr marL="85725" marR="38100" marT="19050" marB="19050" anchor="ctr">
                    <a:solidFill>
                      <a:srgbClr val="E0E8EF"/>
                    </a:solidFill>
                  </a:tcPr>
                </a:tc>
                <a:tc>
                  <a:txBody>
                    <a:bodyPr wrap="none"/>
                    <a:lstStyle/>
                    <a:p>
                      <a:pPr algn="l"/>
                      <a:r>
                        <a:rPr sz="800" b="1">
                          <a:solidFill>
                            <a:srgbClr val="2E2E2E"/>
                          </a:solidFill>
                          <a:latin typeface="Calibri"/>
                        </a:rPr>
                        <a:t>2,542</a:t>
                      </a:r>
                    </a:p>
                  </a:txBody>
                  <a:tcPr marL="85725" marR="38100" marT="19050" marB="19050" anchor="ctr">
                    <a:solidFill>
                      <a:srgbClr val="E0E8EF"/>
                    </a:solidFill>
                  </a:tcPr>
                </a:tc>
                <a:tc>
                  <a:txBody>
                    <a:bodyPr wrap="none"/>
                    <a:lstStyle/>
                    <a:p>
                      <a:pPr algn="l"/>
                      <a:r>
                        <a:rPr sz="800" b="1">
                          <a:solidFill>
                            <a:srgbClr val="2E2E2E"/>
                          </a:solidFill>
                          <a:latin typeface="Calibri"/>
                        </a:rPr>
                        <a:t>2,814</a:t>
                      </a:r>
                    </a:p>
                  </a:txBody>
                  <a:tcPr marL="85725" marR="38100" marT="19050" marB="19050" anchor="ctr">
                    <a:solidFill>
                      <a:srgbClr val="E0E8EF"/>
                    </a:solidFill>
                  </a:tcPr>
                </a:tc>
                <a:tc>
                  <a:txBody>
                    <a:bodyPr wrap="none"/>
                    <a:lstStyle/>
                    <a:p>
                      <a:pPr algn="l"/>
                      <a:r>
                        <a:rPr sz="800" b="1">
                          <a:solidFill>
                            <a:srgbClr val="2E2E2E"/>
                          </a:solidFill>
                          <a:latin typeface="Calibri"/>
                        </a:rPr>
                        <a:t>3,079</a:t>
                      </a:r>
                    </a:p>
                  </a:txBody>
                  <a:tcPr marL="85725" marR="38100" marT="19050" marB="19050" anchor="ctr">
                    <a:solidFill>
                      <a:srgbClr val="E0E8EF"/>
                    </a:solidFill>
                  </a:tcPr>
                </a:tc>
                <a:tc>
                  <a:txBody>
                    <a:bodyPr wrap="none"/>
                    <a:lstStyle/>
                    <a:p>
                      <a:pPr algn="l"/>
                      <a:r>
                        <a:rPr sz="800" b="1">
                          <a:solidFill>
                            <a:srgbClr val="2E2E2E"/>
                          </a:solidFill>
                          <a:latin typeface="Calibri"/>
                        </a:rPr>
                        <a:t>3,334</a:t>
                      </a:r>
                    </a:p>
                  </a:txBody>
                  <a:tcPr marL="85725" marR="38100" marT="19050" marB="19050" anchor="ctr">
                    <a:solidFill>
                      <a:srgbClr val="E0E8EF"/>
                    </a:solidFill>
                  </a:tcPr>
                </a:tc>
                <a:tc>
                  <a:txBody>
                    <a:bodyPr wrap="none"/>
                    <a:lstStyle/>
                    <a:p>
                      <a:pPr algn="l"/>
                      <a:r>
                        <a:rPr sz="800" b="1">
                          <a:solidFill>
                            <a:srgbClr val="2E2E2E"/>
                          </a:solidFill>
                          <a:latin typeface="Calibri"/>
                        </a:rPr>
                        <a:t>3,579</a:t>
                      </a:r>
                    </a:p>
                  </a:txBody>
                  <a:tcPr marL="85725" marR="38100" marT="19050" marB="19050" anchor="ctr">
                    <a:solidFill>
                      <a:srgbClr val="E0E8EF"/>
                    </a:solidFill>
                  </a:tcPr>
                </a:tc>
                <a:tc>
                  <a:txBody>
                    <a:bodyPr wrap="none"/>
                    <a:lstStyle/>
                    <a:p>
                      <a:pPr algn="l"/>
                      <a:r>
                        <a:rPr sz="800" b="1">
                          <a:solidFill>
                            <a:srgbClr val="2E2E2E"/>
                          </a:solidFill>
                          <a:latin typeface="Calibri"/>
                        </a:rPr>
                        <a:t>3,814</a:t>
                      </a:r>
                    </a:p>
                  </a:txBody>
                  <a:tcPr marL="85725" marR="38100" marT="19050" marB="19050" anchor="ctr">
                    <a:solidFill>
                      <a:srgbClr val="E0E8EF"/>
                    </a:solidFill>
                  </a:tcPr>
                </a:tc>
                <a:tc>
                  <a:txBody>
                    <a:bodyPr wrap="none"/>
                    <a:lstStyle/>
                    <a:p>
                      <a:pPr algn="l"/>
                      <a:r>
                        <a:rPr sz="800" b="1">
                          <a:solidFill>
                            <a:srgbClr val="2E2E2E"/>
                          </a:solidFill>
                          <a:latin typeface="Calibri"/>
                        </a:rPr>
                        <a:t>4,041</a:t>
                      </a:r>
                    </a:p>
                  </a:txBody>
                  <a:tcPr marL="85725" marR="38100" marT="19050" marB="19050" anchor="ctr">
                    <a:solidFill>
                      <a:srgbClr val="E0E8EF"/>
                    </a:solidFill>
                  </a:tcPr>
                </a:tc>
                <a:tc>
                  <a:txBody>
                    <a:bodyPr wrap="none"/>
                    <a:lstStyle/>
                    <a:p>
                      <a:pPr algn="l"/>
                      <a:r>
                        <a:rPr sz="800" b="1">
                          <a:solidFill>
                            <a:srgbClr val="2E2E2E"/>
                          </a:solidFill>
                          <a:latin typeface="Calibri"/>
                        </a:rPr>
                        <a:t>4,260</a:t>
                      </a:r>
                    </a:p>
                  </a:txBody>
                  <a:tcPr marL="85725" marR="38100" marT="19050" marB="19050" anchor="ctr">
                    <a:solidFill>
                      <a:srgbClr val="E0E8EF"/>
                    </a:solidFill>
                  </a:tcPr>
                </a:tc>
                <a:tc>
                  <a:txBody>
                    <a:bodyPr wrap="none"/>
                    <a:lstStyle/>
                    <a:p>
                      <a:pPr algn="l"/>
                      <a:r>
                        <a:rPr sz="800" b="1">
                          <a:solidFill>
                            <a:srgbClr val="2E2E2E"/>
                          </a:solidFill>
                          <a:latin typeface="Calibri"/>
                        </a:rPr>
                        <a:t>4,475</a:t>
                      </a:r>
                    </a:p>
                  </a:txBody>
                  <a:tcPr marL="85725" marR="38100" marT="19050" marB="19050" anchor="ctr">
                    <a:solidFill>
                      <a:srgbClr val="E0E8EF"/>
                    </a:solidFill>
                  </a:tcPr>
                </a:tc>
                <a:tc>
                  <a:txBody>
                    <a:bodyPr wrap="none"/>
                    <a:lstStyle/>
                    <a:p>
                      <a:pPr algn="l"/>
                      <a:r>
                        <a:rPr sz="800" b="1">
                          <a:solidFill>
                            <a:srgbClr val="2E2E2E"/>
                          </a:solidFill>
                          <a:latin typeface="Calibri"/>
                        </a:rPr>
                        <a:t>8.5%</a:t>
                      </a:r>
                    </a:p>
                  </a:txBody>
                  <a:tcPr marL="85725" marR="38100" marT="19050" marB="19050" anchor="ctr">
                    <a:solidFill>
                      <a:srgbClr val="E0E8EF"/>
                    </a:solidFill>
                  </a:tcPr>
                </a:tc>
              </a:tr>
            </a:tbl>
          </a:graphicData>
        </a:graphic>
      </p:graphicFrame>
      <p:sp>
        <p:nvSpPr>
          <p:cNvPr id="14" name="TextBox 13"/>
          <p:cNvSpPr txBox="1"/>
          <p:nvPr/>
        </p:nvSpPr>
        <p:spPr>
          <a:xfrm>
            <a:off x="219075" y="38481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4124325"/>
            <a:ext cx="11906250" cy="2600325"/>
          </a:xfrm>
          <a:prstGeom prst="roundRect">
            <a:avLst>
              <a:gd name="adj" fmla="val 29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2100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Sales / Distribution Channel</a:t>
            </a:r>
          </a:p>
        </p:txBody>
      </p:sp>
      <p:sp>
        <p:nvSpPr>
          <p:cNvPr id="17" name="Rectangle 16"/>
          <p:cNvSpPr/>
          <p:nvPr/>
        </p:nvSpPr>
        <p:spPr>
          <a:xfrm>
            <a:off x="276225" y="44481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533900"/>
            <a:ext cx="11639550" cy="2114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'Direct Institutional Sales' is the largest sales / distribution channel at 28.1% of 2036 value (1,260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'Direct Institutional Sales' grows fastest 9.1%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'Direct Institutional Sales' (+140 BPS) and away from 'Online / Digital Pharmacy' (-120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rises from 1,974 to 4,475 US$ Mn across 4 categories.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Value &amp; Share Shift, By Sales / Distribution Channel</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7400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Sales / Distribution Channel ·  2021 / 2026 / 2036 (US$ Mn)  ·  right axis = BPS share shift</a:t>
            </a:r>
          </a:p>
        </p:txBody>
      </p:sp>
      <p:graphicFrame>
        <p:nvGraphicFramePr>
          <p:cNvPr id="13" name="Chart 12"/>
          <p:cNvGraphicFramePr>
            <a:graphicFrameLocks noGrp="1"/>
          </p:cNvGraphicFramePr>
          <p:nvPr/>
        </p:nvGraphicFramePr>
        <p:xfrm>
          <a:off x="238125" y="1457325"/>
          <a:ext cx="5624132" cy="5210175"/>
        </p:xfrm>
        <a:graphic>
          <a:graphicData uri="http://schemas.openxmlformats.org/drawingml/2006/chart">
            <c:chart xmlns:c="http://schemas.openxmlformats.org/drawingml/2006/chart" r:id="rId3"/>
          </a:graphicData>
        </a:graphic>
      </p:graphicFrame>
      <p:sp>
        <p:nvSpPr>
          <p:cNvPr id="14" name="TextBox 13"/>
          <p:cNvSpPr txBox="1"/>
          <p:nvPr/>
        </p:nvSpPr>
        <p:spPr>
          <a:xfrm>
            <a:off x="6934200" y="1522857"/>
            <a:ext cx="552450" cy="114300"/>
          </a:xfrm>
          <a:prstGeom prst="rect">
            <a:avLst/>
          </a:prstGeom>
          <a:noFill/>
        </p:spPr>
        <p:txBody>
          <a:bodyPr wrap="square" lIns="28575" rIns="28575" tIns="9525" bIns="9525">
            <a:spAutoFit/>
          </a:bodyPr>
          <a:lstStyle/>
          <a:p>
            <a:pPr algn="l"/>
            <a:r>
              <a:rPr sz="750" b="1">
                <a:solidFill>
                  <a:srgbClr val="6C7A89"/>
                </a:solidFill>
                <a:latin typeface="Calibri"/>
              </a:rPr>
              <a:t>BPS Δ</a:t>
            </a:r>
          </a:p>
        </p:txBody>
      </p:sp>
      <p:cxnSp>
        <p:nvCxnSpPr>
          <p:cNvPr id="15" name="Connector 14"/>
          <p:cNvCxnSpPr/>
          <p:nvPr/>
        </p:nvCxnSpPr>
        <p:spPr>
          <a:xfrm>
            <a:off x="7010400" y="1665732"/>
            <a:ext cx="0" cy="4144518"/>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919406" y="3737991"/>
            <a:ext cx="1090994"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038975" y="5265361"/>
            <a:ext cx="419100" cy="133350"/>
          </a:xfrm>
          <a:prstGeom prst="rect">
            <a:avLst/>
          </a:prstGeom>
          <a:noFill/>
        </p:spPr>
        <p:txBody>
          <a:bodyPr wrap="none" lIns="0" rIns="0" tIns="0" bIns="0" anchor="ctr">
            <a:spAutoFit/>
          </a:bodyPr>
          <a:lstStyle/>
          <a:p>
            <a:pPr algn="l"/>
            <a:r>
              <a:rPr sz="750" b="0">
                <a:solidFill>
                  <a:srgbClr val="6C7A89"/>
                </a:solidFill>
                <a:latin typeface="Calibri"/>
              </a:rPr>
              <a:t>-140</a:t>
            </a:r>
          </a:p>
        </p:txBody>
      </p:sp>
      <p:sp>
        <p:nvSpPr>
          <p:cNvPr id="18" name="TextBox 17"/>
          <p:cNvSpPr txBox="1"/>
          <p:nvPr/>
        </p:nvSpPr>
        <p:spPr>
          <a:xfrm>
            <a:off x="7038975" y="3671316"/>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19" name="TextBox 18"/>
          <p:cNvSpPr txBox="1"/>
          <p:nvPr/>
        </p:nvSpPr>
        <p:spPr>
          <a:xfrm>
            <a:off x="7038975" y="2077271"/>
            <a:ext cx="419100" cy="133350"/>
          </a:xfrm>
          <a:prstGeom prst="rect">
            <a:avLst/>
          </a:prstGeom>
          <a:noFill/>
        </p:spPr>
        <p:txBody>
          <a:bodyPr wrap="none" lIns="0" rIns="0" tIns="0" bIns="0" anchor="ctr">
            <a:spAutoFit/>
          </a:bodyPr>
          <a:lstStyle/>
          <a:p>
            <a:pPr algn="l"/>
            <a:r>
              <a:rPr sz="750" b="0">
                <a:solidFill>
                  <a:srgbClr val="6C7A89"/>
                </a:solidFill>
                <a:latin typeface="Calibri"/>
              </a:rPr>
              <a:t>+140</a:t>
            </a:r>
          </a:p>
        </p:txBody>
      </p:sp>
      <p:sp>
        <p:nvSpPr>
          <p:cNvPr id="20" name="Oval 19"/>
          <p:cNvSpPr/>
          <p:nvPr/>
        </p:nvSpPr>
        <p:spPr>
          <a:xfrm>
            <a:off x="5971794" y="2101083"/>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971794" y="2668215"/>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71794" y="4946721"/>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71794" y="5064495"/>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81332" y="2067746"/>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+140</a:t>
            </a:r>
          </a:p>
        </p:txBody>
      </p:sp>
      <p:sp>
        <p:nvSpPr>
          <p:cNvPr id="25" name="TextBox 24"/>
          <p:cNvSpPr txBox="1"/>
          <p:nvPr/>
        </p:nvSpPr>
        <p:spPr>
          <a:xfrm>
            <a:off x="6081332" y="2634877"/>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+90</a:t>
            </a:r>
          </a:p>
        </p:txBody>
      </p:sp>
      <p:sp>
        <p:nvSpPr>
          <p:cNvPr id="26" name="TextBox 25"/>
          <p:cNvSpPr txBox="1"/>
          <p:nvPr/>
        </p:nvSpPr>
        <p:spPr>
          <a:xfrm>
            <a:off x="6081332" y="4913384"/>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-110</a:t>
            </a:r>
          </a:p>
        </p:txBody>
      </p:sp>
      <p:sp>
        <p:nvSpPr>
          <p:cNvPr id="27" name="TextBox 26"/>
          <p:cNvSpPr txBox="1"/>
          <p:nvPr/>
        </p:nvSpPr>
        <p:spPr>
          <a:xfrm>
            <a:off x="6081332" y="5037209"/>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-120</a:t>
            </a:r>
          </a:p>
        </p:txBody>
      </p:sp>
      <p:sp>
        <p:nvSpPr>
          <p:cNvPr id="28" name="Rounded Rectangle 27"/>
          <p:cNvSpPr/>
          <p:nvPr/>
        </p:nvSpPr>
        <p:spPr>
          <a:xfrm>
            <a:off x="7696200" y="857250"/>
            <a:ext cx="4343400" cy="5867400"/>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942975"/>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Sales / Distribution Channel</a:t>
            </a:r>
          </a:p>
        </p:txBody>
      </p:sp>
      <p:sp>
        <p:nvSpPr>
          <p:cNvPr id="30" name="Rectangle 29"/>
          <p:cNvSpPr/>
          <p:nvPr/>
        </p:nvSpPr>
        <p:spPr>
          <a:xfrm>
            <a:off x="7829550" y="1181100"/>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266825"/>
            <a:ext cx="4076700" cy="538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'Direct Institutional Sales' gains the most share +140 BPS between 2026 and 2036 (</a:t>
            </a:r>
            <a:r>
              <a:rPr sz="1150" b="0">
                <a:solidFill>
                  <a:srgbClr val="2E7D32"/>
                </a:solidFill>
                <a:latin typeface="Calibri"/>
              </a:rPr>
              <a:t>green ▲</a:t>
            </a:r>
            <a:r>
              <a:rPr sz="1150" b="0">
                <a:solidFill>
                  <a:srgbClr val="2E2E2E"/>
                </a:solidFill>
                <a:latin typeface="Calibri"/>
              </a:rPr>
              <a:t> on the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'Online / Digital Pharmacy' cedes the most -120 BPS over the same window (</a:t>
            </a:r>
            <a:r>
              <a:rPr sz="1150" b="0">
                <a:solidFill>
                  <a:srgbClr val="E44D3A"/>
                </a:solidFill>
                <a:latin typeface="Calibri"/>
              </a:rPr>
              <a:t>red ▼</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'Direct Institutional Sales' is the fastest-growing sales / distribution channel at 9.1%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climbs from 852.6 to 4,475 US$ Mn across 2021–2036.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Bars show the value mix at each snapshot; the scale shows how each share moves.</a:t>
            </a:r>
          </a:p>
        </p:txBody>
      </p:sp>
      <p:sp>
        <p:nvSpPr>
          <p:cNvPr id="32" name="Rectangle 3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4" name="Rounded Rectangle 33">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5" name="Rounded Rectangle 34">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6" name="Rounded Rectangle 35">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Volume, By Sales / Distribution Channel (%)</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447925"/>
          </a:xfrm>
          <a:prstGeom prst="roundRect">
            <a:avLst>
              <a:gd name="adj" fmla="val 31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YoY Growth, By Sales / Distribution Channel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Sales / Distribution Channel</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Direct Institutional Sales</a:t>
                      </a:r>
                    </a:p>
                  </a:txBody>
                  <a:tcPr marL="85725" marR="38100" marT="19050" marB="19050" anchor="ctr">
                    <a:solidFill>
                      <a:srgbClr val="FFFFFF"/>
                    </a:solidFill>
                  </a:tcPr>
                </a:tc>
                <a:tc>
                  <a:txBody>
                    <a:bodyPr wrap="none"/>
                    <a:lstStyle/>
                    <a:p>
                      <a:pPr algn="l"/>
                      <a:r>
                        <a:rPr sz="800" b="1">
                          <a:solidFill>
                            <a:srgbClr val="A86F00"/>
                          </a:solidFill>
                          <a:latin typeface="Calibri"/>
                        </a:rPr>
                        <a:t>▶ 16.3%</a:t>
                      </a:r>
                    </a:p>
                  </a:txBody>
                  <a:tcPr marL="85725" marR="38100" marT="19050" marB="19050" anchor="ctr">
                    <a:solidFill>
                      <a:srgbClr val="FFFFFF"/>
                    </a:solidFill>
                  </a:tcPr>
                </a:tc>
                <a:tc>
                  <a:txBody>
                    <a:bodyPr wrap="none"/>
                    <a:lstStyle/>
                    <a:p>
                      <a:pPr algn="l"/>
                      <a:r>
                        <a:rPr sz="800" b="1">
                          <a:solidFill>
                            <a:srgbClr val="A86F00"/>
                          </a:solidFill>
                          <a:latin typeface="Calibri"/>
                        </a:rPr>
                        <a:t>▶ 23.4%</a:t>
                      </a:r>
                    </a:p>
                  </a:txBody>
                  <a:tcPr marL="85725" marR="38100" marT="19050" marB="19050" anchor="ctr">
                    <a:solidFill>
                      <a:srgbClr val="FFFFFF"/>
                    </a:solidFill>
                  </a:tcPr>
                </a:tc>
                <a:tc>
                  <a:txBody>
                    <a:bodyPr wrap="none"/>
                    <a:lstStyle/>
                    <a:p>
                      <a:pPr algn="l"/>
                      <a:r>
                        <a:rPr sz="800" b="1">
                          <a:solidFill>
                            <a:srgbClr val="A86F00"/>
                          </a:solidFill>
                          <a:latin typeface="Calibri"/>
                        </a:rPr>
                        <a:t>▶ 27.3%</a:t>
                      </a:r>
                    </a:p>
                  </a:txBody>
                  <a:tcPr marL="85725" marR="38100" marT="19050" marB="19050" anchor="ctr">
                    <a:solidFill>
                      <a:srgbClr val="FFFFFF"/>
                    </a:solidFill>
                  </a:tcPr>
                </a:tc>
                <a:tc>
                  <a:txBody>
                    <a:bodyPr wrap="none"/>
                    <a:lstStyle/>
                    <a:p>
                      <a:pPr algn="l"/>
                      <a:r>
                        <a:rPr sz="800" b="1">
                          <a:solidFill>
                            <a:srgbClr val="A86F00"/>
                          </a:solidFill>
                          <a:latin typeface="Calibri"/>
                        </a:rPr>
                        <a:t>▶ 24.5%</a:t>
                      </a:r>
                    </a:p>
                  </a:txBody>
                  <a:tcPr marL="85725" marR="38100" marT="19050" marB="19050" anchor="ctr">
                    <a:solidFill>
                      <a:srgbClr val="FFFFFF"/>
                    </a:solidFill>
                  </a:tcPr>
                </a:tc>
                <a:tc>
                  <a:txBody>
                    <a:bodyPr wrap="none"/>
                    <a:lstStyle/>
                    <a:p>
                      <a:pPr algn="l"/>
                      <a:r>
                        <a:rPr sz="800" b="1">
                          <a:solidFill>
                            <a:srgbClr val="A86F00"/>
                          </a:solidFill>
                          <a:latin typeface="Calibri"/>
                        </a:rPr>
                        <a:t>▶ 20.8%</a:t>
                      </a:r>
                    </a:p>
                  </a:txBody>
                  <a:tcPr marL="85725" marR="38100" marT="19050" marB="19050" anchor="ctr">
                    <a:solidFill>
                      <a:srgbClr val="FFFFFF"/>
                    </a:solidFill>
                  </a:tcPr>
                </a:tc>
                <a:tc>
                  <a:txBody>
                    <a:bodyPr wrap="none"/>
                    <a:lstStyle/>
                    <a:p>
                      <a:pPr algn="l"/>
                      <a:r>
                        <a:rPr sz="800" b="1">
                          <a:solidFill>
                            <a:srgbClr val="A86F00"/>
                          </a:solidFill>
                          <a:latin typeface="Calibri"/>
                        </a:rPr>
                        <a:t>▶ 18.6%</a:t>
                      </a:r>
                    </a:p>
                  </a:txBody>
                  <a:tcPr marL="85725" marR="38100" marT="19050" marB="19050" anchor="ctr">
                    <a:solidFill>
                      <a:srgbClr val="FFFFFF"/>
                    </a:solidFill>
                  </a:tcPr>
                </a:tc>
                <a:tc>
                  <a:txBody>
                    <a:bodyPr wrap="none"/>
                    <a:lstStyle/>
                    <a:p>
                      <a:pPr algn="l"/>
                      <a:r>
                        <a:rPr sz="800" b="1">
                          <a:solidFill>
                            <a:srgbClr val="A86F00"/>
                          </a:solidFill>
                          <a:latin typeface="Calibri"/>
                        </a:rPr>
                        <a:t>▶ 16.1%</a:t>
                      </a:r>
                    </a:p>
                  </a:txBody>
                  <a:tcPr marL="85725" marR="38100" marT="19050" marB="19050" anchor="ctr">
                    <a:solidFill>
                      <a:srgbClr val="FFFFFF"/>
                    </a:solidFill>
                  </a:tcPr>
                </a:tc>
                <a:tc>
                  <a:txBody>
                    <a:bodyPr wrap="none"/>
                    <a:lstStyle/>
                    <a:p>
                      <a:pPr algn="l"/>
                      <a:r>
                        <a:rPr sz="800" b="1">
                          <a:solidFill>
                            <a:srgbClr val="A86F00"/>
                          </a:solidFill>
                          <a:latin typeface="Calibri"/>
                        </a:rPr>
                        <a:t>▶ 14.4%</a:t>
                      </a:r>
                    </a:p>
                  </a:txBody>
                  <a:tcPr marL="85725" marR="38100" marT="19050" marB="19050" anchor="ctr">
                    <a:solidFill>
                      <a:srgbClr val="FFFFFF"/>
                    </a:solidFill>
                  </a:tcPr>
                </a:tc>
                <a:tc>
                  <a:txBody>
                    <a:bodyPr wrap="none"/>
                    <a:lstStyle/>
                    <a:p>
                      <a:pPr algn="l"/>
                      <a:r>
                        <a:rPr sz="800" b="1">
                          <a:solidFill>
                            <a:srgbClr val="A86F00"/>
                          </a:solidFill>
                          <a:latin typeface="Calibri"/>
                        </a:rPr>
                        <a:t>▶ 13.1%</a:t>
                      </a:r>
                    </a:p>
                  </a:txBody>
                  <a:tcPr marL="85725" marR="38100" marT="19050" marB="19050" anchor="ctr">
                    <a:solidFill>
                      <a:srgbClr val="FFFFFF"/>
                    </a:solidFill>
                  </a:tcPr>
                </a:tc>
                <a:tc>
                  <a:txBody>
                    <a:bodyPr wrap="none"/>
                    <a:lstStyle/>
                    <a:p>
                      <a:pPr algn="l"/>
                      <a:r>
                        <a:rPr sz="800" b="1">
                          <a:solidFill>
                            <a:srgbClr val="A86F00"/>
                          </a:solidFill>
                          <a:latin typeface="Calibri"/>
                        </a:rPr>
                        <a:t>▶ 11.9%</a:t>
                      </a:r>
                    </a:p>
                  </a:txBody>
                  <a:tcPr marL="85725" marR="38100" marT="19050" marB="19050" anchor="ctr">
                    <a:solidFill>
                      <a:srgbClr val="FFFFFF"/>
                    </a:solidFill>
                  </a:tcPr>
                </a:tc>
                <a:tc>
                  <a:txBody>
                    <a:bodyPr wrap="none"/>
                    <a:lstStyle/>
                    <a:p>
                      <a:pPr algn="l"/>
                      <a:r>
                        <a:rPr sz="800" b="1">
                          <a:solidFill>
                            <a:srgbClr val="A86F00"/>
                          </a:solidFill>
                          <a:latin typeface="Calibri"/>
                        </a:rPr>
                        <a:t>▶ 10.9%</a:t>
                      </a:r>
                    </a:p>
                  </a:txBody>
                  <a:tcPr marL="85725" marR="38100" marT="19050" marB="19050" anchor="ctr">
                    <a:solidFill>
                      <a:srgbClr val="FFFFFF"/>
                    </a:solidFill>
                  </a:tcPr>
                </a:tc>
                <a:tc>
                  <a:txBody>
                    <a:bodyPr wrap="none"/>
                    <a:lstStyle/>
                    <a:p>
                      <a:pPr algn="l"/>
                      <a:r>
                        <a:rPr sz="800" b="1">
                          <a:solidFill>
                            <a:srgbClr val="A86F00"/>
                          </a:solidFill>
                          <a:latin typeface="Calibri"/>
                        </a:rPr>
                        <a:t>▶ 10.1%</a:t>
                      </a:r>
                    </a:p>
                  </a:txBody>
                  <a:tcPr marL="85725" marR="38100" marT="19050" marB="19050" anchor="ctr">
                    <a:solidFill>
                      <a:srgbClr val="FFFFFF"/>
                    </a:solidFill>
                  </a:tcPr>
                </a:tc>
                <a:tc>
                  <a:txBody>
                    <a:bodyPr wrap="none"/>
                    <a:lstStyle/>
                    <a:p>
                      <a:pPr algn="l"/>
                      <a:r>
                        <a:rPr sz="800" b="1">
                          <a:solidFill>
                            <a:srgbClr val="A86F00"/>
                          </a:solidFill>
                          <a:latin typeface="Calibri"/>
                        </a:rPr>
                        <a:t>▶ 9.4%</a:t>
                      </a:r>
                    </a:p>
                  </a:txBody>
                  <a:tcPr marL="85725" marR="38100" marT="19050" marB="19050" anchor="ctr">
                    <a:solidFill>
                      <a:srgbClr val="FFFFFF"/>
                    </a:solidFill>
                  </a:tcPr>
                </a:tc>
                <a:tc>
                  <a:txBody>
                    <a:bodyPr wrap="none"/>
                    <a:lstStyle/>
                    <a:p>
                      <a:pPr algn="l"/>
                      <a:r>
                        <a:rPr sz="800" b="1">
                          <a:solidFill>
                            <a:srgbClr val="A86F00"/>
                          </a:solidFill>
                          <a:latin typeface="Calibri"/>
                        </a:rPr>
                        <a:t>▶ 8.9%</a:t>
                      </a:r>
                    </a:p>
                  </a:txBody>
                  <a:tcPr marL="85725" marR="38100" marT="19050" marB="19050" anchor="ctr">
                    <a:solidFill>
                      <a:srgbClr val="FFFFFF"/>
                    </a:solidFill>
                  </a:tcPr>
                </a:tc>
                <a:tc>
                  <a:txBody>
                    <a:bodyPr wrap="none"/>
                    <a:lstStyle/>
                    <a:p>
                      <a:pPr algn="l"/>
                      <a:r>
                        <a:rPr sz="800" b="1">
                          <a:solidFill>
                            <a:srgbClr val="A86F00"/>
                          </a:solidFill>
                          <a:latin typeface="Calibri"/>
                        </a:rPr>
                        <a:t>▶ 8.4%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Specialty Distribution</a:t>
                      </a:r>
                    </a:p>
                  </a:txBody>
                  <a:tcPr marL="85725" marR="38100" marT="19050" marB="19050" anchor="ctr">
                    <a:solidFill>
                      <a:srgbClr val="F5F8FA"/>
                    </a:solidFill>
                  </a:tcPr>
                </a:tc>
                <a:tc>
                  <a:txBody>
                    <a:bodyPr wrap="none"/>
                    <a:lstStyle/>
                    <a:p>
                      <a:pPr algn="l"/>
                      <a:r>
                        <a:rPr sz="800" b="1">
                          <a:solidFill>
                            <a:srgbClr val="2E7D32"/>
                          </a:solidFill>
                          <a:latin typeface="Calibri"/>
                        </a:rPr>
                        <a:t>▲ 17.8%</a:t>
                      </a:r>
                    </a:p>
                  </a:txBody>
                  <a:tcPr marL="85725" marR="38100" marT="19050" marB="19050" anchor="ctr">
                    <a:solidFill>
                      <a:srgbClr val="F5F8FA"/>
                    </a:solidFill>
                  </a:tcPr>
                </a:tc>
                <a:tc>
                  <a:txBody>
                    <a:bodyPr wrap="none"/>
                    <a:lstStyle/>
                    <a:p>
                      <a:pPr algn="l"/>
                      <a:r>
                        <a:rPr sz="800" b="1">
                          <a:solidFill>
                            <a:srgbClr val="2E7D32"/>
                          </a:solidFill>
                          <a:latin typeface="Calibri"/>
                        </a:rPr>
                        <a:t>▲ 24.9%</a:t>
                      </a:r>
                    </a:p>
                  </a:txBody>
                  <a:tcPr marL="85725" marR="38100" marT="19050" marB="19050" anchor="ctr">
                    <a:solidFill>
                      <a:srgbClr val="F5F8FA"/>
                    </a:solidFill>
                  </a:tcPr>
                </a:tc>
                <a:tc>
                  <a:txBody>
                    <a:bodyPr wrap="none"/>
                    <a:lstStyle/>
                    <a:p>
                      <a:pPr algn="l"/>
                      <a:r>
                        <a:rPr sz="800" b="1">
                          <a:solidFill>
                            <a:srgbClr val="2E7D32"/>
                          </a:solidFill>
                          <a:latin typeface="Calibri"/>
                        </a:rPr>
                        <a:t>▲ 28.9%</a:t>
                      </a:r>
                    </a:p>
                  </a:txBody>
                  <a:tcPr marL="85725" marR="38100" marT="19050" marB="19050" anchor="ctr">
                    <a:solidFill>
                      <a:srgbClr val="F5F8FA"/>
                    </a:solidFill>
                  </a:tcPr>
                </a:tc>
                <a:tc>
                  <a:txBody>
                    <a:bodyPr wrap="none"/>
                    <a:lstStyle/>
                    <a:p>
                      <a:pPr algn="l"/>
                      <a:r>
                        <a:rPr sz="800" b="1">
                          <a:solidFill>
                            <a:srgbClr val="2E7D32"/>
                          </a:solidFill>
                          <a:latin typeface="Calibri"/>
                        </a:rPr>
                        <a:t>▲ 26.2%</a:t>
                      </a:r>
                    </a:p>
                  </a:txBody>
                  <a:tcPr marL="85725" marR="38100" marT="19050" marB="19050" anchor="ctr">
                    <a:solidFill>
                      <a:srgbClr val="F5F8FA"/>
                    </a:solidFill>
                  </a:tcPr>
                </a:tc>
                <a:tc>
                  <a:txBody>
                    <a:bodyPr wrap="none"/>
                    <a:lstStyle/>
                    <a:p>
                      <a:pPr algn="l"/>
                      <a:r>
                        <a:rPr sz="800" b="1">
                          <a:solidFill>
                            <a:srgbClr val="2E7D32"/>
                          </a:solidFill>
                          <a:latin typeface="Calibri"/>
                        </a:rPr>
                        <a:t>▲ 22.4%</a:t>
                      </a:r>
                    </a:p>
                  </a:txBody>
                  <a:tcPr marL="85725" marR="38100" marT="19050" marB="19050" anchor="ctr">
                    <a:solidFill>
                      <a:srgbClr val="F5F8FA"/>
                    </a:solidFill>
                  </a:tcPr>
                </a:tc>
                <a:tc>
                  <a:txBody>
                    <a:bodyPr wrap="none"/>
                    <a:lstStyle/>
                    <a:p>
                      <a:pPr algn="l"/>
                      <a:r>
                        <a:rPr sz="800" b="1">
                          <a:solidFill>
                            <a:srgbClr val="2E7D32"/>
                          </a:solidFill>
                          <a:latin typeface="Calibri"/>
                        </a:rPr>
                        <a:t>▲ 20.2%</a:t>
                      </a:r>
                    </a:p>
                  </a:txBody>
                  <a:tcPr marL="85725" marR="38100" marT="19050" marB="19050" anchor="ctr">
                    <a:solidFill>
                      <a:srgbClr val="F5F8FA"/>
                    </a:solidFill>
                  </a:tcPr>
                </a:tc>
                <a:tc>
                  <a:txBody>
                    <a:bodyPr wrap="none"/>
                    <a:lstStyle/>
                    <a:p>
                      <a:pPr algn="l"/>
                      <a:r>
                        <a:rPr sz="800" b="1">
                          <a:solidFill>
                            <a:srgbClr val="2E7D32"/>
                          </a:solidFill>
                          <a:latin typeface="Calibri"/>
                        </a:rPr>
                        <a:t>▲ 17.8%</a:t>
                      </a:r>
                    </a:p>
                  </a:txBody>
                  <a:tcPr marL="85725" marR="38100" marT="19050" marB="19050" anchor="ctr">
                    <a:solidFill>
                      <a:srgbClr val="F5F8FA"/>
                    </a:solidFill>
                  </a:tcPr>
                </a:tc>
                <a:tc>
                  <a:txBody>
                    <a:bodyPr wrap="none"/>
                    <a:lstStyle/>
                    <a:p>
                      <a:pPr algn="l"/>
                      <a:r>
                        <a:rPr sz="800" b="1">
                          <a:solidFill>
                            <a:srgbClr val="2E7D32"/>
                          </a:solidFill>
                          <a:latin typeface="Calibri"/>
                        </a:rPr>
                        <a:t>▲ 16.1%</a:t>
                      </a:r>
                    </a:p>
                  </a:txBody>
                  <a:tcPr marL="85725" marR="38100" marT="19050" marB="19050" anchor="ctr">
                    <a:solidFill>
                      <a:srgbClr val="F5F8FA"/>
                    </a:solidFill>
                  </a:tcPr>
                </a:tc>
                <a:tc>
                  <a:txBody>
                    <a:bodyPr wrap="none"/>
                    <a:lstStyle/>
                    <a:p>
                      <a:pPr algn="l"/>
                      <a:r>
                        <a:rPr sz="800" b="1">
                          <a:solidFill>
                            <a:srgbClr val="2E7D32"/>
                          </a:solidFill>
                          <a:latin typeface="Calibri"/>
                        </a:rPr>
                        <a:t>▲ 14.7%</a:t>
                      </a:r>
                    </a:p>
                  </a:txBody>
                  <a:tcPr marL="85725" marR="38100" marT="19050" marB="19050" anchor="ctr">
                    <a:solidFill>
                      <a:srgbClr val="F5F8FA"/>
                    </a:solidFill>
                  </a:tcPr>
                </a:tc>
                <a:tc>
                  <a:txBody>
                    <a:bodyPr wrap="none"/>
                    <a:lstStyle/>
                    <a:p>
                      <a:pPr algn="l"/>
                      <a:r>
                        <a:rPr sz="800" b="1">
                          <a:solidFill>
                            <a:srgbClr val="2E7D32"/>
                          </a:solidFill>
                          <a:latin typeface="Calibri"/>
                        </a:rPr>
                        <a:t>▲ 13.6%</a:t>
                      </a:r>
                    </a:p>
                  </a:txBody>
                  <a:tcPr marL="85725" marR="38100" marT="19050" marB="19050" anchor="ctr">
                    <a:solidFill>
                      <a:srgbClr val="F5F8FA"/>
                    </a:solidFill>
                  </a:tcPr>
                </a:tc>
                <a:tc>
                  <a:txBody>
                    <a:bodyPr wrap="none"/>
                    <a:lstStyle/>
                    <a:p>
                      <a:pPr algn="l"/>
                      <a:r>
                        <a:rPr sz="800" b="1">
                          <a:solidFill>
                            <a:srgbClr val="2E7D32"/>
                          </a:solidFill>
                          <a:latin typeface="Calibri"/>
                        </a:rPr>
                        <a:t>▲ 12.6%</a:t>
                      </a:r>
                    </a:p>
                  </a:txBody>
                  <a:tcPr marL="85725" marR="38100" marT="19050" marB="19050" anchor="ctr">
                    <a:solidFill>
                      <a:srgbClr val="F5F8FA"/>
                    </a:solidFill>
                  </a:tcPr>
                </a:tc>
                <a:tc>
                  <a:txBody>
                    <a:bodyPr wrap="none"/>
                    <a:lstStyle/>
                    <a:p>
                      <a:pPr algn="l"/>
                      <a:r>
                        <a:rPr sz="800" b="1">
                          <a:solidFill>
                            <a:srgbClr val="2E7D32"/>
                          </a:solidFill>
                          <a:latin typeface="Calibri"/>
                        </a:rPr>
                        <a:t>▲ 11.8%</a:t>
                      </a:r>
                    </a:p>
                  </a:txBody>
                  <a:tcPr marL="85725" marR="38100" marT="19050" marB="19050" anchor="ctr">
                    <a:solidFill>
                      <a:srgbClr val="F5F8FA"/>
                    </a:solidFill>
                  </a:tcPr>
                </a:tc>
                <a:tc>
                  <a:txBody>
                    <a:bodyPr wrap="none"/>
                    <a:lstStyle/>
                    <a:p>
                      <a:pPr algn="l"/>
                      <a:r>
                        <a:rPr sz="800" b="1">
                          <a:solidFill>
                            <a:srgbClr val="2E7D32"/>
                          </a:solidFill>
                          <a:latin typeface="Calibri"/>
                        </a:rPr>
                        <a:t>▲ 11.2%</a:t>
                      </a:r>
                    </a:p>
                  </a:txBody>
                  <a:tcPr marL="85725" marR="38100" marT="19050" marB="19050" anchor="ctr">
                    <a:solidFill>
                      <a:srgbClr val="F5F8FA"/>
                    </a:solidFill>
                  </a:tcPr>
                </a:tc>
                <a:tc>
                  <a:txBody>
                    <a:bodyPr wrap="none"/>
                    <a:lstStyle/>
                    <a:p>
                      <a:pPr algn="l"/>
                      <a:r>
                        <a:rPr sz="800" b="1">
                          <a:solidFill>
                            <a:srgbClr val="2E7D32"/>
                          </a:solidFill>
                          <a:latin typeface="Calibri"/>
                        </a:rPr>
                        <a:t>▲ 10.6%</a:t>
                      </a:r>
                    </a:p>
                  </a:txBody>
                  <a:tcPr marL="85725" marR="38100" marT="19050" marB="19050" anchor="ctr">
                    <a:solidFill>
                      <a:srgbClr val="F5F8FA"/>
                    </a:solidFill>
                  </a:tcPr>
                </a:tc>
                <a:tc>
                  <a:txBody>
                    <a:bodyPr wrap="none"/>
                    <a:lstStyle/>
                    <a:p>
                      <a:pPr algn="l"/>
                      <a:r>
                        <a:rPr sz="800" b="1">
                          <a:solidFill>
                            <a:srgbClr val="2E7D32"/>
                          </a:solidFill>
                          <a:latin typeface="Calibri"/>
                        </a:rPr>
                        <a:t>▲ 10.2%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Pharmacy Channel</a:t>
                      </a:r>
                    </a:p>
                  </a:txBody>
                  <a:tcPr marL="85725" marR="38100" marT="19050" marB="19050" anchor="ctr">
                    <a:solidFill>
                      <a:srgbClr val="FFFFFF"/>
                    </a:solidFill>
                  </a:tcPr>
                </a:tc>
                <a:tc>
                  <a:txBody>
                    <a:bodyPr wrap="none"/>
                    <a:lstStyle/>
                    <a:p>
                      <a:pPr algn="l"/>
                      <a:r>
                        <a:rPr sz="800" b="1">
                          <a:solidFill>
                            <a:srgbClr val="A86F00"/>
                          </a:solidFill>
                          <a:latin typeface="Calibri"/>
                        </a:rPr>
                        <a:t>▶ 16.5%</a:t>
                      </a:r>
                    </a:p>
                  </a:txBody>
                  <a:tcPr marL="85725" marR="38100" marT="19050" marB="19050" anchor="ctr">
                    <a:solidFill>
                      <a:srgbClr val="FFFFFF"/>
                    </a:solidFill>
                  </a:tcPr>
                </a:tc>
                <a:tc>
                  <a:txBody>
                    <a:bodyPr wrap="none"/>
                    <a:lstStyle/>
                    <a:p>
                      <a:pPr algn="l"/>
                      <a:r>
                        <a:rPr sz="800" b="1">
                          <a:solidFill>
                            <a:srgbClr val="A86F00"/>
                          </a:solidFill>
                          <a:latin typeface="Calibri"/>
                        </a:rPr>
                        <a:t>▶ 23.6%</a:t>
                      </a:r>
                    </a:p>
                  </a:txBody>
                  <a:tcPr marL="85725" marR="38100" marT="19050" marB="19050" anchor="ctr">
                    <a:solidFill>
                      <a:srgbClr val="FFFFFF"/>
                    </a:solidFill>
                  </a:tcPr>
                </a:tc>
                <a:tc>
                  <a:txBody>
                    <a:bodyPr wrap="none"/>
                    <a:lstStyle/>
                    <a:p>
                      <a:pPr algn="l"/>
                      <a:r>
                        <a:rPr sz="800" b="1">
                          <a:solidFill>
                            <a:srgbClr val="A86F00"/>
                          </a:solidFill>
                          <a:latin typeface="Calibri"/>
                        </a:rPr>
                        <a:t>▶ 27.6%</a:t>
                      </a:r>
                    </a:p>
                  </a:txBody>
                  <a:tcPr marL="85725" marR="38100" marT="19050" marB="19050" anchor="ctr">
                    <a:solidFill>
                      <a:srgbClr val="FFFFFF"/>
                    </a:solidFill>
                  </a:tcPr>
                </a:tc>
                <a:tc>
                  <a:txBody>
                    <a:bodyPr wrap="none"/>
                    <a:lstStyle/>
                    <a:p>
                      <a:pPr algn="l"/>
                      <a:r>
                        <a:rPr sz="800" b="1">
                          <a:solidFill>
                            <a:srgbClr val="A86F00"/>
                          </a:solidFill>
                          <a:latin typeface="Calibri"/>
                        </a:rPr>
                        <a:t>▶ 25.0%</a:t>
                      </a:r>
                    </a:p>
                  </a:txBody>
                  <a:tcPr marL="85725" marR="38100" marT="19050" marB="19050" anchor="ctr">
                    <a:solidFill>
                      <a:srgbClr val="FFFFFF"/>
                    </a:solidFill>
                  </a:tcPr>
                </a:tc>
                <a:tc>
                  <a:txBody>
                    <a:bodyPr wrap="none"/>
                    <a:lstStyle/>
                    <a:p>
                      <a:pPr algn="l"/>
                      <a:r>
                        <a:rPr sz="800" b="1">
                          <a:solidFill>
                            <a:srgbClr val="A86F00"/>
                          </a:solidFill>
                          <a:latin typeface="Calibri"/>
                        </a:rPr>
                        <a:t>▶ 21.2%</a:t>
                      </a:r>
                    </a:p>
                  </a:txBody>
                  <a:tcPr marL="85725" marR="38100" marT="19050" marB="19050" anchor="ctr">
                    <a:solidFill>
                      <a:srgbClr val="FFFFFF"/>
                    </a:solidFill>
                  </a:tcPr>
                </a:tc>
                <a:tc>
                  <a:txBody>
                    <a:bodyPr wrap="none"/>
                    <a:lstStyle/>
                    <a:p>
                      <a:pPr algn="l"/>
                      <a:r>
                        <a:rPr sz="800" b="1">
                          <a:solidFill>
                            <a:srgbClr val="A86F00"/>
                          </a:solidFill>
                          <a:latin typeface="Calibri"/>
                        </a:rPr>
                        <a:t>▶ 19.1%</a:t>
                      </a:r>
                    </a:p>
                  </a:txBody>
                  <a:tcPr marL="85725" marR="38100" marT="19050" marB="19050" anchor="ctr">
                    <a:solidFill>
                      <a:srgbClr val="FFFFFF"/>
                    </a:solidFill>
                  </a:tcPr>
                </a:tc>
                <a:tc>
                  <a:txBody>
                    <a:bodyPr wrap="none"/>
                    <a:lstStyle/>
                    <a:p>
                      <a:pPr algn="l"/>
                      <a:r>
                        <a:rPr sz="800" b="1">
                          <a:solidFill>
                            <a:srgbClr val="A86F00"/>
                          </a:solidFill>
                          <a:latin typeface="Calibri"/>
                        </a:rPr>
                        <a:t>▶ 16.7%</a:t>
                      </a:r>
                    </a:p>
                  </a:txBody>
                  <a:tcPr marL="85725" marR="38100" marT="19050" marB="19050" anchor="ctr">
                    <a:solidFill>
                      <a:srgbClr val="FFFFFF"/>
                    </a:solidFill>
                  </a:tcPr>
                </a:tc>
                <a:tc>
                  <a:txBody>
                    <a:bodyPr wrap="none"/>
                    <a:lstStyle/>
                    <a:p>
                      <a:pPr algn="l"/>
                      <a:r>
                        <a:rPr sz="800" b="1">
                          <a:solidFill>
                            <a:srgbClr val="A86F00"/>
                          </a:solidFill>
                          <a:latin typeface="Calibri"/>
                        </a:rPr>
                        <a:t>▶ 15.0%</a:t>
                      </a:r>
                    </a:p>
                  </a:txBody>
                  <a:tcPr marL="85725" marR="38100" marT="19050" marB="19050" anchor="ctr">
                    <a:solidFill>
                      <a:srgbClr val="FFFFFF"/>
                    </a:solidFill>
                  </a:tcPr>
                </a:tc>
                <a:tc>
                  <a:txBody>
                    <a:bodyPr wrap="none"/>
                    <a:lstStyle/>
                    <a:p>
                      <a:pPr algn="l"/>
                      <a:r>
                        <a:rPr sz="800" b="1">
                          <a:solidFill>
                            <a:srgbClr val="A86F00"/>
                          </a:solidFill>
                          <a:latin typeface="Calibri"/>
                        </a:rPr>
                        <a:t>▶ 13.7%</a:t>
                      </a:r>
                    </a:p>
                  </a:txBody>
                  <a:tcPr marL="85725" marR="38100" marT="19050" marB="19050" anchor="ctr">
                    <a:solidFill>
                      <a:srgbClr val="FFFFFF"/>
                    </a:solidFill>
                  </a:tcPr>
                </a:tc>
                <a:tc>
                  <a:txBody>
                    <a:bodyPr wrap="none"/>
                    <a:lstStyle/>
                    <a:p>
                      <a:pPr algn="l"/>
                      <a:r>
                        <a:rPr sz="800" b="1">
                          <a:solidFill>
                            <a:srgbClr val="A86F00"/>
                          </a:solidFill>
                          <a:latin typeface="Calibri"/>
                        </a:rPr>
                        <a:t>▶ 12.6%</a:t>
                      </a:r>
                    </a:p>
                  </a:txBody>
                  <a:tcPr marL="85725" marR="38100" marT="19050" marB="19050" anchor="ctr">
                    <a:solidFill>
                      <a:srgbClr val="FFFFFF"/>
                    </a:solidFill>
                  </a:tcPr>
                </a:tc>
                <a:tc>
                  <a:txBody>
                    <a:bodyPr wrap="none"/>
                    <a:lstStyle/>
                    <a:p>
                      <a:pPr algn="l"/>
                      <a:r>
                        <a:rPr sz="800" b="1">
                          <a:solidFill>
                            <a:srgbClr val="A86F00"/>
                          </a:solidFill>
                          <a:latin typeface="Calibri"/>
                        </a:rPr>
                        <a:t>▶ 11.7%</a:t>
                      </a:r>
                    </a:p>
                  </a:txBody>
                  <a:tcPr marL="85725" marR="38100" marT="19050" marB="19050" anchor="ctr">
                    <a:solidFill>
                      <a:srgbClr val="FFFFFF"/>
                    </a:solidFill>
                  </a:tcPr>
                </a:tc>
                <a:tc>
                  <a:txBody>
                    <a:bodyPr wrap="none"/>
                    <a:lstStyle/>
                    <a:p>
                      <a:pPr algn="l"/>
                      <a:r>
                        <a:rPr sz="800" b="1">
                          <a:solidFill>
                            <a:srgbClr val="A86F00"/>
                          </a:solidFill>
                          <a:latin typeface="Calibri"/>
                        </a:rPr>
                        <a:t>▶ 10.9%</a:t>
                      </a:r>
                    </a:p>
                  </a:txBody>
                  <a:tcPr marL="85725" marR="38100" marT="19050" marB="19050" anchor="ctr">
                    <a:solidFill>
                      <a:srgbClr val="FFFFFF"/>
                    </a:solidFill>
                  </a:tcPr>
                </a:tc>
                <a:tc>
                  <a:txBody>
                    <a:bodyPr wrap="none"/>
                    <a:lstStyle/>
                    <a:p>
                      <a:pPr algn="l"/>
                      <a:r>
                        <a:rPr sz="800" b="1">
                          <a:solidFill>
                            <a:srgbClr val="A86F00"/>
                          </a:solidFill>
                          <a:latin typeface="Calibri"/>
                        </a:rPr>
                        <a:t>▶ 10.3%</a:t>
                      </a:r>
                    </a:p>
                  </a:txBody>
                  <a:tcPr marL="85725" marR="38100" marT="19050" marB="19050" anchor="ctr">
                    <a:solidFill>
                      <a:srgbClr val="FFFFFF"/>
                    </a:solidFill>
                  </a:tcPr>
                </a:tc>
                <a:tc>
                  <a:txBody>
                    <a:bodyPr wrap="none"/>
                    <a:lstStyle/>
                    <a:p>
                      <a:pPr algn="l"/>
                      <a:r>
                        <a:rPr sz="800" b="1">
                          <a:solidFill>
                            <a:srgbClr val="A86F00"/>
                          </a:solidFill>
                          <a:latin typeface="Calibri"/>
                        </a:rPr>
                        <a:t>▶ 9.8%</a:t>
                      </a:r>
                    </a:p>
                  </a:txBody>
                  <a:tcPr marL="85725" marR="38100" marT="19050" marB="19050" anchor="ctr">
                    <a:solidFill>
                      <a:srgbClr val="FFFFFF"/>
                    </a:solidFill>
                  </a:tcPr>
                </a:tc>
                <a:tc>
                  <a:txBody>
                    <a:bodyPr wrap="none"/>
                    <a:lstStyle/>
                    <a:p>
                      <a:pPr algn="l"/>
                      <a:r>
                        <a:rPr sz="800" b="1">
                          <a:solidFill>
                            <a:srgbClr val="2E7D32"/>
                          </a:solidFill>
                          <a:latin typeface="Calibri"/>
                        </a:rPr>
                        <a:t>▲ 9.4%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Online / Digital Pharmacy</a:t>
                      </a:r>
                    </a:p>
                  </a:txBody>
                  <a:tcPr marL="85725" marR="38100" marT="19050" marB="19050" anchor="ctr">
                    <a:solidFill>
                      <a:srgbClr val="F5F8FA"/>
                    </a:solidFill>
                  </a:tcPr>
                </a:tc>
                <a:tc>
                  <a:txBody>
                    <a:bodyPr wrap="none"/>
                    <a:lstStyle/>
                    <a:p>
                      <a:pPr algn="l"/>
                      <a:r>
                        <a:rPr sz="800" b="1">
                          <a:solidFill>
                            <a:srgbClr val="2E7D32"/>
                          </a:solidFill>
                          <a:latin typeface="Calibri"/>
                        </a:rPr>
                        <a:t>▲ 17.2%</a:t>
                      </a:r>
                    </a:p>
                  </a:txBody>
                  <a:tcPr marL="85725" marR="38100" marT="19050" marB="19050" anchor="ctr">
                    <a:solidFill>
                      <a:srgbClr val="F5F8FA"/>
                    </a:solidFill>
                  </a:tcPr>
                </a:tc>
                <a:tc>
                  <a:txBody>
                    <a:bodyPr wrap="none"/>
                    <a:lstStyle/>
                    <a:p>
                      <a:pPr algn="l"/>
                      <a:r>
                        <a:rPr sz="800" b="1">
                          <a:solidFill>
                            <a:srgbClr val="2E7D32"/>
                          </a:solidFill>
                          <a:latin typeface="Calibri"/>
                        </a:rPr>
                        <a:t>▲ 24.3%</a:t>
                      </a:r>
                    </a:p>
                  </a:txBody>
                  <a:tcPr marL="85725" marR="38100" marT="19050" marB="19050" anchor="ctr">
                    <a:solidFill>
                      <a:srgbClr val="F5F8FA"/>
                    </a:solidFill>
                  </a:tcPr>
                </a:tc>
                <a:tc>
                  <a:txBody>
                    <a:bodyPr wrap="none"/>
                    <a:lstStyle/>
                    <a:p>
                      <a:pPr algn="l"/>
                      <a:r>
                        <a:rPr sz="800" b="1">
                          <a:solidFill>
                            <a:srgbClr val="2E7D32"/>
                          </a:solidFill>
                          <a:latin typeface="Calibri"/>
                        </a:rPr>
                        <a:t>▲ 28.3%</a:t>
                      </a:r>
                    </a:p>
                  </a:txBody>
                  <a:tcPr marL="85725" marR="38100" marT="19050" marB="19050" anchor="ctr">
                    <a:solidFill>
                      <a:srgbClr val="F5F8FA"/>
                    </a:solidFill>
                  </a:tcPr>
                </a:tc>
                <a:tc>
                  <a:txBody>
                    <a:bodyPr wrap="none"/>
                    <a:lstStyle/>
                    <a:p>
                      <a:pPr algn="l"/>
                      <a:r>
                        <a:rPr sz="800" b="1">
                          <a:solidFill>
                            <a:srgbClr val="2E7D32"/>
                          </a:solidFill>
                          <a:latin typeface="Calibri"/>
                        </a:rPr>
                        <a:t>▲ 25.5%</a:t>
                      </a:r>
                    </a:p>
                  </a:txBody>
                  <a:tcPr marL="85725" marR="38100" marT="19050" marB="19050" anchor="ctr">
                    <a:solidFill>
                      <a:srgbClr val="F5F8FA"/>
                    </a:solidFill>
                  </a:tcPr>
                </a:tc>
                <a:tc>
                  <a:txBody>
                    <a:bodyPr wrap="none"/>
                    <a:lstStyle/>
                    <a:p>
                      <a:pPr algn="l"/>
                      <a:r>
                        <a:rPr sz="800" b="1">
                          <a:solidFill>
                            <a:srgbClr val="2E7D32"/>
                          </a:solidFill>
                          <a:latin typeface="Calibri"/>
                        </a:rPr>
                        <a:t>▲ 21.7%</a:t>
                      </a:r>
                    </a:p>
                  </a:txBody>
                  <a:tcPr marL="85725" marR="38100" marT="19050" marB="19050" anchor="ctr">
                    <a:solidFill>
                      <a:srgbClr val="F5F8FA"/>
                    </a:solidFill>
                  </a:tcPr>
                </a:tc>
                <a:tc>
                  <a:txBody>
                    <a:bodyPr wrap="none"/>
                    <a:lstStyle/>
                    <a:p>
                      <a:pPr algn="l"/>
                      <a:r>
                        <a:rPr sz="800" b="1">
                          <a:solidFill>
                            <a:srgbClr val="2E7D32"/>
                          </a:solidFill>
                          <a:latin typeface="Calibri"/>
                        </a:rPr>
                        <a:t>▲ 19.5%</a:t>
                      </a:r>
                    </a:p>
                  </a:txBody>
                  <a:tcPr marL="85725" marR="38100" marT="19050" marB="19050" anchor="ctr">
                    <a:solidFill>
                      <a:srgbClr val="F5F8FA"/>
                    </a:solidFill>
                  </a:tcPr>
                </a:tc>
                <a:tc>
                  <a:txBody>
                    <a:bodyPr wrap="none"/>
                    <a:lstStyle/>
                    <a:p>
                      <a:pPr algn="l"/>
                      <a:r>
                        <a:rPr sz="800" b="1">
                          <a:solidFill>
                            <a:srgbClr val="2E7D32"/>
                          </a:solidFill>
                          <a:latin typeface="Calibri"/>
                        </a:rPr>
                        <a:t>▲ 17.0%</a:t>
                      </a:r>
                    </a:p>
                  </a:txBody>
                  <a:tcPr marL="85725" marR="38100" marT="19050" marB="19050" anchor="ctr">
                    <a:solidFill>
                      <a:srgbClr val="F5F8FA"/>
                    </a:solidFill>
                  </a:tcPr>
                </a:tc>
                <a:tc>
                  <a:txBody>
                    <a:bodyPr wrap="none"/>
                    <a:lstStyle/>
                    <a:p>
                      <a:pPr algn="l"/>
                      <a:r>
                        <a:rPr sz="800" b="1">
                          <a:solidFill>
                            <a:srgbClr val="2E7D32"/>
                          </a:solidFill>
                          <a:latin typeface="Calibri"/>
                        </a:rPr>
                        <a:t>▲ 15.3%</a:t>
                      </a:r>
                    </a:p>
                  </a:txBody>
                  <a:tcPr marL="85725" marR="38100" marT="19050" marB="19050" anchor="ctr">
                    <a:solidFill>
                      <a:srgbClr val="F5F8FA"/>
                    </a:solidFill>
                  </a:tcPr>
                </a:tc>
                <a:tc>
                  <a:txBody>
                    <a:bodyPr wrap="none"/>
                    <a:lstStyle/>
                    <a:p>
                      <a:pPr algn="l"/>
                      <a:r>
                        <a:rPr sz="800" b="1">
                          <a:solidFill>
                            <a:srgbClr val="2E7D32"/>
                          </a:solidFill>
                          <a:latin typeface="Calibri"/>
                        </a:rPr>
                        <a:t>▲ 13.9%</a:t>
                      </a:r>
                    </a:p>
                  </a:txBody>
                  <a:tcPr marL="85725" marR="38100" marT="19050" marB="19050" anchor="ctr">
                    <a:solidFill>
                      <a:srgbClr val="F5F8FA"/>
                    </a:solidFill>
                  </a:tcPr>
                </a:tc>
                <a:tc>
                  <a:txBody>
                    <a:bodyPr wrap="none"/>
                    <a:lstStyle/>
                    <a:p>
                      <a:pPr algn="l"/>
                      <a:r>
                        <a:rPr sz="800" b="1">
                          <a:solidFill>
                            <a:srgbClr val="A86F00"/>
                          </a:solidFill>
                          <a:latin typeface="Calibri"/>
                        </a:rPr>
                        <a:t>▶ 12.7%</a:t>
                      </a:r>
                    </a:p>
                  </a:txBody>
                  <a:tcPr marL="85725" marR="38100" marT="19050" marB="19050" anchor="ctr">
                    <a:solidFill>
                      <a:srgbClr val="F5F8FA"/>
                    </a:solidFill>
                  </a:tcPr>
                </a:tc>
                <a:tc>
                  <a:txBody>
                    <a:bodyPr wrap="none"/>
                    <a:lstStyle/>
                    <a:p>
                      <a:pPr algn="l"/>
                      <a:r>
                        <a:rPr sz="800" b="1">
                          <a:solidFill>
                            <a:srgbClr val="A86F00"/>
                          </a:solidFill>
                          <a:latin typeface="Calibri"/>
                        </a:rPr>
                        <a:t>▶ 11.8%</a:t>
                      </a:r>
                    </a:p>
                  </a:txBody>
                  <a:tcPr marL="85725" marR="38100" marT="19050" marB="19050" anchor="ctr">
                    <a:solidFill>
                      <a:srgbClr val="F5F8FA"/>
                    </a:solidFill>
                  </a:tcPr>
                </a:tc>
                <a:tc>
                  <a:txBody>
                    <a:bodyPr wrap="none"/>
                    <a:lstStyle/>
                    <a:p>
                      <a:pPr algn="l"/>
                      <a:r>
                        <a:rPr sz="800" b="1">
                          <a:solidFill>
                            <a:srgbClr val="A86F00"/>
                          </a:solidFill>
                          <a:latin typeface="Calibri"/>
                        </a:rPr>
                        <a:t>▶ 10.9%</a:t>
                      </a:r>
                    </a:p>
                  </a:txBody>
                  <a:tcPr marL="85725" marR="38100" marT="19050" marB="19050" anchor="ctr">
                    <a:solidFill>
                      <a:srgbClr val="F5F8FA"/>
                    </a:solidFill>
                  </a:tcPr>
                </a:tc>
                <a:tc>
                  <a:txBody>
                    <a:bodyPr wrap="none"/>
                    <a:lstStyle/>
                    <a:p>
                      <a:pPr algn="l"/>
                      <a:r>
                        <a:rPr sz="800" b="1">
                          <a:solidFill>
                            <a:srgbClr val="A86F00"/>
                          </a:solidFill>
                          <a:latin typeface="Calibri"/>
                        </a:rPr>
                        <a:t>▶ 10.2%</a:t>
                      </a:r>
                    </a:p>
                  </a:txBody>
                  <a:tcPr marL="85725" marR="38100" marT="19050" marB="19050" anchor="ctr">
                    <a:solidFill>
                      <a:srgbClr val="F5F8FA"/>
                    </a:solidFill>
                  </a:tcPr>
                </a:tc>
                <a:tc>
                  <a:txBody>
                    <a:bodyPr wrap="none"/>
                    <a:lstStyle/>
                    <a:p>
                      <a:pPr algn="l"/>
                      <a:r>
                        <a:rPr sz="800" b="1">
                          <a:solidFill>
                            <a:srgbClr val="A86F00"/>
                          </a:solidFill>
                          <a:latin typeface="Calibri"/>
                        </a:rPr>
                        <a:t>▶ 9.7%</a:t>
                      </a:r>
                    </a:p>
                  </a:txBody>
                  <a:tcPr marL="85725" marR="38100" marT="19050" marB="19050" anchor="ctr">
                    <a:solidFill>
                      <a:srgbClr val="F5F8FA"/>
                    </a:solidFill>
                  </a:tcPr>
                </a:tc>
                <a:tc>
                  <a:txBody>
                    <a:bodyPr wrap="none"/>
                    <a:lstStyle/>
                    <a:p>
                      <a:pPr algn="l"/>
                      <a:r>
                        <a:rPr sz="800" b="1">
                          <a:solidFill>
                            <a:srgbClr val="A86F00"/>
                          </a:solidFill>
                          <a:latin typeface="Calibri"/>
                        </a:rPr>
                        <a:t>▶ 9.2%</a:t>
                      </a:r>
                    </a:p>
                  </a:txBody>
                  <a:tcPr marL="85725" marR="38100" marT="19050" marB="19050" anchor="ctr">
                    <a:solidFill>
                      <a:srgbClr val="F5F8FA"/>
                    </a:solidFill>
                  </a:tcPr>
                </a:tc>
              </a:tr>
            </a:tbl>
          </a:graphicData>
        </a:graphic>
      </p:graphicFrame>
      <p:sp>
        <p:nvSpPr>
          <p:cNvPr id="14" name="TextBox 13"/>
          <p:cNvSpPr txBox="1"/>
          <p:nvPr/>
        </p:nvSpPr>
        <p:spPr>
          <a:xfrm>
            <a:off x="219075" y="31623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438525"/>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956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YoY Heatmap, By Sales / Distribution Channel (%)  ·  light = lower, dark = higher growth</a:t>
            </a:r>
          </a:p>
        </p:txBody>
      </p:sp>
      <p:sp>
        <p:nvSpPr>
          <p:cNvPr id="17" name="TextBox 16"/>
          <p:cNvSpPr txBox="1"/>
          <p:nvPr/>
        </p:nvSpPr>
        <p:spPr>
          <a:xfrm>
            <a:off x="18573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8" name="TextBox 17"/>
          <p:cNvSpPr txBox="1"/>
          <p:nvPr/>
        </p:nvSpPr>
        <p:spPr>
          <a:xfrm>
            <a:off x="25012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19" name="TextBox 18"/>
          <p:cNvSpPr txBox="1"/>
          <p:nvPr/>
        </p:nvSpPr>
        <p:spPr>
          <a:xfrm>
            <a:off x="31451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0" name="TextBox 19"/>
          <p:cNvSpPr txBox="1"/>
          <p:nvPr/>
        </p:nvSpPr>
        <p:spPr>
          <a:xfrm>
            <a:off x="37890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1" name="TextBox 20"/>
          <p:cNvSpPr txBox="1"/>
          <p:nvPr/>
        </p:nvSpPr>
        <p:spPr>
          <a:xfrm>
            <a:off x="44329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2" name="TextBox 21"/>
          <p:cNvSpPr txBox="1"/>
          <p:nvPr/>
        </p:nvSpPr>
        <p:spPr>
          <a:xfrm>
            <a:off x="507682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3" name="TextBox 22"/>
          <p:cNvSpPr txBox="1"/>
          <p:nvPr/>
        </p:nvSpPr>
        <p:spPr>
          <a:xfrm>
            <a:off x="572071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4" name="TextBox 23"/>
          <p:cNvSpPr txBox="1"/>
          <p:nvPr/>
        </p:nvSpPr>
        <p:spPr>
          <a:xfrm>
            <a:off x="636460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5" name="TextBox 24"/>
          <p:cNvSpPr txBox="1"/>
          <p:nvPr/>
        </p:nvSpPr>
        <p:spPr>
          <a:xfrm>
            <a:off x="700849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6" name="TextBox 25"/>
          <p:cNvSpPr txBox="1"/>
          <p:nvPr/>
        </p:nvSpPr>
        <p:spPr>
          <a:xfrm>
            <a:off x="765238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7" name="TextBox 26"/>
          <p:cNvSpPr txBox="1"/>
          <p:nvPr/>
        </p:nvSpPr>
        <p:spPr>
          <a:xfrm>
            <a:off x="82962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8" name="TextBox 27"/>
          <p:cNvSpPr txBox="1"/>
          <p:nvPr/>
        </p:nvSpPr>
        <p:spPr>
          <a:xfrm>
            <a:off x="89401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29" name="TextBox 28"/>
          <p:cNvSpPr txBox="1"/>
          <p:nvPr/>
        </p:nvSpPr>
        <p:spPr>
          <a:xfrm>
            <a:off x="95840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0" name="TextBox 29"/>
          <p:cNvSpPr txBox="1"/>
          <p:nvPr/>
        </p:nvSpPr>
        <p:spPr>
          <a:xfrm>
            <a:off x="102279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1" name="TextBox 30"/>
          <p:cNvSpPr txBox="1"/>
          <p:nvPr/>
        </p:nvSpPr>
        <p:spPr>
          <a:xfrm>
            <a:off x="108718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2" name="TextBox 31"/>
          <p:cNvSpPr txBox="1"/>
          <p:nvPr/>
        </p:nvSpPr>
        <p:spPr>
          <a:xfrm>
            <a:off x="238125" y="3867150"/>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Direct Institutional Sales</a:t>
            </a:r>
          </a:p>
        </p:txBody>
      </p:sp>
      <p:sp>
        <p:nvSpPr>
          <p:cNvPr id="33" name="Rectangle 32"/>
          <p:cNvSpPr/>
          <p:nvPr/>
        </p:nvSpPr>
        <p:spPr>
          <a:xfrm>
            <a:off x="1857375" y="3867150"/>
            <a:ext cx="643890" cy="700088"/>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01265" y="3867150"/>
            <a:ext cx="643890" cy="700088"/>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45155" y="3867150"/>
            <a:ext cx="643890" cy="700088"/>
          </a:xfrm>
          <a:prstGeom prst="rect">
            <a:avLst/>
          </a:prstGeom>
          <a:solidFill>
            <a:srgbClr val="0D558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89045" y="3867150"/>
            <a:ext cx="643890" cy="700088"/>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32935" y="3867150"/>
            <a:ext cx="643890" cy="700088"/>
          </a:xfrm>
          <a:prstGeom prst="rect">
            <a:avLst/>
          </a:prstGeom>
          <a:solidFill>
            <a:srgbClr val="6AA7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6825" y="3867150"/>
            <a:ext cx="643890" cy="700088"/>
          </a:xfrm>
          <a:prstGeom prst="rect">
            <a:avLst/>
          </a:prstGeom>
          <a:solidFill>
            <a:srgbClr val="97BF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20715" y="3867150"/>
            <a:ext cx="643890" cy="700088"/>
          </a:xfrm>
          <a:prstGeom prst="rect">
            <a:avLst/>
          </a:prstGeom>
          <a:solidFill>
            <a:srgbClr val="BAD4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64605" y="3867150"/>
            <a:ext cx="643890" cy="700088"/>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08495" y="3867150"/>
            <a:ext cx="643890" cy="700088"/>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52385" y="3867150"/>
            <a:ext cx="643890" cy="700088"/>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96275" y="3867150"/>
            <a:ext cx="643890" cy="700088"/>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40165" y="3867150"/>
            <a:ext cx="643890" cy="700088"/>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84055" y="3867150"/>
            <a:ext cx="643890" cy="700088"/>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27945" y="3867150"/>
            <a:ext cx="643890" cy="700088"/>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71835" y="3867150"/>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8125" y="4567238"/>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Specialty Distribution</a:t>
            </a:r>
          </a:p>
        </p:txBody>
      </p:sp>
      <p:sp>
        <p:nvSpPr>
          <p:cNvPr id="49" name="Rectangle 48"/>
          <p:cNvSpPr/>
          <p:nvPr/>
        </p:nvSpPr>
        <p:spPr>
          <a:xfrm>
            <a:off x="1857375" y="4567238"/>
            <a:ext cx="643890" cy="700088"/>
          </a:xfrm>
          <a:prstGeom prst="rect">
            <a:avLst/>
          </a:prstGeom>
          <a:solidFill>
            <a:srgbClr val="A2C6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01265" y="4567238"/>
            <a:ext cx="643890" cy="700088"/>
          </a:xfrm>
          <a:prstGeom prst="rect">
            <a:avLst/>
          </a:prstGeom>
          <a:solidFill>
            <a:srgbClr val="1F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45155" y="4567238"/>
            <a:ext cx="643890" cy="70008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789045" y="4567238"/>
            <a:ext cx="643890" cy="700088"/>
          </a:xfrm>
          <a:prstGeom prst="rect">
            <a:avLst/>
          </a:prstGeom>
          <a:solidFill>
            <a:srgbClr val="0E6FA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32935" y="4567238"/>
            <a:ext cx="643890" cy="700088"/>
          </a:xfrm>
          <a:prstGeom prst="rect">
            <a:avLst/>
          </a:prstGeom>
          <a:solidFill>
            <a:srgbClr val="46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76825" y="4567238"/>
            <a:ext cx="643890" cy="700088"/>
          </a:xfrm>
          <a:prstGeom prst="rect">
            <a:avLst/>
          </a:prstGeom>
          <a:solidFill>
            <a:srgbClr val="77AE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720715" y="4567238"/>
            <a:ext cx="643890" cy="700088"/>
          </a:xfrm>
          <a:prstGeom prst="rect">
            <a:avLst/>
          </a:prstGeom>
          <a:solidFill>
            <a:srgbClr val="A2C6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64605" y="4567238"/>
            <a:ext cx="643890" cy="700088"/>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08495" y="4567238"/>
            <a:ext cx="643890" cy="700088"/>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652385" y="4567238"/>
            <a:ext cx="643890" cy="700088"/>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96275" y="4567238"/>
            <a:ext cx="643890" cy="700088"/>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40165" y="4567238"/>
            <a:ext cx="643890" cy="700088"/>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584055" y="4567238"/>
            <a:ext cx="643890" cy="700088"/>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27945" y="4567238"/>
            <a:ext cx="643890" cy="700088"/>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871835" y="4567238"/>
            <a:ext cx="643890" cy="700088"/>
          </a:xfrm>
          <a:prstGeom prst="rect">
            <a:avLst/>
          </a:prstGeom>
          <a:solidFill>
            <a:srgbClr val="F2F9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38125" y="5267325"/>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Pharmacy Channel</a:t>
            </a:r>
          </a:p>
        </p:txBody>
      </p:sp>
      <p:sp>
        <p:nvSpPr>
          <p:cNvPr id="65" name="Rectangle 64"/>
          <p:cNvSpPr/>
          <p:nvPr/>
        </p:nvSpPr>
        <p:spPr>
          <a:xfrm>
            <a:off x="1857375" y="5267325"/>
            <a:ext cx="643890" cy="700088"/>
          </a:xfrm>
          <a:prstGeom prst="rect">
            <a:avLst/>
          </a:prstGeom>
          <a:solidFill>
            <a:srgbClr val="B5D0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501265" y="5267325"/>
            <a:ext cx="643890" cy="700088"/>
          </a:xfrm>
          <a:prstGeom prst="rect">
            <a:avLst/>
          </a:prstGeom>
          <a:solidFill>
            <a:srgbClr val="3288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145155" y="5267325"/>
            <a:ext cx="643890" cy="700088"/>
          </a:xfrm>
          <a:prstGeom prst="rect">
            <a:avLst/>
          </a:prstGeom>
          <a:solidFill>
            <a:srgbClr val="0C4D7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789045" y="5267325"/>
            <a:ext cx="643890" cy="700088"/>
          </a:xfrm>
          <a:prstGeom prst="rect">
            <a:avLst/>
          </a:prstGeom>
          <a:solidFill>
            <a:srgbClr val="1E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432935" y="5267325"/>
            <a:ext cx="643890" cy="700088"/>
          </a:xfrm>
          <a:prstGeom prst="rect">
            <a:avLst/>
          </a:prstGeom>
          <a:solidFill>
            <a:srgbClr val="60A2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076825" y="5267325"/>
            <a:ext cx="643890" cy="700088"/>
          </a:xfrm>
          <a:prstGeom prst="rect">
            <a:avLst/>
          </a:prstGeom>
          <a:solidFill>
            <a:srgbClr val="8F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720715" y="5267325"/>
            <a:ext cx="643890" cy="700088"/>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364605" y="5267325"/>
            <a:ext cx="643890" cy="700088"/>
          </a:xfrm>
          <a:prstGeom prst="rect">
            <a:avLst/>
          </a:prstGeom>
          <a:solidFill>
            <a:srgbClr val="CA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008495" y="5267325"/>
            <a:ext cx="643890" cy="700088"/>
          </a:xfrm>
          <a:prstGeom prst="rect">
            <a:avLst/>
          </a:prstGeom>
          <a:solidFill>
            <a:srgbClr val="D6E6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652385" y="5267325"/>
            <a:ext cx="643890" cy="700088"/>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296275" y="5267325"/>
            <a:ext cx="643890" cy="700088"/>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940165" y="5267325"/>
            <a:ext cx="643890" cy="700088"/>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584055" y="5267325"/>
            <a:ext cx="643890" cy="700088"/>
          </a:xfrm>
          <a:prstGeom prst="rect">
            <a:avLst/>
          </a:prstGeom>
          <a:solidFill>
            <a:srgbClr val="F2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227945" y="5267325"/>
            <a:ext cx="643890" cy="700088"/>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871835" y="5267325"/>
            <a:ext cx="643890" cy="700088"/>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8125" y="5967412"/>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Online / Digital Pharmacy</a:t>
            </a:r>
          </a:p>
        </p:txBody>
      </p:sp>
      <p:sp>
        <p:nvSpPr>
          <p:cNvPr id="81" name="Rectangle 80"/>
          <p:cNvSpPr/>
          <p:nvPr/>
        </p:nvSpPr>
        <p:spPr>
          <a:xfrm>
            <a:off x="1857375" y="5967412"/>
            <a:ext cx="643890" cy="700088"/>
          </a:xfrm>
          <a:prstGeom prst="rect">
            <a:avLst/>
          </a:prstGeom>
          <a:solidFill>
            <a:srgbClr val="AA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501265" y="5967412"/>
            <a:ext cx="643890" cy="700088"/>
          </a:xfrm>
          <a:prstGeom prst="rect">
            <a:avLst/>
          </a:prstGeom>
          <a:solidFill>
            <a:srgbClr val="2781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145155" y="5967412"/>
            <a:ext cx="643890" cy="700088"/>
          </a:xfrm>
          <a:prstGeom prst="rect">
            <a:avLst/>
          </a:prstGeom>
          <a:solidFill>
            <a:srgbClr val="0C3E6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789045" y="5967412"/>
            <a:ext cx="643890" cy="700088"/>
          </a:xfrm>
          <a:prstGeom prst="rect">
            <a:avLst/>
          </a:prstGeom>
          <a:solidFill>
            <a:srgbClr val="16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432935" y="5967412"/>
            <a:ext cx="643890" cy="700088"/>
          </a:xfrm>
          <a:prstGeom prst="rect">
            <a:avLst/>
          </a:prstGeom>
          <a:solidFill>
            <a:srgbClr val="569C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076825" y="5967412"/>
            <a:ext cx="643890" cy="700088"/>
          </a:xfrm>
          <a:prstGeom prst="rect">
            <a:avLst/>
          </a:prstGeom>
          <a:solidFill>
            <a:srgbClr val="87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720715" y="5967412"/>
            <a:ext cx="643890" cy="700088"/>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364605" y="5967412"/>
            <a:ext cx="643890" cy="700088"/>
          </a:xfrm>
          <a:prstGeom prst="rect">
            <a:avLst/>
          </a:prstGeom>
          <a:solidFill>
            <a:srgbClr val="C6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008495" y="5967412"/>
            <a:ext cx="643890" cy="700088"/>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652385" y="5967412"/>
            <a:ext cx="643890" cy="700088"/>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296275" y="5967412"/>
            <a:ext cx="643890" cy="700088"/>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940165" y="5967412"/>
            <a:ext cx="643890" cy="700088"/>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584055" y="5967412"/>
            <a:ext cx="643890" cy="700088"/>
          </a:xfrm>
          <a:prstGeom prst="rect">
            <a:avLst/>
          </a:prstGeom>
          <a:solidFill>
            <a:srgbClr val="F2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227945" y="5967412"/>
            <a:ext cx="643890" cy="700088"/>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871835" y="5967412"/>
            <a:ext cx="643890" cy="700088"/>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1572875" y="3905250"/>
            <a:ext cx="104775" cy="7572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973354"/>
            <a:ext cx="104775" cy="75724"/>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4041458"/>
            <a:ext cx="104775" cy="75724"/>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4109561"/>
            <a:ext cx="104775" cy="75724"/>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4177665"/>
            <a:ext cx="104775" cy="75724"/>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4245769"/>
            <a:ext cx="104775" cy="75724"/>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4313872"/>
            <a:ext cx="104775" cy="75724"/>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4381976"/>
            <a:ext cx="104775" cy="75724"/>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4450080"/>
            <a:ext cx="104775" cy="75724"/>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4518184"/>
            <a:ext cx="104775" cy="75724"/>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4586288"/>
            <a:ext cx="104775" cy="75724"/>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654391"/>
            <a:ext cx="104775" cy="75724"/>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722495"/>
            <a:ext cx="104775" cy="75724"/>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790599"/>
            <a:ext cx="104775" cy="75724"/>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858702"/>
            <a:ext cx="104775" cy="75724"/>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926806"/>
            <a:ext cx="104775" cy="75724"/>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994910"/>
            <a:ext cx="104775" cy="75724"/>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5063014"/>
            <a:ext cx="104775" cy="75724"/>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5131118"/>
            <a:ext cx="104775" cy="75724"/>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5199221"/>
            <a:ext cx="104775" cy="75724"/>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5267325"/>
            <a:ext cx="104775" cy="75724"/>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5335429"/>
            <a:ext cx="104775" cy="75724"/>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5403532"/>
            <a:ext cx="104775" cy="75724"/>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471636"/>
            <a:ext cx="104775" cy="75724"/>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539740"/>
            <a:ext cx="104775" cy="75724"/>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607844"/>
            <a:ext cx="104775" cy="75724"/>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675948"/>
            <a:ext cx="104775" cy="75724"/>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744051"/>
            <a:ext cx="104775" cy="75724"/>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812155"/>
            <a:ext cx="104775" cy="75724"/>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880259"/>
            <a:ext cx="104775" cy="75724"/>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948362"/>
            <a:ext cx="104775" cy="75724"/>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6016466"/>
            <a:ext cx="104775" cy="75724"/>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6084570"/>
            <a:ext cx="104775" cy="75724"/>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6152674"/>
            <a:ext cx="104775" cy="75724"/>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220778"/>
            <a:ext cx="104775" cy="75724"/>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288881"/>
            <a:ext cx="104775" cy="75724"/>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356985"/>
            <a:ext cx="104775" cy="75724"/>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425089"/>
            <a:ext cx="104775" cy="75724"/>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493192"/>
            <a:ext cx="104775" cy="75724"/>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561296"/>
            <a:ext cx="104775" cy="75724"/>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3905250"/>
            <a:ext cx="104775" cy="27241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1687175" y="3838575"/>
            <a:ext cx="276225" cy="133350"/>
          </a:xfrm>
          <a:prstGeom prst="rect">
            <a:avLst/>
          </a:prstGeom>
          <a:noFill/>
        </p:spPr>
        <p:txBody>
          <a:bodyPr wrap="none" lIns="0" rIns="0" tIns="0" bIns="0" anchor="ctr">
            <a:spAutoFit/>
          </a:bodyPr>
          <a:lstStyle/>
          <a:p>
            <a:pPr algn="l"/>
            <a:r>
              <a:rPr sz="700" b="0">
                <a:solidFill>
                  <a:srgbClr val="6C7A89"/>
                </a:solidFill>
                <a:latin typeface="Calibri"/>
              </a:rPr>
              <a:t>29%</a:t>
            </a:r>
          </a:p>
        </p:txBody>
      </p:sp>
      <p:sp>
        <p:nvSpPr>
          <p:cNvPr id="138" name="TextBox 137"/>
          <p:cNvSpPr txBox="1"/>
          <p:nvPr/>
        </p:nvSpPr>
        <p:spPr>
          <a:xfrm>
            <a:off x="11687175" y="5200650"/>
            <a:ext cx="276225" cy="133350"/>
          </a:xfrm>
          <a:prstGeom prst="rect">
            <a:avLst/>
          </a:prstGeom>
          <a:noFill/>
        </p:spPr>
        <p:txBody>
          <a:bodyPr wrap="none" lIns="0" rIns="0" tIns="0" bIns="0" anchor="ctr">
            <a:spAutoFit/>
          </a:bodyPr>
          <a:lstStyle/>
          <a:p>
            <a:pPr algn="l"/>
            <a:r>
              <a:rPr sz="700" b="0">
                <a:solidFill>
                  <a:srgbClr val="6C7A89"/>
                </a:solidFill>
                <a:latin typeface="Calibri"/>
              </a:rPr>
              <a:t>19%</a:t>
            </a:r>
          </a:p>
        </p:txBody>
      </p:sp>
      <p:sp>
        <p:nvSpPr>
          <p:cNvPr id="139" name="TextBox 138"/>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140" name="Rectangle 13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2" name="Rounded Rectangle 14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3" name="Rounded Rectangle 14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4" name="Rounded Rectangle 14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Value, By Sales / Distribution Channel (%)</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447925"/>
          </a:xfrm>
          <a:prstGeom prst="roundRect">
            <a:avLst>
              <a:gd name="adj" fmla="val 31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YoY Growth, By Sales / Distribution Channel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Sales / Distribution Channel</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Direct Institutional Sales</a:t>
                      </a:r>
                    </a:p>
                  </a:txBody>
                  <a:tcPr marL="85725" marR="38100" marT="19050" marB="19050" anchor="ctr">
                    <a:solidFill>
                      <a:srgbClr val="FFFFFF"/>
                    </a:solidFill>
                  </a:tcPr>
                </a:tc>
                <a:tc>
                  <a:txBody>
                    <a:bodyPr wrap="none"/>
                    <a:lstStyle/>
                    <a:p>
                      <a:pPr algn="l"/>
                      <a:r>
                        <a:rPr sz="800" b="1">
                          <a:solidFill>
                            <a:srgbClr val="2E7D32"/>
                          </a:solidFill>
                          <a:latin typeface="Calibri"/>
                        </a:rPr>
                        <a:t>▲ 13.0%</a:t>
                      </a:r>
                    </a:p>
                  </a:txBody>
                  <a:tcPr marL="85725" marR="38100" marT="19050" marB="19050" anchor="ctr">
                    <a:solidFill>
                      <a:srgbClr val="FFFFFF"/>
                    </a:solidFill>
                  </a:tcPr>
                </a:tc>
                <a:tc>
                  <a:txBody>
                    <a:bodyPr wrap="none"/>
                    <a:lstStyle/>
                    <a:p>
                      <a:pPr algn="l"/>
                      <a:r>
                        <a:rPr sz="800" b="1">
                          <a:solidFill>
                            <a:srgbClr val="2E7D32"/>
                          </a:solidFill>
                          <a:latin typeface="Calibri"/>
                        </a:rPr>
                        <a:t>▲ 19.8%</a:t>
                      </a:r>
                    </a:p>
                  </a:txBody>
                  <a:tcPr marL="85725" marR="38100" marT="19050" marB="19050" anchor="ctr">
                    <a:solidFill>
                      <a:srgbClr val="FFFFFF"/>
                    </a:solidFill>
                  </a:tcPr>
                </a:tc>
                <a:tc>
                  <a:txBody>
                    <a:bodyPr wrap="none"/>
                    <a:lstStyle/>
                    <a:p>
                      <a:pPr algn="l"/>
                      <a:r>
                        <a:rPr sz="800" b="1">
                          <a:solidFill>
                            <a:srgbClr val="2E7D32"/>
                          </a:solidFill>
                          <a:latin typeface="Calibri"/>
                        </a:rPr>
                        <a:t>▲ 23.7%</a:t>
                      </a:r>
                    </a:p>
                  </a:txBody>
                  <a:tcPr marL="85725" marR="38100" marT="19050" marB="19050" anchor="ctr">
                    <a:solidFill>
                      <a:srgbClr val="FFFFFF"/>
                    </a:solidFill>
                  </a:tcPr>
                </a:tc>
                <a:tc>
                  <a:txBody>
                    <a:bodyPr wrap="none"/>
                    <a:lstStyle/>
                    <a:p>
                      <a:pPr algn="l"/>
                      <a:r>
                        <a:rPr sz="800" b="1">
                          <a:solidFill>
                            <a:srgbClr val="2E7D32"/>
                          </a:solidFill>
                          <a:latin typeface="Calibri"/>
                        </a:rPr>
                        <a:t>▲ 21.0%</a:t>
                      </a:r>
                    </a:p>
                  </a:txBody>
                  <a:tcPr marL="85725" marR="38100" marT="19050" marB="19050" anchor="ctr">
                    <a:solidFill>
                      <a:srgbClr val="FFFFFF"/>
                    </a:solidFill>
                  </a:tcPr>
                </a:tc>
                <a:tc>
                  <a:txBody>
                    <a:bodyPr wrap="none"/>
                    <a:lstStyle/>
                    <a:p>
                      <a:pPr algn="l"/>
                      <a:r>
                        <a:rPr sz="800" b="1">
                          <a:solidFill>
                            <a:srgbClr val="2E7D32"/>
                          </a:solidFill>
                          <a:latin typeface="Calibri"/>
                        </a:rPr>
                        <a:t>▲ 17.4%</a:t>
                      </a:r>
                    </a:p>
                  </a:txBody>
                  <a:tcPr marL="85725" marR="38100" marT="19050" marB="19050" anchor="ctr">
                    <a:solidFill>
                      <a:srgbClr val="FFFFFF"/>
                    </a:solidFill>
                  </a:tcPr>
                </a:tc>
                <a:tc>
                  <a:txBody>
                    <a:bodyPr wrap="none"/>
                    <a:lstStyle/>
                    <a:p>
                      <a:pPr algn="l"/>
                      <a:r>
                        <a:rPr sz="800" b="1">
                          <a:solidFill>
                            <a:srgbClr val="2E7D32"/>
                          </a:solidFill>
                          <a:latin typeface="Calibri"/>
                        </a:rPr>
                        <a:t>▲ 15.2%</a:t>
                      </a:r>
                    </a:p>
                  </a:txBody>
                  <a:tcPr marL="85725" marR="38100" marT="19050" marB="19050" anchor="ctr">
                    <a:solidFill>
                      <a:srgbClr val="FFFFFF"/>
                    </a:solidFill>
                  </a:tcPr>
                </a:tc>
                <a:tc>
                  <a:txBody>
                    <a:bodyPr wrap="none"/>
                    <a:lstStyle/>
                    <a:p>
                      <a:pPr algn="l"/>
                      <a:r>
                        <a:rPr sz="800" b="1">
                          <a:solidFill>
                            <a:srgbClr val="2E7D32"/>
                          </a:solidFill>
                          <a:latin typeface="Calibri"/>
                        </a:rPr>
                        <a:t>▲ 12.9%</a:t>
                      </a:r>
                    </a:p>
                  </a:txBody>
                  <a:tcPr marL="85725" marR="38100" marT="19050" marB="19050" anchor="ctr">
                    <a:solidFill>
                      <a:srgbClr val="FFFFFF"/>
                    </a:solidFill>
                  </a:tcPr>
                </a:tc>
                <a:tc>
                  <a:txBody>
                    <a:bodyPr wrap="none"/>
                    <a:lstStyle/>
                    <a:p>
                      <a:pPr algn="l"/>
                      <a:r>
                        <a:rPr sz="800" b="1">
                          <a:solidFill>
                            <a:srgbClr val="2E7D32"/>
                          </a:solidFill>
                          <a:latin typeface="Calibri"/>
                        </a:rPr>
                        <a:t>▲ 11.3%</a:t>
                      </a:r>
                    </a:p>
                  </a:txBody>
                  <a:tcPr marL="85725" marR="38100" marT="19050" marB="19050" anchor="ctr">
                    <a:solidFill>
                      <a:srgbClr val="FFFFFF"/>
                    </a:solidFill>
                  </a:tcPr>
                </a:tc>
                <a:tc>
                  <a:txBody>
                    <a:bodyPr wrap="none"/>
                    <a:lstStyle/>
                    <a:p>
                      <a:pPr algn="l"/>
                      <a:r>
                        <a:rPr sz="800" b="1">
                          <a:solidFill>
                            <a:srgbClr val="2E7D32"/>
                          </a:solidFill>
                          <a:latin typeface="Calibri"/>
                        </a:rPr>
                        <a:t>▲ 10.0%</a:t>
                      </a:r>
                    </a:p>
                  </a:txBody>
                  <a:tcPr marL="85725" marR="38100" marT="19050" marB="19050" anchor="ctr">
                    <a:solidFill>
                      <a:srgbClr val="FFFFFF"/>
                    </a:solidFill>
                  </a:tcPr>
                </a:tc>
                <a:tc>
                  <a:txBody>
                    <a:bodyPr wrap="none"/>
                    <a:lstStyle/>
                    <a:p>
                      <a:pPr algn="l"/>
                      <a:r>
                        <a:rPr sz="800" b="1">
                          <a:solidFill>
                            <a:srgbClr val="2E7D32"/>
                          </a:solidFill>
                          <a:latin typeface="Calibri"/>
                        </a:rPr>
                        <a:t>▲ 8.8%</a:t>
                      </a:r>
                    </a:p>
                  </a:txBody>
                  <a:tcPr marL="85725" marR="38100" marT="19050" marB="19050" anchor="ctr">
                    <a:solidFill>
                      <a:srgbClr val="FFFFFF"/>
                    </a:solidFill>
                  </a:tcPr>
                </a:tc>
                <a:tc>
                  <a:txBody>
                    <a:bodyPr wrap="none"/>
                    <a:lstStyle/>
                    <a:p>
                      <a:pPr algn="l"/>
                      <a:r>
                        <a:rPr sz="800" b="1">
                          <a:solidFill>
                            <a:srgbClr val="2E7D32"/>
                          </a:solidFill>
                          <a:latin typeface="Calibri"/>
                        </a:rPr>
                        <a:t>▲ 7.9%</a:t>
                      </a:r>
                    </a:p>
                  </a:txBody>
                  <a:tcPr marL="85725" marR="38100" marT="19050" marB="19050" anchor="ctr">
                    <a:solidFill>
                      <a:srgbClr val="FFFFFF"/>
                    </a:solidFill>
                  </a:tcPr>
                </a:tc>
                <a:tc>
                  <a:txBody>
                    <a:bodyPr wrap="none"/>
                    <a:lstStyle/>
                    <a:p>
                      <a:pPr algn="l"/>
                      <a:r>
                        <a:rPr sz="800" b="1">
                          <a:solidFill>
                            <a:srgbClr val="2E7D32"/>
                          </a:solidFill>
                          <a:latin typeface="Calibri"/>
                        </a:rPr>
                        <a:t>▲ 7.1%</a:t>
                      </a:r>
                    </a:p>
                  </a:txBody>
                  <a:tcPr marL="85725" marR="38100" marT="19050" marB="19050" anchor="ctr">
                    <a:solidFill>
                      <a:srgbClr val="FFFFFF"/>
                    </a:solidFill>
                  </a:tcPr>
                </a:tc>
                <a:tc>
                  <a:txBody>
                    <a:bodyPr wrap="none"/>
                    <a:lstStyle/>
                    <a:p>
                      <a:pPr algn="l"/>
                      <a:r>
                        <a:rPr sz="800" b="1">
                          <a:solidFill>
                            <a:srgbClr val="2E7D32"/>
                          </a:solidFill>
                          <a:latin typeface="Calibri"/>
                        </a:rPr>
                        <a:t>▲ 6.5%</a:t>
                      </a:r>
                    </a:p>
                  </a:txBody>
                  <a:tcPr marL="85725" marR="38100" marT="19050" marB="19050" anchor="ctr">
                    <a:solidFill>
                      <a:srgbClr val="FFFFFF"/>
                    </a:solidFill>
                  </a:tcPr>
                </a:tc>
                <a:tc>
                  <a:txBody>
                    <a:bodyPr wrap="none"/>
                    <a:lstStyle/>
                    <a:p>
                      <a:pPr algn="l"/>
                      <a:r>
                        <a:rPr sz="800" b="1">
                          <a:solidFill>
                            <a:srgbClr val="2E7D32"/>
                          </a:solidFill>
                          <a:latin typeface="Calibri"/>
                        </a:rPr>
                        <a:t>▲ 6.0%</a:t>
                      </a:r>
                    </a:p>
                  </a:txBody>
                  <a:tcPr marL="85725" marR="38100" marT="19050" marB="19050" anchor="ctr">
                    <a:solidFill>
                      <a:srgbClr val="FFFFFF"/>
                    </a:solidFill>
                  </a:tcPr>
                </a:tc>
                <a:tc>
                  <a:txBody>
                    <a:bodyPr wrap="none"/>
                    <a:lstStyle/>
                    <a:p>
                      <a:pPr algn="l"/>
                      <a:r>
                        <a:rPr sz="800" b="1">
                          <a:solidFill>
                            <a:srgbClr val="2E7D32"/>
                          </a:solidFill>
                          <a:latin typeface="Calibri"/>
                        </a:rPr>
                        <a:t>▲ 5.5%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Specialty Distribution</a:t>
                      </a:r>
                    </a:p>
                  </a:txBody>
                  <a:tcPr marL="85725" marR="38100" marT="19050" marB="19050" anchor="ctr">
                    <a:solidFill>
                      <a:srgbClr val="F5F8FA"/>
                    </a:solidFill>
                  </a:tcPr>
                </a:tc>
                <a:tc>
                  <a:txBody>
                    <a:bodyPr wrap="none"/>
                    <a:lstStyle/>
                    <a:p>
                      <a:pPr algn="l"/>
                      <a:r>
                        <a:rPr sz="800" b="1">
                          <a:solidFill>
                            <a:srgbClr val="A86F00"/>
                          </a:solidFill>
                          <a:latin typeface="Calibri"/>
                        </a:rPr>
                        <a:t>▶ 12.0%</a:t>
                      </a:r>
                    </a:p>
                  </a:txBody>
                  <a:tcPr marL="85725" marR="38100" marT="19050" marB="19050" anchor="ctr">
                    <a:solidFill>
                      <a:srgbClr val="F5F8FA"/>
                    </a:solidFill>
                  </a:tcPr>
                </a:tc>
                <a:tc>
                  <a:txBody>
                    <a:bodyPr wrap="none"/>
                    <a:lstStyle/>
                    <a:p>
                      <a:pPr algn="l"/>
                      <a:r>
                        <a:rPr sz="800" b="1">
                          <a:solidFill>
                            <a:srgbClr val="A86F00"/>
                          </a:solidFill>
                          <a:latin typeface="Calibri"/>
                        </a:rPr>
                        <a:t>▶ 18.8%</a:t>
                      </a:r>
                    </a:p>
                  </a:txBody>
                  <a:tcPr marL="85725" marR="38100" marT="19050" marB="19050" anchor="ctr">
                    <a:solidFill>
                      <a:srgbClr val="F5F8FA"/>
                    </a:solidFill>
                  </a:tcPr>
                </a:tc>
                <a:tc>
                  <a:txBody>
                    <a:bodyPr wrap="none"/>
                    <a:lstStyle/>
                    <a:p>
                      <a:pPr algn="l"/>
                      <a:r>
                        <a:rPr sz="800" b="1">
                          <a:solidFill>
                            <a:srgbClr val="A86F00"/>
                          </a:solidFill>
                          <a:latin typeface="Calibri"/>
                        </a:rPr>
                        <a:t>▶ 22.6%</a:t>
                      </a:r>
                    </a:p>
                  </a:txBody>
                  <a:tcPr marL="85725" marR="38100" marT="19050" marB="19050" anchor="ctr">
                    <a:solidFill>
                      <a:srgbClr val="F5F8FA"/>
                    </a:solidFill>
                  </a:tcPr>
                </a:tc>
                <a:tc>
                  <a:txBody>
                    <a:bodyPr wrap="none"/>
                    <a:lstStyle/>
                    <a:p>
                      <a:pPr algn="l"/>
                      <a:r>
                        <a:rPr sz="800" b="1">
                          <a:solidFill>
                            <a:srgbClr val="A86F00"/>
                          </a:solidFill>
                          <a:latin typeface="Calibri"/>
                        </a:rPr>
                        <a:t>▶ 20.0%</a:t>
                      </a:r>
                    </a:p>
                  </a:txBody>
                  <a:tcPr marL="85725" marR="38100" marT="19050" marB="19050" anchor="ctr">
                    <a:solidFill>
                      <a:srgbClr val="F5F8FA"/>
                    </a:solidFill>
                  </a:tcPr>
                </a:tc>
                <a:tc>
                  <a:txBody>
                    <a:bodyPr wrap="none"/>
                    <a:lstStyle/>
                    <a:p>
                      <a:pPr algn="l"/>
                      <a:r>
                        <a:rPr sz="800" b="1">
                          <a:solidFill>
                            <a:srgbClr val="A86F00"/>
                          </a:solidFill>
                          <a:latin typeface="Calibri"/>
                        </a:rPr>
                        <a:t>▶ 16.3%</a:t>
                      </a:r>
                    </a:p>
                  </a:txBody>
                  <a:tcPr marL="85725" marR="38100" marT="19050" marB="19050" anchor="ctr">
                    <a:solidFill>
                      <a:srgbClr val="F5F8FA"/>
                    </a:solidFill>
                  </a:tcPr>
                </a:tc>
                <a:tc>
                  <a:txBody>
                    <a:bodyPr wrap="none"/>
                    <a:lstStyle/>
                    <a:p>
                      <a:pPr algn="l"/>
                      <a:r>
                        <a:rPr sz="800" b="1">
                          <a:solidFill>
                            <a:srgbClr val="A86F00"/>
                          </a:solidFill>
                          <a:latin typeface="Calibri"/>
                        </a:rPr>
                        <a:t>▶ 14.2%</a:t>
                      </a:r>
                    </a:p>
                  </a:txBody>
                  <a:tcPr marL="85725" marR="38100" marT="19050" marB="19050" anchor="ctr">
                    <a:solidFill>
                      <a:srgbClr val="F5F8FA"/>
                    </a:solidFill>
                  </a:tcPr>
                </a:tc>
                <a:tc>
                  <a:txBody>
                    <a:bodyPr wrap="none"/>
                    <a:lstStyle/>
                    <a:p>
                      <a:pPr algn="l"/>
                      <a:r>
                        <a:rPr sz="800" b="1">
                          <a:solidFill>
                            <a:srgbClr val="A86F00"/>
                          </a:solidFill>
                          <a:latin typeface="Calibri"/>
                        </a:rPr>
                        <a:t>▶ 11.9%</a:t>
                      </a:r>
                    </a:p>
                  </a:txBody>
                  <a:tcPr marL="85725" marR="38100" marT="19050" marB="19050" anchor="ctr">
                    <a:solidFill>
                      <a:srgbClr val="F5F8FA"/>
                    </a:solidFill>
                  </a:tcPr>
                </a:tc>
                <a:tc>
                  <a:txBody>
                    <a:bodyPr wrap="none"/>
                    <a:lstStyle/>
                    <a:p>
                      <a:pPr algn="l"/>
                      <a:r>
                        <a:rPr sz="800" b="1">
                          <a:solidFill>
                            <a:srgbClr val="A86F00"/>
                          </a:solidFill>
                          <a:latin typeface="Calibri"/>
                        </a:rPr>
                        <a:t>▶ 10.3%</a:t>
                      </a:r>
                    </a:p>
                  </a:txBody>
                  <a:tcPr marL="85725" marR="38100" marT="19050" marB="19050" anchor="ctr">
                    <a:solidFill>
                      <a:srgbClr val="F5F8FA"/>
                    </a:solidFill>
                  </a:tcPr>
                </a:tc>
                <a:tc>
                  <a:txBody>
                    <a:bodyPr wrap="none"/>
                    <a:lstStyle/>
                    <a:p>
                      <a:pPr algn="l"/>
                      <a:r>
                        <a:rPr sz="800" b="1">
                          <a:solidFill>
                            <a:srgbClr val="A86F00"/>
                          </a:solidFill>
                          <a:latin typeface="Calibri"/>
                        </a:rPr>
                        <a:t>▶ 9.0%</a:t>
                      </a:r>
                    </a:p>
                  </a:txBody>
                  <a:tcPr marL="85725" marR="38100" marT="19050" marB="19050" anchor="ctr">
                    <a:solidFill>
                      <a:srgbClr val="F5F8FA"/>
                    </a:solidFill>
                  </a:tcPr>
                </a:tc>
                <a:tc>
                  <a:txBody>
                    <a:bodyPr wrap="none"/>
                    <a:lstStyle/>
                    <a:p>
                      <a:pPr algn="l"/>
                      <a:r>
                        <a:rPr sz="800" b="1">
                          <a:solidFill>
                            <a:srgbClr val="A86F00"/>
                          </a:solidFill>
                          <a:latin typeface="Calibri"/>
                        </a:rPr>
                        <a:t>▶ 7.9%</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5.0%</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Pharmacy Channel</a:t>
                      </a:r>
                    </a:p>
                  </a:txBody>
                  <a:tcPr marL="85725" marR="38100" marT="19050" marB="19050" anchor="ctr">
                    <a:solidFill>
                      <a:srgbClr val="FFFFFF"/>
                    </a:solidFill>
                  </a:tcPr>
                </a:tc>
                <a:tc>
                  <a:txBody>
                    <a:bodyPr wrap="none"/>
                    <a:lstStyle/>
                    <a:p>
                      <a:pPr algn="l"/>
                      <a:r>
                        <a:rPr sz="800" b="1">
                          <a:solidFill>
                            <a:srgbClr val="2E7D32"/>
                          </a:solidFill>
                          <a:latin typeface="Calibri"/>
                        </a:rPr>
                        <a:t>▲ 13.0%</a:t>
                      </a:r>
                    </a:p>
                  </a:txBody>
                  <a:tcPr marL="85725" marR="38100" marT="19050" marB="19050" anchor="ctr">
                    <a:solidFill>
                      <a:srgbClr val="FFFFFF"/>
                    </a:solidFill>
                  </a:tcPr>
                </a:tc>
                <a:tc>
                  <a:txBody>
                    <a:bodyPr wrap="none"/>
                    <a:lstStyle/>
                    <a:p>
                      <a:pPr algn="l"/>
                      <a:r>
                        <a:rPr sz="800" b="1">
                          <a:solidFill>
                            <a:srgbClr val="2E7D32"/>
                          </a:solidFill>
                          <a:latin typeface="Calibri"/>
                        </a:rPr>
                        <a:t>▲ 19.9%</a:t>
                      </a:r>
                    </a:p>
                  </a:txBody>
                  <a:tcPr marL="85725" marR="38100" marT="19050" marB="19050" anchor="ctr">
                    <a:solidFill>
                      <a:srgbClr val="FFFFFF"/>
                    </a:solidFill>
                  </a:tcPr>
                </a:tc>
                <a:tc>
                  <a:txBody>
                    <a:bodyPr wrap="none"/>
                    <a:lstStyle/>
                    <a:p>
                      <a:pPr algn="l"/>
                      <a:r>
                        <a:rPr sz="800" b="1">
                          <a:solidFill>
                            <a:srgbClr val="2E7D32"/>
                          </a:solidFill>
                          <a:latin typeface="Calibri"/>
                        </a:rPr>
                        <a:t>▲ 23.7%</a:t>
                      </a:r>
                    </a:p>
                  </a:txBody>
                  <a:tcPr marL="85725" marR="38100" marT="19050" marB="19050" anchor="ctr">
                    <a:solidFill>
                      <a:srgbClr val="FFFFFF"/>
                    </a:solidFill>
                  </a:tcPr>
                </a:tc>
                <a:tc>
                  <a:txBody>
                    <a:bodyPr wrap="none"/>
                    <a:lstStyle/>
                    <a:p>
                      <a:pPr algn="l"/>
                      <a:r>
                        <a:rPr sz="800" b="1">
                          <a:solidFill>
                            <a:srgbClr val="2E7D32"/>
                          </a:solidFill>
                          <a:latin typeface="Calibri"/>
                        </a:rPr>
                        <a:t>▲ 21.0%</a:t>
                      </a:r>
                    </a:p>
                  </a:txBody>
                  <a:tcPr marL="85725" marR="38100" marT="19050" marB="19050" anchor="ctr">
                    <a:solidFill>
                      <a:srgbClr val="FFFFFF"/>
                    </a:solidFill>
                  </a:tcPr>
                </a:tc>
                <a:tc>
                  <a:txBody>
                    <a:bodyPr wrap="none"/>
                    <a:lstStyle/>
                    <a:p>
                      <a:pPr algn="l"/>
                      <a:r>
                        <a:rPr sz="800" b="1">
                          <a:solidFill>
                            <a:srgbClr val="2E7D32"/>
                          </a:solidFill>
                          <a:latin typeface="Calibri"/>
                        </a:rPr>
                        <a:t>▲ 17.4%</a:t>
                      </a:r>
                    </a:p>
                  </a:txBody>
                  <a:tcPr marL="85725" marR="38100" marT="19050" marB="19050" anchor="ctr">
                    <a:solidFill>
                      <a:srgbClr val="FFFFFF"/>
                    </a:solidFill>
                  </a:tcPr>
                </a:tc>
                <a:tc>
                  <a:txBody>
                    <a:bodyPr wrap="none"/>
                    <a:lstStyle/>
                    <a:p>
                      <a:pPr algn="l"/>
                      <a:r>
                        <a:rPr sz="800" b="1">
                          <a:solidFill>
                            <a:srgbClr val="2E7D32"/>
                          </a:solidFill>
                          <a:latin typeface="Calibri"/>
                        </a:rPr>
                        <a:t>▲ 15.2%</a:t>
                      </a:r>
                    </a:p>
                  </a:txBody>
                  <a:tcPr marL="85725" marR="38100" marT="19050" marB="19050" anchor="ctr">
                    <a:solidFill>
                      <a:srgbClr val="FFFFFF"/>
                    </a:solidFill>
                  </a:tcPr>
                </a:tc>
                <a:tc>
                  <a:txBody>
                    <a:bodyPr wrap="none"/>
                    <a:lstStyle/>
                    <a:p>
                      <a:pPr algn="l"/>
                      <a:r>
                        <a:rPr sz="800" b="1">
                          <a:solidFill>
                            <a:srgbClr val="2E7D32"/>
                          </a:solidFill>
                          <a:latin typeface="Calibri"/>
                        </a:rPr>
                        <a:t>▲ 12.9%</a:t>
                      </a:r>
                    </a:p>
                  </a:txBody>
                  <a:tcPr marL="85725" marR="38100" marT="19050" marB="19050" anchor="ctr">
                    <a:solidFill>
                      <a:srgbClr val="FFFFFF"/>
                    </a:solidFill>
                  </a:tcPr>
                </a:tc>
                <a:tc>
                  <a:txBody>
                    <a:bodyPr wrap="none"/>
                    <a:lstStyle/>
                    <a:p>
                      <a:pPr algn="l"/>
                      <a:r>
                        <a:rPr sz="800" b="1">
                          <a:solidFill>
                            <a:srgbClr val="2E7D32"/>
                          </a:solidFill>
                          <a:latin typeface="Calibri"/>
                        </a:rPr>
                        <a:t>▲ 11.3%</a:t>
                      </a:r>
                    </a:p>
                  </a:txBody>
                  <a:tcPr marL="85725" marR="38100" marT="19050" marB="19050" anchor="ctr">
                    <a:solidFill>
                      <a:srgbClr val="FFFFFF"/>
                    </a:solidFill>
                  </a:tcPr>
                </a:tc>
                <a:tc>
                  <a:txBody>
                    <a:bodyPr wrap="none"/>
                    <a:lstStyle/>
                    <a:p>
                      <a:pPr algn="l"/>
                      <a:r>
                        <a:rPr sz="800" b="1">
                          <a:solidFill>
                            <a:srgbClr val="2E7D32"/>
                          </a:solidFill>
                          <a:latin typeface="Calibri"/>
                        </a:rPr>
                        <a:t>▲ 9.9%</a:t>
                      </a:r>
                    </a:p>
                  </a:txBody>
                  <a:tcPr marL="85725" marR="38100" marT="19050" marB="19050" anchor="ctr">
                    <a:solidFill>
                      <a:srgbClr val="FFFFFF"/>
                    </a:solidFill>
                  </a:tcPr>
                </a:tc>
                <a:tc>
                  <a:txBody>
                    <a:bodyPr wrap="none"/>
                    <a:lstStyle/>
                    <a:p>
                      <a:pPr algn="l"/>
                      <a:r>
                        <a:rPr sz="800" b="1">
                          <a:solidFill>
                            <a:srgbClr val="2E7D32"/>
                          </a:solidFill>
                          <a:latin typeface="Calibri"/>
                        </a:rPr>
                        <a:t>▲ 8.8%</a:t>
                      </a:r>
                    </a:p>
                  </a:txBody>
                  <a:tcPr marL="85725" marR="38100" marT="19050" marB="19050" anchor="ctr">
                    <a:solidFill>
                      <a:srgbClr val="FFFFFF"/>
                    </a:solidFill>
                  </a:tcPr>
                </a:tc>
                <a:tc>
                  <a:txBody>
                    <a:bodyPr wrap="none"/>
                    <a:lstStyle/>
                    <a:p>
                      <a:pPr algn="l"/>
                      <a:r>
                        <a:rPr sz="800" b="1">
                          <a:solidFill>
                            <a:srgbClr val="2E7D32"/>
                          </a:solidFill>
                          <a:latin typeface="Calibri"/>
                        </a:rPr>
                        <a:t>▲ 7.9%</a:t>
                      </a:r>
                    </a:p>
                  </a:txBody>
                  <a:tcPr marL="85725" marR="38100" marT="19050" marB="19050" anchor="ctr">
                    <a:solidFill>
                      <a:srgbClr val="FFFFFF"/>
                    </a:solidFill>
                  </a:tcPr>
                </a:tc>
                <a:tc>
                  <a:txBody>
                    <a:bodyPr wrap="none"/>
                    <a:lstStyle/>
                    <a:p>
                      <a:pPr algn="l"/>
                      <a:r>
                        <a:rPr sz="800" b="1">
                          <a:solidFill>
                            <a:srgbClr val="2E7D32"/>
                          </a:solidFill>
                          <a:latin typeface="Calibri"/>
                        </a:rPr>
                        <a:t>▲ 7.0%</a:t>
                      </a:r>
                    </a:p>
                  </a:txBody>
                  <a:tcPr marL="85725" marR="38100" marT="19050" marB="19050" anchor="ctr">
                    <a:solidFill>
                      <a:srgbClr val="FFFFFF"/>
                    </a:solidFill>
                  </a:tcPr>
                </a:tc>
                <a:tc>
                  <a:txBody>
                    <a:bodyPr wrap="none"/>
                    <a:lstStyle/>
                    <a:p>
                      <a:pPr algn="l"/>
                      <a:r>
                        <a:rPr sz="800" b="1">
                          <a:solidFill>
                            <a:srgbClr val="2E7D32"/>
                          </a:solidFill>
                          <a:latin typeface="Calibri"/>
                        </a:rPr>
                        <a:t>▲ 6.4%</a:t>
                      </a:r>
                    </a:p>
                  </a:txBody>
                  <a:tcPr marL="85725" marR="38100" marT="19050" marB="19050" anchor="ctr">
                    <a:solidFill>
                      <a:srgbClr val="FFFFFF"/>
                    </a:solidFill>
                  </a:tcPr>
                </a:tc>
                <a:tc>
                  <a:txBody>
                    <a:bodyPr wrap="none"/>
                    <a:lstStyle/>
                    <a:p>
                      <a:pPr algn="l"/>
                      <a:r>
                        <a:rPr sz="800" b="1">
                          <a:solidFill>
                            <a:srgbClr val="2E7D32"/>
                          </a:solidFill>
                          <a:latin typeface="Calibri"/>
                        </a:rPr>
                        <a:t>▲ 5.9%</a:t>
                      </a:r>
                    </a:p>
                  </a:txBody>
                  <a:tcPr marL="85725" marR="38100" marT="19050" marB="19050" anchor="ctr">
                    <a:solidFill>
                      <a:srgbClr val="FFFFFF"/>
                    </a:solidFill>
                  </a:tcPr>
                </a:tc>
                <a:tc>
                  <a:txBody>
                    <a:bodyPr wrap="none"/>
                    <a:lstStyle/>
                    <a:p>
                      <a:pPr algn="l"/>
                      <a:r>
                        <a:rPr sz="800" b="1">
                          <a:solidFill>
                            <a:srgbClr val="2E7D32"/>
                          </a:solidFill>
                          <a:latin typeface="Calibri"/>
                        </a:rPr>
                        <a:t>▲ 5.5%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Online / Digital Pharmacy</a:t>
                      </a:r>
                    </a:p>
                  </a:txBody>
                  <a:tcPr marL="85725" marR="38100" marT="19050" marB="19050" anchor="ctr">
                    <a:solidFill>
                      <a:srgbClr val="F5F8FA"/>
                    </a:solidFill>
                  </a:tcPr>
                </a:tc>
                <a:tc>
                  <a:txBody>
                    <a:bodyPr wrap="none"/>
                    <a:lstStyle/>
                    <a:p>
                      <a:pPr algn="l"/>
                      <a:r>
                        <a:rPr sz="800" b="1">
                          <a:solidFill>
                            <a:srgbClr val="A86F00"/>
                          </a:solidFill>
                          <a:latin typeface="Calibri"/>
                        </a:rPr>
                        <a:t>▶ 11.7%</a:t>
                      </a:r>
                    </a:p>
                  </a:txBody>
                  <a:tcPr marL="85725" marR="38100" marT="19050" marB="19050" anchor="ctr">
                    <a:solidFill>
                      <a:srgbClr val="F5F8FA"/>
                    </a:solidFill>
                  </a:tcPr>
                </a:tc>
                <a:tc>
                  <a:txBody>
                    <a:bodyPr wrap="none"/>
                    <a:lstStyle/>
                    <a:p>
                      <a:pPr algn="l"/>
                      <a:r>
                        <a:rPr sz="800" b="1">
                          <a:solidFill>
                            <a:srgbClr val="A86F00"/>
                          </a:solidFill>
                          <a:latin typeface="Calibri"/>
                        </a:rPr>
                        <a:t>▶ 18.5%</a:t>
                      </a:r>
                    </a:p>
                  </a:txBody>
                  <a:tcPr marL="85725" marR="38100" marT="19050" marB="19050" anchor="ctr">
                    <a:solidFill>
                      <a:srgbClr val="F5F8FA"/>
                    </a:solidFill>
                  </a:tcPr>
                </a:tc>
                <a:tc>
                  <a:txBody>
                    <a:bodyPr wrap="none"/>
                    <a:lstStyle/>
                    <a:p>
                      <a:pPr algn="l"/>
                      <a:r>
                        <a:rPr sz="800" b="1">
                          <a:solidFill>
                            <a:srgbClr val="A86F00"/>
                          </a:solidFill>
                          <a:latin typeface="Calibri"/>
                        </a:rPr>
                        <a:t>▶ 22.3%</a:t>
                      </a:r>
                    </a:p>
                  </a:txBody>
                  <a:tcPr marL="85725" marR="38100" marT="19050" marB="19050" anchor="ctr">
                    <a:solidFill>
                      <a:srgbClr val="F5F8FA"/>
                    </a:solidFill>
                  </a:tcPr>
                </a:tc>
                <a:tc>
                  <a:txBody>
                    <a:bodyPr wrap="none"/>
                    <a:lstStyle/>
                    <a:p>
                      <a:pPr algn="l"/>
                      <a:r>
                        <a:rPr sz="800" b="1">
                          <a:solidFill>
                            <a:srgbClr val="A86F00"/>
                          </a:solidFill>
                          <a:latin typeface="Calibri"/>
                        </a:rPr>
                        <a:t>▶ 19.7%</a:t>
                      </a:r>
                    </a:p>
                  </a:txBody>
                  <a:tcPr marL="85725" marR="38100" marT="19050" marB="19050" anchor="ctr">
                    <a:solidFill>
                      <a:srgbClr val="F5F8FA"/>
                    </a:solidFill>
                  </a:tcPr>
                </a:tc>
                <a:tc>
                  <a:txBody>
                    <a:bodyPr wrap="none"/>
                    <a:lstStyle/>
                    <a:p>
                      <a:pPr algn="l"/>
                      <a:r>
                        <a:rPr sz="800" b="1">
                          <a:solidFill>
                            <a:srgbClr val="A86F00"/>
                          </a:solidFill>
                          <a:latin typeface="Calibri"/>
                        </a:rPr>
                        <a:t>▶ 16.1%</a:t>
                      </a:r>
                    </a:p>
                  </a:txBody>
                  <a:tcPr marL="85725" marR="38100" marT="19050" marB="19050" anchor="ctr">
                    <a:solidFill>
                      <a:srgbClr val="F5F8FA"/>
                    </a:solidFill>
                  </a:tcPr>
                </a:tc>
                <a:tc>
                  <a:txBody>
                    <a:bodyPr wrap="none"/>
                    <a:lstStyle/>
                    <a:p>
                      <a:pPr algn="l"/>
                      <a:r>
                        <a:rPr sz="800" b="1">
                          <a:solidFill>
                            <a:srgbClr val="A86F00"/>
                          </a:solidFill>
                          <a:latin typeface="Calibri"/>
                        </a:rPr>
                        <a:t>▶ 14.1%</a:t>
                      </a:r>
                    </a:p>
                  </a:txBody>
                  <a:tcPr marL="85725" marR="38100" marT="19050" marB="19050" anchor="ctr">
                    <a:solidFill>
                      <a:srgbClr val="F5F8FA"/>
                    </a:solidFill>
                  </a:tcPr>
                </a:tc>
                <a:tc>
                  <a:txBody>
                    <a:bodyPr wrap="none"/>
                    <a:lstStyle/>
                    <a:p>
                      <a:pPr algn="l"/>
                      <a:r>
                        <a:rPr sz="800" b="1">
                          <a:solidFill>
                            <a:srgbClr val="A86F00"/>
                          </a:solidFill>
                          <a:latin typeface="Calibri"/>
                        </a:rPr>
                        <a:t>▶ 11.8%</a:t>
                      </a:r>
                    </a:p>
                  </a:txBody>
                  <a:tcPr marL="85725" marR="38100" marT="19050" marB="19050" anchor="ctr">
                    <a:solidFill>
                      <a:srgbClr val="F5F8FA"/>
                    </a:solidFill>
                  </a:tcPr>
                </a:tc>
                <a:tc>
                  <a:txBody>
                    <a:bodyPr wrap="none"/>
                    <a:lstStyle/>
                    <a:p>
                      <a:pPr algn="l"/>
                      <a:r>
                        <a:rPr sz="800" b="1">
                          <a:solidFill>
                            <a:srgbClr val="A86F00"/>
                          </a:solidFill>
                          <a:latin typeface="Calibri"/>
                        </a:rPr>
                        <a:t>▶ 10.2%</a:t>
                      </a:r>
                    </a:p>
                  </a:txBody>
                  <a:tcPr marL="85725" marR="38100" marT="19050" marB="19050" anchor="ctr">
                    <a:solidFill>
                      <a:srgbClr val="F5F8FA"/>
                    </a:solidFill>
                  </a:tcPr>
                </a:tc>
                <a:tc>
                  <a:txBody>
                    <a:bodyPr wrap="none"/>
                    <a:lstStyle/>
                    <a:p>
                      <a:pPr algn="l"/>
                      <a:r>
                        <a:rPr sz="800" b="1">
                          <a:solidFill>
                            <a:srgbClr val="A86F00"/>
                          </a:solidFill>
                          <a:latin typeface="Calibri"/>
                        </a:rPr>
                        <a:t>▶ 8.9%</a:t>
                      </a:r>
                    </a:p>
                  </a:txBody>
                  <a:tcPr marL="85725" marR="38100" marT="19050" marB="19050" anchor="ctr">
                    <a:solidFill>
                      <a:srgbClr val="F5F8FA"/>
                    </a:solidFill>
                  </a:tcPr>
                </a:tc>
                <a:tc>
                  <a:txBody>
                    <a:bodyPr wrap="none"/>
                    <a:lstStyle/>
                    <a:p>
                      <a:pPr algn="l"/>
                      <a:r>
                        <a:rPr sz="800" b="1">
                          <a:solidFill>
                            <a:srgbClr val="A86F00"/>
                          </a:solidFill>
                          <a:latin typeface="Calibri"/>
                        </a:rPr>
                        <a:t>▶ 7.8%</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5.0%</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r>
            </a:tbl>
          </a:graphicData>
        </a:graphic>
      </p:graphicFrame>
      <p:sp>
        <p:nvSpPr>
          <p:cNvPr id="14" name="TextBox 13"/>
          <p:cNvSpPr txBox="1"/>
          <p:nvPr/>
        </p:nvSpPr>
        <p:spPr>
          <a:xfrm>
            <a:off x="219075" y="31623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438525"/>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956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YoY Heatmap, By Sales / Distribution Channel (%)  ·  light = lower, dark = higher growth</a:t>
            </a:r>
          </a:p>
        </p:txBody>
      </p:sp>
      <p:sp>
        <p:nvSpPr>
          <p:cNvPr id="17" name="TextBox 16"/>
          <p:cNvSpPr txBox="1"/>
          <p:nvPr/>
        </p:nvSpPr>
        <p:spPr>
          <a:xfrm>
            <a:off x="18573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8" name="TextBox 17"/>
          <p:cNvSpPr txBox="1"/>
          <p:nvPr/>
        </p:nvSpPr>
        <p:spPr>
          <a:xfrm>
            <a:off x="25012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19" name="TextBox 18"/>
          <p:cNvSpPr txBox="1"/>
          <p:nvPr/>
        </p:nvSpPr>
        <p:spPr>
          <a:xfrm>
            <a:off x="31451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0" name="TextBox 19"/>
          <p:cNvSpPr txBox="1"/>
          <p:nvPr/>
        </p:nvSpPr>
        <p:spPr>
          <a:xfrm>
            <a:off x="37890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1" name="TextBox 20"/>
          <p:cNvSpPr txBox="1"/>
          <p:nvPr/>
        </p:nvSpPr>
        <p:spPr>
          <a:xfrm>
            <a:off x="44329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2" name="TextBox 21"/>
          <p:cNvSpPr txBox="1"/>
          <p:nvPr/>
        </p:nvSpPr>
        <p:spPr>
          <a:xfrm>
            <a:off x="507682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3" name="TextBox 22"/>
          <p:cNvSpPr txBox="1"/>
          <p:nvPr/>
        </p:nvSpPr>
        <p:spPr>
          <a:xfrm>
            <a:off x="572071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4" name="TextBox 23"/>
          <p:cNvSpPr txBox="1"/>
          <p:nvPr/>
        </p:nvSpPr>
        <p:spPr>
          <a:xfrm>
            <a:off x="636460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5" name="TextBox 24"/>
          <p:cNvSpPr txBox="1"/>
          <p:nvPr/>
        </p:nvSpPr>
        <p:spPr>
          <a:xfrm>
            <a:off x="700849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6" name="TextBox 25"/>
          <p:cNvSpPr txBox="1"/>
          <p:nvPr/>
        </p:nvSpPr>
        <p:spPr>
          <a:xfrm>
            <a:off x="765238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7" name="TextBox 26"/>
          <p:cNvSpPr txBox="1"/>
          <p:nvPr/>
        </p:nvSpPr>
        <p:spPr>
          <a:xfrm>
            <a:off x="82962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8" name="TextBox 27"/>
          <p:cNvSpPr txBox="1"/>
          <p:nvPr/>
        </p:nvSpPr>
        <p:spPr>
          <a:xfrm>
            <a:off x="89401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29" name="TextBox 28"/>
          <p:cNvSpPr txBox="1"/>
          <p:nvPr/>
        </p:nvSpPr>
        <p:spPr>
          <a:xfrm>
            <a:off x="95840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0" name="TextBox 29"/>
          <p:cNvSpPr txBox="1"/>
          <p:nvPr/>
        </p:nvSpPr>
        <p:spPr>
          <a:xfrm>
            <a:off x="102279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1" name="TextBox 30"/>
          <p:cNvSpPr txBox="1"/>
          <p:nvPr/>
        </p:nvSpPr>
        <p:spPr>
          <a:xfrm>
            <a:off x="108718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2" name="TextBox 31"/>
          <p:cNvSpPr txBox="1"/>
          <p:nvPr/>
        </p:nvSpPr>
        <p:spPr>
          <a:xfrm>
            <a:off x="238125" y="3867150"/>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Direct Institutional Sales</a:t>
            </a:r>
          </a:p>
        </p:txBody>
      </p:sp>
      <p:sp>
        <p:nvSpPr>
          <p:cNvPr id="33" name="Rectangle 32"/>
          <p:cNvSpPr/>
          <p:nvPr/>
        </p:nvSpPr>
        <p:spPr>
          <a:xfrm>
            <a:off x="1857375" y="3867150"/>
            <a:ext cx="643890" cy="700088"/>
          </a:xfrm>
          <a:prstGeom prst="rect">
            <a:avLst/>
          </a:prstGeom>
          <a:solidFill>
            <a:srgbClr val="A7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01265" y="3867150"/>
            <a:ext cx="643890" cy="700088"/>
          </a:xfrm>
          <a:prstGeom prst="rect">
            <a:avLst/>
          </a:prstGeom>
          <a:solidFill>
            <a:srgbClr val="20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45155" y="3867150"/>
            <a:ext cx="643890" cy="700088"/>
          </a:xfrm>
          <a:prstGeom prst="rect">
            <a:avLst/>
          </a:prstGeom>
          <a:solidFill>
            <a:srgbClr val="0B2E4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89045" y="3867150"/>
            <a:ext cx="643890" cy="700088"/>
          </a:xfrm>
          <a:prstGeom prst="rect">
            <a:avLst/>
          </a:prstGeom>
          <a:solidFill>
            <a:srgbClr val="0E71A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32935" y="3867150"/>
            <a:ext cx="643890" cy="700088"/>
          </a:xfrm>
          <a:prstGeom prst="rect">
            <a:avLst/>
          </a:prstGeom>
          <a:solidFill>
            <a:srgbClr val="4C96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6825" y="3867150"/>
            <a:ext cx="643890" cy="700088"/>
          </a:xfrm>
          <a:prstGeom prst="rect">
            <a:avLst/>
          </a:prstGeom>
          <a:solidFill>
            <a:srgbClr val="7EB2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20715" y="3867150"/>
            <a:ext cx="643890" cy="700088"/>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64605" y="3867150"/>
            <a:ext cx="643890" cy="700088"/>
          </a:xfrm>
          <a:prstGeom prst="rect">
            <a:avLst/>
          </a:prstGeom>
          <a:solidFill>
            <a:srgbClr val="C2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08495" y="3867150"/>
            <a:ext cx="643890" cy="700088"/>
          </a:xfrm>
          <a:prstGeom prst="rect">
            <a:avLst/>
          </a:prstGeom>
          <a:solidFill>
            <a:srgbClr val="D2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52385" y="3867150"/>
            <a:ext cx="643890" cy="700088"/>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96275" y="3867150"/>
            <a:ext cx="643890" cy="700088"/>
          </a:xfrm>
          <a:prstGeom prst="rect">
            <a:avLst/>
          </a:prstGeom>
          <a:solidFill>
            <a:srgbClr val="E4F1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40165" y="3867150"/>
            <a:ext cx="643890" cy="700088"/>
          </a:xfrm>
          <a:prstGeom prst="rect">
            <a:avLst/>
          </a:prstGeom>
          <a:solidFill>
            <a:srgbClr val="EB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84055" y="3867150"/>
            <a:ext cx="643890" cy="700088"/>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227945" y="3867150"/>
            <a:ext cx="643890" cy="700088"/>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871835" y="3867150"/>
            <a:ext cx="643890" cy="700088"/>
          </a:xfrm>
          <a:prstGeom prst="rect">
            <a:avLst/>
          </a:prstGeom>
          <a:solidFill>
            <a:srgbClr val="F7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8125" y="4567238"/>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Specialty Distribution</a:t>
            </a:r>
          </a:p>
        </p:txBody>
      </p:sp>
      <p:sp>
        <p:nvSpPr>
          <p:cNvPr id="49" name="Rectangle 48"/>
          <p:cNvSpPr/>
          <p:nvPr/>
        </p:nvSpPr>
        <p:spPr>
          <a:xfrm>
            <a:off x="1857375" y="4567238"/>
            <a:ext cx="643890" cy="700088"/>
          </a:xfrm>
          <a:prstGeom prst="rect">
            <a:avLst/>
          </a:prstGeom>
          <a:solidFill>
            <a:srgbClr val="B7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01265" y="4567238"/>
            <a:ext cx="643890" cy="700088"/>
          </a:xfrm>
          <a:prstGeom prst="rect">
            <a:avLst/>
          </a:prstGeom>
          <a:solidFill>
            <a:srgbClr val="31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145155" y="4567238"/>
            <a:ext cx="643890" cy="700088"/>
          </a:xfrm>
          <a:prstGeom prst="rect">
            <a:avLst/>
          </a:prstGeom>
          <a:solidFill>
            <a:srgbClr val="0C4A7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789045" y="4567238"/>
            <a:ext cx="643890" cy="700088"/>
          </a:xfrm>
          <a:prstGeom prst="rect">
            <a:avLst/>
          </a:prstGeom>
          <a:solidFill>
            <a:srgbClr val="1E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32935" y="4567238"/>
            <a:ext cx="643890" cy="700088"/>
          </a:xfrm>
          <a:prstGeom prst="rect">
            <a:avLst/>
          </a:prstGeom>
          <a:solidFill>
            <a:srgbClr val="64A4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76825" y="4567238"/>
            <a:ext cx="643890" cy="700088"/>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720715" y="4567238"/>
            <a:ext cx="643890" cy="700088"/>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64605" y="4567238"/>
            <a:ext cx="643890" cy="700088"/>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08495" y="4567238"/>
            <a:ext cx="643890" cy="700088"/>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652385" y="4567238"/>
            <a:ext cx="643890" cy="700088"/>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296275" y="4567238"/>
            <a:ext cx="643890" cy="700088"/>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40165" y="4567238"/>
            <a:ext cx="643890" cy="700088"/>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584055" y="4567238"/>
            <a:ext cx="643890" cy="700088"/>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27945" y="4567238"/>
            <a:ext cx="643890" cy="700088"/>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871835" y="4567238"/>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38125" y="5267325"/>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Pharmacy Channel</a:t>
            </a:r>
          </a:p>
        </p:txBody>
      </p:sp>
      <p:sp>
        <p:nvSpPr>
          <p:cNvPr id="65" name="Rectangle 64"/>
          <p:cNvSpPr/>
          <p:nvPr/>
        </p:nvSpPr>
        <p:spPr>
          <a:xfrm>
            <a:off x="1857375" y="5267325"/>
            <a:ext cx="643890" cy="700088"/>
          </a:xfrm>
          <a:prstGeom prst="rect">
            <a:avLst/>
          </a:prstGeom>
          <a:solidFill>
            <a:srgbClr val="A7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501265" y="5267325"/>
            <a:ext cx="643890" cy="700088"/>
          </a:xfrm>
          <a:prstGeom prst="rect">
            <a:avLst/>
          </a:prstGeom>
          <a:solidFill>
            <a:srgbClr val="20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145155" y="5267325"/>
            <a:ext cx="643890" cy="70008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789045" y="5267325"/>
            <a:ext cx="643890" cy="700088"/>
          </a:xfrm>
          <a:prstGeom prst="rect">
            <a:avLst/>
          </a:prstGeom>
          <a:solidFill>
            <a:srgbClr val="0E71A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432935" y="5267325"/>
            <a:ext cx="643890" cy="700088"/>
          </a:xfrm>
          <a:prstGeom prst="rect">
            <a:avLst/>
          </a:prstGeom>
          <a:solidFill>
            <a:srgbClr val="4C96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076825" y="5267325"/>
            <a:ext cx="643890" cy="700088"/>
          </a:xfrm>
          <a:prstGeom prst="rect">
            <a:avLst/>
          </a:prstGeom>
          <a:solidFill>
            <a:srgbClr val="7EB2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720715" y="5267325"/>
            <a:ext cx="643890" cy="700088"/>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364605" y="5267325"/>
            <a:ext cx="643890" cy="700088"/>
          </a:xfrm>
          <a:prstGeom prst="rect">
            <a:avLst/>
          </a:prstGeom>
          <a:solidFill>
            <a:srgbClr val="C2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008495" y="5267325"/>
            <a:ext cx="643890" cy="700088"/>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652385" y="5267325"/>
            <a:ext cx="643890" cy="700088"/>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296275" y="5267325"/>
            <a:ext cx="643890" cy="700088"/>
          </a:xfrm>
          <a:prstGeom prst="rect">
            <a:avLst/>
          </a:prstGeom>
          <a:solidFill>
            <a:srgbClr val="E4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940165" y="5267325"/>
            <a:ext cx="643890" cy="700088"/>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584055" y="5267325"/>
            <a:ext cx="643890" cy="700088"/>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227945" y="5267325"/>
            <a:ext cx="643890" cy="700088"/>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871835" y="5267325"/>
            <a:ext cx="643890" cy="700088"/>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8125" y="5967412"/>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Online / Digital Pharmacy</a:t>
            </a:r>
          </a:p>
        </p:txBody>
      </p:sp>
      <p:sp>
        <p:nvSpPr>
          <p:cNvPr id="81" name="Rectangle 80"/>
          <p:cNvSpPr/>
          <p:nvPr/>
        </p:nvSpPr>
        <p:spPr>
          <a:xfrm>
            <a:off x="1857375" y="5967412"/>
            <a:ext cx="643890" cy="700088"/>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501265" y="5967412"/>
            <a:ext cx="643890" cy="700088"/>
          </a:xfrm>
          <a:prstGeom prst="rect">
            <a:avLst/>
          </a:prstGeom>
          <a:solidFill>
            <a:srgbClr val="35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145155" y="5967412"/>
            <a:ext cx="643890" cy="700088"/>
          </a:xfrm>
          <a:prstGeom prst="rect">
            <a:avLst/>
          </a:prstGeom>
          <a:solidFill>
            <a:srgbClr val="0D507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789045" y="5967412"/>
            <a:ext cx="643890" cy="700088"/>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432935" y="5967412"/>
            <a:ext cx="643890" cy="700088"/>
          </a:xfrm>
          <a:prstGeom prst="rect">
            <a:avLst/>
          </a:prstGeom>
          <a:solidFill>
            <a:srgbClr val="69A6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076825" y="5967412"/>
            <a:ext cx="643890" cy="700088"/>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720715" y="5967412"/>
            <a:ext cx="643890" cy="700088"/>
          </a:xfrm>
          <a:prstGeom prst="rect">
            <a:avLst/>
          </a:prstGeom>
          <a:solidFill>
            <a:srgbClr val="BAD4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364605" y="5967412"/>
            <a:ext cx="643890" cy="700088"/>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008495" y="5967412"/>
            <a:ext cx="643890" cy="700088"/>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652385" y="5967412"/>
            <a:ext cx="643890" cy="700088"/>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296275" y="5967412"/>
            <a:ext cx="643890" cy="700088"/>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940165" y="5967412"/>
            <a:ext cx="643890" cy="700088"/>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584055" y="5967412"/>
            <a:ext cx="643890" cy="700088"/>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227945" y="5967412"/>
            <a:ext cx="643890" cy="700088"/>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871835" y="5967412"/>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1572875" y="3905250"/>
            <a:ext cx="104775" cy="7572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973354"/>
            <a:ext cx="104775" cy="75724"/>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4041458"/>
            <a:ext cx="104775" cy="75724"/>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4109561"/>
            <a:ext cx="104775" cy="75724"/>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4177665"/>
            <a:ext cx="104775" cy="75724"/>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4245769"/>
            <a:ext cx="104775" cy="75724"/>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4313872"/>
            <a:ext cx="104775" cy="75724"/>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4381976"/>
            <a:ext cx="104775" cy="75724"/>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4450080"/>
            <a:ext cx="104775" cy="75724"/>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4518184"/>
            <a:ext cx="104775" cy="75724"/>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4586288"/>
            <a:ext cx="104775" cy="75724"/>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654391"/>
            <a:ext cx="104775" cy="75724"/>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722495"/>
            <a:ext cx="104775" cy="75724"/>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790599"/>
            <a:ext cx="104775" cy="75724"/>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858702"/>
            <a:ext cx="104775" cy="75724"/>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926806"/>
            <a:ext cx="104775" cy="75724"/>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994910"/>
            <a:ext cx="104775" cy="75724"/>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5063014"/>
            <a:ext cx="104775" cy="75724"/>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5131118"/>
            <a:ext cx="104775" cy="75724"/>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5199221"/>
            <a:ext cx="104775" cy="75724"/>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5267325"/>
            <a:ext cx="104775" cy="75724"/>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5335429"/>
            <a:ext cx="104775" cy="75724"/>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5403532"/>
            <a:ext cx="104775" cy="75724"/>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471636"/>
            <a:ext cx="104775" cy="75724"/>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539740"/>
            <a:ext cx="104775" cy="75724"/>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607844"/>
            <a:ext cx="104775" cy="75724"/>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675948"/>
            <a:ext cx="104775" cy="75724"/>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744051"/>
            <a:ext cx="104775" cy="75724"/>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812155"/>
            <a:ext cx="104775" cy="75724"/>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880259"/>
            <a:ext cx="104775" cy="75724"/>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948362"/>
            <a:ext cx="104775" cy="75724"/>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6016466"/>
            <a:ext cx="104775" cy="75724"/>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6084570"/>
            <a:ext cx="104775" cy="75724"/>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6152674"/>
            <a:ext cx="104775" cy="75724"/>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220778"/>
            <a:ext cx="104775" cy="75724"/>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288881"/>
            <a:ext cx="104775" cy="75724"/>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356985"/>
            <a:ext cx="104775" cy="75724"/>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425089"/>
            <a:ext cx="104775" cy="75724"/>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493192"/>
            <a:ext cx="104775" cy="75724"/>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561296"/>
            <a:ext cx="104775" cy="75724"/>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3905250"/>
            <a:ext cx="104775" cy="27241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1687175" y="3838575"/>
            <a:ext cx="276225" cy="133350"/>
          </a:xfrm>
          <a:prstGeom prst="rect">
            <a:avLst/>
          </a:prstGeom>
          <a:noFill/>
        </p:spPr>
        <p:txBody>
          <a:bodyPr wrap="none" lIns="0" rIns="0" tIns="0" bIns="0" anchor="ctr">
            <a:spAutoFit/>
          </a:bodyPr>
          <a:lstStyle/>
          <a:p>
            <a:pPr algn="l"/>
            <a:r>
              <a:rPr sz="700" b="0">
                <a:solidFill>
                  <a:srgbClr val="6C7A89"/>
                </a:solidFill>
                <a:latin typeface="Calibri"/>
              </a:rPr>
              <a:t>24%</a:t>
            </a:r>
          </a:p>
        </p:txBody>
      </p:sp>
      <p:sp>
        <p:nvSpPr>
          <p:cNvPr id="138" name="TextBox 137"/>
          <p:cNvSpPr txBox="1"/>
          <p:nvPr/>
        </p:nvSpPr>
        <p:spPr>
          <a:xfrm>
            <a:off x="11687175" y="5200650"/>
            <a:ext cx="276225" cy="133350"/>
          </a:xfrm>
          <a:prstGeom prst="rect">
            <a:avLst/>
          </a:prstGeom>
          <a:noFill/>
        </p:spPr>
        <p:txBody>
          <a:bodyPr wrap="none" lIns="0" rIns="0" tIns="0" bIns="0" anchor="ctr">
            <a:spAutoFit/>
          </a:bodyPr>
          <a:lstStyle/>
          <a:p>
            <a:pPr algn="l"/>
            <a:r>
              <a:rPr sz="700" b="0">
                <a:solidFill>
                  <a:srgbClr val="6C7A89"/>
                </a:solidFill>
                <a:latin typeface="Calibri"/>
              </a:rPr>
              <a:t>14%</a:t>
            </a:r>
          </a:p>
        </p:txBody>
      </p:sp>
      <p:sp>
        <p:nvSpPr>
          <p:cNvPr id="139" name="TextBox 138"/>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5%</a:t>
            </a:r>
          </a:p>
        </p:txBody>
      </p:sp>
      <p:sp>
        <p:nvSpPr>
          <p:cNvPr id="140" name="Rectangle 13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2" name="Rounded Rectangle 14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3" name="Rounded Rectangle 14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4" name="Rounded Rectangle 14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114550"/>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a:t>
            </a:r>
          </a:p>
        </p:txBody>
      </p:sp>
      <p:sp>
        <p:nvSpPr>
          <p:cNvPr id="7" name="TextBox 6"/>
          <p:cNvSpPr txBox="1"/>
          <p:nvPr/>
        </p:nvSpPr>
        <p:spPr>
          <a:xfrm>
            <a:off x="1219200" y="2362200"/>
            <a:ext cx="6667500" cy="371475"/>
          </a:xfrm>
          <a:prstGeom prst="rect">
            <a:avLst/>
          </a:prstGeom>
          <a:noFill/>
        </p:spPr>
        <p:txBody>
          <a:bodyPr wrap="square" lIns="0" rIns="19050" tIns="0" bIns="0" anchor="t">
            <a:spAutoFit/>
          </a:bodyPr>
          <a:lstStyle/>
          <a:p>
            <a:pPr algn="l">
              <a:lnSpc>
                <a:spcPct val="102000"/>
              </a:lnSpc>
            </a:pPr>
            <a:r>
              <a:rPr sz="2500" b="1">
                <a:solidFill>
                  <a:srgbClr val="0B2E4A"/>
                </a:solidFill>
                <a:latin typeface="Calibri"/>
              </a:rPr>
              <a:t>Product Type x Therapeutic Application</a:t>
            </a:r>
          </a:p>
        </p:txBody>
      </p:sp>
      <p:sp>
        <p:nvSpPr>
          <p:cNvPr id="8" name="TextBox 7"/>
          <p:cNvSpPr txBox="1"/>
          <p:nvPr/>
        </p:nvSpPr>
        <p:spPr>
          <a:xfrm>
            <a:off x="1219200" y="2886075"/>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By Product Type x Therapeutic Application Segment Outlook</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Structure &amp; Attractiveness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Absolute $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Volume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Value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11</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By Product Type x Therapeutic Application Segment Outlook</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TextBox 10"/>
          <p:cNvSpPr txBox="1"/>
          <p:nvPr/>
        </p:nvSpPr>
        <p:spPr>
          <a:xfrm>
            <a:off x="323850" y="857250"/>
            <a:ext cx="11544300" cy="323850"/>
          </a:xfrm>
          <a:prstGeom prst="rect">
            <a:avLst/>
          </a:prstGeom>
          <a:noFill/>
        </p:spPr>
        <p:txBody>
          <a:bodyPr wrap="square" lIns="28575" rIns="28575" tIns="9525" bIns="9525">
            <a:spAutoFit/>
          </a:bodyPr>
          <a:lstStyle/>
          <a:p>
            <a:pPr algn="l"/>
            <a:r>
              <a:rPr sz="1150" b="0">
                <a:solidFill>
                  <a:srgbClr val="2E2E2E"/>
                </a:solidFill>
                <a:latin typeface="Calibri"/>
              </a:rPr>
              <a:t>The Product Type x Therapeutic Application segment categorizes the market by product type x therapeutic application. Each sub-category is evaluated on market size, growth outlook and adoption trends across the forecast period.</a:t>
            </a:r>
          </a:p>
        </p:txBody>
      </p:sp>
      <p:sp>
        <p:nvSpPr>
          <p:cNvPr id="12" name="Rectangle 11"/>
          <p:cNvSpPr/>
          <p:nvPr/>
        </p:nvSpPr>
        <p:spPr>
          <a:xfrm>
            <a:off x="323850" y="1657350"/>
            <a:ext cx="1428750" cy="457200"/>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657350"/>
            <a:ext cx="1295400" cy="457200"/>
          </a:xfrm>
          <a:prstGeom prst="rect">
            <a:avLst/>
          </a:prstGeom>
          <a:noFill/>
        </p:spPr>
        <p:txBody>
          <a:bodyPr wrap="square" lIns="28575" rIns="28575" tIns="9525" bIns="9525" anchor="ctr">
            <a:spAutoFit/>
          </a:bodyPr>
          <a:lstStyle/>
          <a:p>
            <a:pPr algn="l"/>
            <a:r>
              <a:rPr sz="1050" b="1">
                <a:solidFill>
                  <a:srgbClr val="0B2E4A"/>
                </a:solidFill>
                <a:latin typeface="Calibri"/>
              </a:rPr>
              <a:t>Sub-Segment</a:t>
            </a:r>
          </a:p>
        </p:txBody>
      </p:sp>
      <p:sp>
        <p:nvSpPr>
          <p:cNvPr id="14" name="Rectangle 13"/>
          <p:cNvSpPr/>
          <p:nvPr/>
        </p:nvSpPr>
        <p:spPr>
          <a:xfrm>
            <a:off x="323850" y="21336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1336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2026 Value (US$ Mn)</a:t>
            </a:r>
          </a:p>
        </p:txBody>
      </p:sp>
      <p:sp>
        <p:nvSpPr>
          <p:cNvPr id="16" name="Rectangle 15"/>
          <p:cNvSpPr/>
          <p:nvPr/>
        </p:nvSpPr>
        <p:spPr>
          <a:xfrm>
            <a:off x="323850" y="264795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64795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2036 Value (US$ Mn)</a:t>
            </a:r>
          </a:p>
        </p:txBody>
      </p:sp>
      <p:sp>
        <p:nvSpPr>
          <p:cNvPr id="18" name="Rectangle 17"/>
          <p:cNvSpPr/>
          <p:nvPr/>
        </p:nvSpPr>
        <p:spPr>
          <a:xfrm>
            <a:off x="323850" y="31623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1623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CAGR (2026–2036)</a:t>
            </a:r>
          </a:p>
        </p:txBody>
      </p:sp>
      <p:sp>
        <p:nvSpPr>
          <p:cNvPr id="20" name="Rounded Rectangle 19"/>
          <p:cNvSpPr/>
          <p:nvPr/>
        </p:nvSpPr>
        <p:spPr>
          <a:xfrm>
            <a:off x="1866900" y="1657350"/>
            <a:ext cx="805295"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885950"/>
            <a:ext cx="805295"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Hyrimoz / Halimatoz / Hefiya</a:t>
            </a:r>
          </a:p>
        </p:txBody>
      </p:sp>
      <p:sp>
        <p:nvSpPr>
          <p:cNvPr id="23" name="Rectangle 22"/>
          <p:cNvSpPr/>
          <p:nvPr/>
        </p:nvSpPr>
        <p:spPr>
          <a:xfrm>
            <a:off x="1866900"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221.1</a:t>
            </a:r>
          </a:p>
        </p:txBody>
      </p:sp>
      <p:sp>
        <p:nvSpPr>
          <p:cNvPr id="24" name="Rectangle 23"/>
          <p:cNvSpPr/>
          <p:nvPr/>
        </p:nvSpPr>
        <p:spPr>
          <a:xfrm>
            <a:off x="1866900"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517.9</a:t>
            </a:r>
          </a:p>
        </p:txBody>
      </p:sp>
      <p:sp>
        <p:nvSpPr>
          <p:cNvPr id="25" name="Rectangle 24"/>
          <p:cNvSpPr/>
          <p:nvPr/>
        </p:nvSpPr>
        <p:spPr>
          <a:xfrm>
            <a:off x="1866900"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8.9%</a:t>
            </a:r>
          </a:p>
        </p:txBody>
      </p:sp>
      <p:sp>
        <p:nvSpPr>
          <p:cNvPr id="26" name="Oval 25"/>
          <p:cNvSpPr/>
          <p:nvPr/>
        </p:nvSpPr>
        <p:spPr>
          <a:xfrm>
            <a:off x="2107623"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2786495" y="1657350"/>
            <a:ext cx="805295"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86495" y="1885950"/>
            <a:ext cx="805295"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24595"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Amjevita / Amgevita</a:t>
            </a:r>
          </a:p>
        </p:txBody>
      </p:sp>
      <p:sp>
        <p:nvSpPr>
          <p:cNvPr id="30" name="Rectangle 29"/>
          <p:cNvSpPr/>
          <p:nvPr/>
        </p:nvSpPr>
        <p:spPr>
          <a:xfrm>
            <a:off x="2786495"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218.7</a:t>
            </a:r>
          </a:p>
        </p:txBody>
      </p:sp>
      <p:sp>
        <p:nvSpPr>
          <p:cNvPr id="31" name="Rectangle 30"/>
          <p:cNvSpPr/>
          <p:nvPr/>
        </p:nvSpPr>
        <p:spPr>
          <a:xfrm>
            <a:off x="2786495"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463.2</a:t>
            </a:r>
          </a:p>
        </p:txBody>
      </p:sp>
      <p:sp>
        <p:nvSpPr>
          <p:cNvPr id="32" name="Rectangle 31"/>
          <p:cNvSpPr/>
          <p:nvPr/>
        </p:nvSpPr>
        <p:spPr>
          <a:xfrm>
            <a:off x="2786495"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7.8%</a:t>
            </a:r>
          </a:p>
        </p:txBody>
      </p:sp>
      <p:sp>
        <p:nvSpPr>
          <p:cNvPr id="33" name="Oval 32"/>
          <p:cNvSpPr/>
          <p:nvPr/>
        </p:nvSpPr>
        <p:spPr>
          <a:xfrm>
            <a:off x="3027218"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3706091" y="1657350"/>
            <a:ext cx="805295" cy="457200"/>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06091" y="1885950"/>
            <a:ext cx="805295" cy="22860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44191"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Idacio</a:t>
            </a:r>
          </a:p>
        </p:txBody>
      </p:sp>
      <p:sp>
        <p:nvSpPr>
          <p:cNvPr id="37" name="Rectangle 36"/>
          <p:cNvSpPr/>
          <p:nvPr/>
        </p:nvSpPr>
        <p:spPr>
          <a:xfrm>
            <a:off x="3706091"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212.9</a:t>
            </a:r>
          </a:p>
        </p:txBody>
      </p:sp>
      <p:sp>
        <p:nvSpPr>
          <p:cNvPr id="38" name="Rectangle 37"/>
          <p:cNvSpPr/>
          <p:nvPr/>
        </p:nvSpPr>
        <p:spPr>
          <a:xfrm>
            <a:off x="3706091"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525.8</a:t>
            </a:r>
          </a:p>
        </p:txBody>
      </p:sp>
      <p:sp>
        <p:nvSpPr>
          <p:cNvPr id="39" name="Rectangle 38"/>
          <p:cNvSpPr/>
          <p:nvPr/>
        </p:nvSpPr>
        <p:spPr>
          <a:xfrm>
            <a:off x="3706091"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9.5%</a:t>
            </a:r>
          </a:p>
        </p:txBody>
      </p:sp>
      <p:sp>
        <p:nvSpPr>
          <p:cNvPr id="40" name="Oval 39"/>
          <p:cNvSpPr/>
          <p:nvPr/>
        </p:nvSpPr>
        <p:spPr>
          <a:xfrm>
            <a:off x="3946814" y="1314450"/>
            <a:ext cx="323850" cy="323850"/>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4625686" y="1657350"/>
            <a:ext cx="805295" cy="457200"/>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625686" y="1885950"/>
            <a:ext cx="805295" cy="2286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63786"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Abrilada / Amsparity</a:t>
            </a:r>
          </a:p>
        </p:txBody>
      </p:sp>
      <p:sp>
        <p:nvSpPr>
          <p:cNvPr id="44" name="Rectangle 43"/>
          <p:cNvSpPr/>
          <p:nvPr/>
        </p:nvSpPr>
        <p:spPr>
          <a:xfrm>
            <a:off x="4625686"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211.3</a:t>
            </a:r>
          </a:p>
        </p:txBody>
      </p:sp>
      <p:sp>
        <p:nvSpPr>
          <p:cNvPr id="45" name="Rectangle 44"/>
          <p:cNvSpPr/>
          <p:nvPr/>
        </p:nvSpPr>
        <p:spPr>
          <a:xfrm>
            <a:off x="4625686"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499.1</a:t>
            </a:r>
          </a:p>
        </p:txBody>
      </p:sp>
      <p:sp>
        <p:nvSpPr>
          <p:cNvPr id="46" name="Rectangle 45"/>
          <p:cNvSpPr/>
          <p:nvPr/>
        </p:nvSpPr>
        <p:spPr>
          <a:xfrm>
            <a:off x="4625686"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9.0%</a:t>
            </a:r>
          </a:p>
        </p:txBody>
      </p:sp>
      <p:sp>
        <p:nvSpPr>
          <p:cNvPr id="47" name="Oval 46"/>
          <p:cNvSpPr/>
          <p:nvPr/>
        </p:nvSpPr>
        <p:spPr>
          <a:xfrm>
            <a:off x="4866409" y="1314450"/>
            <a:ext cx="323850" cy="323850"/>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5545282" y="1657350"/>
            <a:ext cx="805295" cy="457200"/>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545282" y="1885950"/>
            <a:ext cx="805295" cy="2286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83382"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Hadlima / Imraldi</a:t>
            </a:r>
          </a:p>
        </p:txBody>
      </p:sp>
      <p:sp>
        <p:nvSpPr>
          <p:cNvPr id="51" name="Rectangle 50"/>
          <p:cNvSpPr/>
          <p:nvPr/>
        </p:nvSpPr>
        <p:spPr>
          <a:xfrm>
            <a:off x="5545282"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198.2</a:t>
            </a:r>
          </a:p>
        </p:txBody>
      </p:sp>
      <p:sp>
        <p:nvSpPr>
          <p:cNvPr id="52" name="Rectangle 51"/>
          <p:cNvSpPr/>
          <p:nvPr/>
        </p:nvSpPr>
        <p:spPr>
          <a:xfrm>
            <a:off x="5545282"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493.3</a:t>
            </a:r>
          </a:p>
        </p:txBody>
      </p:sp>
      <p:sp>
        <p:nvSpPr>
          <p:cNvPr id="53" name="Rectangle 52"/>
          <p:cNvSpPr/>
          <p:nvPr/>
        </p:nvSpPr>
        <p:spPr>
          <a:xfrm>
            <a:off x="5545282"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9.5%</a:t>
            </a:r>
          </a:p>
        </p:txBody>
      </p:sp>
      <p:sp>
        <p:nvSpPr>
          <p:cNvPr id="54" name="Oval 53"/>
          <p:cNvSpPr/>
          <p:nvPr/>
        </p:nvSpPr>
        <p:spPr>
          <a:xfrm>
            <a:off x="5786005" y="1314450"/>
            <a:ext cx="323850" cy="323850"/>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5" name="Rounded Rectangle 54"/>
          <p:cNvSpPr/>
          <p:nvPr/>
        </p:nvSpPr>
        <p:spPr>
          <a:xfrm>
            <a:off x="6464877" y="1657350"/>
            <a:ext cx="805295" cy="457200"/>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464877" y="1885950"/>
            <a:ext cx="805295" cy="22860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02977"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Cyltezo</a:t>
            </a:r>
          </a:p>
        </p:txBody>
      </p:sp>
      <p:sp>
        <p:nvSpPr>
          <p:cNvPr id="58" name="Rectangle 57"/>
          <p:cNvSpPr/>
          <p:nvPr/>
        </p:nvSpPr>
        <p:spPr>
          <a:xfrm>
            <a:off x="6464877"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193.2</a:t>
            </a:r>
          </a:p>
        </p:txBody>
      </p:sp>
      <p:sp>
        <p:nvSpPr>
          <p:cNvPr id="59" name="Rectangle 58"/>
          <p:cNvSpPr/>
          <p:nvPr/>
        </p:nvSpPr>
        <p:spPr>
          <a:xfrm>
            <a:off x="6464877"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506.1</a:t>
            </a:r>
          </a:p>
        </p:txBody>
      </p:sp>
      <p:sp>
        <p:nvSpPr>
          <p:cNvPr id="60" name="Rectangle 59"/>
          <p:cNvSpPr/>
          <p:nvPr/>
        </p:nvSpPr>
        <p:spPr>
          <a:xfrm>
            <a:off x="6464877"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10.1%</a:t>
            </a:r>
          </a:p>
        </p:txBody>
      </p:sp>
      <p:sp>
        <p:nvSpPr>
          <p:cNvPr id="61" name="Oval 60"/>
          <p:cNvSpPr/>
          <p:nvPr/>
        </p:nvSpPr>
        <p:spPr>
          <a:xfrm>
            <a:off x="6705600" y="1314450"/>
            <a:ext cx="323850" cy="323850"/>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2" name="Rounded Rectangle 61"/>
          <p:cNvSpPr/>
          <p:nvPr/>
        </p:nvSpPr>
        <p:spPr>
          <a:xfrm>
            <a:off x="7384473" y="1657350"/>
            <a:ext cx="805295" cy="457200"/>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384473" y="1885950"/>
            <a:ext cx="805295" cy="228600"/>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22573"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Yusimry</a:t>
            </a:r>
          </a:p>
        </p:txBody>
      </p:sp>
      <p:sp>
        <p:nvSpPr>
          <p:cNvPr id="65" name="Rectangle 64"/>
          <p:cNvSpPr/>
          <p:nvPr/>
        </p:nvSpPr>
        <p:spPr>
          <a:xfrm>
            <a:off x="7384473"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188.6</a:t>
            </a:r>
          </a:p>
        </p:txBody>
      </p:sp>
      <p:sp>
        <p:nvSpPr>
          <p:cNvPr id="66" name="Rectangle 65"/>
          <p:cNvSpPr/>
          <p:nvPr/>
        </p:nvSpPr>
        <p:spPr>
          <a:xfrm>
            <a:off x="7384473"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348.4</a:t>
            </a:r>
          </a:p>
        </p:txBody>
      </p:sp>
      <p:sp>
        <p:nvSpPr>
          <p:cNvPr id="67" name="Rectangle 66"/>
          <p:cNvSpPr/>
          <p:nvPr/>
        </p:nvSpPr>
        <p:spPr>
          <a:xfrm>
            <a:off x="7384473"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6.3%</a:t>
            </a:r>
          </a:p>
        </p:txBody>
      </p:sp>
      <p:sp>
        <p:nvSpPr>
          <p:cNvPr id="68" name="Oval 67"/>
          <p:cNvSpPr/>
          <p:nvPr/>
        </p:nvSpPr>
        <p:spPr>
          <a:xfrm>
            <a:off x="7625195" y="1314450"/>
            <a:ext cx="323850" cy="323850"/>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69" name="Rounded Rectangle 68"/>
          <p:cNvSpPr/>
          <p:nvPr/>
        </p:nvSpPr>
        <p:spPr>
          <a:xfrm>
            <a:off x="8304068" y="1657350"/>
            <a:ext cx="805295"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304068" y="1885950"/>
            <a:ext cx="805295"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342168"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Other approved adalimumab biosimi…</a:t>
            </a:r>
          </a:p>
        </p:txBody>
      </p:sp>
      <p:sp>
        <p:nvSpPr>
          <p:cNvPr id="72" name="Rectangle 71"/>
          <p:cNvSpPr/>
          <p:nvPr/>
        </p:nvSpPr>
        <p:spPr>
          <a:xfrm>
            <a:off x="8304068"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184.7</a:t>
            </a:r>
          </a:p>
        </p:txBody>
      </p:sp>
      <p:sp>
        <p:nvSpPr>
          <p:cNvPr id="73" name="Rectangle 72"/>
          <p:cNvSpPr/>
          <p:nvPr/>
        </p:nvSpPr>
        <p:spPr>
          <a:xfrm>
            <a:off x="8304068"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408.3</a:t>
            </a:r>
          </a:p>
        </p:txBody>
      </p:sp>
      <p:sp>
        <p:nvSpPr>
          <p:cNvPr id="74" name="Rectangle 73"/>
          <p:cNvSpPr/>
          <p:nvPr/>
        </p:nvSpPr>
        <p:spPr>
          <a:xfrm>
            <a:off x="8304068"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8.3%</a:t>
            </a:r>
          </a:p>
        </p:txBody>
      </p:sp>
      <p:sp>
        <p:nvSpPr>
          <p:cNvPr id="75" name="Oval 74"/>
          <p:cNvSpPr/>
          <p:nvPr/>
        </p:nvSpPr>
        <p:spPr>
          <a:xfrm>
            <a:off x="8544791"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76" name="Rounded Rectangle 75"/>
          <p:cNvSpPr/>
          <p:nvPr/>
        </p:nvSpPr>
        <p:spPr>
          <a:xfrm>
            <a:off x="9223664" y="1657350"/>
            <a:ext cx="805295"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223664" y="1885950"/>
            <a:ext cx="805295"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261764"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Simlandi</a:t>
            </a:r>
          </a:p>
        </p:txBody>
      </p:sp>
      <p:sp>
        <p:nvSpPr>
          <p:cNvPr id="79" name="Rectangle 78"/>
          <p:cNvSpPr/>
          <p:nvPr/>
        </p:nvSpPr>
        <p:spPr>
          <a:xfrm>
            <a:off x="9223664"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146.3</a:t>
            </a:r>
          </a:p>
        </p:txBody>
      </p:sp>
      <p:sp>
        <p:nvSpPr>
          <p:cNvPr id="80" name="Rectangle 79"/>
          <p:cNvSpPr/>
          <p:nvPr/>
        </p:nvSpPr>
        <p:spPr>
          <a:xfrm>
            <a:off x="9223664"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307.1</a:t>
            </a:r>
          </a:p>
        </p:txBody>
      </p:sp>
      <p:sp>
        <p:nvSpPr>
          <p:cNvPr id="81" name="Rectangle 80"/>
          <p:cNvSpPr/>
          <p:nvPr/>
        </p:nvSpPr>
        <p:spPr>
          <a:xfrm>
            <a:off x="9223664"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7.7%</a:t>
            </a:r>
          </a:p>
        </p:txBody>
      </p:sp>
      <p:sp>
        <p:nvSpPr>
          <p:cNvPr id="82" name="Oval 81"/>
          <p:cNvSpPr/>
          <p:nvPr/>
        </p:nvSpPr>
        <p:spPr>
          <a:xfrm>
            <a:off x="9464386"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9</a:t>
            </a:r>
          </a:p>
        </p:txBody>
      </p:sp>
      <p:sp>
        <p:nvSpPr>
          <p:cNvPr id="83" name="Rounded Rectangle 82"/>
          <p:cNvSpPr/>
          <p:nvPr/>
        </p:nvSpPr>
        <p:spPr>
          <a:xfrm>
            <a:off x="10143259" y="1657350"/>
            <a:ext cx="805295" cy="457200"/>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0143259" y="1885950"/>
            <a:ext cx="805295" cy="22860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181359"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Hulio</a:t>
            </a:r>
          </a:p>
        </p:txBody>
      </p:sp>
      <p:sp>
        <p:nvSpPr>
          <p:cNvPr id="86" name="Rectangle 85"/>
          <p:cNvSpPr/>
          <p:nvPr/>
        </p:nvSpPr>
        <p:spPr>
          <a:xfrm>
            <a:off x="10143259"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104.7</a:t>
            </a:r>
          </a:p>
        </p:txBody>
      </p:sp>
      <p:sp>
        <p:nvSpPr>
          <p:cNvPr id="87" name="Rectangle 86"/>
          <p:cNvSpPr/>
          <p:nvPr/>
        </p:nvSpPr>
        <p:spPr>
          <a:xfrm>
            <a:off x="10143259"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197.6</a:t>
            </a:r>
          </a:p>
        </p:txBody>
      </p:sp>
      <p:sp>
        <p:nvSpPr>
          <p:cNvPr id="88" name="Rectangle 87"/>
          <p:cNvSpPr/>
          <p:nvPr/>
        </p:nvSpPr>
        <p:spPr>
          <a:xfrm>
            <a:off x="10143259"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6.6%</a:t>
            </a:r>
          </a:p>
        </p:txBody>
      </p:sp>
      <p:sp>
        <p:nvSpPr>
          <p:cNvPr id="89" name="Oval 88"/>
          <p:cNvSpPr/>
          <p:nvPr/>
        </p:nvSpPr>
        <p:spPr>
          <a:xfrm>
            <a:off x="10383982" y="1314450"/>
            <a:ext cx="323850" cy="323850"/>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10</a:t>
            </a:r>
          </a:p>
        </p:txBody>
      </p:sp>
      <p:sp>
        <p:nvSpPr>
          <p:cNvPr id="90" name="Rounded Rectangle 89"/>
          <p:cNvSpPr/>
          <p:nvPr/>
        </p:nvSpPr>
        <p:spPr>
          <a:xfrm>
            <a:off x="11062855" y="1657350"/>
            <a:ext cx="805295" cy="457200"/>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1062855" y="1885950"/>
            <a:ext cx="805295" cy="2286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1100955" y="1657350"/>
            <a:ext cx="729095" cy="457200"/>
          </a:xfrm>
          <a:prstGeom prst="rect">
            <a:avLst/>
          </a:prstGeom>
          <a:noFill/>
        </p:spPr>
        <p:txBody>
          <a:bodyPr wrap="square" lIns="28575" rIns="28575" tIns="9525" bIns="9525" anchor="ctr">
            <a:spAutoFit/>
          </a:bodyPr>
          <a:lstStyle/>
          <a:p>
            <a:pPr algn="ctr"/>
            <a:r>
              <a:rPr sz="1100" b="1">
                <a:solidFill>
                  <a:srgbClr val="FFFFFF"/>
                </a:solidFill>
                <a:latin typeface="Calibri"/>
              </a:rPr>
              <a:t>Yuflyma</a:t>
            </a:r>
          </a:p>
        </p:txBody>
      </p:sp>
      <p:sp>
        <p:nvSpPr>
          <p:cNvPr id="93" name="Rectangle 92"/>
          <p:cNvSpPr/>
          <p:nvPr/>
        </p:nvSpPr>
        <p:spPr>
          <a:xfrm>
            <a:off x="11062855" y="21336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94.4</a:t>
            </a:r>
          </a:p>
        </p:txBody>
      </p:sp>
      <p:sp>
        <p:nvSpPr>
          <p:cNvPr id="94" name="Rectangle 93"/>
          <p:cNvSpPr/>
          <p:nvPr/>
        </p:nvSpPr>
        <p:spPr>
          <a:xfrm>
            <a:off x="11062855" y="2647950"/>
            <a:ext cx="80529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208.0</a:t>
            </a:r>
          </a:p>
        </p:txBody>
      </p:sp>
      <p:sp>
        <p:nvSpPr>
          <p:cNvPr id="95" name="Rectangle 94"/>
          <p:cNvSpPr/>
          <p:nvPr/>
        </p:nvSpPr>
        <p:spPr>
          <a:xfrm>
            <a:off x="11062855" y="3162300"/>
            <a:ext cx="80529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8.2%</a:t>
            </a:r>
          </a:p>
        </p:txBody>
      </p:sp>
      <p:sp>
        <p:nvSpPr>
          <p:cNvPr id="96" name="Oval 95"/>
          <p:cNvSpPr/>
          <p:nvPr/>
        </p:nvSpPr>
        <p:spPr>
          <a:xfrm>
            <a:off x="11303577" y="1314450"/>
            <a:ext cx="323850" cy="323850"/>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11</a:t>
            </a:r>
          </a:p>
        </p:txBody>
      </p:sp>
      <p:sp>
        <p:nvSpPr>
          <p:cNvPr id="97" name="Rounded Rectangle 96"/>
          <p:cNvSpPr/>
          <p:nvPr/>
        </p:nvSpPr>
        <p:spPr>
          <a:xfrm>
            <a:off x="323850" y="3829050"/>
            <a:ext cx="323850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57200" y="3924300"/>
            <a:ext cx="2971800" cy="190500"/>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99" name="Rectangle 98"/>
          <p:cNvSpPr/>
          <p:nvPr/>
        </p:nvSpPr>
        <p:spPr>
          <a:xfrm>
            <a:off x="457200" y="4133850"/>
            <a:ext cx="2971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57200" y="4210050"/>
            <a:ext cx="297180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'Hyrimoz / Halimatoz / Hefiya' holds the largest share in 2026 11% of segment value.</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'Cyltezo' is the fastest-growing sub-segment at 10.1% CAGR through 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Segment value expands from 1,974 to 4,475 US$ Mn across 2026–2036.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11 sub-segments make up the product type x therapeutic application landscape.</a:t>
            </a:r>
          </a:p>
        </p:txBody>
      </p:sp>
      <p:sp>
        <p:nvSpPr>
          <p:cNvPr id="101" name="Rounded Rectangle 100"/>
          <p:cNvSpPr/>
          <p:nvPr/>
        </p:nvSpPr>
        <p:spPr>
          <a:xfrm>
            <a:off x="3676650" y="3829050"/>
            <a:ext cx="447675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810000" y="3924300"/>
            <a:ext cx="4210050" cy="190500"/>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103" name="Rectangle 102"/>
          <p:cNvSpPr/>
          <p:nvPr/>
        </p:nvSpPr>
        <p:spPr>
          <a:xfrm>
            <a:off x="3810000" y="4133850"/>
            <a:ext cx="42100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3810000" y="4210050"/>
            <a:ext cx="4210050" cy="2209800"/>
          </a:xfrm>
          <a:prstGeom prst="rect">
            <a:avLst/>
          </a:prstGeom>
          <a:noFill/>
        </p:spPr>
        <p:txBody>
          <a:bodyPr wrap="square" lIns="28575" rIns="28575" tIns="9525" bIns="9525">
            <a:spAutoFit/>
          </a:bodyPr>
          <a:lstStyle/>
          <a:p>
            <a:pPr algn="l">
              <a:lnSpc>
                <a:spcPct val="105000"/>
              </a:lnSpc>
              <a:spcBef>
                <a:spcPts val="0"/>
              </a:spcBef>
              <a:spcAft>
                <a:spcPts val="300"/>
              </a:spcAft>
            </a:pPr>
            <a:r>
              <a:rPr sz="765" b="0">
                <a:solidFill>
                  <a:srgbClr val="0B2E4A"/>
                </a:solidFill>
                <a:latin typeface="Calibri"/>
              </a:rPr>
              <a:t>●  </a:t>
            </a:r>
            <a:r>
              <a:rPr sz="850" b="1">
                <a:solidFill>
                  <a:srgbClr val="0B2E4A"/>
                </a:solidFill>
                <a:latin typeface="Calibri"/>
              </a:rPr>
              <a:t>Hyrimoz / Halimatoz / Hefiya: </a:t>
            </a:r>
            <a:r>
              <a:rPr sz="850" b="0">
                <a:solidFill>
                  <a:srgbClr val="2E2E2E"/>
                </a:solidFill>
                <a:latin typeface="Calibri"/>
              </a:rPr>
              <a:t>11% of 2026 value · 8.9% CAGR leads the segment.</a:t>
            </a:r>
          </a:p>
          <a:p>
            <a:pPr algn="l">
              <a:lnSpc>
                <a:spcPct val="105000"/>
              </a:lnSpc>
              <a:spcBef>
                <a:spcPts val="0"/>
              </a:spcBef>
              <a:spcAft>
                <a:spcPts val="300"/>
              </a:spcAft>
            </a:pPr>
            <a:r>
              <a:rPr sz="765" b="0">
                <a:solidFill>
                  <a:srgbClr val="0E72AE"/>
                </a:solidFill>
                <a:latin typeface="Calibri"/>
              </a:rPr>
              <a:t>●  </a:t>
            </a:r>
            <a:r>
              <a:rPr sz="850" b="1">
                <a:solidFill>
                  <a:srgbClr val="0E72AE"/>
                </a:solidFill>
                <a:latin typeface="Calibri"/>
              </a:rPr>
              <a:t>Amjevita / Amgevita: </a:t>
            </a:r>
            <a:r>
              <a:rPr sz="850" b="0">
                <a:solidFill>
                  <a:srgbClr val="2E2E2E"/>
                </a:solidFill>
                <a:latin typeface="Calibri"/>
              </a:rPr>
              <a:t>11% of 2026 value · 7.8% CAGR serves a niche.</a:t>
            </a:r>
          </a:p>
          <a:p>
            <a:pPr algn="l">
              <a:lnSpc>
                <a:spcPct val="105000"/>
              </a:lnSpc>
              <a:spcBef>
                <a:spcPts val="0"/>
              </a:spcBef>
              <a:spcAft>
                <a:spcPts val="300"/>
              </a:spcAft>
            </a:pPr>
            <a:r>
              <a:rPr sz="765" b="0">
                <a:solidFill>
                  <a:srgbClr val="008189"/>
                </a:solidFill>
                <a:latin typeface="Calibri"/>
              </a:rPr>
              <a:t>●  </a:t>
            </a:r>
            <a:r>
              <a:rPr sz="850" b="1">
                <a:solidFill>
                  <a:srgbClr val="008189"/>
                </a:solidFill>
                <a:latin typeface="Calibri"/>
              </a:rPr>
              <a:t>Idacio: </a:t>
            </a:r>
            <a:r>
              <a:rPr sz="850" b="0">
                <a:solidFill>
                  <a:srgbClr val="2E2E2E"/>
                </a:solidFill>
                <a:latin typeface="Calibri"/>
              </a:rPr>
              <a:t>11% of 2026 value · 9.5% CAGR serves a niche.</a:t>
            </a:r>
          </a:p>
          <a:p>
            <a:pPr algn="l">
              <a:lnSpc>
                <a:spcPct val="105000"/>
              </a:lnSpc>
              <a:spcBef>
                <a:spcPts val="0"/>
              </a:spcBef>
              <a:spcAft>
                <a:spcPts val="300"/>
              </a:spcAft>
            </a:pPr>
            <a:r>
              <a:rPr sz="765" b="0">
                <a:solidFill>
                  <a:srgbClr val="6F3CC2"/>
                </a:solidFill>
                <a:latin typeface="Calibri"/>
              </a:rPr>
              <a:t>●  </a:t>
            </a:r>
            <a:r>
              <a:rPr sz="850" b="1">
                <a:solidFill>
                  <a:srgbClr val="6F3CC2"/>
                </a:solidFill>
                <a:latin typeface="Calibri"/>
              </a:rPr>
              <a:t>Abrilada / Amsparity: </a:t>
            </a:r>
            <a:r>
              <a:rPr sz="850" b="0">
                <a:solidFill>
                  <a:srgbClr val="2E2E2E"/>
                </a:solidFill>
                <a:latin typeface="Calibri"/>
              </a:rPr>
              <a:t>11% of 2026 value · 9.0% CAGR serves a niche.</a:t>
            </a:r>
          </a:p>
          <a:p>
            <a:pPr algn="l">
              <a:lnSpc>
                <a:spcPct val="105000"/>
              </a:lnSpc>
              <a:spcBef>
                <a:spcPts val="0"/>
              </a:spcBef>
              <a:spcAft>
                <a:spcPts val="300"/>
              </a:spcAft>
            </a:pPr>
            <a:r>
              <a:rPr sz="765" b="0">
                <a:solidFill>
                  <a:srgbClr val="A86F00"/>
                </a:solidFill>
                <a:latin typeface="Calibri"/>
              </a:rPr>
              <a:t>●  </a:t>
            </a:r>
            <a:r>
              <a:rPr sz="850" b="1">
                <a:solidFill>
                  <a:srgbClr val="A86F00"/>
                </a:solidFill>
                <a:latin typeface="Calibri"/>
              </a:rPr>
              <a:t>Hadlima / Imraldi: </a:t>
            </a:r>
            <a:r>
              <a:rPr sz="850" b="0">
                <a:solidFill>
                  <a:srgbClr val="2E2E2E"/>
                </a:solidFill>
                <a:latin typeface="Calibri"/>
              </a:rPr>
              <a:t>10% of 2026 value · 9.5% CAGR serves a niche.</a:t>
            </a:r>
          </a:p>
          <a:p>
            <a:pPr algn="l">
              <a:lnSpc>
                <a:spcPct val="105000"/>
              </a:lnSpc>
              <a:spcBef>
                <a:spcPts val="0"/>
              </a:spcBef>
              <a:spcAft>
                <a:spcPts val="300"/>
              </a:spcAft>
            </a:pPr>
            <a:r>
              <a:rPr sz="765" b="0">
                <a:solidFill>
                  <a:srgbClr val="A35313"/>
                </a:solidFill>
                <a:latin typeface="Calibri"/>
              </a:rPr>
              <a:t>●  </a:t>
            </a:r>
            <a:r>
              <a:rPr sz="850" b="1">
                <a:solidFill>
                  <a:srgbClr val="A35313"/>
                </a:solidFill>
                <a:latin typeface="Calibri"/>
              </a:rPr>
              <a:t>Cyltezo: </a:t>
            </a:r>
            <a:r>
              <a:rPr sz="850" b="0">
                <a:solidFill>
                  <a:srgbClr val="2E2E2E"/>
                </a:solidFill>
                <a:latin typeface="Calibri"/>
              </a:rPr>
              <a:t>10% of 2026 value · 10.1% CAGR grows fastest.</a:t>
            </a:r>
          </a:p>
          <a:p>
            <a:pPr algn="l">
              <a:lnSpc>
                <a:spcPct val="105000"/>
              </a:lnSpc>
              <a:spcBef>
                <a:spcPts val="0"/>
              </a:spcBef>
              <a:spcAft>
                <a:spcPts val="300"/>
              </a:spcAft>
            </a:pPr>
            <a:r>
              <a:rPr sz="765" b="0">
                <a:solidFill>
                  <a:srgbClr val="6C7A89"/>
                </a:solidFill>
                <a:latin typeface="Calibri"/>
              </a:rPr>
              <a:t>●  </a:t>
            </a:r>
            <a:r>
              <a:rPr sz="850" b="1">
                <a:solidFill>
                  <a:srgbClr val="6C7A89"/>
                </a:solidFill>
                <a:latin typeface="Calibri"/>
              </a:rPr>
              <a:t>Yusimry: </a:t>
            </a:r>
            <a:r>
              <a:rPr sz="850" b="0">
                <a:solidFill>
                  <a:srgbClr val="2E2E2E"/>
                </a:solidFill>
                <a:latin typeface="Calibri"/>
              </a:rPr>
              <a:t>10% of 2026 value · 6.3% CAGR serves a niche.</a:t>
            </a:r>
          </a:p>
          <a:p>
            <a:pPr algn="l">
              <a:lnSpc>
                <a:spcPct val="105000"/>
              </a:lnSpc>
              <a:spcBef>
                <a:spcPts val="0"/>
              </a:spcBef>
              <a:spcAft>
                <a:spcPts val="300"/>
              </a:spcAft>
            </a:pPr>
            <a:r>
              <a:rPr sz="765" b="0">
                <a:solidFill>
                  <a:srgbClr val="0B2E4A"/>
                </a:solidFill>
                <a:latin typeface="Calibri"/>
              </a:rPr>
              <a:t>●  </a:t>
            </a:r>
            <a:r>
              <a:rPr sz="850" b="1">
                <a:solidFill>
                  <a:srgbClr val="0B2E4A"/>
                </a:solidFill>
                <a:latin typeface="Calibri"/>
              </a:rPr>
              <a:t>Other approved adalimumab biosimilars: </a:t>
            </a:r>
            <a:r>
              <a:rPr sz="850" b="0">
                <a:solidFill>
                  <a:srgbClr val="2E2E2E"/>
                </a:solidFill>
                <a:latin typeface="Calibri"/>
              </a:rPr>
              <a:t>9% of 2026 value · 8.3% CAGR serves a niche.</a:t>
            </a:r>
          </a:p>
          <a:p>
            <a:pPr algn="l">
              <a:lnSpc>
                <a:spcPct val="105000"/>
              </a:lnSpc>
              <a:spcBef>
                <a:spcPts val="0"/>
              </a:spcBef>
              <a:spcAft>
                <a:spcPts val="300"/>
              </a:spcAft>
            </a:pPr>
            <a:r>
              <a:rPr sz="765" b="0">
                <a:solidFill>
                  <a:srgbClr val="0E72AE"/>
                </a:solidFill>
                <a:latin typeface="Calibri"/>
              </a:rPr>
              <a:t>●  </a:t>
            </a:r>
            <a:r>
              <a:rPr sz="850" b="1">
                <a:solidFill>
                  <a:srgbClr val="0E72AE"/>
                </a:solidFill>
                <a:latin typeface="Calibri"/>
              </a:rPr>
              <a:t>Simlandi: </a:t>
            </a:r>
            <a:r>
              <a:rPr sz="850" b="0">
                <a:solidFill>
                  <a:srgbClr val="2E2E2E"/>
                </a:solidFill>
                <a:latin typeface="Calibri"/>
              </a:rPr>
              <a:t>7% of 2026 value · 7.7% CAGR serves a niche.</a:t>
            </a:r>
          </a:p>
          <a:p>
            <a:pPr algn="l">
              <a:lnSpc>
                <a:spcPct val="105000"/>
              </a:lnSpc>
              <a:spcBef>
                <a:spcPts val="0"/>
              </a:spcBef>
              <a:spcAft>
                <a:spcPts val="300"/>
              </a:spcAft>
            </a:pPr>
            <a:r>
              <a:rPr sz="765" b="0">
                <a:solidFill>
                  <a:srgbClr val="008189"/>
                </a:solidFill>
                <a:latin typeface="Calibri"/>
              </a:rPr>
              <a:t>●  </a:t>
            </a:r>
            <a:r>
              <a:rPr sz="850" b="1">
                <a:solidFill>
                  <a:srgbClr val="008189"/>
                </a:solidFill>
                <a:latin typeface="Calibri"/>
              </a:rPr>
              <a:t>Hulio: </a:t>
            </a:r>
            <a:r>
              <a:rPr sz="850" b="0">
                <a:solidFill>
                  <a:srgbClr val="2E2E2E"/>
                </a:solidFill>
                <a:latin typeface="Calibri"/>
              </a:rPr>
              <a:t>5% of 2026 value · 6.6% CAGR serves a niche.</a:t>
            </a:r>
          </a:p>
          <a:p>
            <a:pPr algn="l">
              <a:lnSpc>
                <a:spcPct val="105000"/>
              </a:lnSpc>
              <a:spcBef>
                <a:spcPts val="0"/>
              </a:spcBef>
              <a:spcAft>
                <a:spcPts val="300"/>
              </a:spcAft>
            </a:pPr>
            <a:r>
              <a:rPr sz="765" b="0">
                <a:solidFill>
                  <a:srgbClr val="6F3CC2"/>
                </a:solidFill>
                <a:latin typeface="Calibri"/>
              </a:rPr>
              <a:t>●  </a:t>
            </a:r>
            <a:r>
              <a:rPr sz="850" b="1">
                <a:solidFill>
                  <a:srgbClr val="6F3CC2"/>
                </a:solidFill>
                <a:latin typeface="Calibri"/>
              </a:rPr>
              <a:t>Yuflyma: </a:t>
            </a:r>
            <a:r>
              <a:rPr sz="850" b="0">
                <a:solidFill>
                  <a:srgbClr val="2E2E2E"/>
                </a:solidFill>
                <a:latin typeface="Calibri"/>
              </a:rPr>
              <a:t>5% of 2026 value · 8.2% CAGR serves a niche.</a:t>
            </a:r>
          </a:p>
        </p:txBody>
      </p:sp>
      <p:sp>
        <p:nvSpPr>
          <p:cNvPr id="105" name="Rounded Rectangle 104"/>
          <p:cNvSpPr/>
          <p:nvPr/>
        </p:nvSpPr>
        <p:spPr>
          <a:xfrm>
            <a:off x="8267700" y="3829050"/>
            <a:ext cx="3600450" cy="2686050"/>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401050" y="3924300"/>
            <a:ext cx="3333750" cy="190500"/>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107" name="Rectangle 106"/>
          <p:cNvSpPr/>
          <p:nvPr/>
        </p:nvSpPr>
        <p:spPr>
          <a:xfrm>
            <a:off x="8401050" y="4133850"/>
            <a:ext cx="33337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401050" y="4210050"/>
            <a:ext cx="33337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The Product Type x Therapeutic Application split shows how demand is distributed across product type x therapeutic application types and where growth concentrates.</a:t>
            </a:r>
          </a:p>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Shifting preferences and product innovation are reshaping the mix through 2036.</a:t>
            </a:r>
          </a:p>
        </p:txBody>
      </p:sp>
      <p:sp>
        <p:nvSpPr>
          <p:cNvPr id="109" name="Rectangle 108"/>
          <p:cNvSpPr/>
          <p:nvPr/>
        </p:nvSpPr>
        <p:spPr>
          <a:xfrm>
            <a:off x="8401050" y="5810250"/>
            <a:ext cx="3333750" cy="552450"/>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8401050" y="5810250"/>
            <a:ext cx="38100" cy="5524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496300" y="5848350"/>
            <a:ext cx="3219450" cy="476250"/>
          </a:xfrm>
          <a:prstGeom prst="rect">
            <a:avLst/>
          </a:prstGeom>
          <a:noFill/>
        </p:spPr>
        <p:txBody>
          <a:bodyPr wrap="square" lIns="28575" rIns="28575" tIns="9525" bIns="9525" anchor="ctr">
            <a:spAutoFit/>
          </a:bodyPr>
          <a:lstStyle/>
          <a:p>
            <a:pPr algn="l"/>
            <a:r>
              <a:rPr sz="1150" b="1">
                <a:solidFill>
                  <a:srgbClr val="0B2E4A"/>
                </a:solidFill>
                <a:latin typeface="Calibri"/>
              </a:rPr>
              <a:t>The Product Type x Therapeutic Application segment is projected to grow at a CAGR of 8.5% from 2026 to 2036.</a:t>
            </a:r>
          </a:p>
        </p:txBody>
      </p:sp>
      <p:sp>
        <p:nvSpPr>
          <p:cNvPr id="112" name="TextBox 111"/>
          <p:cNvSpPr txBox="1"/>
          <p:nvPr/>
        </p:nvSpPr>
        <p:spPr>
          <a:xfrm>
            <a:off x="323850" y="6591300"/>
            <a:ext cx="3048000" cy="133350"/>
          </a:xfrm>
          <a:prstGeom prst="rect">
            <a:avLst/>
          </a:prstGeom>
          <a:noFill/>
        </p:spPr>
        <p:txBody>
          <a:bodyPr wrap="none">
            <a:spAutoFit/>
          </a:bodyPr>
          <a:lstStyle/>
          <a:p>
            <a:r>
              <a:rPr sz="800" i="1">
                <a:solidFill>
                  <a:srgbClr val="6C7A89"/>
                </a:solidFill>
                <a:latin typeface="Calibri"/>
              </a:rPr>
              <a:t>Source: FMI Analysis, 2026</a:t>
            </a:r>
          </a:p>
        </p:txBody>
      </p:sp>
      <p:sp>
        <p:nvSpPr>
          <p:cNvPr id="113" name="Rectangle 11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15" name="Rounded Rectangle 114">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16" name="Rounded Rectangle 115">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17" name="Rounded Rectangle 116">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Structure &amp; Attractiveness, By Product Type x Therapeutic Application (Value)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6343650"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x Therapeutic Application mix within each country (share of 2036 value) · row label = country size (US$ Mn), largest first</a:t>
            </a:r>
          </a:p>
        </p:txBody>
      </p:sp>
      <p:graphicFrame>
        <p:nvGraphicFramePr>
          <p:cNvPr id="13" name="Chart 12"/>
          <p:cNvGraphicFramePr>
            <a:graphicFrameLocks noGrp="1"/>
          </p:cNvGraphicFramePr>
          <p:nvPr/>
        </p:nvGraphicFramePr>
        <p:xfrm>
          <a:off x="238125" y="1314450"/>
          <a:ext cx="6153150" cy="39243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857250"/>
            <a:ext cx="5400675"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914400"/>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Type x Therapeutic Application (bubble = 2036 size)</a:t>
            </a:r>
          </a:p>
        </p:txBody>
      </p:sp>
      <p:graphicFrame>
        <p:nvGraphicFramePr>
          <p:cNvPr id="16" name="Chart 15"/>
          <p:cNvGraphicFramePr>
            <a:graphicFrameLocks noGrp="1"/>
          </p:cNvGraphicFramePr>
          <p:nvPr/>
        </p:nvGraphicFramePr>
        <p:xfrm>
          <a:off x="6734175" y="1314450"/>
          <a:ext cx="5210175" cy="39243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29250"/>
            <a:ext cx="11906250" cy="1295400"/>
          </a:xfrm>
          <a:prstGeom prst="roundRect">
            <a:avLst>
              <a:gd name="adj" fmla="val 58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Between 2026 and 2036, 'Cyltezo' gains the most share in the North America market (+152 BPS) while 'Yusimry' cedes 177 BPS. Bubbles right of the CAGR-Index line grow faster than the segment average.</a:t>
            </a:r>
          </a:p>
        </p:txBody>
      </p:sp>
      <p:sp>
        <p:nvSpPr>
          <p:cNvPr id="18" name="Rectangle 1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0" name="Rounded Rectangle 19">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Absolute $ Opportunity Analysis, By Product Type x Therapeutic Application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5876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2021–2025 (US$ Mn)</a:t>
            </a:r>
          </a:p>
        </p:txBody>
      </p:sp>
      <p:graphicFrame>
        <p:nvGraphicFramePr>
          <p:cNvPr id="13" name="Chart 12"/>
          <p:cNvGraphicFramePr>
            <a:graphicFrameLocks noGrp="1"/>
          </p:cNvGraphicFramePr>
          <p:nvPr/>
        </p:nvGraphicFramePr>
        <p:xfrm>
          <a:off x="238125" y="1143000"/>
          <a:ext cx="5686425" cy="5524500"/>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857250"/>
            <a:ext cx="5876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2026–2031 (US$ Mn)</a:t>
            </a:r>
          </a:p>
        </p:txBody>
      </p:sp>
      <p:graphicFrame>
        <p:nvGraphicFramePr>
          <p:cNvPr id="16" name="Chart 15"/>
          <p:cNvGraphicFramePr>
            <a:graphicFrameLocks noGrp="1"/>
          </p:cNvGraphicFramePr>
          <p:nvPr/>
        </p:nvGraphicFramePr>
        <p:xfrm>
          <a:off x="6267450" y="1143000"/>
          <a:ext cx="5686425" cy="5524500"/>
        </p:xfrm>
        <a:graphic>
          <a:graphicData uri="http://schemas.openxmlformats.org/drawingml/2006/chart">
            <c:chart xmlns:c="http://schemas.openxmlformats.org/drawingml/2006/chart" r:id="rId4"/>
          </a:graphicData>
        </a:graphic>
      </p:graphicFrame>
      <p:sp>
        <p:nvSpPr>
          <p:cNvPr id="17" name="Rectangle 1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9" name="Rounded Rectangle 18">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0" name="Rounded Rectangle 19">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Absolute $ Opportunity Analysis, By Product Type x Therapeutic Application   ·   (continued 2/2)</a:t>
            </a:r>
          </a:p>
        </p:txBody>
      </p:sp>
      <p:sp>
        <p:nvSpPr>
          <p:cNvPr id="10" name="Rounded Rectangle 9"/>
          <p:cNvSpPr/>
          <p:nvPr/>
        </p:nvSpPr>
        <p:spPr>
          <a:xfrm>
            <a:off x="142875" y="857250"/>
            <a:ext cx="5876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Build-up, 2031–2036 (US$ Mn)</a:t>
            </a:r>
          </a:p>
        </p:txBody>
      </p:sp>
      <p:graphicFrame>
        <p:nvGraphicFramePr>
          <p:cNvPr id="12" name="Chart 11"/>
          <p:cNvGraphicFramePr>
            <a:graphicFrameLocks noGrp="1"/>
          </p:cNvGraphicFramePr>
          <p:nvPr/>
        </p:nvGraphicFramePr>
        <p:xfrm>
          <a:off x="238125" y="1143000"/>
          <a:ext cx="5686425" cy="5524500"/>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857250"/>
            <a:ext cx="5876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Product Type x Therapeutic Application (2026–2036)</a:t>
            </a:r>
          </a:p>
        </p:txBody>
      </p:sp>
      <p:graphicFrame>
        <p:nvGraphicFramePr>
          <p:cNvPr id="15" name="Table 14"/>
          <p:cNvGraphicFramePr>
            <a:graphicFrameLocks noGrp="1"/>
          </p:cNvGraphicFramePr>
          <p:nvPr/>
        </p:nvGraphicFramePr>
        <p:xfrm>
          <a:off x="6267450" y="1143000"/>
          <a:ext cx="5686426" cy="2171700"/>
        </p:xfrm>
        <a:graphic>
          <a:graphicData uri="http://schemas.openxmlformats.org/drawingml/2006/table">
            <a:tbl>
              <a:tblPr>
                <a:tableStyleId>{5C22544A-7EE6-4342-B048-85BDC9FD1C3A}</a:tableStyleId>
              </a:tblPr>
              <a:tblGrid>
                <a:gridCol w="1705928"/>
                <a:gridCol w="1990249"/>
                <a:gridCol w="1990249"/>
              </a:tblGrid>
              <a:tr h="180975">
                <a:tc>
                  <a:txBody>
                    <a:bodyPr wrap="none"/>
                    <a:lstStyle/>
                    <a:p>
                      <a:pPr algn="l"/>
                      <a:r>
                        <a:rPr sz="900" b="1">
                          <a:solidFill>
                            <a:srgbClr val="0B2E4A"/>
                          </a:solidFill>
                          <a:latin typeface="Calibri"/>
                        </a:rPr>
                        <a:t>Product Type x Therapeutic Application</a:t>
                      </a:r>
                    </a:p>
                  </a:txBody>
                  <a:tcPr marL="85725" marR="38100" marT="19050" marB="19050" anchor="ctr">
                    <a:solidFill>
                      <a:srgbClr val="E0E8EF"/>
                    </a:solidFill>
                  </a:tcPr>
                </a:tc>
                <a:tc>
                  <a:txBody>
                    <a:bodyPr wrap="none"/>
                    <a:lstStyle/>
                    <a:p>
                      <a:pPr algn="l"/>
                      <a:r>
                        <a:rPr sz="900" b="1">
                          <a:solidFill>
                            <a:srgbClr val="0B2E4A"/>
                          </a:solidFill>
                          <a:latin typeface="Calibri"/>
                        </a:rPr>
                        <a:t>Absolute $ Opportunity (US$ Mn)</a:t>
                      </a:r>
                    </a:p>
                  </a:txBody>
                  <a:tcPr marL="85725" marR="38100" marT="19050" marB="19050" anchor="ctr">
                    <a:solidFill>
                      <a:srgbClr val="E0E8EF"/>
                    </a:solidFill>
                  </a:tcPr>
                </a:tc>
                <a:tc>
                  <a:txBody>
                    <a:bodyPr wrap="none"/>
                    <a:lstStyle/>
                    <a:p>
                      <a:pPr algn="l"/>
                      <a:r>
                        <a:rPr sz="900" b="1">
                          <a:solidFill>
                            <a:srgbClr val="0B2E4A"/>
                          </a:solidFill>
                          <a:latin typeface="Calibri"/>
                        </a:rPr>
                        <a:t>Share of Increment</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900" b="0">
                          <a:solidFill>
                            <a:srgbClr val="2E2E2E"/>
                          </a:solidFill>
                          <a:latin typeface="Calibri"/>
                        </a:rPr>
                        <a:t>244.5</a:t>
                      </a:r>
                    </a:p>
                  </a:txBody>
                  <a:tcPr marL="85725" marR="38100" marT="19050" marB="19050" anchor="ctr">
                    <a:solidFill>
                      <a:srgbClr val="FFFFFF"/>
                    </a:solidFill>
                  </a:tcPr>
                </a:tc>
                <a:tc>
                  <a:txBody>
                    <a:bodyPr wrap="none"/>
                    <a:lstStyle/>
                    <a:p>
                      <a:pPr algn="l"/>
                      <a:r>
                        <a:rPr sz="900" b="0">
                          <a:solidFill>
                            <a:srgbClr val="2E2E2E"/>
                          </a:solidFill>
                          <a:latin typeface="Calibri"/>
                        </a:rPr>
                        <a:t>9.8%</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Cyltezo</a:t>
                      </a:r>
                    </a:p>
                  </a:txBody>
                  <a:tcPr marL="85725" marR="38100" marT="19050" marB="19050" anchor="ctr">
                    <a:solidFill>
                      <a:srgbClr val="F5F8FA"/>
                    </a:solidFill>
                  </a:tcPr>
                </a:tc>
                <a:tc>
                  <a:txBody>
                    <a:bodyPr wrap="none"/>
                    <a:lstStyle/>
                    <a:p>
                      <a:pPr algn="l"/>
                      <a:r>
                        <a:rPr sz="900" b="0">
                          <a:solidFill>
                            <a:srgbClr val="2E2E2E"/>
                          </a:solidFill>
                          <a:latin typeface="Calibri"/>
                        </a:rPr>
                        <a:t>312.9</a:t>
                      </a:r>
                    </a:p>
                  </a:txBody>
                  <a:tcPr marL="85725" marR="38100" marT="19050" marB="19050" anchor="ctr">
                    <a:solidFill>
                      <a:srgbClr val="F5F8FA"/>
                    </a:solidFill>
                  </a:tcPr>
                </a:tc>
                <a:tc>
                  <a:txBody>
                    <a:bodyPr wrap="none"/>
                    <a:lstStyle/>
                    <a:p>
                      <a:pPr algn="l"/>
                      <a:r>
                        <a:rPr sz="900" b="0">
                          <a:solidFill>
                            <a:srgbClr val="2E2E2E"/>
                          </a:solidFill>
                          <a:latin typeface="Calibri"/>
                        </a:rPr>
                        <a:t>12.5%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900" b="0">
                          <a:solidFill>
                            <a:srgbClr val="2E2E2E"/>
                          </a:solidFill>
                          <a:latin typeface="Calibri"/>
                        </a:rPr>
                        <a:t>295.1</a:t>
                      </a:r>
                    </a:p>
                  </a:txBody>
                  <a:tcPr marL="85725" marR="38100" marT="19050" marB="19050" anchor="ctr">
                    <a:solidFill>
                      <a:srgbClr val="FFFFFF"/>
                    </a:solidFill>
                  </a:tcPr>
                </a:tc>
                <a:tc>
                  <a:txBody>
                    <a:bodyPr wrap="none"/>
                    <a:lstStyle/>
                    <a:p>
                      <a:pPr algn="l"/>
                      <a:r>
                        <a:rPr sz="900" b="0">
                          <a:solidFill>
                            <a:srgbClr val="2E2E2E"/>
                          </a:solidFill>
                          <a:latin typeface="Calibri"/>
                        </a:rPr>
                        <a:t>11.8%</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900" b="0">
                          <a:solidFill>
                            <a:srgbClr val="2E2E2E"/>
                          </a:solidFill>
                          <a:latin typeface="Calibri"/>
                        </a:rPr>
                        <a:t>296.7</a:t>
                      </a:r>
                    </a:p>
                  </a:txBody>
                  <a:tcPr marL="85725" marR="38100" marT="19050" marB="19050" anchor="ctr">
                    <a:solidFill>
                      <a:srgbClr val="F5F8FA"/>
                    </a:solidFill>
                  </a:tcPr>
                </a:tc>
                <a:tc>
                  <a:txBody>
                    <a:bodyPr wrap="none"/>
                    <a:lstStyle/>
                    <a:p>
                      <a:pPr algn="l"/>
                      <a:r>
                        <a:rPr sz="900" b="0">
                          <a:solidFill>
                            <a:srgbClr val="2E2E2E"/>
                          </a:solidFill>
                          <a:latin typeface="Calibri"/>
                        </a:rPr>
                        <a:t>11.9%</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Idacio</a:t>
                      </a:r>
                    </a:p>
                  </a:txBody>
                  <a:tcPr marL="85725" marR="38100" marT="19050" marB="19050" anchor="ctr">
                    <a:solidFill>
                      <a:srgbClr val="FFFFFF"/>
                    </a:solidFill>
                  </a:tcPr>
                </a:tc>
                <a:tc>
                  <a:txBody>
                    <a:bodyPr wrap="none"/>
                    <a:lstStyle/>
                    <a:p>
                      <a:pPr algn="l"/>
                      <a:r>
                        <a:rPr sz="900" b="0">
                          <a:solidFill>
                            <a:srgbClr val="2E2E2E"/>
                          </a:solidFill>
                          <a:latin typeface="Calibri"/>
                        </a:rPr>
                        <a:t>312.8</a:t>
                      </a:r>
                    </a:p>
                  </a:txBody>
                  <a:tcPr marL="85725" marR="38100" marT="19050" marB="19050" anchor="ctr">
                    <a:solidFill>
                      <a:srgbClr val="FFFFFF"/>
                    </a:solidFill>
                  </a:tcPr>
                </a:tc>
                <a:tc>
                  <a:txBody>
                    <a:bodyPr wrap="none"/>
                    <a:lstStyle/>
                    <a:p>
                      <a:pPr algn="l"/>
                      <a:r>
                        <a:rPr sz="900" b="0">
                          <a:solidFill>
                            <a:srgbClr val="2E2E2E"/>
                          </a:solidFill>
                          <a:latin typeface="Calibri"/>
                        </a:rPr>
                        <a:t>12.5%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Hulio</a:t>
                      </a:r>
                    </a:p>
                  </a:txBody>
                  <a:tcPr marL="85725" marR="38100" marT="19050" marB="19050" anchor="ctr">
                    <a:solidFill>
                      <a:srgbClr val="F5F8FA"/>
                    </a:solidFill>
                  </a:tcPr>
                </a:tc>
                <a:tc>
                  <a:txBody>
                    <a:bodyPr wrap="none"/>
                    <a:lstStyle/>
                    <a:p>
                      <a:pPr algn="l"/>
                      <a:r>
                        <a:rPr sz="900" b="0">
                          <a:solidFill>
                            <a:srgbClr val="2E2E2E"/>
                          </a:solidFill>
                          <a:latin typeface="Calibri"/>
                        </a:rPr>
                        <a:t>92.9</a:t>
                      </a:r>
                    </a:p>
                  </a:txBody>
                  <a:tcPr marL="85725" marR="38100" marT="19050" marB="19050" anchor="ctr">
                    <a:solidFill>
                      <a:srgbClr val="F5F8FA"/>
                    </a:solidFill>
                  </a:tcPr>
                </a:tc>
                <a:tc>
                  <a:txBody>
                    <a:bodyPr wrap="none"/>
                    <a:lstStyle/>
                    <a:p>
                      <a:pPr algn="l"/>
                      <a:r>
                        <a:rPr sz="900" b="0">
                          <a:solidFill>
                            <a:srgbClr val="2E2E2E"/>
                          </a:solidFill>
                          <a:latin typeface="Calibri"/>
                        </a:rPr>
                        <a:t>3.7%</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900" b="0">
                          <a:solidFill>
                            <a:srgbClr val="2E2E2E"/>
                          </a:solidFill>
                          <a:latin typeface="Calibri"/>
                        </a:rPr>
                        <a:t>287.8</a:t>
                      </a:r>
                    </a:p>
                  </a:txBody>
                  <a:tcPr marL="85725" marR="38100" marT="19050" marB="19050" anchor="ctr">
                    <a:solidFill>
                      <a:srgbClr val="FFFFFF"/>
                    </a:solidFill>
                  </a:tcPr>
                </a:tc>
                <a:tc>
                  <a:txBody>
                    <a:bodyPr wrap="none"/>
                    <a:lstStyle/>
                    <a:p>
                      <a:pPr algn="l"/>
                      <a:r>
                        <a:rPr sz="900" b="0">
                          <a:solidFill>
                            <a:srgbClr val="2E2E2E"/>
                          </a:solidFill>
                          <a:latin typeface="Calibri"/>
                        </a:rPr>
                        <a:t>11.5%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Yusimry</a:t>
                      </a:r>
                    </a:p>
                  </a:txBody>
                  <a:tcPr marL="85725" marR="38100" marT="19050" marB="19050" anchor="ctr">
                    <a:solidFill>
                      <a:srgbClr val="F5F8FA"/>
                    </a:solidFill>
                  </a:tcPr>
                </a:tc>
                <a:tc>
                  <a:txBody>
                    <a:bodyPr wrap="none"/>
                    <a:lstStyle/>
                    <a:p>
                      <a:pPr algn="l"/>
                      <a:r>
                        <a:rPr sz="900" b="0">
                          <a:solidFill>
                            <a:srgbClr val="2E2E2E"/>
                          </a:solidFill>
                          <a:latin typeface="Calibri"/>
                        </a:rPr>
                        <a:t>159.8</a:t>
                      </a:r>
                    </a:p>
                  </a:txBody>
                  <a:tcPr marL="85725" marR="38100" marT="19050" marB="19050" anchor="ctr">
                    <a:solidFill>
                      <a:srgbClr val="F5F8FA"/>
                    </a:solidFill>
                  </a:tcPr>
                </a:tc>
                <a:tc>
                  <a:txBody>
                    <a:bodyPr wrap="none"/>
                    <a:lstStyle/>
                    <a:p>
                      <a:pPr algn="l"/>
                      <a:r>
                        <a:rPr sz="900" b="0">
                          <a:solidFill>
                            <a:srgbClr val="2E2E2E"/>
                          </a:solidFill>
                          <a:latin typeface="Calibri"/>
                        </a:rPr>
                        <a:t>6.4%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Yuflyma</a:t>
                      </a:r>
                    </a:p>
                  </a:txBody>
                  <a:tcPr marL="85725" marR="38100" marT="19050" marB="19050" anchor="ctr">
                    <a:solidFill>
                      <a:srgbClr val="FFFFFF"/>
                    </a:solidFill>
                  </a:tcPr>
                </a:tc>
                <a:tc>
                  <a:txBody>
                    <a:bodyPr wrap="none"/>
                    <a:lstStyle/>
                    <a:p>
                      <a:pPr algn="l"/>
                      <a:r>
                        <a:rPr sz="900" b="0">
                          <a:solidFill>
                            <a:srgbClr val="2E2E2E"/>
                          </a:solidFill>
                          <a:latin typeface="Calibri"/>
                        </a:rPr>
                        <a:t>113.6</a:t>
                      </a:r>
                    </a:p>
                  </a:txBody>
                  <a:tcPr marL="85725" marR="38100" marT="19050" marB="19050" anchor="ctr">
                    <a:solidFill>
                      <a:srgbClr val="FFFFFF"/>
                    </a:solidFill>
                  </a:tcPr>
                </a:tc>
                <a:tc>
                  <a:txBody>
                    <a:bodyPr wrap="none"/>
                    <a:lstStyle/>
                    <a:p>
                      <a:pPr algn="l"/>
                      <a:r>
                        <a:rPr sz="900" b="0">
                          <a:solidFill>
                            <a:srgbClr val="2E2E2E"/>
                          </a:solidFill>
                          <a:latin typeface="Calibri"/>
                        </a:rPr>
                        <a:t>4.5%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Simlandi</a:t>
                      </a:r>
                    </a:p>
                  </a:txBody>
                  <a:tcPr marL="85725" marR="38100" marT="19050" marB="19050" anchor="ctr">
                    <a:solidFill>
                      <a:srgbClr val="F5F8FA"/>
                    </a:solidFill>
                  </a:tcPr>
                </a:tc>
                <a:tc>
                  <a:txBody>
                    <a:bodyPr wrap="none"/>
                    <a:lstStyle/>
                    <a:p>
                      <a:pPr algn="l"/>
                      <a:r>
                        <a:rPr sz="900" b="0">
                          <a:solidFill>
                            <a:srgbClr val="2E2E2E"/>
                          </a:solidFill>
                          <a:latin typeface="Calibri"/>
                        </a:rPr>
                        <a:t>160.8</a:t>
                      </a:r>
                    </a:p>
                  </a:txBody>
                  <a:tcPr marL="85725" marR="38100" marT="19050" marB="19050" anchor="ctr">
                    <a:solidFill>
                      <a:srgbClr val="F5F8FA"/>
                    </a:solidFill>
                  </a:tcPr>
                </a:tc>
                <a:tc>
                  <a:txBody>
                    <a:bodyPr wrap="none"/>
                    <a:lstStyle/>
                    <a:p>
                      <a:pPr algn="l"/>
                      <a:r>
                        <a:rPr sz="900" b="0">
                          <a:solidFill>
                            <a:srgbClr val="2E2E2E"/>
                          </a:solidFill>
                          <a:latin typeface="Calibri"/>
                        </a:rPr>
                        <a:t>6.4%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900" b="0">
                          <a:solidFill>
                            <a:srgbClr val="2E2E2E"/>
                          </a:solidFill>
                          <a:latin typeface="Calibri"/>
                        </a:rPr>
                        <a:t>223.5</a:t>
                      </a:r>
                    </a:p>
                  </a:txBody>
                  <a:tcPr marL="85725" marR="38100" marT="19050" marB="19050" anchor="ctr">
                    <a:solidFill>
                      <a:srgbClr val="FFFFFF"/>
                    </a:solidFill>
                  </a:tcPr>
                </a:tc>
                <a:tc>
                  <a:txBody>
                    <a:bodyPr wrap="none"/>
                    <a:lstStyle/>
                    <a:p>
                      <a:pPr algn="l"/>
                      <a:r>
                        <a:rPr sz="900" b="0">
                          <a:solidFill>
                            <a:srgbClr val="2E2E2E"/>
                          </a:solidFill>
                          <a:latin typeface="Calibri"/>
                        </a:rPr>
                        <a:t>8.9%</a:t>
                      </a:r>
                    </a:p>
                  </a:txBody>
                  <a:tcPr marL="85725" marR="38100" marT="19050" marB="19050" anchor="ctr">
                    <a:solidFill>
                      <a:srgbClr val="FFFFFF"/>
                    </a:solidFill>
                  </a:tcPr>
                </a:tc>
              </a:tr>
            </a:tbl>
          </a:graphicData>
        </a:graphic>
      </p:graphicFrame>
      <p:sp>
        <p:nvSpPr>
          <p:cNvPr id="16" name="TextBox 15"/>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7" name="Rectangle 1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9" name="Rounded Rectangle 18">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0" name="Rounded Rectangle 19">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Volume Analysis, By Product Type x Therapeutic Application (Mn Doses)</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3867150"/>
          </a:xfrm>
          <a:prstGeom prst="roundRect">
            <a:avLst>
              <a:gd name="adj" fmla="val 1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Product Type x Therapeutic Application (Mn Doses)</a:t>
            </a:r>
          </a:p>
        </p:txBody>
      </p:sp>
      <p:graphicFrame>
        <p:nvGraphicFramePr>
          <p:cNvPr id="13" name="Table 12"/>
          <p:cNvGraphicFramePr>
            <a:graphicFrameLocks noGrp="1"/>
          </p:cNvGraphicFramePr>
          <p:nvPr/>
        </p:nvGraphicFramePr>
        <p:xfrm>
          <a:off x="238125" y="1143000"/>
          <a:ext cx="11715752" cy="2352675"/>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Product Type x Therapeutic Application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800" b="0">
                          <a:solidFill>
                            <a:srgbClr val="2E2E2E"/>
                          </a:solidFill>
                          <a:latin typeface="Calibri"/>
                        </a:rPr>
                        <a:t>0.11</a:t>
                      </a:r>
                    </a:p>
                  </a:txBody>
                  <a:tcPr marL="85725" marR="38100" marT="19050" marB="19050" anchor="ctr">
                    <a:solidFill>
                      <a:srgbClr val="FFFFFF"/>
                    </a:solidFill>
                  </a:tcPr>
                </a:tc>
                <a:tc>
                  <a:txBody>
                    <a:bodyPr wrap="none"/>
                    <a:lstStyle/>
                    <a:p>
                      <a:pPr algn="l"/>
                      <a:r>
                        <a:rPr sz="800" b="0">
                          <a:solidFill>
                            <a:srgbClr val="2E2E2E"/>
                          </a:solidFill>
                          <a:latin typeface="Calibri"/>
                        </a:rPr>
                        <a:t>0.14</a:t>
                      </a:r>
                    </a:p>
                  </a:txBody>
                  <a:tcPr marL="85725" marR="38100" marT="19050" marB="19050" anchor="ctr">
                    <a:solidFill>
                      <a:srgbClr val="FFFFFF"/>
                    </a:solidFill>
                  </a:tcPr>
                </a:tc>
                <a:tc>
                  <a:txBody>
                    <a:bodyPr wrap="none"/>
                    <a:lstStyle/>
                    <a:p>
                      <a:pPr algn="l"/>
                      <a:r>
                        <a:rPr sz="800" b="0">
                          <a:solidFill>
                            <a:srgbClr val="2E2E2E"/>
                          </a:solidFill>
                          <a:latin typeface="Calibri"/>
                        </a:rPr>
                        <a:t>0.17</a:t>
                      </a:r>
                    </a:p>
                  </a:txBody>
                  <a:tcPr marL="85725" marR="38100" marT="19050" marB="19050" anchor="ctr">
                    <a:solidFill>
                      <a:srgbClr val="FFFFFF"/>
                    </a:solidFill>
                  </a:tcPr>
                </a:tc>
                <a:tc>
                  <a:txBody>
                    <a:bodyPr wrap="none"/>
                    <a:lstStyle/>
                    <a:p>
                      <a:pPr algn="l"/>
                      <a:r>
                        <a:rPr sz="800" b="0">
                          <a:solidFill>
                            <a:srgbClr val="2E2E2E"/>
                          </a:solidFill>
                          <a:latin typeface="Calibri"/>
                        </a:rPr>
                        <a:t>0.22</a:t>
                      </a:r>
                    </a:p>
                  </a:txBody>
                  <a:tcPr marL="85725" marR="38100" marT="19050" marB="19050" anchor="ctr">
                    <a:solidFill>
                      <a:srgbClr val="FFFFFF"/>
                    </a:solidFill>
                  </a:tcPr>
                </a:tc>
                <a:tc>
                  <a:txBody>
                    <a:bodyPr wrap="none"/>
                    <a:lstStyle/>
                    <a:p>
                      <a:pPr algn="l"/>
                      <a:r>
                        <a:rPr sz="800" b="0">
                          <a:solidFill>
                            <a:srgbClr val="2E2E2E"/>
                          </a:solidFill>
                          <a:latin typeface="Calibri"/>
                        </a:rPr>
                        <a:t>0.29</a:t>
                      </a:r>
                    </a:p>
                  </a:txBody>
                  <a:tcPr marL="85725" marR="38100" marT="19050" marB="19050" anchor="ctr">
                    <a:solidFill>
                      <a:srgbClr val="FFFFFF"/>
                    </a:solidFill>
                  </a:tcPr>
                </a:tc>
                <a:tc>
                  <a:txBody>
                    <a:bodyPr wrap="none"/>
                    <a:lstStyle/>
                    <a:p>
                      <a:pPr algn="l"/>
                      <a:r>
                        <a:rPr sz="800" b="0">
                          <a:solidFill>
                            <a:srgbClr val="2E2E2E"/>
                          </a:solidFill>
                          <a:latin typeface="Calibri"/>
                        </a:rPr>
                        <a:t>0.35</a:t>
                      </a:r>
                    </a:p>
                  </a:txBody>
                  <a:tcPr marL="85725" marR="38100" marT="19050" marB="19050" anchor="ctr">
                    <a:solidFill>
                      <a:srgbClr val="FFFFFF"/>
                    </a:solidFill>
                  </a:tcPr>
                </a:tc>
                <a:tc>
                  <a:txBody>
                    <a:bodyPr wrap="none"/>
                    <a:lstStyle/>
                    <a:p>
                      <a:pPr algn="l"/>
                      <a:r>
                        <a:rPr sz="800" b="0">
                          <a:solidFill>
                            <a:srgbClr val="2E2E2E"/>
                          </a:solidFill>
                          <a:latin typeface="Calibri"/>
                        </a:rPr>
                        <a:t>0.43</a:t>
                      </a:r>
                    </a:p>
                  </a:txBody>
                  <a:tcPr marL="85725" marR="38100" marT="19050" marB="19050" anchor="ctr">
                    <a:solidFill>
                      <a:srgbClr val="FFFFFF"/>
                    </a:solidFill>
                  </a:tcPr>
                </a:tc>
                <a:tc>
                  <a:txBody>
                    <a:bodyPr wrap="none"/>
                    <a:lstStyle/>
                    <a:p>
                      <a:pPr algn="l"/>
                      <a:r>
                        <a:rPr sz="800" b="0">
                          <a:solidFill>
                            <a:srgbClr val="2E2E2E"/>
                          </a:solidFill>
                          <a:latin typeface="Calibri"/>
                        </a:rPr>
                        <a:t>0.51</a:t>
                      </a:r>
                    </a:p>
                  </a:txBody>
                  <a:tcPr marL="85725" marR="38100" marT="19050" marB="19050" anchor="ctr">
                    <a:solidFill>
                      <a:srgbClr val="FFFFFF"/>
                    </a:solidFill>
                  </a:tcPr>
                </a:tc>
                <a:tc>
                  <a:txBody>
                    <a:bodyPr wrap="none"/>
                    <a:lstStyle/>
                    <a:p>
                      <a:pPr algn="l"/>
                      <a:r>
                        <a:rPr sz="800" b="0">
                          <a:solidFill>
                            <a:srgbClr val="2E2E2E"/>
                          </a:solidFill>
                          <a:latin typeface="Calibri"/>
                        </a:rPr>
                        <a:t>0.59</a:t>
                      </a:r>
                    </a:p>
                  </a:txBody>
                  <a:tcPr marL="85725" marR="38100" marT="19050" marB="19050" anchor="ctr">
                    <a:solidFill>
                      <a:srgbClr val="FFFFFF"/>
                    </a:solidFill>
                  </a:tcPr>
                </a:tc>
                <a:tc>
                  <a:txBody>
                    <a:bodyPr wrap="none"/>
                    <a:lstStyle/>
                    <a:p>
                      <a:pPr algn="l"/>
                      <a:r>
                        <a:rPr sz="800" b="0">
                          <a:solidFill>
                            <a:srgbClr val="2E2E2E"/>
                          </a:solidFill>
                          <a:latin typeface="Calibri"/>
                        </a:rPr>
                        <a:t>0.68</a:t>
                      </a:r>
                    </a:p>
                  </a:txBody>
                  <a:tcPr marL="85725" marR="38100" marT="19050" marB="19050" anchor="ctr">
                    <a:solidFill>
                      <a:srgbClr val="FFFFFF"/>
                    </a:solidFill>
                  </a:tcPr>
                </a:tc>
                <a:tc>
                  <a:txBody>
                    <a:bodyPr wrap="none"/>
                    <a:lstStyle/>
                    <a:p>
                      <a:pPr algn="l"/>
                      <a:r>
                        <a:rPr sz="800" b="0">
                          <a:solidFill>
                            <a:srgbClr val="2E2E2E"/>
                          </a:solidFill>
                          <a:latin typeface="Calibri"/>
                        </a:rPr>
                        <a:t>0.78</a:t>
                      </a:r>
                    </a:p>
                  </a:txBody>
                  <a:tcPr marL="85725" marR="38100" marT="19050" marB="19050" anchor="ctr">
                    <a:solidFill>
                      <a:srgbClr val="FFFFFF"/>
                    </a:solidFill>
                  </a:tcPr>
                </a:tc>
                <a:tc>
                  <a:txBody>
                    <a:bodyPr wrap="none"/>
                    <a:lstStyle/>
                    <a:p>
                      <a:pPr algn="l"/>
                      <a:r>
                        <a:rPr sz="800" b="0">
                          <a:solidFill>
                            <a:srgbClr val="2E2E2E"/>
                          </a:solidFill>
                          <a:latin typeface="Calibri"/>
                        </a:rPr>
                        <a:t>0.88</a:t>
                      </a:r>
                    </a:p>
                  </a:txBody>
                  <a:tcPr marL="85725" marR="38100" marT="19050" marB="19050" anchor="ctr">
                    <a:solidFill>
                      <a:srgbClr val="FFFFFF"/>
                    </a:solidFill>
                  </a:tcPr>
                </a:tc>
                <a:tc>
                  <a:txBody>
                    <a:bodyPr wrap="none"/>
                    <a:lstStyle/>
                    <a:p>
                      <a:pPr algn="l"/>
                      <a:r>
                        <a:rPr sz="800" b="0">
                          <a:solidFill>
                            <a:srgbClr val="2E2E2E"/>
                          </a:solidFill>
                          <a:latin typeface="Calibri"/>
                        </a:rPr>
                        <a:t>0.99</a:t>
                      </a:r>
                    </a:p>
                  </a:txBody>
                  <a:tcPr marL="85725" marR="38100" marT="19050" marB="19050" anchor="ctr">
                    <a:solidFill>
                      <a:srgbClr val="FFFFFF"/>
                    </a:solidFill>
                  </a:tcPr>
                </a:tc>
                <a:tc>
                  <a:txBody>
                    <a:bodyPr wrap="none"/>
                    <a:lstStyle/>
                    <a:p>
                      <a:pPr algn="l"/>
                      <a:r>
                        <a:rPr sz="800" b="0">
                          <a:solidFill>
                            <a:srgbClr val="2E2E2E"/>
                          </a:solidFill>
                          <a:latin typeface="Calibri"/>
                        </a:rPr>
                        <a:t>1.11</a:t>
                      </a:r>
                    </a:p>
                  </a:txBody>
                  <a:tcPr marL="85725" marR="38100" marT="19050" marB="19050" anchor="ctr">
                    <a:solidFill>
                      <a:srgbClr val="FFFFFF"/>
                    </a:solidFill>
                  </a:tcPr>
                </a:tc>
                <a:tc>
                  <a:txBody>
                    <a:bodyPr wrap="none"/>
                    <a:lstStyle/>
                    <a:p>
                      <a:pPr algn="l"/>
                      <a:r>
                        <a:rPr sz="800" b="0">
                          <a:solidFill>
                            <a:srgbClr val="2E2E2E"/>
                          </a:solidFill>
                          <a:latin typeface="Calibri"/>
                        </a:rPr>
                        <a:t>1.23</a:t>
                      </a:r>
                    </a:p>
                  </a:txBody>
                  <a:tcPr marL="85725" marR="38100" marT="19050" marB="19050" anchor="ctr">
                    <a:solidFill>
                      <a:srgbClr val="FFFFFF"/>
                    </a:solidFill>
                  </a:tcPr>
                </a:tc>
                <a:tc>
                  <a:txBody>
                    <a:bodyPr wrap="none"/>
                    <a:lstStyle/>
                    <a:p>
                      <a:pPr algn="l"/>
                      <a:r>
                        <a:rPr sz="800" b="0">
                          <a:solidFill>
                            <a:srgbClr val="2E2E2E"/>
                          </a:solidFill>
                          <a:latin typeface="Calibri"/>
                        </a:rPr>
                        <a:t>1.37</a:t>
                      </a:r>
                    </a:p>
                  </a:txBody>
                  <a:tcPr marL="85725" marR="38100" marT="19050" marB="19050" anchor="ctr">
                    <a:solidFill>
                      <a:srgbClr val="FFFFFF"/>
                    </a:solidFill>
                  </a:tcPr>
                </a:tc>
                <a:tc>
                  <a:txBody>
                    <a:bodyPr wrap="none"/>
                    <a:lstStyle/>
                    <a:p>
                      <a:pPr algn="l"/>
                      <a:r>
                        <a:rPr sz="800" b="0">
                          <a:solidFill>
                            <a:srgbClr val="2E2E2E"/>
                          </a:solidFill>
                          <a:latin typeface="Calibri"/>
                        </a:rPr>
                        <a:t>14.5%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Cyltezo</a:t>
                      </a:r>
                    </a:p>
                  </a:txBody>
                  <a:tcPr marL="85725" marR="38100" marT="19050" marB="19050" anchor="ctr">
                    <a:solidFill>
                      <a:srgbClr val="F5F8FA"/>
                    </a:solidFill>
                  </a:tcPr>
                </a:tc>
                <a:tc>
                  <a:txBody>
                    <a:bodyPr wrap="none"/>
                    <a:lstStyle/>
                    <a:p>
                      <a:pPr algn="l"/>
                      <a:r>
                        <a:rPr sz="800" b="0">
                          <a:solidFill>
                            <a:srgbClr val="2E2E2E"/>
                          </a:solidFill>
                          <a:latin typeface="Calibri"/>
                        </a:rPr>
                        <a:t>0.09</a:t>
                      </a:r>
                    </a:p>
                  </a:txBody>
                  <a:tcPr marL="85725" marR="38100" marT="19050" marB="19050" anchor="ctr">
                    <a:solidFill>
                      <a:srgbClr val="F5F8FA"/>
                    </a:solidFill>
                  </a:tcPr>
                </a:tc>
                <a:tc>
                  <a:txBody>
                    <a:bodyPr wrap="none"/>
                    <a:lstStyle/>
                    <a:p>
                      <a:pPr algn="l"/>
                      <a:r>
                        <a:rPr sz="800" b="0">
                          <a:solidFill>
                            <a:srgbClr val="2E2E2E"/>
                          </a:solidFill>
                          <a:latin typeface="Calibri"/>
                        </a:rPr>
                        <a:t>0.11</a:t>
                      </a:r>
                    </a:p>
                  </a:txBody>
                  <a:tcPr marL="85725" marR="38100" marT="19050" marB="19050" anchor="ctr">
                    <a:solidFill>
                      <a:srgbClr val="F5F8FA"/>
                    </a:solidFill>
                  </a:tcPr>
                </a:tc>
                <a:tc>
                  <a:txBody>
                    <a:bodyPr wrap="none"/>
                    <a:lstStyle/>
                    <a:p>
                      <a:pPr algn="l"/>
                      <a:r>
                        <a:rPr sz="800" b="0">
                          <a:solidFill>
                            <a:srgbClr val="2E2E2E"/>
                          </a:solidFill>
                          <a:latin typeface="Calibri"/>
                        </a:rPr>
                        <a:t>0.14</a:t>
                      </a:r>
                    </a:p>
                  </a:txBody>
                  <a:tcPr marL="85725" marR="38100" marT="19050" marB="19050" anchor="ctr">
                    <a:solidFill>
                      <a:srgbClr val="F5F8FA"/>
                    </a:solidFill>
                  </a:tcPr>
                </a:tc>
                <a:tc>
                  <a:txBody>
                    <a:bodyPr wrap="none"/>
                    <a:lstStyle/>
                    <a:p>
                      <a:pPr algn="l"/>
                      <a:r>
                        <a:rPr sz="800" b="0">
                          <a:solidFill>
                            <a:srgbClr val="2E2E2E"/>
                          </a:solidFill>
                          <a:latin typeface="Calibri"/>
                        </a:rPr>
                        <a:t>0.18</a:t>
                      </a:r>
                    </a:p>
                  </a:txBody>
                  <a:tcPr marL="85725" marR="38100" marT="19050" marB="19050" anchor="ctr">
                    <a:solidFill>
                      <a:srgbClr val="F5F8FA"/>
                    </a:solidFill>
                  </a:tcPr>
                </a:tc>
                <a:tc>
                  <a:txBody>
                    <a:bodyPr wrap="none"/>
                    <a:lstStyle/>
                    <a:p>
                      <a:pPr algn="l"/>
                      <a:r>
                        <a:rPr sz="800" b="0">
                          <a:solidFill>
                            <a:srgbClr val="2E2E2E"/>
                          </a:solidFill>
                          <a:latin typeface="Calibri"/>
                        </a:rPr>
                        <a:t>0.23</a:t>
                      </a:r>
                    </a:p>
                  </a:txBody>
                  <a:tcPr marL="85725" marR="38100" marT="19050" marB="19050" anchor="ctr">
                    <a:solidFill>
                      <a:srgbClr val="F5F8FA"/>
                    </a:solidFill>
                  </a:tcPr>
                </a:tc>
                <a:tc>
                  <a:txBody>
                    <a:bodyPr wrap="none"/>
                    <a:lstStyle/>
                    <a:p>
                      <a:pPr algn="l"/>
                      <a:r>
                        <a:rPr sz="800" b="0">
                          <a:solidFill>
                            <a:srgbClr val="2E2E2E"/>
                          </a:solidFill>
                          <a:latin typeface="Calibri"/>
                        </a:rPr>
                        <a:t>0.29</a:t>
                      </a:r>
                    </a:p>
                  </a:txBody>
                  <a:tcPr marL="85725" marR="38100" marT="19050" marB="19050" anchor="ctr">
                    <a:solidFill>
                      <a:srgbClr val="F5F8FA"/>
                    </a:solidFill>
                  </a:tcPr>
                </a:tc>
                <a:tc>
                  <a:txBody>
                    <a:bodyPr wrap="none"/>
                    <a:lstStyle/>
                    <a:p>
                      <a:pPr algn="l"/>
                      <a:r>
                        <a:rPr sz="800" b="0">
                          <a:solidFill>
                            <a:srgbClr val="2E2E2E"/>
                          </a:solidFill>
                          <a:latin typeface="Calibri"/>
                        </a:rPr>
                        <a:t>0.35</a:t>
                      </a:r>
                    </a:p>
                  </a:txBody>
                  <a:tcPr marL="85725" marR="38100" marT="19050" marB="19050" anchor="ctr">
                    <a:solidFill>
                      <a:srgbClr val="F5F8FA"/>
                    </a:solidFill>
                  </a:tcPr>
                </a:tc>
                <a:tc>
                  <a:txBody>
                    <a:bodyPr wrap="none"/>
                    <a:lstStyle/>
                    <a:p>
                      <a:pPr algn="l"/>
                      <a:r>
                        <a:rPr sz="800" b="0">
                          <a:solidFill>
                            <a:srgbClr val="2E2E2E"/>
                          </a:solidFill>
                          <a:latin typeface="Calibri"/>
                        </a:rPr>
                        <a:t>0.41</a:t>
                      </a:r>
                    </a:p>
                  </a:txBody>
                  <a:tcPr marL="85725" marR="38100" marT="19050" marB="19050" anchor="ctr">
                    <a:solidFill>
                      <a:srgbClr val="F5F8FA"/>
                    </a:solidFill>
                  </a:tcPr>
                </a:tc>
                <a:tc>
                  <a:txBody>
                    <a:bodyPr wrap="none"/>
                    <a:lstStyle/>
                    <a:p>
                      <a:pPr algn="l"/>
                      <a:r>
                        <a:rPr sz="800" b="0">
                          <a:solidFill>
                            <a:srgbClr val="2E2E2E"/>
                          </a:solidFill>
                          <a:latin typeface="Calibri"/>
                        </a:rPr>
                        <a:t>0.48</a:t>
                      </a:r>
                    </a:p>
                  </a:txBody>
                  <a:tcPr marL="85725" marR="38100" marT="19050" marB="19050" anchor="ctr">
                    <a:solidFill>
                      <a:srgbClr val="F5F8FA"/>
                    </a:solidFill>
                  </a:tcPr>
                </a:tc>
                <a:tc>
                  <a:txBody>
                    <a:bodyPr wrap="none"/>
                    <a:lstStyle/>
                    <a:p>
                      <a:pPr algn="l"/>
                      <a:r>
                        <a:rPr sz="800" b="0">
                          <a:solidFill>
                            <a:srgbClr val="2E2E2E"/>
                          </a:solidFill>
                          <a:latin typeface="Calibri"/>
                        </a:rPr>
                        <a:t>0.56</a:t>
                      </a:r>
                    </a:p>
                  </a:txBody>
                  <a:tcPr marL="85725" marR="38100" marT="19050" marB="19050" anchor="ctr">
                    <a:solidFill>
                      <a:srgbClr val="F5F8FA"/>
                    </a:solidFill>
                  </a:tcPr>
                </a:tc>
                <a:tc>
                  <a:txBody>
                    <a:bodyPr wrap="none"/>
                    <a:lstStyle/>
                    <a:p>
                      <a:pPr algn="l"/>
                      <a:r>
                        <a:rPr sz="800" b="0">
                          <a:solidFill>
                            <a:srgbClr val="2E2E2E"/>
                          </a:solidFill>
                          <a:latin typeface="Calibri"/>
                        </a:rPr>
                        <a:t>0.64</a:t>
                      </a:r>
                    </a:p>
                  </a:txBody>
                  <a:tcPr marL="85725" marR="38100" marT="19050" marB="19050" anchor="ctr">
                    <a:solidFill>
                      <a:srgbClr val="F5F8FA"/>
                    </a:solidFill>
                  </a:tcPr>
                </a:tc>
                <a:tc>
                  <a:txBody>
                    <a:bodyPr wrap="none"/>
                    <a:lstStyle/>
                    <a:p>
                      <a:pPr algn="l"/>
                      <a:r>
                        <a:rPr sz="800" b="0">
                          <a:solidFill>
                            <a:srgbClr val="2E2E2E"/>
                          </a:solidFill>
                          <a:latin typeface="Calibri"/>
                        </a:rPr>
                        <a:t>0.73</a:t>
                      </a:r>
                    </a:p>
                  </a:txBody>
                  <a:tcPr marL="85725" marR="38100" marT="19050" marB="19050" anchor="ctr">
                    <a:solidFill>
                      <a:srgbClr val="F5F8FA"/>
                    </a:solidFill>
                  </a:tcPr>
                </a:tc>
                <a:tc>
                  <a:txBody>
                    <a:bodyPr wrap="none"/>
                    <a:lstStyle/>
                    <a:p>
                      <a:pPr algn="l"/>
                      <a:r>
                        <a:rPr sz="800" b="0">
                          <a:solidFill>
                            <a:srgbClr val="2E2E2E"/>
                          </a:solidFill>
                          <a:latin typeface="Calibri"/>
                        </a:rPr>
                        <a:t>0.82</a:t>
                      </a:r>
                    </a:p>
                  </a:txBody>
                  <a:tcPr marL="85725" marR="38100" marT="19050" marB="19050" anchor="ctr">
                    <a:solidFill>
                      <a:srgbClr val="F5F8FA"/>
                    </a:solidFill>
                  </a:tcPr>
                </a:tc>
                <a:tc>
                  <a:txBody>
                    <a:bodyPr wrap="none"/>
                    <a:lstStyle/>
                    <a:p>
                      <a:pPr algn="l"/>
                      <a:r>
                        <a:rPr sz="800" b="0">
                          <a:solidFill>
                            <a:srgbClr val="2E2E2E"/>
                          </a:solidFill>
                          <a:latin typeface="Calibri"/>
                        </a:rPr>
                        <a:t>0.92</a:t>
                      </a:r>
                    </a:p>
                  </a:txBody>
                  <a:tcPr marL="85725" marR="38100" marT="19050" marB="19050" anchor="ctr">
                    <a:solidFill>
                      <a:srgbClr val="F5F8FA"/>
                    </a:solidFill>
                  </a:tcPr>
                </a:tc>
                <a:tc>
                  <a:txBody>
                    <a:bodyPr wrap="none"/>
                    <a:lstStyle/>
                    <a:p>
                      <a:pPr algn="l"/>
                      <a:r>
                        <a:rPr sz="800" b="0">
                          <a:solidFill>
                            <a:srgbClr val="2E2E2E"/>
                          </a:solidFill>
                          <a:latin typeface="Calibri"/>
                        </a:rPr>
                        <a:t>1.02</a:t>
                      </a:r>
                    </a:p>
                  </a:txBody>
                  <a:tcPr marL="85725" marR="38100" marT="19050" marB="19050" anchor="ctr">
                    <a:solidFill>
                      <a:srgbClr val="F5F8FA"/>
                    </a:solidFill>
                  </a:tcPr>
                </a:tc>
                <a:tc>
                  <a:txBody>
                    <a:bodyPr wrap="none"/>
                    <a:lstStyle/>
                    <a:p>
                      <a:pPr algn="l"/>
                      <a:r>
                        <a:rPr sz="800" b="0">
                          <a:solidFill>
                            <a:srgbClr val="2E2E2E"/>
                          </a:solidFill>
                          <a:latin typeface="Calibri"/>
                        </a:rPr>
                        <a:t>1.13</a:t>
                      </a:r>
                    </a:p>
                  </a:txBody>
                  <a:tcPr marL="85725" marR="38100" marT="19050" marB="19050" anchor="ctr">
                    <a:solidFill>
                      <a:srgbClr val="F5F8FA"/>
                    </a:solidFill>
                  </a:tcPr>
                </a:tc>
                <a:tc>
                  <a:txBody>
                    <a:bodyPr wrap="none"/>
                    <a:lstStyle/>
                    <a:p>
                      <a:pPr algn="l"/>
                      <a:r>
                        <a:rPr sz="800" b="0">
                          <a:solidFill>
                            <a:srgbClr val="2E2E2E"/>
                          </a:solidFill>
                          <a:latin typeface="Calibri"/>
                        </a:rPr>
                        <a:t>14.8%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800" b="0">
                          <a:solidFill>
                            <a:srgbClr val="2E2E2E"/>
                          </a:solidFill>
                          <a:latin typeface="Calibri"/>
                        </a:rPr>
                        <a:t>0.15</a:t>
                      </a:r>
                    </a:p>
                  </a:txBody>
                  <a:tcPr marL="85725" marR="38100" marT="19050" marB="19050" anchor="ctr">
                    <a:solidFill>
                      <a:srgbClr val="FFFFFF"/>
                    </a:solidFill>
                  </a:tcPr>
                </a:tc>
                <a:tc>
                  <a:txBody>
                    <a:bodyPr wrap="none"/>
                    <a:lstStyle/>
                    <a:p>
                      <a:pPr algn="l"/>
                      <a:r>
                        <a:rPr sz="800" b="0">
                          <a:solidFill>
                            <a:srgbClr val="2E2E2E"/>
                          </a:solidFill>
                          <a:latin typeface="Calibri"/>
                        </a:rPr>
                        <a:t>0.17</a:t>
                      </a:r>
                    </a:p>
                  </a:txBody>
                  <a:tcPr marL="85725" marR="38100" marT="19050" marB="19050" anchor="ctr">
                    <a:solidFill>
                      <a:srgbClr val="FFFFFF"/>
                    </a:solidFill>
                  </a:tcPr>
                </a:tc>
                <a:tc>
                  <a:txBody>
                    <a:bodyPr wrap="none"/>
                    <a:lstStyle/>
                    <a:p>
                      <a:pPr algn="l"/>
                      <a:r>
                        <a:rPr sz="800" b="0">
                          <a:solidFill>
                            <a:srgbClr val="2E2E2E"/>
                          </a:solidFill>
                          <a:latin typeface="Calibri"/>
                        </a:rPr>
                        <a:t>0.22</a:t>
                      </a:r>
                    </a:p>
                  </a:txBody>
                  <a:tcPr marL="85725" marR="38100" marT="19050" marB="19050" anchor="ctr">
                    <a:solidFill>
                      <a:srgbClr val="FFFFFF"/>
                    </a:solidFill>
                  </a:tcPr>
                </a:tc>
                <a:tc>
                  <a:txBody>
                    <a:bodyPr wrap="none"/>
                    <a:lstStyle/>
                    <a:p>
                      <a:pPr algn="l"/>
                      <a:r>
                        <a:rPr sz="800" b="0">
                          <a:solidFill>
                            <a:srgbClr val="2E2E2E"/>
                          </a:solidFill>
                          <a:latin typeface="Calibri"/>
                        </a:rPr>
                        <a:t>0.29</a:t>
                      </a:r>
                    </a:p>
                  </a:txBody>
                  <a:tcPr marL="85725" marR="38100" marT="19050" marB="19050" anchor="ctr">
                    <a:solidFill>
                      <a:srgbClr val="FFFFFF"/>
                    </a:solidFill>
                  </a:tcPr>
                </a:tc>
                <a:tc>
                  <a:txBody>
                    <a:bodyPr wrap="none"/>
                    <a:lstStyle/>
                    <a:p>
                      <a:pPr algn="l"/>
                      <a:r>
                        <a:rPr sz="800" b="0">
                          <a:solidFill>
                            <a:srgbClr val="2E2E2E"/>
                          </a:solidFill>
                          <a:latin typeface="Calibri"/>
                        </a:rPr>
                        <a:t>0.36</a:t>
                      </a:r>
                    </a:p>
                  </a:txBody>
                  <a:tcPr marL="85725" marR="38100" marT="19050" marB="19050" anchor="ctr">
                    <a:solidFill>
                      <a:srgbClr val="FFFFFF"/>
                    </a:solidFill>
                  </a:tcPr>
                </a:tc>
                <a:tc>
                  <a:txBody>
                    <a:bodyPr wrap="none"/>
                    <a:lstStyle/>
                    <a:p>
                      <a:pPr algn="l"/>
                      <a:r>
                        <a:rPr sz="800" b="0">
                          <a:solidFill>
                            <a:srgbClr val="2E2E2E"/>
                          </a:solidFill>
                          <a:latin typeface="Calibri"/>
                        </a:rPr>
                        <a:t>0.45</a:t>
                      </a:r>
                    </a:p>
                  </a:txBody>
                  <a:tcPr marL="85725" marR="38100" marT="19050" marB="19050" anchor="ctr">
                    <a:solidFill>
                      <a:srgbClr val="FFFFFF"/>
                    </a:solidFill>
                  </a:tcPr>
                </a:tc>
                <a:tc>
                  <a:txBody>
                    <a:bodyPr wrap="none"/>
                    <a:lstStyle/>
                    <a:p>
                      <a:pPr algn="l"/>
                      <a:r>
                        <a:rPr sz="800" b="0">
                          <a:solidFill>
                            <a:srgbClr val="2E2E2E"/>
                          </a:solidFill>
                          <a:latin typeface="Calibri"/>
                        </a:rPr>
                        <a:t>0.55</a:t>
                      </a:r>
                    </a:p>
                  </a:txBody>
                  <a:tcPr marL="85725" marR="38100" marT="19050" marB="19050" anchor="ctr">
                    <a:solidFill>
                      <a:srgbClr val="FFFFFF"/>
                    </a:solidFill>
                  </a:tcPr>
                </a:tc>
                <a:tc>
                  <a:txBody>
                    <a:bodyPr wrap="none"/>
                    <a:lstStyle/>
                    <a:p>
                      <a:pPr algn="l"/>
                      <a:r>
                        <a:rPr sz="800" b="0">
                          <a:solidFill>
                            <a:srgbClr val="2E2E2E"/>
                          </a:solidFill>
                          <a:latin typeface="Calibri"/>
                        </a:rPr>
                        <a:t>0.65</a:t>
                      </a:r>
                    </a:p>
                  </a:txBody>
                  <a:tcPr marL="85725" marR="38100" marT="19050" marB="19050" anchor="ctr">
                    <a:solidFill>
                      <a:srgbClr val="FFFFFF"/>
                    </a:solidFill>
                  </a:tcPr>
                </a:tc>
                <a:tc>
                  <a:txBody>
                    <a:bodyPr wrap="none"/>
                    <a:lstStyle/>
                    <a:p>
                      <a:pPr algn="l"/>
                      <a:r>
                        <a:rPr sz="800" b="0">
                          <a:solidFill>
                            <a:srgbClr val="2E2E2E"/>
                          </a:solidFill>
                          <a:latin typeface="Calibri"/>
                        </a:rPr>
                        <a:t>0.76</a:t>
                      </a:r>
                    </a:p>
                  </a:txBody>
                  <a:tcPr marL="85725" marR="38100" marT="19050" marB="19050" anchor="ctr">
                    <a:solidFill>
                      <a:srgbClr val="FFFFFF"/>
                    </a:solidFill>
                  </a:tcPr>
                </a:tc>
                <a:tc>
                  <a:txBody>
                    <a:bodyPr wrap="none"/>
                    <a:lstStyle/>
                    <a:p>
                      <a:pPr algn="l"/>
                      <a:r>
                        <a:rPr sz="800" b="0">
                          <a:solidFill>
                            <a:srgbClr val="2E2E2E"/>
                          </a:solidFill>
                          <a:latin typeface="Calibri"/>
                        </a:rPr>
                        <a:t>0.88</a:t>
                      </a:r>
                    </a:p>
                  </a:txBody>
                  <a:tcPr marL="85725" marR="38100" marT="19050" marB="19050" anchor="ctr">
                    <a:solidFill>
                      <a:srgbClr val="FFFFFF"/>
                    </a:solidFill>
                  </a:tcPr>
                </a:tc>
                <a:tc>
                  <a:txBody>
                    <a:bodyPr wrap="none"/>
                    <a:lstStyle/>
                    <a:p>
                      <a:pPr algn="l"/>
                      <a:r>
                        <a:rPr sz="800" b="0">
                          <a:solidFill>
                            <a:srgbClr val="2E2E2E"/>
                          </a:solidFill>
                          <a:latin typeface="Calibri"/>
                        </a:rPr>
                        <a:t>1.00</a:t>
                      </a:r>
                    </a:p>
                  </a:txBody>
                  <a:tcPr marL="85725" marR="38100" marT="19050" marB="19050" anchor="ctr">
                    <a:solidFill>
                      <a:srgbClr val="FFFFFF"/>
                    </a:solidFill>
                  </a:tcPr>
                </a:tc>
                <a:tc>
                  <a:txBody>
                    <a:bodyPr wrap="none"/>
                    <a:lstStyle/>
                    <a:p>
                      <a:pPr algn="l"/>
                      <a:r>
                        <a:rPr sz="800" b="0">
                          <a:solidFill>
                            <a:srgbClr val="2E2E2E"/>
                          </a:solidFill>
                          <a:latin typeface="Calibri"/>
                        </a:rPr>
                        <a:t>1.14</a:t>
                      </a:r>
                    </a:p>
                  </a:txBody>
                  <a:tcPr marL="85725" marR="38100" marT="19050" marB="19050" anchor="ctr">
                    <a:solidFill>
                      <a:srgbClr val="FFFFFF"/>
                    </a:solidFill>
                  </a:tcPr>
                </a:tc>
                <a:tc>
                  <a:txBody>
                    <a:bodyPr wrap="none"/>
                    <a:lstStyle/>
                    <a:p>
                      <a:pPr algn="l"/>
                      <a:r>
                        <a:rPr sz="800" b="0">
                          <a:solidFill>
                            <a:srgbClr val="2E2E2E"/>
                          </a:solidFill>
                          <a:latin typeface="Calibri"/>
                        </a:rPr>
                        <a:t>1.28</a:t>
                      </a:r>
                    </a:p>
                  </a:txBody>
                  <a:tcPr marL="85725" marR="38100" marT="19050" marB="19050" anchor="ctr">
                    <a:solidFill>
                      <a:srgbClr val="FFFFFF"/>
                    </a:solidFill>
                  </a:tcPr>
                </a:tc>
                <a:tc>
                  <a:txBody>
                    <a:bodyPr wrap="none"/>
                    <a:lstStyle/>
                    <a:p>
                      <a:pPr algn="l"/>
                      <a:r>
                        <a:rPr sz="800" b="0">
                          <a:solidFill>
                            <a:srgbClr val="2E2E2E"/>
                          </a:solidFill>
                          <a:latin typeface="Calibri"/>
                        </a:rPr>
                        <a:t>1.43</a:t>
                      </a:r>
                    </a:p>
                  </a:txBody>
                  <a:tcPr marL="85725" marR="38100" marT="19050" marB="19050" anchor="ctr">
                    <a:solidFill>
                      <a:srgbClr val="FFFFFF"/>
                    </a:solidFill>
                  </a:tcPr>
                </a:tc>
                <a:tc>
                  <a:txBody>
                    <a:bodyPr wrap="none"/>
                    <a:lstStyle/>
                    <a:p>
                      <a:pPr algn="l"/>
                      <a:r>
                        <a:rPr sz="800" b="0">
                          <a:solidFill>
                            <a:srgbClr val="2E2E2E"/>
                          </a:solidFill>
                          <a:latin typeface="Calibri"/>
                        </a:rPr>
                        <a:t>1.60</a:t>
                      </a:r>
                    </a:p>
                  </a:txBody>
                  <a:tcPr marL="85725" marR="38100" marT="19050" marB="19050" anchor="ctr">
                    <a:solidFill>
                      <a:srgbClr val="FFFFFF"/>
                    </a:solidFill>
                  </a:tcPr>
                </a:tc>
                <a:tc>
                  <a:txBody>
                    <a:bodyPr wrap="none"/>
                    <a:lstStyle/>
                    <a:p>
                      <a:pPr algn="l"/>
                      <a:r>
                        <a:rPr sz="800" b="0">
                          <a:solidFill>
                            <a:srgbClr val="2E2E2E"/>
                          </a:solidFill>
                          <a:latin typeface="Calibri"/>
                        </a:rPr>
                        <a:t>1.77</a:t>
                      </a:r>
                    </a:p>
                  </a:txBody>
                  <a:tcPr marL="85725" marR="38100" marT="19050" marB="19050" anchor="ctr">
                    <a:solidFill>
                      <a:srgbClr val="FFFFFF"/>
                    </a:solidFill>
                  </a:tcPr>
                </a:tc>
                <a:tc>
                  <a:txBody>
                    <a:bodyPr wrap="none"/>
                    <a:lstStyle/>
                    <a:p>
                      <a:pPr algn="l"/>
                      <a:r>
                        <a:rPr sz="800" b="0">
                          <a:solidFill>
                            <a:srgbClr val="2E2E2E"/>
                          </a:solidFill>
                          <a:latin typeface="Calibri"/>
                        </a:rPr>
                        <a:t>14.6%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800" b="0">
                          <a:solidFill>
                            <a:srgbClr val="2E2E2E"/>
                          </a:solidFill>
                          <a:latin typeface="Calibri"/>
                        </a:rPr>
                        <a:t>0.17</a:t>
                      </a:r>
                    </a:p>
                  </a:txBody>
                  <a:tcPr marL="85725" marR="38100" marT="19050" marB="19050" anchor="ctr">
                    <a:solidFill>
                      <a:srgbClr val="F5F8FA"/>
                    </a:solidFill>
                  </a:tcPr>
                </a:tc>
                <a:tc>
                  <a:txBody>
                    <a:bodyPr wrap="none"/>
                    <a:lstStyle/>
                    <a:p>
                      <a:pPr algn="l"/>
                      <a:r>
                        <a:rPr sz="800" b="0">
                          <a:solidFill>
                            <a:srgbClr val="2E2E2E"/>
                          </a:solidFill>
                          <a:latin typeface="Calibri"/>
                        </a:rPr>
                        <a:t>0.19</a:t>
                      </a:r>
                    </a:p>
                  </a:txBody>
                  <a:tcPr marL="85725" marR="38100" marT="19050" marB="19050" anchor="ctr">
                    <a:solidFill>
                      <a:srgbClr val="F5F8FA"/>
                    </a:solidFill>
                  </a:tcPr>
                </a:tc>
                <a:tc>
                  <a:txBody>
                    <a:bodyPr wrap="none"/>
                    <a:lstStyle/>
                    <a:p>
                      <a:pPr algn="l"/>
                      <a:r>
                        <a:rPr sz="800" b="0">
                          <a:solidFill>
                            <a:srgbClr val="2E2E2E"/>
                          </a:solidFill>
                          <a:latin typeface="Calibri"/>
                        </a:rPr>
                        <a:t>0.24</a:t>
                      </a:r>
                    </a:p>
                  </a:txBody>
                  <a:tcPr marL="85725" marR="38100" marT="19050" marB="19050" anchor="ctr">
                    <a:solidFill>
                      <a:srgbClr val="F5F8FA"/>
                    </a:solidFill>
                  </a:tcPr>
                </a:tc>
                <a:tc>
                  <a:txBody>
                    <a:bodyPr wrap="none"/>
                    <a:lstStyle/>
                    <a:p>
                      <a:pPr algn="l"/>
                      <a:r>
                        <a:rPr sz="800" b="0">
                          <a:solidFill>
                            <a:srgbClr val="2E2E2E"/>
                          </a:solidFill>
                          <a:latin typeface="Calibri"/>
                        </a:rPr>
                        <a:t>0.29</a:t>
                      </a:r>
                    </a:p>
                  </a:txBody>
                  <a:tcPr marL="85725" marR="38100" marT="19050" marB="19050" anchor="ctr">
                    <a:solidFill>
                      <a:srgbClr val="F5F8FA"/>
                    </a:solidFill>
                  </a:tcPr>
                </a:tc>
                <a:tc>
                  <a:txBody>
                    <a:bodyPr wrap="none"/>
                    <a:lstStyle/>
                    <a:p>
                      <a:pPr algn="l"/>
                      <a:r>
                        <a:rPr sz="800" b="0">
                          <a:solidFill>
                            <a:srgbClr val="2E2E2E"/>
                          </a:solidFill>
                          <a:latin typeface="Calibri"/>
                        </a:rPr>
                        <a:t>0.36</a:t>
                      </a:r>
                    </a:p>
                  </a:txBody>
                  <a:tcPr marL="85725" marR="38100" marT="19050" marB="19050" anchor="ctr">
                    <a:solidFill>
                      <a:srgbClr val="F5F8FA"/>
                    </a:solidFill>
                  </a:tcPr>
                </a:tc>
                <a:tc>
                  <a:txBody>
                    <a:bodyPr wrap="none"/>
                    <a:lstStyle/>
                    <a:p>
                      <a:pPr algn="l"/>
                      <a:r>
                        <a:rPr sz="800" b="0">
                          <a:solidFill>
                            <a:srgbClr val="2E2E2E"/>
                          </a:solidFill>
                          <a:latin typeface="Calibri"/>
                        </a:rPr>
                        <a:t>0.43</a:t>
                      </a:r>
                    </a:p>
                  </a:txBody>
                  <a:tcPr marL="85725" marR="38100" marT="19050" marB="19050" anchor="ctr">
                    <a:solidFill>
                      <a:srgbClr val="F5F8FA"/>
                    </a:solidFill>
                  </a:tcPr>
                </a:tc>
                <a:tc>
                  <a:txBody>
                    <a:bodyPr wrap="none"/>
                    <a:lstStyle/>
                    <a:p>
                      <a:pPr algn="l"/>
                      <a:r>
                        <a:rPr sz="800" b="0">
                          <a:solidFill>
                            <a:srgbClr val="2E2E2E"/>
                          </a:solidFill>
                          <a:latin typeface="Calibri"/>
                        </a:rPr>
                        <a:t>0.50</a:t>
                      </a:r>
                    </a:p>
                  </a:txBody>
                  <a:tcPr marL="85725" marR="38100" marT="19050" marB="19050" anchor="ctr">
                    <a:solidFill>
                      <a:srgbClr val="F5F8FA"/>
                    </a:solidFill>
                  </a:tcPr>
                </a:tc>
                <a:tc>
                  <a:txBody>
                    <a:bodyPr wrap="none"/>
                    <a:lstStyle/>
                    <a:p>
                      <a:pPr algn="l"/>
                      <a:r>
                        <a:rPr sz="800" b="0">
                          <a:solidFill>
                            <a:srgbClr val="2E2E2E"/>
                          </a:solidFill>
                          <a:latin typeface="Calibri"/>
                        </a:rPr>
                        <a:t>0.57</a:t>
                      </a:r>
                    </a:p>
                  </a:txBody>
                  <a:tcPr marL="85725" marR="38100" marT="19050" marB="19050" anchor="ctr">
                    <a:solidFill>
                      <a:srgbClr val="F5F8FA"/>
                    </a:solidFill>
                  </a:tcPr>
                </a:tc>
                <a:tc>
                  <a:txBody>
                    <a:bodyPr wrap="none"/>
                    <a:lstStyle/>
                    <a:p>
                      <a:pPr algn="l"/>
                      <a:r>
                        <a:rPr sz="800" b="0">
                          <a:solidFill>
                            <a:srgbClr val="2E2E2E"/>
                          </a:solidFill>
                          <a:latin typeface="Calibri"/>
                        </a:rPr>
                        <a:t>0.64</a:t>
                      </a:r>
                    </a:p>
                  </a:txBody>
                  <a:tcPr marL="85725" marR="38100" marT="19050" marB="19050" anchor="ctr">
                    <a:solidFill>
                      <a:srgbClr val="F5F8FA"/>
                    </a:solidFill>
                  </a:tcPr>
                </a:tc>
                <a:tc>
                  <a:txBody>
                    <a:bodyPr wrap="none"/>
                    <a:lstStyle/>
                    <a:p>
                      <a:pPr algn="l"/>
                      <a:r>
                        <a:rPr sz="800" b="0">
                          <a:solidFill>
                            <a:srgbClr val="2E2E2E"/>
                          </a:solidFill>
                          <a:latin typeface="Calibri"/>
                        </a:rPr>
                        <a:t>0.71</a:t>
                      </a:r>
                    </a:p>
                  </a:txBody>
                  <a:tcPr marL="85725" marR="38100" marT="19050" marB="19050" anchor="ctr">
                    <a:solidFill>
                      <a:srgbClr val="F5F8FA"/>
                    </a:solidFill>
                  </a:tcPr>
                </a:tc>
                <a:tc>
                  <a:txBody>
                    <a:bodyPr wrap="none"/>
                    <a:lstStyle/>
                    <a:p>
                      <a:pPr algn="l"/>
                      <a:r>
                        <a:rPr sz="800" b="0">
                          <a:solidFill>
                            <a:srgbClr val="2E2E2E"/>
                          </a:solidFill>
                          <a:latin typeface="Calibri"/>
                        </a:rPr>
                        <a:t>0.78</a:t>
                      </a:r>
                    </a:p>
                  </a:txBody>
                  <a:tcPr marL="85725" marR="38100" marT="19050" marB="19050" anchor="ctr">
                    <a:solidFill>
                      <a:srgbClr val="F5F8FA"/>
                    </a:solidFill>
                  </a:tcPr>
                </a:tc>
                <a:tc>
                  <a:txBody>
                    <a:bodyPr wrap="none"/>
                    <a:lstStyle/>
                    <a:p>
                      <a:pPr algn="l"/>
                      <a:r>
                        <a:rPr sz="800" b="0">
                          <a:solidFill>
                            <a:srgbClr val="2E2E2E"/>
                          </a:solidFill>
                          <a:latin typeface="Calibri"/>
                        </a:rPr>
                        <a:t>0.85</a:t>
                      </a:r>
                    </a:p>
                  </a:txBody>
                  <a:tcPr marL="85725" marR="38100" marT="19050" marB="19050" anchor="ctr">
                    <a:solidFill>
                      <a:srgbClr val="F5F8FA"/>
                    </a:solidFill>
                  </a:tcPr>
                </a:tc>
                <a:tc>
                  <a:txBody>
                    <a:bodyPr wrap="none"/>
                    <a:lstStyle/>
                    <a:p>
                      <a:pPr algn="l"/>
                      <a:r>
                        <a:rPr sz="800" b="0">
                          <a:solidFill>
                            <a:srgbClr val="2E2E2E"/>
                          </a:solidFill>
                          <a:latin typeface="Calibri"/>
                        </a:rPr>
                        <a:t>0.92</a:t>
                      </a:r>
                    </a:p>
                  </a:txBody>
                  <a:tcPr marL="85725" marR="38100" marT="19050" marB="19050" anchor="ctr">
                    <a:solidFill>
                      <a:srgbClr val="F5F8FA"/>
                    </a:solidFill>
                  </a:tcPr>
                </a:tc>
                <a:tc>
                  <a:txBody>
                    <a:bodyPr wrap="none"/>
                    <a:lstStyle/>
                    <a:p>
                      <a:pPr algn="l"/>
                      <a:r>
                        <a:rPr sz="800" b="0">
                          <a:solidFill>
                            <a:srgbClr val="2E2E2E"/>
                          </a:solidFill>
                          <a:latin typeface="Calibri"/>
                        </a:rPr>
                        <a:t>0.99</a:t>
                      </a:r>
                    </a:p>
                  </a:txBody>
                  <a:tcPr marL="85725" marR="38100" marT="19050" marB="19050" anchor="ctr">
                    <a:solidFill>
                      <a:srgbClr val="F5F8FA"/>
                    </a:solidFill>
                  </a:tcPr>
                </a:tc>
                <a:tc>
                  <a:txBody>
                    <a:bodyPr wrap="none"/>
                    <a:lstStyle/>
                    <a:p>
                      <a:pPr algn="l"/>
                      <a:r>
                        <a:rPr sz="800" b="0">
                          <a:solidFill>
                            <a:srgbClr val="2E2E2E"/>
                          </a:solidFill>
                          <a:latin typeface="Calibri"/>
                        </a:rPr>
                        <a:t>1.06</a:t>
                      </a:r>
                    </a:p>
                  </a:txBody>
                  <a:tcPr marL="85725" marR="38100" marT="19050" marB="19050" anchor="ctr">
                    <a:solidFill>
                      <a:srgbClr val="F5F8FA"/>
                    </a:solidFill>
                  </a:tcPr>
                </a:tc>
                <a:tc>
                  <a:txBody>
                    <a:bodyPr wrap="none"/>
                    <a:lstStyle/>
                    <a:p>
                      <a:pPr algn="l"/>
                      <a:r>
                        <a:rPr sz="800" b="0">
                          <a:solidFill>
                            <a:srgbClr val="2E2E2E"/>
                          </a:solidFill>
                          <a:latin typeface="Calibri"/>
                        </a:rPr>
                        <a:t>1.13</a:t>
                      </a:r>
                    </a:p>
                  </a:txBody>
                  <a:tcPr marL="85725" marR="38100" marT="19050" marB="19050" anchor="ctr">
                    <a:solidFill>
                      <a:srgbClr val="F5F8FA"/>
                    </a:solidFill>
                  </a:tcPr>
                </a:tc>
                <a:tc>
                  <a:txBody>
                    <a:bodyPr wrap="none"/>
                    <a:lstStyle/>
                    <a:p>
                      <a:pPr algn="l"/>
                      <a:r>
                        <a:rPr sz="800" b="0">
                          <a:solidFill>
                            <a:srgbClr val="2E2E2E"/>
                          </a:solidFill>
                          <a:latin typeface="Calibri"/>
                        </a:rPr>
                        <a:t>10.2%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Idacio</a:t>
                      </a:r>
                    </a:p>
                  </a:txBody>
                  <a:tcPr marL="85725" marR="38100" marT="19050" marB="19050" anchor="ctr">
                    <a:solidFill>
                      <a:srgbClr val="FFFFFF"/>
                    </a:solidFill>
                  </a:tcPr>
                </a:tc>
                <a:tc>
                  <a:txBody>
                    <a:bodyPr wrap="none"/>
                    <a:lstStyle/>
                    <a:p>
                      <a:pPr algn="l"/>
                      <a:r>
                        <a:rPr sz="800" b="0">
                          <a:solidFill>
                            <a:srgbClr val="2E2E2E"/>
                          </a:solidFill>
                          <a:latin typeface="Calibri"/>
                        </a:rPr>
                        <a:t>0.08</a:t>
                      </a:r>
                    </a:p>
                  </a:txBody>
                  <a:tcPr marL="85725" marR="38100" marT="19050" marB="19050" anchor="ctr">
                    <a:solidFill>
                      <a:srgbClr val="FFFFFF"/>
                    </a:solidFill>
                  </a:tcPr>
                </a:tc>
                <a:tc>
                  <a:txBody>
                    <a:bodyPr wrap="none"/>
                    <a:lstStyle/>
                    <a:p>
                      <a:pPr algn="l"/>
                      <a:r>
                        <a:rPr sz="800" b="0">
                          <a:solidFill>
                            <a:srgbClr val="2E2E2E"/>
                          </a:solidFill>
                          <a:latin typeface="Calibri"/>
                        </a:rPr>
                        <a:t>0.09</a:t>
                      </a:r>
                    </a:p>
                  </a:txBody>
                  <a:tcPr marL="85725" marR="38100" marT="19050" marB="19050" anchor="ctr">
                    <a:solidFill>
                      <a:srgbClr val="FFFFFF"/>
                    </a:solidFill>
                  </a:tcPr>
                </a:tc>
                <a:tc>
                  <a:txBody>
                    <a:bodyPr wrap="none"/>
                    <a:lstStyle/>
                    <a:p>
                      <a:pPr algn="l"/>
                      <a:r>
                        <a:rPr sz="800" b="0">
                          <a:solidFill>
                            <a:srgbClr val="2E2E2E"/>
                          </a:solidFill>
                          <a:latin typeface="Calibri"/>
                        </a:rPr>
                        <a:t>0.11</a:t>
                      </a:r>
                    </a:p>
                  </a:txBody>
                  <a:tcPr marL="85725" marR="38100" marT="19050" marB="19050" anchor="ctr">
                    <a:solidFill>
                      <a:srgbClr val="FFFFFF"/>
                    </a:solidFill>
                  </a:tcPr>
                </a:tc>
                <a:tc>
                  <a:txBody>
                    <a:bodyPr wrap="none"/>
                    <a:lstStyle/>
                    <a:p>
                      <a:pPr algn="l"/>
                      <a:r>
                        <a:rPr sz="800" b="0">
                          <a:solidFill>
                            <a:srgbClr val="2E2E2E"/>
                          </a:solidFill>
                          <a:latin typeface="Calibri"/>
                        </a:rPr>
                        <a:t>0.14</a:t>
                      </a:r>
                    </a:p>
                  </a:txBody>
                  <a:tcPr marL="85725" marR="38100" marT="19050" marB="19050" anchor="ctr">
                    <a:solidFill>
                      <a:srgbClr val="FFFFFF"/>
                    </a:solidFill>
                  </a:tcPr>
                </a:tc>
                <a:tc>
                  <a:txBody>
                    <a:bodyPr wrap="none"/>
                    <a:lstStyle/>
                    <a:p>
                      <a:pPr algn="l"/>
                      <a:r>
                        <a:rPr sz="800" b="0">
                          <a:solidFill>
                            <a:srgbClr val="2E2E2E"/>
                          </a:solidFill>
                          <a:latin typeface="Calibri"/>
                        </a:rPr>
                        <a:t>0.18</a:t>
                      </a:r>
                    </a:p>
                  </a:txBody>
                  <a:tcPr marL="85725" marR="38100" marT="19050" marB="19050" anchor="ctr">
                    <a:solidFill>
                      <a:srgbClr val="FFFFFF"/>
                    </a:solidFill>
                  </a:tcPr>
                </a:tc>
                <a:tc>
                  <a:txBody>
                    <a:bodyPr wrap="none"/>
                    <a:lstStyle/>
                    <a:p>
                      <a:pPr algn="l"/>
                      <a:r>
                        <a:rPr sz="800" b="0">
                          <a:solidFill>
                            <a:srgbClr val="2E2E2E"/>
                          </a:solidFill>
                          <a:latin typeface="Calibri"/>
                        </a:rPr>
                        <a:t>0.21</a:t>
                      </a:r>
                    </a:p>
                  </a:txBody>
                  <a:tcPr marL="85725" marR="38100" marT="19050" marB="19050" anchor="ctr">
                    <a:solidFill>
                      <a:srgbClr val="FFFFFF"/>
                    </a:solidFill>
                  </a:tcPr>
                </a:tc>
                <a:tc>
                  <a:txBody>
                    <a:bodyPr wrap="none"/>
                    <a:lstStyle/>
                    <a:p>
                      <a:pPr algn="l"/>
                      <a:r>
                        <a:rPr sz="800" b="0">
                          <a:solidFill>
                            <a:srgbClr val="2E2E2E"/>
                          </a:solidFill>
                          <a:latin typeface="Calibri"/>
                        </a:rPr>
                        <a:t>0.25</a:t>
                      </a:r>
                    </a:p>
                  </a:txBody>
                  <a:tcPr marL="85725" marR="38100" marT="19050" marB="19050" anchor="ctr">
                    <a:solidFill>
                      <a:srgbClr val="FFFFFF"/>
                    </a:solidFill>
                  </a:tcPr>
                </a:tc>
                <a:tc>
                  <a:txBody>
                    <a:bodyPr wrap="none"/>
                    <a:lstStyle/>
                    <a:p>
                      <a:pPr algn="l"/>
                      <a:r>
                        <a:rPr sz="800" b="0">
                          <a:solidFill>
                            <a:srgbClr val="2E2E2E"/>
                          </a:solidFill>
                          <a:latin typeface="Calibri"/>
                        </a:rPr>
                        <a:t>0.29</a:t>
                      </a:r>
                    </a:p>
                  </a:txBody>
                  <a:tcPr marL="85725" marR="38100" marT="19050" marB="19050" anchor="ctr">
                    <a:solidFill>
                      <a:srgbClr val="FFFFFF"/>
                    </a:solidFill>
                  </a:tcPr>
                </a:tc>
                <a:tc>
                  <a:txBody>
                    <a:bodyPr wrap="none"/>
                    <a:lstStyle/>
                    <a:p>
                      <a:pPr algn="l"/>
                      <a:r>
                        <a:rPr sz="800" b="0">
                          <a:solidFill>
                            <a:srgbClr val="2E2E2E"/>
                          </a:solidFill>
                          <a:latin typeface="Calibri"/>
                        </a:rPr>
                        <a:t>0.33</a:t>
                      </a:r>
                    </a:p>
                  </a:txBody>
                  <a:tcPr marL="85725" marR="38100" marT="19050" marB="19050" anchor="ctr">
                    <a:solidFill>
                      <a:srgbClr val="FFFFFF"/>
                    </a:solidFill>
                  </a:tcPr>
                </a:tc>
                <a:tc>
                  <a:txBody>
                    <a:bodyPr wrap="none"/>
                    <a:lstStyle/>
                    <a:p>
                      <a:pPr algn="l"/>
                      <a:r>
                        <a:rPr sz="800" b="0">
                          <a:solidFill>
                            <a:srgbClr val="2E2E2E"/>
                          </a:solidFill>
                          <a:latin typeface="Calibri"/>
                        </a:rPr>
                        <a:t>0.37</a:t>
                      </a:r>
                    </a:p>
                  </a:txBody>
                  <a:tcPr marL="85725" marR="38100" marT="19050" marB="19050" anchor="ctr">
                    <a:solidFill>
                      <a:srgbClr val="FFFFFF"/>
                    </a:solidFill>
                  </a:tcPr>
                </a:tc>
                <a:tc>
                  <a:txBody>
                    <a:bodyPr wrap="none"/>
                    <a:lstStyle/>
                    <a:p>
                      <a:pPr algn="l"/>
                      <a:r>
                        <a:rPr sz="800" b="0">
                          <a:solidFill>
                            <a:srgbClr val="2E2E2E"/>
                          </a:solidFill>
                          <a:latin typeface="Calibri"/>
                        </a:rPr>
                        <a:t>0.41</a:t>
                      </a:r>
                    </a:p>
                  </a:txBody>
                  <a:tcPr marL="85725" marR="38100" marT="19050" marB="19050" anchor="ctr">
                    <a:solidFill>
                      <a:srgbClr val="FFFFFF"/>
                    </a:solidFill>
                  </a:tcPr>
                </a:tc>
                <a:tc>
                  <a:txBody>
                    <a:bodyPr wrap="none"/>
                    <a:lstStyle/>
                    <a:p>
                      <a:pPr algn="l"/>
                      <a:r>
                        <a:rPr sz="800" b="0">
                          <a:solidFill>
                            <a:srgbClr val="2E2E2E"/>
                          </a:solidFill>
                          <a:latin typeface="Calibri"/>
                        </a:rPr>
                        <a:t>0.45</a:t>
                      </a:r>
                    </a:p>
                  </a:txBody>
                  <a:tcPr marL="85725" marR="38100" marT="19050" marB="19050" anchor="ctr">
                    <a:solidFill>
                      <a:srgbClr val="FFFFFF"/>
                    </a:solidFill>
                  </a:tcPr>
                </a:tc>
                <a:tc>
                  <a:txBody>
                    <a:bodyPr wrap="none"/>
                    <a:lstStyle/>
                    <a:p>
                      <a:pPr algn="l"/>
                      <a:r>
                        <a:rPr sz="800" b="0">
                          <a:solidFill>
                            <a:srgbClr val="2E2E2E"/>
                          </a:solidFill>
                          <a:latin typeface="Calibri"/>
                        </a:rPr>
                        <a:t>0.49</a:t>
                      </a:r>
                    </a:p>
                  </a:txBody>
                  <a:tcPr marL="85725" marR="38100" marT="19050" marB="19050" anchor="ctr">
                    <a:solidFill>
                      <a:srgbClr val="FFFFFF"/>
                    </a:solidFill>
                  </a:tcPr>
                </a:tc>
                <a:tc>
                  <a:txBody>
                    <a:bodyPr wrap="none"/>
                    <a:lstStyle/>
                    <a:p>
                      <a:pPr algn="l"/>
                      <a:r>
                        <a:rPr sz="800" b="0">
                          <a:solidFill>
                            <a:srgbClr val="2E2E2E"/>
                          </a:solidFill>
                          <a:latin typeface="Calibri"/>
                        </a:rPr>
                        <a:t>0.54</a:t>
                      </a:r>
                    </a:p>
                  </a:txBody>
                  <a:tcPr marL="85725" marR="38100" marT="19050" marB="19050" anchor="ctr">
                    <a:solidFill>
                      <a:srgbClr val="FFFFFF"/>
                    </a:solidFill>
                  </a:tcPr>
                </a:tc>
                <a:tc>
                  <a:txBody>
                    <a:bodyPr wrap="none"/>
                    <a:lstStyle/>
                    <a:p>
                      <a:pPr algn="l"/>
                      <a:r>
                        <a:rPr sz="800" b="0">
                          <a:solidFill>
                            <a:srgbClr val="2E2E2E"/>
                          </a:solidFill>
                          <a:latin typeface="Calibri"/>
                        </a:rPr>
                        <a:t>0.58</a:t>
                      </a:r>
                    </a:p>
                  </a:txBody>
                  <a:tcPr marL="85725" marR="38100" marT="19050" marB="19050" anchor="ctr">
                    <a:solidFill>
                      <a:srgbClr val="FFFFFF"/>
                    </a:solidFill>
                  </a:tcPr>
                </a:tc>
                <a:tc>
                  <a:txBody>
                    <a:bodyPr wrap="none"/>
                    <a:lstStyle/>
                    <a:p>
                      <a:pPr algn="l"/>
                      <a:r>
                        <a:rPr sz="800" b="0">
                          <a:solidFill>
                            <a:srgbClr val="2E2E2E"/>
                          </a:solidFill>
                          <a:latin typeface="Calibri"/>
                        </a:rPr>
                        <a:t>0.62</a:t>
                      </a:r>
                    </a:p>
                  </a:txBody>
                  <a:tcPr marL="85725" marR="38100" marT="19050" marB="19050" anchor="ctr">
                    <a:solidFill>
                      <a:srgbClr val="FFFFFF"/>
                    </a:solidFill>
                  </a:tcPr>
                </a:tc>
                <a:tc>
                  <a:txBody>
                    <a:bodyPr wrap="none"/>
                    <a:lstStyle/>
                    <a:p>
                      <a:pPr algn="l"/>
                      <a:r>
                        <a:rPr sz="800" b="0">
                          <a:solidFill>
                            <a:srgbClr val="2E2E2E"/>
                          </a:solidFill>
                          <a:latin typeface="Calibri"/>
                        </a:rPr>
                        <a:t>11.3%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Hulio</a:t>
                      </a:r>
                    </a:p>
                  </a:txBody>
                  <a:tcPr marL="85725" marR="38100" marT="19050" marB="19050" anchor="ctr">
                    <a:solidFill>
                      <a:srgbClr val="F5F8FA"/>
                    </a:solidFill>
                  </a:tcPr>
                </a:tc>
                <a:tc>
                  <a:txBody>
                    <a:bodyPr wrap="none"/>
                    <a:lstStyle/>
                    <a:p>
                      <a:pPr algn="l"/>
                      <a:r>
                        <a:rPr sz="800" b="0">
                          <a:solidFill>
                            <a:srgbClr val="2E2E2E"/>
                          </a:solidFill>
                          <a:latin typeface="Calibri"/>
                        </a:rPr>
                        <a:t>0.12</a:t>
                      </a:r>
                    </a:p>
                  </a:txBody>
                  <a:tcPr marL="85725" marR="38100" marT="19050" marB="19050" anchor="ctr">
                    <a:solidFill>
                      <a:srgbClr val="F5F8FA"/>
                    </a:solidFill>
                  </a:tcPr>
                </a:tc>
                <a:tc>
                  <a:txBody>
                    <a:bodyPr wrap="none"/>
                    <a:lstStyle/>
                    <a:p>
                      <a:pPr algn="l"/>
                      <a:r>
                        <a:rPr sz="800" b="0">
                          <a:solidFill>
                            <a:srgbClr val="2E2E2E"/>
                          </a:solidFill>
                          <a:latin typeface="Calibri"/>
                        </a:rPr>
                        <a:t>0.14</a:t>
                      </a:r>
                    </a:p>
                  </a:txBody>
                  <a:tcPr marL="85725" marR="38100" marT="19050" marB="19050" anchor="ctr">
                    <a:solidFill>
                      <a:srgbClr val="F5F8FA"/>
                    </a:solidFill>
                  </a:tcPr>
                </a:tc>
                <a:tc>
                  <a:txBody>
                    <a:bodyPr wrap="none"/>
                    <a:lstStyle/>
                    <a:p>
                      <a:pPr algn="l"/>
                      <a:r>
                        <a:rPr sz="800" b="0">
                          <a:solidFill>
                            <a:srgbClr val="2E2E2E"/>
                          </a:solidFill>
                          <a:latin typeface="Calibri"/>
                        </a:rPr>
                        <a:t>0.17</a:t>
                      </a:r>
                    </a:p>
                  </a:txBody>
                  <a:tcPr marL="85725" marR="38100" marT="19050" marB="19050" anchor="ctr">
                    <a:solidFill>
                      <a:srgbClr val="F5F8FA"/>
                    </a:solidFill>
                  </a:tcPr>
                </a:tc>
                <a:tc>
                  <a:txBody>
                    <a:bodyPr wrap="none"/>
                    <a:lstStyle/>
                    <a:p>
                      <a:pPr algn="l"/>
                      <a:r>
                        <a:rPr sz="800" b="0">
                          <a:solidFill>
                            <a:srgbClr val="2E2E2E"/>
                          </a:solidFill>
                          <a:latin typeface="Calibri"/>
                        </a:rPr>
                        <a:t>0.21</a:t>
                      </a:r>
                    </a:p>
                  </a:txBody>
                  <a:tcPr marL="85725" marR="38100" marT="19050" marB="19050" anchor="ctr">
                    <a:solidFill>
                      <a:srgbClr val="F5F8FA"/>
                    </a:solidFill>
                  </a:tcPr>
                </a:tc>
                <a:tc>
                  <a:txBody>
                    <a:bodyPr wrap="none"/>
                    <a:lstStyle/>
                    <a:p>
                      <a:pPr algn="l"/>
                      <a:r>
                        <a:rPr sz="800" b="0">
                          <a:solidFill>
                            <a:srgbClr val="2E2E2E"/>
                          </a:solidFill>
                          <a:latin typeface="Calibri"/>
                        </a:rPr>
                        <a:t>0.26</a:t>
                      </a:r>
                    </a:p>
                  </a:txBody>
                  <a:tcPr marL="85725" marR="38100" marT="19050" marB="19050" anchor="ctr">
                    <a:solidFill>
                      <a:srgbClr val="F5F8FA"/>
                    </a:solidFill>
                  </a:tcPr>
                </a:tc>
                <a:tc>
                  <a:txBody>
                    <a:bodyPr wrap="none"/>
                    <a:lstStyle/>
                    <a:p>
                      <a:pPr algn="l"/>
                      <a:r>
                        <a:rPr sz="800" b="0">
                          <a:solidFill>
                            <a:srgbClr val="2E2E2E"/>
                          </a:solidFill>
                          <a:latin typeface="Calibri"/>
                        </a:rPr>
                        <a:t>0.32</a:t>
                      </a:r>
                    </a:p>
                  </a:txBody>
                  <a:tcPr marL="85725" marR="38100" marT="19050" marB="19050" anchor="ctr">
                    <a:solidFill>
                      <a:srgbClr val="F5F8FA"/>
                    </a:solidFill>
                  </a:tcPr>
                </a:tc>
                <a:tc>
                  <a:txBody>
                    <a:bodyPr wrap="none"/>
                    <a:lstStyle/>
                    <a:p>
                      <a:pPr algn="l"/>
                      <a:r>
                        <a:rPr sz="800" b="0">
                          <a:solidFill>
                            <a:srgbClr val="2E2E2E"/>
                          </a:solidFill>
                          <a:latin typeface="Calibri"/>
                        </a:rPr>
                        <a:t>0.37</a:t>
                      </a:r>
                    </a:p>
                  </a:txBody>
                  <a:tcPr marL="85725" marR="38100" marT="19050" marB="19050" anchor="ctr">
                    <a:solidFill>
                      <a:srgbClr val="F5F8FA"/>
                    </a:solidFill>
                  </a:tcPr>
                </a:tc>
                <a:tc>
                  <a:txBody>
                    <a:bodyPr wrap="none"/>
                    <a:lstStyle/>
                    <a:p>
                      <a:pPr algn="l"/>
                      <a:r>
                        <a:rPr sz="800" b="0">
                          <a:solidFill>
                            <a:srgbClr val="2E2E2E"/>
                          </a:solidFill>
                          <a:latin typeface="Calibri"/>
                        </a:rPr>
                        <a:t>0.43</a:t>
                      </a:r>
                    </a:p>
                  </a:txBody>
                  <a:tcPr marL="85725" marR="38100" marT="19050" marB="19050" anchor="ctr">
                    <a:solidFill>
                      <a:srgbClr val="F5F8FA"/>
                    </a:solidFill>
                  </a:tcPr>
                </a:tc>
                <a:tc>
                  <a:txBody>
                    <a:bodyPr wrap="none"/>
                    <a:lstStyle/>
                    <a:p>
                      <a:pPr algn="l"/>
                      <a:r>
                        <a:rPr sz="800" b="0">
                          <a:solidFill>
                            <a:srgbClr val="2E2E2E"/>
                          </a:solidFill>
                          <a:latin typeface="Calibri"/>
                        </a:rPr>
                        <a:t>0.49</a:t>
                      </a:r>
                    </a:p>
                  </a:txBody>
                  <a:tcPr marL="85725" marR="38100" marT="19050" marB="19050" anchor="ctr">
                    <a:solidFill>
                      <a:srgbClr val="F5F8FA"/>
                    </a:solidFill>
                  </a:tcPr>
                </a:tc>
                <a:tc>
                  <a:txBody>
                    <a:bodyPr wrap="none"/>
                    <a:lstStyle/>
                    <a:p>
                      <a:pPr algn="l"/>
                      <a:r>
                        <a:rPr sz="800" b="0">
                          <a:solidFill>
                            <a:srgbClr val="2E2E2E"/>
                          </a:solidFill>
                          <a:latin typeface="Calibri"/>
                        </a:rPr>
                        <a:t>0.55</a:t>
                      </a:r>
                    </a:p>
                  </a:txBody>
                  <a:tcPr marL="85725" marR="38100" marT="19050" marB="19050" anchor="ctr">
                    <a:solidFill>
                      <a:srgbClr val="F5F8FA"/>
                    </a:solidFill>
                  </a:tcPr>
                </a:tc>
                <a:tc>
                  <a:txBody>
                    <a:bodyPr wrap="none"/>
                    <a:lstStyle/>
                    <a:p>
                      <a:pPr algn="l"/>
                      <a:r>
                        <a:rPr sz="800" b="0">
                          <a:solidFill>
                            <a:srgbClr val="2E2E2E"/>
                          </a:solidFill>
                          <a:latin typeface="Calibri"/>
                        </a:rPr>
                        <a:t>0.61</a:t>
                      </a:r>
                    </a:p>
                  </a:txBody>
                  <a:tcPr marL="85725" marR="38100" marT="19050" marB="19050" anchor="ctr">
                    <a:solidFill>
                      <a:srgbClr val="F5F8FA"/>
                    </a:solidFill>
                  </a:tcPr>
                </a:tc>
                <a:tc>
                  <a:txBody>
                    <a:bodyPr wrap="none"/>
                    <a:lstStyle/>
                    <a:p>
                      <a:pPr algn="l"/>
                      <a:r>
                        <a:rPr sz="800" b="0">
                          <a:solidFill>
                            <a:srgbClr val="2E2E2E"/>
                          </a:solidFill>
                          <a:latin typeface="Calibri"/>
                        </a:rPr>
                        <a:t>0.67</a:t>
                      </a:r>
                    </a:p>
                  </a:txBody>
                  <a:tcPr marL="85725" marR="38100" marT="19050" marB="19050" anchor="ctr">
                    <a:solidFill>
                      <a:srgbClr val="F5F8FA"/>
                    </a:solidFill>
                  </a:tcPr>
                </a:tc>
                <a:tc>
                  <a:txBody>
                    <a:bodyPr wrap="none"/>
                    <a:lstStyle/>
                    <a:p>
                      <a:pPr algn="l"/>
                      <a:r>
                        <a:rPr sz="800" b="0">
                          <a:solidFill>
                            <a:srgbClr val="2E2E2E"/>
                          </a:solidFill>
                          <a:latin typeface="Calibri"/>
                        </a:rPr>
                        <a:t>0.73</a:t>
                      </a:r>
                    </a:p>
                  </a:txBody>
                  <a:tcPr marL="85725" marR="38100" marT="19050" marB="19050" anchor="ctr">
                    <a:solidFill>
                      <a:srgbClr val="F5F8FA"/>
                    </a:solidFill>
                  </a:tcPr>
                </a:tc>
                <a:tc>
                  <a:txBody>
                    <a:bodyPr wrap="none"/>
                    <a:lstStyle/>
                    <a:p>
                      <a:pPr algn="l"/>
                      <a:r>
                        <a:rPr sz="800" b="0">
                          <a:solidFill>
                            <a:srgbClr val="2E2E2E"/>
                          </a:solidFill>
                          <a:latin typeface="Calibri"/>
                        </a:rPr>
                        <a:t>0.80</a:t>
                      </a:r>
                    </a:p>
                  </a:txBody>
                  <a:tcPr marL="85725" marR="38100" marT="19050" marB="19050" anchor="ctr">
                    <a:solidFill>
                      <a:srgbClr val="F5F8FA"/>
                    </a:solidFill>
                  </a:tcPr>
                </a:tc>
                <a:tc>
                  <a:txBody>
                    <a:bodyPr wrap="none"/>
                    <a:lstStyle/>
                    <a:p>
                      <a:pPr algn="l"/>
                      <a:r>
                        <a:rPr sz="800" b="0">
                          <a:solidFill>
                            <a:srgbClr val="2E2E2E"/>
                          </a:solidFill>
                          <a:latin typeface="Calibri"/>
                        </a:rPr>
                        <a:t>0.86</a:t>
                      </a:r>
                    </a:p>
                  </a:txBody>
                  <a:tcPr marL="85725" marR="38100" marT="19050" marB="19050" anchor="ctr">
                    <a:solidFill>
                      <a:srgbClr val="F5F8FA"/>
                    </a:solidFill>
                  </a:tcPr>
                </a:tc>
                <a:tc>
                  <a:txBody>
                    <a:bodyPr wrap="none"/>
                    <a:lstStyle/>
                    <a:p>
                      <a:pPr algn="l"/>
                      <a:r>
                        <a:rPr sz="800" b="0">
                          <a:solidFill>
                            <a:srgbClr val="2E2E2E"/>
                          </a:solidFill>
                          <a:latin typeface="Calibri"/>
                        </a:rPr>
                        <a:t>0.93</a:t>
                      </a:r>
                    </a:p>
                  </a:txBody>
                  <a:tcPr marL="85725" marR="38100" marT="19050" marB="19050" anchor="ctr">
                    <a:solidFill>
                      <a:srgbClr val="F5F8FA"/>
                    </a:solidFill>
                  </a:tcPr>
                </a:tc>
                <a:tc>
                  <a:txBody>
                    <a:bodyPr wrap="none"/>
                    <a:lstStyle/>
                    <a:p>
                      <a:pPr algn="l"/>
                      <a:r>
                        <a:rPr sz="800" b="0">
                          <a:solidFill>
                            <a:srgbClr val="2E2E2E"/>
                          </a:solidFill>
                          <a:latin typeface="Calibri"/>
                        </a:rPr>
                        <a:t>11.3%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800" b="0">
                          <a:solidFill>
                            <a:srgbClr val="2E2E2E"/>
                          </a:solidFill>
                          <a:latin typeface="Calibri"/>
                        </a:rPr>
                        <a:t>0.13</a:t>
                      </a:r>
                    </a:p>
                  </a:txBody>
                  <a:tcPr marL="85725" marR="38100" marT="19050" marB="19050" anchor="ctr">
                    <a:solidFill>
                      <a:srgbClr val="FFFFFF"/>
                    </a:solidFill>
                  </a:tcPr>
                </a:tc>
                <a:tc>
                  <a:txBody>
                    <a:bodyPr wrap="none"/>
                    <a:lstStyle/>
                    <a:p>
                      <a:pPr algn="l"/>
                      <a:r>
                        <a:rPr sz="800" b="0">
                          <a:solidFill>
                            <a:srgbClr val="2E2E2E"/>
                          </a:solidFill>
                          <a:latin typeface="Calibri"/>
                        </a:rPr>
                        <a:t>0.15</a:t>
                      </a:r>
                    </a:p>
                  </a:txBody>
                  <a:tcPr marL="85725" marR="38100" marT="19050" marB="19050" anchor="ctr">
                    <a:solidFill>
                      <a:srgbClr val="FFFFFF"/>
                    </a:solidFill>
                  </a:tcPr>
                </a:tc>
                <a:tc>
                  <a:txBody>
                    <a:bodyPr wrap="none"/>
                    <a:lstStyle/>
                    <a:p>
                      <a:pPr algn="l"/>
                      <a:r>
                        <a:rPr sz="800" b="0">
                          <a:solidFill>
                            <a:srgbClr val="2E2E2E"/>
                          </a:solidFill>
                          <a:latin typeface="Calibri"/>
                        </a:rPr>
                        <a:t>0.19</a:t>
                      </a:r>
                    </a:p>
                  </a:txBody>
                  <a:tcPr marL="85725" marR="38100" marT="19050" marB="19050" anchor="ctr">
                    <a:solidFill>
                      <a:srgbClr val="FFFFFF"/>
                    </a:solidFill>
                  </a:tcPr>
                </a:tc>
                <a:tc>
                  <a:txBody>
                    <a:bodyPr wrap="none"/>
                    <a:lstStyle/>
                    <a:p>
                      <a:pPr algn="l"/>
                      <a:r>
                        <a:rPr sz="800" b="0">
                          <a:solidFill>
                            <a:srgbClr val="2E2E2E"/>
                          </a:solidFill>
                          <a:latin typeface="Calibri"/>
                        </a:rPr>
                        <a:t>0.24</a:t>
                      </a:r>
                    </a:p>
                  </a:txBody>
                  <a:tcPr marL="85725" marR="38100" marT="19050" marB="19050" anchor="ctr">
                    <a:solidFill>
                      <a:srgbClr val="FFFFFF"/>
                    </a:solidFill>
                  </a:tcPr>
                </a:tc>
                <a:tc>
                  <a:txBody>
                    <a:bodyPr wrap="none"/>
                    <a:lstStyle/>
                    <a:p>
                      <a:pPr algn="l"/>
                      <a:r>
                        <a:rPr sz="800" b="0">
                          <a:solidFill>
                            <a:srgbClr val="2E2E2E"/>
                          </a:solidFill>
                          <a:latin typeface="Calibri"/>
                        </a:rPr>
                        <a:t>0.31</a:t>
                      </a:r>
                    </a:p>
                  </a:txBody>
                  <a:tcPr marL="85725" marR="38100" marT="19050" marB="19050" anchor="ctr">
                    <a:solidFill>
                      <a:srgbClr val="FFFFFF"/>
                    </a:solidFill>
                  </a:tcPr>
                </a:tc>
                <a:tc>
                  <a:txBody>
                    <a:bodyPr wrap="none"/>
                    <a:lstStyle/>
                    <a:p>
                      <a:pPr algn="l"/>
                      <a:r>
                        <a:rPr sz="800" b="0">
                          <a:solidFill>
                            <a:srgbClr val="2E2E2E"/>
                          </a:solidFill>
                          <a:latin typeface="Calibri"/>
                        </a:rPr>
                        <a:t>0.38</a:t>
                      </a:r>
                    </a:p>
                  </a:txBody>
                  <a:tcPr marL="85725" marR="38100" marT="19050" marB="19050" anchor="ctr">
                    <a:solidFill>
                      <a:srgbClr val="FFFFFF"/>
                    </a:solidFill>
                  </a:tcPr>
                </a:tc>
                <a:tc>
                  <a:txBody>
                    <a:bodyPr wrap="none"/>
                    <a:lstStyle/>
                    <a:p>
                      <a:pPr algn="l"/>
                      <a:r>
                        <a:rPr sz="800" b="0">
                          <a:solidFill>
                            <a:srgbClr val="2E2E2E"/>
                          </a:solidFill>
                          <a:latin typeface="Calibri"/>
                        </a:rPr>
                        <a:t>0.46</a:t>
                      </a:r>
                    </a:p>
                  </a:txBody>
                  <a:tcPr marL="85725" marR="38100" marT="19050" marB="19050" anchor="ctr">
                    <a:solidFill>
                      <a:srgbClr val="FFFFFF"/>
                    </a:solidFill>
                  </a:tcPr>
                </a:tc>
                <a:tc>
                  <a:txBody>
                    <a:bodyPr wrap="none"/>
                    <a:lstStyle/>
                    <a:p>
                      <a:pPr algn="l"/>
                      <a:r>
                        <a:rPr sz="800" b="0">
                          <a:solidFill>
                            <a:srgbClr val="2E2E2E"/>
                          </a:solidFill>
                          <a:latin typeface="Calibri"/>
                        </a:rPr>
                        <a:t>0.54</a:t>
                      </a:r>
                    </a:p>
                  </a:txBody>
                  <a:tcPr marL="85725" marR="38100" marT="19050" marB="19050" anchor="ctr">
                    <a:solidFill>
                      <a:srgbClr val="FFFFFF"/>
                    </a:solidFill>
                  </a:tcPr>
                </a:tc>
                <a:tc>
                  <a:txBody>
                    <a:bodyPr wrap="none"/>
                    <a:lstStyle/>
                    <a:p>
                      <a:pPr algn="l"/>
                      <a:r>
                        <a:rPr sz="800" b="0">
                          <a:solidFill>
                            <a:srgbClr val="2E2E2E"/>
                          </a:solidFill>
                          <a:latin typeface="Calibri"/>
                        </a:rPr>
                        <a:t>0.63</a:t>
                      </a:r>
                    </a:p>
                  </a:txBody>
                  <a:tcPr marL="85725" marR="38100" marT="19050" marB="19050" anchor="ctr">
                    <a:solidFill>
                      <a:srgbClr val="FFFFFF"/>
                    </a:solidFill>
                  </a:tcPr>
                </a:tc>
                <a:tc>
                  <a:txBody>
                    <a:bodyPr wrap="none"/>
                    <a:lstStyle/>
                    <a:p>
                      <a:pPr algn="l"/>
                      <a:r>
                        <a:rPr sz="800" b="0">
                          <a:solidFill>
                            <a:srgbClr val="2E2E2E"/>
                          </a:solidFill>
                          <a:latin typeface="Calibri"/>
                        </a:rPr>
                        <a:t>0.73</a:t>
                      </a:r>
                    </a:p>
                  </a:txBody>
                  <a:tcPr marL="85725" marR="38100" marT="19050" marB="19050" anchor="ctr">
                    <a:solidFill>
                      <a:srgbClr val="FFFFFF"/>
                    </a:solidFill>
                  </a:tcPr>
                </a:tc>
                <a:tc>
                  <a:txBody>
                    <a:bodyPr wrap="none"/>
                    <a:lstStyle/>
                    <a:p>
                      <a:pPr algn="l"/>
                      <a:r>
                        <a:rPr sz="800" b="0">
                          <a:solidFill>
                            <a:srgbClr val="2E2E2E"/>
                          </a:solidFill>
                          <a:latin typeface="Calibri"/>
                        </a:rPr>
                        <a:t>0.83</a:t>
                      </a:r>
                    </a:p>
                  </a:txBody>
                  <a:tcPr marL="85725" marR="38100" marT="19050" marB="19050" anchor="ctr">
                    <a:solidFill>
                      <a:srgbClr val="FFFFFF"/>
                    </a:solidFill>
                  </a:tcPr>
                </a:tc>
                <a:tc>
                  <a:txBody>
                    <a:bodyPr wrap="none"/>
                    <a:lstStyle/>
                    <a:p>
                      <a:pPr algn="l"/>
                      <a:r>
                        <a:rPr sz="800" b="0">
                          <a:solidFill>
                            <a:srgbClr val="2E2E2E"/>
                          </a:solidFill>
                          <a:latin typeface="Calibri"/>
                        </a:rPr>
                        <a:t>0.94</a:t>
                      </a:r>
                    </a:p>
                  </a:txBody>
                  <a:tcPr marL="85725" marR="38100" marT="19050" marB="19050" anchor="ctr">
                    <a:solidFill>
                      <a:srgbClr val="FFFFFF"/>
                    </a:solidFill>
                  </a:tcPr>
                </a:tc>
                <a:tc>
                  <a:txBody>
                    <a:bodyPr wrap="none"/>
                    <a:lstStyle/>
                    <a:p>
                      <a:pPr algn="l"/>
                      <a:r>
                        <a:rPr sz="800" b="0">
                          <a:solidFill>
                            <a:srgbClr val="2E2E2E"/>
                          </a:solidFill>
                          <a:latin typeface="Calibri"/>
                        </a:rPr>
                        <a:t>1.05</a:t>
                      </a:r>
                    </a:p>
                  </a:txBody>
                  <a:tcPr marL="85725" marR="38100" marT="19050" marB="19050" anchor="ctr">
                    <a:solidFill>
                      <a:srgbClr val="FFFFFF"/>
                    </a:solidFill>
                  </a:tcPr>
                </a:tc>
                <a:tc>
                  <a:txBody>
                    <a:bodyPr wrap="none"/>
                    <a:lstStyle/>
                    <a:p>
                      <a:pPr algn="l"/>
                      <a:r>
                        <a:rPr sz="800" b="0">
                          <a:solidFill>
                            <a:srgbClr val="2E2E2E"/>
                          </a:solidFill>
                          <a:latin typeface="Calibri"/>
                        </a:rPr>
                        <a:t>1.17</a:t>
                      </a:r>
                    </a:p>
                  </a:txBody>
                  <a:tcPr marL="85725" marR="38100" marT="19050" marB="19050" anchor="ctr">
                    <a:solidFill>
                      <a:srgbClr val="FFFFFF"/>
                    </a:solidFill>
                  </a:tcPr>
                </a:tc>
                <a:tc>
                  <a:txBody>
                    <a:bodyPr wrap="none"/>
                    <a:lstStyle/>
                    <a:p>
                      <a:pPr algn="l"/>
                      <a:r>
                        <a:rPr sz="800" b="0">
                          <a:solidFill>
                            <a:srgbClr val="2E2E2E"/>
                          </a:solidFill>
                          <a:latin typeface="Calibri"/>
                        </a:rPr>
                        <a:t>1.30</a:t>
                      </a:r>
                    </a:p>
                  </a:txBody>
                  <a:tcPr marL="85725" marR="38100" marT="19050" marB="19050" anchor="ctr">
                    <a:solidFill>
                      <a:srgbClr val="FFFFFF"/>
                    </a:solidFill>
                  </a:tcPr>
                </a:tc>
                <a:tc>
                  <a:txBody>
                    <a:bodyPr wrap="none"/>
                    <a:lstStyle/>
                    <a:p>
                      <a:pPr algn="l"/>
                      <a:r>
                        <a:rPr sz="800" b="0">
                          <a:solidFill>
                            <a:srgbClr val="2E2E2E"/>
                          </a:solidFill>
                          <a:latin typeface="Calibri"/>
                        </a:rPr>
                        <a:t>1.44</a:t>
                      </a:r>
                    </a:p>
                  </a:txBody>
                  <a:tcPr marL="85725" marR="38100" marT="19050" marB="19050" anchor="ctr">
                    <a:solidFill>
                      <a:srgbClr val="FFFFFF"/>
                    </a:solidFill>
                  </a:tcPr>
                </a:tc>
                <a:tc>
                  <a:txBody>
                    <a:bodyPr wrap="none"/>
                    <a:lstStyle/>
                    <a:p>
                      <a:pPr algn="l"/>
                      <a:r>
                        <a:rPr sz="800" b="0">
                          <a:solidFill>
                            <a:srgbClr val="2E2E2E"/>
                          </a:solidFill>
                          <a:latin typeface="Calibri"/>
                        </a:rPr>
                        <a:t>14.2%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Yusimry</a:t>
                      </a:r>
                    </a:p>
                  </a:txBody>
                  <a:tcPr marL="85725" marR="38100" marT="19050" marB="19050" anchor="ctr">
                    <a:solidFill>
                      <a:srgbClr val="F5F8FA"/>
                    </a:solidFill>
                  </a:tcPr>
                </a:tc>
                <a:tc>
                  <a:txBody>
                    <a:bodyPr wrap="none"/>
                    <a:lstStyle/>
                    <a:p>
                      <a:pPr algn="l"/>
                      <a:r>
                        <a:rPr sz="800" b="0">
                          <a:solidFill>
                            <a:srgbClr val="2E2E2E"/>
                          </a:solidFill>
                          <a:latin typeface="Calibri"/>
                        </a:rPr>
                        <a:t>0.21</a:t>
                      </a:r>
                    </a:p>
                  </a:txBody>
                  <a:tcPr marL="85725" marR="38100" marT="19050" marB="19050" anchor="ctr">
                    <a:solidFill>
                      <a:srgbClr val="F5F8FA"/>
                    </a:solidFill>
                  </a:tcPr>
                </a:tc>
                <a:tc>
                  <a:txBody>
                    <a:bodyPr wrap="none"/>
                    <a:lstStyle/>
                    <a:p>
                      <a:pPr algn="l"/>
                      <a:r>
                        <a:rPr sz="800" b="0">
                          <a:solidFill>
                            <a:srgbClr val="2E2E2E"/>
                          </a:solidFill>
                          <a:latin typeface="Calibri"/>
                        </a:rPr>
                        <a:t>0.24</a:t>
                      </a:r>
                    </a:p>
                  </a:txBody>
                  <a:tcPr marL="85725" marR="38100" marT="19050" marB="19050" anchor="ctr">
                    <a:solidFill>
                      <a:srgbClr val="F5F8FA"/>
                    </a:solidFill>
                  </a:tcPr>
                </a:tc>
                <a:tc>
                  <a:txBody>
                    <a:bodyPr wrap="none"/>
                    <a:lstStyle/>
                    <a:p>
                      <a:pPr algn="l"/>
                      <a:r>
                        <a:rPr sz="800" b="0">
                          <a:solidFill>
                            <a:srgbClr val="2E2E2E"/>
                          </a:solidFill>
                          <a:latin typeface="Calibri"/>
                        </a:rPr>
                        <a:t>0.30</a:t>
                      </a:r>
                    </a:p>
                  </a:txBody>
                  <a:tcPr marL="85725" marR="38100" marT="19050" marB="19050" anchor="ctr">
                    <a:solidFill>
                      <a:srgbClr val="F5F8FA"/>
                    </a:solidFill>
                  </a:tcPr>
                </a:tc>
                <a:tc>
                  <a:txBody>
                    <a:bodyPr wrap="none"/>
                    <a:lstStyle/>
                    <a:p>
                      <a:pPr algn="l"/>
                      <a:r>
                        <a:rPr sz="800" b="0">
                          <a:solidFill>
                            <a:srgbClr val="2E2E2E"/>
                          </a:solidFill>
                          <a:latin typeface="Calibri"/>
                        </a:rPr>
                        <a:t>0.37</a:t>
                      </a:r>
                    </a:p>
                  </a:txBody>
                  <a:tcPr marL="85725" marR="38100" marT="19050" marB="19050" anchor="ctr">
                    <a:solidFill>
                      <a:srgbClr val="F5F8FA"/>
                    </a:solidFill>
                  </a:tcPr>
                </a:tc>
                <a:tc>
                  <a:txBody>
                    <a:bodyPr wrap="none"/>
                    <a:lstStyle/>
                    <a:p>
                      <a:pPr algn="l"/>
                      <a:r>
                        <a:rPr sz="800" b="0">
                          <a:solidFill>
                            <a:srgbClr val="2E2E2E"/>
                          </a:solidFill>
                          <a:latin typeface="Calibri"/>
                        </a:rPr>
                        <a:t>0.46</a:t>
                      </a:r>
                    </a:p>
                  </a:txBody>
                  <a:tcPr marL="85725" marR="38100" marT="19050" marB="19050" anchor="ctr">
                    <a:solidFill>
                      <a:srgbClr val="F5F8FA"/>
                    </a:solidFill>
                  </a:tcPr>
                </a:tc>
                <a:tc>
                  <a:txBody>
                    <a:bodyPr wrap="none"/>
                    <a:lstStyle/>
                    <a:p>
                      <a:pPr algn="l"/>
                      <a:r>
                        <a:rPr sz="800" b="0">
                          <a:solidFill>
                            <a:srgbClr val="2E2E2E"/>
                          </a:solidFill>
                          <a:latin typeface="Calibri"/>
                        </a:rPr>
                        <a:t>0.55</a:t>
                      </a:r>
                    </a:p>
                  </a:txBody>
                  <a:tcPr marL="85725" marR="38100" marT="19050" marB="19050" anchor="ctr">
                    <a:solidFill>
                      <a:srgbClr val="F5F8FA"/>
                    </a:solidFill>
                  </a:tcPr>
                </a:tc>
                <a:tc>
                  <a:txBody>
                    <a:bodyPr wrap="none"/>
                    <a:lstStyle/>
                    <a:p>
                      <a:pPr algn="l"/>
                      <a:r>
                        <a:rPr sz="800" b="0">
                          <a:solidFill>
                            <a:srgbClr val="2E2E2E"/>
                          </a:solidFill>
                          <a:latin typeface="Calibri"/>
                        </a:rPr>
                        <a:t>0.64</a:t>
                      </a:r>
                    </a:p>
                  </a:txBody>
                  <a:tcPr marL="85725" marR="38100" marT="19050" marB="19050" anchor="ctr">
                    <a:solidFill>
                      <a:srgbClr val="F5F8FA"/>
                    </a:solidFill>
                  </a:tcPr>
                </a:tc>
                <a:tc>
                  <a:txBody>
                    <a:bodyPr wrap="none"/>
                    <a:lstStyle/>
                    <a:p>
                      <a:pPr algn="l"/>
                      <a:r>
                        <a:rPr sz="800" b="0">
                          <a:solidFill>
                            <a:srgbClr val="2E2E2E"/>
                          </a:solidFill>
                          <a:latin typeface="Calibri"/>
                        </a:rPr>
                        <a:t>0.74</a:t>
                      </a:r>
                    </a:p>
                  </a:txBody>
                  <a:tcPr marL="85725" marR="38100" marT="19050" marB="19050" anchor="ctr">
                    <a:solidFill>
                      <a:srgbClr val="F5F8FA"/>
                    </a:solidFill>
                  </a:tcPr>
                </a:tc>
                <a:tc>
                  <a:txBody>
                    <a:bodyPr wrap="none"/>
                    <a:lstStyle/>
                    <a:p>
                      <a:pPr algn="l"/>
                      <a:r>
                        <a:rPr sz="800" b="0">
                          <a:solidFill>
                            <a:srgbClr val="2E2E2E"/>
                          </a:solidFill>
                          <a:latin typeface="Calibri"/>
                        </a:rPr>
                        <a:t>0.83</a:t>
                      </a:r>
                    </a:p>
                  </a:txBody>
                  <a:tcPr marL="85725" marR="38100" marT="19050" marB="19050" anchor="ctr">
                    <a:solidFill>
                      <a:srgbClr val="F5F8FA"/>
                    </a:solidFill>
                  </a:tcPr>
                </a:tc>
                <a:tc>
                  <a:txBody>
                    <a:bodyPr wrap="none"/>
                    <a:lstStyle/>
                    <a:p>
                      <a:pPr algn="l"/>
                      <a:r>
                        <a:rPr sz="800" b="0">
                          <a:solidFill>
                            <a:srgbClr val="2E2E2E"/>
                          </a:solidFill>
                          <a:latin typeface="Calibri"/>
                        </a:rPr>
                        <a:t>0.93</a:t>
                      </a:r>
                    </a:p>
                  </a:txBody>
                  <a:tcPr marL="85725" marR="38100" marT="19050" marB="19050" anchor="ctr">
                    <a:solidFill>
                      <a:srgbClr val="F5F8FA"/>
                    </a:solidFill>
                  </a:tcPr>
                </a:tc>
                <a:tc>
                  <a:txBody>
                    <a:bodyPr wrap="none"/>
                    <a:lstStyle/>
                    <a:p>
                      <a:pPr algn="l"/>
                      <a:r>
                        <a:rPr sz="800" b="0">
                          <a:solidFill>
                            <a:srgbClr val="2E2E2E"/>
                          </a:solidFill>
                          <a:latin typeface="Calibri"/>
                        </a:rPr>
                        <a:t>1.02</a:t>
                      </a:r>
                    </a:p>
                  </a:txBody>
                  <a:tcPr marL="85725" marR="38100" marT="19050" marB="19050" anchor="ctr">
                    <a:solidFill>
                      <a:srgbClr val="F5F8FA"/>
                    </a:solidFill>
                  </a:tcPr>
                </a:tc>
                <a:tc>
                  <a:txBody>
                    <a:bodyPr wrap="none"/>
                    <a:lstStyle/>
                    <a:p>
                      <a:pPr algn="l"/>
                      <a:r>
                        <a:rPr sz="800" b="0">
                          <a:solidFill>
                            <a:srgbClr val="2E2E2E"/>
                          </a:solidFill>
                          <a:latin typeface="Calibri"/>
                        </a:rPr>
                        <a:t>1.12</a:t>
                      </a:r>
                    </a:p>
                  </a:txBody>
                  <a:tcPr marL="85725" marR="38100" marT="19050" marB="19050" anchor="ctr">
                    <a:solidFill>
                      <a:srgbClr val="F5F8FA"/>
                    </a:solidFill>
                  </a:tcPr>
                </a:tc>
                <a:tc>
                  <a:txBody>
                    <a:bodyPr wrap="none"/>
                    <a:lstStyle/>
                    <a:p>
                      <a:pPr algn="l"/>
                      <a:r>
                        <a:rPr sz="800" b="0">
                          <a:solidFill>
                            <a:srgbClr val="2E2E2E"/>
                          </a:solidFill>
                          <a:latin typeface="Calibri"/>
                        </a:rPr>
                        <a:t>1.22</a:t>
                      </a:r>
                    </a:p>
                  </a:txBody>
                  <a:tcPr marL="85725" marR="38100" marT="19050" marB="19050" anchor="ctr">
                    <a:solidFill>
                      <a:srgbClr val="F5F8FA"/>
                    </a:solidFill>
                  </a:tcPr>
                </a:tc>
                <a:tc>
                  <a:txBody>
                    <a:bodyPr wrap="none"/>
                    <a:lstStyle/>
                    <a:p>
                      <a:pPr algn="l"/>
                      <a:r>
                        <a:rPr sz="800" b="0">
                          <a:solidFill>
                            <a:srgbClr val="2E2E2E"/>
                          </a:solidFill>
                          <a:latin typeface="Calibri"/>
                        </a:rPr>
                        <a:t>1.31</a:t>
                      </a:r>
                    </a:p>
                  </a:txBody>
                  <a:tcPr marL="85725" marR="38100" marT="19050" marB="19050" anchor="ctr">
                    <a:solidFill>
                      <a:srgbClr val="F5F8FA"/>
                    </a:solidFill>
                  </a:tcPr>
                </a:tc>
                <a:tc>
                  <a:txBody>
                    <a:bodyPr wrap="none"/>
                    <a:lstStyle/>
                    <a:p>
                      <a:pPr algn="l"/>
                      <a:r>
                        <a:rPr sz="800" b="0">
                          <a:solidFill>
                            <a:srgbClr val="2E2E2E"/>
                          </a:solidFill>
                          <a:latin typeface="Calibri"/>
                        </a:rPr>
                        <a:t>1.41</a:t>
                      </a:r>
                    </a:p>
                  </a:txBody>
                  <a:tcPr marL="85725" marR="38100" marT="19050" marB="19050" anchor="ctr">
                    <a:solidFill>
                      <a:srgbClr val="F5F8FA"/>
                    </a:solidFill>
                  </a:tcPr>
                </a:tc>
                <a:tc>
                  <a:txBody>
                    <a:bodyPr wrap="none"/>
                    <a:lstStyle/>
                    <a:p>
                      <a:pPr algn="l"/>
                      <a:r>
                        <a:rPr sz="800" b="0">
                          <a:solidFill>
                            <a:srgbClr val="2E2E2E"/>
                          </a:solidFill>
                          <a:latin typeface="Calibri"/>
                        </a:rPr>
                        <a:t>1.51</a:t>
                      </a:r>
                    </a:p>
                  </a:txBody>
                  <a:tcPr marL="85725" marR="38100" marT="19050" marB="19050" anchor="ctr">
                    <a:solidFill>
                      <a:srgbClr val="F5F8FA"/>
                    </a:solidFill>
                  </a:tcPr>
                </a:tc>
                <a:tc>
                  <a:txBody>
                    <a:bodyPr wrap="none"/>
                    <a:lstStyle/>
                    <a:p>
                      <a:pPr algn="l"/>
                      <a:r>
                        <a:rPr sz="800" b="0">
                          <a:solidFill>
                            <a:srgbClr val="2E2E2E"/>
                          </a:solidFill>
                          <a:latin typeface="Calibri"/>
                        </a:rPr>
                        <a:t>10.6%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Yuflyma</a:t>
                      </a:r>
                    </a:p>
                  </a:txBody>
                  <a:tcPr marL="85725" marR="38100" marT="19050" marB="19050" anchor="ctr">
                    <a:solidFill>
                      <a:srgbClr val="FFFFFF"/>
                    </a:solidFill>
                  </a:tcPr>
                </a:tc>
                <a:tc>
                  <a:txBody>
                    <a:bodyPr wrap="none"/>
                    <a:lstStyle/>
                    <a:p>
                      <a:pPr algn="l"/>
                      <a:r>
                        <a:rPr sz="800" b="0">
                          <a:solidFill>
                            <a:srgbClr val="2E2E2E"/>
                          </a:solidFill>
                          <a:latin typeface="Calibri"/>
                        </a:rPr>
                        <a:t>0.10</a:t>
                      </a:r>
                    </a:p>
                  </a:txBody>
                  <a:tcPr marL="85725" marR="38100" marT="19050" marB="19050" anchor="ctr">
                    <a:solidFill>
                      <a:srgbClr val="FFFFFF"/>
                    </a:solidFill>
                  </a:tcPr>
                </a:tc>
                <a:tc>
                  <a:txBody>
                    <a:bodyPr wrap="none"/>
                    <a:lstStyle/>
                    <a:p>
                      <a:pPr algn="l"/>
                      <a:r>
                        <a:rPr sz="800" b="0">
                          <a:solidFill>
                            <a:srgbClr val="2E2E2E"/>
                          </a:solidFill>
                          <a:latin typeface="Calibri"/>
                        </a:rPr>
                        <a:t>0.12</a:t>
                      </a:r>
                    </a:p>
                  </a:txBody>
                  <a:tcPr marL="85725" marR="38100" marT="19050" marB="19050" anchor="ctr">
                    <a:solidFill>
                      <a:srgbClr val="FFFFFF"/>
                    </a:solidFill>
                  </a:tcPr>
                </a:tc>
                <a:tc>
                  <a:txBody>
                    <a:bodyPr wrap="none"/>
                    <a:lstStyle/>
                    <a:p>
                      <a:pPr algn="l"/>
                      <a:r>
                        <a:rPr sz="800" b="0">
                          <a:solidFill>
                            <a:srgbClr val="2E2E2E"/>
                          </a:solidFill>
                          <a:latin typeface="Calibri"/>
                        </a:rPr>
                        <a:t>0.14</a:t>
                      </a:r>
                    </a:p>
                  </a:txBody>
                  <a:tcPr marL="85725" marR="38100" marT="19050" marB="19050" anchor="ctr">
                    <a:solidFill>
                      <a:srgbClr val="FFFFFF"/>
                    </a:solidFill>
                  </a:tcPr>
                </a:tc>
                <a:tc>
                  <a:txBody>
                    <a:bodyPr wrap="none"/>
                    <a:lstStyle/>
                    <a:p>
                      <a:pPr algn="l"/>
                      <a:r>
                        <a:rPr sz="800" b="0">
                          <a:solidFill>
                            <a:srgbClr val="2E2E2E"/>
                          </a:solidFill>
                          <a:latin typeface="Calibri"/>
                        </a:rPr>
                        <a:t>0.18</a:t>
                      </a:r>
                    </a:p>
                  </a:txBody>
                  <a:tcPr marL="85725" marR="38100" marT="19050" marB="19050" anchor="ctr">
                    <a:solidFill>
                      <a:srgbClr val="FFFFFF"/>
                    </a:solidFill>
                  </a:tcPr>
                </a:tc>
                <a:tc>
                  <a:txBody>
                    <a:bodyPr wrap="none"/>
                    <a:lstStyle/>
                    <a:p>
                      <a:pPr algn="l"/>
                      <a:r>
                        <a:rPr sz="800" b="0">
                          <a:solidFill>
                            <a:srgbClr val="2E2E2E"/>
                          </a:solidFill>
                          <a:latin typeface="Calibri"/>
                        </a:rPr>
                        <a:t>0.22</a:t>
                      </a:r>
                    </a:p>
                  </a:txBody>
                  <a:tcPr marL="85725" marR="38100" marT="19050" marB="19050" anchor="ctr">
                    <a:solidFill>
                      <a:srgbClr val="FFFFFF"/>
                    </a:solidFill>
                  </a:tcPr>
                </a:tc>
                <a:tc>
                  <a:txBody>
                    <a:bodyPr wrap="none"/>
                    <a:lstStyle/>
                    <a:p>
                      <a:pPr algn="l"/>
                      <a:r>
                        <a:rPr sz="800" b="0">
                          <a:solidFill>
                            <a:srgbClr val="2E2E2E"/>
                          </a:solidFill>
                          <a:latin typeface="Calibri"/>
                        </a:rPr>
                        <a:t>0.27</a:t>
                      </a:r>
                    </a:p>
                  </a:txBody>
                  <a:tcPr marL="85725" marR="38100" marT="19050" marB="19050" anchor="ctr">
                    <a:solidFill>
                      <a:srgbClr val="FFFFFF"/>
                    </a:solidFill>
                  </a:tcPr>
                </a:tc>
                <a:tc>
                  <a:txBody>
                    <a:bodyPr wrap="none"/>
                    <a:lstStyle/>
                    <a:p>
                      <a:pPr algn="l"/>
                      <a:r>
                        <a:rPr sz="800" b="0">
                          <a:solidFill>
                            <a:srgbClr val="2E2E2E"/>
                          </a:solidFill>
                          <a:latin typeface="Calibri"/>
                        </a:rPr>
                        <a:t>0.32</a:t>
                      </a:r>
                    </a:p>
                  </a:txBody>
                  <a:tcPr marL="85725" marR="38100" marT="19050" marB="19050" anchor="ctr">
                    <a:solidFill>
                      <a:srgbClr val="FFFFFF"/>
                    </a:solidFill>
                  </a:tcPr>
                </a:tc>
                <a:tc>
                  <a:txBody>
                    <a:bodyPr wrap="none"/>
                    <a:lstStyle/>
                    <a:p>
                      <a:pPr algn="l"/>
                      <a:r>
                        <a:rPr sz="800" b="0">
                          <a:solidFill>
                            <a:srgbClr val="2E2E2E"/>
                          </a:solidFill>
                          <a:latin typeface="Calibri"/>
                        </a:rPr>
                        <a:t>0.37</a:t>
                      </a:r>
                    </a:p>
                  </a:txBody>
                  <a:tcPr marL="85725" marR="38100" marT="19050" marB="19050" anchor="ctr">
                    <a:solidFill>
                      <a:srgbClr val="FFFFFF"/>
                    </a:solidFill>
                  </a:tcPr>
                </a:tc>
                <a:tc>
                  <a:txBody>
                    <a:bodyPr wrap="none"/>
                    <a:lstStyle/>
                    <a:p>
                      <a:pPr algn="l"/>
                      <a:r>
                        <a:rPr sz="800" b="0">
                          <a:solidFill>
                            <a:srgbClr val="2E2E2E"/>
                          </a:solidFill>
                          <a:latin typeface="Calibri"/>
                        </a:rPr>
                        <a:t>0.42</a:t>
                      </a:r>
                    </a:p>
                  </a:txBody>
                  <a:tcPr marL="85725" marR="38100" marT="19050" marB="19050" anchor="ctr">
                    <a:solidFill>
                      <a:srgbClr val="FFFFFF"/>
                    </a:solidFill>
                  </a:tcPr>
                </a:tc>
                <a:tc>
                  <a:txBody>
                    <a:bodyPr wrap="none"/>
                    <a:lstStyle/>
                    <a:p>
                      <a:pPr algn="l"/>
                      <a:r>
                        <a:rPr sz="800" b="0">
                          <a:solidFill>
                            <a:srgbClr val="2E2E2E"/>
                          </a:solidFill>
                          <a:latin typeface="Calibri"/>
                        </a:rPr>
                        <a:t>0.48</a:t>
                      </a:r>
                    </a:p>
                  </a:txBody>
                  <a:tcPr marL="85725" marR="38100" marT="19050" marB="19050" anchor="ctr">
                    <a:solidFill>
                      <a:srgbClr val="FFFFFF"/>
                    </a:solidFill>
                  </a:tcPr>
                </a:tc>
                <a:tc>
                  <a:txBody>
                    <a:bodyPr wrap="none"/>
                    <a:lstStyle/>
                    <a:p>
                      <a:pPr algn="l"/>
                      <a:r>
                        <a:rPr sz="800" b="0">
                          <a:solidFill>
                            <a:srgbClr val="2E2E2E"/>
                          </a:solidFill>
                          <a:latin typeface="Calibri"/>
                        </a:rPr>
                        <a:t>0.53</a:t>
                      </a:r>
                    </a:p>
                  </a:txBody>
                  <a:tcPr marL="85725" marR="38100" marT="19050" marB="19050" anchor="ctr">
                    <a:solidFill>
                      <a:srgbClr val="FFFFFF"/>
                    </a:solidFill>
                  </a:tcPr>
                </a:tc>
                <a:tc>
                  <a:txBody>
                    <a:bodyPr wrap="none"/>
                    <a:lstStyle/>
                    <a:p>
                      <a:pPr algn="l"/>
                      <a:r>
                        <a:rPr sz="800" b="0">
                          <a:solidFill>
                            <a:srgbClr val="2E2E2E"/>
                          </a:solidFill>
                          <a:latin typeface="Calibri"/>
                        </a:rPr>
                        <a:t>0.59</a:t>
                      </a:r>
                    </a:p>
                  </a:txBody>
                  <a:tcPr marL="85725" marR="38100" marT="19050" marB="19050" anchor="ctr">
                    <a:solidFill>
                      <a:srgbClr val="FFFFFF"/>
                    </a:solidFill>
                  </a:tcPr>
                </a:tc>
                <a:tc>
                  <a:txBody>
                    <a:bodyPr wrap="none"/>
                    <a:lstStyle/>
                    <a:p>
                      <a:pPr algn="l"/>
                      <a:r>
                        <a:rPr sz="800" b="0">
                          <a:solidFill>
                            <a:srgbClr val="2E2E2E"/>
                          </a:solidFill>
                          <a:latin typeface="Calibri"/>
                        </a:rPr>
                        <a:t>0.64</a:t>
                      </a:r>
                    </a:p>
                  </a:txBody>
                  <a:tcPr marL="85725" marR="38100" marT="19050" marB="19050" anchor="ctr">
                    <a:solidFill>
                      <a:srgbClr val="FFFFFF"/>
                    </a:solidFill>
                  </a:tcPr>
                </a:tc>
                <a:tc>
                  <a:txBody>
                    <a:bodyPr wrap="none"/>
                    <a:lstStyle/>
                    <a:p>
                      <a:pPr algn="l"/>
                      <a:r>
                        <a:rPr sz="800" b="0">
                          <a:solidFill>
                            <a:srgbClr val="2E2E2E"/>
                          </a:solidFill>
                          <a:latin typeface="Calibri"/>
                        </a:rPr>
                        <a:t>0.70</a:t>
                      </a:r>
                    </a:p>
                  </a:txBody>
                  <a:tcPr marL="85725" marR="38100" marT="19050" marB="19050" anchor="ctr">
                    <a:solidFill>
                      <a:srgbClr val="FFFFFF"/>
                    </a:solidFill>
                  </a:tcPr>
                </a:tc>
                <a:tc>
                  <a:txBody>
                    <a:bodyPr wrap="none"/>
                    <a:lstStyle/>
                    <a:p>
                      <a:pPr algn="l"/>
                      <a:r>
                        <a:rPr sz="800" b="0">
                          <a:solidFill>
                            <a:srgbClr val="2E2E2E"/>
                          </a:solidFill>
                          <a:latin typeface="Calibri"/>
                        </a:rPr>
                        <a:t>0.76</a:t>
                      </a:r>
                    </a:p>
                  </a:txBody>
                  <a:tcPr marL="85725" marR="38100" marT="19050" marB="19050" anchor="ctr">
                    <a:solidFill>
                      <a:srgbClr val="FFFFFF"/>
                    </a:solidFill>
                  </a:tcPr>
                </a:tc>
                <a:tc>
                  <a:txBody>
                    <a:bodyPr wrap="none"/>
                    <a:lstStyle/>
                    <a:p>
                      <a:pPr algn="l"/>
                      <a:r>
                        <a:rPr sz="800" b="0">
                          <a:solidFill>
                            <a:srgbClr val="2E2E2E"/>
                          </a:solidFill>
                          <a:latin typeface="Calibri"/>
                        </a:rPr>
                        <a:t>0.82</a:t>
                      </a:r>
                    </a:p>
                  </a:txBody>
                  <a:tcPr marL="85725" marR="38100" marT="19050" marB="19050" anchor="ctr">
                    <a:solidFill>
                      <a:srgbClr val="FFFFFF"/>
                    </a:solidFill>
                  </a:tcPr>
                </a:tc>
                <a:tc>
                  <a:txBody>
                    <a:bodyPr wrap="none"/>
                    <a:lstStyle/>
                    <a:p>
                      <a:pPr algn="l"/>
                      <a:r>
                        <a:rPr sz="800" b="0">
                          <a:solidFill>
                            <a:srgbClr val="2E2E2E"/>
                          </a:solidFill>
                          <a:latin typeface="Calibri"/>
                        </a:rPr>
                        <a:t>11.8%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Simlandi</a:t>
                      </a:r>
                    </a:p>
                  </a:txBody>
                  <a:tcPr marL="85725" marR="38100" marT="19050" marB="19050" anchor="ctr">
                    <a:solidFill>
                      <a:srgbClr val="F5F8FA"/>
                    </a:solidFill>
                  </a:tcPr>
                </a:tc>
                <a:tc>
                  <a:txBody>
                    <a:bodyPr wrap="none"/>
                    <a:lstStyle/>
                    <a:p>
                      <a:pPr algn="l"/>
                      <a:r>
                        <a:rPr sz="800" b="0">
                          <a:solidFill>
                            <a:srgbClr val="2E2E2E"/>
                          </a:solidFill>
                          <a:latin typeface="Calibri"/>
                        </a:rPr>
                        <a:t>0.19</a:t>
                      </a:r>
                    </a:p>
                  </a:txBody>
                  <a:tcPr marL="85725" marR="38100" marT="19050" marB="19050" anchor="ctr">
                    <a:solidFill>
                      <a:srgbClr val="F5F8FA"/>
                    </a:solidFill>
                  </a:tcPr>
                </a:tc>
                <a:tc>
                  <a:txBody>
                    <a:bodyPr wrap="none"/>
                    <a:lstStyle/>
                    <a:p>
                      <a:pPr algn="l"/>
                      <a:r>
                        <a:rPr sz="800" b="0">
                          <a:solidFill>
                            <a:srgbClr val="2E2E2E"/>
                          </a:solidFill>
                          <a:latin typeface="Calibri"/>
                        </a:rPr>
                        <a:t>0.22</a:t>
                      </a:r>
                    </a:p>
                  </a:txBody>
                  <a:tcPr marL="85725" marR="38100" marT="19050" marB="19050" anchor="ctr">
                    <a:solidFill>
                      <a:srgbClr val="F5F8FA"/>
                    </a:solidFill>
                  </a:tcPr>
                </a:tc>
                <a:tc>
                  <a:txBody>
                    <a:bodyPr wrap="none"/>
                    <a:lstStyle/>
                    <a:p>
                      <a:pPr algn="l"/>
                      <a:r>
                        <a:rPr sz="800" b="0">
                          <a:solidFill>
                            <a:srgbClr val="2E2E2E"/>
                          </a:solidFill>
                          <a:latin typeface="Calibri"/>
                        </a:rPr>
                        <a:t>0.28</a:t>
                      </a:r>
                    </a:p>
                  </a:txBody>
                  <a:tcPr marL="85725" marR="38100" marT="19050" marB="19050" anchor="ctr">
                    <a:solidFill>
                      <a:srgbClr val="F5F8FA"/>
                    </a:solidFill>
                  </a:tcPr>
                </a:tc>
                <a:tc>
                  <a:txBody>
                    <a:bodyPr wrap="none"/>
                    <a:lstStyle/>
                    <a:p>
                      <a:pPr algn="l"/>
                      <a:r>
                        <a:rPr sz="800" b="0">
                          <a:solidFill>
                            <a:srgbClr val="2E2E2E"/>
                          </a:solidFill>
                          <a:latin typeface="Calibri"/>
                        </a:rPr>
                        <a:t>0.37</a:t>
                      </a:r>
                    </a:p>
                  </a:txBody>
                  <a:tcPr marL="85725" marR="38100" marT="19050" marB="19050" anchor="ctr">
                    <a:solidFill>
                      <a:srgbClr val="F5F8FA"/>
                    </a:solidFill>
                  </a:tcPr>
                </a:tc>
                <a:tc>
                  <a:txBody>
                    <a:bodyPr wrap="none"/>
                    <a:lstStyle/>
                    <a:p>
                      <a:pPr algn="l"/>
                      <a:r>
                        <a:rPr sz="800" b="0">
                          <a:solidFill>
                            <a:srgbClr val="2E2E2E"/>
                          </a:solidFill>
                          <a:latin typeface="Calibri"/>
                        </a:rPr>
                        <a:t>0.47</a:t>
                      </a:r>
                    </a:p>
                  </a:txBody>
                  <a:tcPr marL="85725" marR="38100" marT="19050" marB="19050" anchor="ctr">
                    <a:solidFill>
                      <a:srgbClr val="F5F8FA"/>
                    </a:solidFill>
                  </a:tcPr>
                </a:tc>
                <a:tc>
                  <a:txBody>
                    <a:bodyPr wrap="none"/>
                    <a:lstStyle/>
                    <a:p>
                      <a:pPr algn="l"/>
                      <a:r>
                        <a:rPr sz="800" b="0">
                          <a:solidFill>
                            <a:srgbClr val="2E2E2E"/>
                          </a:solidFill>
                          <a:latin typeface="Calibri"/>
                        </a:rPr>
                        <a:t>0.59</a:t>
                      </a:r>
                    </a:p>
                  </a:txBody>
                  <a:tcPr marL="85725" marR="38100" marT="19050" marB="19050" anchor="ctr">
                    <a:solidFill>
                      <a:srgbClr val="F5F8FA"/>
                    </a:solidFill>
                  </a:tcPr>
                </a:tc>
                <a:tc>
                  <a:txBody>
                    <a:bodyPr wrap="none"/>
                    <a:lstStyle/>
                    <a:p>
                      <a:pPr algn="l"/>
                      <a:r>
                        <a:rPr sz="800" b="0">
                          <a:solidFill>
                            <a:srgbClr val="2E2E2E"/>
                          </a:solidFill>
                          <a:latin typeface="Calibri"/>
                        </a:rPr>
                        <a:t>0.72</a:t>
                      </a:r>
                    </a:p>
                  </a:txBody>
                  <a:tcPr marL="85725" marR="38100" marT="19050" marB="19050" anchor="ctr">
                    <a:solidFill>
                      <a:srgbClr val="F5F8FA"/>
                    </a:solidFill>
                  </a:tcPr>
                </a:tc>
                <a:tc>
                  <a:txBody>
                    <a:bodyPr wrap="none"/>
                    <a:lstStyle/>
                    <a:p>
                      <a:pPr algn="l"/>
                      <a:r>
                        <a:rPr sz="800" b="0">
                          <a:solidFill>
                            <a:srgbClr val="2E2E2E"/>
                          </a:solidFill>
                          <a:latin typeface="Calibri"/>
                        </a:rPr>
                        <a:t>0.85</a:t>
                      </a:r>
                    </a:p>
                  </a:txBody>
                  <a:tcPr marL="85725" marR="38100" marT="19050" marB="19050" anchor="ctr">
                    <a:solidFill>
                      <a:srgbClr val="F5F8FA"/>
                    </a:solidFill>
                  </a:tcPr>
                </a:tc>
                <a:tc>
                  <a:txBody>
                    <a:bodyPr wrap="none"/>
                    <a:lstStyle/>
                    <a:p>
                      <a:pPr algn="l"/>
                      <a:r>
                        <a:rPr sz="800" b="0">
                          <a:solidFill>
                            <a:srgbClr val="2E2E2E"/>
                          </a:solidFill>
                          <a:latin typeface="Calibri"/>
                        </a:rPr>
                        <a:t>1.00</a:t>
                      </a:r>
                    </a:p>
                  </a:txBody>
                  <a:tcPr marL="85725" marR="38100" marT="19050" marB="19050" anchor="ctr">
                    <a:solidFill>
                      <a:srgbClr val="F5F8FA"/>
                    </a:solidFill>
                  </a:tcPr>
                </a:tc>
                <a:tc>
                  <a:txBody>
                    <a:bodyPr wrap="none"/>
                    <a:lstStyle/>
                    <a:p>
                      <a:pPr algn="l"/>
                      <a:r>
                        <a:rPr sz="800" b="0">
                          <a:solidFill>
                            <a:srgbClr val="2E2E2E"/>
                          </a:solidFill>
                          <a:latin typeface="Calibri"/>
                        </a:rPr>
                        <a:t>1.16</a:t>
                      </a:r>
                    </a:p>
                  </a:txBody>
                  <a:tcPr marL="85725" marR="38100" marT="19050" marB="19050" anchor="ctr">
                    <a:solidFill>
                      <a:srgbClr val="F5F8FA"/>
                    </a:solidFill>
                  </a:tcPr>
                </a:tc>
                <a:tc>
                  <a:txBody>
                    <a:bodyPr wrap="none"/>
                    <a:lstStyle/>
                    <a:p>
                      <a:pPr algn="l"/>
                      <a:r>
                        <a:rPr sz="800" b="0">
                          <a:solidFill>
                            <a:srgbClr val="2E2E2E"/>
                          </a:solidFill>
                          <a:latin typeface="Calibri"/>
                        </a:rPr>
                        <a:t>1.33</a:t>
                      </a:r>
                    </a:p>
                  </a:txBody>
                  <a:tcPr marL="85725" marR="38100" marT="19050" marB="19050" anchor="ctr">
                    <a:solidFill>
                      <a:srgbClr val="F5F8FA"/>
                    </a:solidFill>
                  </a:tcPr>
                </a:tc>
                <a:tc>
                  <a:txBody>
                    <a:bodyPr wrap="none"/>
                    <a:lstStyle/>
                    <a:p>
                      <a:pPr algn="l"/>
                      <a:r>
                        <a:rPr sz="800" b="0">
                          <a:solidFill>
                            <a:srgbClr val="2E2E2E"/>
                          </a:solidFill>
                          <a:latin typeface="Calibri"/>
                        </a:rPr>
                        <a:t>1.52</a:t>
                      </a:r>
                    </a:p>
                  </a:txBody>
                  <a:tcPr marL="85725" marR="38100" marT="19050" marB="19050" anchor="ctr">
                    <a:solidFill>
                      <a:srgbClr val="F5F8FA"/>
                    </a:solidFill>
                  </a:tcPr>
                </a:tc>
                <a:tc>
                  <a:txBody>
                    <a:bodyPr wrap="none"/>
                    <a:lstStyle/>
                    <a:p>
                      <a:pPr algn="l"/>
                      <a:r>
                        <a:rPr sz="800" b="0">
                          <a:solidFill>
                            <a:srgbClr val="2E2E2E"/>
                          </a:solidFill>
                          <a:latin typeface="Calibri"/>
                        </a:rPr>
                        <a:t>1.71</a:t>
                      </a:r>
                    </a:p>
                  </a:txBody>
                  <a:tcPr marL="85725" marR="38100" marT="19050" marB="19050" anchor="ctr">
                    <a:solidFill>
                      <a:srgbClr val="F5F8FA"/>
                    </a:solidFill>
                  </a:tcPr>
                </a:tc>
                <a:tc>
                  <a:txBody>
                    <a:bodyPr wrap="none"/>
                    <a:lstStyle/>
                    <a:p>
                      <a:pPr algn="l"/>
                      <a:r>
                        <a:rPr sz="800" b="0">
                          <a:solidFill>
                            <a:srgbClr val="2E2E2E"/>
                          </a:solidFill>
                          <a:latin typeface="Calibri"/>
                        </a:rPr>
                        <a:t>1.92</a:t>
                      </a:r>
                    </a:p>
                  </a:txBody>
                  <a:tcPr marL="85725" marR="38100" marT="19050" marB="19050" anchor="ctr">
                    <a:solidFill>
                      <a:srgbClr val="F5F8FA"/>
                    </a:solidFill>
                  </a:tcPr>
                </a:tc>
                <a:tc>
                  <a:txBody>
                    <a:bodyPr wrap="none"/>
                    <a:lstStyle/>
                    <a:p>
                      <a:pPr algn="l"/>
                      <a:r>
                        <a:rPr sz="800" b="0">
                          <a:solidFill>
                            <a:srgbClr val="2E2E2E"/>
                          </a:solidFill>
                          <a:latin typeface="Calibri"/>
                        </a:rPr>
                        <a:t>2.15</a:t>
                      </a:r>
                    </a:p>
                  </a:txBody>
                  <a:tcPr marL="85725" marR="38100" marT="19050" marB="19050" anchor="ctr">
                    <a:solidFill>
                      <a:srgbClr val="F5F8FA"/>
                    </a:solidFill>
                  </a:tcPr>
                </a:tc>
                <a:tc>
                  <a:txBody>
                    <a:bodyPr wrap="none"/>
                    <a:lstStyle/>
                    <a:p>
                      <a:pPr algn="l"/>
                      <a:r>
                        <a:rPr sz="800" b="0">
                          <a:solidFill>
                            <a:srgbClr val="2E2E2E"/>
                          </a:solidFill>
                          <a:latin typeface="Calibri"/>
                        </a:rPr>
                        <a:t>2.39</a:t>
                      </a:r>
                    </a:p>
                  </a:txBody>
                  <a:tcPr marL="85725" marR="38100" marT="19050" marB="19050" anchor="ctr">
                    <a:solidFill>
                      <a:srgbClr val="F5F8FA"/>
                    </a:solidFill>
                  </a:tcPr>
                </a:tc>
                <a:tc>
                  <a:txBody>
                    <a:bodyPr wrap="none"/>
                    <a:lstStyle/>
                    <a:p>
                      <a:pPr algn="l"/>
                      <a:r>
                        <a:rPr sz="800" b="0">
                          <a:solidFill>
                            <a:srgbClr val="2E2E2E"/>
                          </a:solidFill>
                          <a:latin typeface="Calibri"/>
                        </a:rPr>
                        <a:t>15.0%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800" b="0">
                          <a:solidFill>
                            <a:srgbClr val="2E2E2E"/>
                          </a:solidFill>
                          <a:latin typeface="Calibri"/>
                        </a:rPr>
                        <a:t>0.12</a:t>
                      </a:r>
                    </a:p>
                  </a:txBody>
                  <a:tcPr marL="85725" marR="38100" marT="19050" marB="19050" anchor="ctr">
                    <a:solidFill>
                      <a:srgbClr val="FFFFFF"/>
                    </a:solidFill>
                  </a:tcPr>
                </a:tc>
                <a:tc>
                  <a:txBody>
                    <a:bodyPr wrap="none"/>
                    <a:lstStyle/>
                    <a:p>
                      <a:pPr algn="l"/>
                      <a:r>
                        <a:rPr sz="800" b="0">
                          <a:solidFill>
                            <a:srgbClr val="2E2E2E"/>
                          </a:solidFill>
                          <a:latin typeface="Calibri"/>
                        </a:rPr>
                        <a:t>0.14</a:t>
                      </a:r>
                    </a:p>
                  </a:txBody>
                  <a:tcPr marL="85725" marR="38100" marT="19050" marB="19050" anchor="ctr">
                    <a:solidFill>
                      <a:srgbClr val="FFFFFF"/>
                    </a:solidFill>
                  </a:tcPr>
                </a:tc>
                <a:tc>
                  <a:txBody>
                    <a:bodyPr wrap="none"/>
                    <a:lstStyle/>
                    <a:p>
                      <a:pPr algn="l"/>
                      <a:r>
                        <a:rPr sz="800" b="0">
                          <a:solidFill>
                            <a:srgbClr val="2E2E2E"/>
                          </a:solidFill>
                          <a:latin typeface="Calibri"/>
                        </a:rPr>
                        <a:t>0.17</a:t>
                      </a:r>
                    </a:p>
                  </a:txBody>
                  <a:tcPr marL="85725" marR="38100" marT="19050" marB="19050" anchor="ctr">
                    <a:solidFill>
                      <a:srgbClr val="FFFFFF"/>
                    </a:solidFill>
                  </a:tcPr>
                </a:tc>
                <a:tc>
                  <a:txBody>
                    <a:bodyPr wrap="none"/>
                    <a:lstStyle/>
                    <a:p>
                      <a:pPr algn="l"/>
                      <a:r>
                        <a:rPr sz="800" b="0">
                          <a:solidFill>
                            <a:srgbClr val="2E2E2E"/>
                          </a:solidFill>
                          <a:latin typeface="Calibri"/>
                        </a:rPr>
                        <a:t>0.22</a:t>
                      </a:r>
                    </a:p>
                  </a:txBody>
                  <a:tcPr marL="85725" marR="38100" marT="19050" marB="19050" anchor="ctr">
                    <a:solidFill>
                      <a:srgbClr val="FFFFFF"/>
                    </a:solidFill>
                  </a:tcPr>
                </a:tc>
                <a:tc>
                  <a:txBody>
                    <a:bodyPr wrap="none"/>
                    <a:lstStyle/>
                    <a:p>
                      <a:pPr algn="l"/>
                      <a:r>
                        <a:rPr sz="800" b="0">
                          <a:solidFill>
                            <a:srgbClr val="2E2E2E"/>
                          </a:solidFill>
                          <a:latin typeface="Calibri"/>
                        </a:rPr>
                        <a:t>0.27</a:t>
                      </a:r>
                    </a:p>
                  </a:txBody>
                  <a:tcPr marL="85725" marR="38100" marT="19050" marB="19050" anchor="ctr">
                    <a:solidFill>
                      <a:srgbClr val="FFFFFF"/>
                    </a:solidFill>
                  </a:tcPr>
                </a:tc>
                <a:tc>
                  <a:txBody>
                    <a:bodyPr wrap="none"/>
                    <a:lstStyle/>
                    <a:p>
                      <a:pPr algn="l"/>
                      <a:r>
                        <a:rPr sz="800" b="0">
                          <a:solidFill>
                            <a:srgbClr val="2E2E2E"/>
                          </a:solidFill>
                          <a:latin typeface="Calibri"/>
                        </a:rPr>
                        <a:t>0.33</a:t>
                      </a:r>
                    </a:p>
                  </a:txBody>
                  <a:tcPr marL="85725" marR="38100" marT="19050" marB="19050" anchor="ctr">
                    <a:solidFill>
                      <a:srgbClr val="FFFFFF"/>
                    </a:solidFill>
                  </a:tcPr>
                </a:tc>
                <a:tc>
                  <a:txBody>
                    <a:bodyPr wrap="none"/>
                    <a:lstStyle/>
                    <a:p>
                      <a:pPr algn="l"/>
                      <a:r>
                        <a:rPr sz="800" b="0">
                          <a:solidFill>
                            <a:srgbClr val="2E2E2E"/>
                          </a:solidFill>
                          <a:latin typeface="Calibri"/>
                        </a:rPr>
                        <a:t>0.39</a:t>
                      </a:r>
                    </a:p>
                  </a:txBody>
                  <a:tcPr marL="85725" marR="38100" marT="19050" marB="19050" anchor="ctr">
                    <a:solidFill>
                      <a:srgbClr val="FFFFFF"/>
                    </a:solidFill>
                  </a:tcPr>
                </a:tc>
                <a:tc>
                  <a:txBody>
                    <a:bodyPr wrap="none"/>
                    <a:lstStyle/>
                    <a:p>
                      <a:pPr algn="l"/>
                      <a:r>
                        <a:rPr sz="800" b="0">
                          <a:solidFill>
                            <a:srgbClr val="2E2E2E"/>
                          </a:solidFill>
                          <a:latin typeface="Calibri"/>
                        </a:rPr>
                        <a:t>0.45</a:t>
                      </a:r>
                    </a:p>
                  </a:txBody>
                  <a:tcPr marL="85725" marR="38100" marT="19050" marB="19050" anchor="ctr">
                    <a:solidFill>
                      <a:srgbClr val="FFFFFF"/>
                    </a:solidFill>
                  </a:tcPr>
                </a:tc>
                <a:tc>
                  <a:txBody>
                    <a:bodyPr wrap="none"/>
                    <a:lstStyle/>
                    <a:p>
                      <a:pPr algn="l"/>
                      <a:r>
                        <a:rPr sz="800" b="0">
                          <a:solidFill>
                            <a:srgbClr val="2E2E2E"/>
                          </a:solidFill>
                          <a:latin typeface="Calibri"/>
                        </a:rPr>
                        <a:t>0.52</a:t>
                      </a:r>
                    </a:p>
                  </a:txBody>
                  <a:tcPr marL="85725" marR="38100" marT="19050" marB="19050" anchor="ctr">
                    <a:solidFill>
                      <a:srgbClr val="FFFFFF"/>
                    </a:solidFill>
                  </a:tcPr>
                </a:tc>
                <a:tc>
                  <a:txBody>
                    <a:bodyPr wrap="none"/>
                    <a:lstStyle/>
                    <a:p>
                      <a:pPr algn="l"/>
                      <a:r>
                        <a:rPr sz="800" b="0">
                          <a:solidFill>
                            <a:srgbClr val="2E2E2E"/>
                          </a:solidFill>
                          <a:latin typeface="Calibri"/>
                        </a:rPr>
                        <a:t>0.59</a:t>
                      </a:r>
                    </a:p>
                  </a:txBody>
                  <a:tcPr marL="85725" marR="38100" marT="19050" marB="19050" anchor="ctr">
                    <a:solidFill>
                      <a:srgbClr val="FFFFFF"/>
                    </a:solidFill>
                  </a:tcPr>
                </a:tc>
                <a:tc>
                  <a:txBody>
                    <a:bodyPr wrap="none"/>
                    <a:lstStyle/>
                    <a:p>
                      <a:pPr algn="l"/>
                      <a:r>
                        <a:rPr sz="800" b="0">
                          <a:solidFill>
                            <a:srgbClr val="2E2E2E"/>
                          </a:solidFill>
                          <a:latin typeface="Calibri"/>
                        </a:rPr>
                        <a:t>0.66</a:t>
                      </a:r>
                    </a:p>
                  </a:txBody>
                  <a:tcPr marL="85725" marR="38100" marT="19050" marB="19050" anchor="ctr">
                    <a:solidFill>
                      <a:srgbClr val="FFFFFF"/>
                    </a:solidFill>
                  </a:tcPr>
                </a:tc>
                <a:tc>
                  <a:txBody>
                    <a:bodyPr wrap="none"/>
                    <a:lstStyle/>
                    <a:p>
                      <a:pPr algn="l"/>
                      <a:r>
                        <a:rPr sz="800" b="0">
                          <a:solidFill>
                            <a:srgbClr val="2E2E2E"/>
                          </a:solidFill>
                          <a:latin typeface="Calibri"/>
                        </a:rPr>
                        <a:t>0.73</a:t>
                      </a:r>
                    </a:p>
                  </a:txBody>
                  <a:tcPr marL="85725" marR="38100" marT="19050" marB="19050" anchor="ctr">
                    <a:solidFill>
                      <a:srgbClr val="FFFFFF"/>
                    </a:solidFill>
                  </a:tcPr>
                </a:tc>
                <a:tc>
                  <a:txBody>
                    <a:bodyPr wrap="none"/>
                    <a:lstStyle/>
                    <a:p>
                      <a:pPr algn="l"/>
                      <a:r>
                        <a:rPr sz="800" b="0">
                          <a:solidFill>
                            <a:srgbClr val="2E2E2E"/>
                          </a:solidFill>
                          <a:latin typeface="Calibri"/>
                        </a:rPr>
                        <a:t>0.80</a:t>
                      </a:r>
                    </a:p>
                  </a:txBody>
                  <a:tcPr marL="85725" marR="38100" marT="19050" marB="19050" anchor="ctr">
                    <a:solidFill>
                      <a:srgbClr val="FFFFFF"/>
                    </a:solidFill>
                  </a:tcPr>
                </a:tc>
                <a:tc>
                  <a:txBody>
                    <a:bodyPr wrap="none"/>
                    <a:lstStyle/>
                    <a:p>
                      <a:pPr algn="l"/>
                      <a:r>
                        <a:rPr sz="800" b="0">
                          <a:solidFill>
                            <a:srgbClr val="2E2E2E"/>
                          </a:solidFill>
                          <a:latin typeface="Calibri"/>
                        </a:rPr>
                        <a:t>0.88</a:t>
                      </a:r>
                    </a:p>
                  </a:txBody>
                  <a:tcPr marL="85725" marR="38100" marT="19050" marB="19050" anchor="ctr">
                    <a:solidFill>
                      <a:srgbClr val="FFFFFF"/>
                    </a:solidFill>
                  </a:tcPr>
                </a:tc>
                <a:tc>
                  <a:txBody>
                    <a:bodyPr wrap="none"/>
                    <a:lstStyle/>
                    <a:p>
                      <a:pPr algn="l"/>
                      <a:r>
                        <a:rPr sz="800" b="0">
                          <a:solidFill>
                            <a:srgbClr val="2E2E2E"/>
                          </a:solidFill>
                          <a:latin typeface="Calibri"/>
                        </a:rPr>
                        <a:t>0.96</a:t>
                      </a:r>
                    </a:p>
                  </a:txBody>
                  <a:tcPr marL="85725" marR="38100" marT="19050" marB="19050" anchor="ctr">
                    <a:solidFill>
                      <a:srgbClr val="FFFFFF"/>
                    </a:solidFill>
                  </a:tcPr>
                </a:tc>
                <a:tc>
                  <a:txBody>
                    <a:bodyPr wrap="none"/>
                    <a:lstStyle/>
                    <a:p>
                      <a:pPr algn="l"/>
                      <a:r>
                        <a:rPr sz="800" b="0">
                          <a:solidFill>
                            <a:srgbClr val="2E2E2E"/>
                          </a:solidFill>
                          <a:latin typeface="Calibri"/>
                        </a:rPr>
                        <a:t>1.04</a:t>
                      </a:r>
                    </a:p>
                  </a:txBody>
                  <a:tcPr marL="85725" marR="38100" marT="19050" marB="19050" anchor="ctr">
                    <a:solidFill>
                      <a:srgbClr val="FFFFFF"/>
                    </a:solidFill>
                  </a:tcPr>
                </a:tc>
                <a:tc>
                  <a:txBody>
                    <a:bodyPr wrap="none"/>
                    <a:lstStyle/>
                    <a:p>
                      <a:pPr algn="l"/>
                      <a:r>
                        <a:rPr sz="800" b="0">
                          <a:solidFill>
                            <a:srgbClr val="2E2E2E"/>
                          </a:solidFill>
                          <a:latin typeface="Calibri"/>
                        </a:rPr>
                        <a:t>12.2%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1.47</a:t>
                      </a:r>
                    </a:p>
                  </a:txBody>
                  <a:tcPr marL="85725" marR="38100" marT="19050" marB="19050" anchor="ctr">
                    <a:solidFill>
                      <a:srgbClr val="E0E8EF"/>
                    </a:solidFill>
                  </a:tcPr>
                </a:tc>
                <a:tc>
                  <a:txBody>
                    <a:bodyPr wrap="none"/>
                    <a:lstStyle/>
                    <a:p>
                      <a:pPr algn="l"/>
                      <a:r>
                        <a:rPr sz="800" b="1">
                          <a:solidFill>
                            <a:srgbClr val="2E2E2E"/>
                          </a:solidFill>
                          <a:latin typeface="Calibri"/>
                        </a:rPr>
                        <a:t>1.72</a:t>
                      </a:r>
                    </a:p>
                  </a:txBody>
                  <a:tcPr marL="85725" marR="38100" marT="19050" marB="19050" anchor="ctr">
                    <a:solidFill>
                      <a:srgbClr val="E0E8EF"/>
                    </a:solidFill>
                  </a:tcPr>
                </a:tc>
                <a:tc>
                  <a:txBody>
                    <a:bodyPr wrap="none"/>
                    <a:lstStyle/>
                    <a:p>
                      <a:pPr algn="l"/>
                      <a:r>
                        <a:rPr sz="800" b="1">
                          <a:solidFill>
                            <a:srgbClr val="2E2E2E"/>
                          </a:solidFill>
                          <a:latin typeface="Calibri"/>
                        </a:rPr>
                        <a:t>2.13</a:t>
                      </a:r>
                    </a:p>
                  </a:txBody>
                  <a:tcPr marL="85725" marR="38100" marT="19050" marB="19050" anchor="ctr">
                    <a:solidFill>
                      <a:srgbClr val="E0E8EF"/>
                    </a:solidFill>
                  </a:tcPr>
                </a:tc>
                <a:tc>
                  <a:txBody>
                    <a:bodyPr wrap="none"/>
                    <a:lstStyle/>
                    <a:p>
                      <a:pPr algn="l"/>
                      <a:r>
                        <a:rPr sz="800" b="1">
                          <a:solidFill>
                            <a:srgbClr val="2E2E2E"/>
                          </a:solidFill>
                          <a:latin typeface="Calibri"/>
                        </a:rPr>
                        <a:t>2.73</a:t>
                      </a:r>
                    </a:p>
                  </a:txBody>
                  <a:tcPr marL="85725" marR="38100" marT="19050" marB="19050" anchor="ctr">
                    <a:solidFill>
                      <a:srgbClr val="E0E8EF"/>
                    </a:solidFill>
                  </a:tcPr>
                </a:tc>
                <a:tc>
                  <a:txBody>
                    <a:bodyPr wrap="none"/>
                    <a:lstStyle/>
                    <a:p>
                      <a:pPr algn="l"/>
                      <a:r>
                        <a:rPr sz="800" b="1">
                          <a:solidFill>
                            <a:srgbClr val="2E2E2E"/>
                          </a:solidFill>
                          <a:latin typeface="Calibri"/>
                        </a:rPr>
                        <a:t>3.42</a:t>
                      </a:r>
                    </a:p>
                  </a:txBody>
                  <a:tcPr marL="85725" marR="38100" marT="19050" marB="19050" anchor="ctr">
                    <a:solidFill>
                      <a:srgbClr val="E0E8EF"/>
                    </a:solidFill>
                  </a:tcPr>
                </a:tc>
                <a:tc>
                  <a:txBody>
                    <a:bodyPr wrap="none"/>
                    <a:lstStyle/>
                    <a:p>
                      <a:pPr algn="l"/>
                      <a:r>
                        <a:rPr sz="800" b="1">
                          <a:solidFill>
                            <a:srgbClr val="2E2E2E"/>
                          </a:solidFill>
                          <a:latin typeface="Calibri"/>
                        </a:rPr>
                        <a:t>4.16</a:t>
                      </a:r>
                    </a:p>
                  </a:txBody>
                  <a:tcPr marL="85725" marR="38100" marT="19050" marB="19050" anchor="ctr">
                    <a:solidFill>
                      <a:srgbClr val="E0E8EF"/>
                    </a:solidFill>
                  </a:tcPr>
                </a:tc>
                <a:tc>
                  <a:txBody>
                    <a:bodyPr wrap="none"/>
                    <a:lstStyle/>
                    <a:p>
                      <a:pPr algn="l"/>
                      <a:r>
                        <a:rPr sz="800" b="1">
                          <a:solidFill>
                            <a:srgbClr val="2E2E2E"/>
                          </a:solidFill>
                          <a:latin typeface="Calibri"/>
                        </a:rPr>
                        <a:t>4.97</a:t>
                      </a:r>
                    </a:p>
                  </a:txBody>
                  <a:tcPr marL="85725" marR="38100" marT="19050" marB="19050" anchor="ctr">
                    <a:solidFill>
                      <a:srgbClr val="E0E8EF"/>
                    </a:solidFill>
                  </a:tcPr>
                </a:tc>
                <a:tc>
                  <a:txBody>
                    <a:bodyPr wrap="none"/>
                    <a:lstStyle/>
                    <a:p>
                      <a:pPr algn="l"/>
                      <a:r>
                        <a:rPr sz="800" b="1">
                          <a:solidFill>
                            <a:srgbClr val="2E2E2E"/>
                          </a:solidFill>
                          <a:latin typeface="Calibri"/>
                        </a:rPr>
                        <a:t>5.81</a:t>
                      </a:r>
                    </a:p>
                  </a:txBody>
                  <a:tcPr marL="85725" marR="38100" marT="19050" marB="19050" anchor="ctr">
                    <a:solidFill>
                      <a:srgbClr val="E0E8EF"/>
                    </a:solidFill>
                  </a:tcPr>
                </a:tc>
                <a:tc>
                  <a:txBody>
                    <a:bodyPr wrap="none"/>
                    <a:lstStyle/>
                    <a:p>
                      <a:pPr algn="l"/>
                      <a:r>
                        <a:rPr sz="800" b="1">
                          <a:solidFill>
                            <a:srgbClr val="2E2E2E"/>
                          </a:solidFill>
                          <a:latin typeface="Calibri"/>
                        </a:rPr>
                        <a:t>6.70</a:t>
                      </a:r>
                    </a:p>
                  </a:txBody>
                  <a:tcPr marL="85725" marR="38100" marT="19050" marB="19050" anchor="ctr">
                    <a:solidFill>
                      <a:srgbClr val="E0E8EF"/>
                    </a:solidFill>
                  </a:tcPr>
                </a:tc>
                <a:tc>
                  <a:txBody>
                    <a:bodyPr wrap="none"/>
                    <a:lstStyle/>
                    <a:p>
                      <a:pPr algn="l"/>
                      <a:r>
                        <a:rPr sz="800" b="1">
                          <a:solidFill>
                            <a:srgbClr val="2E2E2E"/>
                          </a:solidFill>
                          <a:latin typeface="Calibri"/>
                        </a:rPr>
                        <a:t>7.63</a:t>
                      </a:r>
                    </a:p>
                  </a:txBody>
                  <a:tcPr marL="85725" marR="38100" marT="19050" marB="19050" anchor="ctr">
                    <a:solidFill>
                      <a:srgbClr val="E0E8EF"/>
                    </a:solidFill>
                  </a:tcPr>
                </a:tc>
                <a:tc>
                  <a:txBody>
                    <a:bodyPr wrap="none"/>
                    <a:lstStyle/>
                    <a:p>
                      <a:pPr algn="l"/>
                      <a:r>
                        <a:rPr sz="800" b="1">
                          <a:solidFill>
                            <a:srgbClr val="2E2E2E"/>
                          </a:solidFill>
                          <a:latin typeface="Calibri"/>
                        </a:rPr>
                        <a:t>8.60</a:t>
                      </a:r>
                    </a:p>
                  </a:txBody>
                  <a:tcPr marL="85725" marR="38100" marT="19050" marB="19050" anchor="ctr">
                    <a:solidFill>
                      <a:srgbClr val="E0E8EF"/>
                    </a:solidFill>
                  </a:tcPr>
                </a:tc>
                <a:tc>
                  <a:txBody>
                    <a:bodyPr wrap="none"/>
                    <a:lstStyle/>
                    <a:p>
                      <a:pPr algn="l"/>
                      <a:r>
                        <a:rPr sz="800" b="1">
                          <a:solidFill>
                            <a:srgbClr val="2E2E2E"/>
                          </a:solidFill>
                          <a:latin typeface="Calibri"/>
                        </a:rPr>
                        <a:t>9.62</a:t>
                      </a:r>
                    </a:p>
                  </a:txBody>
                  <a:tcPr marL="85725" marR="38100" marT="19050" marB="19050" anchor="ctr">
                    <a:solidFill>
                      <a:srgbClr val="E0E8EF"/>
                    </a:solidFill>
                  </a:tcPr>
                </a:tc>
                <a:tc>
                  <a:txBody>
                    <a:bodyPr wrap="none"/>
                    <a:lstStyle/>
                    <a:p>
                      <a:pPr algn="l"/>
                      <a:r>
                        <a:rPr sz="800" b="1">
                          <a:solidFill>
                            <a:srgbClr val="2E2E2E"/>
                          </a:solidFill>
                          <a:latin typeface="Calibri"/>
                        </a:rPr>
                        <a:t>10.7</a:t>
                      </a:r>
                    </a:p>
                  </a:txBody>
                  <a:tcPr marL="85725" marR="38100" marT="19050" marB="19050" anchor="ctr">
                    <a:solidFill>
                      <a:srgbClr val="E0E8EF"/>
                    </a:solidFill>
                  </a:tcPr>
                </a:tc>
                <a:tc>
                  <a:txBody>
                    <a:bodyPr wrap="none"/>
                    <a:lstStyle/>
                    <a:p>
                      <a:pPr algn="l"/>
                      <a:r>
                        <a:rPr sz="800" b="1">
                          <a:solidFill>
                            <a:srgbClr val="2E2E2E"/>
                          </a:solidFill>
                          <a:latin typeface="Calibri"/>
                        </a:rPr>
                        <a:t>11.8</a:t>
                      </a:r>
                    </a:p>
                  </a:txBody>
                  <a:tcPr marL="85725" marR="38100" marT="19050" marB="19050" anchor="ctr">
                    <a:solidFill>
                      <a:srgbClr val="E0E8EF"/>
                    </a:solidFill>
                  </a:tcPr>
                </a:tc>
                <a:tc>
                  <a:txBody>
                    <a:bodyPr wrap="none"/>
                    <a:lstStyle/>
                    <a:p>
                      <a:pPr algn="l"/>
                      <a:r>
                        <a:rPr sz="800" b="1">
                          <a:solidFill>
                            <a:srgbClr val="2E2E2E"/>
                          </a:solidFill>
                          <a:latin typeface="Calibri"/>
                        </a:rPr>
                        <a:t>12.9</a:t>
                      </a:r>
                    </a:p>
                  </a:txBody>
                  <a:tcPr marL="85725" marR="38100" marT="19050" marB="19050" anchor="ctr">
                    <a:solidFill>
                      <a:srgbClr val="E0E8EF"/>
                    </a:solidFill>
                  </a:tcPr>
                </a:tc>
                <a:tc>
                  <a:txBody>
                    <a:bodyPr wrap="none"/>
                    <a:lstStyle/>
                    <a:p>
                      <a:pPr algn="l"/>
                      <a:r>
                        <a:rPr sz="800" b="1">
                          <a:solidFill>
                            <a:srgbClr val="2E2E2E"/>
                          </a:solidFill>
                          <a:latin typeface="Calibri"/>
                        </a:rPr>
                        <a:t>14.1</a:t>
                      </a:r>
                    </a:p>
                  </a:txBody>
                  <a:tcPr marL="85725" marR="38100" marT="19050" marB="19050" anchor="ctr">
                    <a:solidFill>
                      <a:srgbClr val="E0E8EF"/>
                    </a:solidFill>
                  </a:tcPr>
                </a:tc>
                <a:tc>
                  <a:txBody>
                    <a:bodyPr wrap="none"/>
                    <a:lstStyle/>
                    <a:p>
                      <a:pPr algn="l"/>
                      <a:r>
                        <a:rPr sz="800" b="1">
                          <a:solidFill>
                            <a:srgbClr val="2E2E2E"/>
                          </a:solidFill>
                          <a:latin typeface="Calibri"/>
                        </a:rPr>
                        <a:t>13.0%</a:t>
                      </a:r>
                    </a:p>
                  </a:txBody>
                  <a:tcPr marL="85725" marR="38100" marT="19050" marB="19050" anchor="ctr">
                    <a:solidFill>
                      <a:srgbClr val="E0E8EF"/>
                    </a:solidFill>
                  </a:tcPr>
                </a:tc>
              </a:tr>
            </a:tbl>
          </a:graphicData>
        </a:graphic>
      </p:graphicFrame>
      <p:sp>
        <p:nvSpPr>
          <p:cNvPr id="14" name="TextBox 13"/>
          <p:cNvSpPr txBox="1"/>
          <p:nvPr/>
        </p:nvSpPr>
        <p:spPr>
          <a:xfrm>
            <a:off x="219075" y="458152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4857750"/>
            <a:ext cx="11906250" cy="1866900"/>
          </a:xfrm>
          <a:prstGeom prst="roundRect">
            <a:avLst>
              <a:gd name="adj" fmla="val 40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943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Analysis, By Product Type x Therapeutic Application</a:t>
            </a:r>
          </a:p>
        </p:txBody>
      </p:sp>
      <p:sp>
        <p:nvSpPr>
          <p:cNvPr id="17" name="Rectangle 16"/>
          <p:cNvSpPr/>
          <p:nvPr/>
        </p:nvSpPr>
        <p:spPr>
          <a:xfrm>
            <a:off x="276225" y="5181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267325"/>
            <a:ext cx="11639550" cy="1381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'Simlandi' is the largest product type x therapeutic application at 16.9% of 2036 volume (2.39 Mn Doses).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'Simlandi' grows fastest 15.0%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'Simlandi' (+277 BPS) and away from 'Yusimry' (-252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volume rises from 4.16 to 14.1 Mn Doses across 11 categories.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Value Analysis, By Product Type x Therapeutic Application (US$ Mn)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3867150"/>
          </a:xfrm>
          <a:prstGeom prst="roundRect">
            <a:avLst>
              <a:gd name="adj" fmla="val 1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Product Type x Therapeutic Application (US$ Mn)</a:t>
            </a:r>
          </a:p>
        </p:txBody>
      </p:sp>
      <p:graphicFrame>
        <p:nvGraphicFramePr>
          <p:cNvPr id="13" name="Table 12"/>
          <p:cNvGraphicFramePr>
            <a:graphicFrameLocks noGrp="1"/>
          </p:cNvGraphicFramePr>
          <p:nvPr/>
        </p:nvGraphicFramePr>
        <p:xfrm>
          <a:off x="238125" y="1143000"/>
          <a:ext cx="11715752" cy="2352675"/>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Product Type x Therapeutic Application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800" b="0">
                          <a:solidFill>
                            <a:srgbClr val="2E2E2E"/>
                          </a:solidFill>
                          <a:latin typeface="Calibri"/>
                        </a:rPr>
                        <a:t>97.3</a:t>
                      </a:r>
                    </a:p>
                  </a:txBody>
                  <a:tcPr marL="85725" marR="38100" marT="19050" marB="19050" anchor="ctr">
                    <a:solidFill>
                      <a:srgbClr val="FFFFFF"/>
                    </a:solidFill>
                  </a:tcPr>
                </a:tc>
                <a:tc>
                  <a:txBody>
                    <a:bodyPr wrap="none"/>
                    <a:lstStyle/>
                    <a:p>
                      <a:pPr algn="l"/>
                      <a:r>
                        <a:rPr sz="800" b="0">
                          <a:solidFill>
                            <a:srgbClr val="2E2E2E"/>
                          </a:solidFill>
                          <a:latin typeface="Calibri"/>
                        </a:rPr>
                        <a:t>108.7</a:t>
                      </a:r>
                    </a:p>
                  </a:txBody>
                  <a:tcPr marL="85725" marR="38100" marT="19050" marB="19050" anchor="ctr">
                    <a:solidFill>
                      <a:srgbClr val="FFFFFF"/>
                    </a:solidFill>
                  </a:tcPr>
                </a:tc>
                <a:tc>
                  <a:txBody>
                    <a:bodyPr wrap="none"/>
                    <a:lstStyle/>
                    <a:p>
                      <a:pPr algn="l"/>
                      <a:r>
                        <a:rPr sz="800" b="0">
                          <a:solidFill>
                            <a:srgbClr val="2E2E2E"/>
                          </a:solidFill>
                          <a:latin typeface="Calibri"/>
                        </a:rPr>
                        <a:t>128.8</a:t>
                      </a:r>
                    </a:p>
                  </a:txBody>
                  <a:tcPr marL="85725" marR="38100" marT="19050" marB="19050" anchor="ctr">
                    <a:solidFill>
                      <a:srgbClr val="FFFFFF"/>
                    </a:solidFill>
                  </a:tcPr>
                </a:tc>
                <a:tc>
                  <a:txBody>
                    <a:bodyPr wrap="none"/>
                    <a:lstStyle/>
                    <a:p>
                      <a:pPr algn="l"/>
                      <a:r>
                        <a:rPr sz="800" b="0">
                          <a:solidFill>
                            <a:srgbClr val="2E2E2E"/>
                          </a:solidFill>
                          <a:latin typeface="Calibri"/>
                        </a:rPr>
                        <a:t>157.5</a:t>
                      </a:r>
                    </a:p>
                  </a:txBody>
                  <a:tcPr marL="85725" marR="38100" marT="19050" marB="19050" anchor="ctr">
                    <a:solidFill>
                      <a:srgbClr val="FFFFFF"/>
                    </a:solidFill>
                  </a:tcPr>
                </a:tc>
                <a:tc>
                  <a:txBody>
                    <a:bodyPr wrap="none"/>
                    <a:lstStyle/>
                    <a:p>
                      <a:pPr algn="l"/>
                      <a:r>
                        <a:rPr sz="800" b="0">
                          <a:solidFill>
                            <a:srgbClr val="2E2E2E"/>
                          </a:solidFill>
                          <a:latin typeface="Calibri"/>
                        </a:rPr>
                        <a:t>188.5</a:t>
                      </a:r>
                    </a:p>
                  </a:txBody>
                  <a:tcPr marL="85725" marR="38100" marT="19050" marB="19050" anchor="ctr">
                    <a:solidFill>
                      <a:srgbClr val="FFFFFF"/>
                    </a:solidFill>
                  </a:tcPr>
                </a:tc>
                <a:tc>
                  <a:txBody>
                    <a:bodyPr wrap="none"/>
                    <a:lstStyle/>
                    <a:p>
                      <a:pPr algn="l"/>
                      <a:r>
                        <a:rPr sz="800" b="0">
                          <a:solidFill>
                            <a:srgbClr val="2E2E2E"/>
                          </a:solidFill>
                          <a:latin typeface="Calibri"/>
                        </a:rPr>
                        <a:t>218.7</a:t>
                      </a:r>
                    </a:p>
                  </a:txBody>
                  <a:tcPr marL="85725" marR="38100" marT="19050" marB="19050" anchor="ctr">
                    <a:solidFill>
                      <a:srgbClr val="FFFFFF"/>
                    </a:solidFill>
                  </a:tcPr>
                </a:tc>
                <a:tc>
                  <a:txBody>
                    <a:bodyPr wrap="none"/>
                    <a:lstStyle/>
                    <a:p>
                      <a:pPr algn="l"/>
                      <a:r>
                        <a:rPr sz="800" b="0">
                          <a:solidFill>
                            <a:srgbClr val="2E2E2E"/>
                          </a:solidFill>
                          <a:latin typeface="Calibri"/>
                        </a:rPr>
                        <a:t>249.2</a:t>
                      </a:r>
                    </a:p>
                  </a:txBody>
                  <a:tcPr marL="85725" marR="38100" marT="19050" marB="19050" anchor="ctr">
                    <a:solidFill>
                      <a:srgbClr val="FFFFFF"/>
                    </a:solidFill>
                  </a:tcPr>
                </a:tc>
                <a:tc>
                  <a:txBody>
                    <a:bodyPr wrap="none"/>
                    <a:lstStyle/>
                    <a:p>
                      <a:pPr algn="l"/>
                      <a:r>
                        <a:rPr sz="800" b="0">
                          <a:solidFill>
                            <a:srgbClr val="2E2E2E"/>
                          </a:solidFill>
                          <a:latin typeface="Calibri"/>
                        </a:rPr>
                        <a:t>278.1</a:t>
                      </a:r>
                    </a:p>
                  </a:txBody>
                  <a:tcPr marL="85725" marR="38100" marT="19050" marB="19050" anchor="ctr">
                    <a:solidFill>
                      <a:srgbClr val="FFFFFF"/>
                    </a:solidFill>
                  </a:tcPr>
                </a:tc>
                <a:tc>
                  <a:txBody>
                    <a:bodyPr wrap="none"/>
                    <a:lstStyle/>
                    <a:p>
                      <a:pPr algn="l"/>
                      <a:r>
                        <a:rPr sz="800" b="0">
                          <a:solidFill>
                            <a:srgbClr val="2E2E2E"/>
                          </a:solidFill>
                          <a:latin typeface="Calibri"/>
                        </a:rPr>
                        <a:t>305.8</a:t>
                      </a:r>
                    </a:p>
                  </a:txBody>
                  <a:tcPr marL="85725" marR="38100" marT="19050" marB="19050" anchor="ctr">
                    <a:solidFill>
                      <a:srgbClr val="FFFFFF"/>
                    </a:solidFill>
                  </a:tcPr>
                </a:tc>
                <a:tc>
                  <a:txBody>
                    <a:bodyPr wrap="none"/>
                    <a:lstStyle/>
                    <a:p>
                      <a:pPr algn="l"/>
                      <a:r>
                        <a:rPr sz="800" b="0">
                          <a:solidFill>
                            <a:srgbClr val="2E2E2E"/>
                          </a:solidFill>
                          <a:latin typeface="Calibri"/>
                        </a:rPr>
                        <a:t>332.4</a:t>
                      </a:r>
                    </a:p>
                  </a:txBody>
                  <a:tcPr marL="85725" marR="38100" marT="19050" marB="19050" anchor="ctr">
                    <a:solidFill>
                      <a:srgbClr val="FFFFFF"/>
                    </a:solidFill>
                  </a:tcPr>
                </a:tc>
                <a:tc>
                  <a:txBody>
                    <a:bodyPr wrap="none"/>
                    <a:lstStyle/>
                    <a:p>
                      <a:pPr algn="l"/>
                      <a:r>
                        <a:rPr sz="800" b="0">
                          <a:solidFill>
                            <a:srgbClr val="2E2E2E"/>
                          </a:solidFill>
                          <a:latin typeface="Calibri"/>
                        </a:rPr>
                        <a:t>357.5</a:t>
                      </a:r>
                    </a:p>
                  </a:txBody>
                  <a:tcPr marL="85725" marR="38100" marT="19050" marB="19050" anchor="ctr">
                    <a:solidFill>
                      <a:srgbClr val="FFFFFF"/>
                    </a:solidFill>
                  </a:tcPr>
                </a:tc>
                <a:tc>
                  <a:txBody>
                    <a:bodyPr wrap="none"/>
                    <a:lstStyle/>
                    <a:p>
                      <a:pPr algn="l"/>
                      <a:r>
                        <a:rPr sz="800" b="0">
                          <a:solidFill>
                            <a:srgbClr val="2E2E2E"/>
                          </a:solidFill>
                          <a:latin typeface="Calibri"/>
                        </a:rPr>
                        <a:t>381.2</a:t>
                      </a:r>
                    </a:p>
                  </a:txBody>
                  <a:tcPr marL="85725" marR="38100" marT="19050" marB="19050" anchor="ctr">
                    <a:solidFill>
                      <a:srgbClr val="FFFFFF"/>
                    </a:solidFill>
                  </a:tcPr>
                </a:tc>
                <a:tc>
                  <a:txBody>
                    <a:bodyPr wrap="none"/>
                    <a:lstStyle/>
                    <a:p>
                      <a:pPr algn="l"/>
                      <a:r>
                        <a:rPr sz="800" b="0">
                          <a:solidFill>
                            <a:srgbClr val="2E2E2E"/>
                          </a:solidFill>
                          <a:latin typeface="Calibri"/>
                        </a:rPr>
                        <a:t>403.4</a:t>
                      </a:r>
                    </a:p>
                  </a:txBody>
                  <a:tcPr marL="85725" marR="38100" marT="19050" marB="19050" anchor="ctr">
                    <a:solidFill>
                      <a:srgbClr val="FFFFFF"/>
                    </a:solidFill>
                  </a:tcPr>
                </a:tc>
                <a:tc>
                  <a:txBody>
                    <a:bodyPr wrap="none"/>
                    <a:lstStyle/>
                    <a:p>
                      <a:pPr algn="l"/>
                      <a:r>
                        <a:rPr sz="800" b="0">
                          <a:solidFill>
                            <a:srgbClr val="2E2E2E"/>
                          </a:solidFill>
                          <a:latin typeface="Calibri"/>
                        </a:rPr>
                        <a:t>424.3</a:t>
                      </a:r>
                    </a:p>
                  </a:txBody>
                  <a:tcPr marL="85725" marR="38100" marT="19050" marB="19050" anchor="ctr">
                    <a:solidFill>
                      <a:srgbClr val="FFFFFF"/>
                    </a:solidFill>
                  </a:tcPr>
                </a:tc>
                <a:tc>
                  <a:txBody>
                    <a:bodyPr wrap="none"/>
                    <a:lstStyle/>
                    <a:p>
                      <a:pPr algn="l"/>
                      <a:r>
                        <a:rPr sz="800" b="0">
                          <a:solidFill>
                            <a:srgbClr val="2E2E2E"/>
                          </a:solidFill>
                          <a:latin typeface="Calibri"/>
                        </a:rPr>
                        <a:t>444.2</a:t>
                      </a:r>
                    </a:p>
                  </a:txBody>
                  <a:tcPr marL="85725" marR="38100" marT="19050" marB="19050" anchor="ctr">
                    <a:solidFill>
                      <a:srgbClr val="FFFFFF"/>
                    </a:solidFill>
                  </a:tcPr>
                </a:tc>
                <a:tc>
                  <a:txBody>
                    <a:bodyPr wrap="none"/>
                    <a:lstStyle/>
                    <a:p>
                      <a:pPr algn="l"/>
                      <a:r>
                        <a:rPr sz="800" b="0">
                          <a:solidFill>
                            <a:srgbClr val="2E2E2E"/>
                          </a:solidFill>
                          <a:latin typeface="Calibri"/>
                        </a:rPr>
                        <a:t>463.2</a:t>
                      </a:r>
                    </a:p>
                  </a:txBody>
                  <a:tcPr marL="85725" marR="38100" marT="19050" marB="19050" anchor="ctr">
                    <a:solidFill>
                      <a:srgbClr val="FFFFFF"/>
                    </a:solidFill>
                  </a:tcPr>
                </a:tc>
                <a:tc>
                  <a:txBody>
                    <a:bodyPr wrap="none"/>
                    <a:lstStyle/>
                    <a:p>
                      <a:pPr algn="l"/>
                      <a:r>
                        <a:rPr sz="800" b="0">
                          <a:solidFill>
                            <a:srgbClr val="2E2E2E"/>
                          </a:solidFill>
                          <a:latin typeface="Calibri"/>
                        </a:rPr>
                        <a:t>7.8%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Cyltezo</a:t>
                      </a:r>
                    </a:p>
                  </a:txBody>
                  <a:tcPr marL="85725" marR="38100" marT="19050" marB="19050" anchor="ctr">
                    <a:solidFill>
                      <a:srgbClr val="F5F8FA"/>
                    </a:solidFill>
                  </a:tcPr>
                </a:tc>
                <a:tc>
                  <a:txBody>
                    <a:bodyPr wrap="none"/>
                    <a:lstStyle/>
                    <a:p>
                      <a:pPr algn="l"/>
                      <a:r>
                        <a:rPr sz="800" b="0">
                          <a:solidFill>
                            <a:srgbClr val="2E2E2E"/>
                          </a:solidFill>
                          <a:latin typeface="Calibri"/>
                        </a:rPr>
                        <a:t>77.3</a:t>
                      </a:r>
                    </a:p>
                  </a:txBody>
                  <a:tcPr marL="85725" marR="38100" marT="19050" marB="19050" anchor="ctr">
                    <a:solidFill>
                      <a:srgbClr val="F5F8FA"/>
                    </a:solidFill>
                  </a:tcPr>
                </a:tc>
                <a:tc>
                  <a:txBody>
                    <a:bodyPr wrap="none"/>
                    <a:lstStyle/>
                    <a:p>
                      <a:pPr algn="l"/>
                      <a:r>
                        <a:rPr sz="800" b="0">
                          <a:solidFill>
                            <a:srgbClr val="2E2E2E"/>
                          </a:solidFill>
                          <a:latin typeface="Calibri"/>
                        </a:rPr>
                        <a:t>88.2</a:t>
                      </a:r>
                    </a:p>
                  </a:txBody>
                  <a:tcPr marL="85725" marR="38100" marT="19050" marB="19050" anchor="ctr">
                    <a:solidFill>
                      <a:srgbClr val="F5F8FA"/>
                    </a:solidFill>
                  </a:tcPr>
                </a:tc>
                <a:tc>
                  <a:txBody>
                    <a:bodyPr wrap="none"/>
                    <a:lstStyle/>
                    <a:p>
                      <a:pPr algn="l"/>
                      <a:r>
                        <a:rPr sz="800" b="0">
                          <a:solidFill>
                            <a:srgbClr val="2E2E2E"/>
                          </a:solidFill>
                          <a:latin typeface="Calibri"/>
                        </a:rPr>
                        <a:t>106.8</a:t>
                      </a:r>
                    </a:p>
                  </a:txBody>
                  <a:tcPr marL="85725" marR="38100" marT="19050" marB="19050" anchor="ctr">
                    <a:solidFill>
                      <a:srgbClr val="F5F8FA"/>
                    </a:solidFill>
                  </a:tcPr>
                </a:tc>
                <a:tc>
                  <a:txBody>
                    <a:bodyPr wrap="none"/>
                    <a:lstStyle/>
                    <a:p>
                      <a:pPr algn="l"/>
                      <a:r>
                        <a:rPr sz="800" b="0">
                          <a:solidFill>
                            <a:srgbClr val="2E2E2E"/>
                          </a:solidFill>
                          <a:latin typeface="Calibri"/>
                        </a:rPr>
                        <a:t>133.4</a:t>
                      </a:r>
                    </a:p>
                  </a:txBody>
                  <a:tcPr marL="85725" marR="38100" marT="19050" marB="19050" anchor="ctr">
                    <a:solidFill>
                      <a:srgbClr val="F5F8FA"/>
                    </a:solidFill>
                  </a:tcPr>
                </a:tc>
                <a:tc>
                  <a:txBody>
                    <a:bodyPr wrap="none"/>
                    <a:lstStyle/>
                    <a:p>
                      <a:pPr algn="l"/>
                      <a:r>
                        <a:rPr sz="800" b="0">
                          <a:solidFill>
                            <a:srgbClr val="2E2E2E"/>
                          </a:solidFill>
                          <a:latin typeface="Calibri"/>
                        </a:rPr>
                        <a:t>163.0</a:t>
                      </a:r>
                    </a:p>
                  </a:txBody>
                  <a:tcPr marL="85725" marR="38100" marT="19050" marB="19050" anchor="ctr">
                    <a:solidFill>
                      <a:srgbClr val="F5F8FA"/>
                    </a:solidFill>
                  </a:tcPr>
                </a:tc>
                <a:tc>
                  <a:txBody>
                    <a:bodyPr wrap="none"/>
                    <a:lstStyle/>
                    <a:p>
                      <a:pPr algn="l"/>
                      <a:r>
                        <a:rPr sz="800" b="0">
                          <a:solidFill>
                            <a:srgbClr val="2E2E2E"/>
                          </a:solidFill>
                          <a:latin typeface="Calibri"/>
                        </a:rPr>
                        <a:t>193.2</a:t>
                      </a:r>
                    </a:p>
                  </a:txBody>
                  <a:tcPr marL="85725" marR="38100" marT="19050" marB="19050" anchor="ctr">
                    <a:solidFill>
                      <a:srgbClr val="F5F8FA"/>
                    </a:solidFill>
                  </a:tcPr>
                </a:tc>
                <a:tc>
                  <a:txBody>
                    <a:bodyPr wrap="none"/>
                    <a:lstStyle/>
                    <a:p>
                      <a:pPr algn="l"/>
                      <a:r>
                        <a:rPr sz="800" b="0">
                          <a:solidFill>
                            <a:srgbClr val="2E2E2E"/>
                          </a:solidFill>
                          <a:latin typeface="Calibri"/>
                        </a:rPr>
                        <a:t>224.8</a:t>
                      </a:r>
                    </a:p>
                  </a:txBody>
                  <a:tcPr marL="85725" marR="38100" marT="19050" marB="19050" anchor="ctr">
                    <a:solidFill>
                      <a:srgbClr val="F5F8FA"/>
                    </a:solidFill>
                  </a:tcPr>
                </a:tc>
                <a:tc>
                  <a:txBody>
                    <a:bodyPr wrap="none"/>
                    <a:lstStyle/>
                    <a:p>
                      <a:pPr algn="l"/>
                      <a:r>
                        <a:rPr sz="800" b="0">
                          <a:solidFill>
                            <a:srgbClr val="2E2E2E"/>
                          </a:solidFill>
                          <a:latin typeface="Calibri"/>
                        </a:rPr>
                        <a:t>256.3</a:t>
                      </a:r>
                    </a:p>
                  </a:txBody>
                  <a:tcPr marL="85725" marR="38100" marT="19050" marB="19050" anchor="ctr">
                    <a:solidFill>
                      <a:srgbClr val="F5F8FA"/>
                    </a:solidFill>
                  </a:tcPr>
                </a:tc>
                <a:tc>
                  <a:txBody>
                    <a:bodyPr wrap="none"/>
                    <a:lstStyle/>
                    <a:p>
                      <a:pPr algn="l"/>
                      <a:r>
                        <a:rPr sz="800" b="0">
                          <a:solidFill>
                            <a:srgbClr val="2E2E2E"/>
                          </a:solidFill>
                          <a:latin typeface="Calibri"/>
                        </a:rPr>
                        <a:t>287.9</a:t>
                      </a:r>
                    </a:p>
                  </a:txBody>
                  <a:tcPr marL="85725" marR="38100" marT="19050" marB="19050" anchor="ctr">
                    <a:solidFill>
                      <a:srgbClr val="F5F8FA"/>
                    </a:solidFill>
                  </a:tcPr>
                </a:tc>
                <a:tc>
                  <a:txBody>
                    <a:bodyPr wrap="none"/>
                    <a:lstStyle/>
                    <a:p>
                      <a:pPr algn="l"/>
                      <a:r>
                        <a:rPr sz="800" b="0">
                          <a:solidFill>
                            <a:srgbClr val="2E2E2E"/>
                          </a:solidFill>
                          <a:latin typeface="Calibri"/>
                        </a:rPr>
                        <a:t>319.6</a:t>
                      </a:r>
                    </a:p>
                  </a:txBody>
                  <a:tcPr marL="85725" marR="38100" marT="19050" marB="19050" anchor="ctr">
                    <a:solidFill>
                      <a:srgbClr val="F5F8FA"/>
                    </a:solidFill>
                  </a:tcPr>
                </a:tc>
                <a:tc>
                  <a:txBody>
                    <a:bodyPr wrap="none"/>
                    <a:lstStyle/>
                    <a:p>
                      <a:pPr algn="l"/>
                      <a:r>
                        <a:rPr sz="800" b="0">
                          <a:solidFill>
                            <a:srgbClr val="2E2E2E"/>
                          </a:solidFill>
                          <a:latin typeface="Calibri"/>
                        </a:rPr>
                        <a:t>351.1</a:t>
                      </a:r>
                    </a:p>
                  </a:txBody>
                  <a:tcPr marL="85725" marR="38100" marT="19050" marB="19050" anchor="ctr">
                    <a:solidFill>
                      <a:srgbClr val="F5F8FA"/>
                    </a:solidFill>
                  </a:tcPr>
                </a:tc>
                <a:tc>
                  <a:txBody>
                    <a:bodyPr wrap="none"/>
                    <a:lstStyle/>
                    <a:p>
                      <a:pPr algn="l"/>
                      <a:r>
                        <a:rPr sz="800" b="0">
                          <a:solidFill>
                            <a:srgbClr val="2E2E2E"/>
                          </a:solidFill>
                          <a:latin typeface="Calibri"/>
                        </a:rPr>
                        <a:t>382.5</a:t>
                      </a:r>
                    </a:p>
                  </a:txBody>
                  <a:tcPr marL="85725" marR="38100" marT="19050" marB="19050" anchor="ctr">
                    <a:solidFill>
                      <a:srgbClr val="F5F8FA"/>
                    </a:solidFill>
                  </a:tcPr>
                </a:tc>
                <a:tc>
                  <a:txBody>
                    <a:bodyPr wrap="none"/>
                    <a:lstStyle/>
                    <a:p>
                      <a:pPr algn="l"/>
                      <a:r>
                        <a:rPr sz="800" b="0">
                          <a:solidFill>
                            <a:srgbClr val="2E2E2E"/>
                          </a:solidFill>
                          <a:latin typeface="Calibri"/>
                        </a:rPr>
                        <a:t>413.5</a:t>
                      </a:r>
                    </a:p>
                  </a:txBody>
                  <a:tcPr marL="85725" marR="38100" marT="19050" marB="19050" anchor="ctr">
                    <a:solidFill>
                      <a:srgbClr val="F5F8FA"/>
                    </a:solidFill>
                  </a:tcPr>
                </a:tc>
                <a:tc>
                  <a:txBody>
                    <a:bodyPr wrap="none"/>
                    <a:lstStyle/>
                    <a:p>
                      <a:pPr algn="l"/>
                      <a:r>
                        <a:rPr sz="800" b="0">
                          <a:solidFill>
                            <a:srgbClr val="2E2E2E"/>
                          </a:solidFill>
                          <a:latin typeface="Calibri"/>
                        </a:rPr>
                        <a:t>444.3</a:t>
                      </a:r>
                    </a:p>
                  </a:txBody>
                  <a:tcPr marL="85725" marR="38100" marT="19050" marB="19050" anchor="ctr">
                    <a:solidFill>
                      <a:srgbClr val="F5F8FA"/>
                    </a:solidFill>
                  </a:tcPr>
                </a:tc>
                <a:tc>
                  <a:txBody>
                    <a:bodyPr wrap="none"/>
                    <a:lstStyle/>
                    <a:p>
                      <a:pPr algn="l"/>
                      <a:r>
                        <a:rPr sz="800" b="0">
                          <a:solidFill>
                            <a:srgbClr val="2E2E2E"/>
                          </a:solidFill>
                          <a:latin typeface="Calibri"/>
                        </a:rPr>
                        <a:t>475.1</a:t>
                      </a:r>
                    </a:p>
                  </a:txBody>
                  <a:tcPr marL="85725" marR="38100" marT="19050" marB="19050" anchor="ctr">
                    <a:solidFill>
                      <a:srgbClr val="F5F8FA"/>
                    </a:solidFill>
                  </a:tcPr>
                </a:tc>
                <a:tc>
                  <a:txBody>
                    <a:bodyPr wrap="none"/>
                    <a:lstStyle/>
                    <a:p>
                      <a:pPr algn="l"/>
                      <a:r>
                        <a:rPr sz="800" b="0">
                          <a:solidFill>
                            <a:srgbClr val="2E2E2E"/>
                          </a:solidFill>
                          <a:latin typeface="Calibri"/>
                        </a:rPr>
                        <a:t>506.1</a:t>
                      </a:r>
                    </a:p>
                  </a:txBody>
                  <a:tcPr marL="85725" marR="38100" marT="19050" marB="19050" anchor="ctr">
                    <a:solidFill>
                      <a:srgbClr val="F5F8FA"/>
                    </a:solidFill>
                  </a:tcPr>
                </a:tc>
                <a:tc>
                  <a:txBody>
                    <a:bodyPr wrap="none"/>
                    <a:lstStyle/>
                    <a:p>
                      <a:pPr algn="l"/>
                      <a:r>
                        <a:rPr sz="800" b="0">
                          <a:solidFill>
                            <a:srgbClr val="2E2E2E"/>
                          </a:solidFill>
                          <a:latin typeface="Calibri"/>
                        </a:rPr>
                        <a:t>10.1%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800" b="0">
                          <a:solidFill>
                            <a:srgbClr val="2E2E2E"/>
                          </a:solidFill>
                          <a:latin typeface="Calibri"/>
                        </a:rPr>
                        <a:t>81.4</a:t>
                      </a:r>
                    </a:p>
                  </a:txBody>
                  <a:tcPr marL="85725" marR="38100" marT="19050" marB="19050" anchor="ctr">
                    <a:solidFill>
                      <a:srgbClr val="FFFFFF"/>
                    </a:solidFill>
                  </a:tcPr>
                </a:tc>
                <a:tc>
                  <a:txBody>
                    <a:bodyPr wrap="none"/>
                    <a:lstStyle/>
                    <a:p>
                      <a:pPr algn="l"/>
                      <a:r>
                        <a:rPr sz="800" b="0">
                          <a:solidFill>
                            <a:srgbClr val="2E2E2E"/>
                          </a:solidFill>
                          <a:latin typeface="Calibri"/>
                        </a:rPr>
                        <a:t>92.4</a:t>
                      </a:r>
                    </a:p>
                  </a:txBody>
                  <a:tcPr marL="85725" marR="38100" marT="19050" marB="19050" anchor="ctr">
                    <a:solidFill>
                      <a:srgbClr val="FFFFFF"/>
                    </a:solidFill>
                  </a:tcPr>
                </a:tc>
                <a:tc>
                  <a:txBody>
                    <a:bodyPr wrap="none"/>
                    <a:lstStyle/>
                    <a:p>
                      <a:pPr algn="l"/>
                      <a:r>
                        <a:rPr sz="800" b="0">
                          <a:solidFill>
                            <a:srgbClr val="2E2E2E"/>
                          </a:solidFill>
                          <a:latin typeface="Calibri"/>
                        </a:rPr>
                        <a:t>111.3</a:t>
                      </a:r>
                    </a:p>
                  </a:txBody>
                  <a:tcPr marL="85725" marR="38100" marT="19050" marB="19050" anchor="ctr">
                    <a:solidFill>
                      <a:srgbClr val="FFFFFF"/>
                    </a:solidFill>
                  </a:tcPr>
                </a:tc>
                <a:tc>
                  <a:txBody>
                    <a:bodyPr wrap="none"/>
                    <a:lstStyle/>
                    <a:p>
                      <a:pPr algn="l"/>
                      <a:r>
                        <a:rPr sz="800" b="0">
                          <a:solidFill>
                            <a:srgbClr val="2E2E2E"/>
                          </a:solidFill>
                          <a:latin typeface="Calibri"/>
                        </a:rPr>
                        <a:t>138.3</a:t>
                      </a:r>
                    </a:p>
                  </a:txBody>
                  <a:tcPr marL="85725" marR="38100" marT="19050" marB="19050" anchor="ctr">
                    <a:solidFill>
                      <a:srgbClr val="FFFFFF"/>
                    </a:solidFill>
                  </a:tcPr>
                </a:tc>
                <a:tc>
                  <a:txBody>
                    <a:bodyPr wrap="none"/>
                    <a:lstStyle/>
                    <a:p>
                      <a:pPr algn="l"/>
                      <a:r>
                        <a:rPr sz="800" b="0">
                          <a:solidFill>
                            <a:srgbClr val="2E2E2E"/>
                          </a:solidFill>
                          <a:latin typeface="Calibri"/>
                        </a:rPr>
                        <a:t>168.1</a:t>
                      </a:r>
                    </a:p>
                  </a:txBody>
                  <a:tcPr marL="85725" marR="38100" marT="19050" marB="19050" anchor="ctr">
                    <a:solidFill>
                      <a:srgbClr val="FFFFFF"/>
                    </a:solidFill>
                  </a:tcPr>
                </a:tc>
                <a:tc>
                  <a:txBody>
                    <a:bodyPr wrap="none"/>
                    <a:lstStyle/>
                    <a:p>
                      <a:pPr algn="l"/>
                      <a:r>
                        <a:rPr sz="800" b="0">
                          <a:solidFill>
                            <a:srgbClr val="2E2E2E"/>
                          </a:solidFill>
                          <a:latin typeface="Calibri"/>
                        </a:rPr>
                        <a:t>198.2</a:t>
                      </a:r>
                    </a:p>
                  </a:txBody>
                  <a:tcPr marL="85725" marR="38100" marT="19050" marB="19050" anchor="ctr">
                    <a:solidFill>
                      <a:srgbClr val="FFFFFF"/>
                    </a:solidFill>
                  </a:tcPr>
                </a:tc>
                <a:tc>
                  <a:txBody>
                    <a:bodyPr wrap="none"/>
                    <a:lstStyle/>
                    <a:p>
                      <a:pPr algn="l"/>
                      <a:r>
                        <a:rPr sz="800" b="0">
                          <a:solidFill>
                            <a:srgbClr val="2E2E2E"/>
                          </a:solidFill>
                          <a:latin typeface="Calibri"/>
                        </a:rPr>
                        <a:t>229.5</a:t>
                      </a:r>
                    </a:p>
                  </a:txBody>
                  <a:tcPr marL="85725" marR="38100" marT="19050" marB="19050" anchor="ctr">
                    <a:solidFill>
                      <a:srgbClr val="FFFFFF"/>
                    </a:solidFill>
                  </a:tcPr>
                </a:tc>
                <a:tc>
                  <a:txBody>
                    <a:bodyPr wrap="none"/>
                    <a:lstStyle/>
                    <a:p>
                      <a:pPr algn="l"/>
                      <a:r>
                        <a:rPr sz="800" b="0">
                          <a:solidFill>
                            <a:srgbClr val="2E2E2E"/>
                          </a:solidFill>
                          <a:latin typeface="Calibri"/>
                        </a:rPr>
                        <a:t>260.3</a:t>
                      </a:r>
                    </a:p>
                  </a:txBody>
                  <a:tcPr marL="85725" marR="38100" marT="19050" marB="19050" anchor="ctr">
                    <a:solidFill>
                      <a:srgbClr val="FFFFFF"/>
                    </a:solidFill>
                  </a:tcPr>
                </a:tc>
                <a:tc>
                  <a:txBody>
                    <a:bodyPr wrap="none"/>
                    <a:lstStyle/>
                    <a:p>
                      <a:pPr algn="l"/>
                      <a:r>
                        <a:rPr sz="800" b="0">
                          <a:solidFill>
                            <a:srgbClr val="2E2E2E"/>
                          </a:solidFill>
                          <a:latin typeface="Calibri"/>
                        </a:rPr>
                        <a:t>290.9</a:t>
                      </a:r>
                    </a:p>
                  </a:txBody>
                  <a:tcPr marL="85725" marR="38100" marT="19050" marB="19050" anchor="ctr">
                    <a:solidFill>
                      <a:srgbClr val="FFFFFF"/>
                    </a:solidFill>
                  </a:tcPr>
                </a:tc>
                <a:tc>
                  <a:txBody>
                    <a:bodyPr wrap="none"/>
                    <a:lstStyle/>
                    <a:p>
                      <a:pPr algn="l"/>
                      <a:r>
                        <a:rPr sz="800" b="0">
                          <a:solidFill>
                            <a:srgbClr val="2E2E2E"/>
                          </a:solidFill>
                          <a:latin typeface="Calibri"/>
                        </a:rPr>
                        <a:t>321.3</a:t>
                      </a:r>
                    </a:p>
                  </a:txBody>
                  <a:tcPr marL="85725" marR="38100" marT="19050" marB="19050" anchor="ctr">
                    <a:solidFill>
                      <a:srgbClr val="FFFFFF"/>
                    </a:solidFill>
                  </a:tcPr>
                </a:tc>
                <a:tc>
                  <a:txBody>
                    <a:bodyPr wrap="none"/>
                    <a:lstStyle/>
                    <a:p>
                      <a:pPr algn="l"/>
                      <a:r>
                        <a:rPr sz="800" b="0">
                          <a:solidFill>
                            <a:srgbClr val="2E2E2E"/>
                          </a:solidFill>
                          <a:latin typeface="Calibri"/>
                        </a:rPr>
                        <a:t>351.2</a:t>
                      </a:r>
                    </a:p>
                  </a:txBody>
                  <a:tcPr marL="85725" marR="38100" marT="19050" marB="19050" anchor="ctr">
                    <a:solidFill>
                      <a:srgbClr val="FFFFFF"/>
                    </a:solidFill>
                  </a:tcPr>
                </a:tc>
                <a:tc>
                  <a:txBody>
                    <a:bodyPr wrap="none"/>
                    <a:lstStyle/>
                    <a:p>
                      <a:pPr algn="l"/>
                      <a:r>
                        <a:rPr sz="800" b="0">
                          <a:solidFill>
                            <a:srgbClr val="2E2E2E"/>
                          </a:solidFill>
                          <a:latin typeface="Calibri"/>
                        </a:rPr>
                        <a:t>380.6</a:t>
                      </a:r>
                    </a:p>
                  </a:txBody>
                  <a:tcPr marL="85725" marR="38100" marT="19050" marB="19050" anchor="ctr">
                    <a:solidFill>
                      <a:srgbClr val="FFFFFF"/>
                    </a:solidFill>
                  </a:tcPr>
                </a:tc>
                <a:tc>
                  <a:txBody>
                    <a:bodyPr wrap="none"/>
                    <a:lstStyle/>
                    <a:p>
                      <a:pPr algn="l"/>
                      <a:r>
                        <a:rPr sz="800" b="0">
                          <a:solidFill>
                            <a:srgbClr val="2E2E2E"/>
                          </a:solidFill>
                          <a:latin typeface="Calibri"/>
                        </a:rPr>
                        <a:t>409.3</a:t>
                      </a:r>
                    </a:p>
                  </a:txBody>
                  <a:tcPr marL="85725" marR="38100" marT="19050" marB="19050" anchor="ctr">
                    <a:solidFill>
                      <a:srgbClr val="FFFFFF"/>
                    </a:solidFill>
                  </a:tcPr>
                </a:tc>
                <a:tc>
                  <a:txBody>
                    <a:bodyPr wrap="none"/>
                    <a:lstStyle/>
                    <a:p>
                      <a:pPr algn="l"/>
                      <a:r>
                        <a:rPr sz="800" b="0">
                          <a:solidFill>
                            <a:srgbClr val="2E2E2E"/>
                          </a:solidFill>
                          <a:latin typeface="Calibri"/>
                        </a:rPr>
                        <a:t>437.6</a:t>
                      </a:r>
                    </a:p>
                  </a:txBody>
                  <a:tcPr marL="85725" marR="38100" marT="19050" marB="19050" anchor="ctr">
                    <a:solidFill>
                      <a:srgbClr val="FFFFFF"/>
                    </a:solidFill>
                  </a:tcPr>
                </a:tc>
                <a:tc>
                  <a:txBody>
                    <a:bodyPr wrap="none"/>
                    <a:lstStyle/>
                    <a:p>
                      <a:pPr algn="l"/>
                      <a:r>
                        <a:rPr sz="800" b="0">
                          <a:solidFill>
                            <a:srgbClr val="2E2E2E"/>
                          </a:solidFill>
                          <a:latin typeface="Calibri"/>
                        </a:rPr>
                        <a:t>465.5</a:t>
                      </a:r>
                    </a:p>
                  </a:txBody>
                  <a:tcPr marL="85725" marR="38100" marT="19050" marB="19050" anchor="ctr">
                    <a:solidFill>
                      <a:srgbClr val="FFFFFF"/>
                    </a:solidFill>
                  </a:tcPr>
                </a:tc>
                <a:tc>
                  <a:txBody>
                    <a:bodyPr wrap="none"/>
                    <a:lstStyle/>
                    <a:p>
                      <a:pPr algn="l"/>
                      <a:r>
                        <a:rPr sz="800" b="0">
                          <a:solidFill>
                            <a:srgbClr val="2E2E2E"/>
                          </a:solidFill>
                          <a:latin typeface="Calibri"/>
                        </a:rPr>
                        <a:t>493.3</a:t>
                      </a:r>
                    </a:p>
                  </a:txBody>
                  <a:tcPr marL="85725" marR="38100" marT="19050" marB="19050" anchor="ctr">
                    <a:solidFill>
                      <a:srgbClr val="FFFFFF"/>
                    </a:solidFill>
                  </a:tcPr>
                </a:tc>
                <a:tc>
                  <a:txBody>
                    <a:bodyPr wrap="none"/>
                    <a:lstStyle/>
                    <a:p>
                      <a:pPr algn="l"/>
                      <a:r>
                        <a:rPr sz="800" b="0">
                          <a:solidFill>
                            <a:srgbClr val="2E2E2E"/>
                          </a:solidFill>
                          <a:latin typeface="Calibri"/>
                        </a:rPr>
                        <a:t>9.5%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800" b="0">
                          <a:solidFill>
                            <a:srgbClr val="2E2E2E"/>
                          </a:solidFill>
                          <a:latin typeface="Calibri"/>
                        </a:rPr>
                        <a:t>93.6</a:t>
                      </a:r>
                    </a:p>
                  </a:txBody>
                  <a:tcPr marL="85725" marR="38100" marT="19050" marB="19050" anchor="ctr">
                    <a:solidFill>
                      <a:srgbClr val="F5F8FA"/>
                    </a:solidFill>
                  </a:tcPr>
                </a:tc>
                <a:tc>
                  <a:txBody>
                    <a:bodyPr wrap="none"/>
                    <a:lstStyle/>
                    <a:p>
                      <a:pPr algn="l"/>
                      <a:r>
                        <a:rPr sz="800" b="0">
                          <a:solidFill>
                            <a:srgbClr val="2E2E2E"/>
                          </a:solidFill>
                          <a:latin typeface="Calibri"/>
                        </a:rPr>
                        <a:t>105.6</a:t>
                      </a:r>
                    </a:p>
                  </a:txBody>
                  <a:tcPr marL="85725" marR="38100" marT="19050" marB="19050" anchor="ctr">
                    <a:solidFill>
                      <a:srgbClr val="F5F8FA"/>
                    </a:solidFill>
                  </a:tcPr>
                </a:tc>
                <a:tc>
                  <a:txBody>
                    <a:bodyPr wrap="none"/>
                    <a:lstStyle/>
                    <a:p>
                      <a:pPr algn="l"/>
                      <a:r>
                        <a:rPr sz="800" b="0">
                          <a:solidFill>
                            <a:srgbClr val="2E2E2E"/>
                          </a:solidFill>
                          <a:latin typeface="Calibri"/>
                        </a:rPr>
                        <a:t>126.4</a:t>
                      </a:r>
                    </a:p>
                  </a:txBody>
                  <a:tcPr marL="85725" marR="38100" marT="19050" marB="19050" anchor="ctr">
                    <a:solidFill>
                      <a:srgbClr val="F5F8FA"/>
                    </a:solidFill>
                  </a:tcPr>
                </a:tc>
                <a:tc>
                  <a:txBody>
                    <a:bodyPr wrap="none"/>
                    <a:lstStyle/>
                    <a:p>
                      <a:pPr algn="l"/>
                      <a:r>
                        <a:rPr sz="800" b="0">
                          <a:solidFill>
                            <a:srgbClr val="2E2E2E"/>
                          </a:solidFill>
                          <a:latin typeface="Calibri"/>
                        </a:rPr>
                        <a:t>156.1</a:t>
                      </a:r>
                    </a:p>
                  </a:txBody>
                  <a:tcPr marL="85725" marR="38100" marT="19050" marB="19050" anchor="ctr">
                    <a:solidFill>
                      <a:srgbClr val="F5F8FA"/>
                    </a:solidFill>
                  </a:tcPr>
                </a:tc>
                <a:tc>
                  <a:txBody>
                    <a:bodyPr wrap="none"/>
                    <a:lstStyle/>
                    <a:p>
                      <a:pPr algn="l"/>
                      <a:r>
                        <a:rPr sz="800" b="0">
                          <a:solidFill>
                            <a:srgbClr val="2E2E2E"/>
                          </a:solidFill>
                          <a:latin typeface="Calibri"/>
                        </a:rPr>
                        <a:t>188.7</a:t>
                      </a:r>
                    </a:p>
                  </a:txBody>
                  <a:tcPr marL="85725" marR="38100" marT="19050" marB="19050" anchor="ctr">
                    <a:solidFill>
                      <a:srgbClr val="F5F8FA"/>
                    </a:solidFill>
                  </a:tcPr>
                </a:tc>
                <a:tc>
                  <a:txBody>
                    <a:bodyPr wrap="none"/>
                    <a:lstStyle/>
                    <a:p>
                      <a:pPr algn="l"/>
                      <a:r>
                        <a:rPr sz="800" b="0">
                          <a:solidFill>
                            <a:srgbClr val="2E2E2E"/>
                          </a:solidFill>
                          <a:latin typeface="Calibri"/>
                        </a:rPr>
                        <a:t>221.1</a:t>
                      </a:r>
                    </a:p>
                  </a:txBody>
                  <a:tcPr marL="85725" marR="38100" marT="19050" marB="19050" anchor="ctr">
                    <a:solidFill>
                      <a:srgbClr val="F5F8FA"/>
                    </a:solidFill>
                  </a:tcPr>
                </a:tc>
                <a:tc>
                  <a:txBody>
                    <a:bodyPr wrap="none"/>
                    <a:lstStyle/>
                    <a:p>
                      <a:pPr algn="l"/>
                      <a:r>
                        <a:rPr sz="800" b="0">
                          <a:solidFill>
                            <a:srgbClr val="2E2E2E"/>
                          </a:solidFill>
                          <a:latin typeface="Calibri"/>
                        </a:rPr>
                        <a:t>254.4</a:t>
                      </a:r>
                    </a:p>
                  </a:txBody>
                  <a:tcPr marL="85725" marR="38100" marT="19050" marB="19050" anchor="ctr">
                    <a:solidFill>
                      <a:srgbClr val="F5F8FA"/>
                    </a:solidFill>
                  </a:tcPr>
                </a:tc>
                <a:tc>
                  <a:txBody>
                    <a:bodyPr wrap="none"/>
                    <a:lstStyle/>
                    <a:p>
                      <a:pPr algn="l"/>
                      <a:r>
                        <a:rPr sz="800" b="0">
                          <a:solidFill>
                            <a:srgbClr val="2E2E2E"/>
                          </a:solidFill>
                          <a:latin typeface="Calibri"/>
                        </a:rPr>
                        <a:t>286.8</a:t>
                      </a:r>
                    </a:p>
                  </a:txBody>
                  <a:tcPr marL="85725" marR="38100" marT="19050" marB="19050" anchor="ctr">
                    <a:solidFill>
                      <a:srgbClr val="F5F8FA"/>
                    </a:solidFill>
                  </a:tcPr>
                </a:tc>
                <a:tc>
                  <a:txBody>
                    <a:bodyPr wrap="none"/>
                    <a:lstStyle/>
                    <a:p>
                      <a:pPr algn="l"/>
                      <a:r>
                        <a:rPr sz="800" b="0">
                          <a:solidFill>
                            <a:srgbClr val="2E2E2E"/>
                          </a:solidFill>
                          <a:latin typeface="Calibri"/>
                        </a:rPr>
                        <a:t>318.7</a:t>
                      </a:r>
                    </a:p>
                  </a:txBody>
                  <a:tcPr marL="85725" marR="38100" marT="19050" marB="19050" anchor="ctr">
                    <a:solidFill>
                      <a:srgbClr val="F5F8FA"/>
                    </a:solidFill>
                  </a:tcPr>
                </a:tc>
                <a:tc>
                  <a:txBody>
                    <a:bodyPr wrap="none"/>
                    <a:lstStyle/>
                    <a:p>
                      <a:pPr algn="l"/>
                      <a:r>
                        <a:rPr sz="800" b="0">
                          <a:solidFill>
                            <a:srgbClr val="2E2E2E"/>
                          </a:solidFill>
                          <a:latin typeface="Calibri"/>
                        </a:rPr>
                        <a:t>349.8</a:t>
                      </a:r>
                    </a:p>
                  </a:txBody>
                  <a:tcPr marL="85725" marR="38100" marT="19050" marB="19050" anchor="ctr">
                    <a:solidFill>
                      <a:srgbClr val="F5F8FA"/>
                    </a:solidFill>
                  </a:tcPr>
                </a:tc>
                <a:tc>
                  <a:txBody>
                    <a:bodyPr wrap="none"/>
                    <a:lstStyle/>
                    <a:p>
                      <a:pPr algn="l"/>
                      <a:r>
                        <a:rPr sz="800" b="0">
                          <a:solidFill>
                            <a:srgbClr val="2E2E2E"/>
                          </a:solidFill>
                          <a:latin typeface="Calibri"/>
                        </a:rPr>
                        <a:t>380.0</a:t>
                      </a:r>
                    </a:p>
                  </a:txBody>
                  <a:tcPr marL="85725" marR="38100" marT="19050" marB="19050" anchor="ctr">
                    <a:solidFill>
                      <a:srgbClr val="F5F8FA"/>
                    </a:solidFill>
                  </a:tcPr>
                </a:tc>
                <a:tc>
                  <a:txBody>
                    <a:bodyPr wrap="none"/>
                    <a:lstStyle/>
                    <a:p>
                      <a:pPr algn="l"/>
                      <a:r>
                        <a:rPr sz="800" b="0">
                          <a:solidFill>
                            <a:srgbClr val="2E2E2E"/>
                          </a:solidFill>
                          <a:latin typeface="Calibri"/>
                        </a:rPr>
                        <a:t>409.3</a:t>
                      </a:r>
                    </a:p>
                  </a:txBody>
                  <a:tcPr marL="85725" marR="38100" marT="19050" marB="19050" anchor="ctr">
                    <a:solidFill>
                      <a:srgbClr val="F5F8FA"/>
                    </a:solidFill>
                  </a:tcPr>
                </a:tc>
                <a:tc>
                  <a:txBody>
                    <a:bodyPr wrap="none"/>
                    <a:lstStyle/>
                    <a:p>
                      <a:pPr algn="l"/>
                      <a:r>
                        <a:rPr sz="800" b="0">
                          <a:solidFill>
                            <a:srgbClr val="2E2E2E"/>
                          </a:solidFill>
                          <a:latin typeface="Calibri"/>
                        </a:rPr>
                        <a:t>437.5</a:t>
                      </a:r>
                    </a:p>
                  </a:txBody>
                  <a:tcPr marL="85725" marR="38100" marT="19050" marB="19050" anchor="ctr">
                    <a:solidFill>
                      <a:srgbClr val="F5F8FA"/>
                    </a:solidFill>
                  </a:tcPr>
                </a:tc>
                <a:tc>
                  <a:txBody>
                    <a:bodyPr wrap="none"/>
                    <a:lstStyle/>
                    <a:p>
                      <a:pPr algn="l"/>
                      <a:r>
                        <a:rPr sz="800" b="0">
                          <a:solidFill>
                            <a:srgbClr val="2E2E2E"/>
                          </a:solidFill>
                          <a:latin typeface="Calibri"/>
                        </a:rPr>
                        <a:t>465.0</a:t>
                      </a:r>
                    </a:p>
                  </a:txBody>
                  <a:tcPr marL="85725" marR="38100" marT="19050" marB="19050" anchor="ctr">
                    <a:solidFill>
                      <a:srgbClr val="F5F8FA"/>
                    </a:solidFill>
                  </a:tcPr>
                </a:tc>
                <a:tc>
                  <a:txBody>
                    <a:bodyPr wrap="none"/>
                    <a:lstStyle/>
                    <a:p>
                      <a:pPr algn="l"/>
                      <a:r>
                        <a:rPr sz="800" b="0">
                          <a:solidFill>
                            <a:srgbClr val="2E2E2E"/>
                          </a:solidFill>
                          <a:latin typeface="Calibri"/>
                        </a:rPr>
                        <a:t>491.7</a:t>
                      </a:r>
                    </a:p>
                  </a:txBody>
                  <a:tcPr marL="85725" marR="38100" marT="19050" marB="19050" anchor="ctr">
                    <a:solidFill>
                      <a:srgbClr val="F5F8FA"/>
                    </a:solidFill>
                  </a:tcPr>
                </a:tc>
                <a:tc>
                  <a:txBody>
                    <a:bodyPr wrap="none"/>
                    <a:lstStyle/>
                    <a:p>
                      <a:pPr algn="l"/>
                      <a:r>
                        <a:rPr sz="800" b="0">
                          <a:solidFill>
                            <a:srgbClr val="2E2E2E"/>
                          </a:solidFill>
                          <a:latin typeface="Calibri"/>
                        </a:rPr>
                        <a:t>517.9</a:t>
                      </a:r>
                    </a:p>
                  </a:txBody>
                  <a:tcPr marL="85725" marR="38100" marT="19050" marB="19050" anchor="ctr">
                    <a:solidFill>
                      <a:srgbClr val="F5F8FA"/>
                    </a:solidFill>
                  </a:tcPr>
                </a:tc>
                <a:tc>
                  <a:txBody>
                    <a:bodyPr wrap="none"/>
                    <a:lstStyle/>
                    <a:p>
                      <a:pPr algn="l"/>
                      <a:r>
                        <a:rPr sz="800" b="0">
                          <a:solidFill>
                            <a:srgbClr val="2E2E2E"/>
                          </a:solidFill>
                          <a:latin typeface="Calibri"/>
                        </a:rPr>
                        <a:t>8.9%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Idacio</a:t>
                      </a:r>
                    </a:p>
                  </a:txBody>
                  <a:tcPr marL="85725" marR="38100" marT="19050" marB="19050" anchor="ctr">
                    <a:solidFill>
                      <a:srgbClr val="FFFFFF"/>
                    </a:solidFill>
                  </a:tcPr>
                </a:tc>
                <a:tc>
                  <a:txBody>
                    <a:bodyPr wrap="none"/>
                    <a:lstStyle/>
                    <a:p>
                      <a:pPr algn="l"/>
                      <a:r>
                        <a:rPr sz="800" b="0">
                          <a:solidFill>
                            <a:srgbClr val="2E2E2E"/>
                          </a:solidFill>
                          <a:latin typeface="Calibri"/>
                        </a:rPr>
                        <a:t>87.8</a:t>
                      </a:r>
                    </a:p>
                  </a:txBody>
                  <a:tcPr marL="85725" marR="38100" marT="19050" marB="19050" anchor="ctr">
                    <a:solidFill>
                      <a:srgbClr val="FFFFFF"/>
                    </a:solidFill>
                  </a:tcPr>
                </a:tc>
                <a:tc>
                  <a:txBody>
                    <a:bodyPr wrap="none"/>
                    <a:lstStyle/>
                    <a:p>
                      <a:pPr algn="l"/>
                      <a:r>
                        <a:rPr sz="800" b="0">
                          <a:solidFill>
                            <a:srgbClr val="2E2E2E"/>
                          </a:solidFill>
                          <a:latin typeface="Calibri"/>
                        </a:rPr>
                        <a:t>99.6</a:t>
                      </a:r>
                    </a:p>
                  </a:txBody>
                  <a:tcPr marL="85725" marR="38100" marT="19050" marB="19050" anchor="ctr">
                    <a:solidFill>
                      <a:srgbClr val="FFFFFF"/>
                    </a:solidFill>
                  </a:tcPr>
                </a:tc>
                <a:tc>
                  <a:txBody>
                    <a:bodyPr wrap="none"/>
                    <a:lstStyle/>
                    <a:p>
                      <a:pPr algn="l"/>
                      <a:r>
                        <a:rPr sz="800" b="0">
                          <a:solidFill>
                            <a:srgbClr val="2E2E2E"/>
                          </a:solidFill>
                          <a:latin typeface="Calibri"/>
                        </a:rPr>
                        <a:t>119.8</a:t>
                      </a:r>
                    </a:p>
                  </a:txBody>
                  <a:tcPr marL="85725" marR="38100" marT="19050" marB="19050" anchor="ctr">
                    <a:solidFill>
                      <a:srgbClr val="FFFFFF"/>
                    </a:solidFill>
                  </a:tcPr>
                </a:tc>
                <a:tc>
                  <a:txBody>
                    <a:bodyPr wrap="none"/>
                    <a:lstStyle/>
                    <a:p>
                      <a:pPr algn="l"/>
                      <a:r>
                        <a:rPr sz="800" b="0">
                          <a:solidFill>
                            <a:srgbClr val="2E2E2E"/>
                          </a:solidFill>
                          <a:latin typeface="Calibri"/>
                        </a:rPr>
                        <a:t>148.7</a:t>
                      </a:r>
                    </a:p>
                  </a:txBody>
                  <a:tcPr marL="85725" marR="38100" marT="19050" marB="19050" anchor="ctr">
                    <a:solidFill>
                      <a:srgbClr val="FFFFFF"/>
                    </a:solidFill>
                  </a:tcPr>
                </a:tc>
                <a:tc>
                  <a:txBody>
                    <a:bodyPr wrap="none"/>
                    <a:lstStyle/>
                    <a:p>
                      <a:pPr algn="l"/>
                      <a:r>
                        <a:rPr sz="800" b="0">
                          <a:solidFill>
                            <a:srgbClr val="2E2E2E"/>
                          </a:solidFill>
                          <a:latin typeface="Calibri"/>
                        </a:rPr>
                        <a:t>180.7</a:t>
                      </a:r>
                    </a:p>
                  </a:txBody>
                  <a:tcPr marL="85725" marR="38100" marT="19050" marB="19050" anchor="ctr">
                    <a:solidFill>
                      <a:srgbClr val="FFFFFF"/>
                    </a:solidFill>
                  </a:tcPr>
                </a:tc>
                <a:tc>
                  <a:txBody>
                    <a:bodyPr wrap="none"/>
                    <a:lstStyle/>
                    <a:p>
                      <a:pPr algn="l"/>
                      <a:r>
                        <a:rPr sz="800" b="0">
                          <a:solidFill>
                            <a:srgbClr val="2E2E2E"/>
                          </a:solidFill>
                          <a:latin typeface="Calibri"/>
                        </a:rPr>
                        <a:t>212.9</a:t>
                      </a:r>
                    </a:p>
                  </a:txBody>
                  <a:tcPr marL="85725" marR="38100" marT="19050" marB="19050" anchor="ctr">
                    <a:solidFill>
                      <a:srgbClr val="FFFFFF"/>
                    </a:solidFill>
                  </a:tcPr>
                </a:tc>
                <a:tc>
                  <a:txBody>
                    <a:bodyPr wrap="none"/>
                    <a:lstStyle/>
                    <a:p>
                      <a:pPr algn="l"/>
                      <a:r>
                        <a:rPr sz="800" b="0">
                          <a:solidFill>
                            <a:srgbClr val="2E2E2E"/>
                          </a:solidFill>
                          <a:latin typeface="Calibri"/>
                        </a:rPr>
                        <a:t>246.3</a:t>
                      </a:r>
                    </a:p>
                  </a:txBody>
                  <a:tcPr marL="85725" marR="38100" marT="19050" marB="19050" anchor="ctr">
                    <a:solidFill>
                      <a:srgbClr val="FFFFFF"/>
                    </a:solidFill>
                  </a:tcPr>
                </a:tc>
                <a:tc>
                  <a:txBody>
                    <a:bodyPr wrap="none"/>
                    <a:lstStyle/>
                    <a:p>
                      <a:pPr algn="l"/>
                      <a:r>
                        <a:rPr sz="800" b="0">
                          <a:solidFill>
                            <a:srgbClr val="2E2E2E"/>
                          </a:solidFill>
                          <a:latin typeface="Calibri"/>
                        </a:rPr>
                        <a:t>279.2</a:t>
                      </a:r>
                    </a:p>
                  </a:txBody>
                  <a:tcPr marL="85725" marR="38100" marT="19050" marB="19050" anchor="ctr">
                    <a:solidFill>
                      <a:srgbClr val="FFFFFF"/>
                    </a:solidFill>
                  </a:tcPr>
                </a:tc>
                <a:tc>
                  <a:txBody>
                    <a:bodyPr wrap="none"/>
                    <a:lstStyle/>
                    <a:p>
                      <a:pPr algn="l"/>
                      <a:r>
                        <a:rPr sz="800" b="0">
                          <a:solidFill>
                            <a:srgbClr val="2E2E2E"/>
                          </a:solidFill>
                          <a:latin typeface="Calibri"/>
                        </a:rPr>
                        <a:t>311.8</a:t>
                      </a:r>
                    </a:p>
                  </a:txBody>
                  <a:tcPr marL="85725" marR="38100" marT="19050" marB="19050" anchor="ctr">
                    <a:solidFill>
                      <a:srgbClr val="FFFFFF"/>
                    </a:solidFill>
                  </a:tcPr>
                </a:tc>
                <a:tc>
                  <a:txBody>
                    <a:bodyPr wrap="none"/>
                    <a:lstStyle/>
                    <a:p>
                      <a:pPr algn="l"/>
                      <a:r>
                        <a:rPr sz="800" b="0">
                          <a:solidFill>
                            <a:srgbClr val="2E2E2E"/>
                          </a:solidFill>
                          <a:latin typeface="Calibri"/>
                        </a:rPr>
                        <a:t>344.1</a:t>
                      </a:r>
                    </a:p>
                  </a:txBody>
                  <a:tcPr marL="85725" marR="38100" marT="19050" marB="19050" anchor="ctr">
                    <a:solidFill>
                      <a:srgbClr val="FFFFFF"/>
                    </a:solidFill>
                  </a:tcPr>
                </a:tc>
                <a:tc>
                  <a:txBody>
                    <a:bodyPr wrap="none"/>
                    <a:lstStyle/>
                    <a:p>
                      <a:pPr algn="l"/>
                      <a:r>
                        <a:rPr sz="800" b="0">
                          <a:solidFill>
                            <a:srgbClr val="2E2E2E"/>
                          </a:solidFill>
                          <a:latin typeface="Calibri"/>
                        </a:rPr>
                        <a:t>375.8</a:t>
                      </a:r>
                    </a:p>
                  </a:txBody>
                  <a:tcPr marL="85725" marR="38100" marT="19050" marB="19050" anchor="ctr">
                    <a:solidFill>
                      <a:srgbClr val="FFFFFF"/>
                    </a:solidFill>
                  </a:tcPr>
                </a:tc>
                <a:tc>
                  <a:txBody>
                    <a:bodyPr wrap="none"/>
                    <a:lstStyle/>
                    <a:p>
                      <a:pPr algn="l"/>
                      <a:r>
                        <a:rPr sz="800" b="0">
                          <a:solidFill>
                            <a:srgbClr val="2E2E2E"/>
                          </a:solidFill>
                          <a:latin typeface="Calibri"/>
                        </a:rPr>
                        <a:t>406.9</a:t>
                      </a:r>
                    </a:p>
                  </a:txBody>
                  <a:tcPr marL="85725" marR="38100" marT="19050" marB="19050" anchor="ctr">
                    <a:solidFill>
                      <a:srgbClr val="FFFFFF"/>
                    </a:solidFill>
                  </a:tcPr>
                </a:tc>
                <a:tc>
                  <a:txBody>
                    <a:bodyPr wrap="none"/>
                    <a:lstStyle/>
                    <a:p>
                      <a:pPr algn="l"/>
                      <a:r>
                        <a:rPr sz="800" b="0">
                          <a:solidFill>
                            <a:srgbClr val="2E2E2E"/>
                          </a:solidFill>
                          <a:latin typeface="Calibri"/>
                        </a:rPr>
                        <a:t>437.2</a:t>
                      </a:r>
                    </a:p>
                  </a:txBody>
                  <a:tcPr marL="85725" marR="38100" marT="19050" marB="19050" anchor="ctr">
                    <a:solidFill>
                      <a:srgbClr val="FFFFFF"/>
                    </a:solidFill>
                  </a:tcPr>
                </a:tc>
                <a:tc>
                  <a:txBody>
                    <a:bodyPr wrap="none"/>
                    <a:lstStyle/>
                    <a:p>
                      <a:pPr algn="l"/>
                      <a:r>
                        <a:rPr sz="800" b="0">
                          <a:solidFill>
                            <a:srgbClr val="2E2E2E"/>
                          </a:solidFill>
                          <a:latin typeface="Calibri"/>
                        </a:rPr>
                        <a:t>467.1</a:t>
                      </a:r>
                    </a:p>
                  </a:txBody>
                  <a:tcPr marL="85725" marR="38100" marT="19050" marB="19050" anchor="ctr">
                    <a:solidFill>
                      <a:srgbClr val="FFFFFF"/>
                    </a:solidFill>
                  </a:tcPr>
                </a:tc>
                <a:tc>
                  <a:txBody>
                    <a:bodyPr wrap="none"/>
                    <a:lstStyle/>
                    <a:p>
                      <a:pPr algn="l"/>
                      <a:r>
                        <a:rPr sz="800" b="0">
                          <a:solidFill>
                            <a:srgbClr val="2E2E2E"/>
                          </a:solidFill>
                          <a:latin typeface="Calibri"/>
                        </a:rPr>
                        <a:t>496.6</a:t>
                      </a:r>
                    </a:p>
                  </a:txBody>
                  <a:tcPr marL="85725" marR="38100" marT="19050" marB="19050" anchor="ctr">
                    <a:solidFill>
                      <a:srgbClr val="FFFFFF"/>
                    </a:solidFill>
                  </a:tcPr>
                </a:tc>
                <a:tc>
                  <a:txBody>
                    <a:bodyPr wrap="none"/>
                    <a:lstStyle/>
                    <a:p>
                      <a:pPr algn="l"/>
                      <a:r>
                        <a:rPr sz="800" b="0">
                          <a:solidFill>
                            <a:srgbClr val="2E2E2E"/>
                          </a:solidFill>
                          <a:latin typeface="Calibri"/>
                        </a:rPr>
                        <a:t>525.8</a:t>
                      </a:r>
                    </a:p>
                  </a:txBody>
                  <a:tcPr marL="85725" marR="38100" marT="19050" marB="19050" anchor="ctr">
                    <a:solidFill>
                      <a:srgbClr val="FFFFFF"/>
                    </a:solidFill>
                  </a:tcPr>
                </a:tc>
                <a:tc>
                  <a:txBody>
                    <a:bodyPr wrap="none"/>
                    <a:lstStyle/>
                    <a:p>
                      <a:pPr algn="l"/>
                      <a:r>
                        <a:rPr sz="800" b="0">
                          <a:solidFill>
                            <a:srgbClr val="2E2E2E"/>
                          </a:solidFill>
                          <a:latin typeface="Calibri"/>
                        </a:rPr>
                        <a:t>9.5%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Hulio</a:t>
                      </a:r>
                    </a:p>
                  </a:txBody>
                  <a:tcPr marL="85725" marR="38100" marT="19050" marB="19050" anchor="ctr">
                    <a:solidFill>
                      <a:srgbClr val="F5F8FA"/>
                    </a:solidFill>
                  </a:tcPr>
                </a:tc>
                <a:tc>
                  <a:txBody>
                    <a:bodyPr wrap="none"/>
                    <a:lstStyle/>
                    <a:p>
                      <a:pPr algn="l"/>
                      <a:r>
                        <a:rPr sz="800" b="0">
                          <a:solidFill>
                            <a:srgbClr val="2E2E2E"/>
                          </a:solidFill>
                          <a:latin typeface="Calibri"/>
                        </a:rPr>
                        <a:t>49.3</a:t>
                      </a:r>
                    </a:p>
                  </a:txBody>
                  <a:tcPr marL="85725" marR="38100" marT="19050" marB="19050" anchor="ctr">
                    <a:solidFill>
                      <a:srgbClr val="F5F8FA"/>
                    </a:solidFill>
                  </a:tcPr>
                </a:tc>
                <a:tc>
                  <a:txBody>
                    <a:bodyPr wrap="none"/>
                    <a:lstStyle/>
                    <a:p>
                      <a:pPr algn="l"/>
                      <a:r>
                        <a:rPr sz="800" b="0">
                          <a:solidFill>
                            <a:srgbClr val="2E2E2E"/>
                          </a:solidFill>
                          <a:latin typeface="Calibri"/>
                        </a:rPr>
                        <a:t>54.5</a:t>
                      </a:r>
                    </a:p>
                  </a:txBody>
                  <a:tcPr marL="85725" marR="38100" marT="19050" marB="19050" anchor="ctr">
                    <a:solidFill>
                      <a:srgbClr val="F5F8FA"/>
                    </a:solidFill>
                  </a:tcPr>
                </a:tc>
                <a:tc>
                  <a:txBody>
                    <a:bodyPr wrap="none"/>
                    <a:lstStyle/>
                    <a:p>
                      <a:pPr algn="l"/>
                      <a:r>
                        <a:rPr sz="800" b="0">
                          <a:solidFill>
                            <a:srgbClr val="2E2E2E"/>
                          </a:solidFill>
                          <a:latin typeface="Calibri"/>
                        </a:rPr>
                        <a:t>63.8</a:t>
                      </a:r>
                    </a:p>
                  </a:txBody>
                  <a:tcPr marL="85725" marR="38100" marT="19050" marB="19050" anchor="ctr">
                    <a:solidFill>
                      <a:srgbClr val="F5F8FA"/>
                    </a:solidFill>
                  </a:tcPr>
                </a:tc>
                <a:tc>
                  <a:txBody>
                    <a:bodyPr wrap="none"/>
                    <a:lstStyle/>
                    <a:p>
                      <a:pPr algn="l"/>
                      <a:r>
                        <a:rPr sz="800" b="0">
                          <a:solidFill>
                            <a:srgbClr val="2E2E2E"/>
                          </a:solidFill>
                          <a:latin typeface="Calibri"/>
                        </a:rPr>
                        <a:t>77.1</a:t>
                      </a:r>
                    </a:p>
                  </a:txBody>
                  <a:tcPr marL="85725" marR="38100" marT="19050" marB="19050" anchor="ctr">
                    <a:solidFill>
                      <a:srgbClr val="F5F8FA"/>
                    </a:solidFill>
                  </a:tcPr>
                </a:tc>
                <a:tc>
                  <a:txBody>
                    <a:bodyPr wrap="none"/>
                    <a:lstStyle/>
                    <a:p>
                      <a:pPr algn="l"/>
                      <a:r>
                        <a:rPr sz="800" b="0">
                          <a:solidFill>
                            <a:srgbClr val="2E2E2E"/>
                          </a:solidFill>
                          <a:latin typeface="Calibri"/>
                        </a:rPr>
                        <a:t>91.3</a:t>
                      </a:r>
                    </a:p>
                  </a:txBody>
                  <a:tcPr marL="85725" marR="38100" marT="19050" marB="19050" anchor="ctr">
                    <a:solidFill>
                      <a:srgbClr val="F5F8FA"/>
                    </a:solidFill>
                  </a:tcPr>
                </a:tc>
                <a:tc>
                  <a:txBody>
                    <a:bodyPr wrap="none"/>
                    <a:lstStyle/>
                    <a:p>
                      <a:pPr algn="l"/>
                      <a:r>
                        <a:rPr sz="800" b="0">
                          <a:solidFill>
                            <a:srgbClr val="2E2E2E"/>
                          </a:solidFill>
                          <a:latin typeface="Calibri"/>
                        </a:rPr>
                        <a:t>104.7</a:t>
                      </a:r>
                    </a:p>
                  </a:txBody>
                  <a:tcPr marL="85725" marR="38100" marT="19050" marB="19050" anchor="ctr">
                    <a:solidFill>
                      <a:srgbClr val="F5F8FA"/>
                    </a:solidFill>
                  </a:tcPr>
                </a:tc>
                <a:tc>
                  <a:txBody>
                    <a:bodyPr wrap="none"/>
                    <a:lstStyle/>
                    <a:p>
                      <a:pPr algn="l"/>
                      <a:r>
                        <a:rPr sz="800" b="0">
                          <a:solidFill>
                            <a:srgbClr val="2E2E2E"/>
                          </a:solidFill>
                          <a:latin typeface="Calibri"/>
                        </a:rPr>
                        <a:t>117.9</a:t>
                      </a:r>
                    </a:p>
                  </a:txBody>
                  <a:tcPr marL="85725" marR="38100" marT="19050" marB="19050" anchor="ctr">
                    <a:solidFill>
                      <a:srgbClr val="F5F8FA"/>
                    </a:solidFill>
                  </a:tcPr>
                </a:tc>
                <a:tc>
                  <a:txBody>
                    <a:bodyPr wrap="none"/>
                    <a:lstStyle/>
                    <a:p>
                      <a:pPr algn="l"/>
                      <a:r>
                        <a:rPr sz="800" b="0">
                          <a:solidFill>
                            <a:srgbClr val="2E2E2E"/>
                          </a:solidFill>
                          <a:latin typeface="Calibri"/>
                        </a:rPr>
                        <a:t>130.0</a:t>
                      </a:r>
                    </a:p>
                  </a:txBody>
                  <a:tcPr marL="85725" marR="38100" marT="19050" marB="19050" anchor="ctr">
                    <a:solidFill>
                      <a:srgbClr val="F5F8FA"/>
                    </a:solidFill>
                  </a:tcPr>
                </a:tc>
                <a:tc>
                  <a:txBody>
                    <a:bodyPr wrap="none"/>
                    <a:lstStyle/>
                    <a:p>
                      <a:pPr algn="l"/>
                      <a:r>
                        <a:rPr sz="800" b="0">
                          <a:solidFill>
                            <a:srgbClr val="2E2E2E"/>
                          </a:solidFill>
                          <a:latin typeface="Calibri"/>
                        </a:rPr>
                        <a:t>141.4</a:t>
                      </a:r>
                    </a:p>
                  </a:txBody>
                  <a:tcPr marL="85725" marR="38100" marT="19050" marB="19050" anchor="ctr">
                    <a:solidFill>
                      <a:srgbClr val="F5F8FA"/>
                    </a:solidFill>
                  </a:tcPr>
                </a:tc>
                <a:tc>
                  <a:txBody>
                    <a:bodyPr wrap="none"/>
                    <a:lstStyle/>
                    <a:p>
                      <a:pPr algn="l"/>
                      <a:r>
                        <a:rPr sz="800" b="0">
                          <a:solidFill>
                            <a:srgbClr val="2E2E2E"/>
                          </a:solidFill>
                          <a:latin typeface="Calibri"/>
                        </a:rPr>
                        <a:t>151.9</a:t>
                      </a:r>
                    </a:p>
                  </a:txBody>
                  <a:tcPr marL="85725" marR="38100" marT="19050" marB="19050" anchor="ctr">
                    <a:solidFill>
                      <a:srgbClr val="F5F8FA"/>
                    </a:solidFill>
                  </a:tcPr>
                </a:tc>
                <a:tc>
                  <a:txBody>
                    <a:bodyPr wrap="none"/>
                    <a:lstStyle/>
                    <a:p>
                      <a:pPr algn="l"/>
                      <a:r>
                        <a:rPr sz="800" b="0">
                          <a:solidFill>
                            <a:srgbClr val="2E2E2E"/>
                          </a:solidFill>
                          <a:latin typeface="Calibri"/>
                        </a:rPr>
                        <a:t>161.5</a:t>
                      </a:r>
                    </a:p>
                  </a:txBody>
                  <a:tcPr marL="85725" marR="38100" marT="19050" marB="19050" anchor="ctr">
                    <a:solidFill>
                      <a:srgbClr val="F5F8FA"/>
                    </a:solidFill>
                  </a:tcPr>
                </a:tc>
                <a:tc>
                  <a:txBody>
                    <a:bodyPr wrap="none"/>
                    <a:lstStyle/>
                    <a:p>
                      <a:pPr algn="l"/>
                      <a:r>
                        <a:rPr sz="800" b="0">
                          <a:solidFill>
                            <a:srgbClr val="2E2E2E"/>
                          </a:solidFill>
                          <a:latin typeface="Calibri"/>
                        </a:rPr>
                        <a:t>170.2</a:t>
                      </a:r>
                    </a:p>
                  </a:txBody>
                  <a:tcPr marL="85725" marR="38100" marT="19050" marB="19050" anchor="ctr">
                    <a:solidFill>
                      <a:srgbClr val="F5F8FA"/>
                    </a:solidFill>
                  </a:tcPr>
                </a:tc>
                <a:tc>
                  <a:txBody>
                    <a:bodyPr wrap="none"/>
                    <a:lstStyle/>
                    <a:p>
                      <a:pPr algn="l"/>
                      <a:r>
                        <a:rPr sz="800" b="0">
                          <a:solidFill>
                            <a:srgbClr val="2E2E2E"/>
                          </a:solidFill>
                          <a:latin typeface="Calibri"/>
                        </a:rPr>
                        <a:t>178.1</a:t>
                      </a:r>
                    </a:p>
                  </a:txBody>
                  <a:tcPr marL="85725" marR="38100" marT="19050" marB="19050" anchor="ctr">
                    <a:solidFill>
                      <a:srgbClr val="F5F8FA"/>
                    </a:solidFill>
                  </a:tcPr>
                </a:tc>
                <a:tc>
                  <a:txBody>
                    <a:bodyPr wrap="none"/>
                    <a:lstStyle/>
                    <a:p>
                      <a:pPr algn="l"/>
                      <a:r>
                        <a:rPr sz="800" b="0">
                          <a:solidFill>
                            <a:srgbClr val="2E2E2E"/>
                          </a:solidFill>
                          <a:latin typeface="Calibri"/>
                        </a:rPr>
                        <a:t>185.2</a:t>
                      </a:r>
                    </a:p>
                  </a:txBody>
                  <a:tcPr marL="85725" marR="38100" marT="19050" marB="19050" anchor="ctr">
                    <a:solidFill>
                      <a:srgbClr val="F5F8FA"/>
                    </a:solidFill>
                  </a:tcPr>
                </a:tc>
                <a:tc>
                  <a:txBody>
                    <a:bodyPr wrap="none"/>
                    <a:lstStyle/>
                    <a:p>
                      <a:pPr algn="l"/>
                      <a:r>
                        <a:rPr sz="800" b="0">
                          <a:solidFill>
                            <a:srgbClr val="2E2E2E"/>
                          </a:solidFill>
                          <a:latin typeface="Calibri"/>
                        </a:rPr>
                        <a:t>191.7</a:t>
                      </a:r>
                    </a:p>
                  </a:txBody>
                  <a:tcPr marL="85725" marR="38100" marT="19050" marB="19050" anchor="ctr">
                    <a:solidFill>
                      <a:srgbClr val="F5F8FA"/>
                    </a:solidFill>
                  </a:tcPr>
                </a:tc>
                <a:tc>
                  <a:txBody>
                    <a:bodyPr wrap="none"/>
                    <a:lstStyle/>
                    <a:p>
                      <a:pPr algn="l"/>
                      <a:r>
                        <a:rPr sz="800" b="0">
                          <a:solidFill>
                            <a:srgbClr val="2E2E2E"/>
                          </a:solidFill>
                          <a:latin typeface="Calibri"/>
                        </a:rPr>
                        <a:t>197.6</a:t>
                      </a:r>
                    </a:p>
                  </a:txBody>
                  <a:tcPr marL="85725" marR="38100" marT="19050" marB="19050" anchor="ctr">
                    <a:solidFill>
                      <a:srgbClr val="F5F8FA"/>
                    </a:solidFill>
                  </a:tcPr>
                </a:tc>
                <a:tc>
                  <a:txBody>
                    <a:bodyPr wrap="none"/>
                    <a:lstStyle/>
                    <a:p>
                      <a:pPr algn="l"/>
                      <a:r>
                        <a:rPr sz="800" b="0">
                          <a:solidFill>
                            <a:srgbClr val="2E2E2E"/>
                          </a:solidFill>
                          <a:latin typeface="Calibri"/>
                        </a:rPr>
                        <a:t>6.6%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800" b="0">
                          <a:solidFill>
                            <a:srgbClr val="2E2E2E"/>
                          </a:solidFill>
                          <a:latin typeface="Calibri"/>
                        </a:rPr>
                        <a:t>89.0</a:t>
                      </a:r>
                    </a:p>
                  </a:txBody>
                  <a:tcPr marL="85725" marR="38100" marT="19050" marB="19050" anchor="ctr">
                    <a:solidFill>
                      <a:srgbClr val="FFFFFF"/>
                    </a:solidFill>
                  </a:tcPr>
                </a:tc>
                <a:tc>
                  <a:txBody>
                    <a:bodyPr wrap="none"/>
                    <a:lstStyle/>
                    <a:p>
                      <a:pPr algn="l"/>
                      <a:r>
                        <a:rPr sz="800" b="0">
                          <a:solidFill>
                            <a:srgbClr val="2E2E2E"/>
                          </a:solidFill>
                          <a:latin typeface="Calibri"/>
                        </a:rPr>
                        <a:t>100.6</a:t>
                      </a:r>
                    </a:p>
                  </a:txBody>
                  <a:tcPr marL="85725" marR="38100" marT="19050" marB="19050" anchor="ctr">
                    <a:solidFill>
                      <a:srgbClr val="FFFFFF"/>
                    </a:solidFill>
                  </a:tcPr>
                </a:tc>
                <a:tc>
                  <a:txBody>
                    <a:bodyPr wrap="none"/>
                    <a:lstStyle/>
                    <a:p>
                      <a:pPr algn="l"/>
                      <a:r>
                        <a:rPr sz="800" b="0">
                          <a:solidFill>
                            <a:srgbClr val="2E2E2E"/>
                          </a:solidFill>
                          <a:latin typeface="Calibri"/>
                        </a:rPr>
                        <a:t>120.5</a:t>
                      </a:r>
                    </a:p>
                  </a:txBody>
                  <a:tcPr marL="85725" marR="38100" marT="19050" marB="19050" anchor="ctr">
                    <a:solidFill>
                      <a:srgbClr val="FFFFFF"/>
                    </a:solidFill>
                  </a:tcPr>
                </a:tc>
                <a:tc>
                  <a:txBody>
                    <a:bodyPr wrap="none"/>
                    <a:lstStyle/>
                    <a:p>
                      <a:pPr algn="l"/>
                      <a:r>
                        <a:rPr sz="800" b="0">
                          <a:solidFill>
                            <a:srgbClr val="2E2E2E"/>
                          </a:solidFill>
                          <a:latin typeface="Calibri"/>
                        </a:rPr>
                        <a:t>148.9</a:t>
                      </a:r>
                    </a:p>
                  </a:txBody>
                  <a:tcPr marL="85725" marR="38100" marT="19050" marB="19050" anchor="ctr">
                    <a:solidFill>
                      <a:srgbClr val="FFFFFF"/>
                    </a:solidFill>
                  </a:tcPr>
                </a:tc>
                <a:tc>
                  <a:txBody>
                    <a:bodyPr wrap="none"/>
                    <a:lstStyle/>
                    <a:p>
                      <a:pPr algn="l"/>
                      <a:r>
                        <a:rPr sz="800" b="0">
                          <a:solidFill>
                            <a:srgbClr val="2E2E2E"/>
                          </a:solidFill>
                          <a:latin typeface="Calibri"/>
                        </a:rPr>
                        <a:t>180.2</a:t>
                      </a:r>
                    </a:p>
                  </a:txBody>
                  <a:tcPr marL="85725" marR="38100" marT="19050" marB="19050" anchor="ctr">
                    <a:solidFill>
                      <a:srgbClr val="FFFFFF"/>
                    </a:solidFill>
                  </a:tcPr>
                </a:tc>
                <a:tc>
                  <a:txBody>
                    <a:bodyPr wrap="none"/>
                    <a:lstStyle/>
                    <a:p>
                      <a:pPr algn="l"/>
                      <a:r>
                        <a:rPr sz="800" b="0">
                          <a:solidFill>
                            <a:srgbClr val="2E2E2E"/>
                          </a:solidFill>
                          <a:latin typeface="Calibri"/>
                        </a:rPr>
                        <a:t>211.3</a:t>
                      </a:r>
                    </a:p>
                  </a:txBody>
                  <a:tcPr marL="85725" marR="38100" marT="19050" marB="19050" anchor="ctr">
                    <a:solidFill>
                      <a:srgbClr val="FFFFFF"/>
                    </a:solidFill>
                  </a:tcPr>
                </a:tc>
                <a:tc>
                  <a:txBody>
                    <a:bodyPr wrap="none"/>
                    <a:lstStyle/>
                    <a:p>
                      <a:pPr algn="l"/>
                      <a:r>
                        <a:rPr sz="800" b="0">
                          <a:solidFill>
                            <a:srgbClr val="2E2E2E"/>
                          </a:solidFill>
                          <a:latin typeface="Calibri"/>
                        </a:rPr>
                        <a:t>243.4</a:t>
                      </a:r>
                    </a:p>
                  </a:txBody>
                  <a:tcPr marL="85725" marR="38100" marT="19050" marB="19050" anchor="ctr">
                    <a:solidFill>
                      <a:srgbClr val="FFFFFF"/>
                    </a:solidFill>
                  </a:tcPr>
                </a:tc>
                <a:tc>
                  <a:txBody>
                    <a:bodyPr wrap="none"/>
                    <a:lstStyle/>
                    <a:p>
                      <a:pPr algn="l"/>
                      <a:r>
                        <a:rPr sz="800" b="0">
                          <a:solidFill>
                            <a:srgbClr val="2E2E2E"/>
                          </a:solidFill>
                          <a:latin typeface="Calibri"/>
                        </a:rPr>
                        <a:t>274.6</a:t>
                      </a:r>
                    </a:p>
                  </a:txBody>
                  <a:tcPr marL="85725" marR="38100" marT="19050" marB="19050" anchor="ctr">
                    <a:solidFill>
                      <a:srgbClr val="FFFFFF"/>
                    </a:solidFill>
                  </a:tcPr>
                </a:tc>
                <a:tc>
                  <a:txBody>
                    <a:bodyPr wrap="none"/>
                    <a:lstStyle/>
                    <a:p>
                      <a:pPr algn="l"/>
                      <a:r>
                        <a:rPr sz="800" b="0">
                          <a:solidFill>
                            <a:srgbClr val="2E2E2E"/>
                          </a:solidFill>
                          <a:latin typeface="Calibri"/>
                        </a:rPr>
                        <a:t>305.3</a:t>
                      </a:r>
                    </a:p>
                  </a:txBody>
                  <a:tcPr marL="85725" marR="38100" marT="19050" marB="19050" anchor="ctr">
                    <a:solidFill>
                      <a:srgbClr val="FFFFFF"/>
                    </a:solidFill>
                  </a:tcPr>
                </a:tc>
                <a:tc>
                  <a:txBody>
                    <a:bodyPr wrap="none"/>
                    <a:lstStyle/>
                    <a:p>
                      <a:pPr algn="l"/>
                      <a:r>
                        <a:rPr sz="800" b="0">
                          <a:solidFill>
                            <a:srgbClr val="2E2E2E"/>
                          </a:solidFill>
                          <a:latin typeface="Calibri"/>
                        </a:rPr>
                        <a:t>335.4</a:t>
                      </a:r>
                    </a:p>
                  </a:txBody>
                  <a:tcPr marL="85725" marR="38100" marT="19050" marB="19050" anchor="ctr">
                    <a:solidFill>
                      <a:srgbClr val="FFFFFF"/>
                    </a:solidFill>
                  </a:tcPr>
                </a:tc>
                <a:tc>
                  <a:txBody>
                    <a:bodyPr wrap="none"/>
                    <a:lstStyle/>
                    <a:p>
                      <a:pPr algn="l"/>
                      <a:r>
                        <a:rPr sz="800" b="0">
                          <a:solidFill>
                            <a:srgbClr val="2E2E2E"/>
                          </a:solidFill>
                          <a:latin typeface="Calibri"/>
                        </a:rPr>
                        <a:t>364.7</a:t>
                      </a:r>
                    </a:p>
                  </a:txBody>
                  <a:tcPr marL="85725" marR="38100" marT="19050" marB="19050" anchor="ctr">
                    <a:solidFill>
                      <a:srgbClr val="FFFFFF"/>
                    </a:solidFill>
                  </a:tcPr>
                </a:tc>
                <a:tc>
                  <a:txBody>
                    <a:bodyPr wrap="none"/>
                    <a:lstStyle/>
                    <a:p>
                      <a:pPr algn="l"/>
                      <a:r>
                        <a:rPr sz="800" b="0">
                          <a:solidFill>
                            <a:srgbClr val="2E2E2E"/>
                          </a:solidFill>
                          <a:latin typeface="Calibri"/>
                        </a:rPr>
                        <a:t>393.2</a:t>
                      </a:r>
                    </a:p>
                  </a:txBody>
                  <a:tcPr marL="85725" marR="38100" marT="19050" marB="19050" anchor="ctr">
                    <a:solidFill>
                      <a:srgbClr val="FFFFFF"/>
                    </a:solidFill>
                  </a:tcPr>
                </a:tc>
                <a:tc>
                  <a:txBody>
                    <a:bodyPr wrap="none"/>
                    <a:lstStyle/>
                    <a:p>
                      <a:pPr algn="l"/>
                      <a:r>
                        <a:rPr sz="800" b="0">
                          <a:solidFill>
                            <a:srgbClr val="2E2E2E"/>
                          </a:solidFill>
                          <a:latin typeface="Calibri"/>
                        </a:rPr>
                        <a:t>420.6</a:t>
                      </a:r>
                    </a:p>
                  </a:txBody>
                  <a:tcPr marL="85725" marR="38100" marT="19050" marB="19050" anchor="ctr">
                    <a:solidFill>
                      <a:srgbClr val="FFFFFF"/>
                    </a:solidFill>
                  </a:tcPr>
                </a:tc>
                <a:tc>
                  <a:txBody>
                    <a:bodyPr wrap="none"/>
                    <a:lstStyle/>
                    <a:p>
                      <a:pPr algn="l"/>
                      <a:r>
                        <a:rPr sz="800" b="0">
                          <a:solidFill>
                            <a:srgbClr val="2E2E2E"/>
                          </a:solidFill>
                          <a:latin typeface="Calibri"/>
                        </a:rPr>
                        <a:t>447.4</a:t>
                      </a:r>
                    </a:p>
                  </a:txBody>
                  <a:tcPr marL="85725" marR="38100" marT="19050" marB="19050" anchor="ctr">
                    <a:solidFill>
                      <a:srgbClr val="FFFFFF"/>
                    </a:solidFill>
                  </a:tcPr>
                </a:tc>
                <a:tc>
                  <a:txBody>
                    <a:bodyPr wrap="none"/>
                    <a:lstStyle/>
                    <a:p>
                      <a:pPr algn="l"/>
                      <a:r>
                        <a:rPr sz="800" b="0">
                          <a:solidFill>
                            <a:srgbClr val="2E2E2E"/>
                          </a:solidFill>
                          <a:latin typeface="Calibri"/>
                        </a:rPr>
                        <a:t>473.5</a:t>
                      </a:r>
                    </a:p>
                  </a:txBody>
                  <a:tcPr marL="85725" marR="38100" marT="19050" marB="19050" anchor="ctr">
                    <a:solidFill>
                      <a:srgbClr val="FFFFFF"/>
                    </a:solidFill>
                  </a:tcPr>
                </a:tc>
                <a:tc>
                  <a:txBody>
                    <a:bodyPr wrap="none"/>
                    <a:lstStyle/>
                    <a:p>
                      <a:pPr algn="l"/>
                      <a:r>
                        <a:rPr sz="800" b="0">
                          <a:solidFill>
                            <a:srgbClr val="2E2E2E"/>
                          </a:solidFill>
                          <a:latin typeface="Calibri"/>
                        </a:rPr>
                        <a:t>499.1</a:t>
                      </a:r>
                    </a:p>
                  </a:txBody>
                  <a:tcPr marL="85725" marR="38100" marT="19050" marB="19050" anchor="ctr">
                    <a:solidFill>
                      <a:srgbClr val="FFFFFF"/>
                    </a:solidFill>
                  </a:tcPr>
                </a:tc>
                <a:tc>
                  <a:txBody>
                    <a:bodyPr wrap="none"/>
                    <a:lstStyle/>
                    <a:p>
                      <a:pPr algn="l"/>
                      <a:r>
                        <a:rPr sz="800" b="0">
                          <a:solidFill>
                            <a:srgbClr val="2E2E2E"/>
                          </a:solidFill>
                          <a:latin typeface="Calibri"/>
                        </a:rPr>
                        <a:t>9.0%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Yusimry</a:t>
                      </a:r>
                    </a:p>
                  </a:txBody>
                  <a:tcPr marL="85725" marR="38100" marT="19050" marB="19050" anchor="ctr">
                    <a:solidFill>
                      <a:srgbClr val="F5F8FA"/>
                    </a:solidFill>
                  </a:tcPr>
                </a:tc>
                <a:tc>
                  <a:txBody>
                    <a:bodyPr wrap="none"/>
                    <a:lstStyle/>
                    <a:p>
                      <a:pPr algn="l"/>
                      <a:r>
                        <a:rPr sz="800" b="0">
                          <a:solidFill>
                            <a:srgbClr val="2E2E2E"/>
                          </a:solidFill>
                          <a:latin typeface="Calibri"/>
                        </a:rPr>
                        <a:t>89.8</a:t>
                      </a:r>
                    </a:p>
                  </a:txBody>
                  <a:tcPr marL="85725" marR="38100" marT="19050" marB="19050" anchor="ctr">
                    <a:solidFill>
                      <a:srgbClr val="F5F8FA"/>
                    </a:solidFill>
                  </a:tcPr>
                </a:tc>
                <a:tc>
                  <a:txBody>
                    <a:bodyPr wrap="none"/>
                    <a:lstStyle/>
                    <a:p>
                      <a:pPr algn="l"/>
                      <a:r>
                        <a:rPr sz="800" b="0">
                          <a:solidFill>
                            <a:srgbClr val="2E2E2E"/>
                          </a:solidFill>
                          <a:latin typeface="Calibri"/>
                        </a:rPr>
                        <a:t>99.0</a:t>
                      </a:r>
                    </a:p>
                  </a:txBody>
                  <a:tcPr marL="85725" marR="38100" marT="19050" marB="19050" anchor="ctr">
                    <a:solidFill>
                      <a:srgbClr val="F5F8FA"/>
                    </a:solidFill>
                  </a:tcPr>
                </a:tc>
                <a:tc>
                  <a:txBody>
                    <a:bodyPr wrap="none"/>
                    <a:lstStyle/>
                    <a:p>
                      <a:pPr algn="l"/>
                      <a:r>
                        <a:rPr sz="800" b="0">
                          <a:solidFill>
                            <a:srgbClr val="2E2E2E"/>
                          </a:solidFill>
                          <a:latin typeface="Calibri"/>
                        </a:rPr>
                        <a:t>115.7</a:t>
                      </a:r>
                    </a:p>
                  </a:txBody>
                  <a:tcPr marL="85725" marR="38100" marT="19050" marB="19050" anchor="ctr">
                    <a:solidFill>
                      <a:srgbClr val="F5F8FA"/>
                    </a:solidFill>
                  </a:tcPr>
                </a:tc>
                <a:tc>
                  <a:txBody>
                    <a:bodyPr wrap="none"/>
                    <a:lstStyle/>
                    <a:p>
                      <a:pPr algn="l"/>
                      <a:r>
                        <a:rPr sz="800" b="0">
                          <a:solidFill>
                            <a:srgbClr val="2E2E2E"/>
                          </a:solidFill>
                          <a:latin typeface="Calibri"/>
                        </a:rPr>
                        <a:t>139.6</a:t>
                      </a:r>
                    </a:p>
                  </a:txBody>
                  <a:tcPr marL="85725" marR="38100" marT="19050" marB="19050" anchor="ctr">
                    <a:solidFill>
                      <a:srgbClr val="F5F8FA"/>
                    </a:solidFill>
                  </a:tcPr>
                </a:tc>
                <a:tc>
                  <a:txBody>
                    <a:bodyPr wrap="none"/>
                    <a:lstStyle/>
                    <a:p>
                      <a:pPr algn="l"/>
                      <a:r>
                        <a:rPr sz="800" b="0">
                          <a:solidFill>
                            <a:srgbClr val="2E2E2E"/>
                          </a:solidFill>
                          <a:latin typeface="Calibri"/>
                        </a:rPr>
                        <a:t>164.8</a:t>
                      </a:r>
                    </a:p>
                  </a:txBody>
                  <a:tcPr marL="85725" marR="38100" marT="19050" marB="19050" anchor="ctr">
                    <a:solidFill>
                      <a:srgbClr val="F5F8FA"/>
                    </a:solidFill>
                  </a:tcPr>
                </a:tc>
                <a:tc>
                  <a:txBody>
                    <a:bodyPr wrap="none"/>
                    <a:lstStyle/>
                    <a:p>
                      <a:pPr algn="l"/>
                      <a:r>
                        <a:rPr sz="800" b="0">
                          <a:solidFill>
                            <a:srgbClr val="2E2E2E"/>
                          </a:solidFill>
                          <a:latin typeface="Calibri"/>
                        </a:rPr>
                        <a:t>188.6</a:t>
                      </a:r>
                    </a:p>
                  </a:txBody>
                  <a:tcPr marL="85725" marR="38100" marT="19050" marB="19050" anchor="ctr">
                    <a:solidFill>
                      <a:srgbClr val="F5F8FA"/>
                    </a:solidFill>
                  </a:tcPr>
                </a:tc>
                <a:tc>
                  <a:txBody>
                    <a:bodyPr wrap="none"/>
                    <a:lstStyle/>
                    <a:p>
                      <a:pPr algn="l"/>
                      <a:r>
                        <a:rPr sz="800" b="0">
                          <a:solidFill>
                            <a:srgbClr val="2E2E2E"/>
                          </a:solidFill>
                          <a:latin typeface="Calibri"/>
                        </a:rPr>
                        <a:t>211.9</a:t>
                      </a:r>
                    </a:p>
                  </a:txBody>
                  <a:tcPr marL="85725" marR="38100" marT="19050" marB="19050" anchor="ctr">
                    <a:solidFill>
                      <a:srgbClr val="F5F8FA"/>
                    </a:solidFill>
                  </a:tcPr>
                </a:tc>
                <a:tc>
                  <a:txBody>
                    <a:bodyPr wrap="none"/>
                    <a:lstStyle/>
                    <a:p>
                      <a:pPr algn="l"/>
                      <a:r>
                        <a:rPr sz="800" b="0">
                          <a:solidFill>
                            <a:srgbClr val="2E2E2E"/>
                          </a:solidFill>
                          <a:latin typeface="Calibri"/>
                        </a:rPr>
                        <a:t>233.3</a:t>
                      </a:r>
                    </a:p>
                  </a:txBody>
                  <a:tcPr marL="85725" marR="38100" marT="19050" marB="19050" anchor="ctr">
                    <a:solidFill>
                      <a:srgbClr val="F5F8FA"/>
                    </a:solidFill>
                  </a:tcPr>
                </a:tc>
                <a:tc>
                  <a:txBody>
                    <a:bodyPr wrap="none"/>
                    <a:lstStyle/>
                    <a:p>
                      <a:pPr algn="l"/>
                      <a:r>
                        <a:rPr sz="800" b="0">
                          <a:solidFill>
                            <a:srgbClr val="2E2E2E"/>
                          </a:solidFill>
                          <a:latin typeface="Calibri"/>
                        </a:rPr>
                        <a:t>253.1</a:t>
                      </a:r>
                    </a:p>
                  </a:txBody>
                  <a:tcPr marL="85725" marR="38100" marT="19050" marB="19050" anchor="ctr">
                    <a:solidFill>
                      <a:srgbClr val="F5F8FA"/>
                    </a:solidFill>
                  </a:tcPr>
                </a:tc>
                <a:tc>
                  <a:txBody>
                    <a:bodyPr wrap="none"/>
                    <a:lstStyle/>
                    <a:p>
                      <a:pPr algn="l"/>
                      <a:r>
                        <a:rPr sz="800" b="0">
                          <a:solidFill>
                            <a:srgbClr val="2E2E2E"/>
                          </a:solidFill>
                          <a:latin typeface="Calibri"/>
                        </a:rPr>
                        <a:t>271.3</a:t>
                      </a:r>
                    </a:p>
                  </a:txBody>
                  <a:tcPr marL="85725" marR="38100" marT="19050" marB="19050" anchor="ctr">
                    <a:solidFill>
                      <a:srgbClr val="F5F8FA"/>
                    </a:solidFill>
                  </a:tcPr>
                </a:tc>
                <a:tc>
                  <a:txBody>
                    <a:bodyPr wrap="none"/>
                    <a:lstStyle/>
                    <a:p>
                      <a:pPr algn="l"/>
                      <a:r>
                        <a:rPr sz="800" b="0">
                          <a:solidFill>
                            <a:srgbClr val="2E2E2E"/>
                          </a:solidFill>
                          <a:latin typeface="Calibri"/>
                        </a:rPr>
                        <a:t>287.9</a:t>
                      </a:r>
                    </a:p>
                  </a:txBody>
                  <a:tcPr marL="85725" marR="38100" marT="19050" marB="19050" anchor="ctr">
                    <a:solidFill>
                      <a:srgbClr val="F5F8FA"/>
                    </a:solidFill>
                  </a:tcPr>
                </a:tc>
                <a:tc>
                  <a:txBody>
                    <a:bodyPr wrap="none"/>
                    <a:lstStyle/>
                    <a:p>
                      <a:pPr algn="l"/>
                      <a:r>
                        <a:rPr sz="800" b="0">
                          <a:solidFill>
                            <a:srgbClr val="2E2E2E"/>
                          </a:solidFill>
                          <a:latin typeface="Calibri"/>
                        </a:rPr>
                        <a:t>302.8</a:t>
                      </a:r>
                    </a:p>
                  </a:txBody>
                  <a:tcPr marL="85725" marR="38100" marT="19050" marB="19050" anchor="ctr">
                    <a:solidFill>
                      <a:srgbClr val="F5F8FA"/>
                    </a:solidFill>
                  </a:tcPr>
                </a:tc>
                <a:tc>
                  <a:txBody>
                    <a:bodyPr wrap="none"/>
                    <a:lstStyle/>
                    <a:p>
                      <a:pPr algn="l"/>
                      <a:r>
                        <a:rPr sz="800" b="0">
                          <a:solidFill>
                            <a:srgbClr val="2E2E2E"/>
                          </a:solidFill>
                          <a:latin typeface="Calibri"/>
                        </a:rPr>
                        <a:t>316.1</a:t>
                      </a:r>
                    </a:p>
                  </a:txBody>
                  <a:tcPr marL="85725" marR="38100" marT="19050" marB="19050" anchor="ctr">
                    <a:solidFill>
                      <a:srgbClr val="F5F8FA"/>
                    </a:solidFill>
                  </a:tcPr>
                </a:tc>
                <a:tc>
                  <a:txBody>
                    <a:bodyPr wrap="none"/>
                    <a:lstStyle/>
                    <a:p>
                      <a:pPr algn="l"/>
                      <a:r>
                        <a:rPr sz="800" b="0">
                          <a:solidFill>
                            <a:srgbClr val="2E2E2E"/>
                          </a:solidFill>
                          <a:latin typeface="Calibri"/>
                        </a:rPr>
                        <a:t>328.0</a:t>
                      </a:r>
                    </a:p>
                  </a:txBody>
                  <a:tcPr marL="85725" marR="38100" marT="19050" marB="19050" anchor="ctr">
                    <a:solidFill>
                      <a:srgbClr val="F5F8FA"/>
                    </a:solidFill>
                  </a:tcPr>
                </a:tc>
                <a:tc>
                  <a:txBody>
                    <a:bodyPr wrap="none"/>
                    <a:lstStyle/>
                    <a:p>
                      <a:pPr algn="l"/>
                      <a:r>
                        <a:rPr sz="800" b="0">
                          <a:solidFill>
                            <a:srgbClr val="2E2E2E"/>
                          </a:solidFill>
                          <a:latin typeface="Calibri"/>
                        </a:rPr>
                        <a:t>338.7</a:t>
                      </a:r>
                    </a:p>
                  </a:txBody>
                  <a:tcPr marL="85725" marR="38100" marT="19050" marB="19050" anchor="ctr">
                    <a:solidFill>
                      <a:srgbClr val="F5F8FA"/>
                    </a:solidFill>
                  </a:tcPr>
                </a:tc>
                <a:tc>
                  <a:txBody>
                    <a:bodyPr wrap="none"/>
                    <a:lstStyle/>
                    <a:p>
                      <a:pPr algn="l"/>
                      <a:r>
                        <a:rPr sz="800" b="0">
                          <a:solidFill>
                            <a:srgbClr val="2E2E2E"/>
                          </a:solidFill>
                          <a:latin typeface="Calibri"/>
                        </a:rPr>
                        <a:t>348.4</a:t>
                      </a:r>
                    </a:p>
                  </a:txBody>
                  <a:tcPr marL="85725" marR="38100" marT="19050" marB="19050" anchor="ctr">
                    <a:solidFill>
                      <a:srgbClr val="F5F8FA"/>
                    </a:solidFill>
                  </a:tcPr>
                </a:tc>
                <a:tc>
                  <a:txBody>
                    <a:bodyPr wrap="none"/>
                    <a:lstStyle/>
                    <a:p>
                      <a:pPr algn="l"/>
                      <a:r>
                        <a:rPr sz="800" b="0">
                          <a:solidFill>
                            <a:srgbClr val="2E2E2E"/>
                          </a:solidFill>
                          <a:latin typeface="Calibri"/>
                        </a:rPr>
                        <a:t>6.3%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Yuflyma</a:t>
                      </a:r>
                    </a:p>
                  </a:txBody>
                  <a:tcPr marL="85725" marR="38100" marT="19050" marB="19050" anchor="ctr">
                    <a:solidFill>
                      <a:srgbClr val="FFFFFF"/>
                    </a:solidFill>
                  </a:tcPr>
                </a:tc>
                <a:tc>
                  <a:txBody>
                    <a:bodyPr wrap="none"/>
                    <a:lstStyle/>
                    <a:p>
                      <a:pPr algn="l"/>
                      <a:r>
                        <a:rPr sz="800" b="0">
                          <a:solidFill>
                            <a:srgbClr val="2E2E2E"/>
                          </a:solidFill>
                          <a:latin typeface="Calibri"/>
                        </a:rPr>
                        <a:t>41.2</a:t>
                      </a:r>
                    </a:p>
                  </a:txBody>
                  <a:tcPr marL="85725" marR="38100" marT="19050" marB="19050" anchor="ctr">
                    <a:solidFill>
                      <a:srgbClr val="FFFFFF"/>
                    </a:solidFill>
                  </a:tcPr>
                </a:tc>
                <a:tc>
                  <a:txBody>
                    <a:bodyPr wrap="none"/>
                    <a:lstStyle/>
                    <a:p>
                      <a:pPr algn="l"/>
                      <a:r>
                        <a:rPr sz="800" b="0">
                          <a:solidFill>
                            <a:srgbClr val="2E2E2E"/>
                          </a:solidFill>
                          <a:latin typeface="Calibri"/>
                        </a:rPr>
                        <a:t>46.2</a:t>
                      </a:r>
                    </a:p>
                  </a:txBody>
                  <a:tcPr marL="85725" marR="38100" marT="19050" marB="19050" anchor="ctr">
                    <a:solidFill>
                      <a:srgbClr val="FFFFFF"/>
                    </a:solidFill>
                  </a:tcPr>
                </a:tc>
                <a:tc>
                  <a:txBody>
                    <a:bodyPr wrap="none"/>
                    <a:lstStyle/>
                    <a:p>
                      <a:pPr algn="l"/>
                      <a:r>
                        <a:rPr sz="800" b="0">
                          <a:solidFill>
                            <a:srgbClr val="2E2E2E"/>
                          </a:solidFill>
                          <a:latin typeface="Calibri"/>
                        </a:rPr>
                        <a:t>55.0</a:t>
                      </a:r>
                    </a:p>
                  </a:txBody>
                  <a:tcPr marL="85725" marR="38100" marT="19050" marB="19050" anchor="ctr">
                    <a:solidFill>
                      <a:srgbClr val="FFFFFF"/>
                    </a:solidFill>
                  </a:tcPr>
                </a:tc>
                <a:tc>
                  <a:txBody>
                    <a:bodyPr wrap="none"/>
                    <a:lstStyle/>
                    <a:p>
                      <a:pPr algn="l"/>
                      <a:r>
                        <a:rPr sz="800" b="0">
                          <a:solidFill>
                            <a:srgbClr val="2E2E2E"/>
                          </a:solidFill>
                          <a:latin typeface="Calibri"/>
                        </a:rPr>
                        <a:t>67.5</a:t>
                      </a:r>
                    </a:p>
                  </a:txBody>
                  <a:tcPr marL="85725" marR="38100" marT="19050" marB="19050" anchor="ctr">
                    <a:solidFill>
                      <a:srgbClr val="FFFFFF"/>
                    </a:solidFill>
                  </a:tcPr>
                </a:tc>
                <a:tc>
                  <a:txBody>
                    <a:bodyPr wrap="none"/>
                    <a:lstStyle/>
                    <a:p>
                      <a:pPr algn="l"/>
                      <a:r>
                        <a:rPr sz="800" b="0">
                          <a:solidFill>
                            <a:srgbClr val="2E2E2E"/>
                          </a:solidFill>
                          <a:latin typeface="Calibri"/>
                        </a:rPr>
                        <a:t>81.1</a:t>
                      </a:r>
                    </a:p>
                  </a:txBody>
                  <a:tcPr marL="85725" marR="38100" marT="19050" marB="19050" anchor="ctr">
                    <a:solidFill>
                      <a:srgbClr val="FFFFFF"/>
                    </a:solidFill>
                  </a:tcPr>
                </a:tc>
                <a:tc>
                  <a:txBody>
                    <a:bodyPr wrap="none"/>
                    <a:lstStyle/>
                    <a:p>
                      <a:pPr algn="l"/>
                      <a:r>
                        <a:rPr sz="800" b="0">
                          <a:solidFill>
                            <a:srgbClr val="2E2E2E"/>
                          </a:solidFill>
                          <a:latin typeface="Calibri"/>
                        </a:rPr>
                        <a:t>94.4</a:t>
                      </a:r>
                    </a:p>
                  </a:txBody>
                  <a:tcPr marL="85725" marR="38100" marT="19050" marB="19050" anchor="ctr">
                    <a:solidFill>
                      <a:srgbClr val="FFFFFF"/>
                    </a:solidFill>
                  </a:tcPr>
                </a:tc>
                <a:tc>
                  <a:txBody>
                    <a:bodyPr wrap="none"/>
                    <a:lstStyle/>
                    <a:p>
                      <a:pPr algn="l"/>
                      <a:r>
                        <a:rPr sz="800" b="0">
                          <a:solidFill>
                            <a:srgbClr val="2E2E2E"/>
                          </a:solidFill>
                          <a:latin typeface="Calibri"/>
                        </a:rPr>
                        <a:t>108.0</a:t>
                      </a:r>
                    </a:p>
                  </a:txBody>
                  <a:tcPr marL="85725" marR="38100" marT="19050" marB="19050" anchor="ctr">
                    <a:solidFill>
                      <a:srgbClr val="FFFFFF"/>
                    </a:solidFill>
                  </a:tcPr>
                </a:tc>
                <a:tc>
                  <a:txBody>
                    <a:bodyPr wrap="none"/>
                    <a:lstStyle/>
                    <a:p>
                      <a:pPr algn="l"/>
                      <a:r>
                        <a:rPr sz="800" b="0">
                          <a:solidFill>
                            <a:srgbClr val="2E2E2E"/>
                          </a:solidFill>
                          <a:latin typeface="Calibri"/>
                        </a:rPr>
                        <a:t>121.0</a:t>
                      </a:r>
                    </a:p>
                  </a:txBody>
                  <a:tcPr marL="85725" marR="38100" marT="19050" marB="19050" anchor="ctr">
                    <a:solidFill>
                      <a:srgbClr val="FFFFFF"/>
                    </a:solidFill>
                  </a:tcPr>
                </a:tc>
                <a:tc>
                  <a:txBody>
                    <a:bodyPr wrap="none"/>
                    <a:lstStyle/>
                    <a:p>
                      <a:pPr algn="l"/>
                      <a:r>
                        <a:rPr sz="800" b="0">
                          <a:solidFill>
                            <a:srgbClr val="2E2E2E"/>
                          </a:solidFill>
                          <a:latin typeface="Calibri"/>
                        </a:rPr>
                        <a:t>133.6</a:t>
                      </a:r>
                    </a:p>
                  </a:txBody>
                  <a:tcPr marL="85725" marR="38100" marT="19050" marB="19050" anchor="ctr">
                    <a:solidFill>
                      <a:srgbClr val="FFFFFF"/>
                    </a:solidFill>
                  </a:tcPr>
                </a:tc>
                <a:tc>
                  <a:txBody>
                    <a:bodyPr wrap="none"/>
                    <a:lstStyle/>
                    <a:p>
                      <a:pPr algn="l"/>
                      <a:r>
                        <a:rPr sz="800" b="0">
                          <a:solidFill>
                            <a:srgbClr val="2E2E2E"/>
                          </a:solidFill>
                          <a:latin typeface="Calibri"/>
                        </a:rPr>
                        <a:t>145.8</a:t>
                      </a:r>
                    </a:p>
                  </a:txBody>
                  <a:tcPr marL="85725" marR="38100" marT="19050" marB="19050" anchor="ctr">
                    <a:solidFill>
                      <a:srgbClr val="FFFFFF"/>
                    </a:solidFill>
                  </a:tcPr>
                </a:tc>
                <a:tc>
                  <a:txBody>
                    <a:bodyPr wrap="none"/>
                    <a:lstStyle/>
                    <a:p>
                      <a:pPr algn="l"/>
                      <a:r>
                        <a:rPr sz="800" b="0">
                          <a:solidFill>
                            <a:srgbClr val="2E2E2E"/>
                          </a:solidFill>
                          <a:latin typeface="Calibri"/>
                        </a:rPr>
                        <a:t>157.4</a:t>
                      </a:r>
                    </a:p>
                  </a:txBody>
                  <a:tcPr marL="85725" marR="38100" marT="19050" marB="19050" anchor="ctr">
                    <a:solidFill>
                      <a:srgbClr val="FFFFFF"/>
                    </a:solidFill>
                  </a:tcPr>
                </a:tc>
                <a:tc>
                  <a:txBody>
                    <a:bodyPr wrap="none"/>
                    <a:lstStyle/>
                    <a:p>
                      <a:pPr algn="l"/>
                      <a:r>
                        <a:rPr sz="800" b="0">
                          <a:solidFill>
                            <a:srgbClr val="2E2E2E"/>
                          </a:solidFill>
                          <a:latin typeface="Calibri"/>
                        </a:rPr>
                        <a:t>168.5</a:t>
                      </a:r>
                    </a:p>
                  </a:txBody>
                  <a:tcPr marL="85725" marR="38100" marT="19050" marB="19050" anchor="ctr">
                    <a:solidFill>
                      <a:srgbClr val="FFFFFF"/>
                    </a:solidFill>
                  </a:tcPr>
                </a:tc>
                <a:tc>
                  <a:txBody>
                    <a:bodyPr wrap="none"/>
                    <a:lstStyle/>
                    <a:p>
                      <a:pPr algn="l"/>
                      <a:r>
                        <a:rPr sz="800" b="0">
                          <a:solidFill>
                            <a:srgbClr val="2E2E2E"/>
                          </a:solidFill>
                          <a:latin typeface="Calibri"/>
                        </a:rPr>
                        <a:t>179.0</a:t>
                      </a:r>
                    </a:p>
                  </a:txBody>
                  <a:tcPr marL="85725" marR="38100" marT="19050" marB="19050" anchor="ctr">
                    <a:solidFill>
                      <a:srgbClr val="FFFFFF"/>
                    </a:solidFill>
                  </a:tcPr>
                </a:tc>
                <a:tc>
                  <a:txBody>
                    <a:bodyPr wrap="none"/>
                    <a:lstStyle/>
                    <a:p>
                      <a:pPr algn="l"/>
                      <a:r>
                        <a:rPr sz="800" b="0">
                          <a:solidFill>
                            <a:srgbClr val="2E2E2E"/>
                          </a:solidFill>
                          <a:latin typeface="Calibri"/>
                        </a:rPr>
                        <a:t>189.1</a:t>
                      </a:r>
                    </a:p>
                  </a:txBody>
                  <a:tcPr marL="85725" marR="38100" marT="19050" marB="19050" anchor="ctr">
                    <a:solidFill>
                      <a:srgbClr val="FFFFFF"/>
                    </a:solidFill>
                  </a:tcPr>
                </a:tc>
                <a:tc>
                  <a:txBody>
                    <a:bodyPr wrap="none"/>
                    <a:lstStyle/>
                    <a:p>
                      <a:pPr algn="l"/>
                      <a:r>
                        <a:rPr sz="800" b="0">
                          <a:solidFill>
                            <a:srgbClr val="2E2E2E"/>
                          </a:solidFill>
                          <a:latin typeface="Calibri"/>
                        </a:rPr>
                        <a:t>198.7</a:t>
                      </a:r>
                    </a:p>
                  </a:txBody>
                  <a:tcPr marL="85725" marR="38100" marT="19050" marB="19050" anchor="ctr">
                    <a:solidFill>
                      <a:srgbClr val="FFFFFF"/>
                    </a:solidFill>
                  </a:tcPr>
                </a:tc>
                <a:tc>
                  <a:txBody>
                    <a:bodyPr wrap="none"/>
                    <a:lstStyle/>
                    <a:p>
                      <a:pPr algn="l"/>
                      <a:r>
                        <a:rPr sz="800" b="0">
                          <a:solidFill>
                            <a:srgbClr val="2E2E2E"/>
                          </a:solidFill>
                          <a:latin typeface="Calibri"/>
                        </a:rPr>
                        <a:t>208.0</a:t>
                      </a:r>
                    </a:p>
                  </a:txBody>
                  <a:tcPr marL="85725" marR="38100" marT="19050" marB="19050" anchor="ctr">
                    <a:solidFill>
                      <a:srgbClr val="FFFFFF"/>
                    </a:solidFill>
                  </a:tcPr>
                </a:tc>
                <a:tc>
                  <a:txBody>
                    <a:bodyPr wrap="none"/>
                    <a:lstStyle/>
                    <a:p>
                      <a:pPr algn="l"/>
                      <a:r>
                        <a:rPr sz="800" b="0">
                          <a:solidFill>
                            <a:srgbClr val="2E2E2E"/>
                          </a:solidFill>
                          <a:latin typeface="Calibri"/>
                        </a:rPr>
                        <a:t>8.2%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Simlandi</a:t>
                      </a:r>
                    </a:p>
                  </a:txBody>
                  <a:tcPr marL="85725" marR="38100" marT="19050" marB="19050" anchor="ctr">
                    <a:solidFill>
                      <a:srgbClr val="F5F8FA"/>
                    </a:solidFill>
                  </a:tcPr>
                </a:tc>
                <a:tc>
                  <a:txBody>
                    <a:bodyPr wrap="none"/>
                    <a:lstStyle/>
                    <a:p>
                      <a:pPr algn="l"/>
                      <a:r>
                        <a:rPr sz="800" b="0">
                          <a:solidFill>
                            <a:srgbClr val="2E2E2E"/>
                          </a:solidFill>
                          <a:latin typeface="Calibri"/>
                        </a:rPr>
                        <a:t>65.4</a:t>
                      </a:r>
                    </a:p>
                  </a:txBody>
                  <a:tcPr marL="85725" marR="38100" marT="19050" marB="19050" anchor="ctr">
                    <a:solidFill>
                      <a:srgbClr val="F5F8FA"/>
                    </a:solidFill>
                  </a:tcPr>
                </a:tc>
                <a:tc>
                  <a:txBody>
                    <a:bodyPr wrap="none"/>
                    <a:lstStyle/>
                    <a:p>
                      <a:pPr algn="l"/>
                      <a:r>
                        <a:rPr sz="800" b="0">
                          <a:solidFill>
                            <a:srgbClr val="2E2E2E"/>
                          </a:solidFill>
                          <a:latin typeface="Calibri"/>
                        </a:rPr>
                        <a:t>73.0</a:t>
                      </a:r>
                    </a:p>
                  </a:txBody>
                  <a:tcPr marL="85725" marR="38100" marT="19050" marB="19050" anchor="ctr">
                    <a:solidFill>
                      <a:srgbClr val="F5F8FA"/>
                    </a:solidFill>
                  </a:tcPr>
                </a:tc>
                <a:tc>
                  <a:txBody>
                    <a:bodyPr wrap="none"/>
                    <a:lstStyle/>
                    <a:p>
                      <a:pPr algn="l"/>
                      <a:r>
                        <a:rPr sz="800" b="0">
                          <a:solidFill>
                            <a:srgbClr val="2E2E2E"/>
                          </a:solidFill>
                          <a:latin typeface="Calibri"/>
                        </a:rPr>
                        <a:t>86.4</a:t>
                      </a:r>
                    </a:p>
                  </a:txBody>
                  <a:tcPr marL="85725" marR="38100" marT="19050" marB="19050" anchor="ctr">
                    <a:solidFill>
                      <a:srgbClr val="F5F8FA"/>
                    </a:solidFill>
                  </a:tcPr>
                </a:tc>
                <a:tc>
                  <a:txBody>
                    <a:bodyPr wrap="none"/>
                    <a:lstStyle/>
                    <a:p>
                      <a:pPr algn="l"/>
                      <a:r>
                        <a:rPr sz="800" b="0">
                          <a:solidFill>
                            <a:srgbClr val="2E2E2E"/>
                          </a:solidFill>
                          <a:latin typeface="Calibri"/>
                        </a:rPr>
                        <a:t>105.6</a:t>
                      </a:r>
                    </a:p>
                  </a:txBody>
                  <a:tcPr marL="85725" marR="38100" marT="19050" marB="19050" anchor="ctr">
                    <a:solidFill>
                      <a:srgbClr val="F5F8FA"/>
                    </a:solidFill>
                  </a:tcPr>
                </a:tc>
                <a:tc>
                  <a:txBody>
                    <a:bodyPr wrap="none"/>
                    <a:lstStyle/>
                    <a:p>
                      <a:pPr algn="l"/>
                      <a:r>
                        <a:rPr sz="800" b="0">
                          <a:solidFill>
                            <a:srgbClr val="2E2E2E"/>
                          </a:solidFill>
                          <a:latin typeface="Calibri"/>
                        </a:rPr>
                        <a:t>126.2</a:t>
                      </a:r>
                    </a:p>
                  </a:txBody>
                  <a:tcPr marL="85725" marR="38100" marT="19050" marB="19050" anchor="ctr">
                    <a:solidFill>
                      <a:srgbClr val="F5F8FA"/>
                    </a:solidFill>
                  </a:tcPr>
                </a:tc>
                <a:tc>
                  <a:txBody>
                    <a:bodyPr wrap="none"/>
                    <a:lstStyle/>
                    <a:p>
                      <a:pPr algn="l"/>
                      <a:r>
                        <a:rPr sz="800" b="0">
                          <a:solidFill>
                            <a:srgbClr val="2E2E2E"/>
                          </a:solidFill>
                          <a:latin typeface="Calibri"/>
                        </a:rPr>
                        <a:t>146.3</a:t>
                      </a:r>
                    </a:p>
                  </a:txBody>
                  <a:tcPr marL="85725" marR="38100" marT="19050" marB="19050" anchor="ctr">
                    <a:solidFill>
                      <a:srgbClr val="F5F8FA"/>
                    </a:solidFill>
                  </a:tcPr>
                </a:tc>
                <a:tc>
                  <a:txBody>
                    <a:bodyPr wrap="none"/>
                    <a:lstStyle/>
                    <a:p>
                      <a:pPr algn="l"/>
                      <a:r>
                        <a:rPr sz="800" b="0">
                          <a:solidFill>
                            <a:srgbClr val="2E2E2E"/>
                          </a:solidFill>
                          <a:latin typeface="Calibri"/>
                        </a:rPr>
                        <a:t>166.5</a:t>
                      </a:r>
                    </a:p>
                  </a:txBody>
                  <a:tcPr marL="85725" marR="38100" marT="19050" marB="19050" anchor="ctr">
                    <a:solidFill>
                      <a:srgbClr val="F5F8FA"/>
                    </a:solidFill>
                  </a:tcPr>
                </a:tc>
                <a:tc>
                  <a:txBody>
                    <a:bodyPr wrap="none"/>
                    <a:lstStyle/>
                    <a:p>
                      <a:pPr algn="l"/>
                      <a:r>
                        <a:rPr sz="800" b="0">
                          <a:solidFill>
                            <a:srgbClr val="2E2E2E"/>
                          </a:solidFill>
                          <a:latin typeface="Calibri"/>
                        </a:rPr>
                        <a:t>185.7</a:t>
                      </a:r>
                    </a:p>
                  </a:txBody>
                  <a:tcPr marL="85725" marR="38100" marT="19050" marB="19050" anchor="ctr">
                    <a:solidFill>
                      <a:srgbClr val="F5F8FA"/>
                    </a:solidFill>
                  </a:tcPr>
                </a:tc>
                <a:tc>
                  <a:txBody>
                    <a:bodyPr wrap="none"/>
                    <a:lstStyle/>
                    <a:p>
                      <a:pPr algn="l"/>
                      <a:r>
                        <a:rPr sz="800" b="0">
                          <a:solidFill>
                            <a:srgbClr val="2E2E2E"/>
                          </a:solidFill>
                          <a:latin typeface="Calibri"/>
                        </a:rPr>
                        <a:t>204.1</a:t>
                      </a:r>
                    </a:p>
                  </a:txBody>
                  <a:tcPr marL="85725" marR="38100" marT="19050" marB="19050" anchor="ctr">
                    <a:solidFill>
                      <a:srgbClr val="F5F8FA"/>
                    </a:solidFill>
                  </a:tcPr>
                </a:tc>
                <a:tc>
                  <a:txBody>
                    <a:bodyPr wrap="none"/>
                    <a:lstStyle/>
                    <a:p>
                      <a:pPr algn="l"/>
                      <a:r>
                        <a:rPr sz="800" b="0">
                          <a:solidFill>
                            <a:srgbClr val="2E2E2E"/>
                          </a:solidFill>
                          <a:latin typeface="Calibri"/>
                        </a:rPr>
                        <a:t>221.5</a:t>
                      </a:r>
                    </a:p>
                  </a:txBody>
                  <a:tcPr marL="85725" marR="38100" marT="19050" marB="19050" anchor="ctr">
                    <a:solidFill>
                      <a:srgbClr val="F5F8FA"/>
                    </a:solidFill>
                  </a:tcPr>
                </a:tc>
                <a:tc>
                  <a:txBody>
                    <a:bodyPr wrap="none"/>
                    <a:lstStyle/>
                    <a:p>
                      <a:pPr algn="l"/>
                      <a:r>
                        <a:rPr sz="800" b="0">
                          <a:solidFill>
                            <a:srgbClr val="2E2E2E"/>
                          </a:solidFill>
                          <a:latin typeface="Calibri"/>
                        </a:rPr>
                        <a:t>238.1</a:t>
                      </a:r>
                    </a:p>
                  </a:txBody>
                  <a:tcPr marL="85725" marR="38100" marT="19050" marB="19050" anchor="ctr">
                    <a:solidFill>
                      <a:srgbClr val="F5F8FA"/>
                    </a:solidFill>
                  </a:tcPr>
                </a:tc>
                <a:tc>
                  <a:txBody>
                    <a:bodyPr wrap="none"/>
                    <a:lstStyle/>
                    <a:p>
                      <a:pPr algn="l"/>
                      <a:r>
                        <a:rPr sz="800" b="0">
                          <a:solidFill>
                            <a:srgbClr val="2E2E2E"/>
                          </a:solidFill>
                          <a:latin typeface="Calibri"/>
                        </a:rPr>
                        <a:t>253.6</a:t>
                      </a:r>
                    </a:p>
                  </a:txBody>
                  <a:tcPr marL="85725" marR="38100" marT="19050" marB="19050" anchor="ctr">
                    <a:solidFill>
                      <a:srgbClr val="F5F8FA"/>
                    </a:solidFill>
                  </a:tcPr>
                </a:tc>
                <a:tc>
                  <a:txBody>
                    <a:bodyPr wrap="none"/>
                    <a:lstStyle/>
                    <a:p>
                      <a:pPr algn="l"/>
                      <a:r>
                        <a:rPr sz="800" b="0">
                          <a:solidFill>
                            <a:srgbClr val="2E2E2E"/>
                          </a:solidFill>
                          <a:latin typeface="Calibri"/>
                        </a:rPr>
                        <a:t>268.2</a:t>
                      </a:r>
                    </a:p>
                  </a:txBody>
                  <a:tcPr marL="85725" marR="38100" marT="19050" marB="19050" anchor="ctr">
                    <a:solidFill>
                      <a:srgbClr val="F5F8FA"/>
                    </a:solidFill>
                  </a:tcPr>
                </a:tc>
                <a:tc>
                  <a:txBody>
                    <a:bodyPr wrap="none"/>
                    <a:lstStyle/>
                    <a:p>
                      <a:pPr algn="l"/>
                      <a:r>
                        <a:rPr sz="800" b="0">
                          <a:solidFill>
                            <a:srgbClr val="2E2E2E"/>
                          </a:solidFill>
                          <a:latin typeface="Calibri"/>
                        </a:rPr>
                        <a:t>281.9</a:t>
                      </a:r>
                    </a:p>
                  </a:txBody>
                  <a:tcPr marL="85725" marR="38100" marT="19050" marB="19050" anchor="ctr">
                    <a:solidFill>
                      <a:srgbClr val="F5F8FA"/>
                    </a:solidFill>
                  </a:tcPr>
                </a:tc>
                <a:tc>
                  <a:txBody>
                    <a:bodyPr wrap="none"/>
                    <a:lstStyle/>
                    <a:p>
                      <a:pPr algn="l"/>
                      <a:r>
                        <a:rPr sz="800" b="0">
                          <a:solidFill>
                            <a:srgbClr val="2E2E2E"/>
                          </a:solidFill>
                          <a:latin typeface="Calibri"/>
                        </a:rPr>
                        <a:t>294.8</a:t>
                      </a:r>
                    </a:p>
                  </a:txBody>
                  <a:tcPr marL="85725" marR="38100" marT="19050" marB="19050" anchor="ctr">
                    <a:solidFill>
                      <a:srgbClr val="F5F8FA"/>
                    </a:solidFill>
                  </a:tcPr>
                </a:tc>
                <a:tc>
                  <a:txBody>
                    <a:bodyPr wrap="none"/>
                    <a:lstStyle/>
                    <a:p>
                      <a:pPr algn="l"/>
                      <a:r>
                        <a:rPr sz="800" b="0">
                          <a:solidFill>
                            <a:srgbClr val="2E2E2E"/>
                          </a:solidFill>
                          <a:latin typeface="Calibri"/>
                        </a:rPr>
                        <a:t>307.1</a:t>
                      </a:r>
                    </a:p>
                  </a:txBody>
                  <a:tcPr marL="85725" marR="38100" marT="19050" marB="19050" anchor="ctr">
                    <a:solidFill>
                      <a:srgbClr val="F5F8FA"/>
                    </a:solidFill>
                  </a:tcPr>
                </a:tc>
                <a:tc>
                  <a:txBody>
                    <a:bodyPr wrap="none"/>
                    <a:lstStyle/>
                    <a:p>
                      <a:pPr algn="l"/>
                      <a:r>
                        <a:rPr sz="800" b="0">
                          <a:solidFill>
                            <a:srgbClr val="2E2E2E"/>
                          </a:solidFill>
                          <a:latin typeface="Calibri"/>
                        </a:rPr>
                        <a:t>7.7%</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800" b="0">
                          <a:solidFill>
                            <a:srgbClr val="2E2E2E"/>
                          </a:solidFill>
                          <a:latin typeface="Calibri"/>
                        </a:rPr>
                        <a:t>80.5</a:t>
                      </a:r>
                    </a:p>
                  </a:txBody>
                  <a:tcPr marL="85725" marR="38100" marT="19050" marB="19050" anchor="ctr">
                    <a:solidFill>
                      <a:srgbClr val="FFFFFF"/>
                    </a:solidFill>
                  </a:tcPr>
                </a:tc>
                <a:tc>
                  <a:txBody>
                    <a:bodyPr wrap="none"/>
                    <a:lstStyle/>
                    <a:p>
                      <a:pPr algn="l"/>
                      <a:r>
                        <a:rPr sz="800" b="0">
                          <a:solidFill>
                            <a:srgbClr val="2E2E2E"/>
                          </a:solidFill>
                          <a:latin typeface="Calibri"/>
                        </a:rPr>
                        <a:t>90.3</a:t>
                      </a:r>
                    </a:p>
                  </a:txBody>
                  <a:tcPr marL="85725" marR="38100" marT="19050" marB="19050" anchor="ctr">
                    <a:solidFill>
                      <a:srgbClr val="FFFFFF"/>
                    </a:solidFill>
                  </a:tcPr>
                </a:tc>
                <a:tc>
                  <a:txBody>
                    <a:bodyPr wrap="none"/>
                    <a:lstStyle/>
                    <a:p>
                      <a:pPr algn="l"/>
                      <a:r>
                        <a:rPr sz="800" b="0">
                          <a:solidFill>
                            <a:srgbClr val="2E2E2E"/>
                          </a:solidFill>
                          <a:latin typeface="Calibri"/>
                        </a:rPr>
                        <a:t>107.4</a:t>
                      </a:r>
                    </a:p>
                  </a:txBody>
                  <a:tcPr marL="85725" marR="38100" marT="19050" marB="19050" anchor="ctr">
                    <a:solidFill>
                      <a:srgbClr val="FFFFFF"/>
                    </a:solidFill>
                  </a:tcPr>
                </a:tc>
                <a:tc>
                  <a:txBody>
                    <a:bodyPr wrap="none"/>
                    <a:lstStyle/>
                    <a:p>
                      <a:pPr algn="l"/>
                      <a:r>
                        <a:rPr sz="800" b="0">
                          <a:solidFill>
                            <a:srgbClr val="2E2E2E"/>
                          </a:solidFill>
                          <a:latin typeface="Calibri"/>
                        </a:rPr>
                        <a:t>131.9</a:t>
                      </a:r>
                    </a:p>
                  </a:txBody>
                  <a:tcPr marL="85725" marR="38100" marT="19050" marB="19050" anchor="ctr">
                    <a:solidFill>
                      <a:srgbClr val="FFFFFF"/>
                    </a:solidFill>
                  </a:tcPr>
                </a:tc>
                <a:tc>
                  <a:txBody>
                    <a:bodyPr wrap="none"/>
                    <a:lstStyle/>
                    <a:p>
                      <a:pPr algn="l"/>
                      <a:r>
                        <a:rPr sz="800" b="0">
                          <a:solidFill>
                            <a:srgbClr val="2E2E2E"/>
                          </a:solidFill>
                          <a:latin typeface="Calibri"/>
                        </a:rPr>
                        <a:t>158.5</a:t>
                      </a:r>
                    </a:p>
                  </a:txBody>
                  <a:tcPr marL="85725" marR="38100" marT="19050" marB="19050" anchor="ctr">
                    <a:solidFill>
                      <a:srgbClr val="FFFFFF"/>
                    </a:solidFill>
                  </a:tcPr>
                </a:tc>
                <a:tc>
                  <a:txBody>
                    <a:bodyPr wrap="none"/>
                    <a:lstStyle/>
                    <a:p>
                      <a:pPr algn="l"/>
                      <a:r>
                        <a:rPr sz="800" b="0">
                          <a:solidFill>
                            <a:srgbClr val="2E2E2E"/>
                          </a:solidFill>
                          <a:latin typeface="Calibri"/>
                        </a:rPr>
                        <a:t>184.7</a:t>
                      </a:r>
                    </a:p>
                  </a:txBody>
                  <a:tcPr marL="85725" marR="38100" marT="19050" marB="19050" anchor="ctr">
                    <a:solidFill>
                      <a:srgbClr val="FFFFFF"/>
                    </a:solidFill>
                  </a:tcPr>
                </a:tc>
                <a:tc>
                  <a:txBody>
                    <a:bodyPr wrap="none"/>
                    <a:lstStyle/>
                    <a:p>
                      <a:pPr algn="l"/>
                      <a:r>
                        <a:rPr sz="800" b="0">
                          <a:solidFill>
                            <a:srgbClr val="2E2E2E"/>
                          </a:solidFill>
                          <a:latin typeface="Calibri"/>
                        </a:rPr>
                        <a:t>211.3</a:t>
                      </a:r>
                    </a:p>
                  </a:txBody>
                  <a:tcPr marL="85725" marR="38100" marT="19050" marB="19050" anchor="ctr">
                    <a:solidFill>
                      <a:srgbClr val="FFFFFF"/>
                    </a:solidFill>
                  </a:tcPr>
                </a:tc>
                <a:tc>
                  <a:txBody>
                    <a:bodyPr wrap="none"/>
                    <a:lstStyle/>
                    <a:p>
                      <a:pPr algn="l"/>
                      <a:r>
                        <a:rPr sz="800" b="0">
                          <a:solidFill>
                            <a:srgbClr val="2E2E2E"/>
                          </a:solidFill>
                          <a:latin typeface="Calibri"/>
                        </a:rPr>
                        <a:t>236.9</a:t>
                      </a:r>
                    </a:p>
                  </a:txBody>
                  <a:tcPr marL="85725" marR="38100" marT="19050" marB="19050" anchor="ctr">
                    <a:solidFill>
                      <a:srgbClr val="FFFFFF"/>
                    </a:solidFill>
                  </a:tcPr>
                </a:tc>
                <a:tc>
                  <a:txBody>
                    <a:bodyPr wrap="none"/>
                    <a:lstStyle/>
                    <a:p>
                      <a:pPr algn="l"/>
                      <a:r>
                        <a:rPr sz="800" b="0">
                          <a:solidFill>
                            <a:srgbClr val="2E2E2E"/>
                          </a:solidFill>
                          <a:latin typeface="Calibri"/>
                        </a:rPr>
                        <a:t>261.6</a:t>
                      </a:r>
                    </a:p>
                  </a:txBody>
                  <a:tcPr marL="85725" marR="38100" marT="19050" marB="19050" anchor="ctr">
                    <a:solidFill>
                      <a:srgbClr val="FFFFFF"/>
                    </a:solidFill>
                  </a:tcPr>
                </a:tc>
                <a:tc>
                  <a:txBody>
                    <a:bodyPr wrap="none"/>
                    <a:lstStyle/>
                    <a:p>
                      <a:pPr algn="l"/>
                      <a:r>
                        <a:rPr sz="800" b="0">
                          <a:solidFill>
                            <a:srgbClr val="2E2E2E"/>
                          </a:solidFill>
                          <a:latin typeface="Calibri"/>
                        </a:rPr>
                        <a:t>285.5</a:t>
                      </a:r>
                    </a:p>
                  </a:txBody>
                  <a:tcPr marL="85725" marR="38100" marT="19050" marB="19050" anchor="ctr">
                    <a:solidFill>
                      <a:srgbClr val="FFFFFF"/>
                    </a:solidFill>
                  </a:tcPr>
                </a:tc>
                <a:tc>
                  <a:txBody>
                    <a:bodyPr wrap="none"/>
                    <a:lstStyle/>
                    <a:p>
                      <a:pPr algn="l"/>
                      <a:r>
                        <a:rPr sz="800" b="0">
                          <a:solidFill>
                            <a:srgbClr val="2E2E2E"/>
                          </a:solidFill>
                          <a:latin typeface="Calibri"/>
                        </a:rPr>
                        <a:t>308.4</a:t>
                      </a:r>
                    </a:p>
                  </a:txBody>
                  <a:tcPr marL="85725" marR="38100" marT="19050" marB="19050" anchor="ctr">
                    <a:solidFill>
                      <a:srgbClr val="FFFFFF"/>
                    </a:solidFill>
                  </a:tcPr>
                </a:tc>
                <a:tc>
                  <a:txBody>
                    <a:bodyPr wrap="none"/>
                    <a:lstStyle/>
                    <a:p>
                      <a:pPr algn="l"/>
                      <a:r>
                        <a:rPr sz="800" b="0">
                          <a:solidFill>
                            <a:srgbClr val="2E2E2E"/>
                          </a:solidFill>
                          <a:latin typeface="Calibri"/>
                        </a:rPr>
                        <a:t>330.3</a:t>
                      </a:r>
                    </a:p>
                  </a:txBody>
                  <a:tcPr marL="85725" marR="38100" marT="19050" marB="19050" anchor="ctr">
                    <a:solidFill>
                      <a:srgbClr val="FFFFFF"/>
                    </a:solidFill>
                  </a:tcPr>
                </a:tc>
                <a:tc>
                  <a:txBody>
                    <a:bodyPr wrap="none"/>
                    <a:lstStyle/>
                    <a:p>
                      <a:pPr algn="l"/>
                      <a:r>
                        <a:rPr sz="800" b="0">
                          <a:solidFill>
                            <a:srgbClr val="2E2E2E"/>
                          </a:solidFill>
                          <a:latin typeface="Calibri"/>
                        </a:rPr>
                        <a:t>351.0</a:t>
                      </a:r>
                    </a:p>
                  </a:txBody>
                  <a:tcPr marL="85725" marR="38100" marT="19050" marB="19050" anchor="ctr">
                    <a:solidFill>
                      <a:srgbClr val="FFFFFF"/>
                    </a:solidFill>
                  </a:tcPr>
                </a:tc>
                <a:tc>
                  <a:txBody>
                    <a:bodyPr wrap="none"/>
                    <a:lstStyle/>
                    <a:p>
                      <a:pPr algn="l"/>
                      <a:r>
                        <a:rPr sz="800" b="0">
                          <a:solidFill>
                            <a:srgbClr val="2E2E2E"/>
                          </a:solidFill>
                          <a:latin typeface="Calibri"/>
                        </a:rPr>
                        <a:t>370.8</a:t>
                      </a:r>
                    </a:p>
                  </a:txBody>
                  <a:tcPr marL="85725" marR="38100" marT="19050" marB="19050" anchor="ctr">
                    <a:solidFill>
                      <a:srgbClr val="FFFFFF"/>
                    </a:solidFill>
                  </a:tcPr>
                </a:tc>
                <a:tc>
                  <a:txBody>
                    <a:bodyPr wrap="none"/>
                    <a:lstStyle/>
                    <a:p>
                      <a:pPr algn="l"/>
                      <a:r>
                        <a:rPr sz="800" b="0">
                          <a:solidFill>
                            <a:srgbClr val="2E2E2E"/>
                          </a:solidFill>
                          <a:latin typeface="Calibri"/>
                        </a:rPr>
                        <a:t>389.9</a:t>
                      </a:r>
                    </a:p>
                  </a:txBody>
                  <a:tcPr marL="85725" marR="38100" marT="19050" marB="19050" anchor="ctr">
                    <a:solidFill>
                      <a:srgbClr val="FFFFFF"/>
                    </a:solidFill>
                  </a:tcPr>
                </a:tc>
                <a:tc>
                  <a:txBody>
                    <a:bodyPr wrap="none"/>
                    <a:lstStyle/>
                    <a:p>
                      <a:pPr algn="l"/>
                      <a:r>
                        <a:rPr sz="800" b="0">
                          <a:solidFill>
                            <a:srgbClr val="2E2E2E"/>
                          </a:solidFill>
                          <a:latin typeface="Calibri"/>
                        </a:rPr>
                        <a:t>408.3</a:t>
                      </a:r>
                    </a:p>
                  </a:txBody>
                  <a:tcPr marL="85725" marR="38100" marT="19050" marB="19050" anchor="ctr">
                    <a:solidFill>
                      <a:srgbClr val="FFFFFF"/>
                    </a:solidFill>
                  </a:tcPr>
                </a:tc>
                <a:tc>
                  <a:txBody>
                    <a:bodyPr wrap="none"/>
                    <a:lstStyle/>
                    <a:p>
                      <a:pPr algn="l"/>
                      <a:r>
                        <a:rPr sz="800" b="0">
                          <a:solidFill>
                            <a:srgbClr val="2E2E2E"/>
                          </a:solidFill>
                          <a:latin typeface="Calibri"/>
                        </a:rPr>
                        <a:t>8.3%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852.6</a:t>
                      </a:r>
                    </a:p>
                  </a:txBody>
                  <a:tcPr marL="85725" marR="38100" marT="19050" marB="19050" anchor="ctr">
                    <a:solidFill>
                      <a:srgbClr val="E0E8EF"/>
                    </a:solidFill>
                  </a:tcPr>
                </a:tc>
                <a:tc>
                  <a:txBody>
                    <a:bodyPr wrap="none"/>
                    <a:lstStyle/>
                    <a:p>
                      <a:pPr algn="l"/>
                      <a:r>
                        <a:rPr sz="800" b="1">
                          <a:solidFill>
                            <a:srgbClr val="2E2E2E"/>
                          </a:solidFill>
                          <a:latin typeface="Calibri"/>
                        </a:rPr>
                        <a:t>958.1</a:t>
                      </a:r>
                    </a:p>
                  </a:txBody>
                  <a:tcPr marL="85725" marR="38100" marT="19050" marB="19050" anchor="ctr">
                    <a:solidFill>
                      <a:srgbClr val="E0E8EF"/>
                    </a:solidFill>
                  </a:tcPr>
                </a:tc>
                <a:tc>
                  <a:txBody>
                    <a:bodyPr wrap="none"/>
                    <a:lstStyle/>
                    <a:p>
                      <a:pPr algn="l"/>
                      <a:r>
                        <a:rPr sz="800" b="1">
                          <a:solidFill>
                            <a:srgbClr val="2E2E2E"/>
                          </a:solidFill>
                          <a:latin typeface="Calibri"/>
                        </a:rPr>
                        <a:t>1,142</a:t>
                      </a:r>
                    </a:p>
                  </a:txBody>
                  <a:tcPr marL="85725" marR="38100" marT="19050" marB="19050" anchor="ctr">
                    <a:solidFill>
                      <a:srgbClr val="E0E8EF"/>
                    </a:solidFill>
                  </a:tcPr>
                </a:tc>
                <a:tc>
                  <a:txBody>
                    <a:bodyPr wrap="none"/>
                    <a:lstStyle/>
                    <a:p>
                      <a:pPr algn="l"/>
                      <a:r>
                        <a:rPr sz="800" b="1">
                          <a:solidFill>
                            <a:srgbClr val="2E2E2E"/>
                          </a:solidFill>
                          <a:latin typeface="Calibri"/>
                        </a:rPr>
                        <a:t>1,405</a:t>
                      </a:r>
                    </a:p>
                  </a:txBody>
                  <a:tcPr marL="85725" marR="38100" marT="19050" marB="19050" anchor="ctr">
                    <a:solidFill>
                      <a:srgbClr val="E0E8EF"/>
                    </a:solidFill>
                  </a:tcPr>
                </a:tc>
                <a:tc>
                  <a:txBody>
                    <a:bodyPr wrap="none"/>
                    <a:lstStyle/>
                    <a:p>
                      <a:pPr algn="l"/>
                      <a:r>
                        <a:rPr sz="800" b="1">
                          <a:solidFill>
                            <a:srgbClr val="2E2E2E"/>
                          </a:solidFill>
                          <a:latin typeface="Calibri"/>
                        </a:rPr>
                        <a:t>1,691</a:t>
                      </a:r>
                    </a:p>
                  </a:txBody>
                  <a:tcPr marL="85725" marR="38100" marT="19050" marB="19050" anchor="ctr">
                    <a:solidFill>
                      <a:srgbClr val="E0E8EF"/>
                    </a:solidFill>
                  </a:tcPr>
                </a:tc>
                <a:tc>
                  <a:txBody>
                    <a:bodyPr wrap="none"/>
                    <a:lstStyle/>
                    <a:p>
                      <a:pPr algn="l"/>
                      <a:r>
                        <a:rPr sz="800" b="1">
                          <a:solidFill>
                            <a:srgbClr val="2E2E2E"/>
                          </a:solidFill>
                          <a:latin typeface="Calibri"/>
                        </a:rPr>
                        <a:t>1,974</a:t>
                      </a:r>
                    </a:p>
                  </a:txBody>
                  <a:tcPr marL="85725" marR="38100" marT="19050" marB="19050" anchor="ctr">
                    <a:solidFill>
                      <a:srgbClr val="E0E8EF"/>
                    </a:solidFill>
                  </a:tcPr>
                </a:tc>
                <a:tc>
                  <a:txBody>
                    <a:bodyPr wrap="none"/>
                    <a:lstStyle/>
                    <a:p>
                      <a:pPr algn="l"/>
                      <a:r>
                        <a:rPr sz="800" b="1">
                          <a:solidFill>
                            <a:srgbClr val="2E2E2E"/>
                          </a:solidFill>
                          <a:latin typeface="Calibri"/>
                        </a:rPr>
                        <a:t>2,263</a:t>
                      </a:r>
                    </a:p>
                  </a:txBody>
                  <a:tcPr marL="85725" marR="38100" marT="19050" marB="19050" anchor="ctr">
                    <a:solidFill>
                      <a:srgbClr val="E0E8EF"/>
                    </a:solidFill>
                  </a:tcPr>
                </a:tc>
                <a:tc>
                  <a:txBody>
                    <a:bodyPr wrap="none"/>
                    <a:lstStyle/>
                    <a:p>
                      <a:pPr algn="l"/>
                      <a:r>
                        <a:rPr sz="800" b="1">
                          <a:solidFill>
                            <a:srgbClr val="2E2E2E"/>
                          </a:solidFill>
                          <a:latin typeface="Calibri"/>
                        </a:rPr>
                        <a:t>2,542</a:t>
                      </a:r>
                    </a:p>
                  </a:txBody>
                  <a:tcPr marL="85725" marR="38100" marT="19050" marB="19050" anchor="ctr">
                    <a:solidFill>
                      <a:srgbClr val="E0E8EF"/>
                    </a:solidFill>
                  </a:tcPr>
                </a:tc>
                <a:tc>
                  <a:txBody>
                    <a:bodyPr wrap="none"/>
                    <a:lstStyle/>
                    <a:p>
                      <a:pPr algn="l"/>
                      <a:r>
                        <a:rPr sz="800" b="1">
                          <a:solidFill>
                            <a:srgbClr val="2E2E2E"/>
                          </a:solidFill>
                          <a:latin typeface="Calibri"/>
                        </a:rPr>
                        <a:t>2,814</a:t>
                      </a:r>
                    </a:p>
                  </a:txBody>
                  <a:tcPr marL="85725" marR="38100" marT="19050" marB="19050" anchor="ctr">
                    <a:solidFill>
                      <a:srgbClr val="E0E8EF"/>
                    </a:solidFill>
                  </a:tcPr>
                </a:tc>
                <a:tc>
                  <a:txBody>
                    <a:bodyPr wrap="none"/>
                    <a:lstStyle/>
                    <a:p>
                      <a:pPr algn="l"/>
                      <a:r>
                        <a:rPr sz="800" b="1">
                          <a:solidFill>
                            <a:srgbClr val="2E2E2E"/>
                          </a:solidFill>
                          <a:latin typeface="Calibri"/>
                        </a:rPr>
                        <a:t>3,079</a:t>
                      </a:r>
                    </a:p>
                  </a:txBody>
                  <a:tcPr marL="85725" marR="38100" marT="19050" marB="19050" anchor="ctr">
                    <a:solidFill>
                      <a:srgbClr val="E0E8EF"/>
                    </a:solidFill>
                  </a:tcPr>
                </a:tc>
                <a:tc>
                  <a:txBody>
                    <a:bodyPr wrap="none"/>
                    <a:lstStyle/>
                    <a:p>
                      <a:pPr algn="l"/>
                      <a:r>
                        <a:rPr sz="800" b="1">
                          <a:solidFill>
                            <a:srgbClr val="2E2E2E"/>
                          </a:solidFill>
                          <a:latin typeface="Calibri"/>
                        </a:rPr>
                        <a:t>3,334</a:t>
                      </a:r>
                    </a:p>
                  </a:txBody>
                  <a:tcPr marL="85725" marR="38100" marT="19050" marB="19050" anchor="ctr">
                    <a:solidFill>
                      <a:srgbClr val="E0E8EF"/>
                    </a:solidFill>
                  </a:tcPr>
                </a:tc>
                <a:tc>
                  <a:txBody>
                    <a:bodyPr wrap="none"/>
                    <a:lstStyle/>
                    <a:p>
                      <a:pPr algn="l"/>
                      <a:r>
                        <a:rPr sz="800" b="1">
                          <a:solidFill>
                            <a:srgbClr val="2E2E2E"/>
                          </a:solidFill>
                          <a:latin typeface="Calibri"/>
                        </a:rPr>
                        <a:t>3,579</a:t>
                      </a:r>
                    </a:p>
                  </a:txBody>
                  <a:tcPr marL="85725" marR="38100" marT="19050" marB="19050" anchor="ctr">
                    <a:solidFill>
                      <a:srgbClr val="E0E8EF"/>
                    </a:solidFill>
                  </a:tcPr>
                </a:tc>
                <a:tc>
                  <a:txBody>
                    <a:bodyPr wrap="none"/>
                    <a:lstStyle/>
                    <a:p>
                      <a:pPr algn="l"/>
                      <a:r>
                        <a:rPr sz="800" b="1">
                          <a:solidFill>
                            <a:srgbClr val="2E2E2E"/>
                          </a:solidFill>
                          <a:latin typeface="Calibri"/>
                        </a:rPr>
                        <a:t>3,814</a:t>
                      </a:r>
                    </a:p>
                  </a:txBody>
                  <a:tcPr marL="85725" marR="38100" marT="19050" marB="19050" anchor="ctr">
                    <a:solidFill>
                      <a:srgbClr val="E0E8EF"/>
                    </a:solidFill>
                  </a:tcPr>
                </a:tc>
                <a:tc>
                  <a:txBody>
                    <a:bodyPr wrap="none"/>
                    <a:lstStyle/>
                    <a:p>
                      <a:pPr algn="l"/>
                      <a:r>
                        <a:rPr sz="800" b="1">
                          <a:solidFill>
                            <a:srgbClr val="2E2E2E"/>
                          </a:solidFill>
                          <a:latin typeface="Calibri"/>
                        </a:rPr>
                        <a:t>4,041</a:t>
                      </a:r>
                    </a:p>
                  </a:txBody>
                  <a:tcPr marL="85725" marR="38100" marT="19050" marB="19050" anchor="ctr">
                    <a:solidFill>
                      <a:srgbClr val="E0E8EF"/>
                    </a:solidFill>
                  </a:tcPr>
                </a:tc>
                <a:tc>
                  <a:txBody>
                    <a:bodyPr wrap="none"/>
                    <a:lstStyle/>
                    <a:p>
                      <a:pPr algn="l"/>
                      <a:r>
                        <a:rPr sz="800" b="1">
                          <a:solidFill>
                            <a:srgbClr val="2E2E2E"/>
                          </a:solidFill>
                          <a:latin typeface="Calibri"/>
                        </a:rPr>
                        <a:t>4,260</a:t>
                      </a:r>
                    </a:p>
                  </a:txBody>
                  <a:tcPr marL="85725" marR="38100" marT="19050" marB="19050" anchor="ctr">
                    <a:solidFill>
                      <a:srgbClr val="E0E8EF"/>
                    </a:solidFill>
                  </a:tcPr>
                </a:tc>
                <a:tc>
                  <a:txBody>
                    <a:bodyPr wrap="none"/>
                    <a:lstStyle/>
                    <a:p>
                      <a:pPr algn="l"/>
                      <a:r>
                        <a:rPr sz="800" b="1">
                          <a:solidFill>
                            <a:srgbClr val="2E2E2E"/>
                          </a:solidFill>
                          <a:latin typeface="Calibri"/>
                        </a:rPr>
                        <a:t>4,475</a:t>
                      </a:r>
                    </a:p>
                  </a:txBody>
                  <a:tcPr marL="85725" marR="38100" marT="19050" marB="19050" anchor="ctr">
                    <a:solidFill>
                      <a:srgbClr val="E0E8EF"/>
                    </a:solidFill>
                  </a:tcPr>
                </a:tc>
                <a:tc>
                  <a:txBody>
                    <a:bodyPr wrap="none"/>
                    <a:lstStyle/>
                    <a:p>
                      <a:pPr algn="l"/>
                      <a:r>
                        <a:rPr sz="800" b="1">
                          <a:solidFill>
                            <a:srgbClr val="2E2E2E"/>
                          </a:solidFill>
                          <a:latin typeface="Calibri"/>
                        </a:rPr>
                        <a:t>8.5%</a:t>
                      </a:r>
                    </a:p>
                  </a:txBody>
                  <a:tcPr marL="85725" marR="38100" marT="19050" marB="19050" anchor="ctr">
                    <a:solidFill>
                      <a:srgbClr val="E0E8EF"/>
                    </a:solidFill>
                  </a:tcPr>
                </a:tc>
              </a:tr>
            </a:tbl>
          </a:graphicData>
        </a:graphic>
      </p:graphicFrame>
      <p:sp>
        <p:nvSpPr>
          <p:cNvPr id="14" name="TextBox 13"/>
          <p:cNvSpPr txBox="1"/>
          <p:nvPr/>
        </p:nvSpPr>
        <p:spPr>
          <a:xfrm>
            <a:off x="219075" y="458152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4857750"/>
            <a:ext cx="11906250" cy="1866900"/>
          </a:xfrm>
          <a:prstGeom prst="roundRect">
            <a:avLst>
              <a:gd name="adj" fmla="val 40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943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Product Type x Therapeutic Application</a:t>
            </a:r>
          </a:p>
        </p:txBody>
      </p:sp>
      <p:sp>
        <p:nvSpPr>
          <p:cNvPr id="17" name="Rectangle 16"/>
          <p:cNvSpPr/>
          <p:nvPr/>
        </p:nvSpPr>
        <p:spPr>
          <a:xfrm>
            <a:off x="276225" y="5181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267325"/>
            <a:ext cx="11639550" cy="1381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'Idacio' is the largest product type x therapeutic application at 11.7% of 2036 value (525.8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'Cyltezo' grows fastest 10.1%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'Cyltezo' (+152 BPS) and away from 'Yusimry' (-177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rises from 1,974 to 4,475 US$ Mn across 11 categories.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Market Value &amp; Share Shift, By Product Type x Therapeutic Application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7400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Product Type x Therapeutic Application ·  2021 / 2026 / 2036 (US$ Mn)  ·  right axis = BPS share shift</a:t>
            </a:r>
          </a:p>
        </p:txBody>
      </p:sp>
      <p:graphicFrame>
        <p:nvGraphicFramePr>
          <p:cNvPr id="13" name="Chart 12"/>
          <p:cNvGraphicFramePr>
            <a:graphicFrameLocks noGrp="1"/>
          </p:cNvGraphicFramePr>
          <p:nvPr/>
        </p:nvGraphicFramePr>
        <p:xfrm>
          <a:off x="238125" y="1457325"/>
          <a:ext cx="5624132" cy="5210175"/>
        </p:xfrm>
        <a:graphic>
          <a:graphicData uri="http://schemas.openxmlformats.org/drawingml/2006/chart">
            <c:chart xmlns:c="http://schemas.openxmlformats.org/drawingml/2006/chart" r:id="rId3"/>
          </a:graphicData>
        </a:graphic>
      </p:graphicFrame>
      <p:sp>
        <p:nvSpPr>
          <p:cNvPr id="14" name="TextBox 13"/>
          <p:cNvSpPr txBox="1"/>
          <p:nvPr/>
        </p:nvSpPr>
        <p:spPr>
          <a:xfrm>
            <a:off x="6934200" y="1522857"/>
            <a:ext cx="552450" cy="114300"/>
          </a:xfrm>
          <a:prstGeom prst="rect">
            <a:avLst/>
          </a:prstGeom>
          <a:noFill/>
        </p:spPr>
        <p:txBody>
          <a:bodyPr wrap="square" lIns="28575" rIns="28575" tIns="9525" bIns="9525">
            <a:spAutoFit/>
          </a:bodyPr>
          <a:lstStyle/>
          <a:p>
            <a:pPr algn="l"/>
            <a:r>
              <a:rPr sz="750" b="1">
                <a:solidFill>
                  <a:srgbClr val="6C7A89"/>
                </a:solidFill>
                <a:latin typeface="Calibri"/>
              </a:rPr>
              <a:t>BPS Δ</a:t>
            </a:r>
          </a:p>
        </p:txBody>
      </p:sp>
      <p:cxnSp>
        <p:nvCxnSpPr>
          <p:cNvPr id="15" name="Connector 14"/>
          <p:cNvCxnSpPr/>
          <p:nvPr/>
        </p:nvCxnSpPr>
        <p:spPr>
          <a:xfrm>
            <a:off x="7010400" y="1665732"/>
            <a:ext cx="0" cy="3573018"/>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919406" y="3452241"/>
            <a:ext cx="1090994"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038975" y="4759804"/>
            <a:ext cx="419100" cy="133350"/>
          </a:xfrm>
          <a:prstGeom prst="rect">
            <a:avLst/>
          </a:prstGeom>
          <a:noFill/>
        </p:spPr>
        <p:txBody>
          <a:bodyPr wrap="none" lIns="0" rIns="0" tIns="0" bIns="0" anchor="ctr">
            <a:spAutoFit/>
          </a:bodyPr>
          <a:lstStyle/>
          <a:p>
            <a:pPr algn="l"/>
            <a:r>
              <a:rPr sz="750" b="0">
                <a:solidFill>
                  <a:srgbClr val="6C7A89"/>
                </a:solidFill>
                <a:latin typeface="Calibri"/>
              </a:rPr>
              <a:t>-177</a:t>
            </a:r>
          </a:p>
        </p:txBody>
      </p:sp>
      <p:sp>
        <p:nvSpPr>
          <p:cNvPr id="18" name="TextBox 17"/>
          <p:cNvSpPr txBox="1"/>
          <p:nvPr/>
        </p:nvSpPr>
        <p:spPr>
          <a:xfrm>
            <a:off x="7038975" y="3385566"/>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19" name="TextBox 18"/>
          <p:cNvSpPr txBox="1"/>
          <p:nvPr/>
        </p:nvSpPr>
        <p:spPr>
          <a:xfrm>
            <a:off x="7038975" y="2011328"/>
            <a:ext cx="419100" cy="133350"/>
          </a:xfrm>
          <a:prstGeom prst="rect">
            <a:avLst/>
          </a:prstGeom>
          <a:noFill/>
        </p:spPr>
        <p:txBody>
          <a:bodyPr wrap="none" lIns="0" rIns="0" tIns="0" bIns="0" anchor="ctr">
            <a:spAutoFit/>
          </a:bodyPr>
          <a:lstStyle/>
          <a:p>
            <a:pPr algn="l"/>
            <a:r>
              <a:rPr sz="750" b="0">
                <a:solidFill>
                  <a:srgbClr val="6C7A89"/>
                </a:solidFill>
                <a:latin typeface="Calibri"/>
              </a:rPr>
              <a:t>+177</a:t>
            </a:r>
          </a:p>
        </p:txBody>
      </p:sp>
      <p:sp>
        <p:nvSpPr>
          <p:cNvPr id="20" name="Oval 19"/>
          <p:cNvSpPr/>
          <p:nvPr/>
        </p:nvSpPr>
        <p:spPr>
          <a:xfrm>
            <a:off x="5971794" y="2223094"/>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971794" y="2644383"/>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71794" y="2658967"/>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71794" y="3059386"/>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971794" y="3119467"/>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971794" y="3513707"/>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971794" y="3590614"/>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971794" y="3835574"/>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71794" y="3975138"/>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971794" y="4099218"/>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971794" y="4783616"/>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81332" y="2189756"/>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+152</a:t>
            </a:r>
          </a:p>
        </p:txBody>
      </p:sp>
      <p:sp>
        <p:nvSpPr>
          <p:cNvPr id="32" name="TextBox 31"/>
          <p:cNvSpPr txBox="1"/>
          <p:nvPr/>
        </p:nvSpPr>
        <p:spPr>
          <a:xfrm>
            <a:off x="6081332" y="2611046"/>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+98</a:t>
            </a:r>
          </a:p>
        </p:txBody>
      </p:sp>
      <p:sp>
        <p:nvSpPr>
          <p:cNvPr id="33" name="TextBox 32"/>
          <p:cNvSpPr txBox="1"/>
          <p:nvPr/>
        </p:nvSpPr>
        <p:spPr>
          <a:xfrm>
            <a:off x="6081332" y="2734871"/>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+96</a:t>
            </a:r>
          </a:p>
        </p:txBody>
      </p:sp>
      <p:sp>
        <p:nvSpPr>
          <p:cNvPr id="34" name="TextBox 33"/>
          <p:cNvSpPr txBox="1"/>
          <p:nvPr/>
        </p:nvSpPr>
        <p:spPr>
          <a:xfrm>
            <a:off x="6081332" y="3026049"/>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+45</a:t>
            </a:r>
          </a:p>
        </p:txBody>
      </p:sp>
      <p:sp>
        <p:nvSpPr>
          <p:cNvPr id="35" name="TextBox 34"/>
          <p:cNvSpPr txBox="1"/>
          <p:nvPr/>
        </p:nvSpPr>
        <p:spPr>
          <a:xfrm>
            <a:off x="6081332" y="3149874"/>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+37</a:t>
            </a:r>
          </a:p>
        </p:txBody>
      </p:sp>
      <p:sp>
        <p:nvSpPr>
          <p:cNvPr id="36" name="TextBox 35"/>
          <p:cNvSpPr txBox="1"/>
          <p:nvPr/>
        </p:nvSpPr>
        <p:spPr>
          <a:xfrm>
            <a:off x="6081332" y="3480370"/>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-13</a:t>
            </a:r>
          </a:p>
        </p:txBody>
      </p:sp>
      <p:sp>
        <p:nvSpPr>
          <p:cNvPr id="37" name="TextBox 36"/>
          <p:cNvSpPr txBox="1"/>
          <p:nvPr/>
        </p:nvSpPr>
        <p:spPr>
          <a:xfrm>
            <a:off x="6081332" y="3604195"/>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-23</a:t>
            </a:r>
          </a:p>
        </p:txBody>
      </p:sp>
      <p:sp>
        <p:nvSpPr>
          <p:cNvPr id="38" name="TextBox 37"/>
          <p:cNvSpPr txBox="1"/>
          <p:nvPr/>
        </p:nvSpPr>
        <p:spPr>
          <a:xfrm>
            <a:off x="6081332" y="3802236"/>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-55</a:t>
            </a:r>
          </a:p>
        </p:txBody>
      </p:sp>
      <p:sp>
        <p:nvSpPr>
          <p:cNvPr id="39" name="TextBox 38"/>
          <p:cNvSpPr txBox="1"/>
          <p:nvPr/>
        </p:nvSpPr>
        <p:spPr>
          <a:xfrm>
            <a:off x="6081332" y="3941800"/>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-73</a:t>
            </a:r>
          </a:p>
        </p:txBody>
      </p:sp>
      <p:sp>
        <p:nvSpPr>
          <p:cNvPr id="40" name="TextBox 39"/>
          <p:cNvSpPr txBox="1"/>
          <p:nvPr/>
        </p:nvSpPr>
        <p:spPr>
          <a:xfrm>
            <a:off x="6081332" y="4065880"/>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-89</a:t>
            </a:r>
          </a:p>
        </p:txBody>
      </p:sp>
      <p:sp>
        <p:nvSpPr>
          <p:cNvPr id="41" name="TextBox 40"/>
          <p:cNvSpPr txBox="1"/>
          <p:nvPr/>
        </p:nvSpPr>
        <p:spPr>
          <a:xfrm>
            <a:off x="6081332" y="4750279"/>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-177</a:t>
            </a:r>
          </a:p>
        </p:txBody>
      </p:sp>
      <p:sp>
        <p:nvSpPr>
          <p:cNvPr id="42" name="Rounded Rectangle 41"/>
          <p:cNvSpPr/>
          <p:nvPr/>
        </p:nvSpPr>
        <p:spPr>
          <a:xfrm>
            <a:off x="7696200" y="857250"/>
            <a:ext cx="4343400" cy="5867400"/>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942975"/>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Product Type x Therapeutic Application</a:t>
            </a:r>
          </a:p>
        </p:txBody>
      </p:sp>
      <p:sp>
        <p:nvSpPr>
          <p:cNvPr id="44" name="Rectangle 43"/>
          <p:cNvSpPr/>
          <p:nvPr/>
        </p:nvSpPr>
        <p:spPr>
          <a:xfrm>
            <a:off x="7829550" y="1181100"/>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266825"/>
            <a:ext cx="4076700" cy="538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'Cyltezo' gains the most share +152 BPS between 2026 and 2036 (</a:t>
            </a:r>
            <a:r>
              <a:rPr sz="1150" b="0">
                <a:solidFill>
                  <a:srgbClr val="2E7D32"/>
                </a:solidFill>
                <a:latin typeface="Calibri"/>
              </a:rPr>
              <a:t>green ▲</a:t>
            </a:r>
            <a:r>
              <a:rPr sz="1150" b="0">
                <a:solidFill>
                  <a:srgbClr val="2E2E2E"/>
                </a:solidFill>
                <a:latin typeface="Calibri"/>
              </a:rPr>
              <a:t> on the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'Yusimry' cedes the most -177 BPS over the same window (</a:t>
            </a:r>
            <a:r>
              <a:rPr sz="1150" b="0">
                <a:solidFill>
                  <a:srgbClr val="E44D3A"/>
                </a:solidFill>
                <a:latin typeface="Calibri"/>
              </a:rPr>
              <a:t>red ▼</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'Cyltezo' is the fastest-growing product type x therapeutic application at 10.1%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climbs from 852.6 to 4,475 US$ Mn across 2021–2036.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Bars show the value mix at each snapshot; the scale shows how each share moves.</a:t>
            </a:r>
          </a:p>
        </p:txBody>
      </p:sp>
      <p:sp>
        <p:nvSpPr>
          <p:cNvPr id="46" name="Rectangle 4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48" name="Rounded Rectangle 47">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49" name="Rounded Rectangle 48">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0" name="Rounded Rectangle 49">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Volume, By Product Type x Therapeutic Application (%)</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YoY Growth, By Product Type x Therapeutic Application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2171700"/>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Product Type x Therapeutic Application</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800" b="1">
                          <a:solidFill>
                            <a:srgbClr val="2E7D32"/>
                          </a:solidFill>
                          <a:latin typeface="Calibri"/>
                        </a:rPr>
                        <a:t>▲ 18.9%</a:t>
                      </a:r>
                    </a:p>
                  </a:txBody>
                  <a:tcPr marL="85725" marR="38100" marT="19050" marB="19050" anchor="ctr">
                    <a:solidFill>
                      <a:srgbClr val="FFFFFF"/>
                    </a:solidFill>
                  </a:tcPr>
                </a:tc>
                <a:tc>
                  <a:txBody>
                    <a:bodyPr wrap="none"/>
                    <a:lstStyle/>
                    <a:p>
                      <a:pPr algn="l"/>
                      <a:r>
                        <a:rPr sz="800" b="1">
                          <a:solidFill>
                            <a:srgbClr val="2E7D32"/>
                          </a:solidFill>
                          <a:latin typeface="Calibri"/>
                        </a:rPr>
                        <a:t>▲ 26.1%</a:t>
                      </a:r>
                    </a:p>
                  </a:txBody>
                  <a:tcPr marL="85725" marR="38100" marT="19050" marB="19050" anchor="ctr">
                    <a:solidFill>
                      <a:srgbClr val="FFFFFF"/>
                    </a:solidFill>
                  </a:tcPr>
                </a:tc>
                <a:tc>
                  <a:txBody>
                    <a:bodyPr wrap="none"/>
                    <a:lstStyle/>
                    <a:p>
                      <a:pPr algn="l"/>
                      <a:r>
                        <a:rPr sz="800" b="1">
                          <a:solidFill>
                            <a:srgbClr val="2E7D32"/>
                          </a:solidFill>
                          <a:latin typeface="Calibri"/>
                        </a:rPr>
                        <a:t>▲ 30.1%</a:t>
                      </a:r>
                    </a:p>
                  </a:txBody>
                  <a:tcPr marL="85725" marR="38100" marT="19050" marB="19050" anchor="ctr">
                    <a:solidFill>
                      <a:srgbClr val="FFFFFF"/>
                    </a:solidFill>
                  </a:tcPr>
                </a:tc>
                <a:tc>
                  <a:txBody>
                    <a:bodyPr wrap="none"/>
                    <a:lstStyle/>
                    <a:p>
                      <a:pPr algn="l"/>
                      <a:r>
                        <a:rPr sz="800" b="1">
                          <a:solidFill>
                            <a:srgbClr val="2E7D32"/>
                          </a:solidFill>
                          <a:latin typeface="Calibri"/>
                        </a:rPr>
                        <a:t>▲ 27.3%</a:t>
                      </a:r>
                    </a:p>
                  </a:txBody>
                  <a:tcPr marL="85725" marR="38100" marT="19050" marB="19050" anchor="ctr">
                    <a:solidFill>
                      <a:srgbClr val="FFFFFF"/>
                    </a:solidFill>
                  </a:tcPr>
                </a:tc>
                <a:tc>
                  <a:txBody>
                    <a:bodyPr wrap="none"/>
                    <a:lstStyle/>
                    <a:p>
                      <a:pPr algn="l"/>
                      <a:r>
                        <a:rPr sz="800" b="1">
                          <a:solidFill>
                            <a:srgbClr val="2E7D32"/>
                          </a:solidFill>
                          <a:latin typeface="Calibri"/>
                        </a:rPr>
                        <a:t>▲ 23.4%</a:t>
                      </a:r>
                    </a:p>
                  </a:txBody>
                  <a:tcPr marL="85725" marR="38100" marT="19050" marB="19050" anchor="ctr">
                    <a:solidFill>
                      <a:srgbClr val="FFFFFF"/>
                    </a:solidFill>
                  </a:tcPr>
                </a:tc>
                <a:tc>
                  <a:txBody>
                    <a:bodyPr wrap="none"/>
                    <a:lstStyle/>
                    <a:p>
                      <a:pPr algn="l"/>
                      <a:r>
                        <a:rPr sz="800" b="1">
                          <a:solidFill>
                            <a:srgbClr val="2E7D32"/>
                          </a:solidFill>
                          <a:latin typeface="Calibri"/>
                        </a:rPr>
                        <a:t>▲ 21.1%</a:t>
                      </a:r>
                    </a:p>
                  </a:txBody>
                  <a:tcPr marL="85725" marR="38100" marT="19050" marB="19050" anchor="ctr">
                    <a:solidFill>
                      <a:srgbClr val="FFFFFF"/>
                    </a:solidFill>
                  </a:tcPr>
                </a:tc>
                <a:tc>
                  <a:txBody>
                    <a:bodyPr wrap="none"/>
                    <a:lstStyle/>
                    <a:p>
                      <a:pPr algn="l"/>
                      <a:r>
                        <a:rPr sz="800" b="1">
                          <a:solidFill>
                            <a:srgbClr val="2E7D32"/>
                          </a:solidFill>
                          <a:latin typeface="Calibri"/>
                        </a:rPr>
                        <a:t>▲ 18.7%</a:t>
                      </a:r>
                    </a:p>
                  </a:txBody>
                  <a:tcPr marL="85725" marR="38100" marT="19050" marB="19050" anchor="ctr">
                    <a:solidFill>
                      <a:srgbClr val="FFFFFF"/>
                    </a:solidFill>
                  </a:tcPr>
                </a:tc>
                <a:tc>
                  <a:txBody>
                    <a:bodyPr wrap="none"/>
                    <a:lstStyle/>
                    <a:p>
                      <a:pPr algn="l"/>
                      <a:r>
                        <a:rPr sz="800" b="1">
                          <a:solidFill>
                            <a:srgbClr val="2E7D32"/>
                          </a:solidFill>
                          <a:latin typeface="Calibri"/>
                        </a:rPr>
                        <a:t>▲ 16.9%</a:t>
                      </a:r>
                    </a:p>
                  </a:txBody>
                  <a:tcPr marL="85725" marR="38100" marT="19050" marB="19050" anchor="ctr">
                    <a:solidFill>
                      <a:srgbClr val="FFFFFF"/>
                    </a:solidFill>
                  </a:tcPr>
                </a:tc>
                <a:tc>
                  <a:txBody>
                    <a:bodyPr wrap="none"/>
                    <a:lstStyle/>
                    <a:p>
                      <a:pPr algn="l"/>
                      <a:r>
                        <a:rPr sz="800" b="1">
                          <a:solidFill>
                            <a:srgbClr val="2E7D32"/>
                          </a:solidFill>
                          <a:latin typeface="Calibri"/>
                        </a:rPr>
                        <a:t>▲ 15.5%</a:t>
                      </a:r>
                    </a:p>
                  </a:txBody>
                  <a:tcPr marL="85725" marR="38100" marT="19050" marB="19050" anchor="ctr">
                    <a:solidFill>
                      <a:srgbClr val="FFFFFF"/>
                    </a:solidFill>
                  </a:tcPr>
                </a:tc>
                <a:tc>
                  <a:txBody>
                    <a:bodyPr wrap="none"/>
                    <a:lstStyle/>
                    <a:p>
                      <a:pPr algn="l"/>
                      <a:r>
                        <a:rPr sz="800" b="1">
                          <a:solidFill>
                            <a:srgbClr val="2E7D32"/>
                          </a:solidFill>
                          <a:latin typeface="Calibri"/>
                        </a:rPr>
                        <a:t>▲ 14.3%</a:t>
                      </a:r>
                    </a:p>
                  </a:txBody>
                  <a:tcPr marL="85725" marR="38100" marT="19050" marB="19050" anchor="ctr">
                    <a:solidFill>
                      <a:srgbClr val="FFFFFF"/>
                    </a:solidFill>
                  </a:tcPr>
                </a:tc>
                <a:tc>
                  <a:txBody>
                    <a:bodyPr wrap="none"/>
                    <a:lstStyle/>
                    <a:p>
                      <a:pPr algn="l"/>
                      <a:r>
                        <a:rPr sz="800" b="1">
                          <a:solidFill>
                            <a:srgbClr val="2E7D32"/>
                          </a:solidFill>
                          <a:latin typeface="Calibri"/>
                        </a:rPr>
                        <a:t>▲ 13.3%</a:t>
                      </a:r>
                    </a:p>
                  </a:txBody>
                  <a:tcPr marL="85725" marR="38100" marT="19050" marB="19050" anchor="ctr">
                    <a:solidFill>
                      <a:srgbClr val="FFFFFF"/>
                    </a:solidFill>
                  </a:tcPr>
                </a:tc>
                <a:tc>
                  <a:txBody>
                    <a:bodyPr wrap="none"/>
                    <a:lstStyle/>
                    <a:p>
                      <a:pPr algn="l"/>
                      <a:r>
                        <a:rPr sz="800" b="1">
                          <a:solidFill>
                            <a:srgbClr val="2E7D32"/>
                          </a:solidFill>
                          <a:latin typeface="Calibri"/>
                        </a:rPr>
                        <a:t>▲ 12.4%</a:t>
                      </a:r>
                    </a:p>
                  </a:txBody>
                  <a:tcPr marL="85725" marR="38100" marT="19050" marB="19050" anchor="ctr">
                    <a:solidFill>
                      <a:srgbClr val="FFFFFF"/>
                    </a:solidFill>
                  </a:tcPr>
                </a:tc>
                <a:tc>
                  <a:txBody>
                    <a:bodyPr wrap="none"/>
                    <a:lstStyle/>
                    <a:p>
                      <a:pPr algn="l"/>
                      <a:r>
                        <a:rPr sz="800" b="1">
                          <a:solidFill>
                            <a:srgbClr val="2E7D32"/>
                          </a:solidFill>
                          <a:latin typeface="Calibri"/>
                        </a:rPr>
                        <a:t>▲ 11.7%</a:t>
                      </a:r>
                    </a:p>
                  </a:txBody>
                  <a:tcPr marL="85725" marR="38100" marT="19050" marB="19050" anchor="ctr">
                    <a:solidFill>
                      <a:srgbClr val="FFFFFF"/>
                    </a:solidFill>
                  </a:tcPr>
                </a:tc>
                <a:tc>
                  <a:txBody>
                    <a:bodyPr wrap="none"/>
                    <a:lstStyle/>
                    <a:p>
                      <a:pPr algn="l"/>
                      <a:r>
                        <a:rPr sz="800" b="1">
                          <a:solidFill>
                            <a:srgbClr val="2E7D32"/>
                          </a:solidFill>
                          <a:latin typeface="Calibri"/>
                        </a:rPr>
                        <a:t>▲ 11.2%</a:t>
                      </a:r>
                    </a:p>
                  </a:txBody>
                  <a:tcPr marL="85725" marR="38100" marT="19050" marB="19050" anchor="ctr">
                    <a:solidFill>
                      <a:srgbClr val="FFFFFF"/>
                    </a:solidFill>
                  </a:tcPr>
                </a:tc>
                <a:tc>
                  <a:txBody>
                    <a:bodyPr wrap="none"/>
                    <a:lstStyle/>
                    <a:p>
                      <a:pPr algn="l"/>
                      <a:r>
                        <a:rPr sz="800" b="1">
                          <a:solidFill>
                            <a:srgbClr val="2E7D32"/>
                          </a:solidFill>
                          <a:latin typeface="Calibri"/>
                        </a:rPr>
                        <a:t>▲ 10.7%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Cyltezo</a:t>
                      </a:r>
                    </a:p>
                  </a:txBody>
                  <a:tcPr marL="85725" marR="38100" marT="19050" marB="19050" anchor="ctr">
                    <a:solidFill>
                      <a:srgbClr val="F5F8FA"/>
                    </a:solidFill>
                  </a:tcPr>
                </a:tc>
                <a:tc>
                  <a:txBody>
                    <a:bodyPr wrap="none"/>
                    <a:lstStyle/>
                    <a:p>
                      <a:pPr algn="l"/>
                      <a:r>
                        <a:rPr sz="800" b="1">
                          <a:solidFill>
                            <a:srgbClr val="2E7D32"/>
                          </a:solidFill>
                          <a:latin typeface="Calibri"/>
                        </a:rPr>
                        <a:t>▲ 19.1%</a:t>
                      </a:r>
                    </a:p>
                  </a:txBody>
                  <a:tcPr marL="85725" marR="38100" marT="19050" marB="19050" anchor="ctr">
                    <a:solidFill>
                      <a:srgbClr val="F5F8FA"/>
                    </a:solidFill>
                  </a:tcPr>
                </a:tc>
                <a:tc>
                  <a:txBody>
                    <a:bodyPr wrap="none"/>
                    <a:lstStyle/>
                    <a:p>
                      <a:pPr algn="l"/>
                      <a:r>
                        <a:rPr sz="800" b="1">
                          <a:solidFill>
                            <a:srgbClr val="2E7D32"/>
                          </a:solidFill>
                          <a:latin typeface="Calibri"/>
                        </a:rPr>
                        <a:t>▲ 26.3%</a:t>
                      </a:r>
                    </a:p>
                  </a:txBody>
                  <a:tcPr marL="85725" marR="38100" marT="19050" marB="19050" anchor="ctr">
                    <a:solidFill>
                      <a:srgbClr val="F5F8FA"/>
                    </a:solidFill>
                  </a:tcPr>
                </a:tc>
                <a:tc>
                  <a:txBody>
                    <a:bodyPr wrap="none"/>
                    <a:lstStyle/>
                    <a:p>
                      <a:pPr algn="l"/>
                      <a:r>
                        <a:rPr sz="800" b="1">
                          <a:solidFill>
                            <a:srgbClr val="2E7D32"/>
                          </a:solidFill>
                          <a:latin typeface="Calibri"/>
                        </a:rPr>
                        <a:t>▲ 30.3%</a:t>
                      </a:r>
                    </a:p>
                  </a:txBody>
                  <a:tcPr marL="85725" marR="38100" marT="19050" marB="19050" anchor="ctr">
                    <a:solidFill>
                      <a:srgbClr val="F5F8FA"/>
                    </a:solidFill>
                  </a:tcPr>
                </a:tc>
                <a:tc>
                  <a:txBody>
                    <a:bodyPr wrap="none"/>
                    <a:lstStyle/>
                    <a:p>
                      <a:pPr algn="l"/>
                      <a:r>
                        <a:rPr sz="800" b="1">
                          <a:solidFill>
                            <a:srgbClr val="2E7D32"/>
                          </a:solidFill>
                          <a:latin typeface="Calibri"/>
                        </a:rPr>
                        <a:t>▲ 27.5%</a:t>
                      </a:r>
                    </a:p>
                  </a:txBody>
                  <a:tcPr marL="85725" marR="38100" marT="19050" marB="19050" anchor="ctr">
                    <a:solidFill>
                      <a:srgbClr val="F5F8FA"/>
                    </a:solidFill>
                  </a:tcPr>
                </a:tc>
                <a:tc>
                  <a:txBody>
                    <a:bodyPr wrap="none"/>
                    <a:lstStyle/>
                    <a:p>
                      <a:pPr algn="l"/>
                      <a:r>
                        <a:rPr sz="800" b="1">
                          <a:solidFill>
                            <a:srgbClr val="2E7D32"/>
                          </a:solidFill>
                          <a:latin typeface="Calibri"/>
                        </a:rPr>
                        <a:t>▲ 23.7%</a:t>
                      </a:r>
                    </a:p>
                  </a:txBody>
                  <a:tcPr marL="85725" marR="38100" marT="19050" marB="19050" anchor="ctr">
                    <a:solidFill>
                      <a:srgbClr val="F5F8FA"/>
                    </a:solidFill>
                  </a:tcPr>
                </a:tc>
                <a:tc>
                  <a:txBody>
                    <a:bodyPr wrap="none"/>
                    <a:lstStyle/>
                    <a:p>
                      <a:pPr algn="l"/>
                      <a:r>
                        <a:rPr sz="800" b="1">
                          <a:solidFill>
                            <a:srgbClr val="2E7D32"/>
                          </a:solidFill>
                          <a:latin typeface="Calibri"/>
                        </a:rPr>
                        <a:t>▲ 21.4%</a:t>
                      </a:r>
                    </a:p>
                  </a:txBody>
                  <a:tcPr marL="85725" marR="38100" marT="19050" marB="19050" anchor="ctr">
                    <a:solidFill>
                      <a:srgbClr val="F5F8FA"/>
                    </a:solidFill>
                  </a:tcPr>
                </a:tc>
                <a:tc>
                  <a:txBody>
                    <a:bodyPr wrap="none"/>
                    <a:lstStyle/>
                    <a:p>
                      <a:pPr algn="l"/>
                      <a:r>
                        <a:rPr sz="800" b="1">
                          <a:solidFill>
                            <a:srgbClr val="2E7D32"/>
                          </a:solidFill>
                          <a:latin typeface="Calibri"/>
                        </a:rPr>
                        <a:t>▲ 18.9%</a:t>
                      </a:r>
                    </a:p>
                  </a:txBody>
                  <a:tcPr marL="85725" marR="38100" marT="19050" marB="19050" anchor="ctr">
                    <a:solidFill>
                      <a:srgbClr val="F5F8FA"/>
                    </a:solidFill>
                  </a:tcPr>
                </a:tc>
                <a:tc>
                  <a:txBody>
                    <a:bodyPr wrap="none"/>
                    <a:lstStyle/>
                    <a:p>
                      <a:pPr algn="l"/>
                      <a:r>
                        <a:rPr sz="800" b="1">
                          <a:solidFill>
                            <a:srgbClr val="2E7D32"/>
                          </a:solidFill>
                          <a:latin typeface="Calibri"/>
                        </a:rPr>
                        <a:t>▲ 17.1%</a:t>
                      </a:r>
                    </a:p>
                  </a:txBody>
                  <a:tcPr marL="85725" marR="38100" marT="19050" marB="19050" anchor="ctr">
                    <a:solidFill>
                      <a:srgbClr val="F5F8FA"/>
                    </a:solidFill>
                  </a:tcPr>
                </a:tc>
                <a:tc>
                  <a:txBody>
                    <a:bodyPr wrap="none"/>
                    <a:lstStyle/>
                    <a:p>
                      <a:pPr algn="l"/>
                      <a:r>
                        <a:rPr sz="800" b="1">
                          <a:solidFill>
                            <a:srgbClr val="2E7D32"/>
                          </a:solidFill>
                          <a:latin typeface="Calibri"/>
                        </a:rPr>
                        <a:t>▲ 15.7%</a:t>
                      </a:r>
                    </a:p>
                  </a:txBody>
                  <a:tcPr marL="85725" marR="38100" marT="19050" marB="19050" anchor="ctr">
                    <a:solidFill>
                      <a:srgbClr val="F5F8FA"/>
                    </a:solidFill>
                  </a:tcPr>
                </a:tc>
                <a:tc>
                  <a:txBody>
                    <a:bodyPr wrap="none"/>
                    <a:lstStyle/>
                    <a:p>
                      <a:pPr algn="l"/>
                      <a:r>
                        <a:rPr sz="800" b="1">
                          <a:solidFill>
                            <a:srgbClr val="2E7D32"/>
                          </a:solidFill>
                          <a:latin typeface="Calibri"/>
                        </a:rPr>
                        <a:t>▲ 14.5%</a:t>
                      </a:r>
                    </a:p>
                  </a:txBody>
                  <a:tcPr marL="85725" marR="38100" marT="19050" marB="19050" anchor="ctr">
                    <a:solidFill>
                      <a:srgbClr val="F5F8FA"/>
                    </a:solidFill>
                  </a:tcPr>
                </a:tc>
                <a:tc>
                  <a:txBody>
                    <a:bodyPr wrap="none"/>
                    <a:lstStyle/>
                    <a:p>
                      <a:pPr algn="l"/>
                      <a:r>
                        <a:rPr sz="800" b="1">
                          <a:solidFill>
                            <a:srgbClr val="2E7D32"/>
                          </a:solidFill>
                          <a:latin typeface="Calibri"/>
                        </a:rPr>
                        <a:t>▲ 13.5%</a:t>
                      </a:r>
                    </a:p>
                  </a:txBody>
                  <a:tcPr marL="85725" marR="38100" marT="19050" marB="19050" anchor="ctr">
                    <a:solidFill>
                      <a:srgbClr val="F5F8FA"/>
                    </a:solidFill>
                  </a:tcPr>
                </a:tc>
                <a:tc>
                  <a:txBody>
                    <a:bodyPr wrap="none"/>
                    <a:lstStyle/>
                    <a:p>
                      <a:pPr algn="l"/>
                      <a:r>
                        <a:rPr sz="800" b="1">
                          <a:solidFill>
                            <a:srgbClr val="2E7D32"/>
                          </a:solidFill>
                          <a:latin typeface="Calibri"/>
                        </a:rPr>
                        <a:t>▲ 12.6%</a:t>
                      </a:r>
                    </a:p>
                  </a:txBody>
                  <a:tcPr marL="85725" marR="38100" marT="19050" marB="19050" anchor="ctr">
                    <a:solidFill>
                      <a:srgbClr val="F5F8FA"/>
                    </a:solidFill>
                  </a:tcPr>
                </a:tc>
                <a:tc>
                  <a:txBody>
                    <a:bodyPr wrap="none"/>
                    <a:lstStyle/>
                    <a:p>
                      <a:pPr algn="l"/>
                      <a:r>
                        <a:rPr sz="800" b="1">
                          <a:solidFill>
                            <a:srgbClr val="2E7D32"/>
                          </a:solidFill>
                          <a:latin typeface="Calibri"/>
                        </a:rPr>
                        <a:t>▲ 12.0%</a:t>
                      </a:r>
                    </a:p>
                  </a:txBody>
                  <a:tcPr marL="85725" marR="38100" marT="19050" marB="19050" anchor="ctr">
                    <a:solidFill>
                      <a:srgbClr val="F5F8FA"/>
                    </a:solidFill>
                  </a:tcPr>
                </a:tc>
                <a:tc>
                  <a:txBody>
                    <a:bodyPr wrap="none"/>
                    <a:lstStyle/>
                    <a:p>
                      <a:pPr algn="l"/>
                      <a:r>
                        <a:rPr sz="800" b="1">
                          <a:solidFill>
                            <a:srgbClr val="2E7D32"/>
                          </a:solidFill>
                          <a:latin typeface="Calibri"/>
                        </a:rPr>
                        <a:t>▲ 11.4%</a:t>
                      </a:r>
                    </a:p>
                  </a:txBody>
                  <a:tcPr marL="85725" marR="38100" marT="19050" marB="19050" anchor="ctr">
                    <a:solidFill>
                      <a:srgbClr val="F5F8FA"/>
                    </a:solidFill>
                  </a:tcPr>
                </a:tc>
                <a:tc>
                  <a:txBody>
                    <a:bodyPr wrap="none"/>
                    <a:lstStyle/>
                    <a:p>
                      <a:pPr algn="l"/>
                      <a:r>
                        <a:rPr sz="800" b="1">
                          <a:solidFill>
                            <a:srgbClr val="2E7D32"/>
                          </a:solidFill>
                          <a:latin typeface="Calibri"/>
                        </a:rPr>
                        <a:t>▲ 10.9%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800" b="1">
                          <a:solidFill>
                            <a:srgbClr val="2E7D32"/>
                          </a:solidFill>
                          <a:latin typeface="Calibri"/>
                        </a:rPr>
                        <a:t>▲ 19.0%</a:t>
                      </a:r>
                    </a:p>
                  </a:txBody>
                  <a:tcPr marL="85725" marR="38100" marT="19050" marB="19050" anchor="ctr">
                    <a:solidFill>
                      <a:srgbClr val="FFFFFF"/>
                    </a:solidFill>
                  </a:tcPr>
                </a:tc>
                <a:tc>
                  <a:txBody>
                    <a:bodyPr wrap="none"/>
                    <a:lstStyle/>
                    <a:p>
                      <a:pPr algn="l"/>
                      <a:r>
                        <a:rPr sz="800" b="1">
                          <a:solidFill>
                            <a:srgbClr val="2E7D32"/>
                          </a:solidFill>
                          <a:latin typeface="Calibri"/>
                        </a:rPr>
                        <a:t>▲ 26.2%</a:t>
                      </a:r>
                    </a:p>
                  </a:txBody>
                  <a:tcPr marL="85725" marR="38100" marT="19050" marB="19050" anchor="ctr">
                    <a:solidFill>
                      <a:srgbClr val="FFFFFF"/>
                    </a:solidFill>
                  </a:tcPr>
                </a:tc>
                <a:tc>
                  <a:txBody>
                    <a:bodyPr wrap="none"/>
                    <a:lstStyle/>
                    <a:p>
                      <a:pPr algn="l"/>
                      <a:r>
                        <a:rPr sz="800" b="1">
                          <a:solidFill>
                            <a:srgbClr val="2E7D32"/>
                          </a:solidFill>
                          <a:latin typeface="Calibri"/>
                        </a:rPr>
                        <a:t>▲ 30.2%</a:t>
                      </a:r>
                    </a:p>
                  </a:txBody>
                  <a:tcPr marL="85725" marR="38100" marT="19050" marB="19050" anchor="ctr">
                    <a:solidFill>
                      <a:srgbClr val="FFFFFF"/>
                    </a:solidFill>
                  </a:tcPr>
                </a:tc>
                <a:tc>
                  <a:txBody>
                    <a:bodyPr wrap="none"/>
                    <a:lstStyle/>
                    <a:p>
                      <a:pPr algn="l"/>
                      <a:r>
                        <a:rPr sz="800" b="1">
                          <a:solidFill>
                            <a:srgbClr val="2E7D32"/>
                          </a:solidFill>
                          <a:latin typeface="Calibri"/>
                        </a:rPr>
                        <a:t>▲ 27.4%</a:t>
                      </a:r>
                    </a:p>
                  </a:txBody>
                  <a:tcPr marL="85725" marR="38100" marT="19050" marB="19050" anchor="ctr">
                    <a:solidFill>
                      <a:srgbClr val="FFFFFF"/>
                    </a:solidFill>
                  </a:tcPr>
                </a:tc>
                <a:tc>
                  <a:txBody>
                    <a:bodyPr wrap="none"/>
                    <a:lstStyle/>
                    <a:p>
                      <a:pPr algn="l"/>
                      <a:r>
                        <a:rPr sz="800" b="1">
                          <a:solidFill>
                            <a:srgbClr val="2E7D32"/>
                          </a:solidFill>
                          <a:latin typeface="Calibri"/>
                        </a:rPr>
                        <a:t>▲ 23.5%</a:t>
                      </a:r>
                    </a:p>
                  </a:txBody>
                  <a:tcPr marL="85725" marR="38100" marT="19050" marB="19050" anchor="ctr">
                    <a:solidFill>
                      <a:srgbClr val="FFFFFF"/>
                    </a:solidFill>
                  </a:tcPr>
                </a:tc>
                <a:tc>
                  <a:txBody>
                    <a:bodyPr wrap="none"/>
                    <a:lstStyle/>
                    <a:p>
                      <a:pPr algn="l"/>
                      <a:r>
                        <a:rPr sz="800" b="1">
                          <a:solidFill>
                            <a:srgbClr val="2E7D32"/>
                          </a:solidFill>
                          <a:latin typeface="Calibri"/>
                        </a:rPr>
                        <a:t>▲ 21.3%</a:t>
                      </a:r>
                    </a:p>
                  </a:txBody>
                  <a:tcPr marL="85725" marR="38100" marT="19050" marB="19050" anchor="ctr">
                    <a:solidFill>
                      <a:srgbClr val="FFFFFF"/>
                    </a:solidFill>
                  </a:tcPr>
                </a:tc>
                <a:tc>
                  <a:txBody>
                    <a:bodyPr wrap="none"/>
                    <a:lstStyle/>
                    <a:p>
                      <a:pPr algn="l"/>
                      <a:r>
                        <a:rPr sz="800" b="1">
                          <a:solidFill>
                            <a:srgbClr val="2E7D32"/>
                          </a:solidFill>
                          <a:latin typeface="Calibri"/>
                        </a:rPr>
                        <a:t>▲ 18.8%</a:t>
                      </a:r>
                    </a:p>
                  </a:txBody>
                  <a:tcPr marL="85725" marR="38100" marT="19050" marB="19050" anchor="ctr">
                    <a:solidFill>
                      <a:srgbClr val="FFFFFF"/>
                    </a:solidFill>
                  </a:tcPr>
                </a:tc>
                <a:tc>
                  <a:txBody>
                    <a:bodyPr wrap="none"/>
                    <a:lstStyle/>
                    <a:p>
                      <a:pPr algn="l"/>
                      <a:r>
                        <a:rPr sz="800" b="1">
                          <a:solidFill>
                            <a:srgbClr val="2E7D32"/>
                          </a:solidFill>
                          <a:latin typeface="Calibri"/>
                        </a:rPr>
                        <a:t>▲ 17.0%</a:t>
                      </a:r>
                    </a:p>
                  </a:txBody>
                  <a:tcPr marL="85725" marR="38100" marT="19050" marB="19050" anchor="ctr">
                    <a:solidFill>
                      <a:srgbClr val="FFFFFF"/>
                    </a:solidFill>
                  </a:tcPr>
                </a:tc>
                <a:tc>
                  <a:txBody>
                    <a:bodyPr wrap="none"/>
                    <a:lstStyle/>
                    <a:p>
                      <a:pPr algn="l"/>
                      <a:r>
                        <a:rPr sz="800" b="1">
                          <a:solidFill>
                            <a:srgbClr val="2E7D32"/>
                          </a:solidFill>
                          <a:latin typeface="Calibri"/>
                        </a:rPr>
                        <a:t>▲ 15.6%</a:t>
                      </a:r>
                    </a:p>
                  </a:txBody>
                  <a:tcPr marL="85725" marR="38100" marT="19050" marB="19050" anchor="ctr">
                    <a:solidFill>
                      <a:srgbClr val="FFFFFF"/>
                    </a:solidFill>
                  </a:tcPr>
                </a:tc>
                <a:tc>
                  <a:txBody>
                    <a:bodyPr wrap="none"/>
                    <a:lstStyle/>
                    <a:p>
                      <a:pPr algn="l"/>
                      <a:r>
                        <a:rPr sz="800" b="1">
                          <a:solidFill>
                            <a:srgbClr val="2E7D32"/>
                          </a:solidFill>
                          <a:latin typeface="Calibri"/>
                        </a:rPr>
                        <a:t>▲ 14.4%</a:t>
                      </a:r>
                    </a:p>
                  </a:txBody>
                  <a:tcPr marL="85725" marR="38100" marT="19050" marB="19050" anchor="ctr">
                    <a:solidFill>
                      <a:srgbClr val="FFFFFF"/>
                    </a:solidFill>
                  </a:tcPr>
                </a:tc>
                <a:tc>
                  <a:txBody>
                    <a:bodyPr wrap="none"/>
                    <a:lstStyle/>
                    <a:p>
                      <a:pPr algn="l"/>
                      <a:r>
                        <a:rPr sz="800" b="1">
                          <a:solidFill>
                            <a:srgbClr val="2E7D32"/>
                          </a:solidFill>
                          <a:latin typeface="Calibri"/>
                        </a:rPr>
                        <a:t>▲ 13.4%</a:t>
                      </a:r>
                    </a:p>
                  </a:txBody>
                  <a:tcPr marL="85725" marR="38100" marT="19050" marB="19050" anchor="ctr">
                    <a:solidFill>
                      <a:srgbClr val="FFFFFF"/>
                    </a:solidFill>
                  </a:tcPr>
                </a:tc>
                <a:tc>
                  <a:txBody>
                    <a:bodyPr wrap="none"/>
                    <a:lstStyle/>
                    <a:p>
                      <a:pPr algn="l"/>
                      <a:r>
                        <a:rPr sz="800" b="1">
                          <a:solidFill>
                            <a:srgbClr val="2E7D32"/>
                          </a:solidFill>
                          <a:latin typeface="Calibri"/>
                        </a:rPr>
                        <a:t>▲ 12.5%</a:t>
                      </a:r>
                    </a:p>
                  </a:txBody>
                  <a:tcPr marL="85725" marR="38100" marT="19050" marB="19050" anchor="ctr">
                    <a:solidFill>
                      <a:srgbClr val="FFFFFF"/>
                    </a:solidFill>
                  </a:tcPr>
                </a:tc>
                <a:tc>
                  <a:txBody>
                    <a:bodyPr wrap="none"/>
                    <a:lstStyle/>
                    <a:p>
                      <a:pPr algn="l"/>
                      <a:r>
                        <a:rPr sz="800" b="1">
                          <a:solidFill>
                            <a:srgbClr val="2E7D32"/>
                          </a:solidFill>
                          <a:latin typeface="Calibri"/>
                        </a:rPr>
                        <a:t>▲ 11.8%</a:t>
                      </a:r>
                    </a:p>
                  </a:txBody>
                  <a:tcPr marL="85725" marR="38100" marT="19050" marB="19050" anchor="ctr">
                    <a:solidFill>
                      <a:srgbClr val="FFFFFF"/>
                    </a:solidFill>
                  </a:tcPr>
                </a:tc>
                <a:tc>
                  <a:txBody>
                    <a:bodyPr wrap="none"/>
                    <a:lstStyle/>
                    <a:p>
                      <a:pPr algn="l"/>
                      <a:r>
                        <a:rPr sz="800" b="1">
                          <a:solidFill>
                            <a:srgbClr val="2E7D32"/>
                          </a:solidFill>
                          <a:latin typeface="Calibri"/>
                        </a:rPr>
                        <a:t>▲ 11.3%</a:t>
                      </a:r>
                    </a:p>
                  </a:txBody>
                  <a:tcPr marL="85725" marR="38100" marT="19050" marB="19050" anchor="ctr">
                    <a:solidFill>
                      <a:srgbClr val="FFFFFF"/>
                    </a:solidFill>
                  </a:tcPr>
                </a:tc>
                <a:tc>
                  <a:txBody>
                    <a:bodyPr wrap="none"/>
                    <a:lstStyle/>
                    <a:p>
                      <a:pPr algn="l"/>
                      <a:r>
                        <a:rPr sz="800" b="1">
                          <a:solidFill>
                            <a:srgbClr val="2E7D32"/>
                          </a:solidFill>
                          <a:latin typeface="Calibri"/>
                        </a:rPr>
                        <a:t>▲ 10.8%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800" b="1">
                          <a:solidFill>
                            <a:srgbClr val="A86F00"/>
                          </a:solidFill>
                          <a:latin typeface="Calibri"/>
                        </a:rPr>
                        <a:t>▶ 14.4%</a:t>
                      </a:r>
                    </a:p>
                  </a:txBody>
                  <a:tcPr marL="85725" marR="38100" marT="19050" marB="19050" anchor="ctr">
                    <a:solidFill>
                      <a:srgbClr val="F5F8FA"/>
                    </a:solidFill>
                  </a:tcPr>
                </a:tc>
                <a:tc>
                  <a:txBody>
                    <a:bodyPr wrap="none"/>
                    <a:lstStyle/>
                    <a:p>
                      <a:pPr algn="l"/>
                      <a:r>
                        <a:rPr sz="800" b="1">
                          <a:solidFill>
                            <a:srgbClr val="A86F00"/>
                          </a:solidFill>
                          <a:latin typeface="Calibri"/>
                        </a:rPr>
                        <a:t>▶ 21.3%</a:t>
                      </a:r>
                    </a:p>
                  </a:txBody>
                  <a:tcPr marL="85725" marR="38100" marT="19050" marB="19050" anchor="ctr">
                    <a:solidFill>
                      <a:srgbClr val="F5F8FA"/>
                    </a:solidFill>
                  </a:tcPr>
                </a:tc>
                <a:tc>
                  <a:txBody>
                    <a:bodyPr wrap="none"/>
                    <a:lstStyle/>
                    <a:p>
                      <a:pPr algn="l"/>
                      <a:r>
                        <a:rPr sz="800" b="1">
                          <a:solidFill>
                            <a:srgbClr val="A86F00"/>
                          </a:solidFill>
                          <a:latin typeface="Calibri"/>
                        </a:rPr>
                        <a:t>▶ 25.1%</a:t>
                      </a:r>
                    </a:p>
                  </a:txBody>
                  <a:tcPr marL="85725" marR="38100" marT="19050" marB="19050" anchor="ctr">
                    <a:solidFill>
                      <a:srgbClr val="F5F8FA"/>
                    </a:solidFill>
                  </a:tcPr>
                </a:tc>
                <a:tc>
                  <a:txBody>
                    <a:bodyPr wrap="none"/>
                    <a:lstStyle/>
                    <a:p>
                      <a:pPr algn="l"/>
                      <a:r>
                        <a:rPr sz="800" b="1">
                          <a:solidFill>
                            <a:srgbClr val="A86F00"/>
                          </a:solidFill>
                          <a:latin typeface="Calibri"/>
                        </a:rPr>
                        <a:t>▶ 22.4%</a:t>
                      </a:r>
                    </a:p>
                  </a:txBody>
                  <a:tcPr marL="85725" marR="38100" marT="19050" marB="19050" anchor="ctr">
                    <a:solidFill>
                      <a:srgbClr val="F5F8FA"/>
                    </a:solidFill>
                  </a:tcPr>
                </a:tc>
                <a:tc>
                  <a:txBody>
                    <a:bodyPr wrap="none"/>
                    <a:lstStyle/>
                    <a:p>
                      <a:pPr algn="l"/>
                      <a:r>
                        <a:rPr sz="800" b="1">
                          <a:solidFill>
                            <a:srgbClr val="A86F00"/>
                          </a:solidFill>
                          <a:latin typeface="Calibri"/>
                        </a:rPr>
                        <a:t>▶ 18.7%</a:t>
                      </a:r>
                    </a:p>
                  </a:txBody>
                  <a:tcPr marL="85725" marR="38100" marT="19050" marB="19050" anchor="ctr">
                    <a:solidFill>
                      <a:srgbClr val="F5F8FA"/>
                    </a:solidFill>
                  </a:tcPr>
                </a:tc>
                <a:tc>
                  <a:txBody>
                    <a:bodyPr wrap="none"/>
                    <a:lstStyle/>
                    <a:p>
                      <a:pPr algn="l"/>
                      <a:r>
                        <a:rPr sz="800" b="1">
                          <a:solidFill>
                            <a:srgbClr val="A86F00"/>
                          </a:solidFill>
                          <a:latin typeface="Calibri"/>
                        </a:rPr>
                        <a:t>▶ 16.5%</a:t>
                      </a:r>
                    </a:p>
                  </a:txBody>
                  <a:tcPr marL="85725" marR="38100" marT="19050" marB="19050" anchor="ctr">
                    <a:solidFill>
                      <a:srgbClr val="F5F8FA"/>
                    </a:solidFill>
                  </a:tcPr>
                </a:tc>
                <a:tc>
                  <a:txBody>
                    <a:bodyPr wrap="none"/>
                    <a:lstStyle/>
                    <a:p>
                      <a:pPr algn="l"/>
                      <a:r>
                        <a:rPr sz="800" b="1">
                          <a:solidFill>
                            <a:srgbClr val="A86F00"/>
                          </a:solidFill>
                          <a:latin typeface="Calibri"/>
                        </a:rPr>
                        <a:t>▶ 14.1%</a:t>
                      </a:r>
                    </a:p>
                  </a:txBody>
                  <a:tcPr marL="85725" marR="38100" marT="19050" marB="19050" anchor="ctr">
                    <a:solidFill>
                      <a:srgbClr val="F5F8FA"/>
                    </a:solidFill>
                  </a:tcPr>
                </a:tc>
                <a:tc>
                  <a:txBody>
                    <a:bodyPr wrap="none"/>
                    <a:lstStyle/>
                    <a:p>
                      <a:pPr algn="l"/>
                      <a:r>
                        <a:rPr sz="800" b="1">
                          <a:solidFill>
                            <a:srgbClr val="A86F00"/>
                          </a:solidFill>
                          <a:latin typeface="Calibri"/>
                        </a:rPr>
                        <a:t>▶ 12.5%</a:t>
                      </a:r>
                    </a:p>
                  </a:txBody>
                  <a:tcPr marL="85725" marR="38100" marT="19050" marB="19050" anchor="ctr">
                    <a:solidFill>
                      <a:srgbClr val="F5F8FA"/>
                    </a:solidFill>
                  </a:tcPr>
                </a:tc>
                <a:tc>
                  <a:txBody>
                    <a:bodyPr wrap="none"/>
                    <a:lstStyle/>
                    <a:p>
                      <a:pPr algn="l"/>
                      <a:r>
                        <a:rPr sz="800" b="1">
                          <a:solidFill>
                            <a:srgbClr val="A86F00"/>
                          </a:solidFill>
                          <a:latin typeface="Calibri"/>
                        </a:rPr>
                        <a:t>▶ 11.1%</a:t>
                      </a:r>
                    </a:p>
                  </a:txBody>
                  <a:tcPr marL="85725" marR="38100" marT="19050" marB="19050" anchor="ctr">
                    <a:solidFill>
                      <a:srgbClr val="F5F8FA"/>
                    </a:solidFill>
                  </a:tcPr>
                </a:tc>
                <a:tc>
                  <a:txBody>
                    <a:bodyPr wrap="none"/>
                    <a:lstStyle/>
                    <a:p>
                      <a:pPr algn="l"/>
                      <a:r>
                        <a:rPr sz="800" b="1">
                          <a:solidFill>
                            <a:srgbClr val="A86F00"/>
                          </a:solidFill>
                          <a:latin typeface="Calibri"/>
                        </a:rPr>
                        <a:t>▶ 9.9%</a:t>
                      </a:r>
                    </a:p>
                  </a:txBody>
                  <a:tcPr marL="85725" marR="38100" marT="19050" marB="19050" anchor="ctr">
                    <a:solidFill>
                      <a:srgbClr val="F5F8FA"/>
                    </a:solidFill>
                  </a:tcPr>
                </a:tc>
                <a:tc>
                  <a:txBody>
                    <a:bodyPr wrap="none"/>
                    <a:lstStyle/>
                    <a:p>
                      <a:pPr algn="l"/>
                      <a:r>
                        <a:rPr sz="800" b="1">
                          <a:solidFill>
                            <a:srgbClr val="A86F00"/>
                          </a:solidFill>
                          <a:latin typeface="Calibri"/>
                        </a:rPr>
                        <a:t>▶ 9.0%</a:t>
                      </a:r>
                    </a:p>
                  </a:txBody>
                  <a:tcPr marL="85725" marR="38100" marT="19050" marB="19050" anchor="ctr">
                    <a:solidFill>
                      <a:srgbClr val="F5F8FA"/>
                    </a:solidFill>
                  </a:tcPr>
                </a:tc>
                <a:tc>
                  <a:txBody>
                    <a:bodyPr wrap="none"/>
                    <a:lstStyle/>
                    <a:p>
                      <a:pPr algn="l"/>
                      <a:r>
                        <a:rPr sz="800" b="1">
                          <a:solidFill>
                            <a:srgbClr val="A86F00"/>
                          </a:solidFill>
                          <a:latin typeface="Calibri"/>
                        </a:rPr>
                        <a:t>▶ 8.1%</a:t>
                      </a:r>
                    </a:p>
                  </a:txBody>
                  <a:tcPr marL="85725" marR="38100" marT="19050" marB="19050" anchor="ctr">
                    <a:solidFill>
                      <a:srgbClr val="F5F8FA"/>
                    </a:solidFill>
                  </a:tcPr>
                </a:tc>
                <a:tc>
                  <a:txBody>
                    <a:bodyPr wrap="none"/>
                    <a:lstStyle/>
                    <a:p>
                      <a:pPr algn="l"/>
                      <a:r>
                        <a:rPr sz="800" b="1">
                          <a:solidFill>
                            <a:srgbClr val="A86F00"/>
                          </a:solidFill>
                          <a:latin typeface="Calibri"/>
                        </a:rPr>
                        <a:t>▶ 7.5%</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Idacio</a:t>
                      </a:r>
                    </a:p>
                  </a:txBody>
                  <a:tcPr marL="85725" marR="38100" marT="19050" marB="19050" anchor="ctr">
                    <a:solidFill>
                      <a:srgbClr val="FFFFFF"/>
                    </a:solidFill>
                  </a:tcPr>
                </a:tc>
                <a:tc>
                  <a:txBody>
                    <a:bodyPr wrap="none"/>
                    <a:lstStyle/>
                    <a:p>
                      <a:pPr algn="l"/>
                      <a:r>
                        <a:rPr sz="800" b="1">
                          <a:solidFill>
                            <a:srgbClr val="A86F00"/>
                          </a:solidFill>
                          <a:latin typeface="Calibri"/>
                        </a:rPr>
                        <a:t>▶ 15.6%</a:t>
                      </a:r>
                    </a:p>
                  </a:txBody>
                  <a:tcPr marL="85725" marR="38100" marT="19050" marB="19050" anchor="ctr">
                    <a:solidFill>
                      <a:srgbClr val="FFFFFF"/>
                    </a:solidFill>
                  </a:tcPr>
                </a:tc>
                <a:tc>
                  <a:txBody>
                    <a:bodyPr wrap="none"/>
                    <a:lstStyle/>
                    <a:p>
                      <a:pPr algn="l"/>
                      <a:r>
                        <a:rPr sz="800" b="1">
                          <a:solidFill>
                            <a:srgbClr val="A86F00"/>
                          </a:solidFill>
                          <a:latin typeface="Calibri"/>
                        </a:rPr>
                        <a:t>▶ 22.6%</a:t>
                      </a:r>
                    </a:p>
                  </a:txBody>
                  <a:tcPr marL="85725" marR="38100" marT="19050" marB="19050" anchor="ctr">
                    <a:solidFill>
                      <a:srgbClr val="FFFFFF"/>
                    </a:solidFill>
                  </a:tcPr>
                </a:tc>
                <a:tc>
                  <a:txBody>
                    <a:bodyPr wrap="none"/>
                    <a:lstStyle/>
                    <a:p>
                      <a:pPr algn="l"/>
                      <a:r>
                        <a:rPr sz="800" b="1">
                          <a:solidFill>
                            <a:srgbClr val="A86F00"/>
                          </a:solidFill>
                          <a:latin typeface="Calibri"/>
                        </a:rPr>
                        <a:t>▶ 26.4%</a:t>
                      </a:r>
                    </a:p>
                  </a:txBody>
                  <a:tcPr marL="85725" marR="38100" marT="19050" marB="19050" anchor="ctr">
                    <a:solidFill>
                      <a:srgbClr val="FFFFFF"/>
                    </a:solidFill>
                  </a:tcPr>
                </a:tc>
                <a:tc>
                  <a:txBody>
                    <a:bodyPr wrap="none"/>
                    <a:lstStyle/>
                    <a:p>
                      <a:pPr algn="l"/>
                      <a:r>
                        <a:rPr sz="800" b="1">
                          <a:solidFill>
                            <a:srgbClr val="A86F00"/>
                          </a:solidFill>
                          <a:latin typeface="Calibri"/>
                        </a:rPr>
                        <a:t>▶ 23.7%</a:t>
                      </a:r>
                    </a:p>
                  </a:txBody>
                  <a:tcPr marL="85725" marR="38100" marT="19050" marB="19050" anchor="ctr">
                    <a:solidFill>
                      <a:srgbClr val="FFFFFF"/>
                    </a:solidFill>
                  </a:tcPr>
                </a:tc>
                <a:tc>
                  <a:txBody>
                    <a:bodyPr wrap="none"/>
                    <a:lstStyle/>
                    <a:p>
                      <a:pPr algn="l"/>
                      <a:r>
                        <a:rPr sz="800" b="1">
                          <a:solidFill>
                            <a:srgbClr val="A86F00"/>
                          </a:solidFill>
                          <a:latin typeface="Calibri"/>
                        </a:rPr>
                        <a:t>▶ 19.9%</a:t>
                      </a:r>
                    </a:p>
                  </a:txBody>
                  <a:tcPr marL="85725" marR="38100" marT="19050" marB="19050" anchor="ctr">
                    <a:solidFill>
                      <a:srgbClr val="FFFFFF"/>
                    </a:solidFill>
                  </a:tcPr>
                </a:tc>
                <a:tc>
                  <a:txBody>
                    <a:bodyPr wrap="none"/>
                    <a:lstStyle/>
                    <a:p>
                      <a:pPr algn="l"/>
                      <a:r>
                        <a:rPr sz="800" b="1">
                          <a:solidFill>
                            <a:srgbClr val="A86F00"/>
                          </a:solidFill>
                          <a:latin typeface="Calibri"/>
                        </a:rPr>
                        <a:t>▶ 17.7%</a:t>
                      </a:r>
                    </a:p>
                  </a:txBody>
                  <a:tcPr marL="85725" marR="38100" marT="19050" marB="19050" anchor="ctr">
                    <a:solidFill>
                      <a:srgbClr val="FFFFFF"/>
                    </a:solidFill>
                  </a:tcPr>
                </a:tc>
                <a:tc>
                  <a:txBody>
                    <a:bodyPr wrap="none"/>
                    <a:lstStyle/>
                    <a:p>
                      <a:pPr algn="l"/>
                      <a:r>
                        <a:rPr sz="800" b="1">
                          <a:solidFill>
                            <a:srgbClr val="A86F00"/>
                          </a:solidFill>
                          <a:latin typeface="Calibri"/>
                        </a:rPr>
                        <a:t>▶ 15.3%</a:t>
                      </a:r>
                    </a:p>
                  </a:txBody>
                  <a:tcPr marL="85725" marR="38100" marT="19050" marB="19050" anchor="ctr">
                    <a:solidFill>
                      <a:srgbClr val="FFFFFF"/>
                    </a:solidFill>
                  </a:tcPr>
                </a:tc>
                <a:tc>
                  <a:txBody>
                    <a:bodyPr wrap="none"/>
                    <a:lstStyle/>
                    <a:p>
                      <a:pPr algn="l"/>
                      <a:r>
                        <a:rPr sz="800" b="1">
                          <a:solidFill>
                            <a:srgbClr val="A86F00"/>
                          </a:solidFill>
                          <a:latin typeface="Calibri"/>
                        </a:rPr>
                        <a:t>▶ 13.6%</a:t>
                      </a:r>
                    </a:p>
                  </a:txBody>
                  <a:tcPr marL="85725" marR="38100" marT="19050" marB="19050" anchor="ctr">
                    <a:solidFill>
                      <a:srgbClr val="FFFFFF"/>
                    </a:solidFill>
                  </a:tcPr>
                </a:tc>
                <a:tc>
                  <a:txBody>
                    <a:bodyPr wrap="none"/>
                    <a:lstStyle/>
                    <a:p>
                      <a:pPr algn="l"/>
                      <a:r>
                        <a:rPr sz="800" b="1">
                          <a:solidFill>
                            <a:srgbClr val="A86F00"/>
                          </a:solidFill>
                          <a:latin typeface="Calibri"/>
                        </a:rPr>
                        <a:t>▶ 12.2%</a:t>
                      </a:r>
                    </a:p>
                  </a:txBody>
                  <a:tcPr marL="85725" marR="38100" marT="19050" marB="19050" anchor="ctr">
                    <a:solidFill>
                      <a:srgbClr val="FFFFFF"/>
                    </a:solidFill>
                  </a:tcPr>
                </a:tc>
                <a:tc>
                  <a:txBody>
                    <a:bodyPr wrap="none"/>
                    <a:lstStyle/>
                    <a:p>
                      <a:pPr algn="l"/>
                      <a:r>
                        <a:rPr sz="800" b="1">
                          <a:solidFill>
                            <a:srgbClr val="A86F00"/>
                          </a:solidFill>
                          <a:latin typeface="Calibri"/>
                        </a:rPr>
                        <a:t>▶ 11.1%</a:t>
                      </a:r>
                    </a:p>
                  </a:txBody>
                  <a:tcPr marL="85725" marR="38100" marT="19050" marB="19050" anchor="ctr">
                    <a:solidFill>
                      <a:srgbClr val="FFFFFF"/>
                    </a:solidFill>
                  </a:tcPr>
                </a:tc>
                <a:tc>
                  <a:txBody>
                    <a:bodyPr wrap="none"/>
                    <a:lstStyle/>
                    <a:p>
                      <a:pPr algn="l"/>
                      <a:r>
                        <a:rPr sz="800" b="1">
                          <a:solidFill>
                            <a:srgbClr val="A86F00"/>
                          </a:solidFill>
                          <a:latin typeface="Calibri"/>
                        </a:rPr>
                        <a:t>▶ 10.1%</a:t>
                      </a:r>
                    </a:p>
                  </a:txBody>
                  <a:tcPr marL="85725" marR="38100" marT="19050" marB="19050" anchor="ctr">
                    <a:solidFill>
                      <a:srgbClr val="FFFFFF"/>
                    </a:solidFill>
                  </a:tcPr>
                </a:tc>
                <a:tc>
                  <a:txBody>
                    <a:bodyPr wrap="none"/>
                    <a:lstStyle/>
                    <a:p>
                      <a:pPr algn="l"/>
                      <a:r>
                        <a:rPr sz="800" b="1">
                          <a:solidFill>
                            <a:srgbClr val="A86F00"/>
                          </a:solidFill>
                          <a:latin typeface="Calibri"/>
                        </a:rPr>
                        <a:t>▶ 9.2%</a:t>
                      </a:r>
                    </a:p>
                  </a:txBody>
                  <a:tcPr marL="85725" marR="38100" marT="19050" marB="19050" anchor="ctr">
                    <a:solidFill>
                      <a:srgbClr val="FFFFFF"/>
                    </a:solidFill>
                  </a:tcPr>
                </a:tc>
                <a:tc>
                  <a:txBody>
                    <a:bodyPr wrap="none"/>
                    <a:lstStyle/>
                    <a:p>
                      <a:pPr algn="l"/>
                      <a:r>
                        <a:rPr sz="800" b="1">
                          <a:solidFill>
                            <a:srgbClr val="A86F00"/>
                          </a:solidFill>
                          <a:latin typeface="Calibri"/>
                        </a:rPr>
                        <a:t>▶ 8.6%</a:t>
                      </a:r>
                    </a:p>
                  </a:txBody>
                  <a:tcPr marL="85725" marR="38100" marT="19050" marB="19050" anchor="ctr">
                    <a:solidFill>
                      <a:srgbClr val="FFFFFF"/>
                    </a:solidFill>
                  </a:tcPr>
                </a:tc>
                <a:tc>
                  <a:txBody>
                    <a:bodyPr wrap="none"/>
                    <a:lstStyle/>
                    <a:p>
                      <a:pPr algn="l"/>
                      <a:r>
                        <a:rPr sz="800" b="1">
                          <a:solidFill>
                            <a:srgbClr val="A86F00"/>
                          </a:solidFill>
                          <a:latin typeface="Calibri"/>
                        </a:rPr>
                        <a:t>▶ 8.0%</a:t>
                      </a:r>
                    </a:p>
                  </a:txBody>
                  <a:tcPr marL="85725" marR="38100" marT="19050" marB="19050" anchor="ctr">
                    <a:solidFill>
                      <a:srgbClr val="FFFFFF"/>
                    </a:solidFill>
                  </a:tcPr>
                </a:tc>
                <a:tc>
                  <a:txBody>
                    <a:bodyPr wrap="none"/>
                    <a:lstStyle/>
                    <a:p>
                      <a:pPr algn="l"/>
                      <a:r>
                        <a:rPr sz="800" b="1">
                          <a:solidFill>
                            <a:srgbClr val="A86F00"/>
                          </a:solidFill>
                          <a:latin typeface="Calibri"/>
                        </a:rPr>
                        <a:t>▶ 7.6%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Hulio</a:t>
                      </a:r>
                    </a:p>
                  </a:txBody>
                  <a:tcPr marL="85725" marR="38100" marT="19050" marB="19050" anchor="ctr">
                    <a:solidFill>
                      <a:srgbClr val="F5F8FA"/>
                    </a:solidFill>
                  </a:tcPr>
                </a:tc>
                <a:tc>
                  <a:txBody>
                    <a:bodyPr wrap="none"/>
                    <a:lstStyle/>
                    <a:p>
                      <a:pPr algn="l"/>
                      <a:r>
                        <a:rPr sz="800" b="1">
                          <a:solidFill>
                            <a:srgbClr val="A86F00"/>
                          </a:solidFill>
                          <a:latin typeface="Calibri"/>
                        </a:rPr>
                        <a:t>▶ 15.5%</a:t>
                      </a:r>
                    </a:p>
                  </a:txBody>
                  <a:tcPr marL="85725" marR="38100" marT="19050" marB="19050" anchor="ctr">
                    <a:solidFill>
                      <a:srgbClr val="F5F8FA"/>
                    </a:solidFill>
                  </a:tcPr>
                </a:tc>
                <a:tc>
                  <a:txBody>
                    <a:bodyPr wrap="none"/>
                    <a:lstStyle/>
                    <a:p>
                      <a:pPr algn="l"/>
                      <a:r>
                        <a:rPr sz="800" b="1">
                          <a:solidFill>
                            <a:srgbClr val="A86F00"/>
                          </a:solidFill>
                          <a:latin typeface="Calibri"/>
                        </a:rPr>
                        <a:t>▶ 22.5%</a:t>
                      </a:r>
                    </a:p>
                  </a:txBody>
                  <a:tcPr marL="85725" marR="38100" marT="19050" marB="19050" anchor="ctr">
                    <a:solidFill>
                      <a:srgbClr val="F5F8FA"/>
                    </a:solidFill>
                  </a:tcPr>
                </a:tc>
                <a:tc>
                  <a:txBody>
                    <a:bodyPr wrap="none"/>
                    <a:lstStyle/>
                    <a:p>
                      <a:pPr algn="l"/>
                      <a:r>
                        <a:rPr sz="800" b="1">
                          <a:solidFill>
                            <a:srgbClr val="A86F00"/>
                          </a:solidFill>
                          <a:latin typeface="Calibri"/>
                        </a:rPr>
                        <a:t>▶ 26.4%</a:t>
                      </a:r>
                    </a:p>
                  </a:txBody>
                  <a:tcPr marL="85725" marR="38100" marT="19050" marB="19050" anchor="ctr">
                    <a:solidFill>
                      <a:srgbClr val="F5F8FA"/>
                    </a:solidFill>
                  </a:tcPr>
                </a:tc>
                <a:tc>
                  <a:txBody>
                    <a:bodyPr wrap="none"/>
                    <a:lstStyle/>
                    <a:p>
                      <a:pPr algn="l"/>
                      <a:r>
                        <a:rPr sz="800" b="1">
                          <a:solidFill>
                            <a:srgbClr val="A86F00"/>
                          </a:solidFill>
                          <a:latin typeface="Calibri"/>
                        </a:rPr>
                        <a:t>▶ 23.7%</a:t>
                      </a:r>
                    </a:p>
                  </a:txBody>
                  <a:tcPr marL="85725" marR="38100" marT="19050" marB="19050" anchor="ctr">
                    <a:solidFill>
                      <a:srgbClr val="F5F8FA"/>
                    </a:solidFill>
                  </a:tcPr>
                </a:tc>
                <a:tc>
                  <a:txBody>
                    <a:bodyPr wrap="none"/>
                    <a:lstStyle/>
                    <a:p>
                      <a:pPr algn="l"/>
                      <a:r>
                        <a:rPr sz="800" b="1">
                          <a:solidFill>
                            <a:srgbClr val="A86F00"/>
                          </a:solidFill>
                          <a:latin typeface="Calibri"/>
                        </a:rPr>
                        <a:t>▶ 19.9%</a:t>
                      </a:r>
                    </a:p>
                  </a:txBody>
                  <a:tcPr marL="85725" marR="38100" marT="19050" marB="19050" anchor="ctr">
                    <a:solidFill>
                      <a:srgbClr val="F5F8FA"/>
                    </a:solidFill>
                  </a:tcPr>
                </a:tc>
                <a:tc>
                  <a:txBody>
                    <a:bodyPr wrap="none"/>
                    <a:lstStyle/>
                    <a:p>
                      <a:pPr algn="l"/>
                      <a:r>
                        <a:rPr sz="800" b="1">
                          <a:solidFill>
                            <a:srgbClr val="A86F00"/>
                          </a:solidFill>
                          <a:latin typeface="Calibri"/>
                        </a:rPr>
                        <a:t>▶ 17.7%</a:t>
                      </a:r>
                    </a:p>
                  </a:txBody>
                  <a:tcPr marL="85725" marR="38100" marT="19050" marB="19050" anchor="ctr">
                    <a:solidFill>
                      <a:srgbClr val="F5F8FA"/>
                    </a:solidFill>
                  </a:tcPr>
                </a:tc>
                <a:tc>
                  <a:txBody>
                    <a:bodyPr wrap="none"/>
                    <a:lstStyle/>
                    <a:p>
                      <a:pPr algn="l"/>
                      <a:r>
                        <a:rPr sz="800" b="1">
                          <a:solidFill>
                            <a:srgbClr val="A86F00"/>
                          </a:solidFill>
                          <a:latin typeface="Calibri"/>
                        </a:rPr>
                        <a:t>▶ 15.3%</a:t>
                      </a:r>
                    </a:p>
                  </a:txBody>
                  <a:tcPr marL="85725" marR="38100" marT="19050" marB="19050" anchor="ctr">
                    <a:solidFill>
                      <a:srgbClr val="F5F8FA"/>
                    </a:solidFill>
                  </a:tcPr>
                </a:tc>
                <a:tc>
                  <a:txBody>
                    <a:bodyPr wrap="none"/>
                    <a:lstStyle/>
                    <a:p>
                      <a:pPr algn="l"/>
                      <a:r>
                        <a:rPr sz="800" b="1">
                          <a:solidFill>
                            <a:srgbClr val="A86F00"/>
                          </a:solidFill>
                          <a:latin typeface="Calibri"/>
                        </a:rPr>
                        <a:t>▶ 13.6%</a:t>
                      </a:r>
                    </a:p>
                  </a:txBody>
                  <a:tcPr marL="85725" marR="38100" marT="19050" marB="19050" anchor="ctr">
                    <a:solidFill>
                      <a:srgbClr val="F5F8FA"/>
                    </a:solidFill>
                  </a:tcPr>
                </a:tc>
                <a:tc>
                  <a:txBody>
                    <a:bodyPr wrap="none"/>
                    <a:lstStyle/>
                    <a:p>
                      <a:pPr algn="l"/>
                      <a:r>
                        <a:rPr sz="800" b="1">
                          <a:solidFill>
                            <a:srgbClr val="A86F00"/>
                          </a:solidFill>
                          <a:latin typeface="Calibri"/>
                        </a:rPr>
                        <a:t>▶ 12.2%</a:t>
                      </a:r>
                    </a:p>
                  </a:txBody>
                  <a:tcPr marL="85725" marR="38100" marT="19050" marB="19050" anchor="ctr">
                    <a:solidFill>
                      <a:srgbClr val="F5F8FA"/>
                    </a:solidFill>
                  </a:tcPr>
                </a:tc>
                <a:tc>
                  <a:txBody>
                    <a:bodyPr wrap="none"/>
                    <a:lstStyle/>
                    <a:p>
                      <a:pPr algn="l"/>
                      <a:r>
                        <a:rPr sz="800" b="1">
                          <a:solidFill>
                            <a:srgbClr val="A86F00"/>
                          </a:solidFill>
                          <a:latin typeface="Calibri"/>
                        </a:rPr>
                        <a:t>▶ 11.1%</a:t>
                      </a:r>
                    </a:p>
                  </a:txBody>
                  <a:tcPr marL="85725" marR="38100" marT="19050" marB="19050" anchor="ctr">
                    <a:solidFill>
                      <a:srgbClr val="F5F8FA"/>
                    </a:solidFill>
                  </a:tcPr>
                </a:tc>
                <a:tc>
                  <a:txBody>
                    <a:bodyPr wrap="none"/>
                    <a:lstStyle/>
                    <a:p>
                      <a:pPr algn="l"/>
                      <a:r>
                        <a:rPr sz="800" b="1">
                          <a:solidFill>
                            <a:srgbClr val="A86F00"/>
                          </a:solidFill>
                          <a:latin typeface="Calibri"/>
                        </a:rPr>
                        <a:t>▶ 10.1%</a:t>
                      </a:r>
                    </a:p>
                  </a:txBody>
                  <a:tcPr marL="85725" marR="38100" marT="19050" marB="19050" anchor="ctr">
                    <a:solidFill>
                      <a:srgbClr val="F5F8FA"/>
                    </a:solidFill>
                  </a:tcPr>
                </a:tc>
                <a:tc>
                  <a:txBody>
                    <a:bodyPr wrap="none"/>
                    <a:lstStyle/>
                    <a:p>
                      <a:pPr algn="l"/>
                      <a:r>
                        <a:rPr sz="800" b="1">
                          <a:solidFill>
                            <a:srgbClr val="A86F00"/>
                          </a:solidFill>
                          <a:latin typeface="Calibri"/>
                        </a:rPr>
                        <a:t>▶ 9.2%</a:t>
                      </a:r>
                    </a:p>
                  </a:txBody>
                  <a:tcPr marL="85725" marR="38100" marT="19050" marB="19050" anchor="ctr">
                    <a:solidFill>
                      <a:srgbClr val="F5F8FA"/>
                    </a:solidFill>
                  </a:tcPr>
                </a:tc>
                <a:tc>
                  <a:txBody>
                    <a:bodyPr wrap="none"/>
                    <a:lstStyle/>
                    <a:p>
                      <a:pPr algn="l"/>
                      <a:r>
                        <a:rPr sz="800" b="1">
                          <a:solidFill>
                            <a:srgbClr val="A86F00"/>
                          </a:solidFill>
                          <a:latin typeface="Calibri"/>
                        </a:rPr>
                        <a:t>▶ 8.6%</a:t>
                      </a:r>
                    </a:p>
                  </a:txBody>
                  <a:tcPr marL="85725" marR="38100" marT="19050" marB="19050" anchor="ctr">
                    <a:solidFill>
                      <a:srgbClr val="F5F8FA"/>
                    </a:solidFill>
                  </a:tcPr>
                </a:tc>
                <a:tc>
                  <a:txBody>
                    <a:bodyPr wrap="none"/>
                    <a:lstStyle/>
                    <a:p>
                      <a:pPr algn="l"/>
                      <a:r>
                        <a:rPr sz="800" b="1">
                          <a:solidFill>
                            <a:srgbClr val="A86F00"/>
                          </a:solidFill>
                          <a:latin typeface="Calibri"/>
                        </a:rPr>
                        <a:t>▶ 8.0%</a:t>
                      </a:r>
                    </a:p>
                  </a:txBody>
                  <a:tcPr marL="85725" marR="38100" marT="19050" marB="19050" anchor="ctr">
                    <a:solidFill>
                      <a:srgbClr val="F5F8FA"/>
                    </a:solidFill>
                  </a:tcPr>
                </a:tc>
                <a:tc>
                  <a:txBody>
                    <a:bodyPr wrap="none"/>
                    <a:lstStyle/>
                    <a:p>
                      <a:pPr algn="l"/>
                      <a:r>
                        <a:rPr sz="800" b="1">
                          <a:solidFill>
                            <a:srgbClr val="A86F00"/>
                          </a:solidFill>
                          <a:latin typeface="Calibri"/>
                        </a:rPr>
                        <a:t>▶ 7.6%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800" b="1">
                          <a:solidFill>
                            <a:srgbClr val="2E7D32"/>
                          </a:solidFill>
                          <a:latin typeface="Calibri"/>
                        </a:rPr>
                        <a:t>▲ 18.6%</a:t>
                      </a:r>
                    </a:p>
                  </a:txBody>
                  <a:tcPr marL="85725" marR="38100" marT="19050" marB="19050" anchor="ctr">
                    <a:solidFill>
                      <a:srgbClr val="FFFFFF"/>
                    </a:solidFill>
                  </a:tcPr>
                </a:tc>
                <a:tc>
                  <a:txBody>
                    <a:bodyPr wrap="none"/>
                    <a:lstStyle/>
                    <a:p>
                      <a:pPr algn="l"/>
                      <a:r>
                        <a:rPr sz="800" b="1">
                          <a:solidFill>
                            <a:srgbClr val="2E7D32"/>
                          </a:solidFill>
                          <a:latin typeface="Calibri"/>
                        </a:rPr>
                        <a:t>▲ 25.8%</a:t>
                      </a:r>
                    </a:p>
                  </a:txBody>
                  <a:tcPr marL="85725" marR="38100" marT="19050" marB="19050" anchor="ctr">
                    <a:solidFill>
                      <a:srgbClr val="FFFFFF"/>
                    </a:solidFill>
                  </a:tcPr>
                </a:tc>
                <a:tc>
                  <a:txBody>
                    <a:bodyPr wrap="none"/>
                    <a:lstStyle/>
                    <a:p>
                      <a:pPr algn="l"/>
                      <a:r>
                        <a:rPr sz="800" b="1">
                          <a:solidFill>
                            <a:srgbClr val="2E7D32"/>
                          </a:solidFill>
                          <a:latin typeface="Calibri"/>
                        </a:rPr>
                        <a:t>▲ 29.7%</a:t>
                      </a:r>
                    </a:p>
                  </a:txBody>
                  <a:tcPr marL="85725" marR="38100" marT="19050" marB="19050" anchor="ctr">
                    <a:solidFill>
                      <a:srgbClr val="FFFFFF"/>
                    </a:solidFill>
                  </a:tcPr>
                </a:tc>
                <a:tc>
                  <a:txBody>
                    <a:bodyPr wrap="none"/>
                    <a:lstStyle/>
                    <a:p>
                      <a:pPr algn="l"/>
                      <a:r>
                        <a:rPr sz="800" b="1">
                          <a:solidFill>
                            <a:srgbClr val="2E7D32"/>
                          </a:solidFill>
                          <a:latin typeface="Calibri"/>
                        </a:rPr>
                        <a:t>▲ 26.9%</a:t>
                      </a:r>
                    </a:p>
                  </a:txBody>
                  <a:tcPr marL="85725" marR="38100" marT="19050" marB="19050" anchor="ctr">
                    <a:solidFill>
                      <a:srgbClr val="FFFFFF"/>
                    </a:solidFill>
                  </a:tcPr>
                </a:tc>
                <a:tc>
                  <a:txBody>
                    <a:bodyPr wrap="none"/>
                    <a:lstStyle/>
                    <a:p>
                      <a:pPr algn="l"/>
                      <a:r>
                        <a:rPr sz="800" b="1">
                          <a:solidFill>
                            <a:srgbClr val="2E7D32"/>
                          </a:solidFill>
                          <a:latin typeface="Calibri"/>
                        </a:rPr>
                        <a:t>▲ 23.1%</a:t>
                      </a:r>
                    </a:p>
                  </a:txBody>
                  <a:tcPr marL="85725" marR="38100" marT="19050" marB="19050" anchor="ctr">
                    <a:solidFill>
                      <a:srgbClr val="FFFFFF"/>
                    </a:solidFill>
                  </a:tcPr>
                </a:tc>
                <a:tc>
                  <a:txBody>
                    <a:bodyPr wrap="none"/>
                    <a:lstStyle/>
                    <a:p>
                      <a:pPr algn="l"/>
                      <a:r>
                        <a:rPr sz="800" b="1">
                          <a:solidFill>
                            <a:srgbClr val="2E7D32"/>
                          </a:solidFill>
                          <a:latin typeface="Calibri"/>
                        </a:rPr>
                        <a:t>▲ 20.8%</a:t>
                      </a:r>
                    </a:p>
                  </a:txBody>
                  <a:tcPr marL="85725" marR="38100" marT="19050" marB="19050" anchor="ctr">
                    <a:solidFill>
                      <a:srgbClr val="FFFFFF"/>
                    </a:solidFill>
                  </a:tcPr>
                </a:tc>
                <a:tc>
                  <a:txBody>
                    <a:bodyPr wrap="none"/>
                    <a:lstStyle/>
                    <a:p>
                      <a:pPr algn="l"/>
                      <a:r>
                        <a:rPr sz="800" b="1">
                          <a:solidFill>
                            <a:srgbClr val="2E7D32"/>
                          </a:solidFill>
                          <a:latin typeface="Calibri"/>
                        </a:rPr>
                        <a:t>▲ 18.3%</a:t>
                      </a:r>
                    </a:p>
                  </a:txBody>
                  <a:tcPr marL="85725" marR="38100" marT="19050" marB="19050" anchor="ctr">
                    <a:solidFill>
                      <a:srgbClr val="FFFFFF"/>
                    </a:solidFill>
                  </a:tcPr>
                </a:tc>
                <a:tc>
                  <a:txBody>
                    <a:bodyPr wrap="none"/>
                    <a:lstStyle/>
                    <a:p>
                      <a:pPr algn="l"/>
                      <a:r>
                        <a:rPr sz="800" b="1">
                          <a:solidFill>
                            <a:srgbClr val="2E7D32"/>
                          </a:solidFill>
                          <a:latin typeface="Calibri"/>
                        </a:rPr>
                        <a:t>▲ 16.6%</a:t>
                      </a:r>
                    </a:p>
                  </a:txBody>
                  <a:tcPr marL="85725" marR="38100" marT="19050" marB="19050" anchor="ctr">
                    <a:solidFill>
                      <a:srgbClr val="FFFFFF"/>
                    </a:solidFill>
                  </a:tcPr>
                </a:tc>
                <a:tc>
                  <a:txBody>
                    <a:bodyPr wrap="none"/>
                    <a:lstStyle/>
                    <a:p>
                      <a:pPr algn="l"/>
                      <a:r>
                        <a:rPr sz="800" b="1">
                          <a:solidFill>
                            <a:srgbClr val="2E7D32"/>
                          </a:solidFill>
                          <a:latin typeface="Calibri"/>
                        </a:rPr>
                        <a:t>▲ 15.2%</a:t>
                      </a:r>
                    </a:p>
                  </a:txBody>
                  <a:tcPr marL="85725" marR="38100" marT="19050" marB="19050" anchor="ctr">
                    <a:solidFill>
                      <a:srgbClr val="FFFFFF"/>
                    </a:solidFill>
                  </a:tcPr>
                </a:tc>
                <a:tc>
                  <a:txBody>
                    <a:bodyPr wrap="none"/>
                    <a:lstStyle/>
                    <a:p>
                      <a:pPr algn="l"/>
                      <a:r>
                        <a:rPr sz="800" b="1">
                          <a:solidFill>
                            <a:srgbClr val="2E7D32"/>
                          </a:solidFill>
                          <a:latin typeface="Calibri"/>
                        </a:rPr>
                        <a:t>▲ 14.0%</a:t>
                      </a:r>
                    </a:p>
                  </a:txBody>
                  <a:tcPr marL="85725" marR="38100" marT="19050" marB="19050" anchor="ctr">
                    <a:solidFill>
                      <a:srgbClr val="FFFFFF"/>
                    </a:solidFill>
                  </a:tcPr>
                </a:tc>
                <a:tc>
                  <a:txBody>
                    <a:bodyPr wrap="none"/>
                    <a:lstStyle/>
                    <a:p>
                      <a:pPr algn="l"/>
                      <a:r>
                        <a:rPr sz="800" b="1">
                          <a:solidFill>
                            <a:srgbClr val="2E7D32"/>
                          </a:solidFill>
                          <a:latin typeface="Calibri"/>
                        </a:rPr>
                        <a:t>▲ 13.0%</a:t>
                      </a:r>
                    </a:p>
                  </a:txBody>
                  <a:tcPr marL="85725" marR="38100" marT="19050" marB="19050" anchor="ctr">
                    <a:solidFill>
                      <a:srgbClr val="FFFFFF"/>
                    </a:solidFill>
                  </a:tcPr>
                </a:tc>
                <a:tc>
                  <a:txBody>
                    <a:bodyPr wrap="none"/>
                    <a:lstStyle/>
                    <a:p>
                      <a:pPr algn="l"/>
                      <a:r>
                        <a:rPr sz="800" b="1">
                          <a:solidFill>
                            <a:srgbClr val="2E7D32"/>
                          </a:solidFill>
                          <a:latin typeface="Calibri"/>
                        </a:rPr>
                        <a:t>▲ 12.1%</a:t>
                      </a:r>
                    </a:p>
                  </a:txBody>
                  <a:tcPr marL="85725" marR="38100" marT="19050" marB="19050" anchor="ctr">
                    <a:solidFill>
                      <a:srgbClr val="FFFFFF"/>
                    </a:solidFill>
                  </a:tcPr>
                </a:tc>
                <a:tc>
                  <a:txBody>
                    <a:bodyPr wrap="none"/>
                    <a:lstStyle/>
                    <a:p>
                      <a:pPr algn="l"/>
                      <a:r>
                        <a:rPr sz="800" b="1">
                          <a:solidFill>
                            <a:srgbClr val="2E7D32"/>
                          </a:solidFill>
                          <a:latin typeface="Calibri"/>
                        </a:rPr>
                        <a:t>▲ 11.4%</a:t>
                      </a:r>
                    </a:p>
                  </a:txBody>
                  <a:tcPr marL="85725" marR="38100" marT="19050" marB="19050" anchor="ctr">
                    <a:solidFill>
                      <a:srgbClr val="FFFFFF"/>
                    </a:solidFill>
                  </a:tcPr>
                </a:tc>
                <a:tc>
                  <a:txBody>
                    <a:bodyPr wrap="none"/>
                    <a:lstStyle/>
                    <a:p>
                      <a:pPr algn="l"/>
                      <a:r>
                        <a:rPr sz="800" b="1">
                          <a:solidFill>
                            <a:srgbClr val="2E7D32"/>
                          </a:solidFill>
                          <a:latin typeface="Calibri"/>
                        </a:rPr>
                        <a:t>▲ 10.9%</a:t>
                      </a:r>
                    </a:p>
                  </a:txBody>
                  <a:tcPr marL="85725" marR="38100" marT="19050" marB="19050" anchor="ctr">
                    <a:solidFill>
                      <a:srgbClr val="FFFFFF"/>
                    </a:solidFill>
                  </a:tcPr>
                </a:tc>
                <a:tc>
                  <a:txBody>
                    <a:bodyPr wrap="none"/>
                    <a:lstStyle/>
                    <a:p>
                      <a:pPr algn="l"/>
                      <a:r>
                        <a:rPr sz="800" b="1">
                          <a:solidFill>
                            <a:srgbClr val="2E7D32"/>
                          </a:solidFill>
                          <a:latin typeface="Calibri"/>
                        </a:rPr>
                        <a:t>▲ 10.4%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Yusimry</a:t>
                      </a:r>
                    </a:p>
                  </a:txBody>
                  <a:tcPr marL="85725" marR="38100" marT="19050" marB="19050" anchor="ctr">
                    <a:solidFill>
                      <a:srgbClr val="F5F8FA"/>
                    </a:solidFill>
                  </a:tcPr>
                </a:tc>
                <a:tc>
                  <a:txBody>
                    <a:bodyPr wrap="none"/>
                    <a:lstStyle/>
                    <a:p>
                      <a:pPr algn="l"/>
                      <a:r>
                        <a:rPr sz="800" b="1">
                          <a:solidFill>
                            <a:srgbClr val="A86F00"/>
                          </a:solidFill>
                          <a:latin typeface="Calibri"/>
                        </a:rPr>
                        <a:t>▶ 14.9%</a:t>
                      </a:r>
                    </a:p>
                  </a:txBody>
                  <a:tcPr marL="85725" marR="38100" marT="19050" marB="19050" anchor="ctr">
                    <a:solidFill>
                      <a:srgbClr val="F5F8FA"/>
                    </a:solidFill>
                  </a:tcPr>
                </a:tc>
                <a:tc>
                  <a:txBody>
                    <a:bodyPr wrap="none"/>
                    <a:lstStyle/>
                    <a:p>
                      <a:pPr algn="l"/>
                      <a:r>
                        <a:rPr sz="800" b="1">
                          <a:solidFill>
                            <a:srgbClr val="A86F00"/>
                          </a:solidFill>
                          <a:latin typeface="Calibri"/>
                        </a:rPr>
                        <a:t>▶ 21.8%</a:t>
                      </a:r>
                    </a:p>
                  </a:txBody>
                  <a:tcPr marL="85725" marR="38100" marT="19050" marB="19050" anchor="ctr">
                    <a:solidFill>
                      <a:srgbClr val="F5F8FA"/>
                    </a:solidFill>
                  </a:tcPr>
                </a:tc>
                <a:tc>
                  <a:txBody>
                    <a:bodyPr wrap="none"/>
                    <a:lstStyle/>
                    <a:p>
                      <a:pPr algn="l"/>
                      <a:r>
                        <a:rPr sz="800" b="1">
                          <a:solidFill>
                            <a:srgbClr val="A86F00"/>
                          </a:solidFill>
                          <a:latin typeface="Calibri"/>
                        </a:rPr>
                        <a:t>▶ 25.7%</a:t>
                      </a:r>
                    </a:p>
                  </a:txBody>
                  <a:tcPr marL="85725" marR="38100" marT="19050" marB="19050" anchor="ctr">
                    <a:solidFill>
                      <a:srgbClr val="F5F8FA"/>
                    </a:solidFill>
                  </a:tcPr>
                </a:tc>
                <a:tc>
                  <a:txBody>
                    <a:bodyPr wrap="none"/>
                    <a:lstStyle/>
                    <a:p>
                      <a:pPr algn="l"/>
                      <a:r>
                        <a:rPr sz="800" b="1">
                          <a:solidFill>
                            <a:srgbClr val="A86F00"/>
                          </a:solidFill>
                          <a:latin typeface="Calibri"/>
                        </a:rPr>
                        <a:t>▶ 23.0%</a:t>
                      </a:r>
                    </a:p>
                  </a:txBody>
                  <a:tcPr marL="85725" marR="38100" marT="19050" marB="19050" anchor="ctr">
                    <a:solidFill>
                      <a:srgbClr val="F5F8FA"/>
                    </a:solidFill>
                  </a:tcPr>
                </a:tc>
                <a:tc>
                  <a:txBody>
                    <a:bodyPr wrap="none"/>
                    <a:lstStyle/>
                    <a:p>
                      <a:pPr algn="l"/>
                      <a:r>
                        <a:rPr sz="800" b="1">
                          <a:solidFill>
                            <a:srgbClr val="A86F00"/>
                          </a:solidFill>
                          <a:latin typeface="Calibri"/>
                        </a:rPr>
                        <a:t>▶ 19.2%</a:t>
                      </a:r>
                    </a:p>
                  </a:txBody>
                  <a:tcPr marL="85725" marR="38100" marT="19050" marB="19050" anchor="ctr">
                    <a:solidFill>
                      <a:srgbClr val="F5F8FA"/>
                    </a:solidFill>
                  </a:tcPr>
                </a:tc>
                <a:tc>
                  <a:txBody>
                    <a:bodyPr wrap="none"/>
                    <a:lstStyle/>
                    <a:p>
                      <a:pPr algn="l"/>
                      <a:r>
                        <a:rPr sz="800" b="1">
                          <a:solidFill>
                            <a:srgbClr val="A86F00"/>
                          </a:solidFill>
                          <a:latin typeface="Calibri"/>
                        </a:rPr>
                        <a:t>▶ 17.0%</a:t>
                      </a:r>
                    </a:p>
                  </a:txBody>
                  <a:tcPr marL="85725" marR="38100" marT="19050" marB="19050" anchor="ctr">
                    <a:solidFill>
                      <a:srgbClr val="F5F8FA"/>
                    </a:solidFill>
                  </a:tcPr>
                </a:tc>
                <a:tc>
                  <a:txBody>
                    <a:bodyPr wrap="none"/>
                    <a:lstStyle/>
                    <a:p>
                      <a:pPr algn="l"/>
                      <a:r>
                        <a:rPr sz="800" b="1">
                          <a:solidFill>
                            <a:srgbClr val="A86F00"/>
                          </a:solidFill>
                          <a:latin typeface="Calibri"/>
                        </a:rPr>
                        <a:t>▶ 14.6%</a:t>
                      </a:r>
                    </a:p>
                  </a:txBody>
                  <a:tcPr marL="85725" marR="38100" marT="19050" marB="19050" anchor="ctr">
                    <a:solidFill>
                      <a:srgbClr val="F5F8FA"/>
                    </a:solidFill>
                  </a:tcPr>
                </a:tc>
                <a:tc>
                  <a:txBody>
                    <a:bodyPr wrap="none"/>
                    <a:lstStyle/>
                    <a:p>
                      <a:pPr algn="l"/>
                      <a:r>
                        <a:rPr sz="800" b="1">
                          <a:solidFill>
                            <a:srgbClr val="A86F00"/>
                          </a:solidFill>
                          <a:latin typeface="Calibri"/>
                        </a:rPr>
                        <a:t>▶ 12.9%</a:t>
                      </a:r>
                    </a:p>
                  </a:txBody>
                  <a:tcPr marL="85725" marR="38100" marT="19050" marB="19050" anchor="ctr">
                    <a:solidFill>
                      <a:srgbClr val="F5F8FA"/>
                    </a:solidFill>
                  </a:tcPr>
                </a:tc>
                <a:tc>
                  <a:txBody>
                    <a:bodyPr wrap="none"/>
                    <a:lstStyle/>
                    <a:p>
                      <a:pPr algn="l"/>
                      <a:r>
                        <a:rPr sz="800" b="1">
                          <a:solidFill>
                            <a:srgbClr val="A86F00"/>
                          </a:solidFill>
                          <a:latin typeface="Calibri"/>
                        </a:rPr>
                        <a:t>▶ 11.6%</a:t>
                      </a:r>
                    </a:p>
                  </a:txBody>
                  <a:tcPr marL="85725" marR="38100" marT="19050" marB="19050" anchor="ctr">
                    <a:solidFill>
                      <a:srgbClr val="F5F8FA"/>
                    </a:solidFill>
                  </a:tcPr>
                </a:tc>
                <a:tc>
                  <a:txBody>
                    <a:bodyPr wrap="none"/>
                    <a:lstStyle/>
                    <a:p>
                      <a:pPr algn="l"/>
                      <a:r>
                        <a:rPr sz="800" b="1">
                          <a:solidFill>
                            <a:srgbClr val="A86F00"/>
                          </a:solidFill>
                          <a:latin typeface="Calibri"/>
                        </a:rPr>
                        <a:t>▶ 10.4%</a:t>
                      </a:r>
                    </a:p>
                  </a:txBody>
                  <a:tcPr marL="85725" marR="38100" marT="19050" marB="19050" anchor="ctr">
                    <a:solidFill>
                      <a:srgbClr val="F5F8FA"/>
                    </a:solidFill>
                  </a:tcPr>
                </a:tc>
                <a:tc>
                  <a:txBody>
                    <a:bodyPr wrap="none"/>
                    <a:lstStyle/>
                    <a:p>
                      <a:pPr algn="l"/>
                      <a:r>
                        <a:rPr sz="800" b="1">
                          <a:solidFill>
                            <a:srgbClr val="A86F00"/>
                          </a:solidFill>
                          <a:latin typeface="Calibri"/>
                        </a:rPr>
                        <a:t>▶ 9.4%</a:t>
                      </a:r>
                    </a:p>
                  </a:txBody>
                  <a:tcPr marL="85725" marR="38100" marT="19050" marB="19050" anchor="ctr">
                    <a:solidFill>
                      <a:srgbClr val="F5F8FA"/>
                    </a:solidFill>
                  </a:tcPr>
                </a:tc>
                <a:tc>
                  <a:txBody>
                    <a:bodyPr wrap="none"/>
                    <a:lstStyle/>
                    <a:p>
                      <a:pPr algn="l"/>
                      <a:r>
                        <a:rPr sz="800" b="1">
                          <a:solidFill>
                            <a:srgbClr val="A86F00"/>
                          </a:solidFill>
                          <a:latin typeface="Calibri"/>
                        </a:rPr>
                        <a:t>▶ 8.6%</a:t>
                      </a:r>
                    </a:p>
                  </a:txBody>
                  <a:tcPr marL="85725" marR="38100" marT="19050" marB="19050" anchor="ctr">
                    <a:solidFill>
                      <a:srgbClr val="F5F8FA"/>
                    </a:solidFill>
                  </a:tcPr>
                </a:tc>
                <a:tc>
                  <a:txBody>
                    <a:bodyPr wrap="none"/>
                    <a:lstStyle/>
                    <a:p>
                      <a:pPr algn="l"/>
                      <a:r>
                        <a:rPr sz="800" b="1">
                          <a:solidFill>
                            <a:srgbClr val="A86F00"/>
                          </a:solidFill>
                          <a:latin typeface="Calibri"/>
                        </a:rPr>
                        <a:t>▶ 7.9%</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Yuflyma</a:t>
                      </a:r>
                    </a:p>
                  </a:txBody>
                  <a:tcPr marL="85725" marR="38100" marT="19050" marB="19050" anchor="ctr">
                    <a:solidFill>
                      <a:srgbClr val="FFFFFF"/>
                    </a:solidFill>
                  </a:tcPr>
                </a:tc>
                <a:tc>
                  <a:txBody>
                    <a:bodyPr wrap="none"/>
                    <a:lstStyle/>
                    <a:p>
                      <a:pPr algn="l"/>
                      <a:r>
                        <a:rPr sz="800" b="1">
                          <a:solidFill>
                            <a:srgbClr val="A86F00"/>
                          </a:solidFill>
                          <a:latin typeface="Calibri"/>
                        </a:rPr>
                        <a:t>▶ 16.1%</a:t>
                      </a:r>
                    </a:p>
                  </a:txBody>
                  <a:tcPr marL="85725" marR="38100" marT="19050" marB="19050" anchor="ctr">
                    <a:solidFill>
                      <a:srgbClr val="FFFFFF"/>
                    </a:solidFill>
                  </a:tcPr>
                </a:tc>
                <a:tc>
                  <a:txBody>
                    <a:bodyPr wrap="none"/>
                    <a:lstStyle/>
                    <a:p>
                      <a:pPr algn="l"/>
                      <a:r>
                        <a:rPr sz="800" b="1">
                          <a:solidFill>
                            <a:srgbClr val="A86F00"/>
                          </a:solidFill>
                          <a:latin typeface="Calibri"/>
                        </a:rPr>
                        <a:t>▶ 23.1%</a:t>
                      </a:r>
                    </a:p>
                  </a:txBody>
                  <a:tcPr marL="85725" marR="38100" marT="19050" marB="19050" anchor="ctr">
                    <a:solidFill>
                      <a:srgbClr val="FFFFFF"/>
                    </a:solidFill>
                  </a:tcPr>
                </a:tc>
                <a:tc>
                  <a:txBody>
                    <a:bodyPr wrap="none"/>
                    <a:lstStyle/>
                    <a:p>
                      <a:pPr algn="l"/>
                      <a:r>
                        <a:rPr sz="800" b="1">
                          <a:solidFill>
                            <a:srgbClr val="A86F00"/>
                          </a:solidFill>
                          <a:latin typeface="Calibri"/>
                        </a:rPr>
                        <a:t>▶ 27.0%</a:t>
                      </a:r>
                    </a:p>
                  </a:txBody>
                  <a:tcPr marL="85725" marR="38100" marT="19050" marB="19050" anchor="ctr">
                    <a:solidFill>
                      <a:srgbClr val="FFFFFF"/>
                    </a:solidFill>
                  </a:tcPr>
                </a:tc>
                <a:tc>
                  <a:txBody>
                    <a:bodyPr wrap="none"/>
                    <a:lstStyle/>
                    <a:p>
                      <a:pPr algn="l"/>
                      <a:r>
                        <a:rPr sz="800" b="1">
                          <a:solidFill>
                            <a:srgbClr val="A86F00"/>
                          </a:solidFill>
                          <a:latin typeface="Calibri"/>
                        </a:rPr>
                        <a:t>▶ 24.3%</a:t>
                      </a:r>
                    </a:p>
                  </a:txBody>
                  <a:tcPr marL="85725" marR="38100" marT="19050" marB="19050" anchor="ctr">
                    <a:solidFill>
                      <a:srgbClr val="FFFFFF"/>
                    </a:solidFill>
                  </a:tcPr>
                </a:tc>
                <a:tc>
                  <a:txBody>
                    <a:bodyPr wrap="none"/>
                    <a:lstStyle/>
                    <a:p>
                      <a:pPr algn="l"/>
                      <a:r>
                        <a:rPr sz="800" b="1">
                          <a:solidFill>
                            <a:srgbClr val="A86F00"/>
                          </a:solidFill>
                          <a:latin typeface="Calibri"/>
                        </a:rPr>
                        <a:t>▶ 20.5%</a:t>
                      </a:r>
                    </a:p>
                  </a:txBody>
                  <a:tcPr marL="85725" marR="38100" marT="19050" marB="19050" anchor="ctr">
                    <a:solidFill>
                      <a:srgbClr val="FFFFFF"/>
                    </a:solidFill>
                  </a:tcPr>
                </a:tc>
                <a:tc>
                  <a:txBody>
                    <a:bodyPr wrap="none"/>
                    <a:lstStyle/>
                    <a:p>
                      <a:pPr algn="l"/>
                      <a:r>
                        <a:rPr sz="800" b="1">
                          <a:solidFill>
                            <a:srgbClr val="A86F00"/>
                          </a:solidFill>
                          <a:latin typeface="Calibri"/>
                        </a:rPr>
                        <a:t>▶ 18.3%</a:t>
                      </a:r>
                    </a:p>
                  </a:txBody>
                  <a:tcPr marL="85725" marR="38100" marT="19050" marB="19050" anchor="ctr">
                    <a:solidFill>
                      <a:srgbClr val="FFFFFF"/>
                    </a:solidFill>
                  </a:tcPr>
                </a:tc>
                <a:tc>
                  <a:txBody>
                    <a:bodyPr wrap="none"/>
                    <a:lstStyle/>
                    <a:p>
                      <a:pPr algn="l"/>
                      <a:r>
                        <a:rPr sz="800" b="1">
                          <a:solidFill>
                            <a:srgbClr val="A86F00"/>
                          </a:solidFill>
                          <a:latin typeface="Calibri"/>
                        </a:rPr>
                        <a:t>▶ 15.8%</a:t>
                      </a:r>
                    </a:p>
                  </a:txBody>
                  <a:tcPr marL="85725" marR="38100" marT="19050" marB="19050" anchor="ctr">
                    <a:solidFill>
                      <a:srgbClr val="FFFFFF"/>
                    </a:solidFill>
                  </a:tcPr>
                </a:tc>
                <a:tc>
                  <a:txBody>
                    <a:bodyPr wrap="none"/>
                    <a:lstStyle/>
                    <a:p>
                      <a:pPr algn="l"/>
                      <a:r>
                        <a:rPr sz="800" b="1">
                          <a:solidFill>
                            <a:srgbClr val="A86F00"/>
                          </a:solidFill>
                          <a:latin typeface="Calibri"/>
                        </a:rPr>
                        <a:t>▶ 14.1%</a:t>
                      </a:r>
                    </a:p>
                  </a:txBody>
                  <a:tcPr marL="85725" marR="38100" marT="19050" marB="19050" anchor="ctr">
                    <a:solidFill>
                      <a:srgbClr val="FFFFFF"/>
                    </a:solidFill>
                  </a:tcPr>
                </a:tc>
                <a:tc>
                  <a:txBody>
                    <a:bodyPr wrap="none"/>
                    <a:lstStyle/>
                    <a:p>
                      <a:pPr algn="l"/>
                      <a:r>
                        <a:rPr sz="800" b="1">
                          <a:solidFill>
                            <a:srgbClr val="A86F00"/>
                          </a:solidFill>
                          <a:latin typeface="Calibri"/>
                        </a:rPr>
                        <a:t>▶ 12.8%</a:t>
                      </a:r>
                    </a:p>
                  </a:txBody>
                  <a:tcPr marL="85725" marR="38100" marT="19050" marB="19050" anchor="ctr">
                    <a:solidFill>
                      <a:srgbClr val="FFFFFF"/>
                    </a:solidFill>
                  </a:tcPr>
                </a:tc>
                <a:tc>
                  <a:txBody>
                    <a:bodyPr wrap="none"/>
                    <a:lstStyle/>
                    <a:p>
                      <a:pPr algn="l"/>
                      <a:r>
                        <a:rPr sz="800" b="1">
                          <a:solidFill>
                            <a:srgbClr val="A86F00"/>
                          </a:solidFill>
                          <a:latin typeface="Calibri"/>
                        </a:rPr>
                        <a:t>▶ 11.6%</a:t>
                      </a:r>
                    </a:p>
                  </a:txBody>
                  <a:tcPr marL="85725" marR="38100" marT="19050" marB="19050" anchor="ctr">
                    <a:solidFill>
                      <a:srgbClr val="FFFFFF"/>
                    </a:solidFill>
                  </a:tcPr>
                </a:tc>
                <a:tc>
                  <a:txBody>
                    <a:bodyPr wrap="none"/>
                    <a:lstStyle/>
                    <a:p>
                      <a:pPr algn="l"/>
                      <a:r>
                        <a:rPr sz="800" b="1">
                          <a:solidFill>
                            <a:srgbClr val="A86F00"/>
                          </a:solidFill>
                          <a:latin typeface="Calibri"/>
                        </a:rPr>
                        <a:t>▶ 10.6%</a:t>
                      </a:r>
                    </a:p>
                  </a:txBody>
                  <a:tcPr marL="85725" marR="38100" marT="19050" marB="19050" anchor="ctr">
                    <a:solidFill>
                      <a:srgbClr val="FFFFFF"/>
                    </a:solidFill>
                  </a:tcPr>
                </a:tc>
                <a:tc>
                  <a:txBody>
                    <a:bodyPr wrap="none"/>
                    <a:lstStyle/>
                    <a:p>
                      <a:pPr algn="l"/>
                      <a:r>
                        <a:rPr sz="800" b="1">
                          <a:solidFill>
                            <a:srgbClr val="A86F00"/>
                          </a:solidFill>
                          <a:latin typeface="Calibri"/>
                        </a:rPr>
                        <a:t>▶ 9.7%</a:t>
                      </a:r>
                    </a:p>
                  </a:txBody>
                  <a:tcPr marL="85725" marR="38100" marT="19050" marB="19050" anchor="ctr">
                    <a:solidFill>
                      <a:srgbClr val="FFFFFF"/>
                    </a:solidFill>
                  </a:tcPr>
                </a:tc>
                <a:tc>
                  <a:txBody>
                    <a:bodyPr wrap="none"/>
                    <a:lstStyle/>
                    <a:p>
                      <a:pPr algn="l"/>
                      <a:r>
                        <a:rPr sz="800" b="1">
                          <a:solidFill>
                            <a:srgbClr val="A86F00"/>
                          </a:solidFill>
                          <a:latin typeface="Calibri"/>
                        </a:rPr>
                        <a:t>▶ 9.1%</a:t>
                      </a:r>
                    </a:p>
                  </a:txBody>
                  <a:tcPr marL="85725" marR="38100" marT="19050" marB="19050" anchor="ctr">
                    <a:solidFill>
                      <a:srgbClr val="FFFFFF"/>
                    </a:solidFill>
                  </a:tcPr>
                </a:tc>
                <a:tc>
                  <a:txBody>
                    <a:bodyPr wrap="none"/>
                    <a:lstStyle/>
                    <a:p>
                      <a:pPr algn="l"/>
                      <a:r>
                        <a:rPr sz="800" b="1">
                          <a:solidFill>
                            <a:srgbClr val="A86F00"/>
                          </a:solidFill>
                          <a:latin typeface="Calibri"/>
                        </a:rPr>
                        <a:t>▶ 8.5%</a:t>
                      </a:r>
                    </a:p>
                  </a:txBody>
                  <a:tcPr marL="85725" marR="38100" marT="19050" marB="19050" anchor="ctr">
                    <a:solidFill>
                      <a:srgbClr val="FFFFFF"/>
                    </a:solidFill>
                  </a:tcPr>
                </a:tc>
                <a:tc>
                  <a:txBody>
                    <a:bodyPr wrap="none"/>
                    <a:lstStyle/>
                    <a:p>
                      <a:pPr algn="l"/>
                      <a:r>
                        <a:rPr sz="800" b="1">
                          <a:solidFill>
                            <a:srgbClr val="A86F00"/>
                          </a:solidFill>
                          <a:latin typeface="Calibri"/>
                        </a:rPr>
                        <a:t>▶ 8.1%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Simlandi</a:t>
                      </a:r>
                    </a:p>
                  </a:txBody>
                  <a:tcPr marL="85725" marR="38100" marT="19050" marB="19050" anchor="ctr">
                    <a:solidFill>
                      <a:srgbClr val="F5F8FA"/>
                    </a:solidFill>
                  </a:tcPr>
                </a:tc>
                <a:tc>
                  <a:txBody>
                    <a:bodyPr wrap="none"/>
                    <a:lstStyle/>
                    <a:p>
                      <a:pPr algn="l"/>
                      <a:r>
                        <a:rPr sz="800" b="1">
                          <a:solidFill>
                            <a:srgbClr val="2E7D32"/>
                          </a:solidFill>
                          <a:latin typeface="Calibri"/>
                        </a:rPr>
                        <a:t>▲ 19.4%</a:t>
                      </a:r>
                    </a:p>
                  </a:txBody>
                  <a:tcPr marL="85725" marR="38100" marT="19050" marB="19050" anchor="ctr">
                    <a:solidFill>
                      <a:srgbClr val="F5F8FA"/>
                    </a:solidFill>
                  </a:tcPr>
                </a:tc>
                <a:tc>
                  <a:txBody>
                    <a:bodyPr wrap="none"/>
                    <a:lstStyle/>
                    <a:p>
                      <a:pPr algn="l"/>
                      <a:r>
                        <a:rPr sz="800" b="1">
                          <a:solidFill>
                            <a:srgbClr val="2E7D32"/>
                          </a:solidFill>
                          <a:latin typeface="Calibri"/>
                        </a:rPr>
                        <a:t>▲ 26.7%</a:t>
                      </a:r>
                    </a:p>
                  </a:txBody>
                  <a:tcPr marL="85725" marR="38100" marT="19050" marB="19050" anchor="ctr">
                    <a:solidFill>
                      <a:srgbClr val="F5F8FA"/>
                    </a:solidFill>
                  </a:tcPr>
                </a:tc>
                <a:tc>
                  <a:txBody>
                    <a:bodyPr wrap="none"/>
                    <a:lstStyle/>
                    <a:p>
                      <a:pPr algn="l"/>
                      <a:r>
                        <a:rPr sz="800" b="1">
                          <a:solidFill>
                            <a:srgbClr val="2E7D32"/>
                          </a:solidFill>
                          <a:latin typeface="Calibri"/>
                        </a:rPr>
                        <a:t>▲ 30.7%</a:t>
                      </a:r>
                    </a:p>
                  </a:txBody>
                  <a:tcPr marL="85725" marR="38100" marT="19050" marB="19050" anchor="ctr">
                    <a:solidFill>
                      <a:srgbClr val="F5F8FA"/>
                    </a:solidFill>
                  </a:tcPr>
                </a:tc>
                <a:tc>
                  <a:txBody>
                    <a:bodyPr wrap="none"/>
                    <a:lstStyle/>
                    <a:p>
                      <a:pPr algn="l"/>
                      <a:r>
                        <a:rPr sz="800" b="1">
                          <a:solidFill>
                            <a:srgbClr val="2E7D32"/>
                          </a:solidFill>
                          <a:latin typeface="Calibri"/>
                        </a:rPr>
                        <a:t>▲ 27.9%</a:t>
                      </a:r>
                    </a:p>
                  </a:txBody>
                  <a:tcPr marL="85725" marR="38100" marT="19050" marB="19050" anchor="ctr">
                    <a:solidFill>
                      <a:srgbClr val="F5F8FA"/>
                    </a:solidFill>
                  </a:tcPr>
                </a:tc>
                <a:tc>
                  <a:txBody>
                    <a:bodyPr wrap="none"/>
                    <a:lstStyle/>
                    <a:p>
                      <a:pPr algn="l"/>
                      <a:r>
                        <a:rPr sz="800" b="1">
                          <a:solidFill>
                            <a:srgbClr val="2E7D32"/>
                          </a:solidFill>
                          <a:latin typeface="Calibri"/>
                        </a:rPr>
                        <a:t>▲ 24.0%</a:t>
                      </a:r>
                    </a:p>
                  </a:txBody>
                  <a:tcPr marL="85725" marR="38100" marT="19050" marB="19050" anchor="ctr">
                    <a:solidFill>
                      <a:srgbClr val="F5F8FA"/>
                    </a:solidFill>
                  </a:tcPr>
                </a:tc>
                <a:tc>
                  <a:txBody>
                    <a:bodyPr wrap="none"/>
                    <a:lstStyle/>
                    <a:p>
                      <a:pPr algn="l"/>
                      <a:r>
                        <a:rPr sz="800" b="1">
                          <a:solidFill>
                            <a:srgbClr val="2E7D32"/>
                          </a:solidFill>
                          <a:latin typeface="Calibri"/>
                        </a:rPr>
                        <a:t>▲ 21.7%</a:t>
                      </a:r>
                    </a:p>
                  </a:txBody>
                  <a:tcPr marL="85725" marR="38100" marT="19050" marB="19050" anchor="ctr">
                    <a:solidFill>
                      <a:srgbClr val="F5F8FA"/>
                    </a:solidFill>
                  </a:tcPr>
                </a:tc>
                <a:tc>
                  <a:txBody>
                    <a:bodyPr wrap="none"/>
                    <a:lstStyle/>
                    <a:p>
                      <a:pPr algn="l"/>
                      <a:r>
                        <a:rPr sz="800" b="1">
                          <a:solidFill>
                            <a:srgbClr val="2E7D32"/>
                          </a:solidFill>
                          <a:latin typeface="Calibri"/>
                        </a:rPr>
                        <a:t>▲ 19.2%</a:t>
                      </a:r>
                    </a:p>
                  </a:txBody>
                  <a:tcPr marL="85725" marR="38100" marT="19050" marB="19050" anchor="ctr">
                    <a:solidFill>
                      <a:srgbClr val="F5F8FA"/>
                    </a:solidFill>
                  </a:tcPr>
                </a:tc>
                <a:tc>
                  <a:txBody>
                    <a:bodyPr wrap="none"/>
                    <a:lstStyle/>
                    <a:p>
                      <a:pPr algn="l"/>
                      <a:r>
                        <a:rPr sz="800" b="1">
                          <a:solidFill>
                            <a:srgbClr val="2E7D32"/>
                          </a:solidFill>
                          <a:latin typeface="Calibri"/>
                        </a:rPr>
                        <a:t>▲ 17.4%</a:t>
                      </a:r>
                    </a:p>
                  </a:txBody>
                  <a:tcPr marL="85725" marR="38100" marT="19050" marB="19050" anchor="ctr">
                    <a:solidFill>
                      <a:srgbClr val="F5F8FA"/>
                    </a:solidFill>
                  </a:tcPr>
                </a:tc>
                <a:tc>
                  <a:txBody>
                    <a:bodyPr wrap="none"/>
                    <a:lstStyle/>
                    <a:p>
                      <a:pPr algn="l"/>
                      <a:r>
                        <a:rPr sz="800" b="1">
                          <a:solidFill>
                            <a:srgbClr val="2E7D32"/>
                          </a:solidFill>
                          <a:latin typeface="Calibri"/>
                        </a:rPr>
                        <a:t>▲ 16.0%</a:t>
                      </a:r>
                    </a:p>
                  </a:txBody>
                  <a:tcPr marL="85725" marR="38100" marT="19050" marB="19050" anchor="ctr">
                    <a:solidFill>
                      <a:srgbClr val="F5F8FA"/>
                    </a:solidFill>
                  </a:tcPr>
                </a:tc>
                <a:tc>
                  <a:txBody>
                    <a:bodyPr wrap="none"/>
                    <a:lstStyle/>
                    <a:p>
                      <a:pPr algn="l"/>
                      <a:r>
                        <a:rPr sz="800" b="1">
                          <a:solidFill>
                            <a:srgbClr val="2E7D32"/>
                          </a:solidFill>
                          <a:latin typeface="Calibri"/>
                        </a:rPr>
                        <a:t>▲ 14.8%</a:t>
                      </a:r>
                    </a:p>
                  </a:txBody>
                  <a:tcPr marL="85725" marR="38100" marT="19050" marB="19050" anchor="ctr">
                    <a:solidFill>
                      <a:srgbClr val="F5F8FA"/>
                    </a:solidFill>
                  </a:tcPr>
                </a:tc>
                <a:tc>
                  <a:txBody>
                    <a:bodyPr wrap="none"/>
                    <a:lstStyle/>
                    <a:p>
                      <a:pPr algn="l"/>
                      <a:r>
                        <a:rPr sz="800" b="1">
                          <a:solidFill>
                            <a:srgbClr val="2E7D32"/>
                          </a:solidFill>
                          <a:latin typeface="Calibri"/>
                        </a:rPr>
                        <a:t>▲ 13.8%</a:t>
                      </a:r>
                    </a:p>
                  </a:txBody>
                  <a:tcPr marL="85725" marR="38100" marT="19050" marB="19050" anchor="ctr">
                    <a:solidFill>
                      <a:srgbClr val="F5F8FA"/>
                    </a:solidFill>
                  </a:tcPr>
                </a:tc>
                <a:tc>
                  <a:txBody>
                    <a:bodyPr wrap="none"/>
                    <a:lstStyle/>
                    <a:p>
                      <a:pPr algn="l"/>
                      <a:r>
                        <a:rPr sz="800" b="1">
                          <a:solidFill>
                            <a:srgbClr val="2E7D32"/>
                          </a:solidFill>
                          <a:latin typeface="Calibri"/>
                        </a:rPr>
                        <a:t>▲ 12.9%</a:t>
                      </a:r>
                    </a:p>
                  </a:txBody>
                  <a:tcPr marL="85725" marR="38100" marT="19050" marB="19050" anchor="ctr">
                    <a:solidFill>
                      <a:srgbClr val="F5F8FA"/>
                    </a:solidFill>
                  </a:tcPr>
                </a:tc>
                <a:tc>
                  <a:txBody>
                    <a:bodyPr wrap="none"/>
                    <a:lstStyle/>
                    <a:p>
                      <a:pPr algn="l"/>
                      <a:r>
                        <a:rPr sz="800" b="1">
                          <a:solidFill>
                            <a:srgbClr val="2E7D32"/>
                          </a:solidFill>
                          <a:latin typeface="Calibri"/>
                        </a:rPr>
                        <a:t>▲ 12.2%</a:t>
                      </a:r>
                    </a:p>
                  </a:txBody>
                  <a:tcPr marL="85725" marR="38100" marT="19050" marB="19050" anchor="ctr">
                    <a:solidFill>
                      <a:srgbClr val="F5F8FA"/>
                    </a:solidFill>
                  </a:tcPr>
                </a:tc>
                <a:tc>
                  <a:txBody>
                    <a:bodyPr wrap="none"/>
                    <a:lstStyle/>
                    <a:p>
                      <a:pPr algn="l"/>
                      <a:r>
                        <a:rPr sz="800" b="1">
                          <a:solidFill>
                            <a:srgbClr val="2E7D32"/>
                          </a:solidFill>
                          <a:latin typeface="Calibri"/>
                        </a:rPr>
                        <a:t>▲ 11.7%</a:t>
                      </a:r>
                    </a:p>
                  </a:txBody>
                  <a:tcPr marL="85725" marR="38100" marT="19050" marB="19050" anchor="ctr">
                    <a:solidFill>
                      <a:srgbClr val="F5F8FA"/>
                    </a:solidFill>
                  </a:tcPr>
                </a:tc>
                <a:tc>
                  <a:txBody>
                    <a:bodyPr wrap="none"/>
                    <a:lstStyle/>
                    <a:p>
                      <a:pPr algn="l"/>
                      <a:r>
                        <a:rPr sz="800" b="1">
                          <a:solidFill>
                            <a:srgbClr val="2E7D32"/>
                          </a:solidFill>
                          <a:latin typeface="Calibri"/>
                        </a:rPr>
                        <a:t>▲ 11.2%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800" b="1">
                          <a:solidFill>
                            <a:srgbClr val="A86F00"/>
                          </a:solidFill>
                          <a:latin typeface="Calibri"/>
                        </a:rPr>
                        <a:t>▶ 16.5%</a:t>
                      </a:r>
                    </a:p>
                  </a:txBody>
                  <a:tcPr marL="85725" marR="38100" marT="19050" marB="19050" anchor="ctr">
                    <a:solidFill>
                      <a:srgbClr val="FFFFFF"/>
                    </a:solidFill>
                  </a:tcPr>
                </a:tc>
                <a:tc>
                  <a:txBody>
                    <a:bodyPr wrap="none"/>
                    <a:lstStyle/>
                    <a:p>
                      <a:pPr algn="l"/>
                      <a:r>
                        <a:rPr sz="800" b="1">
                          <a:solidFill>
                            <a:srgbClr val="A86F00"/>
                          </a:solidFill>
                          <a:latin typeface="Calibri"/>
                        </a:rPr>
                        <a:t>▶ 23.5%</a:t>
                      </a:r>
                    </a:p>
                  </a:txBody>
                  <a:tcPr marL="85725" marR="38100" marT="19050" marB="19050" anchor="ctr">
                    <a:solidFill>
                      <a:srgbClr val="FFFFFF"/>
                    </a:solidFill>
                  </a:tcPr>
                </a:tc>
                <a:tc>
                  <a:txBody>
                    <a:bodyPr wrap="none"/>
                    <a:lstStyle/>
                    <a:p>
                      <a:pPr algn="l"/>
                      <a:r>
                        <a:rPr sz="800" b="1">
                          <a:solidFill>
                            <a:srgbClr val="A86F00"/>
                          </a:solidFill>
                          <a:latin typeface="Calibri"/>
                        </a:rPr>
                        <a:t>▶ 27.4%</a:t>
                      </a:r>
                    </a:p>
                  </a:txBody>
                  <a:tcPr marL="85725" marR="38100" marT="19050" marB="19050" anchor="ctr">
                    <a:solidFill>
                      <a:srgbClr val="FFFFFF"/>
                    </a:solidFill>
                  </a:tcPr>
                </a:tc>
                <a:tc>
                  <a:txBody>
                    <a:bodyPr wrap="none"/>
                    <a:lstStyle/>
                    <a:p>
                      <a:pPr algn="l"/>
                      <a:r>
                        <a:rPr sz="800" b="1">
                          <a:solidFill>
                            <a:srgbClr val="A86F00"/>
                          </a:solidFill>
                          <a:latin typeface="Calibri"/>
                        </a:rPr>
                        <a:t>▶ 24.7%</a:t>
                      </a:r>
                    </a:p>
                  </a:txBody>
                  <a:tcPr marL="85725" marR="38100" marT="19050" marB="19050" anchor="ctr">
                    <a:solidFill>
                      <a:srgbClr val="FFFFFF"/>
                    </a:solidFill>
                  </a:tcPr>
                </a:tc>
                <a:tc>
                  <a:txBody>
                    <a:bodyPr wrap="none"/>
                    <a:lstStyle/>
                    <a:p>
                      <a:pPr algn="l"/>
                      <a:r>
                        <a:rPr sz="800" b="1">
                          <a:solidFill>
                            <a:srgbClr val="A86F00"/>
                          </a:solidFill>
                          <a:latin typeface="Calibri"/>
                        </a:rPr>
                        <a:t>▶ 20.9%</a:t>
                      </a:r>
                    </a:p>
                  </a:txBody>
                  <a:tcPr marL="85725" marR="38100" marT="19050" marB="19050" anchor="ctr">
                    <a:solidFill>
                      <a:srgbClr val="FFFFFF"/>
                    </a:solidFill>
                  </a:tcPr>
                </a:tc>
                <a:tc>
                  <a:txBody>
                    <a:bodyPr wrap="none"/>
                    <a:lstStyle/>
                    <a:p>
                      <a:pPr algn="l"/>
                      <a:r>
                        <a:rPr sz="800" b="1">
                          <a:solidFill>
                            <a:srgbClr val="A86F00"/>
                          </a:solidFill>
                          <a:latin typeface="Calibri"/>
                        </a:rPr>
                        <a:t>▶ 18.6%</a:t>
                      </a:r>
                    </a:p>
                  </a:txBody>
                  <a:tcPr marL="85725" marR="38100" marT="19050" marB="19050" anchor="ctr">
                    <a:solidFill>
                      <a:srgbClr val="FFFFFF"/>
                    </a:solidFill>
                  </a:tcPr>
                </a:tc>
                <a:tc>
                  <a:txBody>
                    <a:bodyPr wrap="none"/>
                    <a:lstStyle/>
                    <a:p>
                      <a:pPr algn="l"/>
                      <a:r>
                        <a:rPr sz="800" b="1">
                          <a:solidFill>
                            <a:srgbClr val="A86F00"/>
                          </a:solidFill>
                          <a:latin typeface="Calibri"/>
                        </a:rPr>
                        <a:t>▶ 16.2%</a:t>
                      </a:r>
                    </a:p>
                  </a:txBody>
                  <a:tcPr marL="85725" marR="38100" marT="19050" marB="19050" anchor="ctr">
                    <a:solidFill>
                      <a:srgbClr val="FFFFFF"/>
                    </a:solidFill>
                  </a:tcPr>
                </a:tc>
                <a:tc>
                  <a:txBody>
                    <a:bodyPr wrap="none"/>
                    <a:lstStyle/>
                    <a:p>
                      <a:pPr algn="l"/>
                      <a:r>
                        <a:rPr sz="800" b="1">
                          <a:solidFill>
                            <a:srgbClr val="A86F00"/>
                          </a:solidFill>
                          <a:latin typeface="Calibri"/>
                        </a:rPr>
                        <a:t>▶ 14.5%</a:t>
                      </a:r>
                    </a:p>
                  </a:txBody>
                  <a:tcPr marL="85725" marR="38100" marT="19050" marB="19050" anchor="ctr">
                    <a:solidFill>
                      <a:srgbClr val="FFFFFF"/>
                    </a:solidFill>
                  </a:tcPr>
                </a:tc>
                <a:tc>
                  <a:txBody>
                    <a:bodyPr wrap="none"/>
                    <a:lstStyle/>
                    <a:p>
                      <a:pPr algn="l"/>
                      <a:r>
                        <a:rPr sz="800" b="1">
                          <a:solidFill>
                            <a:srgbClr val="A86F00"/>
                          </a:solidFill>
                          <a:latin typeface="Calibri"/>
                        </a:rPr>
                        <a:t>▶ 13.1%</a:t>
                      </a:r>
                    </a:p>
                  </a:txBody>
                  <a:tcPr marL="85725" marR="38100" marT="19050" marB="19050" anchor="ctr">
                    <a:solidFill>
                      <a:srgbClr val="FFFFFF"/>
                    </a:solidFill>
                  </a:tcPr>
                </a:tc>
                <a:tc>
                  <a:txBody>
                    <a:bodyPr wrap="none"/>
                    <a:lstStyle/>
                    <a:p>
                      <a:pPr algn="l"/>
                      <a:r>
                        <a:rPr sz="800" b="1">
                          <a:solidFill>
                            <a:srgbClr val="A86F00"/>
                          </a:solidFill>
                          <a:latin typeface="Calibri"/>
                        </a:rPr>
                        <a:t>▶ 11.9%</a:t>
                      </a:r>
                    </a:p>
                  </a:txBody>
                  <a:tcPr marL="85725" marR="38100" marT="19050" marB="19050" anchor="ctr">
                    <a:solidFill>
                      <a:srgbClr val="FFFFFF"/>
                    </a:solidFill>
                  </a:tcPr>
                </a:tc>
                <a:tc>
                  <a:txBody>
                    <a:bodyPr wrap="none"/>
                    <a:lstStyle/>
                    <a:p>
                      <a:pPr algn="l"/>
                      <a:r>
                        <a:rPr sz="800" b="1">
                          <a:solidFill>
                            <a:srgbClr val="A86F00"/>
                          </a:solidFill>
                          <a:latin typeface="Calibri"/>
                        </a:rPr>
                        <a:t>▶ 11.0%</a:t>
                      </a:r>
                    </a:p>
                  </a:txBody>
                  <a:tcPr marL="85725" marR="38100" marT="19050" marB="19050" anchor="ctr">
                    <a:solidFill>
                      <a:srgbClr val="FFFFFF"/>
                    </a:solidFill>
                  </a:tcPr>
                </a:tc>
                <a:tc>
                  <a:txBody>
                    <a:bodyPr wrap="none"/>
                    <a:lstStyle/>
                    <a:p>
                      <a:pPr algn="l"/>
                      <a:r>
                        <a:rPr sz="800" b="1">
                          <a:solidFill>
                            <a:srgbClr val="A86F00"/>
                          </a:solidFill>
                          <a:latin typeface="Calibri"/>
                        </a:rPr>
                        <a:t>▶ 10.1%</a:t>
                      </a:r>
                    </a:p>
                  </a:txBody>
                  <a:tcPr marL="85725" marR="38100" marT="19050" marB="19050" anchor="ctr">
                    <a:solidFill>
                      <a:srgbClr val="FFFFFF"/>
                    </a:solidFill>
                  </a:tcPr>
                </a:tc>
                <a:tc>
                  <a:txBody>
                    <a:bodyPr wrap="none"/>
                    <a:lstStyle/>
                    <a:p>
                      <a:pPr algn="l"/>
                      <a:r>
                        <a:rPr sz="800" b="1">
                          <a:solidFill>
                            <a:srgbClr val="A86F00"/>
                          </a:solidFill>
                          <a:latin typeface="Calibri"/>
                        </a:rPr>
                        <a:t>▶ 9.4%</a:t>
                      </a:r>
                    </a:p>
                  </a:txBody>
                  <a:tcPr marL="85725" marR="38100" marT="19050" marB="19050" anchor="ctr">
                    <a:solidFill>
                      <a:srgbClr val="FFFFFF"/>
                    </a:solidFill>
                  </a:tcPr>
                </a:tc>
                <a:tc>
                  <a:txBody>
                    <a:bodyPr wrap="none"/>
                    <a:lstStyle/>
                    <a:p>
                      <a:pPr algn="l"/>
                      <a:r>
                        <a:rPr sz="800" b="1">
                          <a:solidFill>
                            <a:srgbClr val="A86F00"/>
                          </a:solidFill>
                          <a:latin typeface="Calibri"/>
                        </a:rPr>
                        <a:t>▶ 8.9%</a:t>
                      </a:r>
                    </a:p>
                  </a:txBody>
                  <a:tcPr marL="85725" marR="38100" marT="19050" marB="19050" anchor="ctr">
                    <a:solidFill>
                      <a:srgbClr val="FFFFFF"/>
                    </a:solidFill>
                  </a:tcPr>
                </a:tc>
                <a:tc>
                  <a:txBody>
                    <a:bodyPr wrap="none"/>
                    <a:lstStyle/>
                    <a:p>
                      <a:pPr algn="l"/>
                      <a:r>
                        <a:rPr sz="800" b="1">
                          <a:solidFill>
                            <a:srgbClr val="A86F00"/>
                          </a:solidFill>
                          <a:latin typeface="Calibri"/>
                        </a:rPr>
                        <a:t>▶ 8.4%</a:t>
                      </a:r>
                    </a:p>
                  </a:txBody>
                  <a:tcPr marL="85725" marR="38100" marT="19050" marB="19050" anchor="ctr">
                    <a:solidFill>
                      <a:srgbClr val="FFFFFF"/>
                    </a:solidFill>
                  </a:tcPr>
                </a:tc>
              </a:tr>
            </a:tbl>
          </a:graphicData>
        </a:graphic>
      </p:graphicFrame>
      <p:sp>
        <p:nvSpPr>
          <p:cNvPr id="14" name="TextBox 13"/>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ectangle 1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7" name="Rounded Rectangle 1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9" name="Rounded Rectangle 1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Volume, By Product Type x Therapeutic Application (%)   ·   (continued 2/2)</a:t>
            </a:r>
          </a:p>
        </p:txBody>
      </p:sp>
      <p:sp>
        <p:nvSpPr>
          <p:cNvPr id="10" name="Rounded Rectangle 9"/>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YoY Heatmap, By Product Type x Therapeutic Application (%)  ·  light = lower, dark = higher growth</a:t>
            </a:r>
          </a:p>
        </p:txBody>
      </p:sp>
      <p:sp>
        <p:nvSpPr>
          <p:cNvPr id="12" name="TextBox 11"/>
          <p:cNvSpPr txBox="1"/>
          <p:nvPr/>
        </p:nvSpPr>
        <p:spPr>
          <a:xfrm>
            <a:off x="185737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3" name="TextBox 12"/>
          <p:cNvSpPr txBox="1"/>
          <p:nvPr/>
        </p:nvSpPr>
        <p:spPr>
          <a:xfrm>
            <a:off x="250126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14" name="TextBox 13"/>
          <p:cNvSpPr txBox="1"/>
          <p:nvPr/>
        </p:nvSpPr>
        <p:spPr>
          <a:xfrm>
            <a:off x="314515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15" name="TextBox 14"/>
          <p:cNvSpPr txBox="1"/>
          <p:nvPr/>
        </p:nvSpPr>
        <p:spPr>
          <a:xfrm>
            <a:off x="378904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16" name="TextBox 15"/>
          <p:cNvSpPr txBox="1"/>
          <p:nvPr/>
        </p:nvSpPr>
        <p:spPr>
          <a:xfrm>
            <a:off x="443293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17" name="TextBox 16"/>
          <p:cNvSpPr txBox="1"/>
          <p:nvPr/>
        </p:nvSpPr>
        <p:spPr>
          <a:xfrm>
            <a:off x="507682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18" name="TextBox 17"/>
          <p:cNvSpPr txBox="1"/>
          <p:nvPr/>
        </p:nvSpPr>
        <p:spPr>
          <a:xfrm>
            <a:off x="572071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19" name="TextBox 18"/>
          <p:cNvSpPr txBox="1"/>
          <p:nvPr/>
        </p:nvSpPr>
        <p:spPr>
          <a:xfrm>
            <a:off x="636460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0" name="TextBox 19"/>
          <p:cNvSpPr txBox="1"/>
          <p:nvPr/>
        </p:nvSpPr>
        <p:spPr>
          <a:xfrm>
            <a:off x="700849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1" name="TextBox 20"/>
          <p:cNvSpPr txBox="1"/>
          <p:nvPr/>
        </p:nvSpPr>
        <p:spPr>
          <a:xfrm>
            <a:off x="765238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2" name="TextBox 21"/>
          <p:cNvSpPr txBox="1"/>
          <p:nvPr/>
        </p:nvSpPr>
        <p:spPr>
          <a:xfrm>
            <a:off x="829627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3" name="TextBox 22"/>
          <p:cNvSpPr txBox="1"/>
          <p:nvPr/>
        </p:nvSpPr>
        <p:spPr>
          <a:xfrm>
            <a:off x="894016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24" name="TextBox 23"/>
          <p:cNvSpPr txBox="1"/>
          <p:nvPr/>
        </p:nvSpPr>
        <p:spPr>
          <a:xfrm>
            <a:off x="958405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25" name="TextBox 24"/>
          <p:cNvSpPr txBox="1"/>
          <p:nvPr/>
        </p:nvSpPr>
        <p:spPr>
          <a:xfrm>
            <a:off x="1022794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26" name="TextBox 25"/>
          <p:cNvSpPr txBox="1"/>
          <p:nvPr/>
        </p:nvSpPr>
        <p:spPr>
          <a:xfrm>
            <a:off x="1087183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27" name="TextBox 26"/>
          <p:cNvSpPr txBox="1"/>
          <p:nvPr/>
        </p:nvSpPr>
        <p:spPr>
          <a:xfrm>
            <a:off x="238125" y="1285875"/>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Amjevita / Amgevita</a:t>
            </a:r>
          </a:p>
        </p:txBody>
      </p:sp>
      <p:sp>
        <p:nvSpPr>
          <p:cNvPr id="28" name="Rectangle 27"/>
          <p:cNvSpPr/>
          <p:nvPr/>
        </p:nvSpPr>
        <p:spPr>
          <a:xfrm>
            <a:off x="1857375" y="1285875"/>
            <a:ext cx="643890" cy="489239"/>
          </a:xfrm>
          <a:prstGeom prst="rect">
            <a:avLst/>
          </a:prstGeom>
          <a:solidFill>
            <a:srgbClr val="91BC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01265" y="1285875"/>
            <a:ext cx="643890" cy="489239"/>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45155" y="1285875"/>
            <a:ext cx="643890" cy="489239"/>
          </a:xfrm>
          <a:prstGeom prst="rect">
            <a:avLst/>
          </a:prstGeom>
          <a:solidFill>
            <a:srgbClr val="0C3A5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89045" y="1285875"/>
            <a:ext cx="643890" cy="489239"/>
          </a:xfrm>
          <a:prstGeom prst="rect">
            <a:avLst/>
          </a:prstGeom>
          <a:solidFill>
            <a:srgbClr val="0E72A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2935" y="1285875"/>
            <a:ext cx="643890" cy="489239"/>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6825" y="1285875"/>
            <a:ext cx="643890" cy="489239"/>
          </a:xfrm>
          <a:prstGeom prst="rect">
            <a:avLst/>
          </a:prstGeom>
          <a:solidFill>
            <a:srgbClr val="68A6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20715" y="1285875"/>
            <a:ext cx="643890" cy="489239"/>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64605" y="1285875"/>
            <a:ext cx="643890" cy="489239"/>
          </a:xfrm>
          <a:prstGeom prst="rect">
            <a:avLst/>
          </a:prstGeom>
          <a:solidFill>
            <a:srgbClr val="AA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08495" y="1285875"/>
            <a:ext cx="643890" cy="489239"/>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652385" y="1285875"/>
            <a:ext cx="643890" cy="489239"/>
          </a:xfrm>
          <a:prstGeom prst="rect">
            <a:avLst/>
          </a:prstGeom>
          <a:solidFill>
            <a:srgbClr val="CA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96275" y="1285875"/>
            <a:ext cx="643890" cy="489239"/>
          </a:xfrm>
          <a:prstGeom prst="rect">
            <a:avLst/>
          </a:prstGeom>
          <a:solidFill>
            <a:srgbClr val="D2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40165" y="1285875"/>
            <a:ext cx="643890" cy="489239"/>
          </a:xfrm>
          <a:prstGeom prst="rect">
            <a:avLst/>
          </a:prstGeom>
          <a:solidFill>
            <a:srgbClr val="D8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84055" y="1285875"/>
            <a:ext cx="643890" cy="489239"/>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227945" y="1285875"/>
            <a:ext cx="643890" cy="489239"/>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871835" y="1285875"/>
            <a:ext cx="643890" cy="489239"/>
          </a:xfrm>
          <a:prstGeom prst="rect">
            <a:avLst/>
          </a:prstGeom>
          <a:solidFill>
            <a:srgbClr val="E4F1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8125" y="1775114"/>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Cyltezo</a:t>
            </a:r>
          </a:p>
        </p:txBody>
      </p:sp>
      <p:sp>
        <p:nvSpPr>
          <p:cNvPr id="44" name="Rectangle 43"/>
          <p:cNvSpPr/>
          <p:nvPr/>
        </p:nvSpPr>
        <p:spPr>
          <a:xfrm>
            <a:off x="1857375" y="1775114"/>
            <a:ext cx="643890" cy="489239"/>
          </a:xfrm>
          <a:prstGeom prst="rect">
            <a:avLst/>
          </a:prstGeom>
          <a:solidFill>
            <a:srgbClr val="8DBA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501265" y="1775114"/>
            <a:ext cx="643890" cy="489239"/>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145155" y="1775114"/>
            <a:ext cx="643890" cy="489239"/>
          </a:xfrm>
          <a:prstGeom prst="rect">
            <a:avLst/>
          </a:prstGeom>
          <a:solidFill>
            <a:srgbClr val="0B355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789045" y="1775114"/>
            <a:ext cx="643890" cy="489239"/>
          </a:xfrm>
          <a:prstGeom prst="rect">
            <a:avLst/>
          </a:prstGeom>
          <a:solidFill>
            <a:srgbClr val="0E6DA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432935" y="1775114"/>
            <a:ext cx="643890" cy="489239"/>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76825" y="1775114"/>
            <a:ext cx="643890" cy="489239"/>
          </a:xfrm>
          <a:prstGeom prst="rect">
            <a:avLst/>
          </a:prstGeom>
          <a:solidFill>
            <a:srgbClr val="64A4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720715" y="1775114"/>
            <a:ext cx="643890" cy="489239"/>
          </a:xfrm>
          <a:prstGeom prst="rect">
            <a:avLst/>
          </a:prstGeom>
          <a:solidFill>
            <a:srgbClr val="91BC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64605" y="1775114"/>
            <a:ext cx="643890" cy="489239"/>
          </a:xfrm>
          <a:prstGeom prst="rect">
            <a:avLst/>
          </a:prstGeom>
          <a:solidFill>
            <a:srgbClr val="A7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08495" y="1775114"/>
            <a:ext cx="643890" cy="489239"/>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652385" y="1775114"/>
            <a:ext cx="643890" cy="489239"/>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96275" y="1775114"/>
            <a:ext cx="643890" cy="489239"/>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40165" y="1775114"/>
            <a:ext cx="643890" cy="489239"/>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584055" y="1775114"/>
            <a:ext cx="643890" cy="489239"/>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227945" y="1775114"/>
            <a:ext cx="643890" cy="489239"/>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871835" y="1775114"/>
            <a:ext cx="643890" cy="489239"/>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8125" y="2264352"/>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Hadlima / Imraldi</a:t>
            </a:r>
          </a:p>
        </p:txBody>
      </p:sp>
      <p:sp>
        <p:nvSpPr>
          <p:cNvPr id="60" name="Rectangle 59"/>
          <p:cNvSpPr/>
          <p:nvPr/>
        </p:nvSpPr>
        <p:spPr>
          <a:xfrm>
            <a:off x="1857375" y="2264352"/>
            <a:ext cx="643890" cy="489239"/>
          </a:xfrm>
          <a:prstGeom prst="rect">
            <a:avLst/>
          </a:prstGeom>
          <a:solidFill>
            <a:srgbClr val="8F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501265" y="2264352"/>
            <a:ext cx="643890" cy="489239"/>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145155" y="2264352"/>
            <a:ext cx="643890" cy="489239"/>
          </a:xfrm>
          <a:prstGeom prst="rect">
            <a:avLst/>
          </a:prstGeom>
          <a:solidFill>
            <a:srgbClr val="0B375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789045" y="2264352"/>
            <a:ext cx="643890" cy="489239"/>
          </a:xfrm>
          <a:prstGeom prst="rect">
            <a:avLst/>
          </a:prstGeom>
          <a:solidFill>
            <a:srgbClr val="0E70A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432935" y="2264352"/>
            <a:ext cx="643890" cy="489239"/>
          </a:xfrm>
          <a:prstGeom prst="rect">
            <a:avLst/>
          </a:prstGeom>
          <a:solidFill>
            <a:srgbClr val="3D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76825" y="2264352"/>
            <a:ext cx="643890" cy="489239"/>
          </a:xfrm>
          <a:prstGeom prst="rect">
            <a:avLst/>
          </a:prstGeom>
          <a:solidFill>
            <a:srgbClr val="66A5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720715" y="2264352"/>
            <a:ext cx="643890" cy="489239"/>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64605" y="2264352"/>
            <a:ext cx="643890" cy="489239"/>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008495" y="2264352"/>
            <a:ext cx="643890" cy="489239"/>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652385" y="2264352"/>
            <a:ext cx="643890" cy="489239"/>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296275" y="2264352"/>
            <a:ext cx="643890" cy="489239"/>
          </a:xfrm>
          <a:prstGeom prst="rect">
            <a:avLst/>
          </a:prstGeom>
          <a:solidFill>
            <a:srgbClr val="D1E2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940165" y="2264352"/>
            <a:ext cx="643890" cy="489239"/>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584055" y="2264352"/>
            <a:ext cx="643890" cy="489239"/>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227945" y="2264352"/>
            <a:ext cx="643890" cy="489239"/>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871835" y="2264352"/>
            <a:ext cx="643890" cy="489239"/>
          </a:xfrm>
          <a:prstGeom prst="rect">
            <a:avLst/>
          </a:prstGeom>
          <a:solidFill>
            <a:srgbClr val="E3F1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38125" y="2753591"/>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Hyrimoz / Halimatoz / Hefiya</a:t>
            </a:r>
          </a:p>
        </p:txBody>
      </p:sp>
      <p:sp>
        <p:nvSpPr>
          <p:cNvPr id="76" name="Rectangle 75"/>
          <p:cNvSpPr/>
          <p:nvPr/>
        </p:nvSpPr>
        <p:spPr>
          <a:xfrm>
            <a:off x="1857375" y="2753591"/>
            <a:ext cx="643890" cy="489239"/>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501265" y="2753591"/>
            <a:ext cx="643890" cy="489239"/>
          </a:xfrm>
          <a:prstGeom prst="rect">
            <a:avLst/>
          </a:prstGeom>
          <a:solidFill>
            <a:srgbClr val="66A4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145155" y="2753591"/>
            <a:ext cx="643890" cy="489239"/>
          </a:xfrm>
          <a:prstGeom prst="rect">
            <a:avLst/>
          </a:prstGeom>
          <a:solidFill>
            <a:srgbClr val="29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789045" y="2753591"/>
            <a:ext cx="643890" cy="489239"/>
          </a:xfrm>
          <a:prstGeom prst="rect">
            <a:avLst/>
          </a:prstGeom>
          <a:solidFill>
            <a:srgbClr val="50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432935" y="2753591"/>
            <a:ext cx="643890" cy="489239"/>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076825" y="2753591"/>
            <a:ext cx="643890" cy="489239"/>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720715" y="2753591"/>
            <a:ext cx="643890" cy="489239"/>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364605" y="2753591"/>
            <a:ext cx="643890" cy="489239"/>
          </a:xfrm>
          <a:prstGeom prst="rect">
            <a:avLst/>
          </a:prstGeom>
          <a:solidFill>
            <a:srgbClr val="D8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008495" y="2753591"/>
            <a:ext cx="643890" cy="489239"/>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652385" y="2753591"/>
            <a:ext cx="643890" cy="489239"/>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296275" y="2753591"/>
            <a:ext cx="643890" cy="489239"/>
          </a:xfrm>
          <a:prstGeom prst="rect">
            <a:avLst/>
          </a:prstGeom>
          <a:solidFill>
            <a:srgbClr val="F0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940165" y="2753591"/>
            <a:ext cx="643890" cy="489239"/>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584055" y="2753591"/>
            <a:ext cx="643890" cy="489239"/>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227945" y="2753591"/>
            <a:ext cx="643890" cy="489239"/>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871835" y="2753591"/>
            <a:ext cx="643890" cy="489239"/>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38125" y="3242830"/>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Idacio</a:t>
            </a:r>
          </a:p>
        </p:txBody>
      </p:sp>
      <p:sp>
        <p:nvSpPr>
          <p:cNvPr id="92" name="Rectangle 91"/>
          <p:cNvSpPr/>
          <p:nvPr/>
        </p:nvSpPr>
        <p:spPr>
          <a:xfrm>
            <a:off x="1857375" y="3242830"/>
            <a:ext cx="643890" cy="489239"/>
          </a:xfrm>
          <a:prstGeom prst="rect">
            <a:avLst/>
          </a:prstGeom>
          <a:solidFill>
            <a:srgbClr val="BAD4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2501265" y="3242830"/>
            <a:ext cx="643890" cy="489239"/>
          </a:xfrm>
          <a:prstGeom prst="rect">
            <a:avLst/>
          </a:prstGeom>
          <a:solidFill>
            <a:srgbClr val="4E98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145155" y="3242830"/>
            <a:ext cx="643890" cy="489239"/>
          </a:xfrm>
          <a:prstGeom prst="rect">
            <a:avLst/>
          </a:prstGeom>
          <a:solidFill>
            <a:srgbClr val="19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789045" y="3242830"/>
            <a:ext cx="643890" cy="489239"/>
          </a:xfrm>
          <a:prstGeom prst="rect">
            <a:avLst/>
          </a:prstGeom>
          <a:solidFill>
            <a:srgbClr val="3B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432935" y="3242830"/>
            <a:ext cx="643890" cy="489239"/>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076825" y="3242830"/>
            <a:ext cx="643890" cy="489239"/>
          </a:xfrm>
          <a:prstGeom prst="rect">
            <a:avLst/>
          </a:prstGeom>
          <a:solidFill>
            <a:srgbClr val="A0C4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720715" y="3242830"/>
            <a:ext cx="643890" cy="489239"/>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364605" y="3242830"/>
            <a:ext cx="643890" cy="489239"/>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008495" y="3242830"/>
            <a:ext cx="643890" cy="489239"/>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652385" y="3242830"/>
            <a:ext cx="643890" cy="489239"/>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296275" y="3242830"/>
            <a:ext cx="643890" cy="489239"/>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40165" y="3242830"/>
            <a:ext cx="643890" cy="489239"/>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584055" y="3242830"/>
            <a:ext cx="643890" cy="489239"/>
          </a:xfrm>
          <a:prstGeom prst="rect">
            <a:avLst/>
          </a:prstGeom>
          <a:solidFill>
            <a:srgbClr val="F2F9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227945" y="3242830"/>
            <a:ext cx="643890" cy="489239"/>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871835" y="3242830"/>
            <a:ext cx="643890" cy="489239"/>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38125" y="3732068"/>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Hulio</a:t>
            </a:r>
          </a:p>
        </p:txBody>
      </p:sp>
      <p:sp>
        <p:nvSpPr>
          <p:cNvPr id="108" name="Rectangle 107"/>
          <p:cNvSpPr/>
          <p:nvPr/>
        </p:nvSpPr>
        <p:spPr>
          <a:xfrm>
            <a:off x="1857375" y="3732068"/>
            <a:ext cx="643890" cy="489239"/>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501265" y="3732068"/>
            <a:ext cx="643890" cy="489239"/>
          </a:xfrm>
          <a:prstGeom prst="rect">
            <a:avLst/>
          </a:prstGeom>
          <a:solidFill>
            <a:srgbClr val="4F98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145155" y="3732068"/>
            <a:ext cx="643890" cy="489239"/>
          </a:xfrm>
          <a:prstGeom prst="rect">
            <a:avLst/>
          </a:prstGeom>
          <a:solidFill>
            <a:srgbClr val="19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3789045" y="3732068"/>
            <a:ext cx="643890" cy="489239"/>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432935" y="3732068"/>
            <a:ext cx="643890" cy="489239"/>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076825" y="3732068"/>
            <a:ext cx="643890" cy="489239"/>
          </a:xfrm>
          <a:prstGeom prst="rect">
            <a:avLst/>
          </a:prstGeom>
          <a:solidFill>
            <a:srgbClr val="A0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720715" y="3732068"/>
            <a:ext cx="643890" cy="489239"/>
          </a:xfrm>
          <a:prstGeom prst="rect">
            <a:avLst/>
          </a:prstGeom>
          <a:solidFill>
            <a:srgbClr val="BED5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6364605" y="3732068"/>
            <a:ext cx="643890" cy="489239"/>
          </a:xfrm>
          <a:prstGeom prst="rect">
            <a:avLst/>
          </a:prstGeom>
          <a:solidFill>
            <a:srgbClr val="CF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008495" y="3732068"/>
            <a:ext cx="643890" cy="489239"/>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7652385" y="3732068"/>
            <a:ext cx="643890" cy="489239"/>
          </a:xfrm>
          <a:prstGeom prst="rect">
            <a:avLst/>
          </a:prstGeom>
          <a:solidFill>
            <a:srgbClr val="E2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8296275" y="3732068"/>
            <a:ext cx="643890" cy="489239"/>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8940165" y="3732068"/>
            <a:ext cx="643890" cy="489239"/>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9584055" y="3732068"/>
            <a:ext cx="643890" cy="489239"/>
          </a:xfrm>
          <a:prstGeom prst="rect">
            <a:avLst/>
          </a:prstGeom>
          <a:solidFill>
            <a:srgbClr val="F2F9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227945" y="3732068"/>
            <a:ext cx="643890" cy="489239"/>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0871835" y="3732068"/>
            <a:ext cx="643890" cy="489239"/>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38125" y="4221307"/>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Abrilada / Amsparity</a:t>
            </a:r>
          </a:p>
        </p:txBody>
      </p:sp>
      <p:sp>
        <p:nvSpPr>
          <p:cNvPr id="124" name="Rectangle 123"/>
          <p:cNvSpPr/>
          <p:nvPr/>
        </p:nvSpPr>
        <p:spPr>
          <a:xfrm>
            <a:off x="1857375" y="4221307"/>
            <a:ext cx="643890" cy="489239"/>
          </a:xfrm>
          <a:prstGeom prst="rect">
            <a:avLst/>
          </a:prstGeom>
          <a:solidFill>
            <a:srgbClr val="95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2501265" y="4221307"/>
            <a:ext cx="643890" cy="489239"/>
          </a:xfrm>
          <a:prstGeom prst="rect">
            <a:avLst/>
          </a:prstGeom>
          <a:solidFill>
            <a:srgbClr val="217D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3145155" y="4221307"/>
            <a:ext cx="643890" cy="489239"/>
          </a:xfrm>
          <a:prstGeom prst="rect">
            <a:avLst/>
          </a:prstGeom>
          <a:solidFill>
            <a:srgbClr val="0C416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789045" y="4221307"/>
            <a:ext cx="643890" cy="489239"/>
          </a:xfrm>
          <a:prstGeom prst="rect">
            <a:avLst/>
          </a:prstGeom>
          <a:solidFill>
            <a:srgbClr val="12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432935" y="4221307"/>
            <a:ext cx="643890" cy="489239"/>
          </a:xfrm>
          <a:prstGeom prst="rect">
            <a:avLst/>
          </a:prstGeom>
          <a:solidFill>
            <a:srgbClr val="4492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5076825" y="4221307"/>
            <a:ext cx="643890" cy="489239"/>
          </a:xfrm>
          <a:prstGeom prst="rect">
            <a:avLst/>
          </a:prstGeom>
          <a:solidFill>
            <a:srgbClr val="6EA9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720715" y="4221307"/>
            <a:ext cx="643890" cy="489239"/>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6364605" y="4221307"/>
            <a:ext cx="643890" cy="489239"/>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008495" y="4221307"/>
            <a:ext cx="643890" cy="489239"/>
          </a:xfrm>
          <a:prstGeom prst="rect">
            <a:avLst/>
          </a:prstGeom>
          <a:solidFill>
            <a:srgbClr val="BF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7652385" y="4221307"/>
            <a:ext cx="643890" cy="489239"/>
          </a:xfrm>
          <a:prstGeom prst="rect">
            <a:avLst/>
          </a:prstGeom>
          <a:solidFill>
            <a:srgbClr val="CDDE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296275" y="4221307"/>
            <a:ext cx="643890" cy="489239"/>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8940165" y="4221307"/>
            <a:ext cx="643890" cy="489239"/>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584055" y="4221307"/>
            <a:ext cx="643890" cy="489239"/>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227945" y="4221307"/>
            <a:ext cx="643890" cy="489239"/>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871835" y="4221307"/>
            <a:ext cx="643890" cy="489239"/>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38125" y="4710545"/>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Yusimry</a:t>
            </a:r>
          </a:p>
        </p:txBody>
      </p:sp>
      <p:sp>
        <p:nvSpPr>
          <p:cNvPr id="140" name="Rectangle 139"/>
          <p:cNvSpPr/>
          <p:nvPr/>
        </p:nvSpPr>
        <p:spPr>
          <a:xfrm>
            <a:off x="1857375" y="4710545"/>
            <a:ext cx="643890" cy="489239"/>
          </a:xfrm>
          <a:prstGeom prst="rect">
            <a:avLst/>
          </a:prstGeom>
          <a:solidFill>
            <a:srgbClr val="C3D9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501265" y="4710545"/>
            <a:ext cx="643890" cy="489239"/>
          </a:xfrm>
          <a:prstGeom prst="rect">
            <a:avLst/>
          </a:prstGeom>
          <a:solidFill>
            <a:srgbClr val="5C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3145155" y="4710545"/>
            <a:ext cx="643890" cy="489239"/>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3789045" y="4710545"/>
            <a:ext cx="643890" cy="489239"/>
          </a:xfrm>
          <a:prstGeom prst="rect">
            <a:avLst/>
          </a:prstGeom>
          <a:solidFill>
            <a:srgbClr val="4794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4432935" y="4710545"/>
            <a:ext cx="643890" cy="489239"/>
          </a:xfrm>
          <a:prstGeom prst="rect">
            <a:avLst/>
          </a:prstGeom>
          <a:solidFill>
            <a:srgbClr val="8C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076825" y="4710545"/>
            <a:ext cx="643890" cy="489239"/>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5720715" y="4710545"/>
            <a:ext cx="643890" cy="489239"/>
          </a:xfrm>
          <a:prstGeom prst="rect">
            <a:avLst/>
          </a:prstGeom>
          <a:solidFill>
            <a:srgbClr val="C6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6364605" y="4710545"/>
            <a:ext cx="643890" cy="489239"/>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008495" y="4710545"/>
            <a:ext cx="643890" cy="489239"/>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7652385" y="4710545"/>
            <a:ext cx="643890" cy="489239"/>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296275" y="4710545"/>
            <a:ext cx="643890" cy="489239"/>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940165" y="4710545"/>
            <a:ext cx="643890" cy="489239"/>
          </a:xfrm>
          <a:prstGeom prst="rect">
            <a:avLst/>
          </a:prstGeom>
          <a:solidFill>
            <a:srgbClr val="F2F9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9584055" y="4710545"/>
            <a:ext cx="643890" cy="489239"/>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0227945" y="4710545"/>
            <a:ext cx="643890" cy="489239"/>
          </a:xfrm>
          <a:prstGeom prst="rect">
            <a:avLst/>
          </a:prstGeom>
          <a:solidFill>
            <a:srgbClr val="F9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0871835" y="4710545"/>
            <a:ext cx="643890" cy="489239"/>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38125" y="5199784"/>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Yuflyma</a:t>
            </a:r>
          </a:p>
        </p:txBody>
      </p:sp>
      <p:sp>
        <p:nvSpPr>
          <p:cNvPr id="156" name="Rectangle 155"/>
          <p:cNvSpPr/>
          <p:nvPr/>
        </p:nvSpPr>
        <p:spPr>
          <a:xfrm>
            <a:off x="1857375" y="5199784"/>
            <a:ext cx="643890" cy="489239"/>
          </a:xfrm>
          <a:prstGeom prst="rect">
            <a:avLst/>
          </a:prstGeom>
          <a:solidFill>
            <a:srgbClr val="B4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2501265" y="5199784"/>
            <a:ext cx="643890" cy="489239"/>
          </a:xfrm>
          <a:prstGeom prst="rect">
            <a:avLst/>
          </a:prstGeom>
          <a:solidFill>
            <a:srgbClr val="4492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3145155" y="5199784"/>
            <a:ext cx="643890" cy="489239"/>
          </a:xfrm>
          <a:prstGeom prst="rect">
            <a:avLst/>
          </a:prstGeom>
          <a:solidFill>
            <a:srgbClr val="1274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3789045" y="5199784"/>
            <a:ext cx="643890" cy="489239"/>
          </a:xfrm>
          <a:prstGeom prst="rect">
            <a:avLst/>
          </a:prstGeom>
          <a:solidFill>
            <a:srgbClr val="3489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4432935" y="5199784"/>
            <a:ext cx="643890" cy="489239"/>
          </a:xfrm>
          <a:prstGeom prst="rect">
            <a:avLst/>
          </a:prstGeom>
          <a:solidFill>
            <a:srgbClr val="75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076825" y="5199784"/>
            <a:ext cx="643890" cy="489239"/>
          </a:xfrm>
          <a:prstGeom prst="rect">
            <a:avLst/>
          </a:prstGeom>
          <a:solidFill>
            <a:srgbClr val="99C1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720715" y="5199784"/>
            <a:ext cx="643890" cy="489239"/>
          </a:xfrm>
          <a:prstGeom prst="rect">
            <a:avLst/>
          </a:prstGeom>
          <a:solidFill>
            <a:srgbClr val="B7D2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364605" y="5199784"/>
            <a:ext cx="643890" cy="489239"/>
          </a:xfrm>
          <a:prstGeom prst="rect">
            <a:avLst/>
          </a:prstGeom>
          <a:solidFill>
            <a:srgbClr val="CC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7008495" y="5199784"/>
            <a:ext cx="643890" cy="489239"/>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7652385" y="5199784"/>
            <a:ext cx="643890" cy="489239"/>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8296275" y="5199784"/>
            <a:ext cx="643890" cy="489239"/>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940165" y="5199784"/>
            <a:ext cx="643890" cy="489239"/>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9584055" y="5199784"/>
            <a:ext cx="643890" cy="489239"/>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0227945" y="5199784"/>
            <a:ext cx="643890" cy="489239"/>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0871835" y="5199784"/>
            <a:ext cx="643890" cy="489239"/>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38125" y="5689023"/>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Simlandi</a:t>
            </a:r>
          </a:p>
        </p:txBody>
      </p:sp>
      <p:sp>
        <p:nvSpPr>
          <p:cNvPr id="172" name="Rectangle 171"/>
          <p:cNvSpPr/>
          <p:nvPr/>
        </p:nvSpPr>
        <p:spPr>
          <a:xfrm>
            <a:off x="1857375" y="5689023"/>
            <a:ext cx="643890" cy="489239"/>
          </a:xfrm>
          <a:prstGeom prst="rect">
            <a:avLst/>
          </a:prstGeom>
          <a:solidFill>
            <a:srgbClr val="88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2501265" y="5689023"/>
            <a:ext cx="643890" cy="489239"/>
          </a:xfrm>
          <a:prstGeom prst="rect">
            <a:avLst/>
          </a:prstGeom>
          <a:solidFill>
            <a:srgbClr val="16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3145155" y="5689023"/>
            <a:ext cx="643890" cy="489239"/>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3789045" y="5689023"/>
            <a:ext cx="643890" cy="489239"/>
          </a:xfrm>
          <a:prstGeom prst="rect">
            <a:avLst/>
          </a:prstGeom>
          <a:solidFill>
            <a:srgbClr val="0E679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32935" y="5689023"/>
            <a:ext cx="643890" cy="489239"/>
          </a:xfrm>
          <a:prstGeom prst="rect">
            <a:avLst/>
          </a:prstGeom>
          <a:solidFill>
            <a:srgbClr val="378B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5076825" y="5689023"/>
            <a:ext cx="643890" cy="489239"/>
          </a:xfrm>
          <a:prstGeom prst="rect">
            <a:avLst/>
          </a:prstGeom>
          <a:solidFill>
            <a:srgbClr val="5E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5720715" y="5689023"/>
            <a:ext cx="643890" cy="489239"/>
          </a:xfrm>
          <a:prstGeom prst="rect">
            <a:avLst/>
          </a:prstGeom>
          <a:solidFill>
            <a:srgbClr val="8DBA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6364605" y="5689023"/>
            <a:ext cx="643890" cy="489239"/>
          </a:xfrm>
          <a:prstGeom prst="rect">
            <a:avLst/>
          </a:prstGeom>
          <a:solidFill>
            <a:srgbClr val="A3C6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7008495" y="5689023"/>
            <a:ext cx="643890" cy="489239"/>
          </a:xfrm>
          <a:prstGeom prst="rect">
            <a:avLst/>
          </a:prstGeom>
          <a:solidFill>
            <a:srgbClr val="B5D0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7652385" y="5689023"/>
            <a:ext cx="643890" cy="489239"/>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8296275" y="5689023"/>
            <a:ext cx="643890" cy="489239"/>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8940165" y="5689023"/>
            <a:ext cx="643890" cy="489239"/>
          </a:xfrm>
          <a:prstGeom prst="rect">
            <a:avLst/>
          </a:prstGeom>
          <a:solidFill>
            <a:srgbClr val="D4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9584055" y="5689023"/>
            <a:ext cx="643890" cy="489239"/>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0227945" y="5689023"/>
            <a:ext cx="643890" cy="489239"/>
          </a:xfrm>
          <a:prstGeom prst="rect">
            <a:avLst/>
          </a:prstGeom>
          <a:solidFill>
            <a:srgbClr val="DD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0871835" y="5689023"/>
            <a:ext cx="643890" cy="489239"/>
          </a:xfrm>
          <a:prstGeom prst="rect">
            <a:avLst/>
          </a:prstGeom>
          <a:solidFill>
            <a:srgbClr val="E1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38125" y="6178261"/>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Other approved adalimumab biosimilars</a:t>
            </a:r>
          </a:p>
        </p:txBody>
      </p:sp>
      <p:sp>
        <p:nvSpPr>
          <p:cNvPr id="188" name="Rectangle 187"/>
          <p:cNvSpPr/>
          <p:nvPr/>
        </p:nvSpPr>
        <p:spPr>
          <a:xfrm>
            <a:off x="1857375" y="6178261"/>
            <a:ext cx="643890" cy="489239"/>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2501265" y="6178261"/>
            <a:ext cx="643890" cy="489239"/>
          </a:xfrm>
          <a:prstGeom prst="rect">
            <a:avLst/>
          </a:prstGeom>
          <a:solidFill>
            <a:srgbClr val="3D8E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3145155" y="6178261"/>
            <a:ext cx="643890" cy="489239"/>
          </a:xfrm>
          <a:prstGeom prst="rect">
            <a:avLst/>
          </a:prstGeom>
          <a:solidFill>
            <a:srgbClr val="0E6FA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3789045" y="6178261"/>
            <a:ext cx="643890" cy="489239"/>
          </a:xfrm>
          <a:prstGeom prst="rect">
            <a:avLst/>
          </a:prstGeom>
          <a:solidFill>
            <a:srgbClr val="2F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4432935" y="6178261"/>
            <a:ext cx="643890" cy="489239"/>
          </a:xfrm>
          <a:prstGeom prst="rect">
            <a:avLst/>
          </a:prstGeom>
          <a:solidFill>
            <a:srgbClr val="6DA9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076825" y="6178261"/>
            <a:ext cx="643890" cy="489239"/>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720715" y="6178261"/>
            <a:ext cx="643890" cy="489239"/>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6364605" y="6178261"/>
            <a:ext cx="643890" cy="489239"/>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7008495" y="6178261"/>
            <a:ext cx="643890" cy="489239"/>
          </a:xfrm>
          <a:prstGeom prst="rect">
            <a:avLst/>
          </a:prstGeom>
          <a:solidFill>
            <a:srgbClr val="D3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7652385" y="6178261"/>
            <a:ext cx="643890" cy="489239"/>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8296275" y="6178261"/>
            <a:ext cx="643890" cy="489239"/>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8940165" y="6178261"/>
            <a:ext cx="643890" cy="489239"/>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9584055" y="6178261"/>
            <a:ext cx="643890" cy="489239"/>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0227945" y="6178261"/>
            <a:ext cx="643890" cy="489239"/>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0871835" y="6178261"/>
            <a:ext cx="643890" cy="489239"/>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11572875" y="1323975"/>
            <a:ext cx="104775" cy="140256"/>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11572875" y="1456611"/>
            <a:ext cx="104775" cy="140256"/>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11572875" y="1589246"/>
            <a:ext cx="104775" cy="140256"/>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11572875" y="1721882"/>
            <a:ext cx="104775" cy="140256"/>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11572875" y="1854518"/>
            <a:ext cx="104775" cy="140256"/>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11572875" y="1987153"/>
            <a:ext cx="104775" cy="140256"/>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11572875" y="2119789"/>
            <a:ext cx="104775" cy="140256"/>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11572875" y="2252424"/>
            <a:ext cx="104775" cy="140256"/>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11572875" y="2385060"/>
            <a:ext cx="104775" cy="140256"/>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11572875" y="2517696"/>
            <a:ext cx="104775" cy="140256"/>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11572875" y="2650331"/>
            <a:ext cx="104775" cy="140256"/>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11572875" y="2782967"/>
            <a:ext cx="104775" cy="140256"/>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11572875" y="2915602"/>
            <a:ext cx="104775" cy="140256"/>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11572875" y="3048238"/>
            <a:ext cx="104775" cy="140256"/>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11572875" y="3180874"/>
            <a:ext cx="104775" cy="140256"/>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11572875" y="3313509"/>
            <a:ext cx="104775" cy="140256"/>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11572875" y="3446145"/>
            <a:ext cx="104775" cy="140256"/>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11572875" y="3578781"/>
            <a:ext cx="104775" cy="140256"/>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11572875" y="3711416"/>
            <a:ext cx="104775" cy="140256"/>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11572875" y="3844052"/>
            <a:ext cx="104775" cy="140256"/>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11572875" y="3976688"/>
            <a:ext cx="104775" cy="140256"/>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11572875" y="4109323"/>
            <a:ext cx="104775" cy="140256"/>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11572875" y="4241959"/>
            <a:ext cx="104775" cy="140256"/>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11572875" y="4374594"/>
            <a:ext cx="104775" cy="140256"/>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11572875" y="4507230"/>
            <a:ext cx="104775" cy="140256"/>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11572875" y="4639866"/>
            <a:ext cx="104775" cy="140256"/>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1572875" y="4772501"/>
            <a:ext cx="104775" cy="140256"/>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11572875" y="4905137"/>
            <a:ext cx="104775" cy="140256"/>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1572875" y="5037773"/>
            <a:ext cx="104775" cy="140256"/>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572875" y="5170408"/>
            <a:ext cx="104775" cy="140256"/>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11572875" y="5303044"/>
            <a:ext cx="104775" cy="140256"/>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11572875" y="5435679"/>
            <a:ext cx="104775" cy="140256"/>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11572875" y="5568315"/>
            <a:ext cx="104775" cy="140256"/>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11572875" y="5700951"/>
            <a:ext cx="104775" cy="140256"/>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11572875" y="5833586"/>
            <a:ext cx="104775" cy="140256"/>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1572875" y="5966222"/>
            <a:ext cx="104775" cy="140256"/>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11572875" y="6098858"/>
            <a:ext cx="104775" cy="140256"/>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11572875" y="6231493"/>
            <a:ext cx="104775" cy="140256"/>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1572875" y="6364129"/>
            <a:ext cx="104775" cy="140256"/>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11572875" y="6496764"/>
            <a:ext cx="104775" cy="140256"/>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11572875" y="1323975"/>
            <a:ext cx="104775" cy="5305425"/>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11687175" y="1257300"/>
            <a:ext cx="276225" cy="133350"/>
          </a:xfrm>
          <a:prstGeom prst="rect">
            <a:avLst/>
          </a:prstGeom>
          <a:noFill/>
        </p:spPr>
        <p:txBody>
          <a:bodyPr wrap="none" lIns="0" rIns="0" tIns="0" bIns="0" anchor="ctr">
            <a:spAutoFit/>
          </a:bodyPr>
          <a:lstStyle/>
          <a:p>
            <a:pPr algn="l"/>
            <a:r>
              <a:rPr sz="700" b="0">
                <a:solidFill>
                  <a:srgbClr val="6C7A89"/>
                </a:solidFill>
                <a:latin typeface="Calibri"/>
              </a:rPr>
              <a:t>31%</a:t>
            </a:r>
          </a:p>
        </p:txBody>
      </p:sp>
      <p:sp>
        <p:nvSpPr>
          <p:cNvPr id="245" name="TextBox 244"/>
          <p:cNvSpPr txBox="1"/>
          <p:nvPr/>
        </p:nvSpPr>
        <p:spPr>
          <a:xfrm>
            <a:off x="11687175" y="3910012"/>
            <a:ext cx="276225" cy="133350"/>
          </a:xfrm>
          <a:prstGeom prst="rect">
            <a:avLst/>
          </a:prstGeom>
          <a:noFill/>
        </p:spPr>
        <p:txBody>
          <a:bodyPr wrap="none" lIns="0" rIns="0" tIns="0" bIns="0" anchor="ctr">
            <a:spAutoFit/>
          </a:bodyPr>
          <a:lstStyle/>
          <a:p>
            <a:pPr algn="l"/>
            <a:r>
              <a:rPr sz="700" b="0">
                <a:solidFill>
                  <a:srgbClr val="6C7A89"/>
                </a:solidFill>
                <a:latin typeface="Calibri"/>
              </a:rPr>
              <a:t>19%</a:t>
            </a:r>
          </a:p>
        </p:txBody>
      </p:sp>
      <p:sp>
        <p:nvSpPr>
          <p:cNvPr id="246" name="TextBox 245"/>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6%</a:t>
            </a:r>
          </a:p>
        </p:txBody>
      </p:sp>
      <p:sp>
        <p:nvSpPr>
          <p:cNvPr id="247" name="Rectangle 24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TextBox 24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49" name="Rounded Rectangle 248">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50" name="Rounded Rectangle 249">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51" name="Rounded Rectangle 250">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Value, By Product Type x Therapeutic Application (%)</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YoY Growth, By Product Type x Therapeutic Application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2171700"/>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Product Type x Therapeutic Application</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800" b="1">
                          <a:solidFill>
                            <a:srgbClr val="A86F00"/>
                          </a:solidFill>
                          <a:latin typeface="Calibri"/>
                        </a:rPr>
                        <a:t>▶ 11.7%</a:t>
                      </a:r>
                    </a:p>
                  </a:txBody>
                  <a:tcPr marL="85725" marR="38100" marT="19050" marB="19050" anchor="ctr">
                    <a:solidFill>
                      <a:srgbClr val="FFFFFF"/>
                    </a:solidFill>
                  </a:tcPr>
                </a:tc>
                <a:tc>
                  <a:txBody>
                    <a:bodyPr wrap="none"/>
                    <a:lstStyle/>
                    <a:p>
                      <a:pPr algn="l"/>
                      <a:r>
                        <a:rPr sz="800" b="1">
                          <a:solidFill>
                            <a:srgbClr val="A86F00"/>
                          </a:solidFill>
                          <a:latin typeface="Calibri"/>
                        </a:rPr>
                        <a:t>▶ 18.5%</a:t>
                      </a:r>
                    </a:p>
                  </a:txBody>
                  <a:tcPr marL="85725" marR="38100" marT="19050" marB="19050" anchor="ctr">
                    <a:solidFill>
                      <a:srgbClr val="FFFFFF"/>
                    </a:solidFill>
                  </a:tcPr>
                </a:tc>
                <a:tc>
                  <a:txBody>
                    <a:bodyPr wrap="none"/>
                    <a:lstStyle/>
                    <a:p>
                      <a:pPr algn="l"/>
                      <a:r>
                        <a:rPr sz="800" b="1">
                          <a:solidFill>
                            <a:srgbClr val="A86F00"/>
                          </a:solidFill>
                          <a:latin typeface="Calibri"/>
                        </a:rPr>
                        <a:t>▶ 22.3%</a:t>
                      </a:r>
                    </a:p>
                  </a:txBody>
                  <a:tcPr marL="85725" marR="38100" marT="19050" marB="19050" anchor="ctr">
                    <a:solidFill>
                      <a:srgbClr val="FFFFFF"/>
                    </a:solidFill>
                  </a:tcPr>
                </a:tc>
                <a:tc>
                  <a:txBody>
                    <a:bodyPr wrap="none"/>
                    <a:lstStyle/>
                    <a:p>
                      <a:pPr algn="l"/>
                      <a:r>
                        <a:rPr sz="800" b="1">
                          <a:solidFill>
                            <a:srgbClr val="A86F00"/>
                          </a:solidFill>
                          <a:latin typeface="Calibri"/>
                        </a:rPr>
                        <a:t>▶ 19.7%</a:t>
                      </a:r>
                    </a:p>
                  </a:txBody>
                  <a:tcPr marL="85725" marR="38100" marT="19050" marB="19050" anchor="ctr">
                    <a:solidFill>
                      <a:srgbClr val="FFFFFF"/>
                    </a:solidFill>
                  </a:tcPr>
                </a:tc>
                <a:tc>
                  <a:txBody>
                    <a:bodyPr wrap="none"/>
                    <a:lstStyle/>
                    <a:p>
                      <a:pPr algn="l"/>
                      <a:r>
                        <a:rPr sz="800" b="1">
                          <a:solidFill>
                            <a:srgbClr val="A86F00"/>
                          </a:solidFill>
                          <a:latin typeface="Calibri"/>
                        </a:rPr>
                        <a:t>▶ 16.0%</a:t>
                      </a:r>
                    </a:p>
                  </a:txBody>
                  <a:tcPr marL="85725" marR="38100" marT="19050" marB="19050" anchor="ctr">
                    <a:solidFill>
                      <a:srgbClr val="FFFFFF"/>
                    </a:solidFill>
                  </a:tcPr>
                </a:tc>
                <a:tc>
                  <a:txBody>
                    <a:bodyPr wrap="none"/>
                    <a:lstStyle/>
                    <a:p>
                      <a:pPr algn="l"/>
                      <a:r>
                        <a:rPr sz="800" b="1">
                          <a:solidFill>
                            <a:srgbClr val="A86F00"/>
                          </a:solidFill>
                          <a:latin typeface="Calibri"/>
                        </a:rPr>
                        <a:t>▶ 13.9%</a:t>
                      </a:r>
                    </a:p>
                  </a:txBody>
                  <a:tcPr marL="85725" marR="38100" marT="19050" marB="19050" anchor="ctr">
                    <a:solidFill>
                      <a:srgbClr val="FFFFFF"/>
                    </a:solidFill>
                  </a:tcPr>
                </a:tc>
                <a:tc>
                  <a:txBody>
                    <a:bodyPr wrap="none"/>
                    <a:lstStyle/>
                    <a:p>
                      <a:pPr algn="l"/>
                      <a:r>
                        <a:rPr sz="800" b="1">
                          <a:solidFill>
                            <a:srgbClr val="A86F00"/>
                          </a:solidFill>
                          <a:latin typeface="Calibri"/>
                        </a:rPr>
                        <a:t>▶ 11.6%</a:t>
                      </a:r>
                    </a:p>
                  </a:txBody>
                  <a:tcPr marL="85725" marR="38100" marT="19050" marB="19050" anchor="ctr">
                    <a:solidFill>
                      <a:srgbClr val="FFFFFF"/>
                    </a:solidFill>
                  </a:tcPr>
                </a:tc>
                <a:tc>
                  <a:txBody>
                    <a:bodyPr wrap="none"/>
                    <a:lstStyle/>
                    <a:p>
                      <a:pPr algn="l"/>
                      <a:r>
                        <a:rPr sz="800" b="1">
                          <a:solidFill>
                            <a:srgbClr val="A86F00"/>
                          </a:solidFill>
                          <a:latin typeface="Calibri"/>
                        </a:rPr>
                        <a:t>▶ 10.0%</a:t>
                      </a:r>
                    </a:p>
                  </a:txBody>
                  <a:tcPr marL="85725" marR="38100" marT="19050" marB="19050" anchor="ctr">
                    <a:solidFill>
                      <a:srgbClr val="FFFFFF"/>
                    </a:solidFill>
                  </a:tcPr>
                </a:tc>
                <a:tc>
                  <a:txBody>
                    <a:bodyPr wrap="none"/>
                    <a:lstStyle/>
                    <a:p>
                      <a:pPr algn="l"/>
                      <a:r>
                        <a:rPr sz="800" b="1">
                          <a:solidFill>
                            <a:srgbClr val="A86F00"/>
                          </a:solidFill>
                          <a:latin typeface="Calibri"/>
                        </a:rPr>
                        <a:t>▶ 8.7%</a:t>
                      </a:r>
                    </a:p>
                  </a:txBody>
                  <a:tcPr marL="85725" marR="38100" marT="19050" marB="19050" anchor="ctr">
                    <a:solidFill>
                      <a:srgbClr val="FFFFFF"/>
                    </a:solidFill>
                  </a:tcPr>
                </a:tc>
                <a:tc>
                  <a:txBody>
                    <a:bodyPr wrap="none"/>
                    <a:lstStyle/>
                    <a:p>
                      <a:pPr algn="l"/>
                      <a:r>
                        <a:rPr sz="800" b="1">
                          <a:solidFill>
                            <a:srgbClr val="A86F00"/>
                          </a:solidFill>
                          <a:latin typeface="Calibri"/>
                        </a:rPr>
                        <a:t>▶ 7.6%</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c>
                  <a:txBody>
                    <a:bodyPr wrap="none"/>
                    <a:lstStyle/>
                    <a:p>
                      <a:pPr algn="l"/>
                      <a:r>
                        <a:rPr sz="800" b="1">
                          <a:solidFill>
                            <a:srgbClr val="A86F00"/>
                          </a:solidFill>
                          <a:latin typeface="Calibri"/>
                        </a:rPr>
                        <a:t>▶ 5.2%</a:t>
                      </a:r>
                    </a:p>
                  </a:txBody>
                  <a:tcPr marL="85725" marR="38100" marT="19050" marB="19050" anchor="ctr">
                    <a:solidFill>
                      <a:srgbClr val="FFFFFF"/>
                    </a:solidFill>
                  </a:tcPr>
                </a:tc>
                <a:tc>
                  <a:txBody>
                    <a:bodyPr wrap="none"/>
                    <a:lstStyle/>
                    <a:p>
                      <a:pPr algn="l"/>
                      <a:r>
                        <a:rPr sz="800" b="1">
                          <a:solidFill>
                            <a:srgbClr val="A86F00"/>
                          </a:solidFill>
                          <a:latin typeface="Calibri"/>
                        </a:rPr>
                        <a:t>▶ 4.7%</a:t>
                      </a:r>
                    </a:p>
                  </a:txBody>
                  <a:tcPr marL="85725" marR="38100" marT="19050" marB="19050" anchor="ctr">
                    <a:solidFill>
                      <a:srgbClr val="FFFFFF"/>
                    </a:solidFill>
                  </a:tcPr>
                </a:tc>
                <a:tc>
                  <a:txBody>
                    <a:bodyPr wrap="none"/>
                    <a:lstStyle/>
                    <a:p>
                      <a:pPr algn="l"/>
                      <a:r>
                        <a:rPr sz="800" b="1">
                          <a:solidFill>
                            <a:srgbClr val="A86F00"/>
                          </a:solidFill>
                          <a:latin typeface="Calibri"/>
                        </a:rPr>
                        <a:t>▶ 4.3%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Cyltezo</a:t>
                      </a:r>
                    </a:p>
                  </a:txBody>
                  <a:tcPr marL="85725" marR="38100" marT="19050" marB="19050" anchor="ctr">
                    <a:solidFill>
                      <a:srgbClr val="F5F8FA"/>
                    </a:solidFill>
                  </a:tcPr>
                </a:tc>
                <a:tc>
                  <a:txBody>
                    <a:bodyPr wrap="none"/>
                    <a:lstStyle/>
                    <a:p>
                      <a:pPr algn="l"/>
                      <a:r>
                        <a:rPr sz="800" b="1">
                          <a:solidFill>
                            <a:srgbClr val="2E7D32"/>
                          </a:solidFill>
                          <a:latin typeface="Calibri"/>
                        </a:rPr>
                        <a:t>▲ 14.1%</a:t>
                      </a:r>
                    </a:p>
                  </a:txBody>
                  <a:tcPr marL="85725" marR="38100" marT="19050" marB="19050" anchor="ctr">
                    <a:solidFill>
                      <a:srgbClr val="F5F8FA"/>
                    </a:solidFill>
                  </a:tcPr>
                </a:tc>
                <a:tc>
                  <a:txBody>
                    <a:bodyPr wrap="none"/>
                    <a:lstStyle/>
                    <a:p>
                      <a:pPr algn="l"/>
                      <a:r>
                        <a:rPr sz="800" b="1">
                          <a:solidFill>
                            <a:srgbClr val="2E7D32"/>
                          </a:solidFill>
                          <a:latin typeface="Calibri"/>
                        </a:rPr>
                        <a:t>▲ 21.0%</a:t>
                      </a:r>
                    </a:p>
                  </a:txBody>
                  <a:tcPr marL="85725" marR="38100" marT="19050" marB="19050" anchor="ctr">
                    <a:solidFill>
                      <a:srgbClr val="F5F8FA"/>
                    </a:solidFill>
                  </a:tcPr>
                </a:tc>
                <a:tc>
                  <a:txBody>
                    <a:bodyPr wrap="none"/>
                    <a:lstStyle/>
                    <a:p>
                      <a:pPr algn="l"/>
                      <a:r>
                        <a:rPr sz="800" b="1">
                          <a:solidFill>
                            <a:srgbClr val="2E7D32"/>
                          </a:solidFill>
                          <a:latin typeface="Calibri"/>
                        </a:rPr>
                        <a:t>▲ 24.9%</a:t>
                      </a:r>
                    </a:p>
                  </a:txBody>
                  <a:tcPr marL="85725" marR="38100" marT="19050" marB="19050" anchor="ctr">
                    <a:solidFill>
                      <a:srgbClr val="F5F8FA"/>
                    </a:solidFill>
                  </a:tcPr>
                </a:tc>
                <a:tc>
                  <a:txBody>
                    <a:bodyPr wrap="none"/>
                    <a:lstStyle/>
                    <a:p>
                      <a:pPr algn="l"/>
                      <a:r>
                        <a:rPr sz="800" b="1">
                          <a:solidFill>
                            <a:srgbClr val="2E7D32"/>
                          </a:solidFill>
                          <a:latin typeface="Calibri"/>
                        </a:rPr>
                        <a:t>▲ 22.2%</a:t>
                      </a:r>
                    </a:p>
                  </a:txBody>
                  <a:tcPr marL="85725" marR="38100" marT="19050" marB="19050" anchor="ctr">
                    <a:solidFill>
                      <a:srgbClr val="F5F8FA"/>
                    </a:solidFill>
                  </a:tcPr>
                </a:tc>
                <a:tc>
                  <a:txBody>
                    <a:bodyPr wrap="none"/>
                    <a:lstStyle/>
                    <a:p>
                      <a:pPr algn="l"/>
                      <a:r>
                        <a:rPr sz="800" b="1">
                          <a:solidFill>
                            <a:srgbClr val="2E7D32"/>
                          </a:solidFill>
                          <a:latin typeface="Calibri"/>
                        </a:rPr>
                        <a:t>▲ 18.5%</a:t>
                      </a:r>
                    </a:p>
                  </a:txBody>
                  <a:tcPr marL="85725" marR="38100" marT="19050" marB="19050" anchor="ctr">
                    <a:solidFill>
                      <a:srgbClr val="F5F8FA"/>
                    </a:solidFill>
                  </a:tcPr>
                </a:tc>
                <a:tc>
                  <a:txBody>
                    <a:bodyPr wrap="none"/>
                    <a:lstStyle/>
                    <a:p>
                      <a:pPr algn="l"/>
                      <a:r>
                        <a:rPr sz="800" b="1">
                          <a:solidFill>
                            <a:srgbClr val="2E7D32"/>
                          </a:solidFill>
                          <a:latin typeface="Calibri"/>
                        </a:rPr>
                        <a:t>▲ 16.4%</a:t>
                      </a:r>
                    </a:p>
                  </a:txBody>
                  <a:tcPr marL="85725" marR="38100" marT="19050" marB="19050" anchor="ctr">
                    <a:solidFill>
                      <a:srgbClr val="F5F8FA"/>
                    </a:solidFill>
                  </a:tcPr>
                </a:tc>
                <a:tc>
                  <a:txBody>
                    <a:bodyPr wrap="none"/>
                    <a:lstStyle/>
                    <a:p>
                      <a:pPr algn="l"/>
                      <a:r>
                        <a:rPr sz="800" b="1">
                          <a:solidFill>
                            <a:srgbClr val="2E7D32"/>
                          </a:solidFill>
                          <a:latin typeface="Calibri"/>
                        </a:rPr>
                        <a:t>▲ 14.0%</a:t>
                      </a:r>
                    </a:p>
                  </a:txBody>
                  <a:tcPr marL="85725" marR="38100" marT="19050" marB="19050" anchor="ctr">
                    <a:solidFill>
                      <a:srgbClr val="F5F8FA"/>
                    </a:solidFill>
                  </a:tcPr>
                </a:tc>
                <a:tc>
                  <a:txBody>
                    <a:bodyPr wrap="none"/>
                    <a:lstStyle/>
                    <a:p>
                      <a:pPr algn="l"/>
                      <a:r>
                        <a:rPr sz="800" b="1">
                          <a:solidFill>
                            <a:srgbClr val="2E7D32"/>
                          </a:solidFill>
                          <a:latin typeface="Calibri"/>
                        </a:rPr>
                        <a:t>▲ 12.4%</a:t>
                      </a:r>
                    </a:p>
                  </a:txBody>
                  <a:tcPr marL="85725" marR="38100" marT="19050" marB="19050" anchor="ctr">
                    <a:solidFill>
                      <a:srgbClr val="F5F8FA"/>
                    </a:solidFill>
                  </a:tcPr>
                </a:tc>
                <a:tc>
                  <a:txBody>
                    <a:bodyPr wrap="none"/>
                    <a:lstStyle/>
                    <a:p>
                      <a:pPr algn="l"/>
                      <a:r>
                        <a:rPr sz="800" b="1">
                          <a:solidFill>
                            <a:srgbClr val="2E7D32"/>
                          </a:solidFill>
                          <a:latin typeface="Calibri"/>
                        </a:rPr>
                        <a:t>▲ 11.0%</a:t>
                      </a:r>
                    </a:p>
                  </a:txBody>
                  <a:tcPr marL="85725" marR="38100" marT="19050" marB="19050" anchor="ctr">
                    <a:solidFill>
                      <a:srgbClr val="F5F8FA"/>
                    </a:solidFill>
                  </a:tcPr>
                </a:tc>
                <a:tc>
                  <a:txBody>
                    <a:bodyPr wrap="none"/>
                    <a:lstStyle/>
                    <a:p>
                      <a:pPr algn="l"/>
                      <a:r>
                        <a:rPr sz="800" b="1">
                          <a:solidFill>
                            <a:srgbClr val="2E7D32"/>
                          </a:solidFill>
                          <a:latin typeface="Calibri"/>
                        </a:rPr>
                        <a:t>▲ 9.9%</a:t>
                      </a:r>
                    </a:p>
                  </a:txBody>
                  <a:tcPr marL="85725" marR="38100" marT="19050" marB="19050" anchor="ctr">
                    <a:solidFill>
                      <a:srgbClr val="F5F8FA"/>
                    </a:solidFill>
                  </a:tcPr>
                </a:tc>
                <a:tc>
                  <a:txBody>
                    <a:bodyPr wrap="none"/>
                    <a:lstStyle/>
                    <a:p>
                      <a:pPr algn="l"/>
                      <a:r>
                        <a:rPr sz="800" b="1">
                          <a:solidFill>
                            <a:srgbClr val="2E7D32"/>
                          </a:solidFill>
                          <a:latin typeface="Calibri"/>
                        </a:rPr>
                        <a:t>▲ 8.9%</a:t>
                      </a:r>
                    </a:p>
                  </a:txBody>
                  <a:tcPr marL="85725" marR="38100" marT="19050" marB="19050" anchor="ctr">
                    <a:solidFill>
                      <a:srgbClr val="F5F8FA"/>
                    </a:solidFill>
                  </a:tcPr>
                </a:tc>
                <a:tc>
                  <a:txBody>
                    <a:bodyPr wrap="none"/>
                    <a:lstStyle/>
                    <a:p>
                      <a:pPr algn="l"/>
                      <a:r>
                        <a:rPr sz="800" b="1">
                          <a:solidFill>
                            <a:srgbClr val="2E7D32"/>
                          </a:solidFill>
                          <a:latin typeface="Calibri"/>
                        </a:rPr>
                        <a:t>▲ 8.1%</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6.9%</a:t>
                      </a:r>
                    </a:p>
                  </a:txBody>
                  <a:tcPr marL="85725" marR="38100" marT="19050" marB="19050" anchor="ctr">
                    <a:solidFill>
                      <a:srgbClr val="F5F8FA"/>
                    </a:solidFill>
                  </a:tcPr>
                </a:tc>
                <a:tc>
                  <a:txBody>
                    <a:bodyPr wrap="none"/>
                    <a:lstStyle/>
                    <a:p>
                      <a:pPr algn="l"/>
                      <a:r>
                        <a:rPr sz="800" b="1">
                          <a:solidFill>
                            <a:srgbClr val="2E7D32"/>
                          </a:solidFill>
                          <a:latin typeface="Calibri"/>
                        </a:rPr>
                        <a:t>▲ 6.5%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800" b="1">
                          <a:solidFill>
                            <a:srgbClr val="2E7D32"/>
                          </a:solidFill>
                          <a:latin typeface="Calibri"/>
                        </a:rPr>
                        <a:t>▲ 13.5%</a:t>
                      </a:r>
                    </a:p>
                  </a:txBody>
                  <a:tcPr marL="85725" marR="38100" marT="19050" marB="19050" anchor="ctr">
                    <a:solidFill>
                      <a:srgbClr val="FFFFFF"/>
                    </a:solidFill>
                  </a:tcPr>
                </a:tc>
                <a:tc>
                  <a:txBody>
                    <a:bodyPr wrap="none"/>
                    <a:lstStyle/>
                    <a:p>
                      <a:pPr algn="l"/>
                      <a:r>
                        <a:rPr sz="800" b="1">
                          <a:solidFill>
                            <a:srgbClr val="2E7D32"/>
                          </a:solidFill>
                          <a:latin typeface="Calibri"/>
                        </a:rPr>
                        <a:t>▲ 20.4%</a:t>
                      </a:r>
                    </a:p>
                  </a:txBody>
                  <a:tcPr marL="85725" marR="38100" marT="19050" marB="19050" anchor="ctr">
                    <a:solidFill>
                      <a:srgbClr val="FFFFFF"/>
                    </a:solidFill>
                  </a:tcPr>
                </a:tc>
                <a:tc>
                  <a:txBody>
                    <a:bodyPr wrap="none"/>
                    <a:lstStyle/>
                    <a:p>
                      <a:pPr algn="l"/>
                      <a:r>
                        <a:rPr sz="800" b="1">
                          <a:solidFill>
                            <a:srgbClr val="2E7D32"/>
                          </a:solidFill>
                          <a:latin typeface="Calibri"/>
                        </a:rPr>
                        <a:t>▲ 24.3%</a:t>
                      </a:r>
                    </a:p>
                  </a:txBody>
                  <a:tcPr marL="85725" marR="38100" marT="19050" marB="19050" anchor="ctr">
                    <a:solidFill>
                      <a:srgbClr val="FFFFFF"/>
                    </a:solidFill>
                  </a:tcPr>
                </a:tc>
                <a:tc>
                  <a:txBody>
                    <a:bodyPr wrap="none"/>
                    <a:lstStyle/>
                    <a:p>
                      <a:pPr algn="l"/>
                      <a:r>
                        <a:rPr sz="800" b="1">
                          <a:solidFill>
                            <a:srgbClr val="2E7D32"/>
                          </a:solidFill>
                          <a:latin typeface="Calibri"/>
                        </a:rPr>
                        <a:t>▲ 21.6%</a:t>
                      </a:r>
                    </a:p>
                  </a:txBody>
                  <a:tcPr marL="85725" marR="38100" marT="19050" marB="19050" anchor="ctr">
                    <a:solidFill>
                      <a:srgbClr val="FFFFFF"/>
                    </a:solidFill>
                  </a:tcPr>
                </a:tc>
                <a:tc>
                  <a:txBody>
                    <a:bodyPr wrap="none"/>
                    <a:lstStyle/>
                    <a:p>
                      <a:pPr algn="l"/>
                      <a:r>
                        <a:rPr sz="800" b="1">
                          <a:solidFill>
                            <a:srgbClr val="2E7D32"/>
                          </a:solidFill>
                          <a:latin typeface="Calibri"/>
                        </a:rPr>
                        <a:t>▲ 17.9%</a:t>
                      </a:r>
                    </a:p>
                  </a:txBody>
                  <a:tcPr marL="85725" marR="38100" marT="19050" marB="19050" anchor="ctr">
                    <a:solidFill>
                      <a:srgbClr val="FFFFFF"/>
                    </a:solidFill>
                  </a:tcPr>
                </a:tc>
                <a:tc>
                  <a:txBody>
                    <a:bodyPr wrap="none"/>
                    <a:lstStyle/>
                    <a:p>
                      <a:pPr algn="l"/>
                      <a:r>
                        <a:rPr sz="800" b="1">
                          <a:solidFill>
                            <a:srgbClr val="2E7D32"/>
                          </a:solidFill>
                          <a:latin typeface="Calibri"/>
                        </a:rPr>
                        <a:t>▲ 15.8%</a:t>
                      </a:r>
                    </a:p>
                  </a:txBody>
                  <a:tcPr marL="85725" marR="38100" marT="19050" marB="19050" anchor="ctr">
                    <a:solidFill>
                      <a:srgbClr val="FFFFFF"/>
                    </a:solidFill>
                  </a:tcPr>
                </a:tc>
                <a:tc>
                  <a:txBody>
                    <a:bodyPr wrap="none"/>
                    <a:lstStyle/>
                    <a:p>
                      <a:pPr algn="l"/>
                      <a:r>
                        <a:rPr sz="800" b="1">
                          <a:solidFill>
                            <a:srgbClr val="2E7D32"/>
                          </a:solidFill>
                          <a:latin typeface="Calibri"/>
                        </a:rPr>
                        <a:t>▲ 13.4%</a:t>
                      </a:r>
                    </a:p>
                  </a:txBody>
                  <a:tcPr marL="85725" marR="38100" marT="19050" marB="19050" anchor="ctr">
                    <a:solidFill>
                      <a:srgbClr val="FFFFFF"/>
                    </a:solidFill>
                  </a:tcPr>
                </a:tc>
                <a:tc>
                  <a:txBody>
                    <a:bodyPr wrap="none"/>
                    <a:lstStyle/>
                    <a:p>
                      <a:pPr algn="l"/>
                      <a:r>
                        <a:rPr sz="800" b="1">
                          <a:solidFill>
                            <a:srgbClr val="2E7D32"/>
                          </a:solidFill>
                          <a:latin typeface="Calibri"/>
                        </a:rPr>
                        <a:t>▲ 11.8%</a:t>
                      </a:r>
                    </a:p>
                  </a:txBody>
                  <a:tcPr marL="85725" marR="38100" marT="19050" marB="19050" anchor="ctr">
                    <a:solidFill>
                      <a:srgbClr val="FFFFFF"/>
                    </a:solidFill>
                  </a:tcPr>
                </a:tc>
                <a:tc>
                  <a:txBody>
                    <a:bodyPr wrap="none"/>
                    <a:lstStyle/>
                    <a:p>
                      <a:pPr algn="l"/>
                      <a:r>
                        <a:rPr sz="800" b="1">
                          <a:solidFill>
                            <a:srgbClr val="2E7D32"/>
                          </a:solidFill>
                          <a:latin typeface="Calibri"/>
                        </a:rPr>
                        <a:t>▲ 10.4%</a:t>
                      </a:r>
                    </a:p>
                  </a:txBody>
                  <a:tcPr marL="85725" marR="38100" marT="19050" marB="19050" anchor="ctr">
                    <a:solidFill>
                      <a:srgbClr val="FFFFFF"/>
                    </a:solidFill>
                  </a:tcPr>
                </a:tc>
                <a:tc>
                  <a:txBody>
                    <a:bodyPr wrap="none"/>
                    <a:lstStyle/>
                    <a:p>
                      <a:pPr algn="l"/>
                      <a:r>
                        <a:rPr sz="800" b="1">
                          <a:solidFill>
                            <a:srgbClr val="2E7D32"/>
                          </a:solidFill>
                          <a:latin typeface="Calibri"/>
                        </a:rPr>
                        <a:t>▲ 9.3%</a:t>
                      </a:r>
                    </a:p>
                  </a:txBody>
                  <a:tcPr marL="85725" marR="38100" marT="19050" marB="19050" anchor="ctr">
                    <a:solidFill>
                      <a:srgbClr val="FFFFFF"/>
                    </a:solidFill>
                  </a:tcPr>
                </a:tc>
                <a:tc>
                  <a:txBody>
                    <a:bodyPr wrap="none"/>
                    <a:lstStyle/>
                    <a:p>
                      <a:pPr algn="l"/>
                      <a:r>
                        <a:rPr sz="800" b="1">
                          <a:solidFill>
                            <a:srgbClr val="2E7D32"/>
                          </a:solidFill>
                          <a:latin typeface="Calibri"/>
                        </a:rPr>
                        <a:t>▲ 8.4%</a:t>
                      </a:r>
                    </a:p>
                  </a:txBody>
                  <a:tcPr marL="85725" marR="38100" marT="19050" marB="19050" anchor="ctr">
                    <a:solidFill>
                      <a:srgbClr val="FFFFFF"/>
                    </a:solidFill>
                  </a:tcPr>
                </a:tc>
                <a:tc>
                  <a:txBody>
                    <a:bodyPr wrap="none"/>
                    <a:lstStyle/>
                    <a:p>
                      <a:pPr algn="l"/>
                      <a:r>
                        <a:rPr sz="800" b="1">
                          <a:solidFill>
                            <a:srgbClr val="2E7D32"/>
                          </a:solidFill>
                          <a:latin typeface="Calibri"/>
                        </a:rPr>
                        <a:t>▲ 7.5%</a:t>
                      </a:r>
                    </a:p>
                  </a:txBody>
                  <a:tcPr marL="85725" marR="38100" marT="19050" marB="19050" anchor="ctr">
                    <a:solidFill>
                      <a:srgbClr val="FFFFFF"/>
                    </a:solidFill>
                  </a:tcPr>
                </a:tc>
                <a:tc>
                  <a:txBody>
                    <a:bodyPr wrap="none"/>
                    <a:lstStyle/>
                    <a:p>
                      <a:pPr algn="l"/>
                      <a:r>
                        <a:rPr sz="800" b="1">
                          <a:solidFill>
                            <a:srgbClr val="2E7D32"/>
                          </a:solidFill>
                          <a:latin typeface="Calibri"/>
                        </a:rPr>
                        <a:t>▲ 6.9%</a:t>
                      </a:r>
                    </a:p>
                  </a:txBody>
                  <a:tcPr marL="85725" marR="38100" marT="19050" marB="19050" anchor="ctr">
                    <a:solidFill>
                      <a:srgbClr val="FFFFFF"/>
                    </a:solidFill>
                  </a:tcPr>
                </a:tc>
                <a:tc>
                  <a:txBody>
                    <a:bodyPr wrap="none"/>
                    <a:lstStyle/>
                    <a:p>
                      <a:pPr algn="l"/>
                      <a:r>
                        <a:rPr sz="800" b="1">
                          <a:solidFill>
                            <a:srgbClr val="2E7D32"/>
                          </a:solidFill>
                          <a:latin typeface="Calibri"/>
                        </a:rPr>
                        <a:t>▲ 6.4%</a:t>
                      </a:r>
                    </a:p>
                  </a:txBody>
                  <a:tcPr marL="85725" marR="38100" marT="19050" marB="19050" anchor="ctr">
                    <a:solidFill>
                      <a:srgbClr val="FFFFFF"/>
                    </a:solidFill>
                  </a:tcPr>
                </a:tc>
                <a:tc>
                  <a:txBody>
                    <a:bodyPr wrap="none"/>
                    <a:lstStyle/>
                    <a:p>
                      <a:pPr algn="l"/>
                      <a:r>
                        <a:rPr sz="800" b="1">
                          <a:solidFill>
                            <a:srgbClr val="2E7D32"/>
                          </a:solidFill>
                          <a:latin typeface="Calibri"/>
                        </a:rPr>
                        <a:t>▲ 6.0%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800" b="1">
                          <a:solidFill>
                            <a:srgbClr val="2E7D32"/>
                          </a:solidFill>
                          <a:latin typeface="Calibri"/>
                        </a:rPr>
                        <a:t>▲ 12.9%</a:t>
                      </a:r>
                    </a:p>
                  </a:txBody>
                  <a:tcPr marL="85725" marR="38100" marT="19050" marB="19050" anchor="ctr">
                    <a:solidFill>
                      <a:srgbClr val="F5F8FA"/>
                    </a:solidFill>
                  </a:tcPr>
                </a:tc>
                <a:tc>
                  <a:txBody>
                    <a:bodyPr wrap="none"/>
                    <a:lstStyle/>
                    <a:p>
                      <a:pPr algn="l"/>
                      <a:r>
                        <a:rPr sz="800" b="1">
                          <a:solidFill>
                            <a:srgbClr val="2E7D32"/>
                          </a:solidFill>
                          <a:latin typeface="Calibri"/>
                        </a:rPr>
                        <a:t>▲ 19.7%</a:t>
                      </a:r>
                    </a:p>
                  </a:txBody>
                  <a:tcPr marL="85725" marR="38100" marT="19050" marB="19050" anchor="ctr">
                    <a:solidFill>
                      <a:srgbClr val="F5F8FA"/>
                    </a:solidFill>
                  </a:tcPr>
                </a:tc>
                <a:tc>
                  <a:txBody>
                    <a:bodyPr wrap="none"/>
                    <a:lstStyle/>
                    <a:p>
                      <a:pPr algn="l"/>
                      <a:r>
                        <a:rPr sz="800" b="1">
                          <a:solidFill>
                            <a:srgbClr val="2E7D32"/>
                          </a:solidFill>
                          <a:latin typeface="Calibri"/>
                        </a:rPr>
                        <a:t>▲ 23.5%</a:t>
                      </a:r>
                    </a:p>
                  </a:txBody>
                  <a:tcPr marL="85725" marR="38100" marT="19050" marB="19050" anchor="ctr">
                    <a:solidFill>
                      <a:srgbClr val="F5F8FA"/>
                    </a:solidFill>
                  </a:tcPr>
                </a:tc>
                <a:tc>
                  <a:txBody>
                    <a:bodyPr wrap="none"/>
                    <a:lstStyle/>
                    <a:p>
                      <a:pPr algn="l"/>
                      <a:r>
                        <a:rPr sz="800" b="1">
                          <a:solidFill>
                            <a:srgbClr val="2E7D32"/>
                          </a:solidFill>
                          <a:latin typeface="Calibri"/>
                        </a:rPr>
                        <a:t>▲ 20.9%</a:t>
                      </a:r>
                    </a:p>
                  </a:txBody>
                  <a:tcPr marL="85725" marR="38100" marT="19050" marB="19050" anchor="ctr">
                    <a:solidFill>
                      <a:srgbClr val="F5F8FA"/>
                    </a:solidFill>
                  </a:tcPr>
                </a:tc>
                <a:tc>
                  <a:txBody>
                    <a:bodyPr wrap="none"/>
                    <a:lstStyle/>
                    <a:p>
                      <a:pPr algn="l"/>
                      <a:r>
                        <a:rPr sz="800" b="1">
                          <a:solidFill>
                            <a:srgbClr val="2E7D32"/>
                          </a:solidFill>
                          <a:latin typeface="Calibri"/>
                        </a:rPr>
                        <a:t>▲ 17.2%</a:t>
                      </a:r>
                    </a:p>
                  </a:txBody>
                  <a:tcPr marL="85725" marR="38100" marT="19050" marB="19050" anchor="ctr">
                    <a:solidFill>
                      <a:srgbClr val="F5F8FA"/>
                    </a:solidFill>
                  </a:tcPr>
                </a:tc>
                <a:tc>
                  <a:txBody>
                    <a:bodyPr wrap="none"/>
                    <a:lstStyle/>
                    <a:p>
                      <a:pPr algn="l"/>
                      <a:r>
                        <a:rPr sz="800" b="1">
                          <a:solidFill>
                            <a:srgbClr val="2E7D32"/>
                          </a:solidFill>
                          <a:latin typeface="Calibri"/>
                        </a:rPr>
                        <a:t>▲ 15.1%</a:t>
                      </a:r>
                    </a:p>
                  </a:txBody>
                  <a:tcPr marL="85725" marR="38100" marT="19050" marB="19050" anchor="ctr">
                    <a:solidFill>
                      <a:srgbClr val="F5F8FA"/>
                    </a:solidFill>
                  </a:tcPr>
                </a:tc>
                <a:tc>
                  <a:txBody>
                    <a:bodyPr wrap="none"/>
                    <a:lstStyle/>
                    <a:p>
                      <a:pPr algn="l"/>
                      <a:r>
                        <a:rPr sz="800" b="1">
                          <a:solidFill>
                            <a:srgbClr val="2E7D32"/>
                          </a:solidFill>
                          <a:latin typeface="Calibri"/>
                        </a:rPr>
                        <a:t>▲ 12.7%</a:t>
                      </a:r>
                    </a:p>
                  </a:txBody>
                  <a:tcPr marL="85725" marR="38100" marT="19050" marB="19050" anchor="ctr">
                    <a:solidFill>
                      <a:srgbClr val="F5F8FA"/>
                    </a:solidFill>
                  </a:tcPr>
                </a:tc>
                <a:tc>
                  <a:txBody>
                    <a:bodyPr wrap="none"/>
                    <a:lstStyle/>
                    <a:p>
                      <a:pPr algn="l"/>
                      <a:r>
                        <a:rPr sz="800" b="1">
                          <a:solidFill>
                            <a:srgbClr val="2E7D32"/>
                          </a:solidFill>
                          <a:latin typeface="Calibri"/>
                        </a:rPr>
                        <a:t>▲ 11.1%</a:t>
                      </a:r>
                    </a:p>
                  </a:txBody>
                  <a:tcPr marL="85725" marR="38100" marT="19050" marB="19050" anchor="ctr">
                    <a:solidFill>
                      <a:srgbClr val="F5F8FA"/>
                    </a:solidFill>
                  </a:tcPr>
                </a:tc>
                <a:tc>
                  <a:txBody>
                    <a:bodyPr wrap="none"/>
                    <a:lstStyle/>
                    <a:p>
                      <a:pPr algn="l"/>
                      <a:r>
                        <a:rPr sz="800" b="1">
                          <a:solidFill>
                            <a:srgbClr val="2E7D32"/>
                          </a:solidFill>
                          <a:latin typeface="Calibri"/>
                        </a:rPr>
                        <a:t>▲ 9.8%</a:t>
                      </a:r>
                    </a:p>
                  </a:txBody>
                  <a:tcPr marL="85725" marR="38100" marT="19050" marB="19050" anchor="ctr">
                    <a:solidFill>
                      <a:srgbClr val="F5F8FA"/>
                    </a:solidFill>
                  </a:tcPr>
                </a:tc>
                <a:tc>
                  <a:txBody>
                    <a:bodyPr wrap="none"/>
                    <a:lstStyle/>
                    <a:p>
                      <a:pPr algn="l"/>
                      <a:r>
                        <a:rPr sz="800" b="1">
                          <a:solidFill>
                            <a:srgbClr val="2E7D32"/>
                          </a:solidFill>
                          <a:latin typeface="Calibri"/>
                        </a:rPr>
                        <a:t>▲ 8.6%</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c>
                  <a:txBody>
                    <a:bodyPr wrap="none"/>
                    <a:lstStyle/>
                    <a:p>
                      <a:pPr algn="l"/>
                      <a:r>
                        <a:rPr sz="800" b="1">
                          <a:solidFill>
                            <a:srgbClr val="2E7D32"/>
                          </a:solidFill>
                          <a:latin typeface="Calibri"/>
                        </a:rPr>
                        <a:t>▲ 6.9%</a:t>
                      </a:r>
                    </a:p>
                  </a:txBody>
                  <a:tcPr marL="85725" marR="38100" marT="19050" marB="19050" anchor="ctr">
                    <a:solidFill>
                      <a:srgbClr val="F5F8FA"/>
                    </a:solidFill>
                  </a:tcPr>
                </a:tc>
                <a:tc>
                  <a:txBody>
                    <a:bodyPr wrap="none"/>
                    <a:lstStyle/>
                    <a:p>
                      <a:pPr algn="l"/>
                      <a:r>
                        <a:rPr sz="800" b="1">
                          <a:solidFill>
                            <a:srgbClr val="2E7D32"/>
                          </a:solidFill>
                          <a:latin typeface="Calibri"/>
                        </a:rPr>
                        <a:t>▲ 6.3%</a:t>
                      </a:r>
                    </a:p>
                  </a:txBody>
                  <a:tcPr marL="85725" marR="38100" marT="19050" marB="19050" anchor="ctr">
                    <a:solidFill>
                      <a:srgbClr val="F5F8FA"/>
                    </a:solidFill>
                  </a:tcPr>
                </a:tc>
                <a:tc>
                  <a:txBody>
                    <a:bodyPr wrap="none"/>
                    <a:lstStyle/>
                    <a:p>
                      <a:pPr algn="l"/>
                      <a:r>
                        <a:rPr sz="800" b="1">
                          <a:solidFill>
                            <a:srgbClr val="2E7D32"/>
                          </a:solidFill>
                          <a:latin typeface="Calibri"/>
                        </a:rPr>
                        <a:t>▲ 5.7%</a:t>
                      </a:r>
                    </a:p>
                  </a:txBody>
                  <a:tcPr marL="85725" marR="38100" marT="19050" marB="19050" anchor="ctr">
                    <a:solidFill>
                      <a:srgbClr val="F5F8FA"/>
                    </a:solidFill>
                  </a:tcPr>
                </a:tc>
                <a:tc>
                  <a:txBody>
                    <a:bodyPr wrap="none"/>
                    <a:lstStyle/>
                    <a:p>
                      <a:pPr algn="l"/>
                      <a:r>
                        <a:rPr sz="800" b="1">
                          <a:solidFill>
                            <a:srgbClr val="2E7D32"/>
                          </a:solidFill>
                          <a:latin typeface="Calibri"/>
                        </a:rPr>
                        <a:t>▲ 5.3%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Idacio</a:t>
                      </a:r>
                    </a:p>
                  </a:txBody>
                  <a:tcPr marL="85725" marR="38100" marT="19050" marB="19050" anchor="ctr">
                    <a:solidFill>
                      <a:srgbClr val="FFFFFF"/>
                    </a:solidFill>
                  </a:tcPr>
                </a:tc>
                <a:tc>
                  <a:txBody>
                    <a:bodyPr wrap="none"/>
                    <a:lstStyle/>
                    <a:p>
                      <a:pPr algn="l"/>
                      <a:r>
                        <a:rPr sz="800" b="1">
                          <a:solidFill>
                            <a:srgbClr val="2E7D32"/>
                          </a:solidFill>
                          <a:latin typeface="Calibri"/>
                        </a:rPr>
                        <a:t>▲ 13.4%</a:t>
                      </a:r>
                    </a:p>
                  </a:txBody>
                  <a:tcPr marL="85725" marR="38100" marT="19050" marB="19050" anchor="ctr">
                    <a:solidFill>
                      <a:srgbClr val="FFFFFF"/>
                    </a:solidFill>
                  </a:tcPr>
                </a:tc>
                <a:tc>
                  <a:txBody>
                    <a:bodyPr wrap="none"/>
                    <a:lstStyle/>
                    <a:p>
                      <a:pPr algn="l"/>
                      <a:r>
                        <a:rPr sz="800" b="1">
                          <a:solidFill>
                            <a:srgbClr val="2E7D32"/>
                          </a:solidFill>
                          <a:latin typeface="Calibri"/>
                        </a:rPr>
                        <a:t>▲ 20.3%</a:t>
                      </a:r>
                    </a:p>
                  </a:txBody>
                  <a:tcPr marL="85725" marR="38100" marT="19050" marB="19050" anchor="ctr">
                    <a:solidFill>
                      <a:srgbClr val="FFFFFF"/>
                    </a:solidFill>
                  </a:tcPr>
                </a:tc>
                <a:tc>
                  <a:txBody>
                    <a:bodyPr wrap="none"/>
                    <a:lstStyle/>
                    <a:p>
                      <a:pPr algn="l"/>
                      <a:r>
                        <a:rPr sz="800" b="1">
                          <a:solidFill>
                            <a:srgbClr val="2E7D32"/>
                          </a:solidFill>
                          <a:latin typeface="Calibri"/>
                        </a:rPr>
                        <a:t>▲ 24.2%</a:t>
                      </a:r>
                    </a:p>
                  </a:txBody>
                  <a:tcPr marL="85725" marR="38100" marT="19050" marB="19050" anchor="ctr">
                    <a:solidFill>
                      <a:srgbClr val="FFFFFF"/>
                    </a:solidFill>
                  </a:tcPr>
                </a:tc>
                <a:tc>
                  <a:txBody>
                    <a:bodyPr wrap="none"/>
                    <a:lstStyle/>
                    <a:p>
                      <a:pPr algn="l"/>
                      <a:r>
                        <a:rPr sz="800" b="1">
                          <a:solidFill>
                            <a:srgbClr val="2E7D32"/>
                          </a:solidFill>
                          <a:latin typeface="Calibri"/>
                        </a:rPr>
                        <a:t>▲ 21.5%</a:t>
                      </a:r>
                    </a:p>
                  </a:txBody>
                  <a:tcPr marL="85725" marR="38100" marT="19050" marB="19050" anchor="ctr">
                    <a:solidFill>
                      <a:srgbClr val="FFFFFF"/>
                    </a:solidFill>
                  </a:tcPr>
                </a:tc>
                <a:tc>
                  <a:txBody>
                    <a:bodyPr wrap="none"/>
                    <a:lstStyle/>
                    <a:p>
                      <a:pPr algn="l"/>
                      <a:r>
                        <a:rPr sz="800" b="1">
                          <a:solidFill>
                            <a:srgbClr val="2E7D32"/>
                          </a:solidFill>
                          <a:latin typeface="Calibri"/>
                        </a:rPr>
                        <a:t>▲ 17.8%</a:t>
                      </a:r>
                    </a:p>
                  </a:txBody>
                  <a:tcPr marL="85725" marR="38100" marT="19050" marB="19050" anchor="ctr">
                    <a:solidFill>
                      <a:srgbClr val="FFFFFF"/>
                    </a:solidFill>
                  </a:tcPr>
                </a:tc>
                <a:tc>
                  <a:txBody>
                    <a:bodyPr wrap="none"/>
                    <a:lstStyle/>
                    <a:p>
                      <a:pPr algn="l"/>
                      <a:r>
                        <a:rPr sz="800" b="1">
                          <a:solidFill>
                            <a:srgbClr val="2E7D32"/>
                          </a:solidFill>
                          <a:latin typeface="Calibri"/>
                        </a:rPr>
                        <a:t>▲ 15.7%</a:t>
                      </a:r>
                    </a:p>
                  </a:txBody>
                  <a:tcPr marL="85725" marR="38100" marT="19050" marB="19050" anchor="ctr">
                    <a:solidFill>
                      <a:srgbClr val="FFFFFF"/>
                    </a:solidFill>
                  </a:tcPr>
                </a:tc>
                <a:tc>
                  <a:txBody>
                    <a:bodyPr wrap="none"/>
                    <a:lstStyle/>
                    <a:p>
                      <a:pPr algn="l"/>
                      <a:r>
                        <a:rPr sz="800" b="1">
                          <a:solidFill>
                            <a:srgbClr val="2E7D32"/>
                          </a:solidFill>
                          <a:latin typeface="Calibri"/>
                        </a:rPr>
                        <a:t>▲ 13.3%</a:t>
                      </a:r>
                    </a:p>
                  </a:txBody>
                  <a:tcPr marL="85725" marR="38100" marT="19050" marB="19050" anchor="ctr">
                    <a:solidFill>
                      <a:srgbClr val="FFFFFF"/>
                    </a:solidFill>
                  </a:tcPr>
                </a:tc>
                <a:tc>
                  <a:txBody>
                    <a:bodyPr wrap="none"/>
                    <a:lstStyle/>
                    <a:p>
                      <a:pPr algn="l"/>
                      <a:r>
                        <a:rPr sz="800" b="1">
                          <a:solidFill>
                            <a:srgbClr val="2E7D32"/>
                          </a:solidFill>
                          <a:latin typeface="Calibri"/>
                        </a:rPr>
                        <a:t>▲ 11.7%</a:t>
                      </a:r>
                    </a:p>
                  </a:txBody>
                  <a:tcPr marL="85725" marR="38100" marT="19050" marB="19050" anchor="ctr">
                    <a:solidFill>
                      <a:srgbClr val="FFFFFF"/>
                    </a:solidFill>
                  </a:tcPr>
                </a:tc>
                <a:tc>
                  <a:txBody>
                    <a:bodyPr wrap="none"/>
                    <a:lstStyle/>
                    <a:p>
                      <a:pPr algn="l"/>
                      <a:r>
                        <a:rPr sz="800" b="1">
                          <a:solidFill>
                            <a:srgbClr val="2E7D32"/>
                          </a:solidFill>
                          <a:latin typeface="Calibri"/>
                        </a:rPr>
                        <a:t>▲ 10.4%</a:t>
                      </a:r>
                    </a:p>
                  </a:txBody>
                  <a:tcPr marL="85725" marR="38100" marT="19050" marB="19050" anchor="ctr">
                    <a:solidFill>
                      <a:srgbClr val="FFFFFF"/>
                    </a:solidFill>
                  </a:tcPr>
                </a:tc>
                <a:tc>
                  <a:txBody>
                    <a:bodyPr wrap="none"/>
                    <a:lstStyle/>
                    <a:p>
                      <a:pPr algn="l"/>
                      <a:r>
                        <a:rPr sz="800" b="1">
                          <a:solidFill>
                            <a:srgbClr val="2E7D32"/>
                          </a:solidFill>
                          <a:latin typeface="Calibri"/>
                        </a:rPr>
                        <a:t>▲ 9.2%</a:t>
                      </a:r>
                    </a:p>
                  </a:txBody>
                  <a:tcPr marL="85725" marR="38100" marT="19050" marB="19050" anchor="ctr">
                    <a:solidFill>
                      <a:srgbClr val="FFFFFF"/>
                    </a:solidFill>
                  </a:tcPr>
                </a:tc>
                <a:tc>
                  <a:txBody>
                    <a:bodyPr wrap="none"/>
                    <a:lstStyle/>
                    <a:p>
                      <a:pPr algn="l"/>
                      <a:r>
                        <a:rPr sz="800" b="1">
                          <a:solidFill>
                            <a:srgbClr val="2E7D32"/>
                          </a:solidFill>
                          <a:latin typeface="Calibri"/>
                        </a:rPr>
                        <a:t>▲ 8.3%</a:t>
                      </a:r>
                    </a:p>
                  </a:txBody>
                  <a:tcPr marL="85725" marR="38100" marT="19050" marB="19050" anchor="ctr">
                    <a:solidFill>
                      <a:srgbClr val="FFFFFF"/>
                    </a:solidFill>
                  </a:tcPr>
                </a:tc>
                <a:tc>
                  <a:txBody>
                    <a:bodyPr wrap="none"/>
                    <a:lstStyle/>
                    <a:p>
                      <a:pPr algn="l"/>
                      <a:r>
                        <a:rPr sz="800" b="1">
                          <a:solidFill>
                            <a:srgbClr val="2E7D32"/>
                          </a:solidFill>
                          <a:latin typeface="Calibri"/>
                        </a:rPr>
                        <a:t>▲ 7.5%</a:t>
                      </a:r>
                    </a:p>
                  </a:txBody>
                  <a:tcPr marL="85725" marR="38100" marT="19050" marB="19050" anchor="ctr">
                    <a:solidFill>
                      <a:srgbClr val="FFFFFF"/>
                    </a:solidFill>
                  </a:tcPr>
                </a:tc>
                <a:tc>
                  <a:txBody>
                    <a:bodyPr wrap="none"/>
                    <a:lstStyle/>
                    <a:p>
                      <a:pPr algn="l"/>
                      <a:r>
                        <a:rPr sz="800" b="1">
                          <a:solidFill>
                            <a:srgbClr val="2E7D32"/>
                          </a:solidFill>
                          <a:latin typeface="Calibri"/>
                        </a:rPr>
                        <a:t>▲ 6.8%</a:t>
                      </a:r>
                    </a:p>
                  </a:txBody>
                  <a:tcPr marL="85725" marR="38100" marT="19050" marB="19050" anchor="ctr">
                    <a:solidFill>
                      <a:srgbClr val="FFFFFF"/>
                    </a:solidFill>
                  </a:tcPr>
                </a:tc>
                <a:tc>
                  <a:txBody>
                    <a:bodyPr wrap="none"/>
                    <a:lstStyle/>
                    <a:p>
                      <a:pPr algn="l"/>
                      <a:r>
                        <a:rPr sz="800" b="1">
                          <a:solidFill>
                            <a:srgbClr val="2E7D32"/>
                          </a:solidFill>
                          <a:latin typeface="Calibri"/>
                        </a:rPr>
                        <a:t>▲ 6.3%</a:t>
                      </a:r>
                    </a:p>
                  </a:txBody>
                  <a:tcPr marL="85725" marR="38100" marT="19050" marB="19050" anchor="ctr">
                    <a:solidFill>
                      <a:srgbClr val="FFFFFF"/>
                    </a:solidFill>
                  </a:tcPr>
                </a:tc>
                <a:tc>
                  <a:txBody>
                    <a:bodyPr wrap="none"/>
                    <a:lstStyle/>
                    <a:p>
                      <a:pPr algn="l"/>
                      <a:r>
                        <a:rPr sz="800" b="1">
                          <a:solidFill>
                            <a:srgbClr val="2E7D32"/>
                          </a:solidFill>
                          <a:latin typeface="Calibri"/>
                        </a:rPr>
                        <a:t>▲ 5.9%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Hulio</a:t>
                      </a:r>
                    </a:p>
                  </a:txBody>
                  <a:tcPr marL="85725" marR="38100" marT="19050" marB="19050" anchor="ctr">
                    <a:solidFill>
                      <a:srgbClr val="F5F8FA"/>
                    </a:solidFill>
                  </a:tcPr>
                </a:tc>
                <a:tc>
                  <a:txBody>
                    <a:bodyPr wrap="none"/>
                    <a:lstStyle/>
                    <a:p>
                      <a:pPr algn="l"/>
                      <a:r>
                        <a:rPr sz="800" b="1">
                          <a:solidFill>
                            <a:srgbClr val="A86F00"/>
                          </a:solidFill>
                          <a:latin typeface="Calibri"/>
                        </a:rPr>
                        <a:t>▶ 10.4%</a:t>
                      </a:r>
                    </a:p>
                  </a:txBody>
                  <a:tcPr marL="85725" marR="38100" marT="19050" marB="19050" anchor="ctr">
                    <a:solidFill>
                      <a:srgbClr val="F5F8FA"/>
                    </a:solidFill>
                  </a:tcPr>
                </a:tc>
                <a:tc>
                  <a:txBody>
                    <a:bodyPr wrap="none"/>
                    <a:lstStyle/>
                    <a:p>
                      <a:pPr algn="l"/>
                      <a:r>
                        <a:rPr sz="800" b="1">
                          <a:solidFill>
                            <a:srgbClr val="A86F00"/>
                          </a:solidFill>
                          <a:latin typeface="Calibri"/>
                        </a:rPr>
                        <a:t>▶ 17.1%</a:t>
                      </a:r>
                    </a:p>
                  </a:txBody>
                  <a:tcPr marL="85725" marR="38100" marT="19050" marB="19050" anchor="ctr">
                    <a:solidFill>
                      <a:srgbClr val="F5F8FA"/>
                    </a:solidFill>
                  </a:tcPr>
                </a:tc>
                <a:tc>
                  <a:txBody>
                    <a:bodyPr wrap="none"/>
                    <a:lstStyle/>
                    <a:p>
                      <a:pPr algn="l"/>
                      <a:r>
                        <a:rPr sz="800" b="1">
                          <a:solidFill>
                            <a:srgbClr val="A86F00"/>
                          </a:solidFill>
                          <a:latin typeface="Calibri"/>
                        </a:rPr>
                        <a:t>▶ 20.9%</a:t>
                      </a:r>
                    </a:p>
                  </a:txBody>
                  <a:tcPr marL="85725" marR="38100" marT="19050" marB="19050" anchor="ctr">
                    <a:solidFill>
                      <a:srgbClr val="F5F8FA"/>
                    </a:solidFill>
                  </a:tcPr>
                </a:tc>
                <a:tc>
                  <a:txBody>
                    <a:bodyPr wrap="none"/>
                    <a:lstStyle/>
                    <a:p>
                      <a:pPr algn="l"/>
                      <a:r>
                        <a:rPr sz="800" b="1">
                          <a:solidFill>
                            <a:srgbClr val="A86F00"/>
                          </a:solidFill>
                          <a:latin typeface="Calibri"/>
                        </a:rPr>
                        <a:t>▶ 18.3%</a:t>
                      </a:r>
                    </a:p>
                  </a:txBody>
                  <a:tcPr marL="85725" marR="38100" marT="19050" marB="19050" anchor="ctr">
                    <a:solidFill>
                      <a:srgbClr val="F5F8FA"/>
                    </a:solidFill>
                  </a:tcPr>
                </a:tc>
                <a:tc>
                  <a:txBody>
                    <a:bodyPr wrap="none"/>
                    <a:lstStyle/>
                    <a:p>
                      <a:pPr algn="l"/>
                      <a:r>
                        <a:rPr sz="800" b="1">
                          <a:solidFill>
                            <a:srgbClr val="A86F00"/>
                          </a:solidFill>
                          <a:latin typeface="Calibri"/>
                        </a:rPr>
                        <a:t>▶ 14.7%</a:t>
                      </a:r>
                    </a:p>
                  </a:txBody>
                  <a:tcPr marL="85725" marR="38100" marT="19050" marB="19050" anchor="ctr">
                    <a:solidFill>
                      <a:srgbClr val="F5F8FA"/>
                    </a:solidFill>
                  </a:tcPr>
                </a:tc>
                <a:tc>
                  <a:txBody>
                    <a:bodyPr wrap="none"/>
                    <a:lstStyle/>
                    <a:p>
                      <a:pPr algn="l"/>
                      <a:r>
                        <a:rPr sz="800" b="1">
                          <a:solidFill>
                            <a:srgbClr val="A86F00"/>
                          </a:solidFill>
                          <a:latin typeface="Calibri"/>
                        </a:rPr>
                        <a:t>▶ 12.6%</a:t>
                      </a:r>
                    </a:p>
                  </a:txBody>
                  <a:tcPr marL="85725" marR="38100" marT="19050" marB="19050" anchor="ctr">
                    <a:solidFill>
                      <a:srgbClr val="F5F8FA"/>
                    </a:solidFill>
                  </a:tcPr>
                </a:tc>
                <a:tc>
                  <a:txBody>
                    <a:bodyPr wrap="none"/>
                    <a:lstStyle/>
                    <a:p>
                      <a:pPr algn="l"/>
                      <a:r>
                        <a:rPr sz="800" b="1">
                          <a:solidFill>
                            <a:srgbClr val="A86F00"/>
                          </a:solidFill>
                          <a:latin typeface="Calibri"/>
                        </a:rPr>
                        <a:t>▶ 10.3%</a:t>
                      </a:r>
                    </a:p>
                  </a:txBody>
                  <a:tcPr marL="85725" marR="38100" marT="19050" marB="19050" anchor="ctr">
                    <a:solidFill>
                      <a:srgbClr val="F5F8FA"/>
                    </a:solidFill>
                  </a:tcPr>
                </a:tc>
                <a:tc>
                  <a:txBody>
                    <a:bodyPr wrap="none"/>
                    <a:lstStyle/>
                    <a:p>
                      <a:pPr algn="l"/>
                      <a:r>
                        <a:rPr sz="800" b="1">
                          <a:solidFill>
                            <a:srgbClr val="A86F00"/>
                          </a:solidFill>
                          <a:latin typeface="Calibri"/>
                        </a:rPr>
                        <a:t>▶ 8.7%</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6.3%</a:t>
                      </a:r>
                    </a:p>
                  </a:txBody>
                  <a:tcPr marL="85725" marR="38100" marT="19050" marB="19050" anchor="ctr">
                    <a:solidFill>
                      <a:srgbClr val="F5F8FA"/>
                    </a:solidFill>
                  </a:tcPr>
                </a:tc>
                <a:tc>
                  <a:txBody>
                    <a:bodyPr wrap="none"/>
                    <a:lstStyle/>
                    <a:p>
                      <a:pPr algn="l"/>
                      <a:r>
                        <a:rPr sz="800" b="1">
                          <a:solidFill>
                            <a:srgbClr val="A86F00"/>
                          </a:solidFill>
                          <a:latin typeface="Calibri"/>
                        </a:rPr>
                        <a:t>▶ 5.4%</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c>
                  <a:txBody>
                    <a:bodyPr wrap="none"/>
                    <a:lstStyle/>
                    <a:p>
                      <a:pPr algn="l"/>
                      <a:r>
                        <a:rPr sz="800" b="1">
                          <a:solidFill>
                            <a:srgbClr val="A86F00"/>
                          </a:solidFill>
                          <a:latin typeface="Calibri"/>
                        </a:rPr>
                        <a:t>▶ 4.0%</a:t>
                      </a:r>
                    </a:p>
                  </a:txBody>
                  <a:tcPr marL="85725" marR="38100" marT="19050" marB="19050" anchor="ctr">
                    <a:solidFill>
                      <a:srgbClr val="F5F8FA"/>
                    </a:solidFill>
                  </a:tcPr>
                </a:tc>
                <a:tc>
                  <a:txBody>
                    <a:bodyPr wrap="none"/>
                    <a:lstStyle/>
                    <a:p>
                      <a:pPr algn="l"/>
                      <a:r>
                        <a:rPr sz="800" b="1">
                          <a:solidFill>
                            <a:srgbClr val="A86F00"/>
                          </a:solidFill>
                          <a:latin typeface="Calibri"/>
                        </a:rPr>
                        <a:t>▶ 3.5%</a:t>
                      </a:r>
                    </a:p>
                  </a:txBody>
                  <a:tcPr marL="85725" marR="38100" marT="19050" marB="19050" anchor="ctr">
                    <a:solidFill>
                      <a:srgbClr val="F5F8FA"/>
                    </a:solidFill>
                  </a:tcPr>
                </a:tc>
                <a:tc>
                  <a:txBody>
                    <a:bodyPr wrap="none"/>
                    <a:lstStyle/>
                    <a:p>
                      <a:pPr algn="l"/>
                      <a:r>
                        <a:rPr sz="800" b="1">
                          <a:solidFill>
                            <a:srgbClr val="A86F00"/>
                          </a:solidFill>
                          <a:latin typeface="Calibri"/>
                        </a:rPr>
                        <a:t>▶ 3.1%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800" b="1">
                          <a:solidFill>
                            <a:srgbClr val="2E7D32"/>
                          </a:solidFill>
                          <a:latin typeface="Calibri"/>
                        </a:rPr>
                        <a:t>▲ 12.9%</a:t>
                      </a:r>
                    </a:p>
                  </a:txBody>
                  <a:tcPr marL="85725" marR="38100" marT="19050" marB="19050" anchor="ctr">
                    <a:solidFill>
                      <a:srgbClr val="FFFFFF"/>
                    </a:solidFill>
                  </a:tcPr>
                </a:tc>
                <a:tc>
                  <a:txBody>
                    <a:bodyPr wrap="none"/>
                    <a:lstStyle/>
                    <a:p>
                      <a:pPr algn="l"/>
                      <a:r>
                        <a:rPr sz="800" b="1">
                          <a:solidFill>
                            <a:srgbClr val="2E7D32"/>
                          </a:solidFill>
                          <a:latin typeface="Calibri"/>
                        </a:rPr>
                        <a:t>▲ 19.8%</a:t>
                      </a:r>
                    </a:p>
                  </a:txBody>
                  <a:tcPr marL="85725" marR="38100" marT="19050" marB="19050" anchor="ctr">
                    <a:solidFill>
                      <a:srgbClr val="FFFFFF"/>
                    </a:solidFill>
                  </a:tcPr>
                </a:tc>
                <a:tc>
                  <a:txBody>
                    <a:bodyPr wrap="none"/>
                    <a:lstStyle/>
                    <a:p>
                      <a:pPr algn="l"/>
                      <a:r>
                        <a:rPr sz="800" b="1">
                          <a:solidFill>
                            <a:srgbClr val="2E7D32"/>
                          </a:solidFill>
                          <a:latin typeface="Calibri"/>
                        </a:rPr>
                        <a:t>▲ 23.6%</a:t>
                      </a:r>
                    </a:p>
                  </a:txBody>
                  <a:tcPr marL="85725" marR="38100" marT="19050" marB="19050" anchor="ctr">
                    <a:solidFill>
                      <a:srgbClr val="FFFFFF"/>
                    </a:solidFill>
                  </a:tcPr>
                </a:tc>
                <a:tc>
                  <a:txBody>
                    <a:bodyPr wrap="none"/>
                    <a:lstStyle/>
                    <a:p>
                      <a:pPr algn="l"/>
                      <a:r>
                        <a:rPr sz="800" b="1">
                          <a:solidFill>
                            <a:srgbClr val="2E7D32"/>
                          </a:solidFill>
                          <a:latin typeface="Calibri"/>
                        </a:rPr>
                        <a:t>▲ 21.0%</a:t>
                      </a:r>
                    </a:p>
                  </a:txBody>
                  <a:tcPr marL="85725" marR="38100" marT="19050" marB="19050" anchor="ctr">
                    <a:solidFill>
                      <a:srgbClr val="FFFFFF"/>
                    </a:solidFill>
                  </a:tcPr>
                </a:tc>
                <a:tc>
                  <a:txBody>
                    <a:bodyPr wrap="none"/>
                    <a:lstStyle/>
                    <a:p>
                      <a:pPr algn="l"/>
                      <a:r>
                        <a:rPr sz="800" b="1">
                          <a:solidFill>
                            <a:srgbClr val="2E7D32"/>
                          </a:solidFill>
                          <a:latin typeface="Calibri"/>
                        </a:rPr>
                        <a:t>▲ 17.3%</a:t>
                      </a:r>
                    </a:p>
                  </a:txBody>
                  <a:tcPr marL="85725" marR="38100" marT="19050" marB="19050" anchor="ctr">
                    <a:solidFill>
                      <a:srgbClr val="FFFFFF"/>
                    </a:solidFill>
                  </a:tcPr>
                </a:tc>
                <a:tc>
                  <a:txBody>
                    <a:bodyPr wrap="none"/>
                    <a:lstStyle/>
                    <a:p>
                      <a:pPr algn="l"/>
                      <a:r>
                        <a:rPr sz="800" b="1">
                          <a:solidFill>
                            <a:srgbClr val="2E7D32"/>
                          </a:solidFill>
                          <a:latin typeface="Calibri"/>
                        </a:rPr>
                        <a:t>▲ 15.2%</a:t>
                      </a:r>
                    </a:p>
                  </a:txBody>
                  <a:tcPr marL="85725" marR="38100" marT="19050" marB="19050" anchor="ctr">
                    <a:solidFill>
                      <a:srgbClr val="FFFFFF"/>
                    </a:solidFill>
                  </a:tcPr>
                </a:tc>
                <a:tc>
                  <a:txBody>
                    <a:bodyPr wrap="none"/>
                    <a:lstStyle/>
                    <a:p>
                      <a:pPr algn="l"/>
                      <a:r>
                        <a:rPr sz="800" b="1">
                          <a:solidFill>
                            <a:srgbClr val="2E7D32"/>
                          </a:solidFill>
                          <a:latin typeface="Calibri"/>
                        </a:rPr>
                        <a:t>▲ 12.8%</a:t>
                      </a:r>
                    </a:p>
                  </a:txBody>
                  <a:tcPr marL="85725" marR="38100" marT="19050" marB="19050" anchor="ctr">
                    <a:solidFill>
                      <a:srgbClr val="FFFFFF"/>
                    </a:solidFill>
                  </a:tcPr>
                </a:tc>
                <a:tc>
                  <a:txBody>
                    <a:bodyPr wrap="none"/>
                    <a:lstStyle/>
                    <a:p>
                      <a:pPr algn="l"/>
                      <a:r>
                        <a:rPr sz="800" b="1">
                          <a:solidFill>
                            <a:srgbClr val="2E7D32"/>
                          </a:solidFill>
                          <a:latin typeface="Calibri"/>
                        </a:rPr>
                        <a:t>▲ 11.2%</a:t>
                      </a:r>
                    </a:p>
                  </a:txBody>
                  <a:tcPr marL="85725" marR="38100" marT="19050" marB="19050" anchor="ctr">
                    <a:solidFill>
                      <a:srgbClr val="FFFFFF"/>
                    </a:solidFill>
                  </a:tcPr>
                </a:tc>
                <a:tc>
                  <a:txBody>
                    <a:bodyPr wrap="none"/>
                    <a:lstStyle/>
                    <a:p>
                      <a:pPr algn="l"/>
                      <a:r>
                        <a:rPr sz="800" b="1">
                          <a:solidFill>
                            <a:srgbClr val="2E7D32"/>
                          </a:solidFill>
                          <a:latin typeface="Calibri"/>
                        </a:rPr>
                        <a:t>▲ 9.9%</a:t>
                      </a:r>
                    </a:p>
                  </a:txBody>
                  <a:tcPr marL="85725" marR="38100" marT="19050" marB="19050" anchor="ctr">
                    <a:solidFill>
                      <a:srgbClr val="FFFFFF"/>
                    </a:solidFill>
                  </a:tcPr>
                </a:tc>
                <a:tc>
                  <a:txBody>
                    <a:bodyPr wrap="none"/>
                    <a:lstStyle/>
                    <a:p>
                      <a:pPr algn="l"/>
                      <a:r>
                        <a:rPr sz="800" b="1">
                          <a:solidFill>
                            <a:srgbClr val="2E7D32"/>
                          </a:solidFill>
                          <a:latin typeface="Calibri"/>
                        </a:rPr>
                        <a:t>▲ 8.7%</a:t>
                      </a:r>
                    </a:p>
                  </a:txBody>
                  <a:tcPr marL="85725" marR="38100" marT="19050" marB="19050" anchor="ctr">
                    <a:solidFill>
                      <a:srgbClr val="FFFFFF"/>
                    </a:solidFill>
                  </a:tcPr>
                </a:tc>
                <a:tc>
                  <a:txBody>
                    <a:bodyPr wrap="none"/>
                    <a:lstStyle/>
                    <a:p>
                      <a:pPr algn="l"/>
                      <a:r>
                        <a:rPr sz="800" b="1">
                          <a:solidFill>
                            <a:srgbClr val="2E7D32"/>
                          </a:solidFill>
                          <a:latin typeface="Calibri"/>
                        </a:rPr>
                        <a:t>▲ 7.8%</a:t>
                      </a:r>
                    </a:p>
                  </a:txBody>
                  <a:tcPr marL="85725" marR="38100" marT="19050" marB="19050" anchor="ctr">
                    <a:solidFill>
                      <a:srgbClr val="FFFFFF"/>
                    </a:solidFill>
                  </a:tcPr>
                </a:tc>
                <a:tc>
                  <a:txBody>
                    <a:bodyPr wrap="none"/>
                    <a:lstStyle/>
                    <a:p>
                      <a:pPr algn="l"/>
                      <a:r>
                        <a:rPr sz="800" b="1">
                          <a:solidFill>
                            <a:srgbClr val="2E7D32"/>
                          </a:solidFill>
                          <a:latin typeface="Calibri"/>
                        </a:rPr>
                        <a:t>▲ 7.0%</a:t>
                      </a:r>
                    </a:p>
                  </a:txBody>
                  <a:tcPr marL="85725" marR="38100" marT="19050" marB="19050" anchor="ctr">
                    <a:solidFill>
                      <a:srgbClr val="FFFFFF"/>
                    </a:solidFill>
                  </a:tcPr>
                </a:tc>
                <a:tc>
                  <a:txBody>
                    <a:bodyPr wrap="none"/>
                    <a:lstStyle/>
                    <a:p>
                      <a:pPr algn="l"/>
                      <a:r>
                        <a:rPr sz="800" b="1">
                          <a:solidFill>
                            <a:srgbClr val="2E7D32"/>
                          </a:solidFill>
                          <a:latin typeface="Calibri"/>
                        </a:rPr>
                        <a:t>▲ 6.4%</a:t>
                      </a:r>
                    </a:p>
                  </a:txBody>
                  <a:tcPr marL="85725" marR="38100" marT="19050" marB="19050" anchor="ctr">
                    <a:solidFill>
                      <a:srgbClr val="FFFFFF"/>
                    </a:solidFill>
                  </a:tcPr>
                </a:tc>
                <a:tc>
                  <a:txBody>
                    <a:bodyPr wrap="none"/>
                    <a:lstStyle/>
                    <a:p>
                      <a:pPr algn="l"/>
                      <a:r>
                        <a:rPr sz="800" b="1">
                          <a:solidFill>
                            <a:srgbClr val="2E7D32"/>
                          </a:solidFill>
                          <a:latin typeface="Calibri"/>
                        </a:rPr>
                        <a:t>▲ 5.8%</a:t>
                      </a:r>
                    </a:p>
                  </a:txBody>
                  <a:tcPr marL="85725" marR="38100" marT="19050" marB="19050" anchor="ctr">
                    <a:solidFill>
                      <a:srgbClr val="FFFFFF"/>
                    </a:solidFill>
                  </a:tcPr>
                </a:tc>
                <a:tc>
                  <a:txBody>
                    <a:bodyPr wrap="none"/>
                    <a:lstStyle/>
                    <a:p>
                      <a:pPr algn="l"/>
                      <a:r>
                        <a:rPr sz="800" b="1">
                          <a:solidFill>
                            <a:srgbClr val="2E7D32"/>
                          </a:solidFill>
                          <a:latin typeface="Calibri"/>
                        </a:rPr>
                        <a:t>▲ 5.4%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Yusimry</a:t>
                      </a:r>
                    </a:p>
                  </a:txBody>
                  <a:tcPr marL="85725" marR="38100" marT="19050" marB="19050" anchor="ctr">
                    <a:solidFill>
                      <a:srgbClr val="F5F8FA"/>
                    </a:solidFill>
                  </a:tcPr>
                </a:tc>
                <a:tc>
                  <a:txBody>
                    <a:bodyPr wrap="none"/>
                    <a:lstStyle/>
                    <a:p>
                      <a:pPr algn="l"/>
                      <a:r>
                        <a:rPr sz="800" b="1">
                          <a:solidFill>
                            <a:srgbClr val="A86F00"/>
                          </a:solidFill>
                          <a:latin typeface="Calibri"/>
                        </a:rPr>
                        <a:t>▶ 10.2%</a:t>
                      </a:r>
                    </a:p>
                  </a:txBody>
                  <a:tcPr marL="85725" marR="38100" marT="19050" marB="19050" anchor="ctr">
                    <a:solidFill>
                      <a:srgbClr val="F5F8FA"/>
                    </a:solidFill>
                  </a:tcPr>
                </a:tc>
                <a:tc>
                  <a:txBody>
                    <a:bodyPr wrap="none"/>
                    <a:lstStyle/>
                    <a:p>
                      <a:pPr algn="l"/>
                      <a:r>
                        <a:rPr sz="800" b="1">
                          <a:solidFill>
                            <a:srgbClr val="A86F00"/>
                          </a:solidFill>
                          <a:latin typeface="Calibri"/>
                        </a:rPr>
                        <a:t>▶ 16.9%</a:t>
                      </a:r>
                    </a:p>
                  </a:txBody>
                  <a:tcPr marL="85725" marR="38100" marT="19050" marB="19050" anchor="ctr">
                    <a:solidFill>
                      <a:srgbClr val="F5F8FA"/>
                    </a:solidFill>
                  </a:tcPr>
                </a:tc>
                <a:tc>
                  <a:txBody>
                    <a:bodyPr wrap="none"/>
                    <a:lstStyle/>
                    <a:p>
                      <a:pPr algn="l"/>
                      <a:r>
                        <a:rPr sz="800" b="1">
                          <a:solidFill>
                            <a:srgbClr val="A86F00"/>
                          </a:solidFill>
                          <a:latin typeface="Calibri"/>
                        </a:rPr>
                        <a:t>▶ 20.6%</a:t>
                      </a:r>
                    </a:p>
                  </a:txBody>
                  <a:tcPr marL="85725" marR="38100" marT="19050" marB="19050" anchor="ctr">
                    <a:solidFill>
                      <a:srgbClr val="F5F8FA"/>
                    </a:solidFill>
                  </a:tcPr>
                </a:tc>
                <a:tc>
                  <a:txBody>
                    <a:bodyPr wrap="none"/>
                    <a:lstStyle/>
                    <a:p>
                      <a:pPr algn="l"/>
                      <a:r>
                        <a:rPr sz="800" b="1">
                          <a:solidFill>
                            <a:srgbClr val="A86F00"/>
                          </a:solidFill>
                          <a:latin typeface="Calibri"/>
                        </a:rPr>
                        <a:t>▶ 18.0%</a:t>
                      </a:r>
                    </a:p>
                  </a:txBody>
                  <a:tcPr marL="85725" marR="38100" marT="19050" marB="19050" anchor="ctr">
                    <a:solidFill>
                      <a:srgbClr val="F5F8FA"/>
                    </a:solidFill>
                  </a:tcPr>
                </a:tc>
                <a:tc>
                  <a:txBody>
                    <a:bodyPr wrap="none"/>
                    <a:lstStyle/>
                    <a:p>
                      <a:pPr algn="l"/>
                      <a:r>
                        <a:rPr sz="800" b="1">
                          <a:solidFill>
                            <a:srgbClr val="A86F00"/>
                          </a:solidFill>
                          <a:latin typeface="Calibri"/>
                        </a:rPr>
                        <a:t>▶ 14.5%</a:t>
                      </a:r>
                    </a:p>
                  </a:txBody>
                  <a:tcPr marL="85725" marR="38100" marT="19050" marB="19050" anchor="ctr">
                    <a:solidFill>
                      <a:srgbClr val="F5F8FA"/>
                    </a:solidFill>
                  </a:tcPr>
                </a:tc>
                <a:tc>
                  <a:txBody>
                    <a:bodyPr wrap="none"/>
                    <a:lstStyle/>
                    <a:p>
                      <a:pPr algn="l"/>
                      <a:r>
                        <a:rPr sz="800" b="1">
                          <a:solidFill>
                            <a:srgbClr val="A86F00"/>
                          </a:solidFill>
                          <a:latin typeface="Calibri"/>
                        </a:rPr>
                        <a:t>▶ 12.4%</a:t>
                      </a:r>
                    </a:p>
                  </a:txBody>
                  <a:tcPr marL="85725" marR="38100" marT="19050" marB="19050" anchor="ctr">
                    <a:solidFill>
                      <a:srgbClr val="F5F8FA"/>
                    </a:solidFill>
                  </a:tcPr>
                </a:tc>
                <a:tc>
                  <a:txBody>
                    <a:bodyPr wrap="none"/>
                    <a:lstStyle/>
                    <a:p>
                      <a:pPr algn="l"/>
                      <a:r>
                        <a:rPr sz="800" b="1">
                          <a:solidFill>
                            <a:srgbClr val="A86F00"/>
                          </a:solidFill>
                          <a:latin typeface="Calibri"/>
                        </a:rPr>
                        <a:t>▶ 10.1%</a:t>
                      </a:r>
                    </a:p>
                  </a:txBody>
                  <a:tcPr marL="85725" marR="38100" marT="19050" marB="19050" anchor="ctr">
                    <a:solidFill>
                      <a:srgbClr val="F5F8FA"/>
                    </a:solidFill>
                  </a:tcPr>
                </a:tc>
                <a:tc>
                  <a:txBody>
                    <a:bodyPr wrap="none"/>
                    <a:lstStyle/>
                    <a:p>
                      <a:pPr algn="l"/>
                      <a:r>
                        <a:rPr sz="800" b="1">
                          <a:solidFill>
                            <a:srgbClr val="A86F00"/>
                          </a:solidFill>
                          <a:latin typeface="Calibri"/>
                        </a:rPr>
                        <a:t>▶ 8.5%</a:t>
                      </a:r>
                    </a:p>
                  </a:txBody>
                  <a:tcPr marL="85725" marR="38100" marT="19050" marB="19050" anchor="ctr">
                    <a:solidFill>
                      <a:srgbClr val="F5F8FA"/>
                    </a:solidFill>
                  </a:tcPr>
                </a:tc>
                <a:tc>
                  <a:txBody>
                    <a:bodyPr wrap="none"/>
                    <a:lstStyle/>
                    <a:p>
                      <a:pPr algn="l"/>
                      <a:r>
                        <a:rPr sz="800" b="1">
                          <a:solidFill>
                            <a:srgbClr val="A86F00"/>
                          </a:solidFill>
                          <a:latin typeface="Calibri"/>
                        </a:rPr>
                        <a:t>▶ 7.2%</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5.2%</a:t>
                      </a:r>
                    </a:p>
                  </a:txBody>
                  <a:tcPr marL="85725" marR="38100" marT="19050" marB="19050" anchor="ctr">
                    <a:solidFill>
                      <a:srgbClr val="F5F8FA"/>
                    </a:solidFill>
                  </a:tcPr>
                </a:tc>
                <a:tc>
                  <a:txBody>
                    <a:bodyPr wrap="none"/>
                    <a:lstStyle/>
                    <a:p>
                      <a:pPr algn="l"/>
                      <a:r>
                        <a:rPr sz="800" b="1">
                          <a:solidFill>
                            <a:srgbClr val="A86F00"/>
                          </a:solidFill>
                          <a:latin typeface="Calibri"/>
                        </a:rPr>
                        <a:t>▶ 4.4%</a:t>
                      </a:r>
                    </a:p>
                  </a:txBody>
                  <a:tcPr marL="85725" marR="38100" marT="19050" marB="19050" anchor="ctr">
                    <a:solidFill>
                      <a:srgbClr val="F5F8FA"/>
                    </a:solidFill>
                  </a:tcPr>
                </a:tc>
                <a:tc>
                  <a:txBody>
                    <a:bodyPr wrap="none"/>
                    <a:lstStyle/>
                    <a:p>
                      <a:pPr algn="l"/>
                      <a:r>
                        <a:rPr sz="800" b="1">
                          <a:solidFill>
                            <a:srgbClr val="A86F00"/>
                          </a:solidFill>
                          <a:latin typeface="Calibri"/>
                        </a:rPr>
                        <a:t>▶ 3.8%</a:t>
                      </a:r>
                    </a:p>
                  </a:txBody>
                  <a:tcPr marL="85725" marR="38100" marT="19050" marB="19050" anchor="ctr">
                    <a:solidFill>
                      <a:srgbClr val="F5F8FA"/>
                    </a:solidFill>
                  </a:tcPr>
                </a:tc>
                <a:tc>
                  <a:txBody>
                    <a:bodyPr wrap="none"/>
                    <a:lstStyle/>
                    <a:p>
                      <a:pPr algn="l"/>
                      <a:r>
                        <a:rPr sz="800" b="1">
                          <a:solidFill>
                            <a:srgbClr val="A86F00"/>
                          </a:solidFill>
                          <a:latin typeface="Calibri"/>
                        </a:rPr>
                        <a:t>▶ 3.3%</a:t>
                      </a:r>
                    </a:p>
                  </a:txBody>
                  <a:tcPr marL="85725" marR="38100" marT="19050" marB="19050" anchor="ctr">
                    <a:solidFill>
                      <a:srgbClr val="F5F8FA"/>
                    </a:solidFill>
                  </a:tcPr>
                </a:tc>
                <a:tc>
                  <a:txBody>
                    <a:bodyPr wrap="none"/>
                    <a:lstStyle/>
                    <a:p>
                      <a:pPr algn="l"/>
                      <a:r>
                        <a:rPr sz="800" b="1">
                          <a:solidFill>
                            <a:srgbClr val="A86F00"/>
                          </a:solidFill>
                          <a:latin typeface="Calibri"/>
                        </a:rPr>
                        <a:t>▶ 2.9%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Yuflyma</a:t>
                      </a:r>
                    </a:p>
                  </a:txBody>
                  <a:tcPr marL="85725" marR="38100" marT="19050" marB="19050" anchor="ctr">
                    <a:solidFill>
                      <a:srgbClr val="FFFFFF"/>
                    </a:solidFill>
                  </a:tcPr>
                </a:tc>
                <a:tc>
                  <a:txBody>
                    <a:bodyPr wrap="none"/>
                    <a:lstStyle/>
                    <a:p>
                      <a:pPr algn="l"/>
                      <a:r>
                        <a:rPr sz="800" b="1">
                          <a:solidFill>
                            <a:srgbClr val="A86F00"/>
                          </a:solidFill>
                          <a:latin typeface="Calibri"/>
                        </a:rPr>
                        <a:t>▶ 12.2%</a:t>
                      </a:r>
                    </a:p>
                  </a:txBody>
                  <a:tcPr marL="85725" marR="38100" marT="19050" marB="19050" anchor="ctr">
                    <a:solidFill>
                      <a:srgbClr val="FFFFFF"/>
                    </a:solidFill>
                  </a:tcPr>
                </a:tc>
                <a:tc>
                  <a:txBody>
                    <a:bodyPr wrap="none"/>
                    <a:lstStyle/>
                    <a:p>
                      <a:pPr algn="l"/>
                      <a:r>
                        <a:rPr sz="800" b="1">
                          <a:solidFill>
                            <a:srgbClr val="A86F00"/>
                          </a:solidFill>
                          <a:latin typeface="Calibri"/>
                        </a:rPr>
                        <a:t>▶ 19.0%</a:t>
                      </a:r>
                    </a:p>
                  </a:txBody>
                  <a:tcPr marL="85725" marR="38100" marT="19050" marB="19050" anchor="ctr">
                    <a:solidFill>
                      <a:srgbClr val="FFFFFF"/>
                    </a:solidFill>
                  </a:tcPr>
                </a:tc>
                <a:tc>
                  <a:txBody>
                    <a:bodyPr wrap="none"/>
                    <a:lstStyle/>
                    <a:p>
                      <a:pPr algn="l"/>
                      <a:r>
                        <a:rPr sz="800" b="1">
                          <a:solidFill>
                            <a:srgbClr val="A86F00"/>
                          </a:solidFill>
                          <a:latin typeface="Calibri"/>
                        </a:rPr>
                        <a:t>▶ 22.8%</a:t>
                      </a:r>
                    </a:p>
                  </a:txBody>
                  <a:tcPr marL="85725" marR="38100" marT="19050" marB="19050" anchor="ctr">
                    <a:solidFill>
                      <a:srgbClr val="FFFFFF"/>
                    </a:solidFill>
                  </a:tcPr>
                </a:tc>
                <a:tc>
                  <a:txBody>
                    <a:bodyPr wrap="none"/>
                    <a:lstStyle/>
                    <a:p>
                      <a:pPr algn="l"/>
                      <a:r>
                        <a:rPr sz="800" b="1">
                          <a:solidFill>
                            <a:srgbClr val="A86F00"/>
                          </a:solidFill>
                          <a:latin typeface="Calibri"/>
                        </a:rPr>
                        <a:t>▶ 20.1%</a:t>
                      </a:r>
                    </a:p>
                  </a:txBody>
                  <a:tcPr marL="85725" marR="38100" marT="19050" marB="19050" anchor="ctr">
                    <a:solidFill>
                      <a:srgbClr val="FFFFFF"/>
                    </a:solidFill>
                  </a:tcPr>
                </a:tc>
                <a:tc>
                  <a:txBody>
                    <a:bodyPr wrap="none"/>
                    <a:lstStyle/>
                    <a:p>
                      <a:pPr algn="l"/>
                      <a:r>
                        <a:rPr sz="800" b="1">
                          <a:solidFill>
                            <a:srgbClr val="A86F00"/>
                          </a:solidFill>
                          <a:latin typeface="Calibri"/>
                        </a:rPr>
                        <a:t>▶ 16.5%</a:t>
                      </a:r>
                    </a:p>
                  </a:txBody>
                  <a:tcPr marL="85725" marR="38100" marT="19050" marB="19050" anchor="ctr">
                    <a:solidFill>
                      <a:srgbClr val="FFFFFF"/>
                    </a:solidFill>
                  </a:tcPr>
                </a:tc>
                <a:tc>
                  <a:txBody>
                    <a:bodyPr wrap="none"/>
                    <a:lstStyle/>
                    <a:p>
                      <a:pPr algn="l"/>
                      <a:r>
                        <a:rPr sz="800" b="1">
                          <a:solidFill>
                            <a:srgbClr val="A86F00"/>
                          </a:solidFill>
                          <a:latin typeface="Calibri"/>
                        </a:rPr>
                        <a:t>▶ 14.4%</a:t>
                      </a:r>
                    </a:p>
                  </a:txBody>
                  <a:tcPr marL="85725" marR="38100" marT="19050" marB="19050" anchor="ctr">
                    <a:solidFill>
                      <a:srgbClr val="FFFFFF"/>
                    </a:solidFill>
                  </a:tcPr>
                </a:tc>
                <a:tc>
                  <a:txBody>
                    <a:bodyPr wrap="none"/>
                    <a:lstStyle/>
                    <a:p>
                      <a:pPr algn="l"/>
                      <a:r>
                        <a:rPr sz="800" b="1">
                          <a:solidFill>
                            <a:srgbClr val="A86F00"/>
                          </a:solidFill>
                          <a:latin typeface="Calibri"/>
                        </a:rPr>
                        <a:t>▶ 12.0%</a:t>
                      </a:r>
                    </a:p>
                  </a:txBody>
                  <a:tcPr marL="85725" marR="38100" marT="19050" marB="19050" anchor="ctr">
                    <a:solidFill>
                      <a:srgbClr val="FFFFFF"/>
                    </a:solidFill>
                  </a:tcPr>
                </a:tc>
                <a:tc>
                  <a:txBody>
                    <a:bodyPr wrap="none"/>
                    <a:lstStyle/>
                    <a:p>
                      <a:pPr algn="l"/>
                      <a:r>
                        <a:rPr sz="800" b="1">
                          <a:solidFill>
                            <a:srgbClr val="A86F00"/>
                          </a:solidFill>
                          <a:latin typeface="Calibri"/>
                        </a:rPr>
                        <a:t>▶ 10.4%</a:t>
                      </a:r>
                    </a:p>
                  </a:txBody>
                  <a:tcPr marL="85725" marR="38100" marT="19050" marB="19050" anchor="ctr">
                    <a:solidFill>
                      <a:srgbClr val="FFFFFF"/>
                    </a:solidFill>
                  </a:tcPr>
                </a:tc>
                <a:tc>
                  <a:txBody>
                    <a:bodyPr wrap="none"/>
                    <a:lstStyle/>
                    <a:p>
                      <a:pPr algn="l"/>
                      <a:r>
                        <a:rPr sz="800" b="1">
                          <a:solidFill>
                            <a:srgbClr val="A86F00"/>
                          </a:solidFill>
                          <a:latin typeface="Calibri"/>
                        </a:rPr>
                        <a:t>▶ 9.1%</a:t>
                      </a:r>
                    </a:p>
                  </a:txBody>
                  <a:tcPr marL="85725" marR="38100" marT="19050" marB="19050" anchor="ctr">
                    <a:solidFill>
                      <a:srgbClr val="FFFFFF"/>
                    </a:solidFill>
                  </a:tcPr>
                </a:tc>
                <a:tc>
                  <a:txBody>
                    <a:bodyPr wrap="none"/>
                    <a:lstStyle/>
                    <a:p>
                      <a:pPr algn="l"/>
                      <a:r>
                        <a:rPr sz="800" b="1">
                          <a:solidFill>
                            <a:srgbClr val="A86F00"/>
                          </a:solidFill>
                          <a:latin typeface="Calibri"/>
                        </a:rPr>
                        <a:t>▶ 8.0%</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5.6%</a:t>
                      </a:r>
                    </a:p>
                  </a:txBody>
                  <a:tcPr marL="85725" marR="38100" marT="19050" marB="19050" anchor="ctr">
                    <a:solidFill>
                      <a:srgbClr val="FFFFFF"/>
                    </a:solidFill>
                  </a:tcPr>
                </a:tc>
                <a:tc>
                  <a:txBody>
                    <a:bodyPr wrap="none"/>
                    <a:lstStyle/>
                    <a:p>
                      <a:pPr algn="l"/>
                      <a:r>
                        <a:rPr sz="800" b="1">
                          <a:solidFill>
                            <a:srgbClr val="A86F00"/>
                          </a:solidFill>
                          <a:latin typeface="Calibri"/>
                        </a:rPr>
                        <a:t>▶ 5.1%</a:t>
                      </a:r>
                    </a:p>
                  </a:txBody>
                  <a:tcPr marL="85725" marR="38100" marT="19050" marB="19050" anchor="ctr">
                    <a:solidFill>
                      <a:srgbClr val="FFFFFF"/>
                    </a:solidFill>
                  </a:tcPr>
                </a:tc>
                <a:tc>
                  <a:txBody>
                    <a:bodyPr wrap="none"/>
                    <a:lstStyle/>
                    <a:p>
                      <a:pPr algn="l"/>
                      <a:r>
                        <a:rPr sz="800" b="1">
                          <a:solidFill>
                            <a:srgbClr val="A86F00"/>
                          </a:solidFill>
                          <a:latin typeface="Calibri"/>
                        </a:rPr>
                        <a:t>▶ 4.7%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Simlandi</a:t>
                      </a:r>
                    </a:p>
                  </a:txBody>
                  <a:tcPr marL="85725" marR="38100" marT="19050" marB="19050" anchor="ctr">
                    <a:solidFill>
                      <a:srgbClr val="F5F8FA"/>
                    </a:solidFill>
                  </a:tcPr>
                </a:tc>
                <a:tc>
                  <a:txBody>
                    <a:bodyPr wrap="none"/>
                    <a:lstStyle/>
                    <a:p>
                      <a:pPr algn="l"/>
                      <a:r>
                        <a:rPr sz="800" b="1">
                          <a:solidFill>
                            <a:srgbClr val="A86F00"/>
                          </a:solidFill>
                          <a:latin typeface="Calibri"/>
                        </a:rPr>
                        <a:t>▶ 11.6%</a:t>
                      </a:r>
                    </a:p>
                  </a:txBody>
                  <a:tcPr marL="85725" marR="38100" marT="19050" marB="19050" anchor="ctr">
                    <a:solidFill>
                      <a:srgbClr val="F5F8FA"/>
                    </a:solidFill>
                  </a:tcPr>
                </a:tc>
                <a:tc>
                  <a:txBody>
                    <a:bodyPr wrap="none"/>
                    <a:lstStyle/>
                    <a:p>
                      <a:pPr algn="l"/>
                      <a:r>
                        <a:rPr sz="800" b="1">
                          <a:solidFill>
                            <a:srgbClr val="A86F00"/>
                          </a:solidFill>
                          <a:latin typeface="Calibri"/>
                        </a:rPr>
                        <a:t>▶ 18.4%</a:t>
                      </a:r>
                    </a:p>
                  </a:txBody>
                  <a:tcPr marL="85725" marR="38100" marT="19050" marB="19050" anchor="ctr">
                    <a:solidFill>
                      <a:srgbClr val="F5F8FA"/>
                    </a:solidFill>
                  </a:tcPr>
                </a:tc>
                <a:tc>
                  <a:txBody>
                    <a:bodyPr wrap="none"/>
                    <a:lstStyle/>
                    <a:p>
                      <a:pPr algn="l"/>
                      <a:r>
                        <a:rPr sz="800" b="1">
                          <a:solidFill>
                            <a:srgbClr val="A86F00"/>
                          </a:solidFill>
                          <a:latin typeface="Calibri"/>
                        </a:rPr>
                        <a:t>▶ 22.2%</a:t>
                      </a:r>
                    </a:p>
                  </a:txBody>
                  <a:tcPr marL="85725" marR="38100" marT="19050" marB="19050" anchor="ctr">
                    <a:solidFill>
                      <a:srgbClr val="F5F8FA"/>
                    </a:solidFill>
                  </a:tcPr>
                </a:tc>
                <a:tc>
                  <a:txBody>
                    <a:bodyPr wrap="none"/>
                    <a:lstStyle/>
                    <a:p>
                      <a:pPr algn="l"/>
                      <a:r>
                        <a:rPr sz="800" b="1">
                          <a:solidFill>
                            <a:srgbClr val="A86F00"/>
                          </a:solidFill>
                          <a:latin typeface="Calibri"/>
                        </a:rPr>
                        <a:t>▶ 19.5%</a:t>
                      </a:r>
                    </a:p>
                  </a:txBody>
                  <a:tcPr marL="85725" marR="38100" marT="19050" marB="19050" anchor="ctr">
                    <a:solidFill>
                      <a:srgbClr val="F5F8FA"/>
                    </a:solidFill>
                  </a:tcPr>
                </a:tc>
                <a:tc>
                  <a:txBody>
                    <a:bodyPr wrap="none"/>
                    <a:lstStyle/>
                    <a:p>
                      <a:pPr algn="l"/>
                      <a:r>
                        <a:rPr sz="800" b="1">
                          <a:solidFill>
                            <a:srgbClr val="A86F00"/>
                          </a:solidFill>
                          <a:latin typeface="Calibri"/>
                        </a:rPr>
                        <a:t>▶ 15.9%</a:t>
                      </a:r>
                    </a:p>
                  </a:txBody>
                  <a:tcPr marL="85725" marR="38100" marT="19050" marB="19050" anchor="ctr">
                    <a:solidFill>
                      <a:srgbClr val="F5F8FA"/>
                    </a:solidFill>
                  </a:tcPr>
                </a:tc>
                <a:tc>
                  <a:txBody>
                    <a:bodyPr wrap="none"/>
                    <a:lstStyle/>
                    <a:p>
                      <a:pPr algn="l"/>
                      <a:r>
                        <a:rPr sz="800" b="1">
                          <a:solidFill>
                            <a:srgbClr val="A86F00"/>
                          </a:solidFill>
                          <a:latin typeface="Calibri"/>
                        </a:rPr>
                        <a:t>▶ 13.8%</a:t>
                      </a:r>
                    </a:p>
                  </a:txBody>
                  <a:tcPr marL="85725" marR="38100" marT="19050" marB="19050" anchor="ctr">
                    <a:solidFill>
                      <a:srgbClr val="F5F8FA"/>
                    </a:solidFill>
                  </a:tcPr>
                </a:tc>
                <a:tc>
                  <a:txBody>
                    <a:bodyPr wrap="none"/>
                    <a:lstStyle/>
                    <a:p>
                      <a:pPr algn="l"/>
                      <a:r>
                        <a:rPr sz="800" b="1">
                          <a:solidFill>
                            <a:srgbClr val="A86F00"/>
                          </a:solidFill>
                          <a:latin typeface="Calibri"/>
                        </a:rPr>
                        <a:t>▶ 11.5%</a:t>
                      </a:r>
                    </a:p>
                  </a:txBody>
                  <a:tcPr marL="85725" marR="38100" marT="19050" marB="19050" anchor="ctr">
                    <a:solidFill>
                      <a:srgbClr val="F5F8FA"/>
                    </a:solidFill>
                  </a:tcPr>
                </a:tc>
                <a:tc>
                  <a:txBody>
                    <a:bodyPr wrap="none"/>
                    <a:lstStyle/>
                    <a:p>
                      <a:pPr algn="l"/>
                      <a:r>
                        <a:rPr sz="800" b="1">
                          <a:solidFill>
                            <a:srgbClr val="A86F00"/>
                          </a:solidFill>
                          <a:latin typeface="Calibri"/>
                        </a:rPr>
                        <a:t>▶ 9.9%</a:t>
                      </a:r>
                    </a:p>
                  </a:txBody>
                  <a:tcPr marL="85725" marR="38100" marT="19050" marB="19050" anchor="ctr">
                    <a:solidFill>
                      <a:srgbClr val="F5F8FA"/>
                    </a:solidFill>
                  </a:tcPr>
                </a:tc>
                <a:tc>
                  <a:txBody>
                    <a:bodyPr wrap="none"/>
                    <a:lstStyle/>
                    <a:p>
                      <a:pPr algn="l"/>
                      <a:r>
                        <a:rPr sz="800" b="1">
                          <a:solidFill>
                            <a:srgbClr val="A86F00"/>
                          </a:solidFill>
                          <a:latin typeface="Calibri"/>
                        </a:rPr>
                        <a:t>▶ 8.6%</a:t>
                      </a:r>
                    </a:p>
                  </a:txBody>
                  <a:tcPr marL="85725" marR="38100" marT="19050" marB="19050" anchor="ctr">
                    <a:solidFill>
                      <a:srgbClr val="F5F8FA"/>
                    </a:solidFill>
                  </a:tcPr>
                </a:tc>
                <a:tc>
                  <a:txBody>
                    <a:bodyPr wrap="none"/>
                    <a:lstStyle/>
                    <a:p>
                      <a:pPr algn="l"/>
                      <a:r>
                        <a:rPr sz="800" b="1">
                          <a:solidFill>
                            <a:srgbClr val="A86F00"/>
                          </a:solidFill>
                          <a:latin typeface="Calibri"/>
                        </a:rPr>
                        <a:t>▶ 7.5%</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c>
                  <a:txBody>
                    <a:bodyPr wrap="none"/>
                    <a:lstStyle/>
                    <a:p>
                      <a:pPr algn="l"/>
                      <a:r>
                        <a:rPr sz="800" b="1">
                          <a:solidFill>
                            <a:srgbClr val="A86F00"/>
                          </a:solidFill>
                          <a:latin typeface="Calibri"/>
                        </a:rPr>
                        <a:t>▶ 5.7%</a:t>
                      </a:r>
                    </a:p>
                  </a:txBody>
                  <a:tcPr marL="85725" marR="38100" marT="19050" marB="19050" anchor="ctr">
                    <a:solidFill>
                      <a:srgbClr val="F5F8FA"/>
                    </a:solidFill>
                  </a:tcPr>
                </a:tc>
                <a:tc>
                  <a:txBody>
                    <a:bodyPr wrap="none"/>
                    <a:lstStyle/>
                    <a:p>
                      <a:pPr algn="l"/>
                      <a:r>
                        <a:rPr sz="800" b="1">
                          <a:solidFill>
                            <a:srgbClr val="A86F00"/>
                          </a:solidFill>
                          <a:latin typeface="Calibri"/>
                        </a:rPr>
                        <a:t>▶ 5.1%</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c>
                  <a:txBody>
                    <a:bodyPr wrap="none"/>
                    <a:lstStyle/>
                    <a:p>
                      <a:pPr algn="l"/>
                      <a:r>
                        <a:rPr sz="800" b="1">
                          <a:solidFill>
                            <a:srgbClr val="A86F00"/>
                          </a:solidFill>
                          <a:latin typeface="Calibri"/>
                        </a:rPr>
                        <a:t>▶ 4.2%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800" b="1">
                          <a:solidFill>
                            <a:srgbClr val="A86F00"/>
                          </a:solidFill>
                          <a:latin typeface="Calibri"/>
                        </a:rPr>
                        <a:t>▶ 12.2%</a:t>
                      </a:r>
                    </a:p>
                  </a:txBody>
                  <a:tcPr marL="85725" marR="38100" marT="19050" marB="19050" anchor="ctr">
                    <a:solidFill>
                      <a:srgbClr val="FFFFFF"/>
                    </a:solidFill>
                  </a:tcPr>
                </a:tc>
                <a:tc>
                  <a:txBody>
                    <a:bodyPr wrap="none"/>
                    <a:lstStyle/>
                    <a:p>
                      <a:pPr algn="l"/>
                      <a:r>
                        <a:rPr sz="800" b="1">
                          <a:solidFill>
                            <a:srgbClr val="A86F00"/>
                          </a:solidFill>
                          <a:latin typeface="Calibri"/>
                        </a:rPr>
                        <a:t>▶ 19.0%</a:t>
                      </a:r>
                    </a:p>
                  </a:txBody>
                  <a:tcPr marL="85725" marR="38100" marT="19050" marB="19050" anchor="ctr">
                    <a:solidFill>
                      <a:srgbClr val="FFFFFF"/>
                    </a:solidFill>
                  </a:tcPr>
                </a:tc>
                <a:tc>
                  <a:txBody>
                    <a:bodyPr wrap="none"/>
                    <a:lstStyle/>
                    <a:p>
                      <a:pPr algn="l"/>
                      <a:r>
                        <a:rPr sz="800" b="1">
                          <a:solidFill>
                            <a:srgbClr val="A86F00"/>
                          </a:solidFill>
                          <a:latin typeface="Calibri"/>
                        </a:rPr>
                        <a:t>▶ 22.8%</a:t>
                      </a:r>
                    </a:p>
                  </a:txBody>
                  <a:tcPr marL="85725" marR="38100" marT="19050" marB="19050" anchor="ctr">
                    <a:solidFill>
                      <a:srgbClr val="FFFFFF"/>
                    </a:solidFill>
                  </a:tcPr>
                </a:tc>
                <a:tc>
                  <a:txBody>
                    <a:bodyPr wrap="none"/>
                    <a:lstStyle/>
                    <a:p>
                      <a:pPr algn="l"/>
                      <a:r>
                        <a:rPr sz="800" b="1">
                          <a:solidFill>
                            <a:srgbClr val="A86F00"/>
                          </a:solidFill>
                          <a:latin typeface="Calibri"/>
                        </a:rPr>
                        <a:t>▶ 20.2%</a:t>
                      </a:r>
                    </a:p>
                  </a:txBody>
                  <a:tcPr marL="85725" marR="38100" marT="19050" marB="19050" anchor="ctr">
                    <a:solidFill>
                      <a:srgbClr val="FFFFFF"/>
                    </a:solidFill>
                  </a:tcPr>
                </a:tc>
                <a:tc>
                  <a:txBody>
                    <a:bodyPr wrap="none"/>
                    <a:lstStyle/>
                    <a:p>
                      <a:pPr algn="l"/>
                      <a:r>
                        <a:rPr sz="800" b="1">
                          <a:solidFill>
                            <a:srgbClr val="A86F00"/>
                          </a:solidFill>
                          <a:latin typeface="Calibri"/>
                        </a:rPr>
                        <a:t>▶ 16.5%</a:t>
                      </a:r>
                    </a:p>
                  </a:txBody>
                  <a:tcPr marL="85725" marR="38100" marT="19050" marB="19050" anchor="ctr">
                    <a:solidFill>
                      <a:srgbClr val="FFFFFF"/>
                    </a:solidFill>
                  </a:tcPr>
                </a:tc>
                <a:tc>
                  <a:txBody>
                    <a:bodyPr wrap="none"/>
                    <a:lstStyle/>
                    <a:p>
                      <a:pPr algn="l"/>
                      <a:r>
                        <a:rPr sz="800" b="1">
                          <a:solidFill>
                            <a:srgbClr val="A86F00"/>
                          </a:solidFill>
                          <a:latin typeface="Calibri"/>
                        </a:rPr>
                        <a:t>▶ 14.4%</a:t>
                      </a:r>
                    </a:p>
                  </a:txBody>
                  <a:tcPr marL="85725" marR="38100" marT="19050" marB="19050" anchor="ctr">
                    <a:solidFill>
                      <a:srgbClr val="FFFFFF"/>
                    </a:solidFill>
                  </a:tcPr>
                </a:tc>
                <a:tc>
                  <a:txBody>
                    <a:bodyPr wrap="none"/>
                    <a:lstStyle/>
                    <a:p>
                      <a:pPr algn="l"/>
                      <a:r>
                        <a:rPr sz="800" b="1">
                          <a:solidFill>
                            <a:srgbClr val="A86F00"/>
                          </a:solidFill>
                          <a:latin typeface="Calibri"/>
                        </a:rPr>
                        <a:t>▶ 12.1%</a:t>
                      </a:r>
                    </a:p>
                  </a:txBody>
                  <a:tcPr marL="85725" marR="38100" marT="19050" marB="19050" anchor="ctr">
                    <a:solidFill>
                      <a:srgbClr val="FFFFFF"/>
                    </a:solidFill>
                  </a:tcPr>
                </a:tc>
                <a:tc>
                  <a:txBody>
                    <a:bodyPr wrap="none"/>
                    <a:lstStyle/>
                    <a:p>
                      <a:pPr algn="l"/>
                      <a:r>
                        <a:rPr sz="800" b="1">
                          <a:solidFill>
                            <a:srgbClr val="A86F00"/>
                          </a:solidFill>
                          <a:latin typeface="Calibri"/>
                        </a:rPr>
                        <a:t>▶ 10.5%</a:t>
                      </a:r>
                    </a:p>
                  </a:txBody>
                  <a:tcPr marL="85725" marR="38100" marT="19050" marB="19050" anchor="ctr">
                    <a:solidFill>
                      <a:srgbClr val="FFFFFF"/>
                    </a:solidFill>
                  </a:tcPr>
                </a:tc>
                <a:tc>
                  <a:txBody>
                    <a:bodyPr wrap="none"/>
                    <a:lstStyle/>
                    <a:p>
                      <a:pPr algn="l"/>
                      <a:r>
                        <a:rPr sz="800" b="1">
                          <a:solidFill>
                            <a:srgbClr val="A86F00"/>
                          </a:solidFill>
                          <a:latin typeface="Calibri"/>
                        </a:rPr>
                        <a:t>▶ 9.1%</a:t>
                      </a:r>
                    </a:p>
                  </a:txBody>
                  <a:tcPr marL="85725" marR="38100" marT="19050" marB="19050" anchor="ctr">
                    <a:solidFill>
                      <a:srgbClr val="FFFFFF"/>
                    </a:solidFill>
                  </a:tcPr>
                </a:tc>
                <a:tc>
                  <a:txBody>
                    <a:bodyPr wrap="none"/>
                    <a:lstStyle/>
                    <a:p>
                      <a:pPr algn="l"/>
                      <a:r>
                        <a:rPr sz="800" b="1">
                          <a:solidFill>
                            <a:srgbClr val="A86F00"/>
                          </a:solidFill>
                          <a:latin typeface="Calibri"/>
                        </a:rPr>
                        <a:t>▶ 8.0%</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5.7%</a:t>
                      </a:r>
                    </a:p>
                  </a:txBody>
                  <a:tcPr marL="85725" marR="38100" marT="19050" marB="19050" anchor="ctr">
                    <a:solidFill>
                      <a:srgbClr val="FFFFFF"/>
                    </a:solidFill>
                  </a:tcPr>
                </a:tc>
                <a:tc>
                  <a:txBody>
                    <a:bodyPr wrap="none"/>
                    <a:lstStyle/>
                    <a:p>
                      <a:pPr algn="l"/>
                      <a:r>
                        <a:rPr sz="800" b="1">
                          <a:solidFill>
                            <a:srgbClr val="A86F00"/>
                          </a:solidFill>
                          <a:latin typeface="Calibri"/>
                        </a:rPr>
                        <a:t>▶ 5.1%</a:t>
                      </a:r>
                    </a:p>
                  </a:txBody>
                  <a:tcPr marL="85725" marR="38100" marT="19050" marB="19050" anchor="ctr">
                    <a:solidFill>
                      <a:srgbClr val="FFFFFF"/>
                    </a:solidFill>
                  </a:tcPr>
                </a:tc>
                <a:tc>
                  <a:txBody>
                    <a:bodyPr wrap="none"/>
                    <a:lstStyle/>
                    <a:p>
                      <a:pPr algn="l"/>
                      <a:r>
                        <a:rPr sz="800" b="1">
                          <a:solidFill>
                            <a:srgbClr val="A86F00"/>
                          </a:solidFill>
                          <a:latin typeface="Calibri"/>
                        </a:rPr>
                        <a:t>▶ 4.7%</a:t>
                      </a:r>
                    </a:p>
                  </a:txBody>
                  <a:tcPr marL="85725" marR="38100" marT="19050" marB="19050" anchor="ctr">
                    <a:solidFill>
                      <a:srgbClr val="FFFFFF"/>
                    </a:solidFill>
                  </a:tcPr>
                </a:tc>
              </a:tr>
            </a:tbl>
          </a:graphicData>
        </a:graphic>
      </p:graphicFrame>
      <p:sp>
        <p:nvSpPr>
          <p:cNvPr id="14" name="TextBox 13"/>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ectangle 1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7" name="Rounded Rectangle 1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9" name="Rounded Rectangle 1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YoY Analysis of North America Market Value, By Product Type x Therapeutic Application (%)   ·   (continued 2/2)</a:t>
            </a:r>
          </a:p>
        </p:txBody>
      </p:sp>
      <p:sp>
        <p:nvSpPr>
          <p:cNvPr id="10" name="Rounded Rectangle 9"/>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YoY Heatmap, By Product Type x Therapeutic Application (%)  ·  light = lower, dark = higher growth</a:t>
            </a:r>
          </a:p>
        </p:txBody>
      </p:sp>
      <p:sp>
        <p:nvSpPr>
          <p:cNvPr id="12" name="TextBox 11"/>
          <p:cNvSpPr txBox="1"/>
          <p:nvPr/>
        </p:nvSpPr>
        <p:spPr>
          <a:xfrm>
            <a:off x="185737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3" name="TextBox 12"/>
          <p:cNvSpPr txBox="1"/>
          <p:nvPr/>
        </p:nvSpPr>
        <p:spPr>
          <a:xfrm>
            <a:off x="250126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14" name="TextBox 13"/>
          <p:cNvSpPr txBox="1"/>
          <p:nvPr/>
        </p:nvSpPr>
        <p:spPr>
          <a:xfrm>
            <a:off x="314515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15" name="TextBox 14"/>
          <p:cNvSpPr txBox="1"/>
          <p:nvPr/>
        </p:nvSpPr>
        <p:spPr>
          <a:xfrm>
            <a:off x="378904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16" name="TextBox 15"/>
          <p:cNvSpPr txBox="1"/>
          <p:nvPr/>
        </p:nvSpPr>
        <p:spPr>
          <a:xfrm>
            <a:off x="443293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17" name="TextBox 16"/>
          <p:cNvSpPr txBox="1"/>
          <p:nvPr/>
        </p:nvSpPr>
        <p:spPr>
          <a:xfrm>
            <a:off x="507682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18" name="TextBox 17"/>
          <p:cNvSpPr txBox="1"/>
          <p:nvPr/>
        </p:nvSpPr>
        <p:spPr>
          <a:xfrm>
            <a:off x="572071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19" name="TextBox 18"/>
          <p:cNvSpPr txBox="1"/>
          <p:nvPr/>
        </p:nvSpPr>
        <p:spPr>
          <a:xfrm>
            <a:off x="636460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0" name="TextBox 19"/>
          <p:cNvSpPr txBox="1"/>
          <p:nvPr/>
        </p:nvSpPr>
        <p:spPr>
          <a:xfrm>
            <a:off x="700849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1" name="TextBox 20"/>
          <p:cNvSpPr txBox="1"/>
          <p:nvPr/>
        </p:nvSpPr>
        <p:spPr>
          <a:xfrm>
            <a:off x="765238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2" name="TextBox 21"/>
          <p:cNvSpPr txBox="1"/>
          <p:nvPr/>
        </p:nvSpPr>
        <p:spPr>
          <a:xfrm>
            <a:off x="829627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3" name="TextBox 22"/>
          <p:cNvSpPr txBox="1"/>
          <p:nvPr/>
        </p:nvSpPr>
        <p:spPr>
          <a:xfrm>
            <a:off x="894016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24" name="TextBox 23"/>
          <p:cNvSpPr txBox="1"/>
          <p:nvPr/>
        </p:nvSpPr>
        <p:spPr>
          <a:xfrm>
            <a:off x="958405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25" name="TextBox 24"/>
          <p:cNvSpPr txBox="1"/>
          <p:nvPr/>
        </p:nvSpPr>
        <p:spPr>
          <a:xfrm>
            <a:off x="1022794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26" name="TextBox 25"/>
          <p:cNvSpPr txBox="1"/>
          <p:nvPr/>
        </p:nvSpPr>
        <p:spPr>
          <a:xfrm>
            <a:off x="10871835" y="1143000"/>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27" name="TextBox 26"/>
          <p:cNvSpPr txBox="1"/>
          <p:nvPr/>
        </p:nvSpPr>
        <p:spPr>
          <a:xfrm>
            <a:off x="238125" y="1285875"/>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Amjevita / Amgevita</a:t>
            </a:r>
          </a:p>
        </p:txBody>
      </p:sp>
      <p:sp>
        <p:nvSpPr>
          <p:cNvPr id="28" name="Rectangle 27"/>
          <p:cNvSpPr/>
          <p:nvPr/>
        </p:nvSpPr>
        <p:spPr>
          <a:xfrm>
            <a:off x="1857375" y="1285875"/>
            <a:ext cx="643890" cy="489239"/>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01265" y="1285875"/>
            <a:ext cx="643890" cy="489239"/>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45155" y="1285875"/>
            <a:ext cx="643890" cy="489239"/>
          </a:xfrm>
          <a:prstGeom prst="rect">
            <a:avLst/>
          </a:prstGeom>
          <a:solidFill>
            <a:srgbClr val="0E689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89045" y="1285875"/>
            <a:ext cx="643890" cy="489239"/>
          </a:xfrm>
          <a:prstGeom prst="rect">
            <a:avLst/>
          </a:prstGeom>
          <a:solidFill>
            <a:srgbClr val="2B84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2935" y="1285875"/>
            <a:ext cx="643890" cy="489239"/>
          </a:xfrm>
          <a:prstGeom prst="rect">
            <a:avLst/>
          </a:prstGeom>
          <a:solidFill>
            <a:srgbClr val="6CA8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6825" y="1285875"/>
            <a:ext cx="643890" cy="489239"/>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20715" y="1285875"/>
            <a:ext cx="643890" cy="489239"/>
          </a:xfrm>
          <a:prstGeom prst="rect">
            <a:avLst/>
          </a:prstGeom>
          <a:solidFill>
            <a:srgbClr val="B4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64605" y="1285875"/>
            <a:ext cx="643890" cy="489239"/>
          </a:xfrm>
          <a:prstGeom prst="rect">
            <a:avLst/>
          </a:prstGeom>
          <a:solidFill>
            <a:srgbClr val="CADC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08495" y="1285875"/>
            <a:ext cx="643890" cy="489239"/>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652385" y="1285875"/>
            <a:ext cx="643890" cy="489239"/>
          </a:xfrm>
          <a:prstGeom prst="rect">
            <a:avLst/>
          </a:prstGeom>
          <a:solidFill>
            <a:srgbClr val="DD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96275" y="1285875"/>
            <a:ext cx="643890" cy="489239"/>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40165" y="1285875"/>
            <a:ext cx="643890" cy="489239"/>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84055" y="1285875"/>
            <a:ext cx="643890" cy="489239"/>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227945" y="1285875"/>
            <a:ext cx="643890" cy="489239"/>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871835" y="1285875"/>
            <a:ext cx="643890" cy="489239"/>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38125" y="1775114"/>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Cyltezo</a:t>
            </a:r>
          </a:p>
        </p:txBody>
      </p:sp>
      <p:sp>
        <p:nvSpPr>
          <p:cNvPr id="44" name="Rectangle 43"/>
          <p:cNvSpPr/>
          <p:nvPr/>
        </p:nvSpPr>
        <p:spPr>
          <a:xfrm>
            <a:off x="1857375" y="1775114"/>
            <a:ext cx="643890" cy="489239"/>
          </a:xfrm>
          <a:prstGeom prst="rect">
            <a:avLst/>
          </a:prstGeom>
          <a:solidFill>
            <a:srgbClr val="92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501265" y="1775114"/>
            <a:ext cx="643890" cy="489239"/>
          </a:xfrm>
          <a:prstGeom prst="rect">
            <a:avLst/>
          </a:prstGeom>
          <a:solidFill>
            <a:srgbClr val="18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145155" y="1775114"/>
            <a:ext cx="643890" cy="489239"/>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789045" y="1775114"/>
            <a:ext cx="643890" cy="489239"/>
          </a:xfrm>
          <a:prstGeom prst="rect">
            <a:avLst/>
          </a:prstGeom>
          <a:solidFill>
            <a:srgbClr val="0E69A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432935" y="1775114"/>
            <a:ext cx="643890" cy="489239"/>
          </a:xfrm>
          <a:prstGeom prst="rect">
            <a:avLst/>
          </a:prstGeom>
          <a:solidFill>
            <a:srgbClr val="3B8D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76825" y="1775114"/>
            <a:ext cx="643890" cy="489239"/>
          </a:xfrm>
          <a:prstGeom prst="rect">
            <a:avLst/>
          </a:prstGeom>
          <a:solidFill>
            <a:srgbClr val="65A4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720715" y="1775114"/>
            <a:ext cx="643890" cy="489239"/>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64605" y="1775114"/>
            <a:ext cx="643890" cy="489239"/>
          </a:xfrm>
          <a:prstGeom prst="rect">
            <a:avLst/>
          </a:prstGeom>
          <a:solidFill>
            <a:srgbClr val="AA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08495" y="1775114"/>
            <a:ext cx="643890" cy="489239"/>
          </a:xfrm>
          <a:prstGeom prst="rect">
            <a:avLst/>
          </a:prstGeom>
          <a:solidFill>
            <a:srgbClr val="BC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652385" y="1775114"/>
            <a:ext cx="643890" cy="489239"/>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96275" y="1775114"/>
            <a:ext cx="643890" cy="489239"/>
          </a:xfrm>
          <a:prstGeom prst="rect">
            <a:avLst/>
          </a:prstGeom>
          <a:solidFill>
            <a:srgbClr val="D3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40165" y="1775114"/>
            <a:ext cx="643890" cy="489239"/>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584055" y="1775114"/>
            <a:ext cx="643890" cy="489239"/>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227945" y="1775114"/>
            <a:ext cx="643890" cy="489239"/>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871835" y="1775114"/>
            <a:ext cx="643890" cy="489239"/>
          </a:xfrm>
          <a:prstGeom prst="rect">
            <a:avLst/>
          </a:prstGeom>
          <a:solidFill>
            <a:srgbClr val="E6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8125" y="2264352"/>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Hadlima / Imraldi</a:t>
            </a:r>
          </a:p>
        </p:txBody>
      </p:sp>
      <p:sp>
        <p:nvSpPr>
          <p:cNvPr id="60" name="Rectangle 59"/>
          <p:cNvSpPr/>
          <p:nvPr/>
        </p:nvSpPr>
        <p:spPr>
          <a:xfrm>
            <a:off x="1857375" y="2264352"/>
            <a:ext cx="643890" cy="489239"/>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501265" y="2264352"/>
            <a:ext cx="643890" cy="489239"/>
          </a:xfrm>
          <a:prstGeom prst="rect">
            <a:avLst/>
          </a:prstGeom>
          <a:solidFill>
            <a:srgbClr val="217D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145155" y="2264352"/>
            <a:ext cx="643890" cy="489239"/>
          </a:xfrm>
          <a:prstGeom prst="rect">
            <a:avLst/>
          </a:prstGeom>
          <a:solidFill>
            <a:srgbClr val="0C3C5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789045" y="2264352"/>
            <a:ext cx="643890" cy="489239"/>
          </a:xfrm>
          <a:prstGeom prst="rect">
            <a:avLst/>
          </a:prstGeom>
          <a:solidFill>
            <a:srgbClr val="1174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432935" y="2264352"/>
            <a:ext cx="643890" cy="489239"/>
          </a:xfrm>
          <a:prstGeom prst="rect">
            <a:avLst/>
          </a:prstGeom>
          <a:solidFill>
            <a:srgbClr val="45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76825" y="2264352"/>
            <a:ext cx="643890" cy="489239"/>
          </a:xfrm>
          <a:prstGeom prst="rect">
            <a:avLst/>
          </a:prstGeom>
          <a:solidFill>
            <a:srgbClr val="71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720715" y="2264352"/>
            <a:ext cx="643890" cy="489239"/>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64605" y="2264352"/>
            <a:ext cx="643890" cy="489239"/>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008495" y="2264352"/>
            <a:ext cx="643890" cy="489239"/>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652385" y="2264352"/>
            <a:ext cx="643890" cy="489239"/>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296275" y="2264352"/>
            <a:ext cx="643890" cy="489239"/>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940165" y="2264352"/>
            <a:ext cx="643890" cy="489239"/>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584055" y="2264352"/>
            <a:ext cx="643890" cy="489239"/>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227945" y="2264352"/>
            <a:ext cx="643890" cy="489239"/>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871835" y="2264352"/>
            <a:ext cx="643890" cy="489239"/>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38125" y="2753591"/>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Hyrimoz / Halimatoz / Hefiya</a:t>
            </a:r>
          </a:p>
        </p:txBody>
      </p:sp>
      <p:sp>
        <p:nvSpPr>
          <p:cNvPr id="76" name="Rectangle 75"/>
          <p:cNvSpPr/>
          <p:nvPr/>
        </p:nvSpPr>
        <p:spPr>
          <a:xfrm>
            <a:off x="1857375" y="2753591"/>
            <a:ext cx="643890" cy="489239"/>
          </a:xfrm>
          <a:prstGeom prst="rect">
            <a:avLst/>
          </a:prstGeom>
          <a:solidFill>
            <a:srgbClr val="A3C6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501265" y="2753591"/>
            <a:ext cx="643890" cy="489239"/>
          </a:xfrm>
          <a:prstGeom prst="rect">
            <a:avLst/>
          </a:prstGeom>
          <a:solidFill>
            <a:srgbClr val="2B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145155" y="2753591"/>
            <a:ext cx="643890" cy="489239"/>
          </a:xfrm>
          <a:prstGeom prst="rect">
            <a:avLst/>
          </a:prstGeom>
          <a:solidFill>
            <a:srgbClr val="0C4D7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789045" y="2753591"/>
            <a:ext cx="643890" cy="489239"/>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432935" y="2753591"/>
            <a:ext cx="643890" cy="489239"/>
          </a:xfrm>
          <a:prstGeom prst="rect">
            <a:avLst/>
          </a:prstGeom>
          <a:solidFill>
            <a:srgbClr val="549B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076825" y="2753591"/>
            <a:ext cx="643890" cy="489239"/>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720715" y="2753591"/>
            <a:ext cx="643890" cy="489239"/>
          </a:xfrm>
          <a:prstGeom prst="rect">
            <a:avLst/>
          </a:prstGeom>
          <a:solidFill>
            <a:srgbClr val="A5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364605" y="2753591"/>
            <a:ext cx="643890" cy="489239"/>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008495" y="2753591"/>
            <a:ext cx="643890" cy="489239"/>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652385" y="2753591"/>
            <a:ext cx="643890" cy="489239"/>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296275" y="2753591"/>
            <a:ext cx="643890" cy="489239"/>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940165" y="2753591"/>
            <a:ext cx="643890" cy="489239"/>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584055" y="2753591"/>
            <a:ext cx="643890" cy="489239"/>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227945" y="2753591"/>
            <a:ext cx="643890" cy="489239"/>
          </a:xfrm>
          <a:prstGeom prst="rect">
            <a:avLst/>
          </a:prstGeom>
          <a:solidFill>
            <a:srgbClr val="EB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871835" y="2753591"/>
            <a:ext cx="643890" cy="489239"/>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38125" y="3242830"/>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Idacio</a:t>
            </a:r>
          </a:p>
        </p:txBody>
      </p:sp>
      <p:sp>
        <p:nvSpPr>
          <p:cNvPr id="92" name="Rectangle 91"/>
          <p:cNvSpPr/>
          <p:nvPr/>
        </p:nvSpPr>
        <p:spPr>
          <a:xfrm>
            <a:off x="1857375" y="3242830"/>
            <a:ext cx="643890" cy="489239"/>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2501265" y="3242830"/>
            <a:ext cx="643890" cy="489239"/>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145155" y="3242830"/>
            <a:ext cx="643890" cy="489239"/>
          </a:xfrm>
          <a:prstGeom prst="rect">
            <a:avLst/>
          </a:prstGeom>
          <a:solidFill>
            <a:srgbClr val="0C3E6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789045" y="3242830"/>
            <a:ext cx="643890" cy="489239"/>
          </a:xfrm>
          <a:prstGeom prst="rect">
            <a:avLst/>
          </a:prstGeom>
          <a:solidFill>
            <a:srgbClr val="12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432935" y="3242830"/>
            <a:ext cx="643890" cy="489239"/>
          </a:xfrm>
          <a:prstGeom prst="rect">
            <a:avLst/>
          </a:prstGeom>
          <a:solidFill>
            <a:srgbClr val="4794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076825" y="3242830"/>
            <a:ext cx="643890" cy="489239"/>
          </a:xfrm>
          <a:prstGeom prst="rect">
            <a:avLst/>
          </a:prstGeom>
          <a:solidFill>
            <a:srgbClr val="73AC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720715" y="3242830"/>
            <a:ext cx="643890" cy="489239"/>
          </a:xfrm>
          <a:prstGeom prst="rect">
            <a:avLst/>
          </a:prstGeom>
          <a:solidFill>
            <a:srgbClr val="9CC3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364605" y="3242830"/>
            <a:ext cx="643890" cy="489239"/>
          </a:xfrm>
          <a:prstGeom prst="rect">
            <a:avLst/>
          </a:prstGeom>
          <a:solidFill>
            <a:srgbClr val="B3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008495" y="3242830"/>
            <a:ext cx="643890" cy="489239"/>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652385" y="3242830"/>
            <a:ext cx="643890" cy="489239"/>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296275" y="3242830"/>
            <a:ext cx="643890" cy="489239"/>
          </a:xfrm>
          <a:prstGeom prst="rect">
            <a:avLst/>
          </a:prstGeom>
          <a:solidFill>
            <a:srgbClr val="D8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40165" y="3242830"/>
            <a:ext cx="643890" cy="489239"/>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584055" y="3242830"/>
            <a:ext cx="643890" cy="489239"/>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227945" y="3242830"/>
            <a:ext cx="643890" cy="489239"/>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871835" y="3242830"/>
            <a:ext cx="643890" cy="489239"/>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38125" y="3732068"/>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Hulio</a:t>
            </a:r>
          </a:p>
        </p:txBody>
      </p:sp>
      <p:sp>
        <p:nvSpPr>
          <p:cNvPr id="108" name="Rectangle 107"/>
          <p:cNvSpPr/>
          <p:nvPr/>
        </p:nvSpPr>
        <p:spPr>
          <a:xfrm>
            <a:off x="1857375" y="3732068"/>
            <a:ext cx="643890" cy="489239"/>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501265" y="3732068"/>
            <a:ext cx="643890" cy="489239"/>
          </a:xfrm>
          <a:prstGeom prst="rect">
            <a:avLst/>
          </a:prstGeom>
          <a:solidFill>
            <a:srgbClr val="559C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145155" y="3732068"/>
            <a:ext cx="643890" cy="489239"/>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3789045" y="3732068"/>
            <a:ext cx="643890" cy="489239"/>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432935" y="3732068"/>
            <a:ext cx="643890" cy="489239"/>
          </a:xfrm>
          <a:prstGeom prst="rect">
            <a:avLst/>
          </a:prstGeom>
          <a:solidFill>
            <a:srgbClr val="87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076825" y="3732068"/>
            <a:ext cx="643890" cy="489239"/>
          </a:xfrm>
          <a:prstGeom prst="rect">
            <a:avLst/>
          </a:prstGeom>
          <a:solidFill>
            <a:srgbClr val="A6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720715" y="3732068"/>
            <a:ext cx="643890" cy="489239"/>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6364605" y="3732068"/>
            <a:ext cx="643890" cy="489239"/>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008495" y="3732068"/>
            <a:ext cx="643890" cy="489239"/>
          </a:xfrm>
          <a:prstGeom prst="rect">
            <a:avLst/>
          </a:prstGeom>
          <a:solidFill>
            <a:srgbClr val="DE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7652385" y="3732068"/>
            <a:ext cx="643890" cy="489239"/>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8296275" y="3732068"/>
            <a:ext cx="643890" cy="489239"/>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8940165" y="3732068"/>
            <a:ext cx="643890" cy="489239"/>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9584055" y="3732068"/>
            <a:ext cx="643890" cy="489239"/>
          </a:xfrm>
          <a:prstGeom prst="rect">
            <a:avLst/>
          </a:prstGeom>
          <a:solidFill>
            <a:srgbClr val="F7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227945" y="3732068"/>
            <a:ext cx="643890" cy="489239"/>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0871835" y="3732068"/>
            <a:ext cx="643890" cy="489239"/>
          </a:xfrm>
          <a:prstGeom prst="rect">
            <a:avLst/>
          </a:prstGeom>
          <a:solidFill>
            <a:srgbClr val="FD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38125" y="4221307"/>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Abrilada / Amsparity</a:t>
            </a:r>
          </a:p>
        </p:txBody>
      </p:sp>
      <p:sp>
        <p:nvSpPr>
          <p:cNvPr id="124" name="Rectangle 123"/>
          <p:cNvSpPr/>
          <p:nvPr/>
        </p:nvSpPr>
        <p:spPr>
          <a:xfrm>
            <a:off x="1857375" y="4221307"/>
            <a:ext cx="643890" cy="489239"/>
          </a:xfrm>
          <a:prstGeom prst="rect">
            <a:avLst/>
          </a:prstGeom>
          <a:solidFill>
            <a:srgbClr val="A2C6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2501265" y="4221307"/>
            <a:ext cx="643890" cy="489239"/>
          </a:xfrm>
          <a:prstGeom prst="rect">
            <a:avLst/>
          </a:prstGeom>
          <a:solidFill>
            <a:srgbClr val="29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3145155" y="4221307"/>
            <a:ext cx="643890" cy="489239"/>
          </a:xfrm>
          <a:prstGeom prst="rect">
            <a:avLst/>
          </a:prstGeom>
          <a:solidFill>
            <a:srgbClr val="0C4A7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3789045" y="4221307"/>
            <a:ext cx="643890" cy="489239"/>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432935" y="4221307"/>
            <a:ext cx="643890" cy="489239"/>
          </a:xfrm>
          <a:prstGeom prst="rect">
            <a:avLst/>
          </a:prstGeom>
          <a:solidFill>
            <a:srgbClr val="529A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5076825" y="4221307"/>
            <a:ext cx="643890" cy="489239"/>
          </a:xfrm>
          <a:prstGeom prst="rect">
            <a:avLst/>
          </a:prstGeom>
          <a:solidFill>
            <a:srgbClr val="7EB2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720715" y="4221307"/>
            <a:ext cx="643890" cy="489239"/>
          </a:xfrm>
          <a:prstGeom prst="rect">
            <a:avLst/>
          </a:prstGeom>
          <a:solidFill>
            <a:srgbClr val="A3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6364605" y="4221307"/>
            <a:ext cx="643890" cy="489239"/>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008495" y="4221307"/>
            <a:ext cx="643890" cy="489239"/>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7652385" y="4221307"/>
            <a:ext cx="643890" cy="489239"/>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296275" y="4221307"/>
            <a:ext cx="643890" cy="489239"/>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8940165" y="4221307"/>
            <a:ext cx="643890" cy="489239"/>
          </a:xfrm>
          <a:prstGeom prst="rect">
            <a:avLst/>
          </a:prstGeom>
          <a:solidFill>
            <a:srgbClr val="E2EF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584055" y="4221307"/>
            <a:ext cx="643890" cy="489239"/>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227945" y="4221307"/>
            <a:ext cx="643890" cy="489239"/>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871835" y="4221307"/>
            <a:ext cx="643890" cy="489239"/>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38125" y="4710545"/>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Yusimry</a:t>
            </a:r>
          </a:p>
        </p:txBody>
      </p:sp>
      <p:sp>
        <p:nvSpPr>
          <p:cNvPr id="140" name="Rectangle 139"/>
          <p:cNvSpPr/>
          <p:nvPr/>
        </p:nvSpPr>
        <p:spPr>
          <a:xfrm>
            <a:off x="1857375" y="4710545"/>
            <a:ext cx="643890" cy="489239"/>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501265" y="4710545"/>
            <a:ext cx="643890" cy="489239"/>
          </a:xfrm>
          <a:prstGeom prst="rect">
            <a:avLst/>
          </a:prstGeom>
          <a:solidFill>
            <a:srgbClr val="5B9E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3145155" y="4710545"/>
            <a:ext cx="643890" cy="489239"/>
          </a:xfrm>
          <a:prstGeom prst="rect">
            <a:avLst/>
          </a:prstGeom>
          <a:solidFill>
            <a:srgbClr val="1E7C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3789045" y="4710545"/>
            <a:ext cx="643890" cy="489239"/>
          </a:xfrm>
          <a:prstGeom prst="rect">
            <a:avLst/>
          </a:prstGeom>
          <a:solidFill>
            <a:srgbClr val="4392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4432935" y="4710545"/>
            <a:ext cx="643890" cy="489239"/>
          </a:xfrm>
          <a:prstGeom prst="rect">
            <a:avLst/>
          </a:prstGeom>
          <a:solidFill>
            <a:srgbClr val="8C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076825" y="4710545"/>
            <a:ext cx="643890" cy="489239"/>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5720715" y="4710545"/>
            <a:ext cx="643890" cy="489239"/>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6364605" y="4710545"/>
            <a:ext cx="643890" cy="489239"/>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008495" y="4710545"/>
            <a:ext cx="643890" cy="489239"/>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7652385" y="4710545"/>
            <a:ext cx="643890" cy="489239"/>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296275" y="4710545"/>
            <a:ext cx="643890" cy="489239"/>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940165" y="4710545"/>
            <a:ext cx="643890" cy="489239"/>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9584055" y="4710545"/>
            <a:ext cx="643890" cy="489239"/>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0227945" y="4710545"/>
            <a:ext cx="643890" cy="489239"/>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0871835" y="4710545"/>
            <a:ext cx="643890" cy="489239"/>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38125" y="5199784"/>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Yuflyma</a:t>
            </a:r>
          </a:p>
        </p:txBody>
      </p:sp>
      <p:sp>
        <p:nvSpPr>
          <p:cNvPr id="156" name="Rectangle 155"/>
          <p:cNvSpPr/>
          <p:nvPr/>
        </p:nvSpPr>
        <p:spPr>
          <a:xfrm>
            <a:off x="1857375" y="5199784"/>
            <a:ext cx="643890" cy="489239"/>
          </a:xfrm>
          <a:prstGeom prst="rect">
            <a:avLst/>
          </a:prstGeom>
          <a:solidFill>
            <a:srgbClr val="AC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2501265" y="5199784"/>
            <a:ext cx="643890" cy="489239"/>
          </a:xfrm>
          <a:prstGeom prst="rect">
            <a:avLst/>
          </a:prstGeom>
          <a:solidFill>
            <a:srgbClr val="35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3145155" y="5199784"/>
            <a:ext cx="643890" cy="489239"/>
          </a:xfrm>
          <a:prstGeom prst="rect">
            <a:avLst/>
          </a:prstGeom>
          <a:solidFill>
            <a:srgbClr val="0D5D8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3789045" y="5199784"/>
            <a:ext cx="643890" cy="489239"/>
          </a:xfrm>
          <a:prstGeom prst="rect">
            <a:avLst/>
          </a:prstGeom>
          <a:solidFill>
            <a:srgbClr val="25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4432935" y="5199784"/>
            <a:ext cx="643890" cy="489239"/>
          </a:xfrm>
          <a:prstGeom prst="rect">
            <a:avLst/>
          </a:prstGeom>
          <a:solidFill>
            <a:srgbClr val="63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076825" y="5199784"/>
            <a:ext cx="643890" cy="489239"/>
          </a:xfrm>
          <a:prstGeom prst="rect">
            <a:avLst/>
          </a:prstGeom>
          <a:solidFill>
            <a:srgbClr val="8EBA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720715" y="5199784"/>
            <a:ext cx="643890" cy="489239"/>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364605" y="5199784"/>
            <a:ext cx="643890" cy="489239"/>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7008495" y="5199784"/>
            <a:ext cx="643890" cy="489239"/>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7652385" y="5199784"/>
            <a:ext cx="643890" cy="489239"/>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8296275" y="5199784"/>
            <a:ext cx="643890" cy="489239"/>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940165" y="5199784"/>
            <a:ext cx="643890" cy="489239"/>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9584055" y="5199784"/>
            <a:ext cx="643890" cy="489239"/>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0227945" y="5199784"/>
            <a:ext cx="643890" cy="489239"/>
          </a:xfrm>
          <a:prstGeom prst="rect">
            <a:avLst/>
          </a:prstGeom>
          <a:solidFill>
            <a:srgbClr val="F0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0871835" y="5199784"/>
            <a:ext cx="643890" cy="489239"/>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38125" y="5689023"/>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Simlandi</a:t>
            </a:r>
          </a:p>
        </p:txBody>
      </p:sp>
      <p:sp>
        <p:nvSpPr>
          <p:cNvPr id="172" name="Rectangle 171"/>
          <p:cNvSpPr/>
          <p:nvPr/>
        </p:nvSpPr>
        <p:spPr>
          <a:xfrm>
            <a:off x="1857375" y="5689023"/>
            <a:ext cx="643890" cy="489239"/>
          </a:xfrm>
          <a:prstGeom prst="rect">
            <a:avLst/>
          </a:prstGeom>
          <a:solidFill>
            <a:srgbClr val="B4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2501265" y="5689023"/>
            <a:ext cx="643890" cy="489239"/>
          </a:xfrm>
          <a:prstGeom prst="rect">
            <a:avLst/>
          </a:prstGeom>
          <a:solidFill>
            <a:srgbClr val="3D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3145155" y="5689023"/>
            <a:ext cx="643890" cy="489239"/>
          </a:xfrm>
          <a:prstGeom prst="rect">
            <a:avLst/>
          </a:prstGeom>
          <a:solidFill>
            <a:srgbClr val="0E6AA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3789045" y="5689023"/>
            <a:ext cx="643890" cy="489239"/>
          </a:xfrm>
          <a:prstGeom prst="rect">
            <a:avLst/>
          </a:prstGeom>
          <a:solidFill>
            <a:srgbClr val="2D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32935" y="5689023"/>
            <a:ext cx="643890" cy="489239"/>
          </a:xfrm>
          <a:prstGeom prst="rect">
            <a:avLst/>
          </a:prstGeom>
          <a:solidFill>
            <a:srgbClr val="6EA9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5076825" y="5689023"/>
            <a:ext cx="643890" cy="489239"/>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5720715" y="5689023"/>
            <a:ext cx="643890" cy="489239"/>
          </a:xfrm>
          <a:prstGeom prst="rect">
            <a:avLst/>
          </a:prstGeom>
          <a:solidFill>
            <a:srgbClr val="B5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6364605" y="5689023"/>
            <a:ext cx="643890" cy="489239"/>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7008495" y="5689023"/>
            <a:ext cx="643890" cy="489239"/>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7652385" y="5689023"/>
            <a:ext cx="643890" cy="489239"/>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8296275" y="5689023"/>
            <a:ext cx="643890" cy="489239"/>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8940165" y="5689023"/>
            <a:ext cx="643890" cy="489239"/>
          </a:xfrm>
          <a:prstGeom prst="rect">
            <a:avLst/>
          </a:prstGeom>
          <a:solidFill>
            <a:srgbClr val="EB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9584055" y="5689023"/>
            <a:ext cx="643890" cy="489239"/>
          </a:xfrm>
          <a:prstGeom prst="rect">
            <a:avLst/>
          </a:prstGeom>
          <a:solidFill>
            <a:srgbClr val="F0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0227945" y="5689023"/>
            <a:ext cx="643890" cy="489239"/>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0871835" y="5689023"/>
            <a:ext cx="643890" cy="489239"/>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38125" y="6178261"/>
            <a:ext cx="1590675" cy="489239"/>
          </a:xfrm>
          <a:prstGeom prst="rect">
            <a:avLst/>
          </a:prstGeom>
          <a:noFill/>
        </p:spPr>
        <p:txBody>
          <a:bodyPr wrap="square" lIns="28575" rIns="28575" tIns="9525" bIns="9525" anchor="ctr">
            <a:spAutoFit/>
          </a:bodyPr>
          <a:lstStyle/>
          <a:p>
            <a:pPr algn="l"/>
            <a:r>
              <a:rPr sz="750" b="0">
                <a:solidFill>
                  <a:srgbClr val="2E2E2E"/>
                </a:solidFill>
                <a:latin typeface="Calibri"/>
              </a:rPr>
              <a:t>Other approved adalimumab biosimilars</a:t>
            </a:r>
          </a:p>
        </p:txBody>
      </p:sp>
      <p:sp>
        <p:nvSpPr>
          <p:cNvPr id="188" name="Rectangle 187"/>
          <p:cNvSpPr/>
          <p:nvPr/>
        </p:nvSpPr>
        <p:spPr>
          <a:xfrm>
            <a:off x="1857375" y="6178261"/>
            <a:ext cx="643890" cy="489239"/>
          </a:xfrm>
          <a:prstGeom prst="rect">
            <a:avLst/>
          </a:prstGeom>
          <a:solidFill>
            <a:srgbClr val="ACCB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2501265" y="6178261"/>
            <a:ext cx="643890" cy="489239"/>
          </a:xfrm>
          <a:prstGeom prst="rect">
            <a:avLst/>
          </a:prstGeom>
          <a:solidFill>
            <a:srgbClr val="3489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3145155" y="6178261"/>
            <a:ext cx="643890" cy="489239"/>
          </a:xfrm>
          <a:prstGeom prst="rect">
            <a:avLst/>
          </a:prstGeom>
          <a:solidFill>
            <a:srgbClr val="0D5C8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3789045" y="6178261"/>
            <a:ext cx="643890" cy="489239"/>
          </a:xfrm>
          <a:prstGeom prst="rect">
            <a:avLst/>
          </a:prstGeom>
          <a:solidFill>
            <a:srgbClr val="2480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4432935" y="6178261"/>
            <a:ext cx="643890" cy="489239"/>
          </a:xfrm>
          <a:prstGeom prst="rect">
            <a:avLst/>
          </a:prstGeom>
          <a:solidFill>
            <a:srgbClr val="62A2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076825" y="6178261"/>
            <a:ext cx="643890" cy="489239"/>
          </a:xfrm>
          <a:prstGeom prst="rect">
            <a:avLst/>
          </a:prstGeom>
          <a:solidFill>
            <a:srgbClr val="8DBA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720715" y="6178261"/>
            <a:ext cx="643890" cy="489239"/>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6364605" y="6178261"/>
            <a:ext cx="643890" cy="489239"/>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7008495" y="6178261"/>
            <a:ext cx="643890" cy="489239"/>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7652385" y="6178261"/>
            <a:ext cx="643890" cy="489239"/>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8296275" y="6178261"/>
            <a:ext cx="643890" cy="489239"/>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8940165" y="6178261"/>
            <a:ext cx="643890" cy="489239"/>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9584055" y="6178261"/>
            <a:ext cx="643890" cy="489239"/>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0227945" y="6178261"/>
            <a:ext cx="643890" cy="489239"/>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0871835" y="6178261"/>
            <a:ext cx="643890" cy="489239"/>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11572875" y="1323975"/>
            <a:ext cx="104775" cy="140256"/>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11572875" y="1456611"/>
            <a:ext cx="104775" cy="140256"/>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11572875" y="1589246"/>
            <a:ext cx="104775" cy="140256"/>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11572875" y="1721882"/>
            <a:ext cx="104775" cy="140256"/>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11572875" y="1854518"/>
            <a:ext cx="104775" cy="140256"/>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11572875" y="1987153"/>
            <a:ext cx="104775" cy="140256"/>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11572875" y="2119789"/>
            <a:ext cx="104775" cy="140256"/>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11572875" y="2252424"/>
            <a:ext cx="104775" cy="140256"/>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11572875" y="2385060"/>
            <a:ext cx="104775" cy="140256"/>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11572875" y="2517696"/>
            <a:ext cx="104775" cy="140256"/>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11572875" y="2650331"/>
            <a:ext cx="104775" cy="140256"/>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11572875" y="2782967"/>
            <a:ext cx="104775" cy="140256"/>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11572875" y="2915602"/>
            <a:ext cx="104775" cy="140256"/>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11572875" y="3048238"/>
            <a:ext cx="104775" cy="140256"/>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11572875" y="3180874"/>
            <a:ext cx="104775" cy="140256"/>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11572875" y="3313509"/>
            <a:ext cx="104775" cy="140256"/>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11572875" y="3446145"/>
            <a:ext cx="104775" cy="140256"/>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11572875" y="3578781"/>
            <a:ext cx="104775" cy="140256"/>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11572875" y="3711416"/>
            <a:ext cx="104775" cy="140256"/>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11572875" y="3844052"/>
            <a:ext cx="104775" cy="140256"/>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11572875" y="3976688"/>
            <a:ext cx="104775" cy="140256"/>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11572875" y="4109323"/>
            <a:ext cx="104775" cy="140256"/>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11572875" y="4241959"/>
            <a:ext cx="104775" cy="140256"/>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11572875" y="4374594"/>
            <a:ext cx="104775" cy="140256"/>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11572875" y="4507230"/>
            <a:ext cx="104775" cy="140256"/>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11572875" y="4639866"/>
            <a:ext cx="104775" cy="140256"/>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1572875" y="4772501"/>
            <a:ext cx="104775" cy="140256"/>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11572875" y="4905137"/>
            <a:ext cx="104775" cy="140256"/>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1572875" y="5037773"/>
            <a:ext cx="104775" cy="140256"/>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572875" y="5170408"/>
            <a:ext cx="104775" cy="140256"/>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11572875" y="5303044"/>
            <a:ext cx="104775" cy="140256"/>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11572875" y="5435679"/>
            <a:ext cx="104775" cy="140256"/>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11572875" y="5568315"/>
            <a:ext cx="104775" cy="140256"/>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11572875" y="5700951"/>
            <a:ext cx="104775" cy="140256"/>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11572875" y="5833586"/>
            <a:ext cx="104775" cy="140256"/>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1572875" y="5966222"/>
            <a:ext cx="104775" cy="140256"/>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11572875" y="6098858"/>
            <a:ext cx="104775" cy="140256"/>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11572875" y="6231493"/>
            <a:ext cx="104775" cy="140256"/>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1572875" y="6364129"/>
            <a:ext cx="104775" cy="140256"/>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11572875" y="6496764"/>
            <a:ext cx="104775" cy="140256"/>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11572875" y="1323975"/>
            <a:ext cx="104775" cy="5305425"/>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11687175" y="1257300"/>
            <a:ext cx="276225" cy="133350"/>
          </a:xfrm>
          <a:prstGeom prst="rect">
            <a:avLst/>
          </a:prstGeom>
          <a:noFill/>
        </p:spPr>
        <p:txBody>
          <a:bodyPr wrap="none" lIns="0" rIns="0" tIns="0" bIns="0" anchor="ctr">
            <a:spAutoFit/>
          </a:bodyPr>
          <a:lstStyle/>
          <a:p>
            <a:pPr algn="l"/>
            <a:r>
              <a:rPr sz="700" b="0">
                <a:solidFill>
                  <a:srgbClr val="6C7A89"/>
                </a:solidFill>
                <a:latin typeface="Calibri"/>
              </a:rPr>
              <a:t>25%</a:t>
            </a:r>
          </a:p>
        </p:txBody>
      </p:sp>
      <p:sp>
        <p:nvSpPr>
          <p:cNvPr id="245" name="TextBox 244"/>
          <p:cNvSpPr txBox="1"/>
          <p:nvPr/>
        </p:nvSpPr>
        <p:spPr>
          <a:xfrm>
            <a:off x="11687175" y="3910012"/>
            <a:ext cx="276225" cy="133350"/>
          </a:xfrm>
          <a:prstGeom prst="rect">
            <a:avLst/>
          </a:prstGeom>
          <a:noFill/>
        </p:spPr>
        <p:txBody>
          <a:bodyPr wrap="none" lIns="0" rIns="0" tIns="0" bIns="0" anchor="ctr">
            <a:spAutoFit/>
          </a:bodyPr>
          <a:lstStyle/>
          <a:p>
            <a:pPr algn="l"/>
            <a:r>
              <a:rPr sz="700" b="0">
                <a:solidFill>
                  <a:srgbClr val="6C7A89"/>
                </a:solidFill>
                <a:latin typeface="Calibri"/>
              </a:rPr>
              <a:t>14%</a:t>
            </a:r>
          </a:p>
        </p:txBody>
      </p:sp>
      <p:sp>
        <p:nvSpPr>
          <p:cNvPr id="246" name="TextBox 245"/>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3%</a:t>
            </a:r>
          </a:p>
        </p:txBody>
      </p:sp>
      <p:sp>
        <p:nvSpPr>
          <p:cNvPr id="247" name="Rectangle 24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TextBox 24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49" name="Rounded Rectangle 248">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50" name="Rounded Rectangle 249">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51" name="Rounded Rectangle 250">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Pricing</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Product Pricing &amp; Regional Price Index Trends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North America Pricing Assessment</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Price Positioning &amp; Key Findings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Key Pricing Drivers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Factors Impacting Pricing</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12</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Product Pricing &amp; Regional Price Index Trends</a:t>
            </a:r>
          </a:p>
        </p:txBody>
      </p:sp>
      <p:sp>
        <p:nvSpPr>
          <p:cNvPr id="10" name="Rounded Rectangle 9"/>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Analysis of average USD pricing by product type and indexed regional price movement with base-year inflation adjustments.</a:t>
            </a:r>
          </a:p>
        </p:txBody>
      </p:sp>
      <p:sp>
        <p:nvSpPr>
          <p:cNvPr id="11" name="Rounded Rectangle 10"/>
          <p:cNvSpPr/>
          <p:nvPr/>
        </p:nvSpPr>
        <p:spPr>
          <a:xfrm>
            <a:off x="142875" y="1181100"/>
            <a:ext cx="7696200" cy="2714625"/>
          </a:xfrm>
          <a:prstGeom prst="roundRect">
            <a:avLst>
              <a:gd name="adj" fmla="val 28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238250"/>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3" name="TextBox 12"/>
          <p:cNvSpPr txBox="1"/>
          <p:nvPr/>
        </p:nvSpPr>
        <p:spPr>
          <a:xfrm>
            <a:off x="219075" y="3448050"/>
            <a:ext cx="381000" cy="133350"/>
          </a:xfrm>
          <a:prstGeom prst="rect">
            <a:avLst/>
          </a:prstGeom>
          <a:noFill/>
        </p:spPr>
        <p:txBody>
          <a:bodyPr wrap="none" lIns="0" rIns="0" tIns="0" bIns="0" anchor="ctr">
            <a:spAutoFit/>
          </a:bodyPr>
          <a:lstStyle/>
          <a:p>
            <a:pPr algn="r"/>
            <a:r>
              <a:rPr sz="750" b="0">
                <a:solidFill>
                  <a:srgbClr val="6C7A89"/>
                </a:solidFill>
                <a:latin typeface="Calibri"/>
              </a:rPr>
              <a:t>0.0</a:t>
            </a:r>
          </a:p>
        </p:txBody>
      </p:sp>
      <p:sp>
        <p:nvSpPr>
          <p:cNvPr id="14" name="TextBox 13"/>
          <p:cNvSpPr txBox="1"/>
          <p:nvPr/>
        </p:nvSpPr>
        <p:spPr>
          <a:xfrm>
            <a:off x="219075" y="2481262"/>
            <a:ext cx="381000" cy="133350"/>
          </a:xfrm>
          <a:prstGeom prst="rect">
            <a:avLst/>
          </a:prstGeom>
          <a:noFill/>
        </p:spPr>
        <p:txBody>
          <a:bodyPr wrap="square" lIns="28575" rIns="28575" tIns="9525" bIns="9525" anchor="ctr">
            <a:spAutoFit/>
          </a:bodyPr>
          <a:lstStyle/>
          <a:p>
            <a:pPr algn="r"/>
            <a:r>
              <a:rPr sz="750" b="0">
                <a:solidFill>
                  <a:srgbClr val="6C7A89"/>
                </a:solidFill>
                <a:latin typeface="Calibri"/>
              </a:rPr>
              <a:t>471.1</a:t>
            </a:r>
          </a:p>
        </p:txBody>
      </p:sp>
      <p:sp>
        <p:nvSpPr>
          <p:cNvPr id="15" name="TextBox 14"/>
          <p:cNvSpPr txBox="1"/>
          <p:nvPr/>
        </p:nvSpPr>
        <p:spPr>
          <a:xfrm>
            <a:off x="219075" y="1514475"/>
            <a:ext cx="381000" cy="133350"/>
          </a:xfrm>
          <a:prstGeom prst="rect">
            <a:avLst/>
          </a:prstGeom>
          <a:noFill/>
        </p:spPr>
        <p:txBody>
          <a:bodyPr wrap="square" lIns="28575" rIns="28575" tIns="9525" bIns="9525" anchor="ctr">
            <a:spAutoFit/>
          </a:bodyPr>
          <a:lstStyle/>
          <a:p>
            <a:pPr algn="r"/>
            <a:r>
              <a:rPr sz="750" b="0">
                <a:solidFill>
                  <a:srgbClr val="6C7A89"/>
                </a:solidFill>
                <a:latin typeface="Calibri"/>
              </a:rPr>
              <a:t>942.2</a:t>
            </a:r>
          </a:p>
        </p:txBody>
      </p:sp>
      <p:cxnSp>
        <p:nvCxnSpPr>
          <p:cNvPr id="16" name="Connector 15"/>
          <p:cNvCxnSpPr/>
          <p:nvPr/>
        </p:nvCxnSpPr>
        <p:spPr>
          <a:xfrm>
            <a:off x="975880" y="2889190"/>
            <a:ext cx="0" cy="444223"/>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16552" y="2889190"/>
            <a:ext cx="318655" cy="444223"/>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225" y="2736790"/>
            <a:ext cx="637309" cy="133350"/>
          </a:xfrm>
          <a:prstGeom prst="rect">
            <a:avLst/>
          </a:prstGeom>
          <a:noFill/>
        </p:spPr>
        <p:txBody>
          <a:bodyPr wrap="none" lIns="0" rIns="0" tIns="0" bIns="0">
            <a:spAutoFit/>
          </a:bodyPr>
          <a:lstStyle/>
          <a:p>
            <a:pPr algn="ctr"/>
            <a:r>
              <a:rPr sz="750" b="1">
                <a:solidFill>
                  <a:srgbClr val="0B2E4A"/>
                </a:solidFill>
                <a:latin typeface="Calibri"/>
              </a:rPr>
              <a:t>88.4</a:t>
            </a:r>
          </a:p>
        </p:txBody>
      </p:sp>
      <p:sp>
        <p:nvSpPr>
          <p:cNvPr id="19" name="TextBox 18"/>
          <p:cNvSpPr txBox="1"/>
          <p:nvPr/>
        </p:nvSpPr>
        <p:spPr>
          <a:xfrm>
            <a:off x="657225" y="3543300"/>
            <a:ext cx="637309" cy="285750"/>
          </a:xfrm>
          <a:prstGeom prst="rect">
            <a:avLst/>
          </a:prstGeom>
          <a:noFill/>
        </p:spPr>
        <p:txBody>
          <a:bodyPr wrap="square" lIns="28575" rIns="28575" tIns="9525" bIns="9525">
            <a:spAutoFit/>
          </a:bodyPr>
          <a:lstStyle/>
          <a:p>
            <a:pPr algn="ctr"/>
            <a:r>
              <a:rPr sz="750" b="0">
                <a:solidFill>
                  <a:srgbClr val="2E2E2E"/>
                </a:solidFill>
                <a:latin typeface="Calibri"/>
              </a:rPr>
              <a:t>Amjevita / Amgevita</a:t>
            </a:r>
          </a:p>
        </p:txBody>
      </p:sp>
      <p:cxnSp>
        <p:nvCxnSpPr>
          <p:cNvPr id="20" name="Connector 19"/>
          <p:cNvCxnSpPr/>
          <p:nvPr/>
        </p:nvCxnSpPr>
        <p:spPr>
          <a:xfrm>
            <a:off x="1613189" y="1812680"/>
            <a:ext cx="0" cy="694860"/>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1453861" y="1812680"/>
            <a:ext cx="318655" cy="694859"/>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94534" y="1660280"/>
            <a:ext cx="637309" cy="133350"/>
          </a:xfrm>
          <a:prstGeom prst="rect">
            <a:avLst/>
          </a:prstGeom>
          <a:noFill/>
        </p:spPr>
        <p:txBody>
          <a:bodyPr wrap="square" lIns="28575" rIns="28575" tIns="9525" bIns="9525">
            <a:spAutoFit/>
          </a:bodyPr>
          <a:lstStyle/>
          <a:p>
            <a:pPr algn="ctr"/>
            <a:r>
              <a:rPr sz="750" b="1">
                <a:solidFill>
                  <a:srgbClr val="0B2E4A"/>
                </a:solidFill>
                <a:latin typeface="Calibri"/>
              </a:rPr>
              <a:t>490.8</a:t>
            </a:r>
          </a:p>
        </p:txBody>
      </p:sp>
      <p:sp>
        <p:nvSpPr>
          <p:cNvPr id="23" name="TextBox 22"/>
          <p:cNvSpPr txBox="1"/>
          <p:nvPr/>
        </p:nvSpPr>
        <p:spPr>
          <a:xfrm>
            <a:off x="1294534" y="3543300"/>
            <a:ext cx="637309" cy="285750"/>
          </a:xfrm>
          <a:prstGeom prst="rect">
            <a:avLst/>
          </a:prstGeom>
          <a:noFill/>
        </p:spPr>
        <p:txBody>
          <a:bodyPr wrap="square" lIns="28575" rIns="28575" tIns="9525" bIns="9525">
            <a:spAutoFit/>
          </a:bodyPr>
          <a:lstStyle/>
          <a:p>
            <a:pPr algn="ctr"/>
            <a:r>
              <a:rPr sz="750" b="0">
                <a:solidFill>
                  <a:srgbClr val="2E2E2E"/>
                </a:solidFill>
                <a:latin typeface="Calibri"/>
              </a:rPr>
              <a:t>Cyltezo</a:t>
            </a:r>
          </a:p>
        </p:txBody>
      </p:sp>
      <p:cxnSp>
        <p:nvCxnSpPr>
          <p:cNvPr id="24" name="Connector 23"/>
          <p:cNvCxnSpPr/>
          <p:nvPr/>
        </p:nvCxnSpPr>
        <p:spPr>
          <a:xfrm>
            <a:off x="2250498" y="3170883"/>
            <a:ext cx="0" cy="185333"/>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2091170" y="3170883"/>
            <a:ext cx="318655" cy="185333"/>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931843" y="3018483"/>
            <a:ext cx="637309" cy="133350"/>
          </a:xfrm>
          <a:prstGeom prst="rect">
            <a:avLst/>
          </a:prstGeom>
          <a:noFill/>
        </p:spPr>
        <p:txBody>
          <a:bodyPr wrap="none" lIns="0" rIns="0" tIns="0" bIns="0">
            <a:spAutoFit/>
          </a:bodyPr>
          <a:lstStyle/>
          <a:p>
            <a:pPr algn="ctr"/>
            <a:r>
              <a:rPr sz="750" b="1">
                <a:solidFill>
                  <a:srgbClr val="0B2E4A"/>
                </a:solidFill>
                <a:latin typeface="Calibri"/>
              </a:rPr>
              <a:t>77.2</a:t>
            </a:r>
          </a:p>
        </p:txBody>
      </p:sp>
      <p:sp>
        <p:nvSpPr>
          <p:cNvPr id="27" name="TextBox 26"/>
          <p:cNvSpPr txBox="1"/>
          <p:nvPr/>
        </p:nvSpPr>
        <p:spPr>
          <a:xfrm>
            <a:off x="1931843" y="3543300"/>
            <a:ext cx="637309" cy="285750"/>
          </a:xfrm>
          <a:prstGeom prst="rect">
            <a:avLst/>
          </a:prstGeom>
          <a:noFill/>
        </p:spPr>
        <p:txBody>
          <a:bodyPr wrap="square" lIns="28575" rIns="28575" tIns="9525" bIns="9525">
            <a:spAutoFit/>
          </a:bodyPr>
          <a:lstStyle/>
          <a:p>
            <a:pPr algn="ctr"/>
            <a:r>
              <a:rPr sz="750" b="0">
                <a:solidFill>
                  <a:srgbClr val="2E2E2E"/>
                </a:solidFill>
                <a:latin typeface="Calibri"/>
              </a:rPr>
              <a:t>Hadlima / Imraldi</a:t>
            </a:r>
          </a:p>
        </p:txBody>
      </p:sp>
      <p:cxnSp>
        <p:nvCxnSpPr>
          <p:cNvPr id="28" name="Connector 27"/>
          <p:cNvCxnSpPr/>
          <p:nvPr/>
        </p:nvCxnSpPr>
        <p:spPr>
          <a:xfrm>
            <a:off x="2887807" y="2731157"/>
            <a:ext cx="0" cy="285307"/>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2728480" y="2731157"/>
            <a:ext cx="318655" cy="285307"/>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69152" y="2578757"/>
            <a:ext cx="637309" cy="133350"/>
          </a:xfrm>
          <a:prstGeom prst="rect">
            <a:avLst/>
          </a:prstGeom>
          <a:noFill/>
        </p:spPr>
        <p:txBody>
          <a:bodyPr wrap="square" lIns="28575" rIns="28575" tIns="9525" bIns="9525">
            <a:spAutoFit/>
          </a:bodyPr>
          <a:lstStyle/>
          <a:p>
            <a:pPr algn="ctr"/>
            <a:r>
              <a:rPr sz="750" b="1">
                <a:solidFill>
                  <a:srgbClr val="0B2E4A"/>
                </a:solidFill>
                <a:latin typeface="Calibri"/>
              </a:rPr>
              <a:t>242.8</a:t>
            </a:r>
          </a:p>
        </p:txBody>
      </p:sp>
      <p:sp>
        <p:nvSpPr>
          <p:cNvPr id="31" name="TextBox 30"/>
          <p:cNvSpPr txBox="1"/>
          <p:nvPr/>
        </p:nvSpPr>
        <p:spPr>
          <a:xfrm>
            <a:off x="2569152" y="3543300"/>
            <a:ext cx="637309" cy="285750"/>
          </a:xfrm>
          <a:prstGeom prst="rect">
            <a:avLst/>
          </a:prstGeom>
          <a:noFill/>
        </p:spPr>
        <p:txBody>
          <a:bodyPr wrap="square" lIns="28575" rIns="28575" tIns="9525" bIns="9525">
            <a:spAutoFit/>
          </a:bodyPr>
          <a:lstStyle/>
          <a:p>
            <a:pPr algn="ctr"/>
            <a:r>
              <a:rPr sz="750" b="0">
                <a:solidFill>
                  <a:srgbClr val="2E2E2E"/>
                </a:solidFill>
                <a:latin typeface="Calibri"/>
              </a:rPr>
              <a:t>Hyrimoz / Halimatoz /…</a:t>
            </a:r>
          </a:p>
        </p:txBody>
      </p:sp>
      <p:cxnSp>
        <p:nvCxnSpPr>
          <p:cNvPr id="32" name="Connector 31"/>
          <p:cNvCxnSpPr/>
          <p:nvPr/>
        </p:nvCxnSpPr>
        <p:spPr>
          <a:xfrm>
            <a:off x="3525116" y="2874587"/>
            <a:ext cx="0" cy="145714"/>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3365789" y="2874587"/>
            <a:ext cx="318655" cy="145715"/>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06461" y="2722187"/>
            <a:ext cx="637309" cy="133350"/>
          </a:xfrm>
          <a:prstGeom prst="rect">
            <a:avLst/>
          </a:prstGeom>
          <a:noFill/>
        </p:spPr>
        <p:txBody>
          <a:bodyPr wrap="square" lIns="28575" rIns="28575" tIns="9525" bIns="9525">
            <a:spAutoFit/>
          </a:bodyPr>
          <a:lstStyle/>
          <a:p>
            <a:pPr algn="ctr"/>
            <a:r>
              <a:rPr sz="750" b="1">
                <a:solidFill>
                  <a:srgbClr val="0B2E4A"/>
                </a:solidFill>
                <a:latin typeface="Calibri"/>
              </a:rPr>
              <a:t>240.9</a:t>
            </a:r>
          </a:p>
        </p:txBody>
      </p:sp>
      <p:sp>
        <p:nvSpPr>
          <p:cNvPr id="35" name="TextBox 34"/>
          <p:cNvSpPr txBox="1"/>
          <p:nvPr/>
        </p:nvSpPr>
        <p:spPr>
          <a:xfrm>
            <a:off x="3206461" y="3543300"/>
            <a:ext cx="637309" cy="285750"/>
          </a:xfrm>
          <a:prstGeom prst="rect">
            <a:avLst/>
          </a:prstGeom>
          <a:noFill/>
        </p:spPr>
        <p:txBody>
          <a:bodyPr wrap="square" lIns="28575" rIns="28575" tIns="9525" bIns="9525">
            <a:spAutoFit/>
          </a:bodyPr>
          <a:lstStyle/>
          <a:p>
            <a:pPr algn="ctr"/>
            <a:r>
              <a:rPr sz="750" b="0">
                <a:solidFill>
                  <a:srgbClr val="2E2E2E"/>
                </a:solidFill>
                <a:latin typeface="Calibri"/>
              </a:rPr>
              <a:t>Idacio</a:t>
            </a:r>
          </a:p>
        </p:txBody>
      </p:sp>
      <p:cxnSp>
        <p:nvCxnSpPr>
          <p:cNvPr id="36" name="Connector 35"/>
          <p:cNvCxnSpPr/>
          <p:nvPr/>
        </p:nvCxnSpPr>
        <p:spPr>
          <a:xfrm>
            <a:off x="4162425" y="2909485"/>
            <a:ext cx="0" cy="144555"/>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4003098" y="2909485"/>
            <a:ext cx="318655" cy="144555"/>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3770" y="2757085"/>
            <a:ext cx="637309" cy="133350"/>
          </a:xfrm>
          <a:prstGeom prst="rect">
            <a:avLst/>
          </a:prstGeom>
          <a:noFill/>
        </p:spPr>
        <p:txBody>
          <a:bodyPr wrap="square" lIns="28575" rIns="28575" tIns="9525" bIns="9525">
            <a:spAutoFit/>
          </a:bodyPr>
          <a:lstStyle/>
          <a:p>
            <a:pPr algn="ctr"/>
            <a:r>
              <a:rPr sz="750" b="1">
                <a:solidFill>
                  <a:srgbClr val="0B2E4A"/>
                </a:solidFill>
                <a:latin typeface="Calibri"/>
              </a:rPr>
              <a:t>224.5</a:t>
            </a:r>
          </a:p>
        </p:txBody>
      </p:sp>
      <p:sp>
        <p:nvSpPr>
          <p:cNvPr id="39" name="TextBox 38"/>
          <p:cNvSpPr txBox="1"/>
          <p:nvPr/>
        </p:nvSpPr>
        <p:spPr>
          <a:xfrm>
            <a:off x="3843770" y="3543300"/>
            <a:ext cx="637309" cy="285750"/>
          </a:xfrm>
          <a:prstGeom prst="rect">
            <a:avLst/>
          </a:prstGeom>
          <a:noFill/>
        </p:spPr>
        <p:txBody>
          <a:bodyPr wrap="square" lIns="28575" rIns="28575" tIns="9525" bIns="9525">
            <a:spAutoFit/>
          </a:bodyPr>
          <a:lstStyle/>
          <a:p>
            <a:pPr algn="ctr"/>
            <a:r>
              <a:rPr sz="750" b="0">
                <a:solidFill>
                  <a:srgbClr val="2E2E2E"/>
                </a:solidFill>
                <a:latin typeface="Calibri"/>
              </a:rPr>
              <a:t>Hulio</a:t>
            </a:r>
          </a:p>
        </p:txBody>
      </p:sp>
      <p:cxnSp>
        <p:nvCxnSpPr>
          <p:cNvPr id="40" name="Connector 39"/>
          <p:cNvCxnSpPr/>
          <p:nvPr/>
        </p:nvCxnSpPr>
        <p:spPr>
          <a:xfrm>
            <a:off x="4799734" y="2759818"/>
            <a:ext cx="0" cy="361943"/>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4640407" y="2759818"/>
            <a:ext cx="318655" cy="361943"/>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81080" y="2607418"/>
            <a:ext cx="637309" cy="133350"/>
          </a:xfrm>
          <a:prstGeom prst="rect">
            <a:avLst/>
          </a:prstGeom>
          <a:noFill/>
        </p:spPr>
        <p:txBody>
          <a:bodyPr wrap="square" lIns="28575" rIns="28575" tIns="9525" bIns="9525">
            <a:spAutoFit/>
          </a:bodyPr>
          <a:lstStyle/>
          <a:p>
            <a:pPr algn="ctr"/>
            <a:r>
              <a:rPr sz="750" b="1">
                <a:solidFill>
                  <a:srgbClr val="0B2E4A"/>
                </a:solidFill>
                <a:latin typeface="Calibri"/>
              </a:rPr>
              <a:t>191.5</a:t>
            </a:r>
          </a:p>
        </p:txBody>
      </p:sp>
      <p:sp>
        <p:nvSpPr>
          <p:cNvPr id="43" name="TextBox 42"/>
          <p:cNvSpPr txBox="1"/>
          <p:nvPr/>
        </p:nvSpPr>
        <p:spPr>
          <a:xfrm>
            <a:off x="4481080" y="3543300"/>
            <a:ext cx="637309" cy="285750"/>
          </a:xfrm>
          <a:prstGeom prst="rect">
            <a:avLst/>
          </a:prstGeom>
          <a:noFill/>
        </p:spPr>
        <p:txBody>
          <a:bodyPr wrap="square" lIns="28575" rIns="28575" tIns="9525" bIns="9525">
            <a:spAutoFit/>
          </a:bodyPr>
          <a:lstStyle/>
          <a:p>
            <a:pPr algn="ctr"/>
            <a:r>
              <a:rPr sz="750" b="0">
                <a:solidFill>
                  <a:srgbClr val="2E2E2E"/>
                </a:solidFill>
                <a:latin typeface="Calibri"/>
              </a:rPr>
              <a:t>Abrilada / Amsparity</a:t>
            </a:r>
          </a:p>
        </p:txBody>
      </p:sp>
      <p:cxnSp>
        <p:nvCxnSpPr>
          <p:cNvPr id="44" name="Connector 43"/>
          <p:cNvCxnSpPr/>
          <p:nvPr/>
        </p:nvCxnSpPr>
        <p:spPr>
          <a:xfrm>
            <a:off x="5437043" y="3170237"/>
            <a:ext cx="0" cy="137786"/>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277716" y="3170237"/>
            <a:ext cx="318655" cy="137786"/>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18389" y="3017837"/>
            <a:ext cx="637309" cy="133350"/>
          </a:xfrm>
          <a:prstGeom prst="rect">
            <a:avLst/>
          </a:prstGeom>
          <a:noFill/>
        </p:spPr>
        <p:txBody>
          <a:bodyPr wrap="square" lIns="28575" rIns="28575" tIns="9525" bIns="9525">
            <a:spAutoFit/>
          </a:bodyPr>
          <a:lstStyle/>
          <a:p>
            <a:pPr algn="ctr"/>
            <a:r>
              <a:rPr sz="750" b="1">
                <a:solidFill>
                  <a:srgbClr val="0B2E4A"/>
                </a:solidFill>
                <a:latin typeface="Calibri"/>
              </a:rPr>
              <a:t>100.7</a:t>
            </a:r>
          </a:p>
        </p:txBody>
      </p:sp>
      <p:sp>
        <p:nvSpPr>
          <p:cNvPr id="47" name="TextBox 46"/>
          <p:cNvSpPr txBox="1"/>
          <p:nvPr/>
        </p:nvSpPr>
        <p:spPr>
          <a:xfrm>
            <a:off x="5118389" y="3543300"/>
            <a:ext cx="637309" cy="285750"/>
          </a:xfrm>
          <a:prstGeom prst="rect">
            <a:avLst/>
          </a:prstGeom>
          <a:noFill/>
        </p:spPr>
        <p:txBody>
          <a:bodyPr wrap="square" lIns="28575" rIns="28575" tIns="9525" bIns="9525">
            <a:spAutoFit/>
          </a:bodyPr>
          <a:lstStyle/>
          <a:p>
            <a:pPr algn="ctr"/>
            <a:r>
              <a:rPr sz="750" b="0">
                <a:solidFill>
                  <a:srgbClr val="2E2E2E"/>
                </a:solidFill>
                <a:latin typeface="Calibri"/>
              </a:rPr>
              <a:t>Yusimry</a:t>
            </a:r>
          </a:p>
        </p:txBody>
      </p:sp>
      <p:cxnSp>
        <p:nvCxnSpPr>
          <p:cNvPr id="48" name="Connector 47"/>
          <p:cNvCxnSpPr/>
          <p:nvPr/>
        </p:nvCxnSpPr>
        <p:spPr>
          <a:xfrm>
            <a:off x="6074352" y="2941146"/>
            <a:ext cx="0" cy="249956"/>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915025" y="2941146"/>
            <a:ext cx="318655" cy="249955"/>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755698" y="2788746"/>
            <a:ext cx="637309" cy="133350"/>
          </a:xfrm>
          <a:prstGeom prst="rect">
            <a:avLst/>
          </a:prstGeom>
          <a:noFill/>
        </p:spPr>
        <p:txBody>
          <a:bodyPr wrap="square" lIns="28575" rIns="28575" tIns="9525" bIns="9525">
            <a:spAutoFit/>
          </a:bodyPr>
          <a:lstStyle/>
          <a:p>
            <a:pPr algn="ctr"/>
            <a:r>
              <a:rPr sz="750" b="1">
                <a:solidFill>
                  <a:srgbClr val="0B2E4A"/>
                </a:solidFill>
                <a:latin typeface="Calibri"/>
              </a:rPr>
              <a:t>157.7</a:t>
            </a:r>
          </a:p>
        </p:txBody>
      </p:sp>
      <p:sp>
        <p:nvSpPr>
          <p:cNvPr id="51" name="TextBox 50"/>
          <p:cNvSpPr txBox="1"/>
          <p:nvPr/>
        </p:nvSpPr>
        <p:spPr>
          <a:xfrm>
            <a:off x="5755698" y="3543300"/>
            <a:ext cx="637309" cy="285750"/>
          </a:xfrm>
          <a:prstGeom prst="rect">
            <a:avLst/>
          </a:prstGeom>
          <a:noFill/>
        </p:spPr>
        <p:txBody>
          <a:bodyPr wrap="square" lIns="28575" rIns="28575" tIns="9525" bIns="9525">
            <a:spAutoFit/>
          </a:bodyPr>
          <a:lstStyle/>
          <a:p>
            <a:pPr algn="ctr"/>
            <a:r>
              <a:rPr sz="750" b="0">
                <a:solidFill>
                  <a:srgbClr val="2E2E2E"/>
                </a:solidFill>
                <a:latin typeface="Calibri"/>
              </a:rPr>
              <a:t>Yuflyma</a:t>
            </a:r>
          </a:p>
        </p:txBody>
      </p:sp>
      <p:cxnSp>
        <p:nvCxnSpPr>
          <p:cNvPr id="52" name="Connector 51"/>
          <p:cNvCxnSpPr/>
          <p:nvPr/>
        </p:nvCxnSpPr>
        <p:spPr>
          <a:xfrm>
            <a:off x="6711661" y="2661987"/>
            <a:ext cx="0" cy="65222"/>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6552334" y="2661987"/>
            <a:ext cx="318655" cy="65222"/>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93007" y="2509587"/>
            <a:ext cx="637309" cy="133350"/>
          </a:xfrm>
          <a:prstGeom prst="rect">
            <a:avLst/>
          </a:prstGeom>
          <a:noFill/>
        </p:spPr>
        <p:txBody>
          <a:bodyPr wrap="square" lIns="28575" rIns="28575" tIns="9525" bIns="9525">
            <a:spAutoFit/>
          </a:bodyPr>
          <a:lstStyle/>
          <a:p>
            <a:pPr algn="ctr"/>
            <a:r>
              <a:rPr sz="750" b="1">
                <a:solidFill>
                  <a:srgbClr val="0B2E4A"/>
                </a:solidFill>
                <a:latin typeface="Calibri"/>
              </a:rPr>
              <a:t>415.5</a:t>
            </a:r>
          </a:p>
        </p:txBody>
      </p:sp>
      <p:sp>
        <p:nvSpPr>
          <p:cNvPr id="55" name="TextBox 54"/>
          <p:cNvSpPr txBox="1"/>
          <p:nvPr/>
        </p:nvSpPr>
        <p:spPr>
          <a:xfrm>
            <a:off x="6393007" y="3543300"/>
            <a:ext cx="637309" cy="285750"/>
          </a:xfrm>
          <a:prstGeom prst="rect">
            <a:avLst/>
          </a:prstGeom>
          <a:noFill/>
        </p:spPr>
        <p:txBody>
          <a:bodyPr wrap="square" lIns="28575" rIns="28575" tIns="9525" bIns="9525">
            <a:spAutoFit/>
          </a:bodyPr>
          <a:lstStyle/>
          <a:p>
            <a:pPr algn="ctr"/>
            <a:r>
              <a:rPr sz="750" b="0">
                <a:solidFill>
                  <a:srgbClr val="2E2E2E"/>
                </a:solidFill>
                <a:latin typeface="Calibri"/>
              </a:rPr>
              <a:t>Simlandi</a:t>
            </a:r>
          </a:p>
        </p:txBody>
      </p:sp>
      <p:cxnSp>
        <p:nvCxnSpPr>
          <p:cNvPr id="56" name="Connector 55"/>
          <p:cNvCxnSpPr/>
          <p:nvPr/>
        </p:nvCxnSpPr>
        <p:spPr>
          <a:xfrm>
            <a:off x="7348970" y="2213557"/>
            <a:ext cx="0" cy="927888"/>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7189643" y="2213557"/>
            <a:ext cx="318655" cy="927889"/>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030316" y="2061157"/>
            <a:ext cx="637309" cy="133350"/>
          </a:xfrm>
          <a:prstGeom prst="rect">
            <a:avLst/>
          </a:prstGeom>
          <a:noFill/>
        </p:spPr>
        <p:txBody>
          <a:bodyPr wrap="square" lIns="28575" rIns="28575" tIns="9525" bIns="9525">
            <a:spAutoFit/>
          </a:bodyPr>
          <a:lstStyle/>
          <a:p>
            <a:pPr algn="ctr"/>
            <a:r>
              <a:rPr sz="750" b="1">
                <a:solidFill>
                  <a:srgbClr val="0B2E4A"/>
                </a:solidFill>
                <a:latin typeface="Calibri"/>
              </a:rPr>
              <a:t>181.9</a:t>
            </a:r>
          </a:p>
        </p:txBody>
      </p:sp>
      <p:sp>
        <p:nvSpPr>
          <p:cNvPr id="59" name="TextBox 58"/>
          <p:cNvSpPr txBox="1"/>
          <p:nvPr/>
        </p:nvSpPr>
        <p:spPr>
          <a:xfrm>
            <a:off x="7030316" y="3543300"/>
            <a:ext cx="637309" cy="285750"/>
          </a:xfrm>
          <a:prstGeom prst="rect">
            <a:avLst/>
          </a:prstGeom>
          <a:noFill/>
        </p:spPr>
        <p:txBody>
          <a:bodyPr wrap="square" lIns="28575" rIns="28575" tIns="9525" bIns="9525">
            <a:spAutoFit/>
          </a:bodyPr>
          <a:lstStyle/>
          <a:p>
            <a:pPr algn="ctr"/>
            <a:r>
              <a:rPr sz="750" b="0">
                <a:solidFill>
                  <a:srgbClr val="2E2E2E"/>
                </a:solidFill>
                <a:latin typeface="Calibri"/>
              </a:rPr>
              <a:t>Other approved adalim…</a:t>
            </a:r>
          </a:p>
        </p:txBody>
      </p:sp>
      <p:sp>
        <p:nvSpPr>
          <p:cNvPr id="60" name="Rounded Rectangle 59"/>
          <p:cNvSpPr/>
          <p:nvPr/>
        </p:nvSpPr>
        <p:spPr>
          <a:xfrm>
            <a:off x="142875" y="3971925"/>
            <a:ext cx="7696200" cy="2676525"/>
          </a:xfrm>
          <a:prstGeom prst="roundRect">
            <a:avLst>
              <a:gd name="adj" fmla="val 28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38125" y="402907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a:t>
            </a:r>
          </a:p>
        </p:txBody>
      </p:sp>
      <p:sp>
        <p:nvSpPr>
          <p:cNvPr id="62" name="TextBox 61"/>
          <p:cNvSpPr txBox="1"/>
          <p:nvPr/>
        </p:nvSpPr>
        <p:spPr>
          <a:xfrm>
            <a:off x="219075" y="4449731"/>
            <a:ext cx="361950" cy="133350"/>
          </a:xfrm>
          <a:prstGeom prst="rect">
            <a:avLst/>
          </a:prstGeom>
          <a:noFill/>
        </p:spPr>
        <p:txBody>
          <a:bodyPr wrap="none" lIns="0" rIns="0" tIns="0" bIns="0" anchor="ctr">
            <a:spAutoFit/>
          </a:bodyPr>
          <a:lstStyle/>
          <a:p>
            <a:pPr algn="r"/>
            <a:r>
              <a:rPr sz="750" b="0">
                <a:solidFill>
                  <a:srgbClr val="6C7A89"/>
                </a:solidFill>
                <a:latin typeface="Calibri"/>
              </a:rPr>
              <a:t>+38%</a:t>
            </a:r>
          </a:p>
        </p:txBody>
      </p:sp>
      <p:sp>
        <p:nvSpPr>
          <p:cNvPr id="63" name="TextBox 62"/>
          <p:cNvSpPr txBox="1"/>
          <p:nvPr/>
        </p:nvSpPr>
        <p:spPr>
          <a:xfrm>
            <a:off x="219075" y="5272088"/>
            <a:ext cx="361950" cy="133350"/>
          </a:xfrm>
          <a:prstGeom prst="rect">
            <a:avLst/>
          </a:prstGeom>
          <a:noFill/>
        </p:spPr>
        <p:txBody>
          <a:bodyPr wrap="none" lIns="0" rIns="0" tIns="0" bIns="0" anchor="ctr">
            <a:spAutoFit/>
          </a:bodyPr>
          <a:lstStyle/>
          <a:p>
            <a:pPr algn="r"/>
            <a:r>
              <a:rPr sz="750" b="0">
                <a:solidFill>
                  <a:srgbClr val="6C7A89"/>
                </a:solidFill>
                <a:latin typeface="Calibri"/>
              </a:rPr>
              <a:t>0%</a:t>
            </a:r>
          </a:p>
        </p:txBody>
      </p:sp>
      <p:sp>
        <p:nvSpPr>
          <p:cNvPr id="64" name="TextBox 63"/>
          <p:cNvSpPr txBox="1"/>
          <p:nvPr/>
        </p:nvSpPr>
        <p:spPr>
          <a:xfrm>
            <a:off x="219075" y="6094444"/>
            <a:ext cx="361950" cy="133350"/>
          </a:xfrm>
          <a:prstGeom prst="rect">
            <a:avLst/>
          </a:prstGeom>
          <a:noFill/>
        </p:spPr>
        <p:txBody>
          <a:bodyPr wrap="none" lIns="0" rIns="0" tIns="0" bIns="0" anchor="ctr">
            <a:spAutoFit/>
          </a:bodyPr>
          <a:lstStyle/>
          <a:p>
            <a:pPr algn="r"/>
            <a:r>
              <a:rPr sz="750" b="0">
                <a:solidFill>
                  <a:srgbClr val="6C7A89"/>
                </a:solidFill>
                <a:latin typeface="Calibri"/>
              </a:rPr>
              <a:t>-38%</a:t>
            </a:r>
          </a:p>
        </p:txBody>
      </p:sp>
      <p:cxnSp>
        <p:nvCxnSpPr>
          <p:cNvPr id="65" name="Connector 64"/>
          <p:cNvCxnSpPr/>
          <p:nvPr/>
        </p:nvCxnSpPr>
        <p:spPr>
          <a:xfrm>
            <a:off x="619125" y="5338762"/>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977900" y="5338762"/>
            <a:ext cx="457200" cy="716139"/>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19125" y="6064426"/>
            <a:ext cx="1174750" cy="133350"/>
          </a:xfrm>
          <a:prstGeom prst="rect">
            <a:avLst/>
          </a:prstGeom>
          <a:noFill/>
        </p:spPr>
        <p:txBody>
          <a:bodyPr wrap="square" lIns="28575" rIns="28575" tIns="9525" bIns="9525">
            <a:spAutoFit/>
          </a:bodyPr>
          <a:lstStyle/>
          <a:p>
            <a:pPr algn="ctr"/>
            <a:r>
              <a:rPr sz="800" b="1">
                <a:solidFill>
                  <a:srgbClr val="2E2E2E"/>
                </a:solidFill>
                <a:latin typeface="Calibri"/>
              </a:rPr>
              <a:t>-33.3%</a:t>
            </a:r>
          </a:p>
        </p:txBody>
      </p:sp>
      <p:sp>
        <p:nvSpPr>
          <p:cNvPr id="68" name="TextBox 67"/>
          <p:cNvSpPr txBox="1"/>
          <p:nvPr/>
        </p:nvSpPr>
        <p:spPr>
          <a:xfrm>
            <a:off x="619125" y="6334125"/>
            <a:ext cx="1174750" cy="247650"/>
          </a:xfrm>
          <a:prstGeom prst="rect">
            <a:avLst/>
          </a:prstGeom>
          <a:noFill/>
        </p:spPr>
        <p:txBody>
          <a:bodyPr wrap="square" lIns="28575" rIns="28575" tIns="9525" bIns="9525">
            <a:spAutoFit/>
          </a:bodyPr>
          <a:lstStyle/>
          <a:p>
            <a:pPr algn="ctr"/>
            <a:r>
              <a:rPr sz="750" b="0">
                <a:solidFill>
                  <a:srgbClr val="2E2E2E"/>
                </a:solidFill>
                <a:latin typeface="Calibri"/>
              </a:rPr>
              <a:t>North America</a:t>
            </a:r>
          </a:p>
        </p:txBody>
      </p:sp>
      <p:sp>
        <p:nvSpPr>
          <p:cNvPr id="69" name="Rectangle 68"/>
          <p:cNvSpPr/>
          <p:nvPr/>
        </p:nvSpPr>
        <p:spPr>
          <a:xfrm>
            <a:off x="2152650" y="5338762"/>
            <a:ext cx="457200" cy="716138"/>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793875" y="6064426"/>
            <a:ext cx="1174750" cy="133350"/>
          </a:xfrm>
          <a:prstGeom prst="rect">
            <a:avLst/>
          </a:prstGeom>
          <a:noFill/>
        </p:spPr>
        <p:txBody>
          <a:bodyPr wrap="square" lIns="28575" rIns="28575" tIns="9525" bIns="9525">
            <a:spAutoFit/>
          </a:bodyPr>
          <a:lstStyle/>
          <a:p>
            <a:pPr algn="ctr"/>
            <a:r>
              <a:rPr sz="800" b="1">
                <a:solidFill>
                  <a:srgbClr val="2E2E2E"/>
                </a:solidFill>
                <a:latin typeface="Calibri"/>
              </a:rPr>
              <a:t>-33.3%</a:t>
            </a:r>
          </a:p>
        </p:txBody>
      </p:sp>
      <p:sp>
        <p:nvSpPr>
          <p:cNvPr id="71" name="TextBox 70"/>
          <p:cNvSpPr txBox="1"/>
          <p:nvPr/>
        </p:nvSpPr>
        <p:spPr>
          <a:xfrm>
            <a:off x="1793875" y="6334125"/>
            <a:ext cx="1174750" cy="247650"/>
          </a:xfrm>
          <a:prstGeom prst="rect">
            <a:avLst/>
          </a:prstGeom>
          <a:noFill/>
        </p:spPr>
        <p:txBody>
          <a:bodyPr wrap="square" lIns="28575" rIns="28575" tIns="9525" bIns="9525">
            <a:spAutoFit/>
          </a:bodyPr>
          <a:lstStyle/>
          <a:p>
            <a:pPr algn="ctr"/>
            <a:r>
              <a:rPr sz="750" b="0">
                <a:solidFill>
                  <a:srgbClr val="2E2E2E"/>
                </a:solidFill>
                <a:latin typeface="Calibri"/>
              </a:rPr>
              <a:t>Latin America</a:t>
            </a:r>
          </a:p>
        </p:txBody>
      </p:sp>
      <p:sp>
        <p:nvSpPr>
          <p:cNvPr id="72" name="Rectangle 71"/>
          <p:cNvSpPr/>
          <p:nvPr/>
        </p:nvSpPr>
        <p:spPr>
          <a:xfrm>
            <a:off x="3327400" y="5338762"/>
            <a:ext cx="457200" cy="716139"/>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968625" y="6064426"/>
            <a:ext cx="1174750" cy="133350"/>
          </a:xfrm>
          <a:prstGeom prst="rect">
            <a:avLst/>
          </a:prstGeom>
          <a:noFill/>
        </p:spPr>
        <p:txBody>
          <a:bodyPr wrap="square" lIns="28575" rIns="28575" tIns="9525" bIns="9525">
            <a:spAutoFit/>
          </a:bodyPr>
          <a:lstStyle/>
          <a:p>
            <a:pPr algn="ctr"/>
            <a:r>
              <a:rPr sz="800" b="1">
                <a:solidFill>
                  <a:srgbClr val="2E2E2E"/>
                </a:solidFill>
                <a:latin typeface="Calibri"/>
              </a:rPr>
              <a:t>-33.3%</a:t>
            </a:r>
          </a:p>
        </p:txBody>
      </p:sp>
      <p:sp>
        <p:nvSpPr>
          <p:cNvPr id="74" name="TextBox 73"/>
          <p:cNvSpPr txBox="1"/>
          <p:nvPr/>
        </p:nvSpPr>
        <p:spPr>
          <a:xfrm>
            <a:off x="2968625" y="6334125"/>
            <a:ext cx="1174750" cy="247650"/>
          </a:xfrm>
          <a:prstGeom prst="rect">
            <a:avLst/>
          </a:prstGeom>
          <a:noFill/>
        </p:spPr>
        <p:txBody>
          <a:bodyPr wrap="square" lIns="28575" rIns="28575" tIns="9525" bIns="9525">
            <a:spAutoFit/>
          </a:bodyPr>
          <a:lstStyle/>
          <a:p>
            <a:pPr algn="ctr"/>
            <a:r>
              <a:rPr sz="750" b="0">
                <a:solidFill>
                  <a:srgbClr val="2E2E2E"/>
                </a:solidFill>
                <a:latin typeface="Calibri"/>
              </a:rPr>
              <a:t>Europe</a:t>
            </a:r>
          </a:p>
        </p:txBody>
      </p:sp>
      <p:sp>
        <p:nvSpPr>
          <p:cNvPr id="75" name="Rectangle 74"/>
          <p:cNvSpPr/>
          <p:nvPr/>
        </p:nvSpPr>
        <p:spPr>
          <a:xfrm>
            <a:off x="4502150" y="5338762"/>
            <a:ext cx="457200" cy="716139"/>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143375" y="6064426"/>
            <a:ext cx="1174750" cy="133350"/>
          </a:xfrm>
          <a:prstGeom prst="rect">
            <a:avLst/>
          </a:prstGeom>
          <a:noFill/>
        </p:spPr>
        <p:txBody>
          <a:bodyPr wrap="square" lIns="28575" rIns="28575" tIns="9525" bIns="9525">
            <a:spAutoFit/>
          </a:bodyPr>
          <a:lstStyle/>
          <a:p>
            <a:pPr algn="ctr"/>
            <a:r>
              <a:rPr sz="800" b="1">
                <a:solidFill>
                  <a:srgbClr val="2E2E2E"/>
                </a:solidFill>
                <a:latin typeface="Calibri"/>
              </a:rPr>
              <a:t>-33.3%</a:t>
            </a:r>
          </a:p>
        </p:txBody>
      </p:sp>
      <p:sp>
        <p:nvSpPr>
          <p:cNvPr id="77" name="TextBox 76"/>
          <p:cNvSpPr txBox="1"/>
          <p:nvPr/>
        </p:nvSpPr>
        <p:spPr>
          <a:xfrm>
            <a:off x="4143375" y="6334125"/>
            <a:ext cx="1174750" cy="247650"/>
          </a:xfrm>
          <a:prstGeom prst="rect">
            <a:avLst/>
          </a:prstGeom>
          <a:noFill/>
        </p:spPr>
        <p:txBody>
          <a:bodyPr wrap="square" lIns="28575" rIns="28575" tIns="9525" bIns="9525">
            <a:spAutoFit/>
          </a:bodyPr>
          <a:lstStyle/>
          <a:p>
            <a:pPr algn="ctr"/>
            <a:r>
              <a:rPr sz="750" b="0">
                <a:solidFill>
                  <a:srgbClr val="2E2E2E"/>
                </a:solidFill>
                <a:latin typeface="Calibri"/>
              </a:rPr>
              <a:t>East Asia</a:t>
            </a:r>
          </a:p>
        </p:txBody>
      </p:sp>
      <p:sp>
        <p:nvSpPr>
          <p:cNvPr id="78" name="Rectangle 77"/>
          <p:cNvSpPr/>
          <p:nvPr/>
        </p:nvSpPr>
        <p:spPr>
          <a:xfrm>
            <a:off x="5676900" y="5338762"/>
            <a:ext cx="457200" cy="716139"/>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318125" y="6064426"/>
            <a:ext cx="1174750" cy="133350"/>
          </a:xfrm>
          <a:prstGeom prst="rect">
            <a:avLst/>
          </a:prstGeom>
          <a:noFill/>
        </p:spPr>
        <p:txBody>
          <a:bodyPr wrap="square" lIns="28575" rIns="28575" tIns="9525" bIns="9525">
            <a:spAutoFit/>
          </a:bodyPr>
          <a:lstStyle/>
          <a:p>
            <a:pPr algn="ctr"/>
            <a:r>
              <a:rPr sz="800" b="1">
                <a:solidFill>
                  <a:srgbClr val="2E2E2E"/>
                </a:solidFill>
                <a:latin typeface="Calibri"/>
              </a:rPr>
              <a:t>-33.3%</a:t>
            </a:r>
          </a:p>
        </p:txBody>
      </p:sp>
      <p:sp>
        <p:nvSpPr>
          <p:cNvPr id="80" name="TextBox 79"/>
          <p:cNvSpPr txBox="1"/>
          <p:nvPr/>
        </p:nvSpPr>
        <p:spPr>
          <a:xfrm>
            <a:off x="5318125" y="6334125"/>
            <a:ext cx="1174750" cy="247650"/>
          </a:xfrm>
          <a:prstGeom prst="rect">
            <a:avLst/>
          </a:prstGeom>
          <a:noFill/>
        </p:spPr>
        <p:txBody>
          <a:bodyPr wrap="square" lIns="28575" rIns="28575" tIns="9525" bIns="9525">
            <a:spAutoFit/>
          </a:bodyPr>
          <a:lstStyle/>
          <a:p>
            <a:pPr algn="ctr"/>
            <a:r>
              <a:rPr sz="750" b="0">
                <a:solidFill>
                  <a:srgbClr val="2E2E2E"/>
                </a:solidFill>
                <a:latin typeface="Calibri"/>
              </a:rPr>
              <a:t>South Asia &amp; Pacific</a:t>
            </a:r>
          </a:p>
        </p:txBody>
      </p:sp>
      <p:sp>
        <p:nvSpPr>
          <p:cNvPr id="81" name="Rectangle 80"/>
          <p:cNvSpPr/>
          <p:nvPr/>
        </p:nvSpPr>
        <p:spPr>
          <a:xfrm>
            <a:off x="6851650" y="5338762"/>
            <a:ext cx="457200" cy="716139"/>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492875" y="6064426"/>
            <a:ext cx="1174750" cy="133350"/>
          </a:xfrm>
          <a:prstGeom prst="rect">
            <a:avLst/>
          </a:prstGeom>
          <a:noFill/>
        </p:spPr>
        <p:txBody>
          <a:bodyPr wrap="square" lIns="28575" rIns="28575" tIns="9525" bIns="9525">
            <a:spAutoFit/>
          </a:bodyPr>
          <a:lstStyle/>
          <a:p>
            <a:pPr algn="ctr"/>
            <a:r>
              <a:rPr sz="800" b="1">
                <a:solidFill>
                  <a:srgbClr val="2E2E2E"/>
                </a:solidFill>
                <a:latin typeface="Calibri"/>
              </a:rPr>
              <a:t>-33.3%</a:t>
            </a:r>
          </a:p>
        </p:txBody>
      </p:sp>
      <p:sp>
        <p:nvSpPr>
          <p:cNvPr id="83" name="TextBox 82"/>
          <p:cNvSpPr txBox="1"/>
          <p:nvPr/>
        </p:nvSpPr>
        <p:spPr>
          <a:xfrm>
            <a:off x="6492875" y="6334125"/>
            <a:ext cx="1174750" cy="247650"/>
          </a:xfrm>
          <a:prstGeom prst="rect">
            <a:avLst/>
          </a:prstGeom>
          <a:noFill/>
        </p:spPr>
        <p:txBody>
          <a:bodyPr wrap="square" lIns="28575" rIns="28575" tIns="9525" bIns="9525">
            <a:spAutoFit/>
          </a:bodyPr>
          <a:lstStyle/>
          <a:p>
            <a:pPr algn="ctr"/>
            <a:r>
              <a:rPr sz="750" b="0">
                <a:solidFill>
                  <a:srgbClr val="2E2E2E"/>
                </a:solidFill>
                <a:latin typeface="Calibri"/>
              </a:rPr>
              <a:t>Middle East &amp; Africa</a:t>
            </a:r>
          </a:p>
        </p:txBody>
      </p:sp>
      <p:sp>
        <p:nvSpPr>
          <p:cNvPr id="84" name="Rounded Rectangle 83"/>
          <p:cNvSpPr/>
          <p:nvPr/>
        </p:nvSpPr>
        <p:spPr>
          <a:xfrm>
            <a:off x="7915275" y="1181100"/>
            <a:ext cx="4133850" cy="546735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048625" y="1266825"/>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86" name="Rectangle 85"/>
          <p:cNvSpPr/>
          <p:nvPr/>
        </p:nvSpPr>
        <p:spPr>
          <a:xfrm>
            <a:off x="8048625" y="150495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048625" y="1590675"/>
            <a:ext cx="3867150" cy="49815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chart shows North America average pricing of key product type types in USD, harmonised across regions. Each candlestick spans the minimum-to-maximum observed price within the base year, giving a clear read of price range and market dispersion.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Wider bodies mark a larger gap between opening and closing price levels 'Simlandi' shows the most movement (+8.3%) and 'Other approved adalimumab biosimilars' the least (-71.3%) variability stakeholders should monitor when planning procurement or pricing.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lower chart indexes regional price movement to the base year, applied consistently across the horizon to strip out year-on-year inflationary volatility and reveal structural price shifts.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Regional indices diverge by up to 33.3% between 2026 and 2036: developed regions start higher and grow steadily, while emerging regions start lower and converge, reflecting catch-up growth.</a:t>
            </a:r>
          </a:p>
        </p:txBody>
      </p:sp>
      <p:sp>
        <p:nvSpPr>
          <p:cNvPr id="88" name="Rectangle 8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90" name="Rounded Rectangle 89">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91" name="Rounded Rectangle 90">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92" name="Rounded Rectangle 91">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North America Pricing Assessment</a:t>
            </a:r>
          </a:p>
        </p:txBody>
      </p:sp>
      <p:sp>
        <p:nvSpPr>
          <p:cNvPr id="10" name="TextBox 9"/>
          <p:cNvSpPr txBox="1"/>
          <p:nvPr/>
        </p:nvSpPr>
        <p:spPr>
          <a:xfrm>
            <a:off x="142875" y="800100"/>
            <a:ext cx="6096000" cy="152400"/>
          </a:xfrm>
          <a:prstGeom prst="rect">
            <a:avLst/>
          </a:prstGeom>
          <a:noFill/>
        </p:spPr>
        <p:txBody>
          <a:bodyPr wrap="square" lIns="28575" rIns="28575" tIns="9525" bIns="9525" anchor="ctr">
            <a:spAutoFit/>
          </a:bodyPr>
          <a:lstStyle/>
          <a:p>
            <a:pPr algn="l"/>
            <a:r>
              <a:rPr sz="1150" b="1">
                <a:solidFill>
                  <a:srgbClr val="0B2E4A"/>
                </a:solidFill>
                <a:latin typeface="Calibri"/>
              </a:rPr>
              <a:t>North America Price Point Assessment (US$/unit)</a:t>
            </a:r>
          </a:p>
        </p:txBody>
      </p:sp>
      <p:sp>
        <p:nvSpPr>
          <p:cNvPr id="11" name="Oval 10"/>
          <p:cNvSpPr/>
          <p:nvPr/>
        </p:nvSpPr>
        <p:spPr>
          <a:xfrm>
            <a:off x="2005012" y="1004888"/>
            <a:ext cx="104775" cy="104775"/>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43125" y="990600"/>
            <a:ext cx="1238250" cy="142875"/>
          </a:xfrm>
          <a:prstGeom prst="rect">
            <a:avLst/>
          </a:prstGeom>
          <a:noFill/>
        </p:spPr>
        <p:txBody>
          <a:bodyPr wrap="square" lIns="28575" rIns="28575" tIns="9525" bIns="9525" anchor="ctr">
            <a:spAutoFit/>
          </a:bodyPr>
          <a:lstStyle/>
          <a:p>
            <a:pPr algn="l"/>
            <a:r>
              <a:rPr sz="900" b="0">
                <a:solidFill>
                  <a:srgbClr val="2E2E2E"/>
                </a:solidFill>
                <a:latin typeface="Calibri"/>
              </a:rPr>
              <a:t>Simlandi</a:t>
            </a:r>
          </a:p>
        </p:txBody>
      </p:sp>
      <p:sp>
        <p:nvSpPr>
          <p:cNvPr id="13" name="Oval 12"/>
          <p:cNvSpPr/>
          <p:nvPr/>
        </p:nvSpPr>
        <p:spPr>
          <a:xfrm>
            <a:off x="2674575" y="1004888"/>
            <a:ext cx="104775" cy="1047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12688" y="990600"/>
            <a:ext cx="1238250" cy="142875"/>
          </a:xfrm>
          <a:prstGeom prst="rect">
            <a:avLst/>
          </a:prstGeom>
          <a:noFill/>
        </p:spPr>
        <p:txBody>
          <a:bodyPr wrap="square" lIns="28575" rIns="28575" tIns="9525" bIns="9525" anchor="ctr">
            <a:spAutoFit/>
          </a:bodyPr>
          <a:lstStyle/>
          <a:p>
            <a:pPr algn="l"/>
            <a:r>
              <a:rPr sz="900" b="0">
                <a:solidFill>
                  <a:srgbClr val="2E2E2E"/>
                </a:solidFill>
                <a:latin typeface="Calibri"/>
              </a:rPr>
              <a:t>Cyltezo</a:t>
            </a:r>
          </a:p>
        </p:txBody>
      </p:sp>
      <p:sp>
        <p:nvSpPr>
          <p:cNvPr id="15" name="Oval 14"/>
          <p:cNvSpPr/>
          <p:nvPr/>
        </p:nvSpPr>
        <p:spPr>
          <a:xfrm>
            <a:off x="3294675" y="1004888"/>
            <a:ext cx="104775" cy="10477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2787" y="990600"/>
            <a:ext cx="1238250" cy="142875"/>
          </a:xfrm>
          <a:prstGeom prst="rect">
            <a:avLst/>
          </a:prstGeom>
          <a:noFill/>
        </p:spPr>
        <p:txBody>
          <a:bodyPr wrap="square" lIns="28575" rIns="28575" tIns="9525" bIns="9525" anchor="ctr">
            <a:spAutoFit/>
          </a:bodyPr>
          <a:lstStyle/>
          <a:p>
            <a:pPr algn="l"/>
            <a:r>
              <a:rPr sz="900" b="0">
                <a:solidFill>
                  <a:srgbClr val="2E2E2E"/>
                </a:solidFill>
                <a:latin typeface="Calibri"/>
              </a:rPr>
              <a:t>Hulio</a:t>
            </a:r>
          </a:p>
        </p:txBody>
      </p:sp>
      <p:sp>
        <p:nvSpPr>
          <p:cNvPr id="17" name="Rectangle 16"/>
          <p:cNvSpPr/>
          <p:nvPr/>
        </p:nvSpPr>
        <p:spPr>
          <a:xfrm>
            <a:off x="3832328" y="1000125"/>
            <a:ext cx="209550" cy="1143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79978" y="990600"/>
            <a:ext cx="857250" cy="142875"/>
          </a:xfrm>
          <a:prstGeom prst="rect">
            <a:avLst/>
          </a:prstGeom>
          <a:noFill/>
        </p:spPr>
        <p:txBody>
          <a:bodyPr wrap="square" lIns="28575" rIns="28575" tIns="9525" bIns="9525" anchor="ctr">
            <a:spAutoFit/>
          </a:bodyPr>
          <a:lstStyle/>
          <a:p>
            <a:pPr algn="l"/>
            <a:r>
              <a:rPr sz="900" b="0">
                <a:solidFill>
                  <a:srgbClr val="2E2E2E"/>
                </a:solidFill>
                <a:latin typeface="Calibri"/>
              </a:rPr>
              <a:t>Price Range</a:t>
            </a:r>
          </a:p>
        </p:txBody>
      </p:sp>
      <p:sp>
        <p:nvSpPr>
          <p:cNvPr id="19" name="TextBox 18"/>
          <p:cNvSpPr txBox="1"/>
          <p:nvPr/>
        </p:nvSpPr>
        <p:spPr>
          <a:xfrm>
            <a:off x="6715125" y="990600"/>
            <a:ext cx="5334000" cy="142875"/>
          </a:xfrm>
          <a:prstGeom prst="rect">
            <a:avLst/>
          </a:prstGeom>
          <a:noFill/>
        </p:spPr>
        <p:txBody>
          <a:bodyPr wrap="square" lIns="28575" rIns="28575" tIns="9525" bIns="9525" anchor="ctr">
            <a:spAutoFit/>
          </a:bodyPr>
          <a:lstStyle/>
          <a:p>
            <a:pPr algn="l"/>
            <a:r>
              <a:rPr sz="950" b="1">
                <a:solidFill>
                  <a:srgbClr val="0B2E4A"/>
                </a:solidFill>
                <a:latin typeface="Calibri"/>
              </a:rPr>
              <a:t>Average Pricing by Product Type (US$/unit)</a:t>
            </a:r>
          </a:p>
        </p:txBody>
      </p:sp>
      <p:sp>
        <p:nvSpPr>
          <p:cNvPr id="20" name="TextBox 19"/>
          <p:cNvSpPr txBox="1"/>
          <p:nvPr/>
        </p:nvSpPr>
        <p:spPr>
          <a:xfrm>
            <a:off x="11191875" y="800100"/>
            <a:ext cx="857250" cy="142875"/>
          </a:xfrm>
          <a:prstGeom prst="rect">
            <a:avLst/>
          </a:prstGeom>
          <a:noFill/>
        </p:spPr>
        <p:txBody>
          <a:bodyPr wrap="square" lIns="28575" rIns="28575" tIns="9525" bIns="9525" anchor="ctr">
            <a:spAutoFit/>
          </a:bodyPr>
          <a:lstStyle/>
          <a:p>
            <a:pPr algn="r"/>
            <a:r>
              <a:rPr sz="900" b="1">
                <a:solidFill>
                  <a:srgbClr val="6C7A89"/>
                </a:solidFill>
                <a:latin typeface="Calibri"/>
              </a:rPr>
              <a:t>(1 / 2)</a:t>
            </a:r>
          </a:p>
        </p:txBody>
      </p:sp>
      <p:sp>
        <p:nvSpPr>
          <p:cNvPr id="21" name="Rectangle 20"/>
          <p:cNvSpPr/>
          <p:nvPr/>
        </p:nvSpPr>
        <p:spPr>
          <a:xfrm>
            <a:off x="142875" y="1219200"/>
            <a:ext cx="11906250" cy="1257300"/>
          </a:xfrm>
          <a:prstGeom prst="rect">
            <a:avLst/>
          </a:prstGeom>
          <a:solidFill>
            <a:srgbClr val="F5F7F9"/>
          </a:solidFill>
          <a:ln w="9525">
            <a:solidFill>
              <a:srgbClr val="EDF1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0025" y="1238250"/>
            <a:ext cx="2762250" cy="133350"/>
          </a:xfrm>
          <a:prstGeom prst="rect">
            <a:avLst/>
          </a:prstGeom>
          <a:noFill/>
        </p:spPr>
        <p:txBody>
          <a:bodyPr wrap="square" lIns="28575" rIns="28575" tIns="9525" bIns="9525" anchor="ctr">
            <a:spAutoFit/>
          </a:bodyPr>
          <a:lstStyle/>
          <a:p>
            <a:pPr algn="l"/>
            <a:r>
              <a:rPr sz="950" b="1">
                <a:solidFill>
                  <a:srgbClr val="0B2E4A"/>
                </a:solidFill>
                <a:latin typeface="Calibri"/>
              </a:rPr>
              <a:t>North America Pricing Pattern</a:t>
            </a:r>
          </a:p>
        </p:txBody>
      </p:sp>
      <p:cxnSp>
        <p:nvCxnSpPr>
          <p:cNvPr id="23" name="Connector 22"/>
          <p:cNvCxnSpPr/>
          <p:nvPr/>
        </p:nvCxnSpPr>
        <p:spPr>
          <a:xfrm>
            <a:off x="466725" y="1475390"/>
            <a:ext cx="2314575" cy="0"/>
          </a:xfrm>
          <a:prstGeom prst="line">
            <a:avLst/>
          </a:prstGeom>
          <a:ln w="10160">
            <a:solidFill>
              <a:srgbClr val="C9D2D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33350" y="1352550"/>
            <a:ext cx="304800" cy="114300"/>
          </a:xfrm>
          <a:prstGeom prst="rect">
            <a:avLst/>
          </a:prstGeom>
          <a:noFill/>
        </p:spPr>
        <p:txBody>
          <a:bodyPr wrap="none" lIns="0" rIns="0" tIns="0" bIns="0" anchor="ctr">
            <a:spAutoFit/>
          </a:bodyPr>
          <a:lstStyle/>
          <a:p>
            <a:pPr algn="r"/>
            <a:r>
              <a:rPr sz="600" b="0">
                <a:solidFill>
                  <a:srgbClr val="6C7A89"/>
                </a:solidFill>
                <a:latin typeface="Calibri"/>
              </a:rPr>
              <a:t>+2%</a:t>
            </a:r>
          </a:p>
        </p:txBody>
      </p:sp>
      <p:sp>
        <p:nvSpPr>
          <p:cNvPr id="25" name="TextBox 24"/>
          <p:cNvSpPr txBox="1"/>
          <p:nvPr/>
        </p:nvSpPr>
        <p:spPr>
          <a:xfrm>
            <a:off x="133350" y="2305050"/>
            <a:ext cx="304800" cy="114300"/>
          </a:xfrm>
          <a:prstGeom prst="rect">
            <a:avLst/>
          </a:prstGeom>
          <a:noFill/>
        </p:spPr>
        <p:txBody>
          <a:bodyPr wrap="none" lIns="0" rIns="0" tIns="0" bIns="0" anchor="ctr">
            <a:spAutoFit/>
          </a:bodyPr>
          <a:lstStyle/>
          <a:p>
            <a:pPr algn="r"/>
            <a:r>
              <a:rPr sz="600" b="0">
                <a:solidFill>
                  <a:srgbClr val="6C7A89"/>
                </a:solidFill>
                <a:latin typeface="Calibri"/>
              </a:rPr>
              <a:t>-31%</a:t>
            </a:r>
          </a:p>
        </p:txBody>
      </p:sp>
      <p:sp>
        <p:nvSpPr>
          <p:cNvPr id="26" name="Freeform 25"/>
          <p:cNvSpPr/>
          <p:nvPr/>
        </p:nvSpPr>
        <p:spPr>
          <a:xfrm>
            <a:off x="466725" y="1476375"/>
            <a:ext cx="2314575" cy="819150"/>
          </a:xfrm>
          <a:custGeom>
            <a:avLst/>
            <a:gdLst/>
            <a:ahLst/>
            <a:cxnLst/>
            <a:rect l="l" t="t" r="r" b="b"/>
            <a:pathLst>
              <a:path w="243" h="86">
                <a:moveTo>
                  <a:pt x="0" y="0"/>
                </a:moveTo>
                <a:lnTo>
                  <a:pt x="49" y="20"/>
                </a:lnTo>
                <a:lnTo>
                  <a:pt x="97" y="38"/>
                </a:lnTo>
                <a:lnTo>
                  <a:pt x="146" y="55"/>
                </a:lnTo>
                <a:lnTo>
                  <a:pt x="194" y="71"/>
                </a:lnTo>
                <a:lnTo>
                  <a:pt x="243" y="86"/>
                </a:lnTo>
              </a:path>
            </a:pathLst>
          </a:custGeom>
          <a:noFill/>
          <a:ln w="2032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466725" y="1476375"/>
            <a:ext cx="2314575" cy="552450"/>
          </a:xfrm>
          <a:custGeom>
            <a:avLst/>
            <a:gdLst/>
            <a:ahLst/>
            <a:cxnLst/>
            <a:rect l="l" t="t" r="r" b="b"/>
            <a:pathLst>
              <a:path w="243" h="58">
                <a:moveTo>
                  <a:pt x="0" y="0"/>
                </a:moveTo>
                <a:lnTo>
                  <a:pt x="49" y="13"/>
                </a:lnTo>
                <a:lnTo>
                  <a:pt x="97" y="25"/>
                </a:lnTo>
                <a:lnTo>
                  <a:pt x="146" y="36"/>
                </a:lnTo>
                <a:lnTo>
                  <a:pt x="194" y="47"/>
                </a:lnTo>
                <a:lnTo>
                  <a:pt x="243" y="58"/>
                </a:lnTo>
              </a:path>
            </a:pathLst>
          </a:custGeom>
          <a:noFill/>
          <a:ln w="2032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466725" y="1476375"/>
            <a:ext cx="2314575" cy="571500"/>
          </a:xfrm>
          <a:custGeom>
            <a:avLst/>
            <a:gdLst/>
            <a:ahLst/>
            <a:cxnLst/>
            <a:rect l="l" t="t" r="r" b="b"/>
            <a:pathLst>
              <a:path w="243" h="60">
                <a:moveTo>
                  <a:pt x="0" y="0"/>
                </a:moveTo>
                <a:lnTo>
                  <a:pt x="49" y="13"/>
                </a:lnTo>
                <a:lnTo>
                  <a:pt x="97" y="26"/>
                </a:lnTo>
                <a:lnTo>
                  <a:pt x="146" y="38"/>
                </a:lnTo>
                <a:lnTo>
                  <a:pt x="194" y="49"/>
                </a:lnTo>
                <a:lnTo>
                  <a:pt x="243" y="60"/>
                </a:lnTo>
              </a:path>
            </a:pathLst>
          </a:custGeom>
          <a:no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4325" y="2381250"/>
            <a:ext cx="419100" cy="95250"/>
          </a:xfrm>
          <a:prstGeom prst="rect">
            <a:avLst/>
          </a:prstGeom>
          <a:noFill/>
        </p:spPr>
        <p:txBody>
          <a:bodyPr wrap="none" lIns="0" rIns="0" tIns="0" bIns="0" anchor="ctr">
            <a:spAutoFit/>
          </a:bodyPr>
          <a:lstStyle/>
          <a:p>
            <a:pPr algn="ctr"/>
            <a:r>
              <a:rPr sz="600" b="0">
                <a:solidFill>
                  <a:srgbClr val="6C7A89"/>
                </a:solidFill>
                <a:latin typeface="Calibri"/>
              </a:rPr>
              <a:t>2021</a:t>
            </a:r>
          </a:p>
        </p:txBody>
      </p:sp>
      <p:sp>
        <p:nvSpPr>
          <p:cNvPr id="30" name="TextBox 29"/>
          <p:cNvSpPr txBox="1"/>
          <p:nvPr/>
        </p:nvSpPr>
        <p:spPr>
          <a:xfrm>
            <a:off x="2514600" y="2381250"/>
            <a:ext cx="419100" cy="95250"/>
          </a:xfrm>
          <a:prstGeom prst="rect">
            <a:avLst/>
          </a:prstGeom>
          <a:noFill/>
        </p:spPr>
        <p:txBody>
          <a:bodyPr wrap="none" lIns="0" rIns="0" tIns="0" bIns="0" anchor="ctr">
            <a:spAutoFit/>
          </a:bodyPr>
          <a:lstStyle/>
          <a:p>
            <a:pPr algn="ctr"/>
            <a:r>
              <a:rPr sz="600" b="0">
                <a:solidFill>
                  <a:srgbClr val="6C7A89"/>
                </a:solidFill>
                <a:latin typeface="Calibri"/>
              </a:rPr>
              <a:t>2026</a:t>
            </a:r>
          </a:p>
        </p:txBody>
      </p:sp>
      <p:cxnSp>
        <p:nvCxnSpPr>
          <p:cNvPr id="31" name="Connector 30"/>
          <p:cNvCxnSpPr/>
          <p:nvPr/>
        </p:nvCxnSpPr>
        <p:spPr>
          <a:xfrm>
            <a:off x="3314700" y="1868424"/>
            <a:ext cx="3257550" cy="0"/>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162300" y="1801749"/>
            <a:ext cx="114300" cy="123825"/>
          </a:xfrm>
          <a:prstGeom prst="rect">
            <a:avLst/>
          </a:prstGeom>
          <a:noFill/>
        </p:spPr>
        <p:txBody>
          <a:bodyPr wrap="none" lIns="0" rIns="0" tIns="0" bIns="0" anchor="ctr">
            <a:spAutoFit/>
          </a:bodyPr>
          <a:lstStyle/>
          <a:p>
            <a:pPr algn="ctr"/>
            <a:r>
              <a:rPr sz="800" b="1">
                <a:solidFill>
                  <a:srgbClr val="2E2E2E"/>
                </a:solidFill>
                <a:latin typeface="Calibri"/>
              </a:rPr>
              <a:t>A</a:t>
            </a:r>
          </a:p>
        </p:txBody>
      </p:sp>
      <p:cxnSp>
        <p:nvCxnSpPr>
          <p:cNvPr id="33" name="Connector 32"/>
          <p:cNvCxnSpPr/>
          <p:nvPr/>
        </p:nvCxnSpPr>
        <p:spPr>
          <a:xfrm>
            <a:off x="331470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086100" y="1706499"/>
            <a:ext cx="457200" cy="95250"/>
          </a:xfrm>
          <a:prstGeom prst="rect">
            <a:avLst/>
          </a:prstGeom>
          <a:noFill/>
        </p:spPr>
        <p:txBody>
          <a:bodyPr wrap="none" lIns="0" rIns="0" tIns="0" bIns="0" anchor="ctr">
            <a:spAutoFit/>
          </a:bodyPr>
          <a:lstStyle/>
          <a:p>
            <a:pPr algn="ctr"/>
            <a:r>
              <a:rPr sz="650" b="0">
                <a:solidFill>
                  <a:srgbClr val="6C7A89"/>
                </a:solidFill>
                <a:latin typeface="Calibri"/>
              </a:rPr>
              <a:t>9</a:t>
            </a:r>
          </a:p>
        </p:txBody>
      </p:sp>
      <p:cxnSp>
        <p:nvCxnSpPr>
          <p:cNvPr id="35" name="Connector 34"/>
          <p:cNvCxnSpPr/>
          <p:nvPr/>
        </p:nvCxnSpPr>
        <p:spPr>
          <a:xfrm>
            <a:off x="396621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737610" y="1706499"/>
            <a:ext cx="457200" cy="95250"/>
          </a:xfrm>
          <a:prstGeom prst="rect">
            <a:avLst/>
          </a:prstGeom>
          <a:noFill/>
        </p:spPr>
        <p:txBody>
          <a:bodyPr wrap="none" lIns="0" rIns="0" tIns="0" bIns="0" anchor="ctr">
            <a:spAutoFit/>
          </a:bodyPr>
          <a:lstStyle/>
          <a:p>
            <a:pPr algn="ctr"/>
            <a:r>
              <a:rPr sz="650" b="0">
                <a:solidFill>
                  <a:srgbClr val="6C7A89"/>
                </a:solidFill>
                <a:latin typeface="Calibri"/>
              </a:rPr>
              <a:t>159</a:t>
            </a:r>
          </a:p>
        </p:txBody>
      </p:sp>
      <p:cxnSp>
        <p:nvCxnSpPr>
          <p:cNvPr id="37" name="Connector 36"/>
          <p:cNvCxnSpPr/>
          <p:nvPr/>
        </p:nvCxnSpPr>
        <p:spPr>
          <a:xfrm>
            <a:off x="461772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389120" y="1706499"/>
            <a:ext cx="457200" cy="95250"/>
          </a:xfrm>
          <a:prstGeom prst="rect">
            <a:avLst/>
          </a:prstGeom>
          <a:noFill/>
        </p:spPr>
        <p:txBody>
          <a:bodyPr wrap="none" lIns="0" rIns="0" tIns="0" bIns="0" anchor="ctr">
            <a:spAutoFit/>
          </a:bodyPr>
          <a:lstStyle/>
          <a:p>
            <a:pPr algn="ctr"/>
            <a:r>
              <a:rPr sz="650" b="0">
                <a:solidFill>
                  <a:srgbClr val="6C7A89"/>
                </a:solidFill>
                <a:latin typeface="Calibri"/>
              </a:rPr>
              <a:t>309</a:t>
            </a:r>
          </a:p>
        </p:txBody>
      </p:sp>
      <p:cxnSp>
        <p:nvCxnSpPr>
          <p:cNvPr id="39" name="Connector 38"/>
          <p:cNvCxnSpPr/>
          <p:nvPr/>
        </p:nvCxnSpPr>
        <p:spPr>
          <a:xfrm>
            <a:off x="526923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40630" y="1706499"/>
            <a:ext cx="457200" cy="95250"/>
          </a:xfrm>
          <a:prstGeom prst="rect">
            <a:avLst/>
          </a:prstGeom>
          <a:noFill/>
        </p:spPr>
        <p:txBody>
          <a:bodyPr wrap="none" lIns="0" rIns="0" tIns="0" bIns="0" anchor="ctr">
            <a:spAutoFit/>
          </a:bodyPr>
          <a:lstStyle/>
          <a:p>
            <a:pPr algn="ctr"/>
            <a:r>
              <a:rPr sz="650" b="0">
                <a:solidFill>
                  <a:srgbClr val="6C7A89"/>
                </a:solidFill>
                <a:latin typeface="Calibri"/>
              </a:rPr>
              <a:t>458</a:t>
            </a:r>
          </a:p>
        </p:txBody>
      </p:sp>
      <p:cxnSp>
        <p:nvCxnSpPr>
          <p:cNvPr id="41" name="Connector 40"/>
          <p:cNvCxnSpPr/>
          <p:nvPr/>
        </p:nvCxnSpPr>
        <p:spPr>
          <a:xfrm>
            <a:off x="592074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692140" y="1706499"/>
            <a:ext cx="457200" cy="95250"/>
          </a:xfrm>
          <a:prstGeom prst="rect">
            <a:avLst/>
          </a:prstGeom>
          <a:noFill/>
        </p:spPr>
        <p:txBody>
          <a:bodyPr wrap="none" lIns="0" rIns="0" tIns="0" bIns="0" anchor="ctr">
            <a:spAutoFit/>
          </a:bodyPr>
          <a:lstStyle/>
          <a:p>
            <a:pPr algn="ctr"/>
            <a:r>
              <a:rPr sz="650" b="0">
                <a:solidFill>
                  <a:srgbClr val="6C7A89"/>
                </a:solidFill>
                <a:latin typeface="Calibri"/>
              </a:rPr>
              <a:t>608</a:t>
            </a:r>
          </a:p>
        </p:txBody>
      </p:sp>
      <p:cxnSp>
        <p:nvCxnSpPr>
          <p:cNvPr id="43" name="Connector 42"/>
          <p:cNvCxnSpPr/>
          <p:nvPr/>
        </p:nvCxnSpPr>
        <p:spPr>
          <a:xfrm>
            <a:off x="657225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343650" y="1706499"/>
            <a:ext cx="457200" cy="95250"/>
          </a:xfrm>
          <a:prstGeom prst="rect">
            <a:avLst/>
          </a:prstGeom>
          <a:noFill/>
        </p:spPr>
        <p:txBody>
          <a:bodyPr wrap="none" lIns="0" rIns="0" tIns="0" bIns="0" anchor="ctr">
            <a:spAutoFit/>
          </a:bodyPr>
          <a:lstStyle/>
          <a:p>
            <a:pPr algn="ctr"/>
            <a:r>
              <a:rPr sz="650" b="0">
                <a:solidFill>
                  <a:srgbClr val="6C7A89"/>
                </a:solidFill>
                <a:latin typeface="Calibri"/>
              </a:rPr>
              <a:t>758</a:t>
            </a:r>
          </a:p>
        </p:txBody>
      </p:sp>
      <p:sp>
        <p:nvSpPr>
          <p:cNvPr id="45" name="Rectangle 44"/>
          <p:cNvSpPr/>
          <p:nvPr/>
        </p:nvSpPr>
        <p:spPr>
          <a:xfrm>
            <a:off x="4358442" y="1792224"/>
            <a:ext cx="1857513" cy="1524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301292" y="1811274"/>
            <a:ext cx="114300" cy="114300"/>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158805" y="1811274"/>
            <a:ext cx="114300" cy="114300"/>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4652472" y="1811274"/>
            <a:ext cx="114300" cy="114300"/>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15125" y="1390650"/>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Rheumatology</a:t>
            </a:r>
          </a:p>
        </p:txBody>
      </p:sp>
      <p:sp>
        <p:nvSpPr>
          <p:cNvPr id="50" name="TextBox 49"/>
          <p:cNvSpPr txBox="1"/>
          <p:nvPr/>
        </p:nvSpPr>
        <p:spPr>
          <a:xfrm>
            <a:off x="8155305" y="1390650"/>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214.08   581.63   283.57</a:t>
            </a:r>
          </a:p>
        </p:txBody>
      </p:sp>
      <p:sp>
        <p:nvSpPr>
          <p:cNvPr id="51" name="TextBox 50"/>
          <p:cNvSpPr txBox="1"/>
          <p:nvPr/>
        </p:nvSpPr>
        <p:spPr>
          <a:xfrm>
            <a:off x="6715125" y="1933575"/>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Dermatology</a:t>
            </a:r>
          </a:p>
        </p:txBody>
      </p:sp>
      <p:sp>
        <p:nvSpPr>
          <p:cNvPr id="52" name="TextBox 51"/>
          <p:cNvSpPr txBox="1"/>
          <p:nvPr/>
        </p:nvSpPr>
        <p:spPr>
          <a:xfrm>
            <a:off x="8155305" y="1933575"/>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226.52   615.45   300.05</a:t>
            </a:r>
          </a:p>
        </p:txBody>
      </p:sp>
      <p:sp>
        <p:nvSpPr>
          <p:cNvPr id="53" name="TextBox 52"/>
          <p:cNvSpPr txBox="1"/>
          <p:nvPr/>
        </p:nvSpPr>
        <p:spPr>
          <a:xfrm>
            <a:off x="9382125" y="1390650"/>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Gastroenterology</a:t>
            </a:r>
          </a:p>
        </p:txBody>
      </p:sp>
      <p:sp>
        <p:nvSpPr>
          <p:cNvPr id="54" name="TextBox 53"/>
          <p:cNvSpPr txBox="1"/>
          <p:nvPr/>
        </p:nvSpPr>
        <p:spPr>
          <a:xfrm>
            <a:off x="10822305" y="1390650"/>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238.97   649.27   316.54</a:t>
            </a:r>
          </a:p>
        </p:txBody>
      </p:sp>
      <p:sp>
        <p:nvSpPr>
          <p:cNvPr id="55" name="TextBox 54"/>
          <p:cNvSpPr txBox="1"/>
          <p:nvPr/>
        </p:nvSpPr>
        <p:spPr>
          <a:xfrm>
            <a:off x="9382125" y="1933575"/>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Ophthalmology</a:t>
            </a:r>
          </a:p>
        </p:txBody>
      </p:sp>
      <p:sp>
        <p:nvSpPr>
          <p:cNvPr id="56" name="TextBox 55"/>
          <p:cNvSpPr txBox="1"/>
          <p:nvPr/>
        </p:nvSpPr>
        <p:spPr>
          <a:xfrm>
            <a:off x="10822305" y="1933575"/>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251.42   683.08   333.03</a:t>
            </a:r>
          </a:p>
        </p:txBody>
      </p:sp>
      <p:sp>
        <p:nvSpPr>
          <p:cNvPr id="57" name="Rectangle 56"/>
          <p:cNvSpPr/>
          <p:nvPr/>
        </p:nvSpPr>
        <p:spPr>
          <a:xfrm>
            <a:off x="142875" y="2533650"/>
            <a:ext cx="11906250" cy="1257300"/>
          </a:xfrm>
          <a:prstGeom prst="rect">
            <a:avLst/>
          </a:prstGeom>
          <a:solidFill>
            <a:srgbClr val="FFFFFF"/>
          </a:solidFill>
          <a:ln w="9525">
            <a:solidFill>
              <a:srgbClr val="EDF1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00025" y="2552700"/>
            <a:ext cx="2762250" cy="133350"/>
          </a:xfrm>
          <a:prstGeom prst="rect">
            <a:avLst/>
          </a:prstGeom>
          <a:noFill/>
        </p:spPr>
        <p:txBody>
          <a:bodyPr wrap="square" lIns="28575" rIns="28575" tIns="9525" bIns="9525" anchor="ctr">
            <a:spAutoFit/>
          </a:bodyPr>
          <a:lstStyle/>
          <a:p>
            <a:pPr algn="l"/>
            <a:r>
              <a:rPr sz="950" b="1">
                <a:solidFill>
                  <a:srgbClr val="0B2E4A"/>
                </a:solidFill>
                <a:latin typeface="Calibri"/>
              </a:rPr>
              <a:t>Latin America Pricing Pattern</a:t>
            </a:r>
          </a:p>
        </p:txBody>
      </p:sp>
      <p:cxnSp>
        <p:nvCxnSpPr>
          <p:cNvPr id="59" name="Connector 58"/>
          <p:cNvCxnSpPr/>
          <p:nvPr/>
        </p:nvCxnSpPr>
        <p:spPr>
          <a:xfrm>
            <a:off x="466725" y="2789840"/>
            <a:ext cx="2314575" cy="0"/>
          </a:xfrm>
          <a:prstGeom prst="line">
            <a:avLst/>
          </a:prstGeom>
          <a:ln w="10160">
            <a:solidFill>
              <a:srgbClr val="C9D2DA"/>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33350" y="2667000"/>
            <a:ext cx="304800" cy="114300"/>
          </a:xfrm>
          <a:prstGeom prst="rect">
            <a:avLst/>
          </a:prstGeom>
          <a:noFill/>
        </p:spPr>
        <p:txBody>
          <a:bodyPr wrap="none" lIns="0" rIns="0" tIns="0" bIns="0" anchor="ctr">
            <a:spAutoFit/>
          </a:bodyPr>
          <a:lstStyle/>
          <a:p>
            <a:pPr algn="r"/>
            <a:r>
              <a:rPr sz="600" b="0">
                <a:solidFill>
                  <a:srgbClr val="6C7A89"/>
                </a:solidFill>
                <a:latin typeface="Calibri"/>
              </a:rPr>
              <a:t>+2%</a:t>
            </a:r>
          </a:p>
        </p:txBody>
      </p:sp>
      <p:sp>
        <p:nvSpPr>
          <p:cNvPr id="61" name="TextBox 60"/>
          <p:cNvSpPr txBox="1"/>
          <p:nvPr/>
        </p:nvSpPr>
        <p:spPr>
          <a:xfrm>
            <a:off x="133350" y="3619500"/>
            <a:ext cx="304800" cy="114300"/>
          </a:xfrm>
          <a:prstGeom prst="rect">
            <a:avLst/>
          </a:prstGeom>
          <a:noFill/>
        </p:spPr>
        <p:txBody>
          <a:bodyPr wrap="none" lIns="0" rIns="0" tIns="0" bIns="0" anchor="ctr">
            <a:spAutoFit/>
          </a:bodyPr>
          <a:lstStyle/>
          <a:p>
            <a:pPr algn="r"/>
            <a:r>
              <a:rPr sz="600" b="0">
                <a:solidFill>
                  <a:srgbClr val="6C7A89"/>
                </a:solidFill>
                <a:latin typeface="Calibri"/>
              </a:rPr>
              <a:t>-25%</a:t>
            </a:r>
          </a:p>
        </p:txBody>
      </p:sp>
      <p:sp>
        <p:nvSpPr>
          <p:cNvPr id="62" name="Freeform 61"/>
          <p:cNvSpPr/>
          <p:nvPr/>
        </p:nvSpPr>
        <p:spPr>
          <a:xfrm>
            <a:off x="466725" y="2790825"/>
            <a:ext cx="2314575" cy="428625"/>
          </a:xfrm>
          <a:custGeom>
            <a:avLst/>
            <a:gdLst/>
            <a:ahLst/>
            <a:cxnLst/>
            <a:rect l="l" t="t" r="r" b="b"/>
            <a:pathLst>
              <a:path w="243" h="45">
                <a:moveTo>
                  <a:pt x="0" y="0"/>
                </a:moveTo>
                <a:lnTo>
                  <a:pt x="49" y="9"/>
                </a:lnTo>
                <a:lnTo>
                  <a:pt x="97" y="19"/>
                </a:lnTo>
                <a:lnTo>
                  <a:pt x="146" y="28"/>
                </a:lnTo>
                <a:lnTo>
                  <a:pt x="194" y="37"/>
                </a:lnTo>
                <a:lnTo>
                  <a:pt x="243" y="45"/>
                </a:lnTo>
              </a:path>
            </a:pathLst>
          </a:custGeom>
          <a:noFill/>
          <a:ln w="2032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466725" y="2790825"/>
            <a:ext cx="2314575" cy="438150"/>
          </a:xfrm>
          <a:custGeom>
            <a:avLst/>
            <a:gdLst/>
            <a:ahLst/>
            <a:cxnLst/>
            <a:rect l="l" t="t" r="r" b="b"/>
            <a:pathLst>
              <a:path w="243" h="46">
                <a:moveTo>
                  <a:pt x="0" y="0"/>
                </a:moveTo>
                <a:lnTo>
                  <a:pt x="49" y="10"/>
                </a:lnTo>
                <a:lnTo>
                  <a:pt x="97" y="19"/>
                </a:lnTo>
                <a:lnTo>
                  <a:pt x="146" y="28"/>
                </a:lnTo>
                <a:lnTo>
                  <a:pt x="194" y="37"/>
                </a:lnTo>
                <a:lnTo>
                  <a:pt x="243" y="46"/>
                </a:lnTo>
              </a:path>
            </a:pathLst>
          </a:custGeom>
          <a:noFill/>
          <a:ln w="2032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466725" y="2790825"/>
            <a:ext cx="2314575" cy="819150"/>
          </a:xfrm>
          <a:custGeom>
            <a:avLst/>
            <a:gdLst/>
            <a:ahLst/>
            <a:cxnLst/>
            <a:rect l="l" t="t" r="r" b="b"/>
            <a:pathLst>
              <a:path w="243" h="86">
                <a:moveTo>
                  <a:pt x="0" y="0"/>
                </a:moveTo>
                <a:lnTo>
                  <a:pt x="49" y="19"/>
                </a:lnTo>
                <a:lnTo>
                  <a:pt x="97" y="37"/>
                </a:lnTo>
                <a:lnTo>
                  <a:pt x="146" y="54"/>
                </a:lnTo>
                <a:lnTo>
                  <a:pt x="194" y="71"/>
                </a:lnTo>
                <a:lnTo>
                  <a:pt x="243" y="86"/>
                </a:lnTo>
              </a:path>
            </a:pathLst>
          </a:custGeom>
          <a:no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14325" y="3695700"/>
            <a:ext cx="419100" cy="95250"/>
          </a:xfrm>
          <a:prstGeom prst="rect">
            <a:avLst/>
          </a:prstGeom>
          <a:noFill/>
        </p:spPr>
        <p:txBody>
          <a:bodyPr wrap="none" lIns="0" rIns="0" tIns="0" bIns="0" anchor="ctr">
            <a:spAutoFit/>
          </a:bodyPr>
          <a:lstStyle/>
          <a:p>
            <a:pPr algn="ctr"/>
            <a:r>
              <a:rPr sz="600" b="0">
                <a:solidFill>
                  <a:srgbClr val="6C7A89"/>
                </a:solidFill>
                <a:latin typeface="Calibri"/>
              </a:rPr>
              <a:t>2021</a:t>
            </a:r>
          </a:p>
        </p:txBody>
      </p:sp>
      <p:sp>
        <p:nvSpPr>
          <p:cNvPr id="66" name="TextBox 65"/>
          <p:cNvSpPr txBox="1"/>
          <p:nvPr/>
        </p:nvSpPr>
        <p:spPr>
          <a:xfrm>
            <a:off x="2514600" y="3695700"/>
            <a:ext cx="419100" cy="95250"/>
          </a:xfrm>
          <a:prstGeom prst="rect">
            <a:avLst/>
          </a:prstGeom>
          <a:noFill/>
        </p:spPr>
        <p:txBody>
          <a:bodyPr wrap="none" lIns="0" rIns="0" tIns="0" bIns="0" anchor="ctr">
            <a:spAutoFit/>
          </a:bodyPr>
          <a:lstStyle/>
          <a:p>
            <a:pPr algn="ctr"/>
            <a:r>
              <a:rPr sz="600" b="0">
                <a:solidFill>
                  <a:srgbClr val="6C7A89"/>
                </a:solidFill>
                <a:latin typeface="Calibri"/>
              </a:rPr>
              <a:t>2026</a:t>
            </a:r>
          </a:p>
        </p:txBody>
      </p:sp>
      <p:cxnSp>
        <p:nvCxnSpPr>
          <p:cNvPr id="67" name="Connector 66"/>
          <p:cNvCxnSpPr/>
          <p:nvPr/>
        </p:nvCxnSpPr>
        <p:spPr>
          <a:xfrm>
            <a:off x="3314700" y="3182874"/>
            <a:ext cx="3257550" cy="0"/>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3162300" y="3116199"/>
            <a:ext cx="114300" cy="123825"/>
          </a:xfrm>
          <a:prstGeom prst="rect">
            <a:avLst/>
          </a:prstGeom>
          <a:noFill/>
        </p:spPr>
        <p:txBody>
          <a:bodyPr wrap="none" lIns="0" rIns="0" tIns="0" bIns="0" anchor="ctr">
            <a:spAutoFit/>
          </a:bodyPr>
          <a:lstStyle/>
          <a:p>
            <a:pPr algn="ctr"/>
            <a:r>
              <a:rPr sz="800" b="1">
                <a:solidFill>
                  <a:srgbClr val="2E2E2E"/>
                </a:solidFill>
                <a:latin typeface="Calibri"/>
              </a:rPr>
              <a:t>A</a:t>
            </a:r>
          </a:p>
        </p:txBody>
      </p:sp>
      <p:cxnSp>
        <p:nvCxnSpPr>
          <p:cNvPr id="69" name="Connector 68"/>
          <p:cNvCxnSpPr/>
          <p:nvPr/>
        </p:nvCxnSpPr>
        <p:spPr>
          <a:xfrm>
            <a:off x="331470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3086100" y="3020949"/>
            <a:ext cx="457200" cy="95250"/>
          </a:xfrm>
          <a:prstGeom prst="rect">
            <a:avLst/>
          </a:prstGeom>
          <a:noFill/>
        </p:spPr>
        <p:txBody>
          <a:bodyPr wrap="none" lIns="0" rIns="0" tIns="0" bIns="0" anchor="ctr">
            <a:spAutoFit/>
          </a:bodyPr>
          <a:lstStyle/>
          <a:p>
            <a:pPr algn="ctr"/>
            <a:r>
              <a:rPr sz="650" b="0">
                <a:solidFill>
                  <a:srgbClr val="6C7A89"/>
                </a:solidFill>
                <a:latin typeface="Calibri"/>
              </a:rPr>
              <a:t>9</a:t>
            </a:r>
          </a:p>
        </p:txBody>
      </p:sp>
      <p:cxnSp>
        <p:nvCxnSpPr>
          <p:cNvPr id="71" name="Connector 70"/>
          <p:cNvCxnSpPr/>
          <p:nvPr/>
        </p:nvCxnSpPr>
        <p:spPr>
          <a:xfrm>
            <a:off x="396621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3737610" y="3020949"/>
            <a:ext cx="457200" cy="95250"/>
          </a:xfrm>
          <a:prstGeom prst="rect">
            <a:avLst/>
          </a:prstGeom>
          <a:noFill/>
        </p:spPr>
        <p:txBody>
          <a:bodyPr wrap="none" lIns="0" rIns="0" tIns="0" bIns="0" anchor="ctr">
            <a:spAutoFit/>
          </a:bodyPr>
          <a:lstStyle/>
          <a:p>
            <a:pPr algn="ctr"/>
            <a:r>
              <a:rPr sz="650" b="0">
                <a:solidFill>
                  <a:srgbClr val="6C7A89"/>
                </a:solidFill>
                <a:latin typeface="Calibri"/>
              </a:rPr>
              <a:t>159</a:t>
            </a:r>
          </a:p>
        </p:txBody>
      </p:sp>
      <p:cxnSp>
        <p:nvCxnSpPr>
          <p:cNvPr id="73" name="Connector 72"/>
          <p:cNvCxnSpPr/>
          <p:nvPr/>
        </p:nvCxnSpPr>
        <p:spPr>
          <a:xfrm>
            <a:off x="461772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4389120" y="3020949"/>
            <a:ext cx="457200" cy="95250"/>
          </a:xfrm>
          <a:prstGeom prst="rect">
            <a:avLst/>
          </a:prstGeom>
          <a:noFill/>
        </p:spPr>
        <p:txBody>
          <a:bodyPr wrap="none" lIns="0" rIns="0" tIns="0" bIns="0" anchor="ctr">
            <a:spAutoFit/>
          </a:bodyPr>
          <a:lstStyle/>
          <a:p>
            <a:pPr algn="ctr"/>
            <a:r>
              <a:rPr sz="650" b="0">
                <a:solidFill>
                  <a:srgbClr val="6C7A89"/>
                </a:solidFill>
                <a:latin typeface="Calibri"/>
              </a:rPr>
              <a:t>309</a:t>
            </a:r>
          </a:p>
        </p:txBody>
      </p:sp>
      <p:cxnSp>
        <p:nvCxnSpPr>
          <p:cNvPr id="75" name="Connector 74"/>
          <p:cNvCxnSpPr/>
          <p:nvPr/>
        </p:nvCxnSpPr>
        <p:spPr>
          <a:xfrm>
            <a:off x="526923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5040630" y="3020949"/>
            <a:ext cx="457200" cy="95250"/>
          </a:xfrm>
          <a:prstGeom prst="rect">
            <a:avLst/>
          </a:prstGeom>
          <a:noFill/>
        </p:spPr>
        <p:txBody>
          <a:bodyPr wrap="none" lIns="0" rIns="0" tIns="0" bIns="0" anchor="ctr">
            <a:spAutoFit/>
          </a:bodyPr>
          <a:lstStyle/>
          <a:p>
            <a:pPr algn="ctr"/>
            <a:r>
              <a:rPr sz="650" b="0">
                <a:solidFill>
                  <a:srgbClr val="6C7A89"/>
                </a:solidFill>
                <a:latin typeface="Calibri"/>
              </a:rPr>
              <a:t>458</a:t>
            </a:r>
          </a:p>
        </p:txBody>
      </p:sp>
      <p:cxnSp>
        <p:nvCxnSpPr>
          <p:cNvPr id="77" name="Connector 76"/>
          <p:cNvCxnSpPr/>
          <p:nvPr/>
        </p:nvCxnSpPr>
        <p:spPr>
          <a:xfrm>
            <a:off x="592074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692140" y="3020949"/>
            <a:ext cx="457200" cy="95250"/>
          </a:xfrm>
          <a:prstGeom prst="rect">
            <a:avLst/>
          </a:prstGeom>
          <a:noFill/>
        </p:spPr>
        <p:txBody>
          <a:bodyPr wrap="none" lIns="0" rIns="0" tIns="0" bIns="0" anchor="ctr">
            <a:spAutoFit/>
          </a:bodyPr>
          <a:lstStyle/>
          <a:p>
            <a:pPr algn="ctr"/>
            <a:r>
              <a:rPr sz="650" b="0">
                <a:solidFill>
                  <a:srgbClr val="6C7A89"/>
                </a:solidFill>
                <a:latin typeface="Calibri"/>
              </a:rPr>
              <a:t>608</a:t>
            </a:r>
          </a:p>
        </p:txBody>
      </p:sp>
      <p:cxnSp>
        <p:nvCxnSpPr>
          <p:cNvPr id="79" name="Connector 78"/>
          <p:cNvCxnSpPr/>
          <p:nvPr/>
        </p:nvCxnSpPr>
        <p:spPr>
          <a:xfrm>
            <a:off x="657225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6343650" y="3020949"/>
            <a:ext cx="457200" cy="95250"/>
          </a:xfrm>
          <a:prstGeom prst="rect">
            <a:avLst/>
          </a:prstGeom>
          <a:noFill/>
        </p:spPr>
        <p:txBody>
          <a:bodyPr wrap="none" lIns="0" rIns="0" tIns="0" bIns="0" anchor="ctr">
            <a:spAutoFit/>
          </a:bodyPr>
          <a:lstStyle/>
          <a:p>
            <a:pPr algn="ctr"/>
            <a:r>
              <a:rPr sz="650" b="0">
                <a:solidFill>
                  <a:srgbClr val="6C7A89"/>
                </a:solidFill>
                <a:latin typeface="Calibri"/>
              </a:rPr>
              <a:t>758</a:t>
            </a:r>
          </a:p>
        </p:txBody>
      </p:sp>
      <p:sp>
        <p:nvSpPr>
          <p:cNvPr id="81" name="Rectangle 80"/>
          <p:cNvSpPr/>
          <p:nvPr/>
        </p:nvSpPr>
        <p:spPr>
          <a:xfrm>
            <a:off x="3726518" y="3106674"/>
            <a:ext cx="323416" cy="1524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992785" y="3125724"/>
            <a:ext cx="114300" cy="114300"/>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3669368" y="3125724"/>
            <a:ext cx="114300" cy="114300"/>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3878274" y="3125724"/>
            <a:ext cx="114300" cy="114300"/>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715125" y="2705100"/>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Rheumatology</a:t>
            </a:r>
          </a:p>
        </p:txBody>
      </p:sp>
      <p:sp>
        <p:nvSpPr>
          <p:cNvPr id="86" name="TextBox 85"/>
          <p:cNvSpPr txBox="1"/>
          <p:nvPr/>
        </p:nvSpPr>
        <p:spPr>
          <a:xfrm>
            <a:off x="8155305" y="2705100"/>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153.03   89.04   130.37</a:t>
            </a:r>
          </a:p>
        </p:txBody>
      </p:sp>
      <p:sp>
        <p:nvSpPr>
          <p:cNvPr id="87" name="TextBox 86"/>
          <p:cNvSpPr txBox="1"/>
          <p:nvPr/>
        </p:nvSpPr>
        <p:spPr>
          <a:xfrm>
            <a:off x="6715125" y="3248025"/>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Dermatology</a:t>
            </a:r>
          </a:p>
        </p:txBody>
      </p:sp>
      <p:sp>
        <p:nvSpPr>
          <p:cNvPr id="88" name="TextBox 87"/>
          <p:cNvSpPr txBox="1"/>
          <p:nvPr/>
        </p:nvSpPr>
        <p:spPr>
          <a:xfrm>
            <a:off x="8155305" y="3248025"/>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161.93   94.21   137.95</a:t>
            </a:r>
          </a:p>
        </p:txBody>
      </p:sp>
      <p:sp>
        <p:nvSpPr>
          <p:cNvPr id="89" name="TextBox 88"/>
          <p:cNvSpPr txBox="1"/>
          <p:nvPr/>
        </p:nvSpPr>
        <p:spPr>
          <a:xfrm>
            <a:off x="9382125" y="2705100"/>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Gastroenterology</a:t>
            </a:r>
          </a:p>
        </p:txBody>
      </p:sp>
      <p:sp>
        <p:nvSpPr>
          <p:cNvPr id="90" name="TextBox 89"/>
          <p:cNvSpPr txBox="1"/>
          <p:nvPr/>
        </p:nvSpPr>
        <p:spPr>
          <a:xfrm>
            <a:off x="10822305" y="2705100"/>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170.83   99.39   145.53</a:t>
            </a:r>
          </a:p>
        </p:txBody>
      </p:sp>
      <p:sp>
        <p:nvSpPr>
          <p:cNvPr id="91" name="TextBox 90"/>
          <p:cNvSpPr txBox="1"/>
          <p:nvPr/>
        </p:nvSpPr>
        <p:spPr>
          <a:xfrm>
            <a:off x="9382125" y="3248025"/>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Ophthalmology</a:t>
            </a:r>
          </a:p>
        </p:txBody>
      </p:sp>
      <p:sp>
        <p:nvSpPr>
          <p:cNvPr id="92" name="TextBox 91"/>
          <p:cNvSpPr txBox="1"/>
          <p:nvPr/>
        </p:nvSpPr>
        <p:spPr>
          <a:xfrm>
            <a:off x="10822305" y="3248025"/>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179.72   104.56   153.11</a:t>
            </a:r>
          </a:p>
        </p:txBody>
      </p:sp>
      <p:sp>
        <p:nvSpPr>
          <p:cNvPr id="93" name="Rectangle 92"/>
          <p:cNvSpPr/>
          <p:nvPr/>
        </p:nvSpPr>
        <p:spPr>
          <a:xfrm>
            <a:off x="142875" y="3848100"/>
            <a:ext cx="11906250" cy="1257300"/>
          </a:xfrm>
          <a:prstGeom prst="rect">
            <a:avLst/>
          </a:prstGeom>
          <a:solidFill>
            <a:srgbClr val="F5F7F9"/>
          </a:solidFill>
          <a:ln w="9525">
            <a:solidFill>
              <a:srgbClr val="EDF1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00025" y="3867150"/>
            <a:ext cx="2762250" cy="133350"/>
          </a:xfrm>
          <a:prstGeom prst="rect">
            <a:avLst/>
          </a:prstGeom>
          <a:noFill/>
        </p:spPr>
        <p:txBody>
          <a:bodyPr wrap="square" lIns="28575" rIns="28575" tIns="9525" bIns="9525" anchor="ctr">
            <a:spAutoFit/>
          </a:bodyPr>
          <a:lstStyle/>
          <a:p>
            <a:pPr algn="l"/>
            <a:r>
              <a:rPr sz="950" b="1">
                <a:solidFill>
                  <a:srgbClr val="0B2E4A"/>
                </a:solidFill>
                <a:latin typeface="Calibri"/>
              </a:rPr>
              <a:t>Europe Pricing Pattern</a:t>
            </a:r>
          </a:p>
        </p:txBody>
      </p:sp>
      <p:cxnSp>
        <p:nvCxnSpPr>
          <p:cNvPr id="95" name="Connector 94"/>
          <p:cNvCxnSpPr/>
          <p:nvPr/>
        </p:nvCxnSpPr>
        <p:spPr>
          <a:xfrm>
            <a:off x="466725" y="4104290"/>
            <a:ext cx="2314575" cy="0"/>
          </a:xfrm>
          <a:prstGeom prst="line">
            <a:avLst/>
          </a:prstGeom>
          <a:ln w="10160">
            <a:solidFill>
              <a:srgbClr val="C9D2DA"/>
            </a:solidFill>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133350" y="3981450"/>
            <a:ext cx="304800" cy="114300"/>
          </a:xfrm>
          <a:prstGeom prst="rect">
            <a:avLst/>
          </a:prstGeom>
          <a:noFill/>
        </p:spPr>
        <p:txBody>
          <a:bodyPr wrap="none" lIns="0" rIns="0" tIns="0" bIns="0" anchor="ctr">
            <a:spAutoFit/>
          </a:bodyPr>
          <a:lstStyle/>
          <a:p>
            <a:pPr algn="r"/>
            <a:r>
              <a:rPr sz="600" b="0">
                <a:solidFill>
                  <a:srgbClr val="6C7A89"/>
                </a:solidFill>
                <a:latin typeface="Calibri"/>
              </a:rPr>
              <a:t>+2%</a:t>
            </a:r>
          </a:p>
        </p:txBody>
      </p:sp>
      <p:sp>
        <p:nvSpPr>
          <p:cNvPr id="97" name="TextBox 96"/>
          <p:cNvSpPr txBox="1"/>
          <p:nvPr/>
        </p:nvSpPr>
        <p:spPr>
          <a:xfrm>
            <a:off x="133350" y="4933950"/>
            <a:ext cx="304800" cy="114300"/>
          </a:xfrm>
          <a:prstGeom prst="rect">
            <a:avLst/>
          </a:prstGeom>
          <a:noFill/>
        </p:spPr>
        <p:txBody>
          <a:bodyPr wrap="none" lIns="0" rIns="0" tIns="0" bIns="0" anchor="ctr">
            <a:spAutoFit/>
          </a:bodyPr>
          <a:lstStyle/>
          <a:p>
            <a:pPr algn="r"/>
            <a:r>
              <a:rPr sz="600" b="0">
                <a:solidFill>
                  <a:srgbClr val="6C7A89"/>
                </a:solidFill>
                <a:latin typeface="Calibri"/>
              </a:rPr>
              <a:t>-22%</a:t>
            </a:r>
          </a:p>
        </p:txBody>
      </p:sp>
      <p:sp>
        <p:nvSpPr>
          <p:cNvPr id="98" name="Freeform 97"/>
          <p:cNvSpPr/>
          <p:nvPr/>
        </p:nvSpPr>
        <p:spPr>
          <a:xfrm>
            <a:off x="466725" y="4105275"/>
            <a:ext cx="2314575" cy="819150"/>
          </a:xfrm>
          <a:custGeom>
            <a:avLst/>
            <a:gdLst/>
            <a:ahLst/>
            <a:cxnLst/>
            <a:rect l="l" t="t" r="r" b="b"/>
            <a:pathLst>
              <a:path w="243" h="86">
                <a:moveTo>
                  <a:pt x="0" y="0"/>
                </a:moveTo>
                <a:lnTo>
                  <a:pt x="49" y="19"/>
                </a:lnTo>
                <a:lnTo>
                  <a:pt x="97" y="37"/>
                </a:lnTo>
                <a:lnTo>
                  <a:pt x="146" y="54"/>
                </a:lnTo>
                <a:lnTo>
                  <a:pt x="194" y="70"/>
                </a:lnTo>
                <a:lnTo>
                  <a:pt x="243" y="86"/>
                </a:lnTo>
              </a:path>
            </a:pathLst>
          </a:custGeom>
          <a:noFill/>
          <a:ln w="2032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Freeform 98"/>
          <p:cNvSpPr/>
          <p:nvPr/>
        </p:nvSpPr>
        <p:spPr>
          <a:xfrm>
            <a:off x="466725" y="4105275"/>
            <a:ext cx="2314575" cy="581025"/>
          </a:xfrm>
          <a:custGeom>
            <a:avLst/>
            <a:gdLst/>
            <a:ahLst/>
            <a:cxnLst/>
            <a:rect l="l" t="t" r="r" b="b"/>
            <a:pathLst>
              <a:path w="243" h="61">
                <a:moveTo>
                  <a:pt x="0" y="0"/>
                </a:moveTo>
                <a:lnTo>
                  <a:pt x="49" y="13"/>
                </a:lnTo>
                <a:lnTo>
                  <a:pt x="97" y="26"/>
                </a:lnTo>
                <a:lnTo>
                  <a:pt x="146" y="38"/>
                </a:lnTo>
                <a:lnTo>
                  <a:pt x="194" y="50"/>
                </a:lnTo>
                <a:lnTo>
                  <a:pt x="243" y="61"/>
                </a:lnTo>
              </a:path>
            </a:pathLst>
          </a:custGeom>
          <a:noFill/>
          <a:ln w="2032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466725" y="4105275"/>
            <a:ext cx="2314575" cy="304800"/>
          </a:xfrm>
          <a:custGeom>
            <a:avLst/>
            <a:gdLst/>
            <a:ahLst/>
            <a:cxnLst/>
            <a:rect l="l" t="t" r="r" b="b"/>
            <a:pathLst>
              <a:path w="243" h="32">
                <a:moveTo>
                  <a:pt x="0" y="0"/>
                </a:moveTo>
                <a:lnTo>
                  <a:pt x="49" y="6"/>
                </a:lnTo>
                <a:lnTo>
                  <a:pt x="97" y="13"/>
                </a:lnTo>
                <a:lnTo>
                  <a:pt x="146" y="19"/>
                </a:lnTo>
                <a:lnTo>
                  <a:pt x="194" y="25"/>
                </a:lnTo>
                <a:lnTo>
                  <a:pt x="243" y="32"/>
                </a:lnTo>
              </a:path>
            </a:pathLst>
          </a:custGeom>
          <a:no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314325" y="5010150"/>
            <a:ext cx="419100" cy="95250"/>
          </a:xfrm>
          <a:prstGeom prst="rect">
            <a:avLst/>
          </a:prstGeom>
          <a:noFill/>
        </p:spPr>
        <p:txBody>
          <a:bodyPr wrap="none" lIns="0" rIns="0" tIns="0" bIns="0" anchor="ctr">
            <a:spAutoFit/>
          </a:bodyPr>
          <a:lstStyle/>
          <a:p>
            <a:pPr algn="ctr"/>
            <a:r>
              <a:rPr sz="600" b="0">
                <a:solidFill>
                  <a:srgbClr val="6C7A89"/>
                </a:solidFill>
                <a:latin typeface="Calibri"/>
              </a:rPr>
              <a:t>2021</a:t>
            </a:r>
          </a:p>
        </p:txBody>
      </p:sp>
      <p:sp>
        <p:nvSpPr>
          <p:cNvPr id="102" name="TextBox 101"/>
          <p:cNvSpPr txBox="1"/>
          <p:nvPr/>
        </p:nvSpPr>
        <p:spPr>
          <a:xfrm>
            <a:off x="2514600" y="5010150"/>
            <a:ext cx="419100" cy="95250"/>
          </a:xfrm>
          <a:prstGeom prst="rect">
            <a:avLst/>
          </a:prstGeom>
          <a:noFill/>
        </p:spPr>
        <p:txBody>
          <a:bodyPr wrap="none" lIns="0" rIns="0" tIns="0" bIns="0" anchor="ctr">
            <a:spAutoFit/>
          </a:bodyPr>
          <a:lstStyle/>
          <a:p>
            <a:pPr algn="ctr"/>
            <a:r>
              <a:rPr sz="600" b="0">
                <a:solidFill>
                  <a:srgbClr val="6C7A89"/>
                </a:solidFill>
                <a:latin typeface="Calibri"/>
              </a:rPr>
              <a:t>2026</a:t>
            </a:r>
          </a:p>
        </p:txBody>
      </p:sp>
      <p:cxnSp>
        <p:nvCxnSpPr>
          <p:cNvPr id="103" name="Connector 102"/>
          <p:cNvCxnSpPr/>
          <p:nvPr/>
        </p:nvCxnSpPr>
        <p:spPr>
          <a:xfrm>
            <a:off x="3314700" y="4497324"/>
            <a:ext cx="3257550" cy="0"/>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3162300" y="4430649"/>
            <a:ext cx="114300" cy="123825"/>
          </a:xfrm>
          <a:prstGeom prst="rect">
            <a:avLst/>
          </a:prstGeom>
          <a:noFill/>
        </p:spPr>
        <p:txBody>
          <a:bodyPr wrap="none" lIns="0" rIns="0" tIns="0" bIns="0" anchor="ctr">
            <a:spAutoFit/>
          </a:bodyPr>
          <a:lstStyle/>
          <a:p>
            <a:pPr algn="ctr"/>
            <a:r>
              <a:rPr sz="800" b="1">
                <a:solidFill>
                  <a:srgbClr val="2E2E2E"/>
                </a:solidFill>
                <a:latin typeface="Calibri"/>
              </a:rPr>
              <a:t>A</a:t>
            </a:r>
          </a:p>
        </p:txBody>
      </p:sp>
      <p:cxnSp>
        <p:nvCxnSpPr>
          <p:cNvPr id="105" name="Connector 104"/>
          <p:cNvCxnSpPr/>
          <p:nvPr/>
        </p:nvCxnSpPr>
        <p:spPr>
          <a:xfrm>
            <a:off x="331470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3086100" y="4335399"/>
            <a:ext cx="457200" cy="95250"/>
          </a:xfrm>
          <a:prstGeom prst="rect">
            <a:avLst/>
          </a:prstGeom>
          <a:noFill/>
        </p:spPr>
        <p:txBody>
          <a:bodyPr wrap="none" lIns="0" rIns="0" tIns="0" bIns="0" anchor="ctr">
            <a:spAutoFit/>
          </a:bodyPr>
          <a:lstStyle/>
          <a:p>
            <a:pPr algn="ctr"/>
            <a:r>
              <a:rPr sz="650" b="0">
                <a:solidFill>
                  <a:srgbClr val="6C7A89"/>
                </a:solidFill>
                <a:latin typeface="Calibri"/>
              </a:rPr>
              <a:t>9</a:t>
            </a:r>
          </a:p>
        </p:txBody>
      </p:sp>
      <p:cxnSp>
        <p:nvCxnSpPr>
          <p:cNvPr id="107" name="Connector 106"/>
          <p:cNvCxnSpPr/>
          <p:nvPr/>
        </p:nvCxnSpPr>
        <p:spPr>
          <a:xfrm>
            <a:off x="396621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3737610" y="4335399"/>
            <a:ext cx="457200" cy="95250"/>
          </a:xfrm>
          <a:prstGeom prst="rect">
            <a:avLst/>
          </a:prstGeom>
          <a:noFill/>
        </p:spPr>
        <p:txBody>
          <a:bodyPr wrap="none" lIns="0" rIns="0" tIns="0" bIns="0" anchor="ctr">
            <a:spAutoFit/>
          </a:bodyPr>
          <a:lstStyle/>
          <a:p>
            <a:pPr algn="ctr"/>
            <a:r>
              <a:rPr sz="650" b="0">
                <a:solidFill>
                  <a:srgbClr val="6C7A89"/>
                </a:solidFill>
                <a:latin typeface="Calibri"/>
              </a:rPr>
              <a:t>159</a:t>
            </a:r>
          </a:p>
        </p:txBody>
      </p:sp>
      <p:cxnSp>
        <p:nvCxnSpPr>
          <p:cNvPr id="109" name="Connector 108"/>
          <p:cNvCxnSpPr/>
          <p:nvPr/>
        </p:nvCxnSpPr>
        <p:spPr>
          <a:xfrm>
            <a:off x="461772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4389120" y="4335399"/>
            <a:ext cx="457200" cy="95250"/>
          </a:xfrm>
          <a:prstGeom prst="rect">
            <a:avLst/>
          </a:prstGeom>
          <a:noFill/>
        </p:spPr>
        <p:txBody>
          <a:bodyPr wrap="none" lIns="0" rIns="0" tIns="0" bIns="0" anchor="ctr">
            <a:spAutoFit/>
          </a:bodyPr>
          <a:lstStyle/>
          <a:p>
            <a:pPr algn="ctr"/>
            <a:r>
              <a:rPr sz="650" b="0">
                <a:solidFill>
                  <a:srgbClr val="6C7A89"/>
                </a:solidFill>
                <a:latin typeface="Calibri"/>
              </a:rPr>
              <a:t>309</a:t>
            </a:r>
          </a:p>
        </p:txBody>
      </p:sp>
      <p:cxnSp>
        <p:nvCxnSpPr>
          <p:cNvPr id="111" name="Connector 110"/>
          <p:cNvCxnSpPr/>
          <p:nvPr/>
        </p:nvCxnSpPr>
        <p:spPr>
          <a:xfrm>
            <a:off x="526923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5040630" y="4335399"/>
            <a:ext cx="457200" cy="95250"/>
          </a:xfrm>
          <a:prstGeom prst="rect">
            <a:avLst/>
          </a:prstGeom>
          <a:noFill/>
        </p:spPr>
        <p:txBody>
          <a:bodyPr wrap="none" lIns="0" rIns="0" tIns="0" bIns="0" anchor="ctr">
            <a:spAutoFit/>
          </a:bodyPr>
          <a:lstStyle/>
          <a:p>
            <a:pPr algn="ctr"/>
            <a:r>
              <a:rPr sz="650" b="0">
                <a:solidFill>
                  <a:srgbClr val="6C7A89"/>
                </a:solidFill>
                <a:latin typeface="Calibri"/>
              </a:rPr>
              <a:t>458</a:t>
            </a:r>
          </a:p>
        </p:txBody>
      </p:sp>
      <p:cxnSp>
        <p:nvCxnSpPr>
          <p:cNvPr id="113" name="Connector 112"/>
          <p:cNvCxnSpPr/>
          <p:nvPr/>
        </p:nvCxnSpPr>
        <p:spPr>
          <a:xfrm>
            <a:off x="592074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692140" y="4335399"/>
            <a:ext cx="457200" cy="95250"/>
          </a:xfrm>
          <a:prstGeom prst="rect">
            <a:avLst/>
          </a:prstGeom>
          <a:noFill/>
        </p:spPr>
        <p:txBody>
          <a:bodyPr wrap="none" lIns="0" rIns="0" tIns="0" bIns="0" anchor="ctr">
            <a:spAutoFit/>
          </a:bodyPr>
          <a:lstStyle/>
          <a:p>
            <a:pPr algn="ctr"/>
            <a:r>
              <a:rPr sz="650" b="0">
                <a:solidFill>
                  <a:srgbClr val="6C7A89"/>
                </a:solidFill>
                <a:latin typeface="Calibri"/>
              </a:rPr>
              <a:t>608</a:t>
            </a:r>
          </a:p>
        </p:txBody>
      </p:sp>
      <p:cxnSp>
        <p:nvCxnSpPr>
          <p:cNvPr id="115" name="Connector 114"/>
          <p:cNvCxnSpPr/>
          <p:nvPr/>
        </p:nvCxnSpPr>
        <p:spPr>
          <a:xfrm>
            <a:off x="657225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6343650" y="4335399"/>
            <a:ext cx="457200" cy="95250"/>
          </a:xfrm>
          <a:prstGeom prst="rect">
            <a:avLst/>
          </a:prstGeom>
          <a:noFill/>
        </p:spPr>
        <p:txBody>
          <a:bodyPr wrap="none" lIns="0" rIns="0" tIns="0" bIns="0" anchor="ctr">
            <a:spAutoFit/>
          </a:bodyPr>
          <a:lstStyle/>
          <a:p>
            <a:pPr algn="ctr"/>
            <a:r>
              <a:rPr sz="650" b="0">
                <a:solidFill>
                  <a:srgbClr val="6C7A89"/>
                </a:solidFill>
                <a:latin typeface="Calibri"/>
              </a:rPr>
              <a:t>758</a:t>
            </a:r>
          </a:p>
        </p:txBody>
      </p:sp>
      <p:sp>
        <p:nvSpPr>
          <p:cNvPr id="117" name="Rectangle 116"/>
          <p:cNvSpPr/>
          <p:nvPr/>
        </p:nvSpPr>
        <p:spPr>
          <a:xfrm>
            <a:off x="3910068" y="4421124"/>
            <a:ext cx="593456" cy="1524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3852918" y="4440174"/>
            <a:ext cx="114300" cy="114300"/>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016957" y="4440174"/>
            <a:ext cx="114300" cy="114300"/>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4446373" y="4440174"/>
            <a:ext cx="114300" cy="114300"/>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715125" y="4019550"/>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Rheumatology</a:t>
            </a:r>
          </a:p>
        </p:txBody>
      </p:sp>
      <p:sp>
        <p:nvSpPr>
          <p:cNvPr id="122" name="TextBox 121"/>
          <p:cNvSpPr txBox="1"/>
          <p:nvPr/>
        </p:nvSpPr>
        <p:spPr>
          <a:xfrm>
            <a:off x="8155305" y="4019550"/>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125.36   157.81   242.79</a:t>
            </a:r>
          </a:p>
        </p:txBody>
      </p:sp>
      <p:sp>
        <p:nvSpPr>
          <p:cNvPr id="123" name="TextBox 122"/>
          <p:cNvSpPr txBox="1"/>
          <p:nvPr/>
        </p:nvSpPr>
        <p:spPr>
          <a:xfrm>
            <a:off x="6715125" y="4562475"/>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Dermatology</a:t>
            </a:r>
          </a:p>
        </p:txBody>
      </p:sp>
      <p:sp>
        <p:nvSpPr>
          <p:cNvPr id="124" name="TextBox 123"/>
          <p:cNvSpPr txBox="1"/>
          <p:nvPr/>
        </p:nvSpPr>
        <p:spPr>
          <a:xfrm>
            <a:off x="8155305" y="4562475"/>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132.64   166.99   256.90</a:t>
            </a:r>
          </a:p>
        </p:txBody>
      </p:sp>
      <p:sp>
        <p:nvSpPr>
          <p:cNvPr id="125" name="TextBox 124"/>
          <p:cNvSpPr txBox="1"/>
          <p:nvPr/>
        </p:nvSpPr>
        <p:spPr>
          <a:xfrm>
            <a:off x="9382125" y="4019550"/>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Gastroenterology</a:t>
            </a:r>
          </a:p>
        </p:txBody>
      </p:sp>
      <p:sp>
        <p:nvSpPr>
          <p:cNvPr id="126" name="TextBox 125"/>
          <p:cNvSpPr txBox="1"/>
          <p:nvPr/>
        </p:nvSpPr>
        <p:spPr>
          <a:xfrm>
            <a:off x="10822305" y="4019550"/>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139.93   176.17   271.02</a:t>
            </a:r>
          </a:p>
        </p:txBody>
      </p:sp>
      <p:sp>
        <p:nvSpPr>
          <p:cNvPr id="127" name="TextBox 126"/>
          <p:cNvSpPr txBox="1"/>
          <p:nvPr/>
        </p:nvSpPr>
        <p:spPr>
          <a:xfrm>
            <a:off x="9382125" y="4562475"/>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Ophthalmology</a:t>
            </a:r>
          </a:p>
        </p:txBody>
      </p:sp>
      <p:sp>
        <p:nvSpPr>
          <p:cNvPr id="128" name="TextBox 127"/>
          <p:cNvSpPr txBox="1"/>
          <p:nvPr/>
        </p:nvSpPr>
        <p:spPr>
          <a:xfrm>
            <a:off x="10822305" y="4562475"/>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147.22   185.34   285.13</a:t>
            </a:r>
          </a:p>
        </p:txBody>
      </p:sp>
      <p:sp>
        <p:nvSpPr>
          <p:cNvPr id="129" name="Rectangle 128"/>
          <p:cNvSpPr/>
          <p:nvPr/>
        </p:nvSpPr>
        <p:spPr>
          <a:xfrm>
            <a:off x="142875" y="5162550"/>
            <a:ext cx="11906250" cy="1257300"/>
          </a:xfrm>
          <a:prstGeom prst="rect">
            <a:avLst/>
          </a:prstGeom>
          <a:solidFill>
            <a:srgbClr val="FFFFFF"/>
          </a:solidFill>
          <a:ln w="9525">
            <a:solidFill>
              <a:srgbClr val="EDF1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00025" y="5181600"/>
            <a:ext cx="2762250" cy="133350"/>
          </a:xfrm>
          <a:prstGeom prst="rect">
            <a:avLst/>
          </a:prstGeom>
          <a:noFill/>
        </p:spPr>
        <p:txBody>
          <a:bodyPr wrap="square" lIns="28575" rIns="28575" tIns="9525" bIns="9525" anchor="ctr">
            <a:spAutoFit/>
          </a:bodyPr>
          <a:lstStyle/>
          <a:p>
            <a:pPr algn="l"/>
            <a:r>
              <a:rPr sz="950" b="1">
                <a:solidFill>
                  <a:srgbClr val="0B2E4A"/>
                </a:solidFill>
                <a:latin typeface="Calibri"/>
              </a:rPr>
              <a:t>East Asia Pricing Pattern</a:t>
            </a:r>
          </a:p>
        </p:txBody>
      </p:sp>
      <p:cxnSp>
        <p:nvCxnSpPr>
          <p:cNvPr id="131" name="Connector 130"/>
          <p:cNvCxnSpPr/>
          <p:nvPr/>
        </p:nvCxnSpPr>
        <p:spPr>
          <a:xfrm>
            <a:off x="466725" y="5418740"/>
            <a:ext cx="2314575" cy="0"/>
          </a:xfrm>
          <a:prstGeom prst="line">
            <a:avLst/>
          </a:prstGeom>
          <a:ln w="10160">
            <a:solidFill>
              <a:srgbClr val="C9D2DA"/>
            </a:solidFill>
          </a:ln>
          <a:effectLst/>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33350" y="5295900"/>
            <a:ext cx="304800" cy="114300"/>
          </a:xfrm>
          <a:prstGeom prst="rect">
            <a:avLst/>
          </a:prstGeom>
          <a:noFill/>
        </p:spPr>
        <p:txBody>
          <a:bodyPr wrap="none" lIns="0" rIns="0" tIns="0" bIns="0" anchor="ctr">
            <a:spAutoFit/>
          </a:bodyPr>
          <a:lstStyle/>
          <a:p>
            <a:pPr algn="r"/>
            <a:r>
              <a:rPr sz="600" b="0">
                <a:solidFill>
                  <a:srgbClr val="6C7A89"/>
                </a:solidFill>
                <a:latin typeface="Calibri"/>
              </a:rPr>
              <a:t>+2%</a:t>
            </a:r>
          </a:p>
        </p:txBody>
      </p:sp>
      <p:sp>
        <p:nvSpPr>
          <p:cNvPr id="133" name="TextBox 132"/>
          <p:cNvSpPr txBox="1"/>
          <p:nvPr/>
        </p:nvSpPr>
        <p:spPr>
          <a:xfrm>
            <a:off x="133350" y="6248400"/>
            <a:ext cx="304800" cy="114300"/>
          </a:xfrm>
          <a:prstGeom prst="rect">
            <a:avLst/>
          </a:prstGeom>
          <a:noFill/>
        </p:spPr>
        <p:txBody>
          <a:bodyPr wrap="none" lIns="0" rIns="0" tIns="0" bIns="0" anchor="ctr">
            <a:spAutoFit/>
          </a:bodyPr>
          <a:lstStyle/>
          <a:p>
            <a:pPr algn="r"/>
            <a:r>
              <a:rPr sz="600" b="0">
                <a:solidFill>
                  <a:srgbClr val="6C7A89"/>
                </a:solidFill>
                <a:latin typeface="Calibri"/>
              </a:rPr>
              <a:t>-29%</a:t>
            </a:r>
          </a:p>
        </p:txBody>
      </p:sp>
      <p:sp>
        <p:nvSpPr>
          <p:cNvPr id="134" name="Freeform 133"/>
          <p:cNvSpPr/>
          <p:nvPr/>
        </p:nvSpPr>
        <p:spPr>
          <a:xfrm>
            <a:off x="466725" y="5419725"/>
            <a:ext cx="2314575" cy="819150"/>
          </a:xfrm>
          <a:custGeom>
            <a:avLst/>
            <a:gdLst/>
            <a:ahLst/>
            <a:cxnLst/>
            <a:rect l="l" t="t" r="r" b="b"/>
            <a:pathLst>
              <a:path w="243" h="86">
                <a:moveTo>
                  <a:pt x="0" y="0"/>
                </a:moveTo>
                <a:lnTo>
                  <a:pt x="49" y="19"/>
                </a:lnTo>
                <a:lnTo>
                  <a:pt x="97" y="38"/>
                </a:lnTo>
                <a:lnTo>
                  <a:pt x="146" y="55"/>
                </a:lnTo>
                <a:lnTo>
                  <a:pt x="194" y="71"/>
                </a:lnTo>
                <a:lnTo>
                  <a:pt x="243" y="86"/>
                </a:lnTo>
              </a:path>
            </a:pathLst>
          </a:custGeom>
          <a:noFill/>
          <a:ln w="2032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Freeform 134"/>
          <p:cNvSpPr/>
          <p:nvPr/>
        </p:nvSpPr>
        <p:spPr>
          <a:xfrm>
            <a:off x="466725" y="5419725"/>
            <a:ext cx="2314575" cy="438150"/>
          </a:xfrm>
          <a:custGeom>
            <a:avLst/>
            <a:gdLst/>
            <a:ahLst/>
            <a:cxnLst/>
            <a:rect l="l" t="t" r="r" b="b"/>
            <a:pathLst>
              <a:path w="243" h="46">
                <a:moveTo>
                  <a:pt x="0" y="0"/>
                </a:moveTo>
                <a:lnTo>
                  <a:pt x="49" y="10"/>
                </a:lnTo>
                <a:lnTo>
                  <a:pt x="97" y="19"/>
                </a:lnTo>
                <a:lnTo>
                  <a:pt x="146" y="28"/>
                </a:lnTo>
                <a:lnTo>
                  <a:pt x="194" y="37"/>
                </a:lnTo>
                <a:lnTo>
                  <a:pt x="243" y="46"/>
                </a:lnTo>
              </a:path>
            </a:pathLst>
          </a:custGeom>
          <a:noFill/>
          <a:ln w="2032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466725" y="5419725"/>
            <a:ext cx="2314575" cy="609600"/>
          </a:xfrm>
          <a:custGeom>
            <a:avLst/>
            <a:gdLst/>
            <a:ahLst/>
            <a:cxnLst/>
            <a:rect l="l" t="t" r="r" b="b"/>
            <a:pathLst>
              <a:path w="243" h="64">
                <a:moveTo>
                  <a:pt x="0" y="0"/>
                </a:moveTo>
                <a:lnTo>
                  <a:pt x="49" y="14"/>
                </a:lnTo>
                <a:lnTo>
                  <a:pt x="97" y="27"/>
                </a:lnTo>
                <a:lnTo>
                  <a:pt x="146" y="40"/>
                </a:lnTo>
                <a:lnTo>
                  <a:pt x="194" y="53"/>
                </a:lnTo>
                <a:lnTo>
                  <a:pt x="243" y="64"/>
                </a:lnTo>
              </a:path>
            </a:pathLst>
          </a:custGeom>
          <a:no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314325" y="6324600"/>
            <a:ext cx="419100" cy="95250"/>
          </a:xfrm>
          <a:prstGeom prst="rect">
            <a:avLst/>
          </a:prstGeom>
          <a:noFill/>
        </p:spPr>
        <p:txBody>
          <a:bodyPr wrap="none" lIns="0" rIns="0" tIns="0" bIns="0" anchor="ctr">
            <a:spAutoFit/>
          </a:bodyPr>
          <a:lstStyle/>
          <a:p>
            <a:pPr algn="ctr"/>
            <a:r>
              <a:rPr sz="600" b="0">
                <a:solidFill>
                  <a:srgbClr val="6C7A89"/>
                </a:solidFill>
                <a:latin typeface="Calibri"/>
              </a:rPr>
              <a:t>2021</a:t>
            </a:r>
          </a:p>
        </p:txBody>
      </p:sp>
      <p:sp>
        <p:nvSpPr>
          <p:cNvPr id="138" name="TextBox 137"/>
          <p:cNvSpPr txBox="1"/>
          <p:nvPr/>
        </p:nvSpPr>
        <p:spPr>
          <a:xfrm>
            <a:off x="2514600" y="6324600"/>
            <a:ext cx="419100" cy="95250"/>
          </a:xfrm>
          <a:prstGeom prst="rect">
            <a:avLst/>
          </a:prstGeom>
          <a:noFill/>
        </p:spPr>
        <p:txBody>
          <a:bodyPr wrap="none" lIns="0" rIns="0" tIns="0" bIns="0" anchor="ctr">
            <a:spAutoFit/>
          </a:bodyPr>
          <a:lstStyle/>
          <a:p>
            <a:pPr algn="ctr"/>
            <a:r>
              <a:rPr sz="600" b="0">
                <a:solidFill>
                  <a:srgbClr val="6C7A89"/>
                </a:solidFill>
                <a:latin typeface="Calibri"/>
              </a:rPr>
              <a:t>2026</a:t>
            </a:r>
          </a:p>
        </p:txBody>
      </p:sp>
      <p:cxnSp>
        <p:nvCxnSpPr>
          <p:cNvPr id="139" name="Connector 138"/>
          <p:cNvCxnSpPr/>
          <p:nvPr/>
        </p:nvCxnSpPr>
        <p:spPr>
          <a:xfrm>
            <a:off x="3314700" y="5811774"/>
            <a:ext cx="3257550" cy="0"/>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3162300" y="5745099"/>
            <a:ext cx="114300" cy="123825"/>
          </a:xfrm>
          <a:prstGeom prst="rect">
            <a:avLst/>
          </a:prstGeom>
          <a:noFill/>
        </p:spPr>
        <p:txBody>
          <a:bodyPr wrap="none" lIns="0" rIns="0" tIns="0" bIns="0" anchor="ctr">
            <a:spAutoFit/>
          </a:bodyPr>
          <a:lstStyle/>
          <a:p>
            <a:pPr algn="ctr"/>
            <a:r>
              <a:rPr sz="800" b="1">
                <a:solidFill>
                  <a:srgbClr val="2E2E2E"/>
                </a:solidFill>
                <a:latin typeface="Calibri"/>
              </a:rPr>
              <a:t>A</a:t>
            </a:r>
          </a:p>
        </p:txBody>
      </p:sp>
      <p:cxnSp>
        <p:nvCxnSpPr>
          <p:cNvPr id="141" name="Connector 140"/>
          <p:cNvCxnSpPr/>
          <p:nvPr/>
        </p:nvCxnSpPr>
        <p:spPr>
          <a:xfrm>
            <a:off x="3314700" y="57736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3086100" y="5649849"/>
            <a:ext cx="457200" cy="95250"/>
          </a:xfrm>
          <a:prstGeom prst="rect">
            <a:avLst/>
          </a:prstGeom>
          <a:noFill/>
        </p:spPr>
        <p:txBody>
          <a:bodyPr wrap="none" lIns="0" rIns="0" tIns="0" bIns="0" anchor="ctr">
            <a:spAutoFit/>
          </a:bodyPr>
          <a:lstStyle/>
          <a:p>
            <a:pPr algn="ctr"/>
            <a:r>
              <a:rPr sz="650" b="0">
                <a:solidFill>
                  <a:srgbClr val="6C7A89"/>
                </a:solidFill>
                <a:latin typeface="Calibri"/>
              </a:rPr>
              <a:t>9</a:t>
            </a:r>
          </a:p>
        </p:txBody>
      </p:sp>
      <p:cxnSp>
        <p:nvCxnSpPr>
          <p:cNvPr id="143" name="Connector 142"/>
          <p:cNvCxnSpPr/>
          <p:nvPr/>
        </p:nvCxnSpPr>
        <p:spPr>
          <a:xfrm>
            <a:off x="3966210" y="57736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3737610" y="5649849"/>
            <a:ext cx="457200" cy="95250"/>
          </a:xfrm>
          <a:prstGeom prst="rect">
            <a:avLst/>
          </a:prstGeom>
          <a:noFill/>
        </p:spPr>
        <p:txBody>
          <a:bodyPr wrap="none" lIns="0" rIns="0" tIns="0" bIns="0" anchor="ctr">
            <a:spAutoFit/>
          </a:bodyPr>
          <a:lstStyle/>
          <a:p>
            <a:pPr algn="ctr"/>
            <a:r>
              <a:rPr sz="650" b="0">
                <a:solidFill>
                  <a:srgbClr val="6C7A89"/>
                </a:solidFill>
                <a:latin typeface="Calibri"/>
              </a:rPr>
              <a:t>159</a:t>
            </a:r>
          </a:p>
        </p:txBody>
      </p:sp>
      <p:cxnSp>
        <p:nvCxnSpPr>
          <p:cNvPr id="145" name="Connector 144"/>
          <p:cNvCxnSpPr/>
          <p:nvPr/>
        </p:nvCxnSpPr>
        <p:spPr>
          <a:xfrm>
            <a:off x="4617720" y="57736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46" name="TextBox 145"/>
          <p:cNvSpPr txBox="1"/>
          <p:nvPr/>
        </p:nvSpPr>
        <p:spPr>
          <a:xfrm>
            <a:off x="4389120" y="5649849"/>
            <a:ext cx="457200" cy="95250"/>
          </a:xfrm>
          <a:prstGeom prst="rect">
            <a:avLst/>
          </a:prstGeom>
          <a:noFill/>
        </p:spPr>
        <p:txBody>
          <a:bodyPr wrap="none" lIns="0" rIns="0" tIns="0" bIns="0" anchor="ctr">
            <a:spAutoFit/>
          </a:bodyPr>
          <a:lstStyle/>
          <a:p>
            <a:pPr algn="ctr"/>
            <a:r>
              <a:rPr sz="650" b="0">
                <a:solidFill>
                  <a:srgbClr val="6C7A89"/>
                </a:solidFill>
                <a:latin typeface="Calibri"/>
              </a:rPr>
              <a:t>309</a:t>
            </a:r>
          </a:p>
        </p:txBody>
      </p:sp>
      <p:cxnSp>
        <p:nvCxnSpPr>
          <p:cNvPr id="147" name="Connector 146"/>
          <p:cNvCxnSpPr/>
          <p:nvPr/>
        </p:nvCxnSpPr>
        <p:spPr>
          <a:xfrm>
            <a:off x="5269230" y="57736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040630" y="5649849"/>
            <a:ext cx="457200" cy="95250"/>
          </a:xfrm>
          <a:prstGeom prst="rect">
            <a:avLst/>
          </a:prstGeom>
          <a:noFill/>
        </p:spPr>
        <p:txBody>
          <a:bodyPr wrap="none" lIns="0" rIns="0" tIns="0" bIns="0" anchor="ctr">
            <a:spAutoFit/>
          </a:bodyPr>
          <a:lstStyle/>
          <a:p>
            <a:pPr algn="ctr"/>
            <a:r>
              <a:rPr sz="650" b="0">
                <a:solidFill>
                  <a:srgbClr val="6C7A89"/>
                </a:solidFill>
                <a:latin typeface="Calibri"/>
              </a:rPr>
              <a:t>458</a:t>
            </a:r>
          </a:p>
        </p:txBody>
      </p:sp>
      <p:cxnSp>
        <p:nvCxnSpPr>
          <p:cNvPr id="149" name="Connector 148"/>
          <p:cNvCxnSpPr/>
          <p:nvPr/>
        </p:nvCxnSpPr>
        <p:spPr>
          <a:xfrm>
            <a:off x="5920740" y="57736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50" name="TextBox 149"/>
          <p:cNvSpPr txBox="1"/>
          <p:nvPr/>
        </p:nvSpPr>
        <p:spPr>
          <a:xfrm>
            <a:off x="5692140" y="5649849"/>
            <a:ext cx="457200" cy="95250"/>
          </a:xfrm>
          <a:prstGeom prst="rect">
            <a:avLst/>
          </a:prstGeom>
          <a:noFill/>
        </p:spPr>
        <p:txBody>
          <a:bodyPr wrap="none" lIns="0" rIns="0" tIns="0" bIns="0" anchor="ctr">
            <a:spAutoFit/>
          </a:bodyPr>
          <a:lstStyle/>
          <a:p>
            <a:pPr algn="ctr"/>
            <a:r>
              <a:rPr sz="650" b="0">
                <a:solidFill>
                  <a:srgbClr val="6C7A89"/>
                </a:solidFill>
                <a:latin typeface="Calibri"/>
              </a:rPr>
              <a:t>608</a:t>
            </a:r>
          </a:p>
        </p:txBody>
      </p:sp>
      <p:cxnSp>
        <p:nvCxnSpPr>
          <p:cNvPr id="151" name="Connector 150"/>
          <p:cNvCxnSpPr/>
          <p:nvPr/>
        </p:nvCxnSpPr>
        <p:spPr>
          <a:xfrm>
            <a:off x="6572250" y="57736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52" name="TextBox 151"/>
          <p:cNvSpPr txBox="1"/>
          <p:nvPr/>
        </p:nvSpPr>
        <p:spPr>
          <a:xfrm>
            <a:off x="6343650" y="5649849"/>
            <a:ext cx="457200" cy="95250"/>
          </a:xfrm>
          <a:prstGeom prst="rect">
            <a:avLst/>
          </a:prstGeom>
          <a:noFill/>
        </p:spPr>
        <p:txBody>
          <a:bodyPr wrap="none" lIns="0" rIns="0" tIns="0" bIns="0" anchor="ctr">
            <a:spAutoFit/>
          </a:bodyPr>
          <a:lstStyle/>
          <a:p>
            <a:pPr algn="ctr"/>
            <a:r>
              <a:rPr sz="650" b="0">
                <a:solidFill>
                  <a:srgbClr val="6C7A89"/>
                </a:solidFill>
                <a:latin typeface="Calibri"/>
              </a:rPr>
              <a:t>758</a:t>
            </a:r>
          </a:p>
        </p:txBody>
      </p:sp>
      <p:sp>
        <p:nvSpPr>
          <p:cNvPr id="153" name="Rectangle 152"/>
          <p:cNvSpPr/>
          <p:nvPr/>
        </p:nvSpPr>
        <p:spPr>
          <a:xfrm>
            <a:off x="3927447" y="5735574"/>
            <a:ext cx="290972" cy="1524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4161269" y="5754624"/>
            <a:ext cx="114300" cy="114300"/>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3870297" y="5754624"/>
            <a:ext cx="114300" cy="114300"/>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3953394" y="5754624"/>
            <a:ext cx="114300" cy="114300"/>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6715125" y="5334000"/>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Rheumatology</a:t>
            </a:r>
          </a:p>
        </p:txBody>
      </p:sp>
      <p:sp>
        <p:nvSpPr>
          <p:cNvPr id="158" name="TextBox 157"/>
          <p:cNvSpPr txBox="1"/>
          <p:nvPr/>
        </p:nvSpPr>
        <p:spPr>
          <a:xfrm>
            <a:off x="8155305" y="5334000"/>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186.37   128.79   145.24</a:t>
            </a:r>
          </a:p>
        </p:txBody>
      </p:sp>
      <p:sp>
        <p:nvSpPr>
          <p:cNvPr id="159" name="TextBox 158"/>
          <p:cNvSpPr txBox="1"/>
          <p:nvPr/>
        </p:nvSpPr>
        <p:spPr>
          <a:xfrm>
            <a:off x="6715125" y="5876925"/>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Dermatology</a:t>
            </a:r>
          </a:p>
        </p:txBody>
      </p:sp>
      <p:sp>
        <p:nvSpPr>
          <p:cNvPr id="160" name="TextBox 159"/>
          <p:cNvSpPr txBox="1"/>
          <p:nvPr/>
        </p:nvSpPr>
        <p:spPr>
          <a:xfrm>
            <a:off x="8155305" y="5876925"/>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197.21   136.28   153.68</a:t>
            </a:r>
          </a:p>
        </p:txBody>
      </p:sp>
      <p:sp>
        <p:nvSpPr>
          <p:cNvPr id="161" name="TextBox 160"/>
          <p:cNvSpPr txBox="1"/>
          <p:nvPr/>
        </p:nvSpPr>
        <p:spPr>
          <a:xfrm>
            <a:off x="9382125" y="5334000"/>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Gastroenterology</a:t>
            </a:r>
          </a:p>
        </p:txBody>
      </p:sp>
      <p:sp>
        <p:nvSpPr>
          <p:cNvPr id="162" name="TextBox 161"/>
          <p:cNvSpPr txBox="1"/>
          <p:nvPr/>
        </p:nvSpPr>
        <p:spPr>
          <a:xfrm>
            <a:off x="10822305" y="5334000"/>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208.04   143.77   162.13</a:t>
            </a:r>
          </a:p>
        </p:txBody>
      </p:sp>
      <p:sp>
        <p:nvSpPr>
          <p:cNvPr id="163" name="TextBox 162"/>
          <p:cNvSpPr txBox="1"/>
          <p:nvPr/>
        </p:nvSpPr>
        <p:spPr>
          <a:xfrm>
            <a:off x="9382125" y="5876925"/>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Ophthalmology</a:t>
            </a:r>
          </a:p>
        </p:txBody>
      </p:sp>
      <p:sp>
        <p:nvSpPr>
          <p:cNvPr id="164" name="TextBox 163"/>
          <p:cNvSpPr txBox="1"/>
          <p:nvPr/>
        </p:nvSpPr>
        <p:spPr>
          <a:xfrm>
            <a:off x="10822305" y="5876925"/>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218.88   151.26   170.57</a:t>
            </a:r>
          </a:p>
        </p:txBody>
      </p:sp>
      <p:sp>
        <p:nvSpPr>
          <p:cNvPr id="165" name="TextBox 164"/>
          <p:cNvSpPr txBox="1"/>
          <p:nvPr/>
        </p:nvSpPr>
        <p:spPr>
          <a:xfrm>
            <a:off x="3314700" y="6610350"/>
            <a:ext cx="1428750" cy="114300"/>
          </a:xfrm>
          <a:prstGeom prst="rect">
            <a:avLst/>
          </a:prstGeom>
          <a:noFill/>
        </p:spPr>
        <p:txBody>
          <a:bodyPr wrap="square" lIns="28575" rIns="28575" tIns="9525" bIns="9525" anchor="ctr">
            <a:spAutoFit/>
          </a:bodyPr>
          <a:lstStyle/>
          <a:p>
            <a:pPr algn="l"/>
            <a:r>
              <a:rPr sz="800" b="1" u="sng">
                <a:solidFill>
                  <a:srgbClr val="0B2E4A"/>
                </a:solidFill>
                <a:latin typeface="Calibri"/>
              </a:rPr>
              <a:t>Price By Product</a:t>
            </a:r>
          </a:p>
        </p:txBody>
      </p:sp>
      <p:sp>
        <p:nvSpPr>
          <p:cNvPr id="166" name="TextBox 165"/>
          <p:cNvSpPr txBox="1"/>
          <p:nvPr/>
        </p:nvSpPr>
        <p:spPr>
          <a:xfrm>
            <a:off x="6715125" y="6610350"/>
            <a:ext cx="1619250" cy="114300"/>
          </a:xfrm>
          <a:prstGeom prst="rect">
            <a:avLst/>
          </a:prstGeom>
          <a:noFill/>
        </p:spPr>
        <p:txBody>
          <a:bodyPr wrap="square" lIns="28575" rIns="28575" tIns="9525" bIns="9525" anchor="ctr">
            <a:spAutoFit/>
          </a:bodyPr>
          <a:lstStyle/>
          <a:p>
            <a:pPr algn="l"/>
            <a:r>
              <a:rPr sz="800" b="1" u="sng">
                <a:solidFill>
                  <a:srgbClr val="0B2E4A"/>
                </a:solidFill>
                <a:latin typeface="Calibri"/>
              </a:rPr>
              <a:t>Price By Application</a:t>
            </a:r>
          </a:p>
        </p:txBody>
      </p:sp>
      <p:sp>
        <p:nvSpPr>
          <p:cNvPr id="167" name="Rectangle 16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69" name="Rounded Rectangle 168">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70" name="Rounded Rectangle 169">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71" name="Rounded Rectangle 170">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North America Pricing Assessment</a:t>
            </a:r>
          </a:p>
        </p:txBody>
      </p:sp>
      <p:sp>
        <p:nvSpPr>
          <p:cNvPr id="10" name="TextBox 9"/>
          <p:cNvSpPr txBox="1"/>
          <p:nvPr/>
        </p:nvSpPr>
        <p:spPr>
          <a:xfrm>
            <a:off x="142875" y="800100"/>
            <a:ext cx="6096000" cy="152400"/>
          </a:xfrm>
          <a:prstGeom prst="rect">
            <a:avLst/>
          </a:prstGeom>
          <a:noFill/>
        </p:spPr>
        <p:txBody>
          <a:bodyPr wrap="square" lIns="28575" rIns="28575" tIns="9525" bIns="9525" anchor="ctr">
            <a:spAutoFit/>
          </a:bodyPr>
          <a:lstStyle/>
          <a:p>
            <a:pPr algn="l"/>
            <a:r>
              <a:rPr sz="1150" b="1">
                <a:solidFill>
                  <a:srgbClr val="0B2E4A"/>
                </a:solidFill>
                <a:latin typeface="Calibri"/>
              </a:rPr>
              <a:t>North America Price Point Assessment (US$/unit)</a:t>
            </a:r>
          </a:p>
        </p:txBody>
      </p:sp>
      <p:sp>
        <p:nvSpPr>
          <p:cNvPr id="11" name="Oval 10"/>
          <p:cNvSpPr/>
          <p:nvPr/>
        </p:nvSpPr>
        <p:spPr>
          <a:xfrm>
            <a:off x="2005012" y="1004888"/>
            <a:ext cx="104775" cy="104775"/>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43125" y="990600"/>
            <a:ext cx="1238250" cy="142875"/>
          </a:xfrm>
          <a:prstGeom prst="rect">
            <a:avLst/>
          </a:prstGeom>
          <a:noFill/>
        </p:spPr>
        <p:txBody>
          <a:bodyPr wrap="square" lIns="28575" rIns="28575" tIns="9525" bIns="9525" anchor="ctr">
            <a:spAutoFit/>
          </a:bodyPr>
          <a:lstStyle/>
          <a:p>
            <a:pPr algn="l"/>
            <a:r>
              <a:rPr sz="900" b="0">
                <a:solidFill>
                  <a:srgbClr val="2E2E2E"/>
                </a:solidFill>
                <a:latin typeface="Calibri"/>
              </a:rPr>
              <a:t>Simlandi</a:t>
            </a:r>
          </a:p>
        </p:txBody>
      </p:sp>
      <p:sp>
        <p:nvSpPr>
          <p:cNvPr id="13" name="Oval 12"/>
          <p:cNvSpPr/>
          <p:nvPr/>
        </p:nvSpPr>
        <p:spPr>
          <a:xfrm>
            <a:off x="2674575" y="1004888"/>
            <a:ext cx="104775" cy="1047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12688" y="990600"/>
            <a:ext cx="1238250" cy="142875"/>
          </a:xfrm>
          <a:prstGeom prst="rect">
            <a:avLst/>
          </a:prstGeom>
          <a:noFill/>
        </p:spPr>
        <p:txBody>
          <a:bodyPr wrap="square" lIns="28575" rIns="28575" tIns="9525" bIns="9525" anchor="ctr">
            <a:spAutoFit/>
          </a:bodyPr>
          <a:lstStyle/>
          <a:p>
            <a:pPr algn="l"/>
            <a:r>
              <a:rPr sz="900" b="0">
                <a:solidFill>
                  <a:srgbClr val="2E2E2E"/>
                </a:solidFill>
                <a:latin typeface="Calibri"/>
              </a:rPr>
              <a:t>Cyltezo</a:t>
            </a:r>
          </a:p>
        </p:txBody>
      </p:sp>
      <p:sp>
        <p:nvSpPr>
          <p:cNvPr id="15" name="Oval 14"/>
          <p:cNvSpPr/>
          <p:nvPr/>
        </p:nvSpPr>
        <p:spPr>
          <a:xfrm>
            <a:off x="3294675" y="1004888"/>
            <a:ext cx="104775" cy="10477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2787" y="990600"/>
            <a:ext cx="1238250" cy="142875"/>
          </a:xfrm>
          <a:prstGeom prst="rect">
            <a:avLst/>
          </a:prstGeom>
          <a:noFill/>
        </p:spPr>
        <p:txBody>
          <a:bodyPr wrap="square" lIns="28575" rIns="28575" tIns="9525" bIns="9525" anchor="ctr">
            <a:spAutoFit/>
          </a:bodyPr>
          <a:lstStyle/>
          <a:p>
            <a:pPr algn="l"/>
            <a:r>
              <a:rPr sz="900" b="0">
                <a:solidFill>
                  <a:srgbClr val="2E2E2E"/>
                </a:solidFill>
                <a:latin typeface="Calibri"/>
              </a:rPr>
              <a:t>Hulio</a:t>
            </a:r>
          </a:p>
        </p:txBody>
      </p:sp>
      <p:sp>
        <p:nvSpPr>
          <p:cNvPr id="17" name="Rectangle 16"/>
          <p:cNvSpPr/>
          <p:nvPr/>
        </p:nvSpPr>
        <p:spPr>
          <a:xfrm>
            <a:off x="3832328" y="1000125"/>
            <a:ext cx="209550" cy="1143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79978" y="990600"/>
            <a:ext cx="857250" cy="142875"/>
          </a:xfrm>
          <a:prstGeom prst="rect">
            <a:avLst/>
          </a:prstGeom>
          <a:noFill/>
        </p:spPr>
        <p:txBody>
          <a:bodyPr wrap="square" lIns="28575" rIns="28575" tIns="9525" bIns="9525" anchor="ctr">
            <a:spAutoFit/>
          </a:bodyPr>
          <a:lstStyle/>
          <a:p>
            <a:pPr algn="l"/>
            <a:r>
              <a:rPr sz="900" b="0">
                <a:solidFill>
                  <a:srgbClr val="2E2E2E"/>
                </a:solidFill>
                <a:latin typeface="Calibri"/>
              </a:rPr>
              <a:t>Price Range</a:t>
            </a:r>
          </a:p>
        </p:txBody>
      </p:sp>
      <p:sp>
        <p:nvSpPr>
          <p:cNvPr id="19" name="TextBox 18"/>
          <p:cNvSpPr txBox="1"/>
          <p:nvPr/>
        </p:nvSpPr>
        <p:spPr>
          <a:xfrm>
            <a:off x="6715125" y="990600"/>
            <a:ext cx="5334000" cy="142875"/>
          </a:xfrm>
          <a:prstGeom prst="rect">
            <a:avLst/>
          </a:prstGeom>
          <a:noFill/>
        </p:spPr>
        <p:txBody>
          <a:bodyPr wrap="square" lIns="28575" rIns="28575" tIns="9525" bIns="9525" anchor="ctr">
            <a:spAutoFit/>
          </a:bodyPr>
          <a:lstStyle/>
          <a:p>
            <a:pPr algn="l"/>
            <a:r>
              <a:rPr sz="950" b="1">
                <a:solidFill>
                  <a:srgbClr val="0B2E4A"/>
                </a:solidFill>
                <a:latin typeface="Calibri"/>
              </a:rPr>
              <a:t>Average Pricing by Product Type (US$/unit)</a:t>
            </a:r>
          </a:p>
        </p:txBody>
      </p:sp>
      <p:sp>
        <p:nvSpPr>
          <p:cNvPr id="20" name="TextBox 19"/>
          <p:cNvSpPr txBox="1"/>
          <p:nvPr/>
        </p:nvSpPr>
        <p:spPr>
          <a:xfrm>
            <a:off x="11191875" y="800100"/>
            <a:ext cx="857250" cy="142875"/>
          </a:xfrm>
          <a:prstGeom prst="rect">
            <a:avLst/>
          </a:prstGeom>
          <a:noFill/>
        </p:spPr>
        <p:txBody>
          <a:bodyPr wrap="square" lIns="28575" rIns="28575" tIns="9525" bIns="9525" anchor="ctr">
            <a:spAutoFit/>
          </a:bodyPr>
          <a:lstStyle/>
          <a:p>
            <a:pPr algn="r"/>
            <a:r>
              <a:rPr sz="900" b="1">
                <a:solidFill>
                  <a:srgbClr val="6C7A89"/>
                </a:solidFill>
                <a:latin typeface="Calibri"/>
              </a:rPr>
              <a:t>(2 / 2)</a:t>
            </a:r>
          </a:p>
        </p:txBody>
      </p:sp>
      <p:sp>
        <p:nvSpPr>
          <p:cNvPr id="21" name="Rectangle 20"/>
          <p:cNvSpPr/>
          <p:nvPr/>
        </p:nvSpPr>
        <p:spPr>
          <a:xfrm>
            <a:off x="142875" y="1219200"/>
            <a:ext cx="11906250" cy="1257300"/>
          </a:xfrm>
          <a:prstGeom prst="rect">
            <a:avLst/>
          </a:prstGeom>
          <a:solidFill>
            <a:srgbClr val="F5F7F9"/>
          </a:solidFill>
          <a:ln w="9525">
            <a:solidFill>
              <a:srgbClr val="EDF1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0025" y="1238250"/>
            <a:ext cx="2762250" cy="133350"/>
          </a:xfrm>
          <a:prstGeom prst="rect">
            <a:avLst/>
          </a:prstGeom>
          <a:noFill/>
        </p:spPr>
        <p:txBody>
          <a:bodyPr wrap="square" lIns="28575" rIns="28575" tIns="9525" bIns="9525" anchor="ctr">
            <a:spAutoFit/>
          </a:bodyPr>
          <a:lstStyle/>
          <a:p>
            <a:pPr algn="l"/>
            <a:r>
              <a:rPr sz="950" b="1">
                <a:solidFill>
                  <a:srgbClr val="0B2E4A"/>
                </a:solidFill>
                <a:latin typeface="Calibri"/>
              </a:rPr>
              <a:t>South Asia &amp; Pacific Pricing Pattern</a:t>
            </a:r>
          </a:p>
        </p:txBody>
      </p:sp>
      <p:cxnSp>
        <p:nvCxnSpPr>
          <p:cNvPr id="23" name="Connector 22"/>
          <p:cNvCxnSpPr/>
          <p:nvPr/>
        </p:nvCxnSpPr>
        <p:spPr>
          <a:xfrm>
            <a:off x="466725" y="1475390"/>
            <a:ext cx="2314575" cy="0"/>
          </a:xfrm>
          <a:prstGeom prst="line">
            <a:avLst/>
          </a:prstGeom>
          <a:ln w="10160">
            <a:solidFill>
              <a:srgbClr val="C9D2D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33350" y="1352550"/>
            <a:ext cx="304800" cy="114300"/>
          </a:xfrm>
          <a:prstGeom prst="rect">
            <a:avLst/>
          </a:prstGeom>
          <a:noFill/>
        </p:spPr>
        <p:txBody>
          <a:bodyPr wrap="none" lIns="0" rIns="0" tIns="0" bIns="0" anchor="ctr">
            <a:spAutoFit/>
          </a:bodyPr>
          <a:lstStyle/>
          <a:p>
            <a:pPr algn="r"/>
            <a:r>
              <a:rPr sz="600" b="0">
                <a:solidFill>
                  <a:srgbClr val="6C7A89"/>
                </a:solidFill>
                <a:latin typeface="Calibri"/>
              </a:rPr>
              <a:t>+2%</a:t>
            </a:r>
          </a:p>
        </p:txBody>
      </p:sp>
      <p:sp>
        <p:nvSpPr>
          <p:cNvPr id="25" name="TextBox 24"/>
          <p:cNvSpPr txBox="1"/>
          <p:nvPr/>
        </p:nvSpPr>
        <p:spPr>
          <a:xfrm>
            <a:off x="133350" y="2305050"/>
            <a:ext cx="304800" cy="114300"/>
          </a:xfrm>
          <a:prstGeom prst="rect">
            <a:avLst/>
          </a:prstGeom>
          <a:noFill/>
        </p:spPr>
        <p:txBody>
          <a:bodyPr wrap="none" lIns="0" rIns="0" tIns="0" bIns="0" anchor="ctr">
            <a:spAutoFit/>
          </a:bodyPr>
          <a:lstStyle/>
          <a:p>
            <a:pPr algn="r"/>
            <a:r>
              <a:rPr sz="600" b="0">
                <a:solidFill>
                  <a:srgbClr val="6C7A89"/>
                </a:solidFill>
                <a:latin typeface="Calibri"/>
              </a:rPr>
              <a:t>-29%</a:t>
            </a:r>
          </a:p>
        </p:txBody>
      </p:sp>
      <p:sp>
        <p:nvSpPr>
          <p:cNvPr id="26" name="Freeform 25"/>
          <p:cNvSpPr/>
          <p:nvPr/>
        </p:nvSpPr>
        <p:spPr>
          <a:xfrm>
            <a:off x="466725" y="1476375"/>
            <a:ext cx="2314575" cy="581025"/>
          </a:xfrm>
          <a:custGeom>
            <a:avLst/>
            <a:gdLst/>
            <a:ahLst/>
            <a:cxnLst/>
            <a:rect l="l" t="t" r="r" b="b"/>
            <a:pathLst>
              <a:path w="243" h="61">
                <a:moveTo>
                  <a:pt x="0" y="0"/>
                </a:moveTo>
                <a:lnTo>
                  <a:pt x="49" y="13"/>
                </a:lnTo>
                <a:lnTo>
                  <a:pt x="97" y="26"/>
                </a:lnTo>
                <a:lnTo>
                  <a:pt x="146" y="38"/>
                </a:lnTo>
                <a:lnTo>
                  <a:pt x="194" y="50"/>
                </a:lnTo>
                <a:lnTo>
                  <a:pt x="243" y="61"/>
                </a:lnTo>
              </a:path>
            </a:pathLst>
          </a:custGeom>
          <a:noFill/>
          <a:ln w="2032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466725" y="1476375"/>
            <a:ext cx="2314575" cy="819150"/>
          </a:xfrm>
          <a:custGeom>
            <a:avLst/>
            <a:gdLst/>
            <a:ahLst/>
            <a:cxnLst/>
            <a:rect l="l" t="t" r="r" b="b"/>
            <a:pathLst>
              <a:path w="243" h="86">
                <a:moveTo>
                  <a:pt x="0" y="0"/>
                </a:moveTo>
                <a:lnTo>
                  <a:pt x="49" y="19"/>
                </a:lnTo>
                <a:lnTo>
                  <a:pt x="97" y="38"/>
                </a:lnTo>
                <a:lnTo>
                  <a:pt x="146" y="55"/>
                </a:lnTo>
                <a:lnTo>
                  <a:pt x="194" y="71"/>
                </a:lnTo>
                <a:lnTo>
                  <a:pt x="243" y="86"/>
                </a:lnTo>
              </a:path>
            </a:pathLst>
          </a:custGeom>
          <a:noFill/>
          <a:ln w="2032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466725" y="1476375"/>
            <a:ext cx="2314575" cy="142875"/>
          </a:xfrm>
          <a:custGeom>
            <a:avLst/>
            <a:gdLst/>
            <a:ahLst/>
            <a:cxnLst/>
            <a:rect l="l" t="t" r="r" b="b"/>
            <a:pathLst>
              <a:path w="243" h="15">
                <a:moveTo>
                  <a:pt x="0" y="0"/>
                </a:moveTo>
                <a:lnTo>
                  <a:pt x="49" y="3"/>
                </a:lnTo>
                <a:lnTo>
                  <a:pt x="97" y="6"/>
                </a:lnTo>
                <a:lnTo>
                  <a:pt x="146" y="9"/>
                </a:lnTo>
                <a:lnTo>
                  <a:pt x="194" y="12"/>
                </a:lnTo>
                <a:lnTo>
                  <a:pt x="243" y="15"/>
                </a:lnTo>
              </a:path>
            </a:pathLst>
          </a:custGeom>
          <a:no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4325" y="2381250"/>
            <a:ext cx="419100" cy="95250"/>
          </a:xfrm>
          <a:prstGeom prst="rect">
            <a:avLst/>
          </a:prstGeom>
          <a:noFill/>
        </p:spPr>
        <p:txBody>
          <a:bodyPr wrap="none" lIns="0" rIns="0" tIns="0" bIns="0" anchor="ctr">
            <a:spAutoFit/>
          </a:bodyPr>
          <a:lstStyle/>
          <a:p>
            <a:pPr algn="ctr"/>
            <a:r>
              <a:rPr sz="600" b="0">
                <a:solidFill>
                  <a:srgbClr val="6C7A89"/>
                </a:solidFill>
                <a:latin typeface="Calibri"/>
              </a:rPr>
              <a:t>2021</a:t>
            </a:r>
          </a:p>
        </p:txBody>
      </p:sp>
      <p:sp>
        <p:nvSpPr>
          <p:cNvPr id="30" name="TextBox 29"/>
          <p:cNvSpPr txBox="1"/>
          <p:nvPr/>
        </p:nvSpPr>
        <p:spPr>
          <a:xfrm>
            <a:off x="2514600" y="2381250"/>
            <a:ext cx="419100" cy="95250"/>
          </a:xfrm>
          <a:prstGeom prst="rect">
            <a:avLst/>
          </a:prstGeom>
          <a:noFill/>
        </p:spPr>
        <p:txBody>
          <a:bodyPr wrap="none" lIns="0" rIns="0" tIns="0" bIns="0" anchor="ctr">
            <a:spAutoFit/>
          </a:bodyPr>
          <a:lstStyle/>
          <a:p>
            <a:pPr algn="ctr"/>
            <a:r>
              <a:rPr sz="600" b="0">
                <a:solidFill>
                  <a:srgbClr val="6C7A89"/>
                </a:solidFill>
                <a:latin typeface="Calibri"/>
              </a:rPr>
              <a:t>2026</a:t>
            </a:r>
          </a:p>
        </p:txBody>
      </p:sp>
      <p:cxnSp>
        <p:nvCxnSpPr>
          <p:cNvPr id="31" name="Connector 30"/>
          <p:cNvCxnSpPr/>
          <p:nvPr/>
        </p:nvCxnSpPr>
        <p:spPr>
          <a:xfrm>
            <a:off x="3314700" y="1868424"/>
            <a:ext cx="3257550" cy="0"/>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162300" y="1801749"/>
            <a:ext cx="114300" cy="123825"/>
          </a:xfrm>
          <a:prstGeom prst="rect">
            <a:avLst/>
          </a:prstGeom>
          <a:noFill/>
        </p:spPr>
        <p:txBody>
          <a:bodyPr wrap="none" lIns="0" rIns="0" tIns="0" bIns="0" anchor="ctr">
            <a:spAutoFit/>
          </a:bodyPr>
          <a:lstStyle/>
          <a:p>
            <a:pPr algn="ctr"/>
            <a:r>
              <a:rPr sz="800" b="1">
                <a:solidFill>
                  <a:srgbClr val="2E2E2E"/>
                </a:solidFill>
                <a:latin typeface="Calibri"/>
              </a:rPr>
              <a:t>A</a:t>
            </a:r>
          </a:p>
        </p:txBody>
      </p:sp>
      <p:cxnSp>
        <p:nvCxnSpPr>
          <p:cNvPr id="33" name="Connector 32"/>
          <p:cNvCxnSpPr/>
          <p:nvPr/>
        </p:nvCxnSpPr>
        <p:spPr>
          <a:xfrm>
            <a:off x="331470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086100" y="1706499"/>
            <a:ext cx="457200" cy="95250"/>
          </a:xfrm>
          <a:prstGeom prst="rect">
            <a:avLst/>
          </a:prstGeom>
          <a:noFill/>
        </p:spPr>
        <p:txBody>
          <a:bodyPr wrap="none" lIns="0" rIns="0" tIns="0" bIns="0" anchor="ctr">
            <a:spAutoFit/>
          </a:bodyPr>
          <a:lstStyle/>
          <a:p>
            <a:pPr algn="ctr"/>
            <a:r>
              <a:rPr sz="650" b="0">
                <a:solidFill>
                  <a:srgbClr val="6C7A89"/>
                </a:solidFill>
                <a:latin typeface="Calibri"/>
              </a:rPr>
              <a:t>9</a:t>
            </a:r>
          </a:p>
        </p:txBody>
      </p:sp>
      <p:cxnSp>
        <p:nvCxnSpPr>
          <p:cNvPr id="35" name="Connector 34"/>
          <p:cNvCxnSpPr/>
          <p:nvPr/>
        </p:nvCxnSpPr>
        <p:spPr>
          <a:xfrm>
            <a:off x="396621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737610" y="1706499"/>
            <a:ext cx="457200" cy="95250"/>
          </a:xfrm>
          <a:prstGeom prst="rect">
            <a:avLst/>
          </a:prstGeom>
          <a:noFill/>
        </p:spPr>
        <p:txBody>
          <a:bodyPr wrap="none" lIns="0" rIns="0" tIns="0" bIns="0" anchor="ctr">
            <a:spAutoFit/>
          </a:bodyPr>
          <a:lstStyle/>
          <a:p>
            <a:pPr algn="ctr"/>
            <a:r>
              <a:rPr sz="650" b="0">
                <a:solidFill>
                  <a:srgbClr val="6C7A89"/>
                </a:solidFill>
                <a:latin typeface="Calibri"/>
              </a:rPr>
              <a:t>159</a:t>
            </a:r>
          </a:p>
        </p:txBody>
      </p:sp>
      <p:cxnSp>
        <p:nvCxnSpPr>
          <p:cNvPr id="37" name="Connector 36"/>
          <p:cNvCxnSpPr/>
          <p:nvPr/>
        </p:nvCxnSpPr>
        <p:spPr>
          <a:xfrm>
            <a:off x="461772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389120" y="1706499"/>
            <a:ext cx="457200" cy="95250"/>
          </a:xfrm>
          <a:prstGeom prst="rect">
            <a:avLst/>
          </a:prstGeom>
          <a:noFill/>
        </p:spPr>
        <p:txBody>
          <a:bodyPr wrap="none" lIns="0" rIns="0" tIns="0" bIns="0" anchor="ctr">
            <a:spAutoFit/>
          </a:bodyPr>
          <a:lstStyle/>
          <a:p>
            <a:pPr algn="ctr"/>
            <a:r>
              <a:rPr sz="650" b="0">
                <a:solidFill>
                  <a:srgbClr val="6C7A89"/>
                </a:solidFill>
                <a:latin typeface="Calibri"/>
              </a:rPr>
              <a:t>309</a:t>
            </a:r>
          </a:p>
        </p:txBody>
      </p:sp>
      <p:cxnSp>
        <p:nvCxnSpPr>
          <p:cNvPr id="39" name="Connector 38"/>
          <p:cNvCxnSpPr/>
          <p:nvPr/>
        </p:nvCxnSpPr>
        <p:spPr>
          <a:xfrm>
            <a:off x="526923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40630" y="1706499"/>
            <a:ext cx="457200" cy="95250"/>
          </a:xfrm>
          <a:prstGeom prst="rect">
            <a:avLst/>
          </a:prstGeom>
          <a:noFill/>
        </p:spPr>
        <p:txBody>
          <a:bodyPr wrap="none" lIns="0" rIns="0" tIns="0" bIns="0" anchor="ctr">
            <a:spAutoFit/>
          </a:bodyPr>
          <a:lstStyle/>
          <a:p>
            <a:pPr algn="ctr"/>
            <a:r>
              <a:rPr sz="650" b="0">
                <a:solidFill>
                  <a:srgbClr val="6C7A89"/>
                </a:solidFill>
                <a:latin typeface="Calibri"/>
              </a:rPr>
              <a:t>458</a:t>
            </a:r>
          </a:p>
        </p:txBody>
      </p:sp>
      <p:cxnSp>
        <p:nvCxnSpPr>
          <p:cNvPr id="41" name="Connector 40"/>
          <p:cNvCxnSpPr/>
          <p:nvPr/>
        </p:nvCxnSpPr>
        <p:spPr>
          <a:xfrm>
            <a:off x="592074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692140" y="1706499"/>
            <a:ext cx="457200" cy="95250"/>
          </a:xfrm>
          <a:prstGeom prst="rect">
            <a:avLst/>
          </a:prstGeom>
          <a:noFill/>
        </p:spPr>
        <p:txBody>
          <a:bodyPr wrap="none" lIns="0" rIns="0" tIns="0" bIns="0" anchor="ctr">
            <a:spAutoFit/>
          </a:bodyPr>
          <a:lstStyle/>
          <a:p>
            <a:pPr algn="ctr"/>
            <a:r>
              <a:rPr sz="650" b="0">
                <a:solidFill>
                  <a:srgbClr val="6C7A89"/>
                </a:solidFill>
                <a:latin typeface="Calibri"/>
              </a:rPr>
              <a:t>608</a:t>
            </a:r>
          </a:p>
        </p:txBody>
      </p:sp>
      <p:cxnSp>
        <p:nvCxnSpPr>
          <p:cNvPr id="43" name="Connector 42"/>
          <p:cNvCxnSpPr/>
          <p:nvPr/>
        </p:nvCxnSpPr>
        <p:spPr>
          <a:xfrm>
            <a:off x="657225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343650" y="1706499"/>
            <a:ext cx="457200" cy="95250"/>
          </a:xfrm>
          <a:prstGeom prst="rect">
            <a:avLst/>
          </a:prstGeom>
          <a:noFill/>
        </p:spPr>
        <p:txBody>
          <a:bodyPr wrap="none" lIns="0" rIns="0" tIns="0" bIns="0" anchor="ctr">
            <a:spAutoFit/>
          </a:bodyPr>
          <a:lstStyle/>
          <a:p>
            <a:pPr algn="ctr"/>
            <a:r>
              <a:rPr sz="650" b="0">
                <a:solidFill>
                  <a:srgbClr val="6C7A89"/>
                </a:solidFill>
                <a:latin typeface="Calibri"/>
              </a:rPr>
              <a:t>758</a:t>
            </a:r>
          </a:p>
        </p:txBody>
      </p:sp>
      <p:sp>
        <p:nvSpPr>
          <p:cNvPr id="45" name="Rectangle 44"/>
          <p:cNvSpPr/>
          <p:nvPr/>
        </p:nvSpPr>
        <p:spPr>
          <a:xfrm>
            <a:off x="3670995" y="1792224"/>
            <a:ext cx="119442" cy="1524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733287" y="1811274"/>
            <a:ext cx="114300" cy="114300"/>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613845" y="1811274"/>
            <a:ext cx="114300" cy="114300"/>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673927" y="1811274"/>
            <a:ext cx="114300" cy="114300"/>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15125" y="1390650"/>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Rheumatology</a:t>
            </a:r>
          </a:p>
        </p:txBody>
      </p:sp>
      <p:sp>
        <p:nvSpPr>
          <p:cNvPr id="50" name="TextBox 49"/>
          <p:cNvSpPr txBox="1"/>
          <p:nvPr/>
        </p:nvSpPr>
        <p:spPr>
          <a:xfrm>
            <a:off x="8155305" y="1390650"/>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101.68   78.05   89.94</a:t>
            </a:r>
          </a:p>
        </p:txBody>
      </p:sp>
      <p:sp>
        <p:nvSpPr>
          <p:cNvPr id="51" name="TextBox 50"/>
          <p:cNvSpPr txBox="1"/>
          <p:nvPr/>
        </p:nvSpPr>
        <p:spPr>
          <a:xfrm>
            <a:off x="6715125" y="1933575"/>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Dermatology</a:t>
            </a:r>
          </a:p>
        </p:txBody>
      </p:sp>
      <p:sp>
        <p:nvSpPr>
          <p:cNvPr id="52" name="TextBox 51"/>
          <p:cNvSpPr txBox="1"/>
          <p:nvPr/>
        </p:nvSpPr>
        <p:spPr>
          <a:xfrm>
            <a:off x="8155305" y="1933575"/>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107.60   82.59   95.17</a:t>
            </a:r>
          </a:p>
        </p:txBody>
      </p:sp>
      <p:sp>
        <p:nvSpPr>
          <p:cNvPr id="53" name="TextBox 52"/>
          <p:cNvSpPr txBox="1"/>
          <p:nvPr/>
        </p:nvSpPr>
        <p:spPr>
          <a:xfrm>
            <a:off x="9382125" y="1390650"/>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Gastroenterology</a:t>
            </a:r>
          </a:p>
        </p:txBody>
      </p:sp>
      <p:sp>
        <p:nvSpPr>
          <p:cNvPr id="54" name="TextBox 53"/>
          <p:cNvSpPr txBox="1"/>
          <p:nvPr/>
        </p:nvSpPr>
        <p:spPr>
          <a:xfrm>
            <a:off x="10822305" y="1390650"/>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113.51   87.12   100.40</a:t>
            </a:r>
          </a:p>
        </p:txBody>
      </p:sp>
      <p:sp>
        <p:nvSpPr>
          <p:cNvPr id="55" name="TextBox 54"/>
          <p:cNvSpPr txBox="1"/>
          <p:nvPr/>
        </p:nvSpPr>
        <p:spPr>
          <a:xfrm>
            <a:off x="9382125" y="1933575"/>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Ophthalmology</a:t>
            </a:r>
          </a:p>
        </p:txBody>
      </p:sp>
      <p:sp>
        <p:nvSpPr>
          <p:cNvPr id="56" name="TextBox 55"/>
          <p:cNvSpPr txBox="1"/>
          <p:nvPr/>
        </p:nvSpPr>
        <p:spPr>
          <a:xfrm>
            <a:off x="10822305" y="1933575"/>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119.42   91.66   105.62</a:t>
            </a:r>
          </a:p>
        </p:txBody>
      </p:sp>
      <p:sp>
        <p:nvSpPr>
          <p:cNvPr id="57" name="Rectangle 56"/>
          <p:cNvSpPr/>
          <p:nvPr/>
        </p:nvSpPr>
        <p:spPr>
          <a:xfrm>
            <a:off x="142875" y="2533650"/>
            <a:ext cx="11906250" cy="1257300"/>
          </a:xfrm>
          <a:prstGeom prst="rect">
            <a:avLst/>
          </a:prstGeom>
          <a:solidFill>
            <a:srgbClr val="FFFFFF"/>
          </a:solidFill>
          <a:ln w="9525">
            <a:solidFill>
              <a:srgbClr val="EDF1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00025" y="2552700"/>
            <a:ext cx="2762250" cy="133350"/>
          </a:xfrm>
          <a:prstGeom prst="rect">
            <a:avLst/>
          </a:prstGeom>
          <a:noFill/>
        </p:spPr>
        <p:txBody>
          <a:bodyPr wrap="square" lIns="28575" rIns="28575" tIns="9525" bIns="9525" anchor="ctr">
            <a:spAutoFit/>
          </a:bodyPr>
          <a:lstStyle/>
          <a:p>
            <a:pPr algn="l"/>
            <a:r>
              <a:rPr sz="950" b="1">
                <a:solidFill>
                  <a:srgbClr val="0B2E4A"/>
                </a:solidFill>
                <a:latin typeface="Calibri"/>
              </a:rPr>
              <a:t>Middle East &amp; Africa Pricing Pattern</a:t>
            </a:r>
          </a:p>
        </p:txBody>
      </p:sp>
      <p:cxnSp>
        <p:nvCxnSpPr>
          <p:cNvPr id="59" name="Connector 58"/>
          <p:cNvCxnSpPr/>
          <p:nvPr/>
        </p:nvCxnSpPr>
        <p:spPr>
          <a:xfrm>
            <a:off x="466725" y="2789840"/>
            <a:ext cx="2314575" cy="0"/>
          </a:xfrm>
          <a:prstGeom prst="line">
            <a:avLst/>
          </a:prstGeom>
          <a:ln w="10160">
            <a:solidFill>
              <a:srgbClr val="C9D2DA"/>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33350" y="2667000"/>
            <a:ext cx="304800" cy="114300"/>
          </a:xfrm>
          <a:prstGeom prst="rect">
            <a:avLst/>
          </a:prstGeom>
          <a:noFill/>
        </p:spPr>
        <p:txBody>
          <a:bodyPr wrap="none" lIns="0" rIns="0" tIns="0" bIns="0" anchor="ctr">
            <a:spAutoFit/>
          </a:bodyPr>
          <a:lstStyle/>
          <a:p>
            <a:pPr algn="r"/>
            <a:r>
              <a:rPr sz="600" b="0">
                <a:solidFill>
                  <a:srgbClr val="6C7A89"/>
                </a:solidFill>
                <a:latin typeface="Calibri"/>
              </a:rPr>
              <a:t>+2%</a:t>
            </a:r>
          </a:p>
        </p:txBody>
      </p:sp>
      <p:sp>
        <p:nvSpPr>
          <p:cNvPr id="61" name="TextBox 60"/>
          <p:cNvSpPr txBox="1"/>
          <p:nvPr/>
        </p:nvSpPr>
        <p:spPr>
          <a:xfrm>
            <a:off x="133350" y="3619500"/>
            <a:ext cx="304800" cy="114300"/>
          </a:xfrm>
          <a:prstGeom prst="rect">
            <a:avLst/>
          </a:prstGeom>
          <a:noFill/>
        </p:spPr>
        <p:txBody>
          <a:bodyPr wrap="none" lIns="0" rIns="0" tIns="0" bIns="0" anchor="ctr">
            <a:spAutoFit/>
          </a:bodyPr>
          <a:lstStyle/>
          <a:p>
            <a:pPr algn="r"/>
            <a:r>
              <a:rPr sz="600" b="0">
                <a:solidFill>
                  <a:srgbClr val="6C7A89"/>
                </a:solidFill>
                <a:latin typeface="Calibri"/>
              </a:rPr>
              <a:t>-21%</a:t>
            </a:r>
          </a:p>
        </p:txBody>
      </p:sp>
      <p:sp>
        <p:nvSpPr>
          <p:cNvPr id="62" name="Freeform 61"/>
          <p:cNvSpPr/>
          <p:nvPr/>
        </p:nvSpPr>
        <p:spPr>
          <a:xfrm>
            <a:off x="466725" y="2790825"/>
            <a:ext cx="2314575" cy="495300"/>
          </a:xfrm>
          <a:custGeom>
            <a:avLst/>
            <a:gdLst/>
            <a:ahLst/>
            <a:cxnLst/>
            <a:rect l="l" t="t" r="r" b="b"/>
            <a:pathLst>
              <a:path w="243" h="52">
                <a:moveTo>
                  <a:pt x="0" y="0"/>
                </a:moveTo>
                <a:lnTo>
                  <a:pt x="49" y="11"/>
                </a:lnTo>
                <a:lnTo>
                  <a:pt x="97" y="21"/>
                </a:lnTo>
                <a:lnTo>
                  <a:pt x="146" y="32"/>
                </a:lnTo>
                <a:lnTo>
                  <a:pt x="194" y="42"/>
                </a:lnTo>
                <a:lnTo>
                  <a:pt x="243" y="52"/>
                </a:lnTo>
              </a:path>
            </a:pathLst>
          </a:custGeom>
          <a:noFill/>
          <a:ln w="2032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466725" y="2790825"/>
            <a:ext cx="2314575" cy="762000"/>
          </a:xfrm>
          <a:custGeom>
            <a:avLst/>
            <a:gdLst/>
            <a:ahLst/>
            <a:cxnLst/>
            <a:rect l="l" t="t" r="r" b="b"/>
            <a:pathLst>
              <a:path w="243" h="80">
                <a:moveTo>
                  <a:pt x="0" y="0"/>
                </a:moveTo>
                <a:lnTo>
                  <a:pt x="49" y="17"/>
                </a:lnTo>
                <a:lnTo>
                  <a:pt x="97" y="34"/>
                </a:lnTo>
                <a:lnTo>
                  <a:pt x="146" y="50"/>
                </a:lnTo>
                <a:lnTo>
                  <a:pt x="194" y="66"/>
                </a:lnTo>
                <a:lnTo>
                  <a:pt x="243" y="80"/>
                </a:lnTo>
              </a:path>
            </a:pathLst>
          </a:custGeom>
          <a:noFill/>
          <a:ln w="2032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466725" y="2790825"/>
            <a:ext cx="2314575" cy="819150"/>
          </a:xfrm>
          <a:custGeom>
            <a:avLst/>
            <a:gdLst/>
            <a:ahLst/>
            <a:cxnLst/>
            <a:rect l="l" t="t" r="r" b="b"/>
            <a:pathLst>
              <a:path w="243" h="86">
                <a:moveTo>
                  <a:pt x="0" y="0"/>
                </a:moveTo>
                <a:lnTo>
                  <a:pt x="49" y="19"/>
                </a:lnTo>
                <a:lnTo>
                  <a:pt x="97" y="37"/>
                </a:lnTo>
                <a:lnTo>
                  <a:pt x="146" y="54"/>
                </a:lnTo>
                <a:lnTo>
                  <a:pt x="194" y="70"/>
                </a:lnTo>
                <a:lnTo>
                  <a:pt x="243" y="86"/>
                </a:lnTo>
              </a:path>
            </a:pathLst>
          </a:custGeom>
          <a:no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14325" y="3695700"/>
            <a:ext cx="419100" cy="95250"/>
          </a:xfrm>
          <a:prstGeom prst="rect">
            <a:avLst/>
          </a:prstGeom>
          <a:noFill/>
        </p:spPr>
        <p:txBody>
          <a:bodyPr wrap="none" lIns="0" rIns="0" tIns="0" bIns="0" anchor="ctr">
            <a:spAutoFit/>
          </a:bodyPr>
          <a:lstStyle/>
          <a:p>
            <a:pPr algn="ctr"/>
            <a:r>
              <a:rPr sz="600" b="0">
                <a:solidFill>
                  <a:srgbClr val="6C7A89"/>
                </a:solidFill>
                <a:latin typeface="Calibri"/>
              </a:rPr>
              <a:t>2021</a:t>
            </a:r>
          </a:p>
        </p:txBody>
      </p:sp>
      <p:sp>
        <p:nvSpPr>
          <p:cNvPr id="66" name="TextBox 65"/>
          <p:cNvSpPr txBox="1"/>
          <p:nvPr/>
        </p:nvSpPr>
        <p:spPr>
          <a:xfrm>
            <a:off x="2514600" y="3695700"/>
            <a:ext cx="419100" cy="95250"/>
          </a:xfrm>
          <a:prstGeom prst="rect">
            <a:avLst/>
          </a:prstGeom>
          <a:noFill/>
        </p:spPr>
        <p:txBody>
          <a:bodyPr wrap="none" lIns="0" rIns="0" tIns="0" bIns="0" anchor="ctr">
            <a:spAutoFit/>
          </a:bodyPr>
          <a:lstStyle/>
          <a:p>
            <a:pPr algn="ctr"/>
            <a:r>
              <a:rPr sz="600" b="0">
                <a:solidFill>
                  <a:srgbClr val="6C7A89"/>
                </a:solidFill>
                <a:latin typeface="Calibri"/>
              </a:rPr>
              <a:t>2026</a:t>
            </a:r>
          </a:p>
        </p:txBody>
      </p:sp>
      <p:cxnSp>
        <p:nvCxnSpPr>
          <p:cNvPr id="67" name="Connector 66"/>
          <p:cNvCxnSpPr/>
          <p:nvPr/>
        </p:nvCxnSpPr>
        <p:spPr>
          <a:xfrm>
            <a:off x="3314700" y="3182874"/>
            <a:ext cx="3257550" cy="0"/>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3162300" y="3116199"/>
            <a:ext cx="114300" cy="123825"/>
          </a:xfrm>
          <a:prstGeom prst="rect">
            <a:avLst/>
          </a:prstGeom>
          <a:noFill/>
        </p:spPr>
        <p:txBody>
          <a:bodyPr wrap="none" lIns="0" rIns="0" tIns="0" bIns="0" anchor="ctr">
            <a:spAutoFit/>
          </a:bodyPr>
          <a:lstStyle/>
          <a:p>
            <a:pPr algn="ctr"/>
            <a:r>
              <a:rPr sz="800" b="1">
                <a:solidFill>
                  <a:srgbClr val="2E2E2E"/>
                </a:solidFill>
                <a:latin typeface="Calibri"/>
              </a:rPr>
              <a:t>A</a:t>
            </a:r>
          </a:p>
        </p:txBody>
      </p:sp>
      <p:cxnSp>
        <p:nvCxnSpPr>
          <p:cNvPr id="69" name="Connector 68"/>
          <p:cNvCxnSpPr/>
          <p:nvPr/>
        </p:nvCxnSpPr>
        <p:spPr>
          <a:xfrm>
            <a:off x="331470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3086100" y="3020949"/>
            <a:ext cx="457200" cy="95250"/>
          </a:xfrm>
          <a:prstGeom prst="rect">
            <a:avLst/>
          </a:prstGeom>
          <a:noFill/>
        </p:spPr>
        <p:txBody>
          <a:bodyPr wrap="none" lIns="0" rIns="0" tIns="0" bIns="0" anchor="ctr">
            <a:spAutoFit/>
          </a:bodyPr>
          <a:lstStyle/>
          <a:p>
            <a:pPr algn="ctr"/>
            <a:r>
              <a:rPr sz="650" b="0">
                <a:solidFill>
                  <a:srgbClr val="6C7A89"/>
                </a:solidFill>
                <a:latin typeface="Calibri"/>
              </a:rPr>
              <a:t>9</a:t>
            </a:r>
          </a:p>
        </p:txBody>
      </p:sp>
      <p:cxnSp>
        <p:nvCxnSpPr>
          <p:cNvPr id="71" name="Connector 70"/>
          <p:cNvCxnSpPr/>
          <p:nvPr/>
        </p:nvCxnSpPr>
        <p:spPr>
          <a:xfrm>
            <a:off x="396621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3737610" y="3020949"/>
            <a:ext cx="457200" cy="95250"/>
          </a:xfrm>
          <a:prstGeom prst="rect">
            <a:avLst/>
          </a:prstGeom>
          <a:noFill/>
        </p:spPr>
        <p:txBody>
          <a:bodyPr wrap="none" lIns="0" rIns="0" tIns="0" bIns="0" anchor="ctr">
            <a:spAutoFit/>
          </a:bodyPr>
          <a:lstStyle/>
          <a:p>
            <a:pPr algn="ctr"/>
            <a:r>
              <a:rPr sz="650" b="0">
                <a:solidFill>
                  <a:srgbClr val="6C7A89"/>
                </a:solidFill>
                <a:latin typeface="Calibri"/>
              </a:rPr>
              <a:t>159</a:t>
            </a:r>
          </a:p>
        </p:txBody>
      </p:sp>
      <p:cxnSp>
        <p:nvCxnSpPr>
          <p:cNvPr id="73" name="Connector 72"/>
          <p:cNvCxnSpPr/>
          <p:nvPr/>
        </p:nvCxnSpPr>
        <p:spPr>
          <a:xfrm>
            <a:off x="461772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4389120" y="3020949"/>
            <a:ext cx="457200" cy="95250"/>
          </a:xfrm>
          <a:prstGeom prst="rect">
            <a:avLst/>
          </a:prstGeom>
          <a:noFill/>
        </p:spPr>
        <p:txBody>
          <a:bodyPr wrap="none" lIns="0" rIns="0" tIns="0" bIns="0" anchor="ctr">
            <a:spAutoFit/>
          </a:bodyPr>
          <a:lstStyle/>
          <a:p>
            <a:pPr algn="ctr"/>
            <a:r>
              <a:rPr sz="650" b="0">
                <a:solidFill>
                  <a:srgbClr val="6C7A89"/>
                </a:solidFill>
                <a:latin typeface="Calibri"/>
              </a:rPr>
              <a:t>309</a:t>
            </a:r>
          </a:p>
        </p:txBody>
      </p:sp>
      <p:cxnSp>
        <p:nvCxnSpPr>
          <p:cNvPr id="75" name="Connector 74"/>
          <p:cNvCxnSpPr/>
          <p:nvPr/>
        </p:nvCxnSpPr>
        <p:spPr>
          <a:xfrm>
            <a:off x="526923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5040630" y="3020949"/>
            <a:ext cx="457200" cy="95250"/>
          </a:xfrm>
          <a:prstGeom prst="rect">
            <a:avLst/>
          </a:prstGeom>
          <a:noFill/>
        </p:spPr>
        <p:txBody>
          <a:bodyPr wrap="none" lIns="0" rIns="0" tIns="0" bIns="0" anchor="ctr">
            <a:spAutoFit/>
          </a:bodyPr>
          <a:lstStyle/>
          <a:p>
            <a:pPr algn="ctr"/>
            <a:r>
              <a:rPr sz="650" b="0">
                <a:solidFill>
                  <a:srgbClr val="6C7A89"/>
                </a:solidFill>
                <a:latin typeface="Calibri"/>
              </a:rPr>
              <a:t>458</a:t>
            </a:r>
          </a:p>
        </p:txBody>
      </p:sp>
      <p:cxnSp>
        <p:nvCxnSpPr>
          <p:cNvPr id="77" name="Connector 76"/>
          <p:cNvCxnSpPr/>
          <p:nvPr/>
        </p:nvCxnSpPr>
        <p:spPr>
          <a:xfrm>
            <a:off x="592074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692140" y="3020949"/>
            <a:ext cx="457200" cy="95250"/>
          </a:xfrm>
          <a:prstGeom prst="rect">
            <a:avLst/>
          </a:prstGeom>
          <a:noFill/>
        </p:spPr>
        <p:txBody>
          <a:bodyPr wrap="none" lIns="0" rIns="0" tIns="0" bIns="0" anchor="ctr">
            <a:spAutoFit/>
          </a:bodyPr>
          <a:lstStyle/>
          <a:p>
            <a:pPr algn="ctr"/>
            <a:r>
              <a:rPr sz="650" b="0">
                <a:solidFill>
                  <a:srgbClr val="6C7A89"/>
                </a:solidFill>
                <a:latin typeface="Calibri"/>
              </a:rPr>
              <a:t>608</a:t>
            </a:r>
          </a:p>
        </p:txBody>
      </p:sp>
      <p:cxnSp>
        <p:nvCxnSpPr>
          <p:cNvPr id="79" name="Connector 78"/>
          <p:cNvCxnSpPr/>
          <p:nvPr/>
        </p:nvCxnSpPr>
        <p:spPr>
          <a:xfrm>
            <a:off x="657225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6343650" y="3020949"/>
            <a:ext cx="457200" cy="95250"/>
          </a:xfrm>
          <a:prstGeom prst="rect">
            <a:avLst/>
          </a:prstGeom>
          <a:noFill/>
        </p:spPr>
        <p:txBody>
          <a:bodyPr wrap="none" lIns="0" rIns="0" tIns="0" bIns="0" anchor="ctr">
            <a:spAutoFit/>
          </a:bodyPr>
          <a:lstStyle/>
          <a:p>
            <a:pPr algn="ctr"/>
            <a:r>
              <a:rPr sz="650" b="0">
                <a:solidFill>
                  <a:srgbClr val="6C7A89"/>
                </a:solidFill>
                <a:latin typeface="Calibri"/>
              </a:rPr>
              <a:t>758</a:t>
            </a:r>
          </a:p>
        </p:txBody>
      </p:sp>
      <p:sp>
        <p:nvSpPr>
          <p:cNvPr id="81" name="Rectangle 80"/>
          <p:cNvSpPr/>
          <p:nvPr/>
        </p:nvSpPr>
        <p:spPr>
          <a:xfrm>
            <a:off x="4057810" y="3106674"/>
            <a:ext cx="1141353" cy="1524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5142013" y="3125724"/>
            <a:ext cx="114300" cy="114300"/>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4408354" y="3125724"/>
            <a:ext cx="114300" cy="114300"/>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4000660" y="3125724"/>
            <a:ext cx="114300" cy="114300"/>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715125" y="2705100"/>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Rheumatology</a:t>
            </a:r>
          </a:p>
        </p:txBody>
      </p:sp>
      <p:sp>
        <p:nvSpPr>
          <p:cNvPr id="86" name="TextBox 85"/>
          <p:cNvSpPr txBox="1"/>
          <p:nvPr/>
        </p:nvSpPr>
        <p:spPr>
          <a:xfrm>
            <a:off x="8155305" y="2705100"/>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380.44   235.26   154.59</a:t>
            </a:r>
          </a:p>
        </p:txBody>
      </p:sp>
      <p:sp>
        <p:nvSpPr>
          <p:cNvPr id="87" name="TextBox 86"/>
          <p:cNvSpPr txBox="1"/>
          <p:nvPr/>
        </p:nvSpPr>
        <p:spPr>
          <a:xfrm>
            <a:off x="6715125" y="3248025"/>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Dermatology</a:t>
            </a:r>
          </a:p>
        </p:txBody>
      </p:sp>
      <p:sp>
        <p:nvSpPr>
          <p:cNvPr id="88" name="TextBox 87"/>
          <p:cNvSpPr txBox="1"/>
          <p:nvPr/>
        </p:nvSpPr>
        <p:spPr>
          <a:xfrm>
            <a:off x="8155305" y="3248025"/>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402.55   248.94   163.58</a:t>
            </a:r>
          </a:p>
        </p:txBody>
      </p:sp>
      <p:sp>
        <p:nvSpPr>
          <p:cNvPr id="89" name="TextBox 88"/>
          <p:cNvSpPr txBox="1"/>
          <p:nvPr/>
        </p:nvSpPr>
        <p:spPr>
          <a:xfrm>
            <a:off x="9382125" y="2705100"/>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Gastroenterology</a:t>
            </a:r>
          </a:p>
        </p:txBody>
      </p:sp>
      <p:sp>
        <p:nvSpPr>
          <p:cNvPr id="90" name="TextBox 89"/>
          <p:cNvSpPr txBox="1"/>
          <p:nvPr/>
        </p:nvSpPr>
        <p:spPr>
          <a:xfrm>
            <a:off x="10822305" y="2705100"/>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424.67   262.62   172.57</a:t>
            </a:r>
          </a:p>
        </p:txBody>
      </p:sp>
      <p:sp>
        <p:nvSpPr>
          <p:cNvPr id="91" name="TextBox 90"/>
          <p:cNvSpPr txBox="1"/>
          <p:nvPr/>
        </p:nvSpPr>
        <p:spPr>
          <a:xfrm>
            <a:off x="9382125" y="3248025"/>
            <a:ext cx="1440180" cy="542925"/>
          </a:xfrm>
          <a:prstGeom prst="rect">
            <a:avLst/>
          </a:prstGeom>
          <a:noFill/>
        </p:spPr>
        <p:txBody>
          <a:bodyPr wrap="square" lIns="28575" rIns="28575" tIns="9525" bIns="9525" anchor="ctr">
            <a:spAutoFit/>
          </a:bodyPr>
          <a:lstStyle/>
          <a:p>
            <a:pPr algn="l"/>
            <a:r>
              <a:rPr sz="700" b="1">
                <a:solidFill>
                  <a:srgbClr val="0B2E4A"/>
                </a:solidFill>
                <a:latin typeface="Calibri"/>
              </a:rPr>
              <a:t>Ophthalmology</a:t>
            </a:r>
          </a:p>
        </p:txBody>
      </p:sp>
      <p:sp>
        <p:nvSpPr>
          <p:cNvPr id="92" name="TextBox 91"/>
          <p:cNvSpPr txBox="1"/>
          <p:nvPr/>
        </p:nvSpPr>
        <p:spPr>
          <a:xfrm>
            <a:off x="10822305" y="3248025"/>
            <a:ext cx="1226820" cy="542925"/>
          </a:xfrm>
          <a:prstGeom prst="rect">
            <a:avLst/>
          </a:prstGeom>
          <a:noFill/>
        </p:spPr>
        <p:txBody>
          <a:bodyPr wrap="square" lIns="28575" rIns="28575" tIns="9525" bIns="9525" anchor="ctr">
            <a:spAutoFit/>
          </a:bodyPr>
          <a:lstStyle/>
          <a:p>
            <a:pPr algn="l"/>
            <a:r>
              <a:rPr sz="700" b="0">
                <a:solidFill>
                  <a:srgbClr val="2E2E2E"/>
                </a:solidFill>
                <a:latin typeface="Calibri"/>
              </a:rPr>
              <a:t>446.79   276.30   181.55</a:t>
            </a:r>
          </a:p>
        </p:txBody>
      </p:sp>
      <p:sp>
        <p:nvSpPr>
          <p:cNvPr id="93" name="TextBox 92"/>
          <p:cNvSpPr txBox="1"/>
          <p:nvPr/>
        </p:nvSpPr>
        <p:spPr>
          <a:xfrm>
            <a:off x="3314700" y="6610350"/>
            <a:ext cx="1428750" cy="114300"/>
          </a:xfrm>
          <a:prstGeom prst="rect">
            <a:avLst/>
          </a:prstGeom>
          <a:noFill/>
        </p:spPr>
        <p:txBody>
          <a:bodyPr wrap="square" lIns="28575" rIns="28575" tIns="9525" bIns="9525" anchor="ctr">
            <a:spAutoFit/>
          </a:bodyPr>
          <a:lstStyle/>
          <a:p>
            <a:pPr algn="l"/>
            <a:r>
              <a:rPr sz="800" b="1" u="sng">
                <a:solidFill>
                  <a:srgbClr val="0B2E4A"/>
                </a:solidFill>
                <a:latin typeface="Calibri"/>
              </a:rPr>
              <a:t>Price By Product</a:t>
            </a:r>
          </a:p>
        </p:txBody>
      </p:sp>
      <p:sp>
        <p:nvSpPr>
          <p:cNvPr id="94" name="TextBox 93"/>
          <p:cNvSpPr txBox="1"/>
          <p:nvPr/>
        </p:nvSpPr>
        <p:spPr>
          <a:xfrm>
            <a:off x="6715125" y="6610350"/>
            <a:ext cx="1619250" cy="114300"/>
          </a:xfrm>
          <a:prstGeom prst="rect">
            <a:avLst/>
          </a:prstGeom>
          <a:noFill/>
        </p:spPr>
        <p:txBody>
          <a:bodyPr wrap="square" lIns="28575" rIns="28575" tIns="9525" bIns="9525" anchor="ctr">
            <a:spAutoFit/>
          </a:bodyPr>
          <a:lstStyle/>
          <a:p>
            <a:pPr algn="l"/>
            <a:r>
              <a:rPr sz="800" b="1" u="sng">
                <a:solidFill>
                  <a:srgbClr val="0B2E4A"/>
                </a:solidFill>
                <a:latin typeface="Calibri"/>
              </a:rPr>
              <a:t>Price By Application</a:t>
            </a:r>
          </a:p>
        </p:txBody>
      </p:sp>
      <p:sp>
        <p:nvSpPr>
          <p:cNvPr id="95" name="Rectangle 9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97" name="Rounded Rectangle 9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98" name="Rounded Rectangle 9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99" name="Rounded Rectangle 9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Price Positioning &amp; Key Findings</a:t>
            </a:r>
          </a:p>
        </p:txBody>
      </p:sp>
      <p:sp>
        <p:nvSpPr>
          <p:cNvPr id="10" name="Rounded Rectangle 9"/>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Average selling price and price range by region on a shared price scale (US$/unit).</a:t>
            </a:r>
          </a:p>
        </p:txBody>
      </p:sp>
      <p:sp>
        <p:nvSpPr>
          <p:cNvPr id="11" name="Rounded Rectangle 10"/>
          <p:cNvSpPr/>
          <p:nvPr/>
        </p:nvSpPr>
        <p:spPr>
          <a:xfrm>
            <a:off x="142875" y="1181100"/>
            <a:ext cx="7696200" cy="5467350"/>
          </a:xfrm>
          <a:prstGeom prst="roundRect">
            <a:avLst>
              <a:gd name="adj" fmla="val 13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238250"/>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3" name="Connector 12"/>
          <p:cNvCxnSpPr/>
          <p:nvPr/>
        </p:nvCxnSpPr>
        <p:spPr>
          <a:xfrm>
            <a:off x="1362075" y="1752600"/>
            <a:ext cx="0" cy="4610100"/>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4425" y="6381750"/>
            <a:ext cx="495300" cy="114300"/>
          </a:xfrm>
          <a:prstGeom prst="rect">
            <a:avLst/>
          </a:prstGeom>
          <a:noFill/>
        </p:spPr>
        <p:txBody>
          <a:bodyPr wrap="none" lIns="0" rIns="0" tIns="0" bIns="0">
            <a:spAutoFit/>
          </a:bodyPr>
          <a:lstStyle/>
          <a:p>
            <a:pPr algn="ctr"/>
            <a:r>
              <a:rPr sz="700" b="0">
                <a:solidFill>
                  <a:srgbClr val="6C7A89"/>
                </a:solidFill>
                <a:latin typeface="Calibri"/>
              </a:rPr>
              <a:t>0</a:t>
            </a:r>
          </a:p>
        </p:txBody>
      </p:sp>
      <p:cxnSp>
        <p:nvCxnSpPr>
          <p:cNvPr id="15" name="Connector 14"/>
          <p:cNvCxnSpPr/>
          <p:nvPr/>
        </p:nvCxnSpPr>
        <p:spPr>
          <a:xfrm>
            <a:off x="2611755" y="1752600"/>
            <a:ext cx="0" cy="4610100"/>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364105" y="6381750"/>
            <a:ext cx="495300" cy="114300"/>
          </a:xfrm>
          <a:prstGeom prst="rect">
            <a:avLst/>
          </a:prstGeom>
          <a:noFill/>
        </p:spPr>
        <p:txBody>
          <a:bodyPr wrap="none" lIns="0" rIns="0" tIns="0" bIns="0">
            <a:spAutoFit/>
          </a:bodyPr>
          <a:lstStyle/>
          <a:p>
            <a:pPr algn="ctr"/>
            <a:r>
              <a:rPr sz="700" b="0">
                <a:solidFill>
                  <a:srgbClr val="6C7A89"/>
                </a:solidFill>
                <a:latin typeface="Calibri"/>
              </a:rPr>
              <a:t>225</a:t>
            </a:r>
          </a:p>
        </p:txBody>
      </p:sp>
      <p:cxnSp>
        <p:nvCxnSpPr>
          <p:cNvPr id="17" name="Connector 16"/>
          <p:cNvCxnSpPr/>
          <p:nvPr/>
        </p:nvCxnSpPr>
        <p:spPr>
          <a:xfrm>
            <a:off x="3861435" y="1752600"/>
            <a:ext cx="0" cy="4610100"/>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13785" y="6381750"/>
            <a:ext cx="495300" cy="114300"/>
          </a:xfrm>
          <a:prstGeom prst="rect">
            <a:avLst/>
          </a:prstGeom>
          <a:noFill/>
        </p:spPr>
        <p:txBody>
          <a:bodyPr wrap="none" lIns="0" rIns="0" tIns="0" bIns="0">
            <a:spAutoFit/>
          </a:bodyPr>
          <a:lstStyle/>
          <a:p>
            <a:pPr algn="ctr"/>
            <a:r>
              <a:rPr sz="700" b="0">
                <a:solidFill>
                  <a:srgbClr val="6C7A89"/>
                </a:solidFill>
                <a:latin typeface="Calibri"/>
              </a:rPr>
              <a:t>449</a:t>
            </a:r>
          </a:p>
        </p:txBody>
      </p:sp>
      <p:cxnSp>
        <p:nvCxnSpPr>
          <p:cNvPr id="19" name="Connector 18"/>
          <p:cNvCxnSpPr/>
          <p:nvPr/>
        </p:nvCxnSpPr>
        <p:spPr>
          <a:xfrm>
            <a:off x="5111115" y="1752600"/>
            <a:ext cx="0" cy="4610100"/>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63465" y="6381750"/>
            <a:ext cx="495300" cy="114300"/>
          </a:xfrm>
          <a:prstGeom prst="rect">
            <a:avLst/>
          </a:prstGeom>
          <a:noFill/>
        </p:spPr>
        <p:txBody>
          <a:bodyPr wrap="none" lIns="0" rIns="0" tIns="0" bIns="0">
            <a:spAutoFit/>
          </a:bodyPr>
          <a:lstStyle/>
          <a:p>
            <a:pPr algn="ctr"/>
            <a:r>
              <a:rPr sz="700" b="0">
                <a:solidFill>
                  <a:srgbClr val="6C7A89"/>
                </a:solidFill>
                <a:latin typeface="Calibri"/>
              </a:rPr>
              <a:t>674</a:t>
            </a:r>
          </a:p>
        </p:txBody>
      </p:sp>
      <p:cxnSp>
        <p:nvCxnSpPr>
          <p:cNvPr id="21" name="Connector 20"/>
          <p:cNvCxnSpPr/>
          <p:nvPr/>
        </p:nvCxnSpPr>
        <p:spPr>
          <a:xfrm>
            <a:off x="6360795" y="1752600"/>
            <a:ext cx="0" cy="4610100"/>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13145" y="6381750"/>
            <a:ext cx="495300" cy="114300"/>
          </a:xfrm>
          <a:prstGeom prst="rect">
            <a:avLst/>
          </a:prstGeom>
          <a:noFill/>
        </p:spPr>
        <p:txBody>
          <a:bodyPr wrap="none" lIns="0" rIns="0" tIns="0" bIns="0">
            <a:spAutoFit/>
          </a:bodyPr>
          <a:lstStyle/>
          <a:p>
            <a:pPr algn="ctr"/>
            <a:r>
              <a:rPr sz="700" b="0">
                <a:solidFill>
                  <a:srgbClr val="6C7A89"/>
                </a:solidFill>
                <a:latin typeface="Calibri"/>
              </a:rPr>
              <a:t>898</a:t>
            </a:r>
          </a:p>
        </p:txBody>
      </p:sp>
      <p:cxnSp>
        <p:nvCxnSpPr>
          <p:cNvPr id="23" name="Connector 22"/>
          <p:cNvCxnSpPr/>
          <p:nvPr/>
        </p:nvCxnSpPr>
        <p:spPr>
          <a:xfrm>
            <a:off x="7610475" y="1752600"/>
            <a:ext cx="0" cy="4610100"/>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62825" y="6381750"/>
            <a:ext cx="495300" cy="114300"/>
          </a:xfrm>
          <a:prstGeom prst="rect">
            <a:avLst/>
          </a:prstGeom>
          <a:noFill/>
        </p:spPr>
        <p:txBody>
          <a:bodyPr wrap="square" lIns="28575" rIns="28575" tIns="9525" bIns="9525">
            <a:spAutoFit/>
          </a:bodyPr>
          <a:lstStyle/>
          <a:p>
            <a:pPr algn="ctr"/>
            <a:r>
              <a:rPr sz="700" b="0">
                <a:solidFill>
                  <a:srgbClr val="6C7A89"/>
                </a:solidFill>
                <a:latin typeface="Calibri"/>
              </a:rPr>
              <a:t>1,123</a:t>
            </a:r>
          </a:p>
        </p:txBody>
      </p:sp>
      <p:sp>
        <p:nvSpPr>
          <p:cNvPr id="25" name="TextBox 24"/>
          <p:cNvSpPr txBox="1"/>
          <p:nvPr/>
        </p:nvSpPr>
        <p:spPr>
          <a:xfrm>
            <a:off x="238125" y="2085975"/>
            <a:ext cx="1066800" cy="171450"/>
          </a:xfrm>
          <a:prstGeom prst="rect">
            <a:avLst/>
          </a:prstGeom>
          <a:noFill/>
        </p:spPr>
        <p:txBody>
          <a:bodyPr wrap="square" lIns="28575" rIns="28575" tIns="9525" bIns="9525" anchor="ctr">
            <a:spAutoFit/>
          </a:bodyPr>
          <a:lstStyle/>
          <a:p>
            <a:pPr algn="l"/>
            <a:r>
              <a:rPr sz="850" b="1">
                <a:solidFill>
                  <a:srgbClr val="0B2E4A"/>
                </a:solidFill>
                <a:latin typeface="Calibri"/>
              </a:rPr>
              <a:t>North America</a:t>
            </a:r>
          </a:p>
        </p:txBody>
      </p:sp>
      <p:sp>
        <p:nvSpPr>
          <p:cNvPr id="26" name="Rectangle 25"/>
          <p:cNvSpPr/>
          <p:nvPr/>
        </p:nvSpPr>
        <p:spPr>
          <a:xfrm>
            <a:off x="2747217" y="1973580"/>
            <a:ext cx="4157928" cy="39624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153910" y="210978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2847975"/>
            <a:ext cx="1066800" cy="171450"/>
          </a:xfrm>
          <a:prstGeom prst="rect">
            <a:avLst/>
          </a:prstGeom>
          <a:noFill/>
        </p:spPr>
        <p:txBody>
          <a:bodyPr wrap="square" lIns="28575" rIns="28575" tIns="9525" bIns="9525" anchor="ctr">
            <a:spAutoFit/>
          </a:bodyPr>
          <a:lstStyle/>
          <a:p>
            <a:pPr algn="l"/>
            <a:r>
              <a:rPr sz="850" b="1">
                <a:solidFill>
                  <a:srgbClr val="0B2E4A"/>
                </a:solidFill>
                <a:latin typeface="Calibri"/>
              </a:rPr>
              <a:t>Latin America</a:t>
            </a:r>
          </a:p>
        </p:txBody>
      </p:sp>
      <p:sp>
        <p:nvSpPr>
          <p:cNvPr id="29" name="Rectangle 28"/>
          <p:cNvSpPr/>
          <p:nvPr/>
        </p:nvSpPr>
        <p:spPr>
          <a:xfrm>
            <a:off x="1938159" y="2735580"/>
            <a:ext cx="1635385" cy="39624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455740" y="287178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09975"/>
            <a:ext cx="1066800" cy="171450"/>
          </a:xfrm>
          <a:prstGeom prst="rect">
            <a:avLst/>
          </a:prstGeom>
          <a:noFill/>
        </p:spPr>
        <p:txBody>
          <a:bodyPr wrap="square" lIns="28575" rIns="28575" tIns="9525" bIns="9525" anchor="ctr">
            <a:spAutoFit/>
          </a:bodyPr>
          <a:lstStyle/>
          <a:p>
            <a:pPr algn="l"/>
            <a:r>
              <a:rPr sz="850" b="1">
                <a:solidFill>
                  <a:srgbClr val="0B2E4A"/>
                </a:solidFill>
                <a:latin typeface="Calibri"/>
              </a:rPr>
              <a:t>Europe</a:t>
            </a:r>
          </a:p>
        </p:txBody>
      </p:sp>
      <p:sp>
        <p:nvSpPr>
          <p:cNvPr id="32" name="Rectangle 31"/>
          <p:cNvSpPr/>
          <p:nvPr/>
        </p:nvSpPr>
        <p:spPr>
          <a:xfrm>
            <a:off x="2173159" y="3497580"/>
            <a:ext cx="1939194" cy="39624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810379" y="363378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371975"/>
            <a:ext cx="1066800" cy="171450"/>
          </a:xfrm>
          <a:prstGeom prst="rect">
            <a:avLst/>
          </a:prstGeom>
          <a:noFill/>
        </p:spPr>
        <p:txBody>
          <a:bodyPr wrap="square" lIns="28575" rIns="28575" tIns="9525" bIns="9525" anchor="ctr">
            <a:spAutoFit/>
          </a:bodyPr>
          <a:lstStyle/>
          <a:p>
            <a:pPr algn="l"/>
            <a:r>
              <a:rPr sz="850" b="1">
                <a:solidFill>
                  <a:srgbClr val="0B2E4A"/>
                </a:solidFill>
                <a:latin typeface="Calibri"/>
              </a:rPr>
              <a:t>East Asia</a:t>
            </a:r>
          </a:p>
        </p:txBody>
      </p:sp>
      <p:sp>
        <p:nvSpPr>
          <p:cNvPr id="35" name="Rectangle 34"/>
          <p:cNvSpPr/>
          <p:nvPr/>
        </p:nvSpPr>
        <p:spPr>
          <a:xfrm>
            <a:off x="2195410" y="4259580"/>
            <a:ext cx="1568686" cy="39624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634732" y="439578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8125" y="5133975"/>
            <a:ext cx="1066800" cy="171450"/>
          </a:xfrm>
          <a:prstGeom prst="rect">
            <a:avLst/>
          </a:prstGeom>
          <a:noFill/>
        </p:spPr>
        <p:txBody>
          <a:bodyPr wrap="square" lIns="28575" rIns="28575" tIns="9525" bIns="9525" anchor="ctr">
            <a:spAutoFit/>
          </a:bodyPr>
          <a:lstStyle/>
          <a:p>
            <a:pPr algn="l"/>
            <a:r>
              <a:rPr sz="850" b="1">
                <a:solidFill>
                  <a:srgbClr val="0B2E4A"/>
                </a:solidFill>
                <a:latin typeface="Calibri"/>
              </a:rPr>
              <a:t>South Asia &amp; Pacific</a:t>
            </a:r>
          </a:p>
        </p:txBody>
      </p:sp>
      <p:sp>
        <p:nvSpPr>
          <p:cNvPr id="38" name="Rectangle 37"/>
          <p:cNvSpPr/>
          <p:nvPr/>
        </p:nvSpPr>
        <p:spPr>
          <a:xfrm>
            <a:off x="1867071" y="5021580"/>
            <a:ext cx="1072684" cy="39624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138008" y="515778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5895975"/>
            <a:ext cx="1066800" cy="171450"/>
          </a:xfrm>
          <a:prstGeom prst="rect">
            <a:avLst/>
          </a:prstGeom>
          <a:noFill/>
        </p:spPr>
        <p:txBody>
          <a:bodyPr wrap="square" lIns="28575" rIns="28575" tIns="9525" bIns="9525" anchor="ctr">
            <a:spAutoFit/>
          </a:bodyPr>
          <a:lstStyle/>
          <a:p>
            <a:pPr algn="l"/>
            <a:r>
              <a:rPr sz="850" b="1">
                <a:solidFill>
                  <a:srgbClr val="0B2E4A"/>
                </a:solidFill>
                <a:latin typeface="Calibri"/>
              </a:rPr>
              <a:t>Middle East &amp; Africa</a:t>
            </a:r>
          </a:p>
        </p:txBody>
      </p:sp>
      <p:sp>
        <p:nvSpPr>
          <p:cNvPr id="41" name="Rectangle 40"/>
          <p:cNvSpPr/>
          <p:nvPr/>
        </p:nvSpPr>
        <p:spPr>
          <a:xfrm>
            <a:off x="2081081" y="5783580"/>
            <a:ext cx="1742519" cy="39624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621402" y="591978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62075" y="1590675"/>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95425" y="1581150"/>
            <a:ext cx="838200" cy="133350"/>
          </a:xfrm>
          <a:prstGeom prst="rect">
            <a:avLst/>
          </a:prstGeom>
          <a:noFill/>
        </p:spPr>
        <p:txBody>
          <a:bodyPr wrap="square" lIns="28575" rIns="28575" tIns="9525" bIns="9525">
            <a:spAutoFit/>
          </a:bodyPr>
          <a:lstStyle/>
          <a:p>
            <a:pPr algn="l"/>
            <a:r>
              <a:rPr sz="800" b="0">
                <a:solidFill>
                  <a:srgbClr val="2E2E2E"/>
                </a:solidFill>
                <a:latin typeface="Calibri"/>
              </a:rPr>
              <a:t>Average Price</a:t>
            </a:r>
          </a:p>
        </p:txBody>
      </p:sp>
      <p:sp>
        <p:nvSpPr>
          <p:cNvPr id="45" name="Rectangle 44"/>
          <p:cNvSpPr/>
          <p:nvPr/>
        </p:nvSpPr>
        <p:spPr>
          <a:xfrm>
            <a:off x="2390775" y="1600200"/>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19375" y="1581150"/>
            <a:ext cx="800100" cy="133350"/>
          </a:xfrm>
          <a:prstGeom prst="rect">
            <a:avLst/>
          </a:prstGeom>
          <a:noFill/>
        </p:spPr>
        <p:txBody>
          <a:bodyPr wrap="square" lIns="28575" rIns="28575" tIns="9525" bIns="9525">
            <a:spAutoFit/>
          </a:bodyPr>
          <a:lstStyle/>
          <a:p>
            <a:pPr algn="l"/>
            <a:r>
              <a:rPr sz="800" b="0">
                <a:solidFill>
                  <a:srgbClr val="2E2E2E"/>
                </a:solidFill>
                <a:latin typeface="Calibri"/>
              </a:rPr>
              <a:t>Price Range</a:t>
            </a:r>
          </a:p>
        </p:txBody>
      </p:sp>
      <p:sp>
        <p:nvSpPr>
          <p:cNvPr id="47" name="Rounded Rectangle 46"/>
          <p:cNvSpPr/>
          <p:nvPr/>
        </p:nvSpPr>
        <p:spPr>
          <a:xfrm>
            <a:off x="7915275" y="1181100"/>
            <a:ext cx="4133850" cy="4095750"/>
          </a:xfrm>
          <a:prstGeom prst="roundRect">
            <a:avLst>
              <a:gd name="adj" fmla="val 18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8625" y="1266825"/>
            <a:ext cx="386715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49" name="Rectangle 48"/>
          <p:cNvSpPr/>
          <p:nvPr/>
        </p:nvSpPr>
        <p:spPr>
          <a:xfrm>
            <a:off x="8048625" y="150495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48625" y="1590675"/>
            <a:ext cx="3867150" cy="36099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Average prices sit within a tight band across regions, ranging from ~150.57 US$/unit in 'South Asia &amp; Pacific' to ~512.85 US$/unit in 'North America' at 2026.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'North America' commands the premium a signal of stronger demand and limited price-competitive supply while 'South Asia &amp; Pacific' remains the most accessible, value-led geography.</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orange dot is each region's average selling price; the blue band is its full low-to-high price range, all derived as Value ÷ Volume.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Narrow bands point to commoditised, price-led competition; wider bands flag premiumisation headroom to trade buyers up the mix.</a:t>
            </a:r>
          </a:p>
        </p:txBody>
      </p:sp>
      <p:sp>
        <p:nvSpPr>
          <p:cNvPr id="51" name="Rounded Rectangle 50"/>
          <p:cNvSpPr/>
          <p:nvPr/>
        </p:nvSpPr>
        <p:spPr>
          <a:xfrm>
            <a:off x="7915275" y="5391150"/>
            <a:ext cx="4133850" cy="1257300"/>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Note: the above information is indicative in nature and does not constitute any form of analysis.</a:t>
            </a:r>
          </a:p>
        </p:txBody>
      </p:sp>
      <p:sp>
        <p:nvSpPr>
          <p:cNvPr id="52" name="Rectangle 5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54" name="Rounded Rectangle 53">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5" name="Rounded Rectangle 54">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6" name="Rounded Rectangle 55">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Key Pricing Drivers Influencing Humira Biosimilars Market</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Analysis of input costs, market conditions, and competitive forces shaping pricing strategies and profitability across the value chain</a:t>
            </a:r>
          </a:p>
        </p:txBody>
      </p:sp>
      <p:sp>
        <p:nvSpPr>
          <p:cNvPr id="12" name="Rounded Rectangle 11"/>
          <p:cNvSpPr/>
          <p:nvPr/>
        </p:nvSpPr>
        <p:spPr>
          <a:xfrm>
            <a:off x="142875" y="1219200"/>
            <a:ext cx="7696200" cy="5448300"/>
          </a:xfrm>
          <a:prstGeom prst="roundRect">
            <a:avLst>
              <a:gd name="adj" fmla="val 13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276350"/>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4" name="Freeform 13"/>
          <p:cNvSpPr/>
          <p:nvPr/>
        </p:nvSpPr>
        <p:spPr>
          <a:xfrm>
            <a:off x="3609975" y="3657600"/>
            <a:ext cx="762000" cy="800100"/>
          </a:xfrm>
          <a:custGeom>
            <a:avLst/>
            <a:gdLst/>
            <a:ahLst/>
            <a:cxnLst/>
            <a:rect l="l" t="t" r="r" b="b"/>
            <a:pathLst>
              <a:path w="80" h="84">
                <a:moveTo>
                  <a:pt x="40" y="0"/>
                </a:moveTo>
                <a:lnTo>
                  <a:pt x="65" y="8"/>
                </a:lnTo>
                <a:lnTo>
                  <a:pt x="80" y="29"/>
                </a:lnTo>
                <a:lnTo>
                  <a:pt x="80" y="55"/>
                </a:lnTo>
                <a:lnTo>
                  <a:pt x="65" y="76"/>
                </a:lnTo>
                <a:lnTo>
                  <a:pt x="40" y="84"/>
                </a:lnTo>
                <a:lnTo>
                  <a:pt x="15" y="76"/>
                </a:lnTo>
                <a:lnTo>
                  <a:pt x="0" y="55"/>
                </a:lnTo>
                <a:lnTo>
                  <a:pt x="0" y="29"/>
                </a:lnTo>
                <a:lnTo>
                  <a:pt x="15" y="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3228975" y="3257550"/>
            <a:ext cx="1524000" cy="1600200"/>
          </a:xfrm>
          <a:custGeom>
            <a:avLst/>
            <a:gdLst/>
            <a:ahLst/>
            <a:cxnLst/>
            <a:rect l="l" t="t" r="r" b="b"/>
            <a:pathLst>
              <a:path w="160" h="168">
                <a:moveTo>
                  <a:pt x="80" y="0"/>
                </a:moveTo>
                <a:lnTo>
                  <a:pt x="129" y="16"/>
                </a:lnTo>
                <a:lnTo>
                  <a:pt x="160" y="58"/>
                </a:lnTo>
                <a:lnTo>
                  <a:pt x="160" y="110"/>
                </a:lnTo>
                <a:lnTo>
                  <a:pt x="129" y="152"/>
                </a:lnTo>
                <a:lnTo>
                  <a:pt x="80" y="168"/>
                </a:lnTo>
                <a:lnTo>
                  <a:pt x="31" y="152"/>
                </a:lnTo>
                <a:lnTo>
                  <a:pt x="0" y="110"/>
                </a:lnTo>
                <a:lnTo>
                  <a:pt x="0" y="58"/>
                </a:lnTo>
                <a:lnTo>
                  <a:pt x="31" y="16"/>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847975" y="2857500"/>
            <a:ext cx="2286000" cy="2400300"/>
          </a:xfrm>
          <a:custGeom>
            <a:avLst/>
            <a:gdLst/>
            <a:ahLst/>
            <a:cxnLst/>
            <a:rect l="l" t="t" r="r" b="b"/>
            <a:pathLst>
              <a:path w="240" h="252">
                <a:moveTo>
                  <a:pt x="120" y="0"/>
                </a:moveTo>
                <a:lnTo>
                  <a:pt x="194" y="24"/>
                </a:lnTo>
                <a:lnTo>
                  <a:pt x="240" y="87"/>
                </a:lnTo>
                <a:lnTo>
                  <a:pt x="240" y="165"/>
                </a:lnTo>
                <a:lnTo>
                  <a:pt x="194" y="228"/>
                </a:lnTo>
                <a:lnTo>
                  <a:pt x="120" y="252"/>
                </a:lnTo>
                <a:lnTo>
                  <a:pt x="46" y="228"/>
                </a:lnTo>
                <a:lnTo>
                  <a:pt x="0" y="165"/>
                </a:lnTo>
                <a:lnTo>
                  <a:pt x="0" y="87"/>
                </a:lnTo>
                <a:lnTo>
                  <a:pt x="46" y="24"/>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466975" y="2457450"/>
            <a:ext cx="3048000" cy="3200400"/>
          </a:xfrm>
          <a:custGeom>
            <a:avLst/>
            <a:gdLst/>
            <a:ahLst/>
            <a:cxnLst/>
            <a:rect l="l" t="t" r="r" b="b"/>
            <a:pathLst>
              <a:path w="320" h="336">
                <a:moveTo>
                  <a:pt x="160" y="0"/>
                </a:moveTo>
                <a:lnTo>
                  <a:pt x="259" y="32"/>
                </a:lnTo>
                <a:lnTo>
                  <a:pt x="320" y="116"/>
                </a:lnTo>
                <a:lnTo>
                  <a:pt x="320" y="220"/>
                </a:lnTo>
                <a:lnTo>
                  <a:pt x="259" y="304"/>
                </a:lnTo>
                <a:lnTo>
                  <a:pt x="160" y="336"/>
                </a:lnTo>
                <a:lnTo>
                  <a:pt x="61" y="304"/>
                </a:lnTo>
                <a:lnTo>
                  <a:pt x="0" y="220"/>
                </a:lnTo>
                <a:lnTo>
                  <a:pt x="0" y="116"/>
                </a:lnTo>
                <a:lnTo>
                  <a:pt x="61" y="32"/>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85975" y="2057400"/>
            <a:ext cx="3810000" cy="4000500"/>
          </a:xfrm>
          <a:custGeom>
            <a:avLst/>
            <a:gdLst/>
            <a:ahLst/>
            <a:cxnLst/>
            <a:rect l="l" t="t" r="r" b="b"/>
            <a:pathLst>
              <a:path w="400" h="420">
                <a:moveTo>
                  <a:pt x="200" y="0"/>
                </a:moveTo>
                <a:lnTo>
                  <a:pt x="323" y="40"/>
                </a:lnTo>
                <a:lnTo>
                  <a:pt x="400" y="145"/>
                </a:lnTo>
                <a:lnTo>
                  <a:pt x="400" y="275"/>
                </a:lnTo>
                <a:lnTo>
                  <a:pt x="323" y="380"/>
                </a:lnTo>
                <a:lnTo>
                  <a:pt x="200" y="420"/>
                </a:lnTo>
                <a:lnTo>
                  <a:pt x="77" y="380"/>
                </a:lnTo>
                <a:lnTo>
                  <a:pt x="0" y="275"/>
                </a:lnTo>
                <a:lnTo>
                  <a:pt x="0" y="145"/>
                </a:lnTo>
                <a:lnTo>
                  <a:pt x="77" y="4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V="1">
            <a:off x="3990975" y="2057400"/>
            <a:ext cx="0" cy="200025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990975" y="2439414"/>
            <a:ext cx="1175717" cy="1618236"/>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990975" y="3439539"/>
            <a:ext cx="1902351" cy="618111"/>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90975" y="4057650"/>
            <a:ext cx="1902351" cy="618111"/>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990975" y="4057650"/>
            <a:ext cx="1175717" cy="1618236"/>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990975" y="4057650"/>
            <a:ext cx="0" cy="200025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815258" y="4057650"/>
            <a:ext cx="1175717" cy="1618236"/>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2088624" y="4057650"/>
            <a:ext cx="1902351" cy="618111"/>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088624" y="3439539"/>
            <a:ext cx="1902351" cy="618111"/>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815258" y="2439414"/>
            <a:ext cx="1175717" cy="1618236"/>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9" name="Freeform 28"/>
          <p:cNvSpPr/>
          <p:nvPr/>
        </p:nvSpPr>
        <p:spPr>
          <a:xfrm>
            <a:off x="2752725" y="2257425"/>
            <a:ext cx="2667000" cy="3400425"/>
          </a:xfrm>
          <a:custGeom>
            <a:avLst/>
            <a:gdLst/>
            <a:ahLst/>
            <a:cxnLst/>
            <a:rect l="l" t="t" r="r" b="b"/>
            <a:pathLst>
              <a:path w="280" h="357">
                <a:moveTo>
                  <a:pt x="130" y="0"/>
                </a:moveTo>
                <a:lnTo>
                  <a:pt x="216" y="70"/>
                </a:lnTo>
                <a:lnTo>
                  <a:pt x="260" y="147"/>
                </a:lnTo>
                <a:lnTo>
                  <a:pt x="280" y="238"/>
                </a:lnTo>
                <a:lnTo>
                  <a:pt x="235" y="333"/>
                </a:lnTo>
                <a:lnTo>
                  <a:pt x="130" y="357"/>
                </a:lnTo>
                <a:lnTo>
                  <a:pt x="56" y="291"/>
                </a:lnTo>
                <a:lnTo>
                  <a:pt x="20" y="225"/>
                </a:lnTo>
                <a:lnTo>
                  <a:pt x="0" y="147"/>
                </a:lnTo>
                <a:lnTo>
                  <a:pt x="74" y="113"/>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957638" y="222408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780640" y="2891547"/>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194166" y="362254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384401" y="448789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956997" y="539981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957638" y="562451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252207" y="499525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911345" y="436427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721109" y="362254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428565" y="329610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19550" y="3590925"/>
            <a:ext cx="285750" cy="123825"/>
          </a:xfrm>
          <a:prstGeom prst="rect">
            <a:avLst/>
          </a:prstGeom>
          <a:noFill/>
        </p:spPr>
        <p:txBody>
          <a:bodyPr wrap="none" lIns="0" rIns="0" tIns="0" bIns="0" anchor="ctr">
            <a:spAutoFit/>
          </a:bodyPr>
          <a:lstStyle/>
          <a:p>
            <a:pPr algn="l"/>
            <a:r>
              <a:rPr sz="700" b="0">
                <a:solidFill>
                  <a:srgbClr val="6C7A89"/>
                </a:solidFill>
                <a:latin typeface="Calibri"/>
              </a:rPr>
              <a:t>2</a:t>
            </a:r>
          </a:p>
        </p:txBody>
      </p:sp>
      <p:sp>
        <p:nvSpPr>
          <p:cNvPr id="41" name="TextBox 40"/>
          <p:cNvSpPr txBox="1"/>
          <p:nvPr/>
        </p:nvSpPr>
        <p:spPr>
          <a:xfrm>
            <a:off x="4019550" y="3190875"/>
            <a:ext cx="285750" cy="123825"/>
          </a:xfrm>
          <a:prstGeom prst="rect">
            <a:avLst/>
          </a:prstGeom>
          <a:noFill/>
        </p:spPr>
        <p:txBody>
          <a:bodyPr wrap="none" lIns="0" rIns="0" tIns="0" bIns="0" anchor="ctr">
            <a:spAutoFit/>
          </a:bodyPr>
          <a:lstStyle/>
          <a:p>
            <a:pPr algn="l"/>
            <a:r>
              <a:rPr sz="700" b="0">
                <a:solidFill>
                  <a:srgbClr val="6C7A89"/>
                </a:solidFill>
                <a:latin typeface="Calibri"/>
              </a:rPr>
              <a:t>4</a:t>
            </a:r>
          </a:p>
        </p:txBody>
      </p:sp>
      <p:sp>
        <p:nvSpPr>
          <p:cNvPr id="42" name="TextBox 41"/>
          <p:cNvSpPr txBox="1"/>
          <p:nvPr/>
        </p:nvSpPr>
        <p:spPr>
          <a:xfrm>
            <a:off x="4019550" y="2790825"/>
            <a:ext cx="285750" cy="123825"/>
          </a:xfrm>
          <a:prstGeom prst="rect">
            <a:avLst/>
          </a:prstGeom>
          <a:noFill/>
        </p:spPr>
        <p:txBody>
          <a:bodyPr wrap="none" lIns="0" rIns="0" tIns="0" bIns="0" anchor="ctr">
            <a:spAutoFit/>
          </a:bodyPr>
          <a:lstStyle/>
          <a:p>
            <a:pPr algn="l"/>
            <a:r>
              <a:rPr sz="700" b="0">
                <a:solidFill>
                  <a:srgbClr val="6C7A89"/>
                </a:solidFill>
                <a:latin typeface="Calibri"/>
              </a:rPr>
              <a:t>6</a:t>
            </a:r>
          </a:p>
        </p:txBody>
      </p:sp>
      <p:sp>
        <p:nvSpPr>
          <p:cNvPr id="43" name="TextBox 42"/>
          <p:cNvSpPr txBox="1"/>
          <p:nvPr/>
        </p:nvSpPr>
        <p:spPr>
          <a:xfrm>
            <a:off x="4019550" y="2390775"/>
            <a:ext cx="285750" cy="123825"/>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44" name="TextBox 43"/>
          <p:cNvSpPr txBox="1"/>
          <p:nvPr/>
        </p:nvSpPr>
        <p:spPr>
          <a:xfrm>
            <a:off x="4019550" y="1990725"/>
            <a:ext cx="285750" cy="123825"/>
          </a:xfrm>
          <a:prstGeom prst="rect">
            <a:avLst/>
          </a:prstGeom>
          <a:noFill/>
        </p:spPr>
        <p:txBody>
          <a:bodyPr wrap="none" lIns="0" rIns="0" tIns="0" bIns="0" anchor="ctr">
            <a:spAutoFit/>
          </a:bodyPr>
          <a:lstStyle/>
          <a:p>
            <a:pPr algn="l"/>
            <a:r>
              <a:rPr sz="700" b="0">
                <a:solidFill>
                  <a:srgbClr val="6C7A89"/>
                </a:solidFill>
                <a:latin typeface="Calibri"/>
              </a:rPr>
              <a:t>10</a:t>
            </a:r>
          </a:p>
        </p:txBody>
      </p:sp>
      <p:sp>
        <p:nvSpPr>
          <p:cNvPr id="45" name="TextBox 44"/>
          <p:cNvSpPr txBox="1"/>
          <p:nvPr/>
        </p:nvSpPr>
        <p:spPr>
          <a:xfrm>
            <a:off x="3333750" y="1704975"/>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Input Cost  13.0%</a:t>
            </a:r>
          </a:p>
        </p:txBody>
      </p:sp>
      <p:sp>
        <p:nvSpPr>
          <p:cNvPr id="46" name="TextBox 45"/>
          <p:cNvSpPr txBox="1"/>
          <p:nvPr/>
        </p:nvSpPr>
        <p:spPr>
          <a:xfrm>
            <a:off x="4632638" y="2127009"/>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Labor &amp; Production Costs  10.1%</a:t>
            </a:r>
          </a:p>
        </p:txBody>
      </p:sp>
      <p:sp>
        <p:nvSpPr>
          <p:cNvPr id="47" name="TextBox 46"/>
          <p:cNvSpPr txBox="1"/>
          <p:nvPr/>
        </p:nvSpPr>
        <p:spPr>
          <a:xfrm>
            <a:off x="5435395" y="3231909"/>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Technology &amp; Innovation  9.4%</a:t>
            </a:r>
          </a:p>
        </p:txBody>
      </p:sp>
      <p:sp>
        <p:nvSpPr>
          <p:cNvPr id="48" name="TextBox 47"/>
          <p:cNvSpPr txBox="1"/>
          <p:nvPr/>
        </p:nvSpPr>
        <p:spPr>
          <a:xfrm>
            <a:off x="5435395" y="4597641"/>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Supply Chain &amp; Logistics  10.9%</a:t>
            </a:r>
          </a:p>
        </p:txBody>
      </p:sp>
      <p:sp>
        <p:nvSpPr>
          <p:cNvPr id="49" name="TextBox 48"/>
          <p:cNvSpPr txBox="1"/>
          <p:nvPr/>
        </p:nvSpPr>
        <p:spPr>
          <a:xfrm>
            <a:off x="4632638" y="5702541"/>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Demand &amp; Market Conditions  12.3%</a:t>
            </a:r>
          </a:p>
        </p:txBody>
      </p:sp>
      <p:sp>
        <p:nvSpPr>
          <p:cNvPr id="50" name="TextBox 49"/>
          <p:cNvSpPr txBox="1"/>
          <p:nvPr/>
        </p:nvSpPr>
        <p:spPr>
          <a:xfrm>
            <a:off x="3333750" y="6124575"/>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Competitive Landscape  11.6%</a:t>
            </a:r>
          </a:p>
        </p:txBody>
      </p:sp>
      <p:sp>
        <p:nvSpPr>
          <p:cNvPr id="51" name="TextBox 50"/>
          <p:cNvSpPr txBox="1"/>
          <p:nvPr/>
        </p:nvSpPr>
        <p:spPr>
          <a:xfrm>
            <a:off x="2034862" y="5702541"/>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Regulatory &amp; Compliance Costs  8.7%</a:t>
            </a:r>
          </a:p>
        </p:txBody>
      </p:sp>
      <p:sp>
        <p:nvSpPr>
          <p:cNvPr id="52" name="TextBox 51"/>
          <p:cNvSpPr txBox="1"/>
          <p:nvPr/>
        </p:nvSpPr>
        <p:spPr>
          <a:xfrm>
            <a:off x="1232105" y="4597641"/>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Currency &amp; Trade Dynamics  8.0%</a:t>
            </a:r>
          </a:p>
        </p:txBody>
      </p:sp>
      <p:sp>
        <p:nvSpPr>
          <p:cNvPr id="53" name="TextBox 52"/>
          <p:cNvSpPr txBox="1"/>
          <p:nvPr/>
        </p:nvSpPr>
        <p:spPr>
          <a:xfrm>
            <a:off x="1232105" y="3231909"/>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Brand &amp; Value Perception  9.4%</a:t>
            </a:r>
          </a:p>
        </p:txBody>
      </p:sp>
      <p:sp>
        <p:nvSpPr>
          <p:cNvPr id="54" name="TextBox 53"/>
          <p:cNvSpPr txBox="1"/>
          <p:nvPr/>
        </p:nvSpPr>
        <p:spPr>
          <a:xfrm>
            <a:off x="2034862" y="2127009"/>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Aftermarket &amp; Service Costs  6.5%</a:t>
            </a:r>
          </a:p>
        </p:txBody>
      </p:sp>
      <p:sp>
        <p:nvSpPr>
          <p:cNvPr id="55" name="Rounded Rectangle 54"/>
          <p:cNvSpPr/>
          <p:nvPr/>
        </p:nvSpPr>
        <p:spPr>
          <a:xfrm>
            <a:off x="7915275" y="1219200"/>
            <a:ext cx="4133850" cy="3657600"/>
          </a:xfrm>
          <a:prstGeom prst="roundRect">
            <a:avLst>
              <a:gd name="adj" fmla="val 208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048625" y="1304925"/>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7" name="Rectangle 56"/>
          <p:cNvSpPr/>
          <p:nvPr/>
        </p:nvSpPr>
        <p:spPr>
          <a:xfrm>
            <a:off x="8048625" y="154305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048625" y="1628775"/>
            <a:ext cx="3867150" cy="3171825"/>
          </a:xfrm>
          <a:prstGeom prst="rect">
            <a:avLst/>
          </a:prstGeom>
          <a:noFill/>
        </p:spPr>
        <p:txBody>
          <a:bodyPr wrap="square" lIns="0" rIns="19050" tIns="9525" bIns="9525">
            <a:spAutoFit/>
          </a:bodyPr>
          <a:lstStyle/>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Pricing across the Humira Biosimilars Market is shaped by a mix of input costs, operational efficiency and market dynamics with raw-material and input costs carrying the single heaviest weight on selling prices today.</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Demand strength, competitive intensity and supply-chain reliability together define the ceiling on pricing power across the Humira Biosimilars Market.</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9" name="Rounded Rectangle 58"/>
          <p:cNvSpPr/>
          <p:nvPr/>
        </p:nvSpPr>
        <p:spPr>
          <a:xfrm>
            <a:off x="7915275" y="4991100"/>
            <a:ext cx="41338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048625" y="5076825"/>
            <a:ext cx="3867150" cy="209550"/>
          </a:xfrm>
          <a:prstGeom prst="rect">
            <a:avLst/>
          </a:prstGeom>
          <a:noFill/>
        </p:spPr>
        <p:txBody>
          <a:bodyPr wrap="square" lIns="0" rIns="19050" tIns="9525" bIns="9525">
            <a:spAutoFit/>
          </a:bodyPr>
          <a:lstStyle/>
          <a:p>
            <a:pPr algn="l"/>
            <a:r>
              <a:rPr sz="1300" b="1">
                <a:solidFill>
                  <a:srgbClr val="0B2E4A"/>
                </a:solidFill>
                <a:latin typeface="Calibri"/>
              </a:rPr>
              <a:t>Highest-Impact Drivers</a:t>
            </a:r>
          </a:p>
        </p:txBody>
      </p:sp>
      <p:sp>
        <p:nvSpPr>
          <p:cNvPr id="61" name="Rectangle 60"/>
          <p:cNvSpPr/>
          <p:nvPr/>
        </p:nvSpPr>
        <p:spPr>
          <a:xfrm>
            <a:off x="8048625" y="531495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048625" y="5400675"/>
            <a:ext cx="38671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900" b="0">
                <a:solidFill>
                  <a:srgbClr val="0E72AE"/>
                </a:solidFill>
                <a:latin typeface="Calibri"/>
              </a:rPr>
              <a:t>▪  </a:t>
            </a:r>
            <a:r>
              <a:rPr sz="1000" b="0">
                <a:solidFill>
                  <a:srgbClr val="2E2E2E"/>
                </a:solidFill>
                <a:latin typeface="Calibri"/>
              </a:rPr>
              <a:t>Input Cost 9.0 / 10  ·  dominant cost pressure</a:t>
            </a:r>
          </a:p>
          <a:p>
            <a:pPr algn="l">
              <a:lnSpc>
                <a:spcPct val="110000"/>
              </a:lnSpc>
              <a:spcBef>
                <a:spcPts val="0"/>
              </a:spcBef>
              <a:spcAft>
                <a:spcPts val="500"/>
              </a:spcAft>
            </a:pPr>
            <a:r>
              <a:rPr sz="900" b="0">
                <a:solidFill>
                  <a:srgbClr val="0E72AE"/>
                </a:solidFill>
                <a:latin typeface="Calibri"/>
              </a:rPr>
              <a:t>▪  </a:t>
            </a:r>
            <a:r>
              <a:rPr sz="1000" b="0">
                <a:solidFill>
                  <a:srgbClr val="2E2E2E"/>
                </a:solidFill>
                <a:latin typeface="Calibri"/>
              </a:rPr>
              <a:t>Demand &amp; Market Conditions 8.5 / 10  ·  major cost pressure</a:t>
            </a:r>
          </a:p>
          <a:p>
            <a:pPr algn="l">
              <a:lnSpc>
                <a:spcPct val="110000"/>
              </a:lnSpc>
              <a:spcBef>
                <a:spcPts val="0"/>
              </a:spcBef>
              <a:spcAft>
                <a:spcPts val="500"/>
              </a:spcAft>
            </a:pPr>
            <a:r>
              <a:rPr sz="900" b="0">
                <a:solidFill>
                  <a:srgbClr val="0E72AE"/>
                </a:solidFill>
                <a:latin typeface="Calibri"/>
              </a:rPr>
              <a:t>▪  </a:t>
            </a:r>
            <a:r>
              <a:rPr sz="1000" b="0">
                <a:solidFill>
                  <a:srgbClr val="2E2E2E"/>
                </a:solidFill>
                <a:latin typeface="Calibri"/>
              </a:rPr>
              <a:t>Competitive Landscape 8.0 / 10  ·  key pricing lever</a:t>
            </a:r>
          </a:p>
          <a:p>
            <a:pPr algn="l">
              <a:lnSpc>
                <a:spcPct val="110000"/>
              </a:lnSpc>
              <a:spcBef>
                <a:spcPts val="0"/>
              </a:spcBef>
              <a:spcAft>
                <a:spcPts val="500"/>
              </a:spcAft>
            </a:pPr>
            <a:r>
              <a:rPr sz="900" b="0">
                <a:solidFill>
                  <a:srgbClr val="0E72AE"/>
                </a:solidFill>
                <a:latin typeface="Calibri"/>
              </a:rPr>
              <a:t>▪  </a:t>
            </a:r>
            <a:r>
              <a:rPr sz="1000" b="0">
                <a:solidFill>
                  <a:srgbClr val="2E2E2E"/>
                </a:solidFill>
                <a:latin typeface="Calibri"/>
              </a:rPr>
              <a:t>Supply Chain &amp; Logistics 7.5 / 10  ·  key pricing lever</a:t>
            </a:r>
          </a:p>
          <a:p>
            <a:pPr algn="l">
              <a:lnSpc>
                <a:spcPct val="110000"/>
              </a:lnSpc>
              <a:spcBef>
                <a:spcPts val="0"/>
              </a:spcBef>
              <a:spcAft>
                <a:spcPts val="500"/>
              </a:spcAft>
            </a:pPr>
            <a:r>
              <a:rPr sz="900" b="0">
                <a:solidFill>
                  <a:srgbClr val="0E72AE"/>
                </a:solidFill>
                <a:latin typeface="Calibri"/>
              </a:rPr>
              <a:t>▪  </a:t>
            </a:r>
            <a:r>
              <a:rPr sz="1000" b="0">
                <a:solidFill>
                  <a:srgbClr val="2E2E2E"/>
                </a:solidFill>
                <a:latin typeface="Calibri"/>
              </a:rPr>
              <a:t>Labor &amp; Production Costs 7.0 / 10  ·  supporting factor</a:t>
            </a:r>
          </a:p>
        </p:txBody>
      </p:sp>
      <p:sp>
        <p:nvSpPr>
          <p:cNvPr id="63" name="Rectangle 6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5" name="Rounded Rectangle 64">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6" name="Rounded Rectangle 65">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7" name="Rounded Rectangle 66">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Factors Impacting Pricing</a:t>
            </a:r>
          </a:p>
        </p:txBody>
      </p:sp>
      <p:sp>
        <p:nvSpPr>
          <p:cNvPr id="10" name="Rounded Rectangle 9"/>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The cost, demand, efficiency and regulatory forces shaping and impacting achievable selling prices grouped by category, with each factor's direction, impact and score.</a:t>
            </a:r>
          </a:p>
        </p:txBody>
      </p:sp>
      <p:sp>
        <p:nvSpPr>
          <p:cNvPr id="11" name="Rounded Rectangle 10"/>
          <p:cNvSpPr/>
          <p:nvPr/>
        </p:nvSpPr>
        <p:spPr>
          <a:xfrm>
            <a:off x="142875" y="1181100"/>
            <a:ext cx="1190625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219075" y="1257300"/>
          <a:ext cx="11753850" cy="1990725"/>
        </p:xfrm>
        <a:graphic>
          <a:graphicData uri="http://schemas.openxmlformats.org/drawingml/2006/table">
            <a:tbl>
              <a:tblPr>
                <a:tableStyleId>{5C22544A-7EE6-4342-B048-85BDC9FD1C3A}</a:tableStyleId>
              </a:tblPr>
              <a:tblGrid>
                <a:gridCol w="3526155"/>
                <a:gridCol w="1645539"/>
                <a:gridCol w="1645539"/>
                <a:gridCol w="1645539"/>
                <a:gridCol w="1645539"/>
                <a:gridCol w="1645539"/>
              </a:tblGrid>
              <a:tr h="180975">
                <a:tc>
                  <a:txBody>
                    <a:bodyPr wrap="none"/>
                    <a:lstStyle/>
                    <a:p>
                      <a:pPr algn="l"/>
                      <a:r>
                        <a:rPr sz="900" b="1">
                          <a:solidFill>
                            <a:srgbClr val="0B2E4A"/>
                          </a:solidFill>
                          <a:latin typeface="Calibri"/>
                        </a:rPr>
                        <a:t>Factor</a:t>
                      </a:r>
                    </a:p>
                  </a:txBody>
                  <a:tcPr marL="85725" marR="38100" marT="19050" marB="19050" anchor="ctr">
                    <a:solidFill>
                      <a:srgbClr val="E0E8EF"/>
                    </a:solidFill>
                  </a:tcPr>
                </a:tc>
                <a:tc>
                  <a:txBody>
                    <a:bodyPr wrap="none"/>
                    <a:lstStyle/>
                    <a:p>
                      <a:pPr algn="l"/>
                      <a:r>
                        <a:rPr sz="900" b="1">
                          <a:solidFill>
                            <a:srgbClr val="0B2E4A"/>
                          </a:solidFill>
                          <a:latin typeface="Calibri"/>
                        </a:rPr>
                        <a:t>Category</a:t>
                      </a:r>
                    </a:p>
                  </a:txBody>
                  <a:tcPr marL="85725" marR="38100" marT="19050" marB="19050" anchor="ctr">
                    <a:solidFill>
                      <a:srgbClr val="E0E8EF"/>
                    </a:solidFill>
                  </a:tcPr>
                </a:tc>
                <a:tc>
                  <a:txBody>
                    <a:bodyPr wrap="none"/>
                    <a:lstStyle/>
                    <a:p>
                      <a:pPr algn="l"/>
                      <a:r>
                        <a:rPr sz="900" b="1">
                          <a:solidFill>
                            <a:srgbClr val="0B2E4A"/>
                          </a:solidFill>
                          <a:latin typeface="Calibri"/>
                        </a:rPr>
                        <a:t>Price Impact</a:t>
                      </a:r>
                    </a:p>
                  </a:txBody>
                  <a:tcPr marL="85725" marR="38100" marT="19050" marB="19050" anchor="ctr">
                    <a:solidFill>
                      <a:srgbClr val="E0E8EF"/>
                    </a:solidFill>
                  </a:tcPr>
                </a:tc>
                <a:tc>
                  <a:txBody>
                    <a:bodyPr wrap="none"/>
                    <a:lstStyle/>
                    <a:p>
                      <a:pPr algn="l"/>
                      <a:r>
                        <a:rPr sz="900" b="1">
                          <a:solidFill>
                            <a:srgbClr val="0B2E4A"/>
                          </a:solidFill>
                          <a:latin typeface="Calibri"/>
                        </a:rPr>
                        <a:t>Direction</a:t>
                      </a:r>
                    </a:p>
                  </a:txBody>
                  <a:tcPr marL="85725" marR="38100" marT="19050" marB="19050" anchor="ctr">
                    <a:solidFill>
                      <a:srgbClr val="E0E8EF"/>
                    </a:solidFill>
                  </a:tcPr>
                </a:tc>
                <a:tc>
                  <a:txBody>
                    <a:bodyPr wrap="none"/>
                    <a:lstStyle/>
                    <a:p>
                      <a:pPr algn="l"/>
                      <a:r>
                        <a:rPr sz="900" b="1">
                          <a:solidFill>
                            <a:srgbClr val="0B2E4A"/>
                          </a:solidFill>
                          <a:latin typeface="Calibri"/>
                        </a:rPr>
                        <a:t>Score (0–10)</a:t>
                      </a:r>
                    </a:p>
                  </a:txBody>
                  <a:tcPr marL="85725" marR="38100" marT="19050" marB="19050" anchor="ctr">
                    <a:solidFill>
                      <a:srgbClr val="E0E8EF"/>
                    </a:solidFill>
                  </a:tcPr>
                </a:tc>
                <a:tc>
                  <a:txBody>
                    <a:bodyPr wrap="none"/>
                    <a:lstStyle/>
                    <a:p>
                      <a:pPr algn="l"/>
                      <a:r>
                        <a:rPr sz="900" b="1">
                          <a:solidFill>
                            <a:srgbClr val="0B2E4A"/>
                          </a:solidFill>
                          <a:latin typeface="Calibri"/>
                        </a:rPr>
                        <a:t>How It Shapes Price</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Input Cost</a:t>
                      </a:r>
                    </a:p>
                  </a:txBody>
                  <a:tcPr marL="85725" marR="38100" marT="19050" marB="19050" anchor="ctr">
                    <a:solidFill>
                      <a:srgbClr val="FFFFFF"/>
                    </a:solidFill>
                  </a:tcPr>
                </a:tc>
                <a:tc>
                  <a:txBody>
                    <a:bodyPr wrap="none"/>
                    <a:lstStyle/>
                    <a:p>
                      <a:pPr algn="l"/>
                      <a:r>
                        <a:rPr sz="900" b="0">
                          <a:solidFill>
                            <a:srgbClr val="2E2E2E"/>
                          </a:solidFill>
                          <a:latin typeface="Calibri"/>
                        </a:rPr>
                        <a:t>Cost &amp; Input Pressures</a:t>
                      </a:r>
                    </a:p>
                  </a:txBody>
                  <a:tcPr marL="85725" marR="38100" marT="19050" marB="19050" anchor="ctr">
                    <a:solidFill>
                      <a:srgbClr val="FFFFFF"/>
                    </a:solidFill>
                  </a:tcPr>
                </a:tc>
                <a:tc>
                  <a:txBody>
                    <a:bodyPr wrap="none"/>
                    <a:lstStyle/>
                    <a:p>
                      <a:pPr algn="l"/>
                      <a:r>
                        <a:rPr sz="900" b="0">
                          <a:solidFill>
                            <a:srgbClr val="2E2E2E"/>
                          </a:solidFill>
                          <a:latin typeface="Calibri"/>
                        </a:rPr>
                        <a:t>High</a:t>
                      </a:r>
                    </a:p>
                  </a:txBody>
                  <a:tcPr marL="85725" marR="38100" marT="19050" marB="19050" anchor="ctr">
                    <a:solidFill>
                      <a:srgbClr val="FFFFFF"/>
                    </a:solidFill>
                  </a:tcPr>
                </a:tc>
                <a:tc>
                  <a:txBody>
                    <a:bodyPr wrap="none"/>
                    <a:lstStyle/>
                    <a:p>
                      <a:pPr algn="l"/>
                      <a:r>
                        <a:rPr sz="900" b="1">
                          <a:solidFill>
                            <a:srgbClr val="2E7D32"/>
                          </a:solidFill>
                          <a:latin typeface="Calibri"/>
                        </a:rPr>
                        <a:t>▲ Upward</a:t>
                      </a:r>
                    </a:p>
                  </a:txBody>
                  <a:tcPr marL="85725" marR="38100" marT="19050" marB="19050" anchor="ctr">
                    <a:solidFill>
                      <a:srgbClr val="FFFFFF"/>
                    </a:solidFill>
                  </a:tcPr>
                </a:tc>
                <a:tc>
                  <a:txBody>
                    <a:bodyPr wrap="none"/>
                    <a:lstStyle/>
                    <a:p>
                      <a:pPr algn="l"/>
                      <a:r>
                        <a:rPr sz="900" b="0">
                          <a:solidFill>
                            <a:srgbClr val="2E2E2E"/>
                          </a:solidFill>
                          <a:latin typeface="Calibri"/>
                        </a:rPr>
                        <a:t>9.0</a:t>
                      </a:r>
                    </a:p>
                  </a:txBody>
                  <a:tcPr marL="85725" marR="38100" marT="19050" marB="19050" anchor="ctr">
                    <a:solidFill>
                      <a:srgbClr val="FFFFFF"/>
                    </a:solidFill>
                  </a:tcPr>
                </a:tc>
                <a:tc>
                  <a:txBody>
                    <a:bodyPr wrap="none"/>
                    <a:lstStyle/>
                    <a:p>
                      <a:pPr algn="l"/>
                      <a:r>
                        <a:rPr sz="900" b="0">
                          <a:solidFill>
                            <a:srgbClr val="2E2E2E"/>
                          </a:solidFill>
                          <a:latin typeface="Calibri"/>
                        </a:rPr>
                        <a:t>Raw-material and input costs.</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Labor &amp; Production Costs</a:t>
                      </a:r>
                    </a:p>
                  </a:txBody>
                  <a:tcPr marL="85725" marR="38100" marT="19050" marB="19050" anchor="ctr">
                    <a:solidFill>
                      <a:srgbClr val="F5F8FA"/>
                    </a:solidFill>
                  </a:tcPr>
                </a:tc>
                <a:tc>
                  <a:txBody>
                    <a:bodyPr wrap="none"/>
                    <a:lstStyle/>
                    <a:p>
                      <a:pPr algn="l"/>
                      <a:r>
                        <a:rPr sz="900" b="0">
                          <a:solidFill>
                            <a:srgbClr val="2E2E2E"/>
                          </a:solidFill>
                          <a:latin typeface="Calibri"/>
                        </a:rPr>
                        <a:t>Cost &amp; Input Pressures</a:t>
                      </a:r>
                    </a:p>
                  </a:txBody>
                  <a:tcPr marL="85725" marR="38100" marT="19050" marB="19050" anchor="ctr">
                    <a:solidFill>
                      <a:srgbClr val="F5F8FA"/>
                    </a:solidFill>
                  </a:tcPr>
                </a:tc>
                <a:tc>
                  <a:txBody>
                    <a:bodyPr wrap="none"/>
                    <a:lstStyle/>
                    <a:p>
                      <a:pPr algn="l"/>
                      <a:r>
                        <a:rPr sz="900" b="0">
                          <a:solidFill>
                            <a:srgbClr val="2E2E2E"/>
                          </a:solidFill>
                          <a:latin typeface="Calibri"/>
                        </a:rPr>
                        <a:t>Medium</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7.0</a:t>
                      </a:r>
                    </a:p>
                  </a:txBody>
                  <a:tcPr marL="85725" marR="38100" marT="19050" marB="19050" anchor="ctr">
                    <a:solidFill>
                      <a:srgbClr val="F5F8FA"/>
                    </a:solidFill>
                  </a:tcPr>
                </a:tc>
                <a:tc>
                  <a:txBody>
                    <a:bodyPr wrap="none"/>
                    <a:lstStyle/>
                    <a:p>
                      <a:pPr algn="l"/>
                      <a:r>
                        <a:rPr sz="900" b="0">
                          <a:solidFill>
                            <a:srgbClr val="2E2E2E"/>
                          </a:solidFill>
                          <a:latin typeface="Calibri"/>
                        </a:rPr>
                        <a:t>Labour and production expenses.</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Supply Chain &amp; Logistics</a:t>
                      </a:r>
                    </a:p>
                  </a:txBody>
                  <a:tcPr marL="85725" marR="38100" marT="19050" marB="19050" anchor="ctr">
                    <a:solidFill>
                      <a:srgbClr val="FFFFFF"/>
                    </a:solidFill>
                  </a:tcPr>
                </a:tc>
                <a:tc>
                  <a:txBody>
                    <a:bodyPr wrap="none"/>
                    <a:lstStyle/>
                    <a:p>
                      <a:pPr algn="l"/>
                      <a:r>
                        <a:rPr sz="900" b="0">
                          <a:solidFill>
                            <a:srgbClr val="2E2E2E"/>
                          </a:solidFill>
                          <a:latin typeface="Calibri"/>
                        </a:rPr>
                        <a:t>Cost &amp; Input Pressures</a:t>
                      </a:r>
                    </a:p>
                  </a:txBody>
                  <a:tcPr marL="85725" marR="38100" marT="19050" marB="19050" anchor="ctr">
                    <a:solidFill>
                      <a:srgbClr val="FFFFFF"/>
                    </a:solidFill>
                  </a:tcPr>
                </a:tc>
                <a:tc>
                  <a:txBody>
                    <a:bodyPr wrap="none"/>
                    <a:lstStyle/>
                    <a:p>
                      <a:pPr algn="l"/>
                      <a:r>
                        <a:rPr sz="900" b="0">
                          <a:solidFill>
                            <a:srgbClr val="2E2E2E"/>
                          </a:solidFill>
                          <a:latin typeface="Calibri"/>
                        </a:rPr>
                        <a:t>Medium</a:t>
                      </a:r>
                    </a:p>
                  </a:txBody>
                  <a:tcPr marL="85725" marR="38100" marT="19050" marB="19050" anchor="ctr">
                    <a:solidFill>
                      <a:srgbClr val="FFFFFF"/>
                    </a:solidFill>
                  </a:tcPr>
                </a:tc>
                <a:tc>
                  <a:txBody>
                    <a:bodyPr wrap="none"/>
                    <a:lstStyle/>
                    <a:p>
                      <a:pPr algn="l"/>
                      <a:r>
                        <a:rPr sz="900" b="1">
                          <a:solidFill>
                            <a:srgbClr val="2E7D32"/>
                          </a:solidFill>
                          <a:latin typeface="Calibri"/>
                        </a:rPr>
                        <a:t>▲ Upward</a:t>
                      </a:r>
                    </a:p>
                  </a:txBody>
                  <a:tcPr marL="85725" marR="38100" marT="19050" marB="19050" anchor="ctr">
                    <a:solidFill>
                      <a:srgbClr val="FFFFFF"/>
                    </a:solidFill>
                  </a:tcPr>
                </a:tc>
                <a:tc>
                  <a:txBody>
                    <a:bodyPr wrap="none"/>
                    <a:lstStyle/>
                    <a:p>
                      <a:pPr algn="l"/>
                      <a:r>
                        <a:rPr sz="900" b="0">
                          <a:solidFill>
                            <a:srgbClr val="2E2E2E"/>
                          </a:solidFill>
                          <a:latin typeface="Calibri"/>
                        </a:rPr>
                        <a:t>7.5</a:t>
                      </a:r>
                    </a:p>
                  </a:txBody>
                  <a:tcPr marL="85725" marR="38100" marT="19050" marB="19050" anchor="ctr">
                    <a:solidFill>
                      <a:srgbClr val="FFFFFF"/>
                    </a:solidFill>
                  </a:tcPr>
                </a:tc>
                <a:tc>
                  <a:txBody>
                    <a:bodyPr wrap="none"/>
                    <a:lstStyle/>
                    <a:p>
                      <a:pPr algn="l"/>
                      <a:r>
                        <a:rPr sz="900" b="0">
                          <a:solidFill>
                            <a:srgbClr val="2E2E2E"/>
                          </a:solidFill>
                          <a:latin typeface="Calibri"/>
                        </a:rPr>
                        <a:t>Supply-chain and logistics conditions.</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Demand &amp; Market Conditions</a:t>
                      </a:r>
                    </a:p>
                  </a:txBody>
                  <a:tcPr marL="85725" marR="38100" marT="19050" marB="19050" anchor="ctr">
                    <a:solidFill>
                      <a:srgbClr val="F5F8FA"/>
                    </a:solidFill>
                  </a:tcPr>
                </a:tc>
                <a:tc>
                  <a:txBody>
                    <a:bodyPr wrap="none"/>
                    <a:lstStyle/>
                    <a:p>
                      <a:pPr algn="l"/>
                      <a:r>
                        <a:rPr sz="900" b="0">
                          <a:solidFill>
                            <a:srgbClr val="2E2E2E"/>
                          </a:solidFill>
                          <a:latin typeface="Calibri"/>
                        </a:rPr>
                        <a:t>Demand &amp; Competitive Forces</a:t>
                      </a:r>
                    </a:p>
                  </a:txBody>
                  <a:tcPr marL="85725" marR="38100" marT="19050" marB="19050" anchor="ctr">
                    <a:solidFill>
                      <a:srgbClr val="F5F8FA"/>
                    </a:solidFill>
                  </a:tcPr>
                </a:tc>
                <a:tc>
                  <a:txBody>
                    <a:bodyPr wrap="none"/>
                    <a:lstStyle/>
                    <a:p>
                      <a:pPr algn="l"/>
                      <a:r>
                        <a:rPr sz="900" b="0">
                          <a:solidFill>
                            <a:srgbClr val="2E2E2E"/>
                          </a:solidFill>
                          <a:latin typeface="Calibri"/>
                        </a:rPr>
                        <a:t>High</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8.5</a:t>
                      </a:r>
                    </a:p>
                  </a:txBody>
                  <a:tcPr marL="85725" marR="38100" marT="19050" marB="19050" anchor="ctr">
                    <a:solidFill>
                      <a:srgbClr val="F5F8FA"/>
                    </a:solidFill>
                  </a:tcPr>
                </a:tc>
                <a:tc>
                  <a:txBody>
                    <a:bodyPr wrap="none"/>
                    <a:lstStyle/>
                    <a:p>
                      <a:pPr algn="l"/>
                      <a:r>
                        <a:rPr sz="900" b="0">
                          <a:solidFill>
                            <a:srgbClr val="2E2E2E"/>
                          </a:solidFill>
                          <a:latin typeface="Calibri"/>
                        </a:rPr>
                        <a:t>Demand and broader market conditions.</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Competitive Landscape</a:t>
                      </a:r>
                    </a:p>
                  </a:txBody>
                  <a:tcPr marL="85725" marR="38100" marT="19050" marB="19050" anchor="ctr">
                    <a:solidFill>
                      <a:srgbClr val="FFFFFF"/>
                    </a:solidFill>
                  </a:tcPr>
                </a:tc>
                <a:tc>
                  <a:txBody>
                    <a:bodyPr wrap="none"/>
                    <a:lstStyle/>
                    <a:p>
                      <a:pPr algn="l"/>
                      <a:r>
                        <a:rPr sz="900" b="0">
                          <a:solidFill>
                            <a:srgbClr val="2E2E2E"/>
                          </a:solidFill>
                          <a:latin typeface="Calibri"/>
                        </a:rPr>
                        <a:t>Demand &amp; Competitive Forces</a:t>
                      </a:r>
                    </a:p>
                  </a:txBody>
                  <a:tcPr marL="85725" marR="38100" marT="19050" marB="19050" anchor="ctr">
                    <a:solidFill>
                      <a:srgbClr val="FFFFFF"/>
                    </a:solidFill>
                  </a:tcPr>
                </a:tc>
                <a:tc>
                  <a:txBody>
                    <a:bodyPr wrap="none"/>
                    <a:lstStyle/>
                    <a:p>
                      <a:pPr algn="l"/>
                      <a:r>
                        <a:rPr sz="900" b="0">
                          <a:solidFill>
                            <a:srgbClr val="2E2E2E"/>
                          </a:solidFill>
                          <a:latin typeface="Calibri"/>
                        </a:rPr>
                        <a:t>High</a:t>
                      </a:r>
                    </a:p>
                  </a:txBody>
                  <a:tcPr marL="85725" marR="38100" marT="19050" marB="19050" anchor="ctr">
                    <a:solidFill>
                      <a:srgbClr val="FFFFFF"/>
                    </a:solidFill>
                  </a:tcPr>
                </a:tc>
                <a:tc>
                  <a:txBody>
                    <a:bodyPr wrap="none"/>
                    <a:lstStyle/>
                    <a:p>
                      <a:pPr algn="l"/>
                      <a:r>
                        <a:rPr sz="900" b="1">
                          <a:solidFill>
                            <a:srgbClr val="E44D3A"/>
                          </a:solidFill>
                          <a:latin typeface="Calibri"/>
                        </a:rPr>
                        <a:t>▼ Downward</a:t>
                      </a:r>
                    </a:p>
                  </a:txBody>
                  <a:tcPr marL="85725" marR="38100" marT="19050" marB="19050" anchor="ctr">
                    <a:solidFill>
                      <a:srgbClr val="FFFFFF"/>
                    </a:solidFill>
                  </a:tcPr>
                </a:tc>
                <a:tc>
                  <a:txBody>
                    <a:bodyPr wrap="none"/>
                    <a:lstStyle/>
                    <a:p>
                      <a:pPr algn="l"/>
                      <a:r>
                        <a:rPr sz="900" b="0">
                          <a:solidFill>
                            <a:srgbClr val="2E2E2E"/>
                          </a:solidFill>
                          <a:latin typeface="Calibri"/>
                        </a:rPr>
                        <a:t>8.0</a:t>
                      </a:r>
                    </a:p>
                  </a:txBody>
                  <a:tcPr marL="85725" marR="38100" marT="19050" marB="19050" anchor="ctr">
                    <a:solidFill>
                      <a:srgbClr val="FFFFFF"/>
                    </a:solidFill>
                  </a:tcPr>
                </a:tc>
                <a:tc>
                  <a:txBody>
                    <a:bodyPr wrap="none"/>
                    <a:lstStyle/>
                    <a:p>
                      <a:pPr algn="l"/>
                      <a:r>
                        <a:rPr sz="900" b="0">
                          <a:solidFill>
                            <a:srgbClr val="2E2E2E"/>
                          </a:solidFill>
                          <a:latin typeface="Calibri"/>
                        </a:rPr>
                        <a:t>Competitive intensity.</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Brand &amp; Value Perception</a:t>
                      </a:r>
                    </a:p>
                  </a:txBody>
                  <a:tcPr marL="85725" marR="38100" marT="19050" marB="19050" anchor="ctr">
                    <a:solidFill>
                      <a:srgbClr val="F5F8FA"/>
                    </a:solidFill>
                  </a:tcPr>
                </a:tc>
                <a:tc>
                  <a:txBody>
                    <a:bodyPr wrap="none"/>
                    <a:lstStyle/>
                    <a:p>
                      <a:pPr algn="l"/>
                      <a:r>
                        <a:rPr sz="900" b="0">
                          <a:solidFill>
                            <a:srgbClr val="2E2E2E"/>
                          </a:solidFill>
                          <a:latin typeface="Calibri"/>
                        </a:rPr>
                        <a:t>Demand &amp; Competitive Forces</a:t>
                      </a:r>
                    </a:p>
                  </a:txBody>
                  <a:tcPr marL="85725" marR="38100" marT="19050" marB="19050" anchor="ctr">
                    <a:solidFill>
                      <a:srgbClr val="F5F8FA"/>
                    </a:solidFill>
                  </a:tcPr>
                </a:tc>
                <a:tc>
                  <a:txBody>
                    <a:bodyPr wrap="none"/>
                    <a:lstStyle/>
                    <a:p>
                      <a:pPr algn="l"/>
                      <a:r>
                        <a:rPr sz="900" b="0">
                          <a:solidFill>
                            <a:srgbClr val="2E2E2E"/>
                          </a:solidFill>
                          <a:latin typeface="Calibri"/>
                        </a:rPr>
                        <a:t>Medium</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6.5</a:t>
                      </a:r>
                    </a:p>
                  </a:txBody>
                  <a:tcPr marL="85725" marR="38100" marT="19050" marB="19050" anchor="ctr">
                    <a:solidFill>
                      <a:srgbClr val="F5F8FA"/>
                    </a:solidFill>
                  </a:tcPr>
                </a:tc>
                <a:tc>
                  <a:txBody>
                    <a:bodyPr wrap="none"/>
                    <a:lstStyle/>
                    <a:p>
                      <a:pPr algn="l"/>
                      <a:r>
                        <a:rPr sz="900" b="0">
                          <a:solidFill>
                            <a:srgbClr val="2E2E2E"/>
                          </a:solidFill>
                          <a:latin typeface="Calibri"/>
                        </a:rPr>
                        <a:t>Brand strength and value perception.</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Technology &amp; Innovation</a:t>
                      </a:r>
                    </a:p>
                  </a:txBody>
                  <a:tcPr marL="85725" marR="38100" marT="19050" marB="19050" anchor="ctr">
                    <a:solidFill>
                      <a:srgbClr val="FFFFFF"/>
                    </a:solidFill>
                  </a:tcPr>
                </a:tc>
                <a:tc>
                  <a:txBody>
                    <a:bodyPr wrap="none"/>
                    <a:lstStyle/>
                    <a:p>
                      <a:pPr algn="l"/>
                      <a:r>
                        <a:rPr sz="900" b="0">
                          <a:solidFill>
                            <a:srgbClr val="2E2E2E"/>
                          </a:solidFill>
                          <a:latin typeface="Calibri"/>
                        </a:rPr>
                        <a:t>Innovation &amp; Operating Efficiency</a:t>
                      </a:r>
                    </a:p>
                  </a:txBody>
                  <a:tcPr marL="85725" marR="38100" marT="19050" marB="19050" anchor="ctr">
                    <a:solidFill>
                      <a:srgbClr val="FFFFFF"/>
                    </a:solidFill>
                  </a:tcPr>
                </a:tc>
                <a:tc>
                  <a:txBody>
                    <a:bodyPr wrap="none"/>
                    <a:lstStyle/>
                    <a:p>
                      <a:pPr algn="l"/>
                      <a:r>
                        <a:rPr sz="900" b="0">
                          <a:solidFill>
                            <a:srgbClr val="2E2E2E"/>
                          </a:solidFill>
                          <a:latin typeface="Calibri"/>
                        </a:rPr>
                        <a:t>Medium</a:t>
                      </a:r>
                    </a:p>
                  </a:txBody>
                  <a:tcPr marL="85725" marR="38100" marT="19050" marB="19050" anchor="ctr">
                    <a:solidFill>
                      <a:srgbClr val="FFFFFF"/>
                    </a:solidFill>
                  </a:tcPr>
                </a:tc>
                <a:tc>
                  <a:txBody>
                    <a:bodyPr wrap="none"/>
                    <a:lstStyle/>
                    <a:p>
                      <a:pPr algn="l"/>
                      <a:r>
                        <a:rPr sz="900" b="1">
                          <a:solidFill>
                            <a:srgbClr val="E44D3A"/>
                          </a:solidFill>
                          <a:latin typeface="Calibri"/>
                        </a:rPr>
                        <a:t>▼ Downward</a:t>
                      </a:r>
                    </a:p>
                  </a:txBody>
                  <a:tcPr marL="85725" marR="38100" marT="19050" marB="19050" anchor="ctr">
                    <a:solidFill>
                      <a:srgbClr val="FFFFFF"/>
                    </a:solidFill>
                  </a:tcPr>
                </a:tc>
                <a:tc>
                  <a:txBody>
                    <a:bodyPr wrap="none"/>
                    <a:lstStyle/>
                    <a:p>
                      <a:pPr algn="l"/>
                      <a:r>
                        <a:rPr sz="900" b="0">
                          <a:solidFill>
                            <a:srgbClr val="2E2E2E"/>
                          </a:solidFill>
                          <a:latin typeface="Calibri"/>
                        </a:rPr>
                        <a:t>6.5</a:t>
                      </a:r>
                    </a:p>
                  </a:txBody>
                  <a:tcPr marL="85725" marR="38100" marT="19050" marB="19050" anchor="ctr">
                    <a:solidFill>
                      <a:srgbClr val="FFFFFF"/>
                    </a:solidFill>
                  </a:tcPr>
                </a:tc>
                <a:tc>
                  <a:txBody>
                    <a:bodyPr wrap="none"/>
                    <a:lstStyle/>
                    <a:p>
                      <a:pPr algn="l"/>
                      <a:r>
                        <a:rPr sz="900" b="0">
                          <a:solidFill>
                            <a:srgbClr val="2E2E2E"/>
                          </a:solidFill>
                          <a:latin typeface="Calibri"/>
                        </a:rPr>
                        <a:t>Technology and process innovation.</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Aftermarket &amp; Service Costs</a:t>
                      </a:r>
                    </a:p>
                  </a:txBody>
                  <a:tcPr marL="85725" marR="38100" marT="19050" marB="19050" anchor="ctr">
                    <a:solidFill>
                      <a:srgbClr val="F5F8FA"/>
                    </a:solidFill>
                  </a:tcPr>
                </a:tc>
                <a:tc>
                  <a:txBody>
                    <a:bodyPr wrap="none"/>
                    <a:lstStyle/>
                    <a:p>
                      <a:pPr algn="l"/>
                      <a:r>
                        <a:rPr sz="900" b="0">
                          <a:solidFill>
                            <a:srgbClr val="2E2E2E"/>
                          </a:solidFill>
                          <a:latin typeface="Calibri"/>
                        </a:rPr>
                        <a:t>Innovation &amp; Operating Efficiency</a:t>
                      </a:r>
                    </a:p>
                  </a:txBody>
                  <a:tcPr marL="85725" marR="38100" marT="19050" marB="19050" anchor="ctr">
                    <a:solidFill>
                      <a:srgbClr val="F5F8FA"/>
                    </a:solidFill>
                  </a:tcPr>
                </a:tc>
                <a:tc>
                  <a:txBody>
                    <a:bodyPr wrap="none"/>
                    <a:lstStyle/>
                    <a:p>
                      <a:pPr algn="l"/>
                      <a:r>
                        <a:rPr sz="900" b="0">
                          <a:solidFill>
                            <a:srgbClr val="2E2E2E"/>
                          </a:solidFill>
                          <a:latin typeface="Calibri"/>
                        </a:rPr>
                        <a:t>Low</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4.5</a:t>
                      </a:r>
                    </a:p>
                  </a:txBody>
                  <a:tcPr marL="85725" marR="38100" marT="19050" marB="19050" anchor="ctr">
                    <a:solidFill>
                      <a:srgbClr val="F5F8FA"/>
                    </a:solidFill>
                  </a:tcPr>
                </a:tc>
                <a:tc>
                  <a:txBody>
                    <a:bodyPr wrap="none"/>
                    <a:lstStyle/>
                    <a:p>
                      <a:pPr algn="l"/>
                      <a:r>
                        <a:rPr sz="900" b="0">
                          <a:solidFill>
                            <a:srgbClr val="2E2E2E"/>
                          </a:solidFill>
                          <a:latin typeface="Calibri"/>
                        </a:rPr>
                        <a:t>Aftermarket and service costs.</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Regulatory &amp; Compliance Costs</a:t>
                      </a:r>
                    </a:p>
                  </a:txBody>
                  <a:tcPr marL="85725" marR="38100" marT="19050" marB="19050" anchor="ctr">
                    <a:solidFill>
                      <a:srgbClr val="FFFFFF"/>
                    </a:solidFill>
                  </a:tcPr>
                </a:tc>
                <a:tc>
                  <a:txBody>
                    <a:bodyPr wrap="none"/>
                    <a:lstStyle/>
                    <a:p>
                      <a:pPr algn="l"/>
                      <a:r>
                        <a:rPr sz="900" b="0">
                          <a:solidFill>
                            <a:srgbClr val="2E2E2E"/>
                          </a:solidFill>
                          <a:latin typeface="Calibri"/>
                        </a:rPr>
                        <a:t>Regulatory, Currency &amp; Macro</a:t>
                      </a:r>
                    </a:p>
                  </a:txBody>
                  <a:tcPr marL="85725" marR="38100" marT="19050" marB="19050" anchor="ctr">
                    <a:solidFill>
                      <a:srgbClr val="FFFFFF"/>
                    </a:solidFill>
                  </a:tcPr>
                </a:tc>
                <a:tc>
                  <a:txBody>
                    <a:bodyPr wrap="none"/>
                    <a:lstStyle/>
                    <a:p>
                      <a:pPr algn="l"/>
                      <a:r>
                        <a:rPr sz="900" b="0">
                          <a:solidFill>
                            <a:srgbClr val="2E2E2E"/>
                          </a:solidFill>
                          <a:latin typeface="Calibri"/>
                        </a:rPr>
                        <a:t>Medium</a:t>
                      </a:r>
                    </a:p>
                  </a:txBody>
                  <a:tcPr marL="85725" marR="38100" marT="19050" marB="19050" anchor="ctr">
                    <a:solidFill>
                      <a:srgbClr val="FFFFFF"/>
                    </a:solidFill>
                  </a:tcPr>
                </a:tc>
                <a:tc>
                  <a:txBody>
                    <a:bodyPr wrap="none"/>
                    <a:lstStyle/>
                    <a:p>
                      <a:pPr algn="l"/>
                      <a:r>
                        <a:rPr sz="900" b="1">
                          <a:solidFill>
                            <a:srgbClr val="2E7D32"/>
                          </a:solidFill>
                          <a:latin typeface="Calibri"/>
                        </a:rPr>
                        <a:t>▲ Upward</a:t>
                      </a:r>
                    </a:p>
                  </a:txBody>
                  <a:tcPr marL="85725" marR="38100" marT="19050" marB="19050" anchor="ctr">
                    <a:solidFill>
                      <a:srgbClr val="FFFFFF"/>
                    </a:solidFill>
                  </a:tcPr>
                </a:tc>
                <a:tc>
                  <a:txBody>
                    <a:bodyPr wrap="none"/>
                    <a:lstStyle/>
                    <a:p>
                      <a:pPr algn="l"/>
                      <a:r>
                        <a:rPr sz="900" b="0">
                          <a:solidFill>
                            <a:srgbClr val="2E2E2E"/>
                          </a:solidFill>
                          <a:latin typeface="Calibri"/>
                        </a:rPr>
                        <a:t>6.0</a:t>
                      </a:r>
                    </a:p>
                  </a:txBody>
                  <a:tcPr marL="85725" marR="38100" marT="19050" marB="19050" anchor="ctr">
                    <a:solidFill>
                      <a:srgbClr val="FFFFFF"/>
                    </a:solidFill>
                  </a:tcPr>
                </a:tc>
                <a:tc>
                  <a:txBody>
                    <a:bodyPr wrap="none"/>
                    <a:lstStyle/>
                    <a:p>
                      <a:pPr algn="l"/>
                      <a:r>
                        <a:rPr sz="900" b="0">
                          <a:solidFill>
                            <a:srgbClr val="2E2E2E"/>
                          </a:solidFill>
                          <a:latin typeface="Calibri"/>
                        </a:rPr>
                        <a:t>Regulatory and compliance costs.</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Currency &amp; Trade Dynamics</a:t>
                      </a:r>
                    </a:p>
                  </a:txBody>
                  <a:tcPr marL="85725" marR="38100" marT="19050" marB="19050" anchor="ctr">
                    <a:solidFill>
                      <a:srgbClr val="F5F8FA"/>
                    </a:solidFill>
                  </a:tcPr>
                </a:tc>
                <a:tc>
                  <a:txBody>
                    <a:bodyPr wrap="none"/>
                    <a:lstStyle/>
                    <a:p>
                      <a:pPr algn="l"/>
                      <a:r>
                        <a:rPr sz="900" b="0">
                          <a:solidFill>
                            <a:srgbClr val="2E2E2E"/>
                          </a:solidFill>
                          <a:latin typeface="Calibri"/>
                        </a:rPr>
                        <a:t>Regulatory, Currency &amp; Macro</a:t>
                      </a:r>
                    </a:p>
                  </a:txBody>
                  <a:tcPr marL="85725" marR="38100" marT="19050" marB="19050" anchor="ctr">
                    <a:solidFill>
                      <a:srgbClr val="F5F8FA"/>
                    </a:solidFill>
                  </a:tcPr>
                </a:tc>
                <a:tc>
                  <a:txBody>
                    <a:bodyPr wrap="none"/>
                    <a:lstStyle/>
                    <a:p>
                      <a:pPr algn="l"/>
                      <a:r>
                        <a:rPr sz="900" b="0">
                          <a:solidFill>
                            <a:srgbClr val="2E2E2E"/>
                          </a:solidFill>
                          <a:latin typeface="Calibri"/>
                        </a:rPr>
                        <a:t>Low</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5.5</a:t>
                      </a:r>
                    </a:p>
                  </a:txBody>
                  <a:tcPr marL="85725" marR="38100" marT="19050" marB="19050" anchor="ctr">
                    <a:solidFill>
                      <a:srgbClr val="F5F8FA"/>
                    </a:solidFill>
                  </a:tcPr>
                </a:tc>
                <a:tc>
                  <a:txBody>
                    <a:bodyPr wrap="none"/>
                    <a:lstStyle/>
                    <a:p>
                      <a:pPr algn="l"/>
                      <a:r>
                        <a:rPr sz="900" b="0">
                          <a:solidFill>
                            <a:srgbClr val="2E2E2E"/>
                          </a:solidFill>
                          <a:latin typeface="Calibri"/>
                        </a:rPr>
                        <a:t>Currency and trade dynamics.</a:t>
                      </a:r>
                    </a:p>
                  </a:txBody>
                  <a:tcPr marL="85725" marR="38100" marT="19050" marB="19050" anchor="ctr">
                    <a:solidFill>
                      <a:srgbClr val="F5F8FA"/>
                    </a:solidFill>
                  </a:tcPr>
                </a:tc>
              </a:tr>
            </a:tbl>
          </a:graphicData>
        </a:graphic>
      </p:graphicFrame>
      <p:sp>
        <p:nvSpPr>
          <p:cNvPr id="13" name="TextBox 12"/>
          <p:cNvSpPr txBox="1"/>
          <p:nvPr/>
        </p:nvSpPr>
        <p:spPr>
          <a:xfrm>
            <a:off x="219075" y="484822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4" name="Rounded Rectangle 13"/>
          <p:cNvSpPr/>
          <p:nvPr/>
        </p:nvSpPr>
        <p:spPr>
          <a:xfrm>
            <a:off x="142875" y="5143500"/>
            <a:ext cx="11906250" cy="1504950"/>
          </a:xfrm>
          <a:prstGeom prst="roundRect">
            <a:avLst>
              <a:gd name="adj" fmla="val 506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229225"/>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the Factors Imply</a:t>
            </a:r>
          </a:p>
        </p:txBody>
      </p:sp>
      <p:sp>
        <p:nvSpPr>
          <p:cNvPr id="16" name="Rectangle 15"/>
          <p:cNvSpPr/>
          <p:nvPr/>
        </p:nvSpPr>
        <p:spPr>
          <a:xfrm>
            <a:off x="276225" y="5467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553075"/>
            <a:ext cx="11639550" cy="1019175"/>
          </a:xfrm>
          <a:prstGeom prst="rect">
            <a:avLst/>
          </a:prstGeom>
          <a:noFill/>
        </p:spPr>
        <p:txBody>
          <a:bodyPr wrap="square" lIns="0" rIns="19050" tIns="9525" bIns="9525">
            <a:spAutoFit/>
          </a:bodyPr>
          <a:lstStyle/>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Input Cost and Demand &amp; Market Conditions carry the heaviest weight on selling prices (9.0 and 8.5 / 10).</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8 of 10 factors exert upward pressure on price; the rest pull prices down chiefly Technology &amp; Innovation and the Competitive Landscape.</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Cost-side factors set the price floor; demand, brand and competitive forces determine how much of that cost can be passed through.</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Aftermarket &amp; Service Costs exerts the least pressure a second-order effect to monitor rather than actively manage.</a:t>
            </a:r>
          </a:p>
        </p:txBody>
      </p:sp>
      <p:sp>
        <p:nvSpPr>
          <p:cNvPr id="18" name="Rectangle 1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0" name="Rounded Rectangle 19">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Regional Price Assessment</a:t>
            </a:r>
          </a:p>
        </p:txBody>
      </p:sp>
      <p:sp>
        <p:nvSpPr>
          <p:cNvPr id="10" name="Rounded Rectangle 9"/>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Regional price assessment across the value chain (US$/unit) and price trajectory to 2036.</a:t>
            </a:r>
          </a:p>
        </p:txBody>
      </p:sp>
      <p:sp>
        <p:nvSpPr>
          <p:cNvPr id="11" name="Rounded Rectangle 10"/>
          <p:cNvSpPr/>
          <p:nvPr/>
        </p:nvSpPr>
        <p:spPr>
          <a:xfrm>
            <a:off x="142875" y="1181100"/>
            <a:ext cx="5905500" cy="2857500"/>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23825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(US$/unit)</a:t>
            </a:r>
          </a:p>
        </p:txBody>
      </p:sp>
      <p:graphicFrame>
        <p:nvGraphicFramePr>
          <p:cNvPr id="13" name="Table 12"/>
          <p:cNvGraphicFramePr>
            <a:graphicFrameLocks noGrp="1"/>
          </p:cNvGraphicFramePr>
          <p:nvPr/>
        </p:nvGraphicFramePr>
        <p:xfrm>
          <a:off x="238125" y="1466850"/>
          <a:ext cx="5715000" cy="1266825"/>
        </p:xfrm>
        <a:graphic>
          <a:graphicData uri="http://schemas.openxmlformats.org/drawingml/2006/table">
            <a:tbl>
              <a:tblPr>
                <a:tableStyleId>{5C22544A-7EE6-4342-B048-85BDC9FD1C3A}</a:tableStyleId>
              </a:tblPr>
              <a:tblGrid>
                <a:gridCol w="1714500"/>
                <a:gridCol w="1000125"/>
                <a:gridCol w="1000125"/>
                <a:gridCol w="1000125"/>
                <a:gridCol w="1000125"/>
              </a:tblGrid>
              <a:tr h="180975">
                <a:tc>
                  <a:txBody>
                    <a:bodyPr wrap="none"/>
                    <a:lstStyle/>
                    <a:p>
                      <a:pPr algn="l"/>
                      <a:r>
                        <a:rPr sz="900" b="1">
                          <a:solidFill>
                            <a:srgbClr val="0B2E4A"/>
                          </a:solidFill>
                          <a:latin typeface="Calibri"/>
                        </a:rPr>
                        <a:t>Geography</a:t>
                      </a:r>
                    </a:p>
                  </a:txBody>
                  <a:tcPr marL="85725" marR="38100" marT="19050" marB="19050" anchor="ctr">
                    <a:solidFill>
                      <a:srgbClr val="E0E8EF"/>
                    </a:solidFill>
                  </a:tcPr>
                </a:tc>
                <a:tc>
                  <a:txBody>
                    <a:bodyPr wrap="none"/>
                    <a:lstStyle/>
                    <a:p>
                      <a:pPr algn="l"/>
                      <a:r>
                        <a:rPr sz="900" b="1">
                          <a:solidFill>
                            <a:srgbClr val="0B2E4A"/>
                          </a:solidFill>
                          <a:latin typeface="Calibri"/>
                        </a:rPr>
                        <a:t>Manufacturer</a:t>
                      </a:r>
                    </a:p>
                  </a:txBody>
                  <a:tcPr marL="85725" marR="38100" marT="19050" marB="19050" anchor="ctr">
                    <a:solidFill>
                      <a:srgbClr val="E0E8EF"/>
                    </a:solidFill>
                  </a:tcPr>
                </a:tc>
                <a:tc>
                  <a:txBody>
                    <a:bodyPr wrap="none"/>
                    <a:lstStyle/>
                    <a:p>
                      <a:pPr algn="l"/>
                      <a:r>
                        <a:rPr sz="900" b="1">
                          <a:solidFill>
                            <a:srgbClr val="0B2E4A"/>
                          </a:solidFill>
                          <a:latin typeface="Calibri"/>
                        </a:rPr>
                        <a:t>Distribution</a:t>
                      </a:r>
                    </a:p>
                  </a:txBody>
                  <a:tcPr marL="85725" marR="38100" marT="19050" marB="19050" anchor="ctr">
                    <a:solidFill>
                      <a:srgbClr val="E0E8EF"/>
                    </a:solidFill>
                  </a:tcPr>
                </a:tc>
                <a:tc>
                  <a:txBody>
                    <a:bodyPr wrap="none"/>
                    <a:lstStyle/>
                    <a:p>
                      <a:pPr algn="l"/>
                      <a:r>
                        <a:rPr sz="900" b="1">
                          <a:solidFill>
                            <a:srgbClr val="0B2E4A"/>
                          </a:solidFill>
                          <a:latin typeface="Calibri"/>
                        </a:rPr>
                        <a:t>Retail</a:t>
                      </a:r>
                    </a:p>
                  </a:txBody>
                  <a:tcPr marL="85725" marR="38100" marT="19050" marB="19050" anchor="ctr">
                    <a:solidFill>
                      <a:srgbClr val="E0E8EF"/>
                    </a:solidFill>
                  </a:tcPr>
                </a:tc>
                <a:tc>
                  <a:txBody>
                    <a:bodyPr wrap="none"/>
                    <a:lstStyle/>
                    <a:p>
                      <a:pPr algn="l"/>
                      <a:r>
                        <a:rPr sz="900" b="1">
                          <a:solidFill>
                            <a:srgbClr val="0B2E4A"/>
                          </a:solidFill>
                          <a:latin typeface="Calibri"/>
                        </a:rPr>
                        <a:t>Total Margin (%)</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North America</a:t>
                      </a:r>
                    </a:p>
                  </a:txBody>
                  <a:tcPr marL="85725" marR="38100" marT="19050" marB="19050" anchor="ctr">
                    <a:solidFill>
                      <a:srgbClr val="FFFFFF"/>
                    </a:solidFill>
                  </a:tcPr>
                </a:tc>
                <a:tc>
                  <a:txBody>
                    <a:bodyPr wrap="none"/>
                    <a:lstStyle/>
                    <a:p>
                      <a:pPr algn="l"/>
                      <a:r>
                        <a:rPr sz="900" b="0">
                          <a:solidFill>
                            <a:srgbClr val="2E2E2E"/>
                          </a:solidFill>
                          <a:latin typeface="Calibri"/>
                        </a:rPr>
                        <a:t>246.66</a:t>
                      </a:r>
                    </a:p>
                  </a:txBody>
                  <a:tcPr marL="85725" marR="38100" marT="19050" marB="19050" anchor="ctr">
                    <a:solidFill>
                      <a:srgbClr val="FFFFFF"/>
                    </a:solidFill>
                  </a:tcPr>
                </a:tc>
                <a:tc>
                  <a:txBody>
                    <a:bodyPr wrap="none"/>
                    <a:lstStyle/>
                    <a:p>
                      <a:pPr algn="l"/>
                      <a:r>
                        <a:rPr sz="900" b="0">
                          <a:solidFill>
                            <a:srgbClr val="2E2E2E"/>
                          </a:solidFill>
                          <a:latin typeface="Calibri"/>
                        </a:rPr>
                        <a:t>341.53</a:t>
                      </a:r>
                    </a:p>
                  </a:txBody>
                  <a:tcPr marL="85725" marR="38100" marT="19050" marB="19050" anchor="ctr">
                    <a:solidFill>
                      <a:srgbClr val="FFFFFF"/>
                    </a:solidFill>
                  </a:tcPr>
                </a:tc>
                <a:tc>
                  <a:txBody>
                    <a:bodyPr wrap="none"/>
                    <a:lstStyle/>
                    <a:p>
                      <a:pPr algn="l"/>
                      <a:r>
                        <a:rPr sz="900" b="0">
                          <a:solidFill>
                            <a:srgbClr val="2E2E2E"/>
                          </a:solidFill>
                          <a:latin typeface="Calibri"/>
                        </a:rPr>
                        <a:t>474.35</a:t>
                      </a:r>
                    </a:p>
                  </a:txBody>
                  <a:tcPr marL="85725" marR="38100" marT="19050" marB="19050" anchor="ctr">
                    <a:solidFill>
                      <a:srgbClr val="FFFFFF"/>
                    </a:solidFill>
                  </a:tcPr>
                </a:tc>
                <a:tc>
                  <a:txBody>
                    <a:bodyPr wrap="none"/>
                    <a:lstStyle/>
                    <a:p>
                      <a:pPr algn="l"/>
                      <a:r>
                        <a:rPr sz="900" b="0">
                          <a:solidFill>
                            <a:srgbClr val="2E2E2E"/>
                          </a:solidFill>
                          <a:latin typeface="Calibri"/>
                        </a:rPr>
                        <a:t>48%</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Latin America</a:t>
                      </a:r>
                    </a:p>
                  </a:txBody>
                  <a:tcPr marL="85725" marR="38100" marT="19050" marB="19050" anchor="ctr">
                    <a:solidFill>
                      <a:srgbClr val="F5F8FA"/>
                    </a:solidFill>
                  </a:tcPr>
                </a:tc>
                <a:tc>
                  <a:txBody>
                    <a:bodyPr wrap="none"/>
                    <a:lstStyle/>
                    <a:p>
                      <a:pPr algn="l"/>
                      <a:r>
                        <a:rPr sz="900" b="0">
                          <a:solidFill>
                            <a:srgbClr val="2E2E2E"/>
                          </a:solidFill>
                          <a:latin typeface="Calibri"/>
                        </a:rPr>
                        <a:t>101.70</a:t>
                      </a:r>
                    </a:p>
                  </a:txBody>
                  <a:tcPr marL="85725" marR="38100" marT="19050" marB="19050" anchor="ctr">
                    <a:solidFill>
                      <a:srgbClr val="F5F8FA"/>
                    </a:solidFill>
                  </a:tcPr>
                </a:tc>
                <a:tc>
                  <a:txBody>
                    <a:bodyPr wrap="none"/>
                    <a:lstStyle/>
                    <a:p>
                      <a:pPr algn="l"/>
                      <a:r>
                        <a:rPr sz="900" b="0">
                          <a:solidFill>
                            <a:srgbClr val="2E2E2E"/>
                          </a:solidFill>
                          <a:latin typeface="Calibri"/>
                        </a:rPr>
                        <a:t>139.65</a:t>
                      </a:r>
                    </a:p>
                  </a:txBody>
                  <a:tcPr marL="85725" marR="38100" marT="19050" marB="19050" anchor="ctr">
                    <a:solidFill>
                      <a:srgbClr val="F5F8FA"/>
                    </a:solidFill>
                  </a:tcPr>
                </a:tc>
                <a:tc>
                  <a:txBody>
                    <a:bodyPr wrap="none"/>
                    <a:lstStyle/>
                    <a:p>
                      <a:pPr algn="l"/>
                      <a:r>
                        <a:rPr sz="900" b="0">
                          <a:solidFill>
                            <a:srgbClr val="2E2E2E"/>
                          </a:solidFill>
                          <a:latin typeface="Calibri"/>
                        </a:rPr>
                        <a:t>189.74</a:t>
                      </a:r>
                    </a:p>
                  </a:txBody>
                  <a:tcPr marL="85725" marR="38100" marT="19050" marB="19050" anchor="ctr">
                    <a:solidFill>
                      <a:srgbClr val="F5F8FA"/>
                    </a:solidFill>
                  </a:tcPr>
                </a:tc>
                <a:tc>
                  <a:txBody>
                    <a:bodyPr wrap="none"/>
                    <a:lstStyle/>
                    <a:p>
                      <a:pPr algn="l"/>
                      <a:r>
                        <a:rPr sz="900" b="0">
                          <a:solidFill>
                            <a:srgbClr val="2E2E2E"/>
                          </a:solidFill>
                          <a:latin typeface="Calibri"/>
                        </a:rPr>
                        <a:t>46%</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Europe</a:t>
                      </a:r>
                    </a:p>
                  </a:txBody>
                  <a:tcPr marL="85725" marR="38100" marT="19050" marB="19050" anchor="ctr">
                    <a:solidFill>
                      <a:srgbClr val="FFFFFF"/>
                    </a:solidFill>
                  </a:tcPr>
                </a:tc>
                <a:tc>
                  <a:txBody>
                    <a:bodyPr wrap="none"/>
                    <a:lstStyle/>
                    <a:p>
                      <a:pPr algn="l"/>
                      <a:r>
                        <a:rPr sz="900" b="0">
                          <a:solidFill>
                            <a:srgbClr val="2E2E2E"/>
                          </a:solidFill>
                          <a:latin typeface="Calibri"/>
                        </a:rPr>
                        <a:t>143.59</a:t>
                      </a:r>
                    </a:p>
                  </a:txBody>
                  <a:tcPr marL="85725" marR="38100" marT="19050" marB="19050" anchor="ctr">
                    <a:solidFill>
                      <a:srgbClr val="FFFFFF"/>
                    </a:solidFill>
                  </a:tcPr>
                </a:tc>
                <a:tc>
                  <a:txBody>
                    <a:bodyPr wrap="none"/>
                    <a:lstStyle/>
                    <a:p>
                      <a:pPr algn="l"/>
                      <a:r>
                        <a:rPr sz="900" b="0">
                          <a:solidFill>
                            <a:srgbClr val="2E2E2E"/>
                          </a:solidFill>
                          <a:latin typeface="Calibri"/>
                        </a:rPr>
                        <a:t>195.62</a:t>
                      </a:r>
                    </a:p>
                  </a:txBody>
                  <a:tcPr marL="85725" marR="38100" marT="19050" marB="19050" anchor="ctr">
                    <a:solidFill>
                      <a:srgbClr val="FFFFFF"/>
                    </a:solidFill>
                  </a:tcPr>
                </a:tc>
                <a:tc>
                  <a:txBody>
                    <a:bodyPr wrap="none"/>
                    <a:lstStyle/>
                    <a:p>
                      <a:pPr algn="l"/>
                      <a:r>
                        <a:rPr sz="900" b="0">
                          <a:solidFill>
                            <a:srgbClr val="2E2E2E"/>
                          </a:solidFill>
                          <a:latin typeface="Calibri"/>
                        </a:rPr>
                        <a:t>260.13</a:t>
                      </a:r>
                    </a:p>
                  </a:txBody>
                  <a:tcPr marL="85725" marR="38100" marT="19050" marB="19050" anchor="ctr">
                    <a:solidFill>
                      <a:srgbClr val="FFFFFF"/>
                    </a:solidFill>
                  </a:tcPr>
                </a:tc>
                <a:tc>
                  <a:txBody>
                    <a:bodyPr wrap="none"/>
                    <a:lstStyle/>
                    <a:p>
                      <a:pPr algn="l"/>
                      <a:r>
                        <a:rPr sz="900" b="0">
                          <a:solidFill>
                            <a:srgbClr val="2E2E2E"/>
                          </a:solidFill>
                          <a:latin typeface="Calibri"/>
                        </a:rPr>
                        <a:t>45%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East Asia</a:t>
                      </a:r>
                    </a:p>
                  </a:txBody>
                  <a:tcPr marL="85725" marR="38100" marT="19050" marB="19050" anchor="ctr">
                    <a:solidFill>
                      <a:srgbClr val="F5F8FA"/>
                    </a:solidFill>
                  </a:tcPr>
                </a:tc>
                <a:tc>
                  <a:txBody>
                    <a:bodyPr wrap="none"/>
                    <a:lstStyle/>
                    <a:p>
                      <a:pPr algn="l"/>
                      <a:r>
                        <a:rPr sz="900" b="0">
                          <a:solidFill>
                            <a:srgbClr val="2E2E2E"/>
                          </a:solidFill>
                          <a:latin typeface="Calibri"/>
                        </a:rPr>
                        <a:t>125.15</a:t>
                      </a:r>
                    </a:p>
                  </a:txBody>
                  <a:tcPr marL="85725" marR="38100" marT="19050" marB="19050" anchor="ctr">
                    <a:solidFill>
                      <a:srgbClr val="F5F8FA"/>
                    </a:solidFill>
                  </a:tcPr>
                </a:tc>
                <a:tc>
                  <a:txBody>
                    <a:bodyPr wrap="none"/>
                    <a:lstStyle/>
                    <a:p>
                      <a:pPr algn="l"/>
                      <a:r>
                        <a:rPr sz="900" b="0">
                          <a:solidFill>
                            <a:srgbClr val="2E2E2E"/>
                          </a:solidFill>
                          <a:latin typeface="Calibri"/>
                        </a:rPr>
                        <a:t>169.22</a:t>
                      </a:r>
                    </a:p>
                  </a:txBody>
                  <a:tcPr marL="85725" marR="38100" marT="19050" marB="19050" anchor="ctr">
                    <a:solidFill>
                      <a:srgbClr val="F5F8FA"/>
                    </a:solidFill>
                  </a:tcPr>
                </a:tc>
                <a:tc>
                  <a:txBody>
                    <a:bodyPr wrap="none"/>
                    <a:lstStyle/>
                    <a:p>
                      <a:pPr algn="l"/>
                      <a:r>
                        <a:rPr sz="900" b="0">
                          <a:solidFill>
                            <a:srgbClr val="2E2E2E"/>
                          </a:solidFill>
                          <a:latin typeface="Calibri"/>
                        </a:rPr>
                        <a:t>220.34</a:t>
                      </a:r>
                    </a:p>
                  </a:txBody>
                  <a:tcPr marL="85725" marR="38100" marT="19050" marB="19050" anchor="ctr">
                    <a:solidFill>
                      <a:srgbClr val="F5F8FA"/>
                    </a:solidFill>
                  </a:tcPr>
                </a:tc>
                <a:tc>
                  <a:txBody>
                    <a:bodyPr wrap="none"/>
                    <a:lstStyle/>
                    <a:p>
                      <a:pPr algn="l"/>
                      <a:r>
                        <a:rPr sz="900" b="0">
                          <a:solidFill>
                            <a:srgbClr val="2E2E2E"/>
                          </a:solidFill>
                          <a:latin typeface="Calibri"/>
                        </a:rPr>
                        <a:t>43%</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South Asia &amp; Pacific</a:t>
                      </a:r>
                    </a:p>
                  </a:txBody>
                  <a:tcPr marL="85725" marR="38100" marT="19050" marB="19050" anchor="ctr">
                    <a:solidFill>
                      <a:srgbClr val="FFFFFF"/>
                    </a:solidFill>
                  </a:tcPr>
                </a:tc>
                <a:tc>
                  <a:txBody>
                    <a:bodyPr wrap="none"/>
                    <a:lstStyle/>
                    <a:p>
                      <a:pPr algn="l"/>
                      <a:r>
                        <a:rPr sz="900" b="0">
                          <a:solidFill>
                            <a:srgbClr val="2E2E2E"/>
                          </a:solidFill>
                          <a:latin typeface="Calibri"/>
                        </a:rPr>
                        <a:t>80.43</a:t>
                      </a:r>
                    </a:p>
                  </a:txBody>
                  <a:tcPr marL="85725" marR="38100" marT="19050" marB="19050" anchor="ctr">
                    <a:solidFill>
                      <a:srgbClr val="FFFFFF"/>
                    </a:solidFill>
                  </a:tcPr>
                </a:tc>
                <a:tc>
                  <a:txBody>
                    <a:bodyPr wrap="none"/>
                    <a:lstStyle/>
                    <a:p>
                      <a:pPr algn="l"/>
                      <a:r>
                        <a:rPr sz="900" b="0">
                          <a:solidFill>
                            <a:srgbClr val="2E2E2E"/>
                          </a:solidFill>
                          <a:latin typeface="Calibri"/>
                        </a:rPr>
                        <a:t>107.97</a:t>
                      </a:r>
                    </a:p>
                  </a:txBody>
                  <a:tcPr marL="85725" marR="38100" marT="19050" marB="19050" anchor="ctr">
                    <a:solidFill>
                      <a:srgbClr val="FFFFFF"/>
                    </a:solidFill>
                  </a:tcPr>
                </a:tc>
                <a:tc>
                  <a:txBody>
                    <a:bodyPr wrap="none"/>
                    <a:lstStyle/>
                    <a:p>
                      <a:pPr algn="l"/>
                      <a:r>
                        <a:rPr sz="900" b="0">
                          <a:solidFill>
                            <a:srgbClr val="2E2E2E"/>
                          </a:solidFill>
                          <a:latin typeface="Calibri"/>
                        </a:rPr>
                        <a:t>137.71</a:t>
                      </a:r>
                    </a:p>
                  </a:txBody>
                  <a:tcPr marL="85725" marR="38100" marT="19050" marB="19050" anchor="ctr">
                    <a:solidFill>
                      <a:srgbClr val="FFFFFF"/>
                    </a:solidFill>
                  </a:tcPr>
                </a:tc>
                <a:tc>
                  <a:txBody>
                    <a:bodyPr wrap="none"/>
                    <a:lstStyle/>
                    <a:p>
                      <a:pPr algn="l"/>
                      <a:r>
                        <a:rPr sz="900" b="0">
                          <a:solidFill>
                            <a:srgbClr val="2E2E2E"/>
                          </a:solidFill>
                          <a:latin typeface="Calibri"/>
                        </a:rPr>
                        <a:t>42%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Middle East &amp; Africa</a:t>
                      </a:r>
                    </a:p>
                  </a:txBody>
                  <a:tcPr marL="85725" marR="38100" marT="19050" marB="19050" anchor="ctr">
                    <a:solidFill>
                      <a:srgbClr val="F5F8FA"/>
                    </a:solidFill>
                  </a:tcPr>
                </a:tc>
                <a:tc>
                  <a:txBody>
                    <a:bodyPr wrap="none"/>
                    <a:lstStyle/>
                    <a:p>
                      <a:pPr algn="l"/>
                      <a:r>
                        <a:rPr sz="900" b="0">
                          <a:solidFill>
                            <a:srgbClr val="2E2E2E"/>
                          </a:solidFill>
                          <a:latin typeface="Calibri"/>
                        </a:rPr>
                        <a:t>124.86</a:t>
                      </a:r>
                    </a:p>
                  </a:txBody>
                  <a:tcPr marL="85725" marR="38100" marT="19050" marB="19050" anchor="ctr">
                    <a:solidFill>
                      <a:srgbClr val="F5F8FA"/>
                    </a:solidFill>
                  </a:tcPr>
                </a:tc>
                <a:tc>
                  <a:txBody>
                    <a:bodyPr wrap="none"/>
                    <a:lstStyle/>
                    <a:p>
                      <a:pPr algn="l"/>
                      <a:r>
                        <a:rPr sz="900" b="0">
                          <a:solidFill>
                            <a:srgbClr val="2E2E2E"/>
                          </a:solidFill>
                          <a:latin typeface="Calibri"/>
                        </a:rPr>
                        <a:t>166.48</a:t>
                      </a:r>
                    </a:p>
                  </a:txBody>
                  <a:tcPr marL="85725" marR="38100" marT="19050" marB="19050" anchor="ctr">
                    <a:solidFill>
                      <a:srgbClr val="F5F8FA"/>
                    </a:solidFill>
                  </a:tcPr>
                </a:tc>
                <a:tc>
                  <a:txBody>
                    <a:bodyPr wrap="none"/>
                    <a:lstStyle/>
                    <a:p>
                      <a:pPr algn="l"/>
                      <a:r>
                        <a:rPr sz="900" b="0">
                          <a:solidFill>
                            <a:srgbClr val="2E2E2E"/>
                          </a:solidFill>
                          <a:latin typeface="Calibri"/>
                        </a:rPr>
                        <a:t>208.10</a:t>
                      </a:r>
                    </a:p>
                  </a:txBody>
                  <a:tcPr marL="85725" marR="38100" marT="19050" marB="19050" anchor="ctr">
                    <a:solidFill>
                      <a:srgbClr val="F5F8FA"/>
                    </a:solidFill>
                  </a:tcPr>
                </a:tc>
                <a:tc>
                  <a:txBody>
                    <a:bodyPr wrap="none"/>
                    <a:lstStyle/>
                    <a:p>
                      <a:pPr algn="l"/>
                      <a:r>
                        <a:rPr sz="900" b="0">
                          <a:solidFill>
                            <a:srgbClr val="2E2E2E"/>
                          </a:solidFill>
                          <a:latin typeface="Calibri"/>
                        </a:rPr>
                        <a:t>40%</a:t>
                      </a:r>
                    </a:p>
                  </a:txBody>
                  <a:tcPr marL="85725" marR="38100" marT="19050" marB="19050" anchor="ctr">
                    <a:solidFill>
                      <a:srgbClr val="F5F8FA"/>
                    </a:solidFill>
                  </a:tcPr>
                </a:tc>
              </a:tr>
            </a:tbl>
          </a:graphicData>
        </a:graphic>
      </p:graphicFrame>
      <p:sp>
        <p:nvSpPr>
          <p:cNvPr id="14" name="TextBox 13"/>
          <p:cNvSpPr txBox="1"/>
          <p:nvPr/>
        </p:nvSpPr>
        <p:spPr>
          <a:xfrm>
            <a:off x="219075" y="3895725"/>
            <a:ext cx="575310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6200775" y="1181100"/>
            <a:ext cx="5848350" cy="2857500"/>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6025" y="1238250"/>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(US$/unit)</a:t>
            </a:r>
          </a:p>
        </p:txBody>
      </p:sp>
      <p:graphicFrame>
        <p:nvGraphicFramePr>
          <p:cNvPr id="17" name="Table 16"/>
          <p:cNvGraphicFramePr>
            <a:graphicFrameLocks noGrp="1"/>
          </p:cNvGraphicFramePr>
          <p:nvPr/>
        </p:nvGraphicFramePr>
        <p:xfrm>
          <a:off x="6296025" y="1466850"/>
          <a:ext cx="5657851" cy="1266825"/>
        </p:xfrm>
        <a:graphic>
          <a:graphicData uri="http://schemas.openxmlformats.org/drawingml/2006/table">
            <a:tbl>
              <a:tblPr>
                <a:tableStyleId>{5C22544A-7EE6-4342-B048-85BDC9FD1C3A}</a:tableStyleId>
              </a:tblPr>
              <a:tblGrid>
                <a:gridCol w="1697355"/>
                <a:gridCol w="990124"/>
                <a:gridCol w="990124"/>
                <a:gridCol w="990124"/>
                <a:gridCol w="990124"/>
              </a:tblGrid>
              <a:tr h="180975">
                <a:tc>
                  <a:txBody>
                    <a:bodyPr wrap="none"/>
                    <a:lstStyle/>
                    <a:p>
                      <a:pPr algn="l"/>
                      <a:r>
                        <a:rPr sz="900" b="1">
                          <a:solidFill>
                            <a:srgbClr val="0B2E4A"/>
                          </a:solidFill>
                          <a:latin typeface="Calibri"/>
                        </a:rPr>
                        <a:t>Geography</a:t>
                      </a:r>
                    </a:p>
                  </a:txBody>
                  <a:tcPr marL="85725" marR="38100" marT="19050" marB="19050" anchor="ctr">
                    <a:solidFill>
                      <a:srgbClr val="E0E8EF"/>
                    </a:solidFill>
                  </a:tcPr>
                </a:tc>
                <a:tc>
                  <a:txBody>
                    <a:bodyPr wrap="none"/>
                    <a:lstStyle/>
                    <a:p>
                      <a:pPr algn="l"/>
                      <a:r>
                        <a:rPr sz="900" b="1">
                          <a:solidFill>
                            <a:srgbClr val="0B2E4A"/>
                          </a:solidFill>
                          <a:latin typeface="Calibri"/>
                        </a:rPr>
                        <a:t>2026</a:t>
                      </a:r>
                    </a:p>
                  </a:txBody>
                  <a:tcPr marL="85725" marR="38100" marT="19050" marB="19050" anchor="ctr">
                    <a:solidFill>
                      <a:srgbClr val="E0E8EF"/>
                    </a:solidFill>
                  </a:tcPr>
                </a:tc>
                <a:tc>
                  <a:txBody>
                    <a:bodyPr wrap="none"/>
                    <a:lstStyle/>
                    <a:p>
                      <a:pPr algn="l"/>
                      <a:r>
                        <a:rPr sz="900" b="1">
                          <a:solidFill>
                            <a:srgbClr val="0B2E4A"/>
                          </a:solidFill>
                          <a:latin typeface="Calibri"/>
                        </a:rPr>
                        <a:t>2029</a:t>
                      </a:r>
                    </a:p>
                  </a:txBody>
                  <a:tcPr marL="85725" marR="38100" marT="19050" marB="19050" anchor="ctr">
                    <a:solidFill>
                      <a:srgbClr val="E0E8EF"/>
                    </a:solidFill>
                  </a:tcPr>
                </a:tc>
                <a:tc>
                  <a:txBody>
                    <a:bodyPr wrap="none"/>
                    <a:lstStyle/>
                    <a:p>
                      <a:pPr algn="l"/>
                      <a:r>
                        <a:rPr sz="900" b="1">
                          <a:solidFill>
                            <a:srgbClr val="0B2E4A"/>
                          </a:solidFill>
                          <a:latin typeface="Calibri"/>
                        </a:rPr>
                        <a:t>2032</a:t>
                      </a:r>
                    </a:p>
                  </a:txBody>
                  <a:tcPr marL="85725" marR="38100" marT="19050" marB="19050" anchor="ctr">
                    <a:solidFill>
                      <a:srgbClr val="E0E8EF"/>
                    </a:solidFill>
                  </a:tcPr>
                </a:tc>
                <a:tc>
                  <a:txBody>
                    <a:bodyPr wrap="none"/>
                    <a:lstStyle/>
                    <a:p>
                      <a:pPr algn="l"/>
                      <a:r>
                        <a:rPr sz="9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North America</a:t>
                      </a:r>
                    </a:p>
                  </a:txBody>
                  <a:tcPr marL="85725" marR="38100" marT="19050" marB="19050" anchor="ctr">
                    <a:solidFill>
                      <a:srgbClr val="FFFFFF"/>
                    </a:solidFill>
                  </a:tcPr>
                </a:tc>
                <a:tc>
                  <a:txBody>
                    <a:bodyPr wrap="none"/>
                    <a:lstStyle/>
                    <a:p>
                      <a:pPr algn="l"/>
                      <a:r>
                        <a:rPr sz="900" b="0">
                          <a:solidFill>
                            <a:srgbClr val="2E2E2E"/>
                          </a:solidFill>
                          <a:latin typeface="Calibri"/>
                        </a:rPr>
                        <a:t>474.35</a:t>
                      </a:r>
                    </a:p>
                  </a:txBody>
                  <a:tcPr marL="85725" marR="38100" marT="19050" marB="19050" anchor="ctr">
                    <a:solidFill>
                      <a:srgbClr val="FFFFFF"/>
                    </a:solidFill>
                  </a:tcPr>
                </a:tc>
                <a:tc>
                  <a:txBody>
                    <a:bodyPr wrap="none"/>
                    <a:lstStyle/>
                    <a:p>
                      <a:pPr algn="l"/>
                      <a:r>
                        <a:rPr sz="900" b="0">
                          <a:solidFill>
                            <a:srgbClr val="2E2E2E"/>
                          </a:solidFill>
                          <a:latin typeface="Calibri"/>
                        </a:rPr>
                        <a:t>420.09</a:t>
                      </a:r>
                    </a:p>
                  </a:txBody>
                  <a:tcPr marL="85725" marR="38100" marT="19050" marB="19050" anchor="ctr">
                    <a:solidFill>
                      <a:srgbClr val="FFFFFF"/>
                    </a:solidFill>
                  </a:tcPr>
                </a:tc>
                <a:tc>
                  <a:txBody>
                    <a:bodyPr wrap="none"/>
                    <a:lstStyle/>
                    <a:p>
                      <a:pPr algn="l"/>
                      <a:r>
                        <a:rPr sz="900" b="0">
                          <a:solidFill>
                            <a:srgbClr val="2E2E2E"/>
                          </a:solidFill>
                          <a:latin typeface="Calibri"/>
                        </a:rPr>
                        <a:t>372.08</a:t>
                      </a:r>
                    </a:p>
                  </a:txBody>
                  <a:tcPr marL="85725" marR="38100" marT="19050" marB="19050" anchor="ctr">
                    <a:solidFill>
                      <a:srgbClr val="FFFFFF"/>
                    </a:solidFill>
                  </a:tcPr>
                </a:tc>
                <a:tc>
                  <a:txBody>
                    <a:bodyPr wrap="none"/>
                    <a:lstStyle/>
                    <a:p>
                      <a:pPr algn="l"/>
                      <a:r>
                        <a:rPr sz="900" b="0">
                          <a:solidFill>
                            <a:srgbClr val="2E2E2E"/>
                          </a:solidFill>
                          <a:latin typeface="Calibri"/>
                        </a:rPr>
                        <a:t>316.55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Latin America</a:t>
                      </a:r>
                    </a:p>
                  </a:txBody>
                  <a:tcPr marL="85725" marR="38100" marT="19050" marB="19050" anchor="ctr">
                    <a:solidFill>
                      <a:srgbClr val="F5F8FA"/>
                    </a:solidFill>
                  </a:tcPr>
                </a:tc>
                <a:tc>
                  <a:txBody>
                    <a:bodyPr wrap="none"/>
                    <a:lstStyle/>
                    <a:p>
                      <a:pPr algn="l"/>
                      <a:r>
                        <a:rPr sz="900" b="0">
                          <a:solidFill>
                            <a:srgbClr val="2E2E2E"/>
                          </a:solidFill>
                          <a:latin typeface="Calibri"/>
                        </a:rPr>
                        <a:t>189.74</a:t>
                      </a:r>
                    </a:p>
                  </a:txBody>
                  <a:tcPr marL="85725" marR="38100" marT="19050" marB="19050" anchor="ctr">
                    <a:solidFill>
                      <a:srgbClr val="F5F8FA"/>
                    </a:solidFill>
                  </a:tcPr>
                </a:tc>
                <a:tc>
                  <a:txBody>
                    <a:bodyPr wrap="none"/>
                    <a:lstStyle/>
                    <a:p>
                      <a:pPr algn="l"/>
                      <a:r>
                        <a:rPr sz="900" b="0">
                          <a:solidFill>
                            <a:srgbClr val="2E2E2E"/>
                          </a:solidFill>
                          <a:latin typeface="Calibri"/>
                        </a:rPr>
                        <a:t>168.03</a:t>
                      </a:r>
                    </a:p>
                  </a:txBody>
                  <a:tcPr marL="85725" marR="38100" marT="19050" marB="19050" anchor="ctr">
                    <a:solidFill>
                      <a:srgbClr val="F5F8FA"/>
                    </a:solidFill>
                  </a:tcPr>
                </a:tc>
                <a:tc>
                  <a:txBody>
                    <a:bodyPr wrap="none"/>
                    <a:lstStyle/>
                    <a:p>
                      <a:pPr algn="l"/>
                      <a:r>
                        <a:rPr sz="900" b="0">
                          <a:solidFill>
                            <a:srgbClr val="2E2E2E"/>
                          </a:solidFill>
                          <a:latin typeface="Calibri"/>
                        </a:rPr>
                        <a:t>148.83</a:t>
                      </a:r>
                    </a:p>
                  </a:txBody>
                  <a:tcPr marL="85725" marR="38100" marT="19050" marB="19050" anchor="ctr">
                    <a:solidFill>
                      <a:srgbClr val="F5F8FA"/>
                    </a:solidFill>
                  </a:tcPr>
                </a:tc>
                <a:tc>
                  <a:txBody>
                    <a:bodyPr wrap="none"/>
                    <a:lstStyle/>
                    <a:p>
                      <a:pPr algn="l"/>
                      <a:r>
                        <a:rPr sz="900" b="0">
                          <a:solidFill>
                            <a:srgbClr val="2E2E2E"/>
                          </a:solidFill>
                          <a:latin typeface="Calibri"/>
                        </a:rPr>
                        <a:t>126.62</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Europe</a:t>
                      </a:r>
                    </a:p>
                  </a:txBody>
                  <a:tcPr marL="85725" marR="38100" marT="19050" marB="19050" anchor="ctr">
                    <a:solidFill>
                      <a:srgbClr val="FFFFFF"/>
                    </a:solidFill>
                  </a:tcPr>
                </a:tc>
                <a:tc>
                  <a:txBody>
                    <a:bodyPr wrap="none"/>
                    <a:lstStyle/>
                    <a:p>
                      <a:pPr algn="l"/>
                      <a:r>
                        <a:rPr sz="900" b="0">
                          <a:solidFill>
                            <a:srgbClr val="2E2E2E"/>
                          </a:solidFill>
                          <a:latin typeface="Calibri"/>
                        </a:rPr>
                        <a:t>260.13</a:t>
                      </a:r>
                    </a:p>
                  </a:txBody>
                  <a:tcPr marL="85725" marR="38100" marT="19050" marB="19050" anchor="ctr">
                    <a:solidFill>
                      <a:srgbClr val="FFFFFF"/>
                    </a:solidFill>
                  </a:tcPr>
                </a:tc>
                <a:tc>
                  <a:txBody>
                    <a:bodyPr wrap="none"/>
                    <a:lstStyle/>
                    <a:p>
                      <a:pPr algn="l"/>
                      <a:r>
                        <a:rPr sz="900" b="0">
                          <a:solidFill>
                            <a:srgbClr val="2E2E2E"/>
                          </a:solidFill>
                          <a:latin typeface="Calibri"/>
                        </a:rPr>
                        <a:t>230.37</a:t>
                      </a:r>
                    </a:p>
                  </a:txBody>
                  <a:tcPr marL="85725" marR="38100" marT="19050" marB="19050" anchor="ctr">
                    <a:solidFill>
                      <a:srgbClr val="FFFFFF"/>
                    </a:solidFill>
                  </a:tcPr>
                </a:tc>
                <a:tc>
                  <a:txBody>
                    <a:bodyPr wrap="none"/>
                    <a:lstStyle/>
                    <a:p>
                      <a:pPr algn="l"/>
                      <a:r>
                        <a:rPr sz="900" b="0">
                          <a:solidFill>
                            <a:srgbClr val="2E2E2E"/>
                          </a:solidFill>
                          <a:latin typeface="Calibri"/>
                        </a:rPr>
                        <a:t>204.04</a:t>
                      </a:r>
                    </a:p>
                  </a:txBody>
                  <a:tcPr marL="85725" marR="38100" marT="19050" marB="19050" anchor="ctr">
                    <a:solidFill>
                      <a:srgbClr val="FFFFFF"/>
                    </a:solidFill>
                  </a:tcPr>
                </a:tc>
                <a:tc>
                  <a:txBody>
                    <a:bodyPr wrap="none"/>
                    <a:lstStyle/>
                    <a:p>
                      <a:pPr algn="l"/>
                      <a:r>
                        <a:rPr sz="900" b="0">
                          <a:solidFill>
                            <a:srgbClr val="2E2E2E"/>
                          </a:solidFill>
                          <a:latin typeface="Calibri"/>
                        </a:rPr>
                        <a:t>173.59</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East Asia</a:t>
                      </a:r>
                    </a:p>
                  </a:txBody>
                  <a:tcPr marL="85725" marR="38100" marT="19050" marB="19050" anchor="ctr">
                    <a:solidFill>
                      <a:srgbClr val="F5F8FA"/>
                    </a:solidFill>
                  </a:tcPr>
                </a:tc>
                <a:tc>
                  <a:txBody>
                    <a:bodyPr wrap="none"/>
                    <a:lstStyle/>
                    <a:p>
                      <a:pPr algn="l"/>
                      <a:r>
                        <a:rPr sz="900" b="0">
                          <a:solidFill>
                            <a:srgbClr val="2E2E2E"/>
                          </a:solidFill>
                          <a:latin typeface="Calibri"/>
                        </a:rPr>
                        <a:t>220.34</a:t>
                      </a:r>
                    </a:p>
                  </a:txBody>
                  <a:tcPr marL="85725" marR="38100" marT="19050" marB="19050" anchor="ctr">
                    <a:solidFill>
                      <a:srgbClr val="F5F8FA"/>
                    </a:solidFill>
                  </a:tcPr>
                </a:tc>
                <a:tc>
                  <a:txBody>
                    <a:bodyPr wrap="none"/>
                    <a:lstStyle/>
                    <a:p>
                      <a:pPr algn="l"/>
                      <a:r>
                        <a:rPr sz="900" b="0">
                          <a:solidFill>
                            <a:srgbClr val="2E2E2E"/>
                          </a:solidFill>
                          <a:latin typeface="Calibri"/>
                        </a:rPr>
                        <a:t>195.14</a:t>
                      </a:r>
                    </a:p>
                  </a:txBody>
                  <a:tcPr marL="85725" marR="38100" marT="19050" marB="19050" anchor="ctr">
                    <a:solidFill>
                      <a:srgbClr val="F5F8FA"/>
                    </a:solidFill>
                  </a:tcPr>
                </a:tc>
                <a:tc>
                  <a:txBody>
                    <a:bodyPr wrap="none"/>
                    <a:lstStyle/>
                    <a:p>
                      <a:pPr algn="l"/>
                      <a:r>
                        <a:rPr sz="900" b="0">
                          <a:solidFill>
                            <a:srgbClr val="2E2E2E"/>
                          </a:solidFill>
                          <a:latin typeface="Calibri"/>
                        </a:rPr>
                        <a:t>172.84</a:t>
                      </a:r>
                    </a:p>
                  </a:txBody>
                  <a:tcPr marL="85725" marR="38100" marT="19050" marB="19050" anchor="ctr">
                    <a:solidFill>
                      <a:srgbClr val="F5F8FA"/>
                    </a:solidFill>
                  </a:tcPr>
                </a:tc>
                <a:tc>
                  <a:txBody>
                    <a:bodyPr wrap="none"/>
                    <a:lstStyle/>
                    <a:p>
                      <a:pPr algn="l"/>
                      <a:r>
                        <a:rPr sz="900" b="0">
                          <a:solidFill>
                            <a:srgbClr val="2E2E2E"/>
                          </a:solidFill>
                          <a:latin typeface="Calibri"/>
                        </a:rPr>
                        <a:t>147.04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South Asia &amp; Pacific</a:t>
                      </a:r>
                    </a:p>
                  </a:txBody>
                  <a:tcPr marL="85725" marR="38100" marT="19050" marB="19050" anchor="ctr">
                    <a:solidFill>
                      <a:srgbClr val="FFFFFF"/>
                    </a:solidFill>
                  </a:tcPr>
                </a:tc>
                <a:tc>
                  <a:txBody>
                    <a:bodyPr wrap="none"/>
                    <a:lstStyle/>
                    <a:p>
                      <a:pPr algn="l"/>
                      <a:r>
                        <a:rPr sz="900" b="0">
                          <a:solidFill>
                            <a:srgbClr val="2E2E2E"/>
                          </a:solidFill>
                          <a:latin typeface="Calibri"/>
                        </a:rPr>
                        <a:t>137.71</a:t>
                      </a:r>
                    </a:p>
                  </a:txBody>
                  <a:tcPr marL="85725" marR="38100" marT="19050" marB="19050" anchor="ctr">
                    <a:solidFill>
                      <a:srgbClr val="FFFFFF"/>
                    </a:solidFill>
                  </a:tcPr>
                </a:tc>
                <a:tc>
                  <a:txBody>
                    <a:bodyPr wrap="none"/>
                    <a:lstStyle/>
                    <a:p>
                      <a:pPr algn="l"/>
                      <a:r>
                        <a:rPr sz="900" b="0">
                          <a:solidFill>
                            <a:srgbClr val="2E2E2E"/>
                          </a:solidFill>
                          <a:latin typeface="Calibri"/>
                        </a:rPr>
                        <a:t>121.96</a:t>
                      </a:r>
                    </a:p>
                  </a:txBody>
                  <a:tcPr marL="85725" marR="38100" marT="19050" marB="19050" anchor="ctr">
                    <a:solidFill>
                      <a:srgbClr val="FFFFFF"/>
                    </a:solidFill>
                  </a:tcPr>
                </a:tc>
                <a:tc>
                  <a:txBody>
                    <a:bodyPr wrap="none"/>
                    <a:lstStyle/>
                    <a:p>
                      <a:pPr algn="l"/>
                      <a:r>
                        <a:rPr sz="900" b="0">
                          <a:solidFill>
                            <a:srgbClr val="2E2E2E"/>
                          </a:solidFill>
                          <a:latin typeface="Calibri"/>
                        </a:rPr>
                        <a:t>108.02</a:t>
                      </a:r>
                    </a:p>
                  </a:txBody>
                  <a:tcPr marL="85725" marR="38100" marT="19050" marB="19050" anchor="ctr">
                    <a:solidFill>
                      <a:srgbClr val="FFFFFF"/>
                    </a:solidFill>
                  </a:tcPr>
                </a:tc>
                <a:tc>
                  <a:txBody>
                    <a:bodyPr wrap="none"/>
                    <a:lstStyle/>
                    <a:p>
                      <a:pPr algn="l"/>
                      <a:r>
                        <a:rPr sz="900" b="0">
                          <a:solidFill>
                            <a:srgbClr val="2E2E2E"/>
                          </a:solidFill>
                          <a:latin typeface="Calibri"/>
                        </a:rPr>
                        <a:t>91.90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Middle East &amp; Africa</a:t>
                      </a:r>
                    </a:p>
                  </a:txBody>
                  <a:tcPr marL="85725" marR="38100" marT="19050" marB="19050" anchor="ctr">
                    <a:solidFill>
                      <a:srgbClr val="F5F8FA"/>
                    </a:solidFill>
                  </a:tcPr>
                </a:tc>
                <a:tc>
                  <a:txBody>
                    <a:bodyPr wrap="none"/>
                    <a:lstStyle/>
                    <a:p>
                      <a:pPr algn="l"/>
                      <a:r>
                        <a:rPr sz="900" b="0">
                          <a:solidFill>
                            <a:srgbClr val="2E2E2E"/>
                          </a:solidFill>
                          <a:latin typeface="Calibri"/>
                        </a:rPr>
                        <a:t>208.10</a:t>
                      </a:r>
                    </a:p>
                  </a:txBody>
                  <a:tcPr marL="85725" marR="38100" marT="19050" marB="19050" anchor="ctr">
                    <a:solidFill>
                      <a:srgbClr val="F5F8FA"/>
                    </a:solidFill>
                  </a:tcPr>
                </a:tc>
                <a:tc>
                  <a:txBody>
                    <a:bodyPr wrap="none"/>
                    <a:lstStyle/>
                    <a:p>
                      <a:pPr algn="l"/>
                      <a:r>
                        <a:rPr sz="900" b="0">
                          <a:solidFill>
                            <a:srgbClr val="2E2E2E"/>
                          </a:solidFill>
                          <a:latin typeface="Calibri"/>
                        </a:rPr>
                        <a:t>184.30</a:t>
                      </a:r>
                    </a:p>
                  </a:txBody>
                  <a:tcPr marL="85725" marR="38100" marT="19050" marB="19050" anchor="ctr">
                    <a:solidFill>
                      <a:srgbClr val="F5F8FA"/>
                    </a:solidFill>
                  </a:tcPr>
                </a:tc>
                <a:tc>
                  <a:txBody>
                    <a:bodyPr wrap="none"/>
                    <a:lstStyle/>
                    <a:p>
                      <a:pPr algn="l"/>
                      <a:r>
                        <a:rPr sz="900" b="0">
                          <a:solidFill>
                            <a:srgbClr val="2E2E2E"/>
                          </a:solidFill>
                          <a:latin typeface="Calibri"/>
                        </a:rPr>
                        <a:t>163.23</a:t>
                      </a:r>
                    </a:p>
                  </a:txBody>
                  <a:tcPr marL="85725" marR="38100" marT="19050" marB="19050" anchor="ctr">
                    <a:solidFill>
                      <a:srgbClr val="F5F8FA"/>
                    </a:solidFill>
                  </a:tcPr>
                </a:tc>
                <a:tc>
                  <a:txBody>
                    <a:bodyPr wrap="none"/>
                    <a:lstStyle/>
                    <a:p>
                      <a:pPr algn="l"/>
                      <a:r>
                        <a:rPr sz="900" b="0">
                          <a:solidFill>
                            <a:srgbClr val="2E2E2E"/>
                          </a:solidFill>
                          <a:latin typeface="Calibri"/>
                        </a:rPr>
                        <a:t>138.87</a:t>
                      </a:r>
                    </a:p>
                  </a:txBody>
                  <a:tcPr marL="85725" marR="38100" marT="19050" marB="19050" anchor="ctr">
                    <a:solidFill>
                      <a:srgbClr val="F5F8FA"/>
                    </a:solidFill>
                  </a:tcPr>
                </a:tc>
              </a:tr>
            </a:tbl>
          </a:graphicData>
        </a:graphic>
      </p:graphicFrame>
      <p:sp>
        <p:nvSpPr>
          <p:cNvPr id="18" name="TextBox 17"/>
          <p:cNvSpPr txBox="1"/>
          <p:nvPr/>
        </p:nvSpPr>
        <p:spPr>
          <a:xfrm>
            <a:off x="6276975" y="3895725"/>
            <a:ext cx="56959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ounded Rectangle 18"/>
          <p:cNvSpPr/>
          <p:nvPr/>
        </p:nvSpPr>
        <p:spPr>
          <a:xfrm>
            <a:off x="142875" y="4191000"/>
            <a:ext cx="11906250" cy="2457450"/>
          </a:xfrm>
          <a:prstGeom prst="roundRect">
            <a:avLst>
              <a:gd name="adj" fmla="val 31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276725"/>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This Section Covers</a:t>
            </a:r>
          </a:p>
        </p:txBody>
      </p:sp>
      <p:sp>
        <p:nvSpPr>
          <p:cNvPr id="21" name="Rectangle 20"/>
          <p:cNvSpPr/>
          <p:nvPr/>
        </p:nvSpPr>
        <p:spPr>
          <a:xfrm>
            <a:off x="276225" y="4514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00575"/>
            <a:ext cx="11639550" cy="19716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3" name="Rectangle 2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5" name="Rounded Rectangle 24">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6" name="Rounded Rectangle 25">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North America Pricing Benchmarking</a:t>
            </a:r>
          </a:p>
        </p:txBody>
      </p:sp>
      <p:sp>
        <p:nvSpPr>
          <p:cNvPr id="10" name="Rounded Rectangle 9"/>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Development-stage price assumptions and manufacturer benchmarking price range by product type type and region (US$/unit).</a:t>
            </a:r>
          </a:p>
        </p:txBody>
      </p:sp>
      <p:sp>
        <p:nvSpPr>
          <p:cNvPr id="11" name="Rounded Rectangle 10"/>
          <p:cNvSpPr/>
          <p:nvPr/>
        </p:nvSpPr>
        <p:spPr>
          <a:xfrm>
            <a:off x="142875" y="1181100"/>
            <a:ext cx="1190625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23825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Product Type (US$/unit)</a:t>
            </a:r>
          </a:p>
        </p:txBody>
      </p:sp>
      <p:graphicFrame>
        <p:nvGraphicFramePr>
          <p:cNvPr id="13" name="Table 12"/>
          <p:cNvGraphicFramePr>
            <a:graphicFrameLocks noGrp="1"/>
          </p:cNvGraphicFramePr>
          <p:nvPr/>
        </p:nvGraphicFramePr>
        <p:xfrm>
          <a:off x="238125" y="1466850"/>
          <a:ext cx="11715745" cy="1266825"/>
        </p:xfrm>
        <a:graphic>
          <a:graphicData uri="http://schemas.openxmlformats.org/drawingml/2006/table">
            <a:tbl>
              <a:tblPr>
                <a:tableStyleId>{5C22544A-7EE6-4342-B048-85BDC9FD1C3A}</a:tableStyleId>
              </a:tblPr>
              <a:tblGrid>
                <a:gridCol w="1982665"/>
                <a:gridCol w="811090"/>
                <a:gridCol w="811090"/>
                <a:gridCol w="811090"/>
                <a:gridCol w="811090"/>
                <a:gridCol w="811090"/>
                <a:gridCol w="811090"/>
                <a:gridCol w="811090"/>
                <a:gridCol w="811090"/>
                <a:gridCol w="811090"/>
                <a:gridCol w="811090"/>
                <a:gridCol w="811090"/>
                <a:gridCol w="811090"/>
              </a:tblGrid>
              <a:tr h="180975">
                <a:tc>
                  <a:txBody>
                    <a:bodyPr wrap="none"/>
                    <a:lstStyle/>
                    <a:p>
                      <a:pPr algn="l"/>
                      <a:r>
                        <a:rPr sz="800" b="1">
                          <a:solidFill>
                            <a:srgbClr val="0B2E4A"/>
                          </a:solidFill>
                          <a:latin typeface="Calibri"/>
                        </a:rPr>
                        <a:t>Region</a:t>
                      </a:r>
                    </a:p>
                  </a:txBody>
                  <a:tcPr marL="85725" marR="38100" marT="19050" marB="19050" anchor="ctr">
                    <a:solidFill>
                      <a:srgbClr val="E0E8EF"/>
                    </a:solidFill>
                  </a:tcPr>
                </a:tc>
                <a:tc>
                  <a:txBody>
                    <a:bodyPr wrap="none"/>
                    <a:lstStyle/>
                    <a:p>
                      <a:pPr algn="l"/>
                      <a:r>
                        <a:rPr sz="800" b="1">
                          <a:solidFill>
                            <a:srgbClr val="0B2E4A"/>
                          </a:solidFill>
                          <a:latin typeface="Calibri"/>
                        </a:rPr>
                        <a:t>Amjevita / Amgevita</a:t>
                      </a:r>
                    </a:p>
                  </a:txBody>
                  <a:tcPr marL="85725" marR="38100" marT="19050" marB="19050" anchor="ctr">
                    <a:solidFill>
                      <a:srgbClr val="E0E8EF"/>
                    </a:solidFill>
                  </a:tcPr>
                </a:tc>
                <a:tc>
                  <a:txBody>
                    <a:bodyPr wrap="none"/>
                    <a:lstStyle/>
                    <a:p>
                      <a:pPr algn="l"/>
                      <a:r>
                        <a:rPr sz="800" b="1">
                          <a:solidFill>
                            <a:srgbClr val="0B2E4A"/>
                          </a:solidFill>
                          <a:latin typeface="Calibri"/>
                        </a:rPr>
                        <a:t>Cyltezo</a:t>
                      </a:r>
                    </a:p>
                  </a:txBody>
                  <a:tcPr marL="85725" marR="38100" marT="19050" marB="19050" anchor="ctr">
                    <a:solidFill>
                      <a:srgbClr val="E0E8EF"/>
                    </a:solidFill>
                  </a:tcPr>
                </a:tc>
                <a:tc>
                  <a:txBody>
                    <a:bodyPr wrap="none"/>
                    <a:lstStyle/>
                    <a:p>
                      <a:pPr algn="l"/>
                      <a:r>
                        <a:rPr sz="800" b="1">
                          <a:solidFill>
                            <a:srgbClr val="0B2E4A"/>
                          </a:solidFill>
                          <a:latin typeface="Calibri"/>
                        </a:rPr>
                        <a:t>Hadlima / Imraldi</a:t>
                      </a:r>
                    </a:p>
                  </a:txBody>
                  <a:tcPr marL="85725" marR="38100" marT="19050" marB="19050" anchor="ctr">
                    <a:solidFill>
                      <a:srgbClr val="E0E8EF"/>
                    </a:solidFill>
                  </a:tcPr>
                </a:tc>
                <a:tc>
                  <a:txBody>
                    <a:bodyPr wrap="none"/>
                    <a:lstStyle/>
                    <a:p>
                      <a:pPr algn="l"/>
                      <a:r>
                        <a:rPr sz="800" b="1">
                          <a:solidFill>
                            <a:srgbClr val="0B2E4A"/>
                          </a:solidFill>
                          <a:latin typeface="Calibri"/>
                        </a:rPr>
                        <a:t>Hyrimoz / Halimatoz / Hefiya</a:t>
                      </a:r>
                    </a:p>
                  </a:txBody>
                  <a:tcPr marL="85725" marR="38100" marT="19050" marB="19050" anchor="ctr">
                    <a:solidFill>
                      <a:srgbClr val="E0E8EF"/>
                    </a:solidFill>
                  </a:tcPr>
                </a:tc>
                <a:tc>
                  <a:txBody>
                    <a:bodyPr wrap="none"/>
                    <a:lstStyle/>
                    <a:p>
                      <a:pPr algn="l"/>
                      <a:r>
                        <a:rPr sz="800" b="1">
                          <a:solidFill>
                            <a:srgbClr val="0B2E4A"/>
                          </a:solidFill>
                          <a:latin typeface="Calibri"/>
                        </a:rPr>
                        <a:t>Idacio</a:t>
                      </a:r>
                    </a:p>
                  </a:txBody>
                  <a:tcPr marL="85725" marR="38100" marT="19050" marB="19050" anchor="ctr">
                    <a:solidFill>
                      <a:srgbClr val="E0E8EF"/>
                    </a:solidFill>
                  </a:tcPr>
                </a:tc>
                <a:tc>
                  <a:txBody>
                    <a:bodyPr wrap="none"/>
                    <a:lstStyle/>
                    <a:p>
                      <a:pPr algn="l"/>
                      <a:r>
                        <a:rPr sz="800" b="1">
                          <a:solidFill>
                            <a:srgbClr val="0B2E4A"/>
                          </a:solidFill>
                          <a:latin typeface="Calibri"/>
                        </a:rPr>
                        <a:t>Hulio</a:t>
                      </a:r>
                    </a:p>
                  </a:txBody>
                  <a:tcPr marL="85725" marR="38100" marT="19050" marB="19050" anchor="ctr">
                    <a:solidFill>
                      <a:srgbClr val="E0E8EF"/>
                    </a:solidFill>
                  </a:tcPr>
                </a:tc>
                <a:tc>
                  <a:txBody>
                    <a:bodyPr wrap="none"/>
                    <a:lstStyle/>
                    <a:p>
                      <a:pPr algn="l"/>
                      <a:r>
                        <a:rPr sz="800" b="1">
                          <a:solidFill>
                            <a:srgbClr val="0B2E4A"/>
                          </a:solidFill>
                          <a:latin typeface="Calibri"/>
                        </a:rPr>
                        <a:t>Abrilada / Amsparity</a:t>
                      </a:r>
                    </a:p>
                  </a:txBody>
                  <a:tcPr marL="85725" marR="38100" marT="19050" marB="19050" anchor="ctr">
                    <a:solidFill>
                      <a:srgbClr val="E0E8EF"/>
                    </a:solidFill>
                  </a:tcPr>
                </a:tc>
                <a:tc>
                  <a:txBody>
                    <a:bodyPr wrap="none"/>
                    <a:lstStyle/>
                    <a:p>
                      <a:pPr algn="l"/>
                      <a:r>
                        <a:rPr sz="800" b="1">
                          <a:solidFill>
                            <a:srgbClr val="0B2E4A"/>
                          </a:solidFill>
                          <a:latin typeface="Calibri"/>
                        </a:rPr>
                        <a:t>Yusimry</a:t>
                      </a:r>
                    </a:p>
                  </a:txBody>
                  <a:tcPr marL="85725" marR="38100" marT="19050" marB="19050" anchor="ctr">
                    <a:solidFill>
                      <a:srgbClr val="E0E8EF"/>
                    </a:solidFill>
                  </a:tcPr>
                </a:tc>
                <a:tc>
                  <a:txBody>
                    <a:bodyPr wrap="none"/>
                    <a:lstStyle/>
                    <a:p>
                      <a:pPr algn="l"/>
                      <a:r>
                        <a:rPr sz="800" b="1">
                          <a:solidFill>
                            <a:srgbClr val="0B2E4A"/>
                          </a:solidFill>
                          <a:latin typeface="Calibri"/>
                        </a:rPr>
                        <a:t>Yuflyma</a:t>
                      </a:r>
                    </a:p>
                  </a:txBody>
                  <a:tcPr marL="85725" marR="38100" marT="19050" marB="19050" anchor="ctr">
                    <a:solidFill>
                      <a:srgbClr val="E0E8EF"/>
                    </a:solidFill>
                  </a:tcPr>
                </a:tc>
                <a:tc>
                  <a:txBody>
                    <a:bodyPr wrap="none"/>
                    <a:lstStyle/>
                    <a:p>
                      <a:pPr algn="l"/>
                      <a:r>
                        <a:rPr sz="800" b="1">
                          <a:solidFill>
                            <a:srgbClr val="0B2E4A"/>
                          </a:solidFill>
                          <a:latin typeface="Calibri"/>
                        </a:rPr>
                        <a:t>Simlandi</a:t>
                      </a:r>
                    </a:p>
                  </a:txBody>
                  <a:tcPr marL="85725" marR="38100" marT="19050" marB="19050" anchor="ctr">
                    <a:solidFill>
                      <a:srgbClr val="E0E8EF"/>
                    </a:solidFill>
                  </a:tcPr>
                </a:tc>
                <a:tc>
                  <a:txBody>
                    <a:bodyPr wrap="none"/>
                    <a:lstStyle/>
                    <a:p>
                      <a:pPr algn="l"/>
                      <a:r>
                        <a:rPr sz="800" b="1">
                          <a:solidFill>
                            <a:srgbClr val="0B2E4A"/>
                          </a:solidFill>
                          <a:latin typeface="Calibri"/>
                        </a:rPr>
                        <a:t>Other approved adalimumab biosimilars</a:t>
                      </a:r>
                    </a:p>
                  </a:txBody>
                  <a:tcPr marL="85725" marR="38100" marT="19050" marB="19050" anchor="ctr">
                    <a:solidFill>
                      <a:srgbClr val="E0E8EF"/>
                    </a:solidFill>
                  </a:tcPr>
                </a:tc>
                <a:tc>
                  <a:txBody>
                    <a:bodyPr wrap="none"/>
                    <a:lstStyle/>
                    <a:p>
                      <a:pPr algn="l"/>
                      <a:r>
                        <a:rPr sz="800" b="1">
                          <a:solidFill>
                            <a:srgbClr val="0B2E4A"/>
                          </a:solidFill>
                          <a:latin typeface="Calibri"/>
                        </a:rPr>
                        <a:t>Weighted Avg</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North America</a:t>
                      </a:r>
                    </a:p>
                  </a:txBody>
                  <a:tcPr marL="85725" marR="38100" marT="19050" marB="19050" anchor="ctr">
                    <a:solidFill>
                      <a:srgbClr val="FFFFFF"/>
                    </a:solidFill>
                  </a:tcPr>
                </a:tc>
                <a:tc>
                  <a:txBody>
                    <a:bodyPr wrap="none"/>
                    <a:lstStyle/>
                    <a:p>
                      <a:pPr algn="l"/>
                      <a:r>
                        <a:rPr sz="800" b="0">
                          <a:solidFill>
                            <a:srgbClr val="2E2E2E"/>
                          </a:solidFill>
                          <a:latin typeface="Calibri"/>
                        </a:rPr>
                        <a:t>615.18–627.60</a:t>
                      </a:r>
                    </a:p>
                  </a:txBody>
                  <a:tcPr marL="85725" marR="38100" marT="19050" marB="19050" anchor="ctr">
                    <a:solidFill>
                      <a:srgbClr val="FFFFFF"/>
                    </a:solidFill>
                  </a:tcPr>
                </a:tc>
                <a:tc>
                  <a:txBody>
                    <a:bodyPr wrap="none"/>
                    <a:lstStyle/>
                    <a:p>
                      <a:pPr algn="l"/>
                      <a:r>
                        <a:rPr sz="800" b="0">
                          <a:solidFill>
                            <a:srgbClr val="2E2E2E"/>
                          </a:solidFill>
                          <a:latin typeface="Calibri"/>
                        </a:rPr>
                        <a:t>669.56–683.08</a:t>
                      </a:r>
                    </a:p>
                  </a:txBody>
                  <a:tcPr marL="85725" marR="38100" marT="19050" marB="19050" anchor="ctr">
                    <a:solidFill>
                      <a:srgbClr val="FFFFFF"/>
                    </a:solidFill>
                  </a:tcPr>
                </a:tc>
                <a:tc>
                  <a:txBody>
                    <a:bodyPr wrap="none"/>
                    <a:lstStyle/>
                    <a:p>
                      <a:pPr algn="l"/>
                      <a:r>
                        <a:rPr sz="800" b="0">
                          <a:solidFill>
                            <a:srgbClr val="2E2E2E"/>
                          </a:solidFill>
                          <a:latin typeface="Calibri"/>
                        </a:rPr>
                        <a:t>435.46–444.25</a:t>
                      </a:r>
                    </a:p>
                  </a:txBody>
                  <a:tcPr marL="85725" marR="38100" marT="19050" marB="19050" anchor="ctr">
                    <a:solidFill>
                      <a:srgbClr val="FFFFFF"/>
                    </a:solidFill>
                  </a:tcPr>
                </a:tc>
                <a:tc>
                  <a:txBody>
                    <a:bodyPr wrap="none"/>
                    <a:lstStyle/>
                    <a:p>
                      <a:pPr algn="l"/>
                      <a:r>
                        <a:rPr sz="800" b="0">
                          <a:solidFill>
                            <a:srgbClr val="2E2E2E"/>
                          </a:solidFill>
                          <a:latin typeface="Calibri"/>
                        </a:rPr>
                        <a:t>511.92–522.26</a:t>
                      </a:r>
                    </a:p>
                  </a:txBody>
                  <a:tcPr marL="85725" marR="38100" marT="19050" marB="19050" anchor="ctr">
                    <a:solidFill>
                      <a:srgbClr val="FFFFFF"/>
                    </a:solidFill>
                  </a:tcPr>
                </a:tc>
                <a:tc>
                  <a:txBody>
                    <a:bodyPr wrap="none"/>
                    <a:lstStyle/>
                    <a:p>
                      <a:pPr algn="l"/>
                      <a:r>
                        <a:rPr sz="800" b="0">
                          <a:solidFill>
                            <a:srgbClr val="2E2E2E"/>
                          </a:solidFill>
                          <a:latin typeface="Calibri"/>
                        </a:rPr>
                        <a:t>986.20–1,006.12</a:t>
                      </a:r>
                    </a:p>
                  </a:txBody>
                  <a:tcPr marL="85725" marR="38100" marT="19050" marB="19050" anchor="ctr">
                    <a:solidFill>
                      <a:srgbClr val="FFFFFF"/>
                    </a:solidFill>
                  </a:tcPr>
                </a:tc>
                <a:tc>
                  <a:txBody>
                    <a:bodyPr wrap="none"/>
                    <a:lstStyle/>
                    <a:p>
                      <a:pPr algn="l"/>
                      <a:r>
                        <a:rPr sz="800" b="0">
                          <a:solidFill>
                            <a:srgbClr val="2E2E2E"/>
                          </a:solidFill>
                          <a:latin typeface="Calibri"/>
                        </a:rPr>
                        <a:t>326.43–333.03</a:t>
                      </a:r>
                    </a:p>
                  </a:txBody>
                  <a:tcPr marL="85725" marR="38100" marT="19050" marB="19050" anchor="ctr">
                    <a:solidFill>
                      <a:srgbClr val="FFFFFF"/>
                    </a:solidFill>
                  </a:tcPr>
                </a:tc>
                <a:tc>
                  <a:txBody>
                    <a:bodyPr wrap="none"/>
                    <a:lstStyle/>
                    <a:p>
                      <a:pPr algn="l"/>
                      <a:r>
                        <a:rPr sz="800" b="0">
                          <a:solidFill>
                            <a:srgbClr val="2E2E2E"/>
                          </a:solidFill>
                          <a:latin typeface="Calibri"/>
                        </a:rPr>
                        <a:t>551.05–562.18</a:t>
                      </a:r>
                    </a:p>
                  </a:txBody>
                  <a:tcPr marL="85725" marR="38100" marT="19050" marB="19050" anchor="ctr">
                    <a:solidFill>
                      <a:srgbClr val="FFFFFF"/>
                    </a:solidFill>
                  </a:tcPr>
                </a:tc>
                <a:tc>
                  <a:txBody>
                    <a:bodyPr wrap="none"/>
                    <a:lstStyle/>
                    <a:p>
                      <a:pPr algn="l"/>
                      <a:r>
                        <a:rPr sz="800" b="0">
                          <a:solidFill>
                            <a:srgbClr val="2E2E2E"/>
                          </a:solidFill>
                          <a:latin typeface="Calibri"/>
                        </a:rPr>
                        <a:t>340.26–347.13</a:t>
                      </a:r>
                    </a:p>
                  </a:txBody>
                  <a:tcPr marL="85725" marR="38100" marT="19050" marB="19050" anchor="ctr">
                    <a:solidFill>
                      <a:srgbClr val="FFFFFF"/>
                    </a:solidFill>
                  </a:tcPr>
                </a:tc>
                <a:tc>
                  <a:txBody>
                    <a:bodyPr wrap="none"/>
                    <a:lstStyle/>
                    <a:p>
                      <a:pPr algn="l"/>
                      <a:r>
                        <a:rPr sz="800" b="0">
                          <a:solidFill>
                            <a:srgbClr val="2E2E2E"/>
                          </a:solidFill>
                          <a:latin typeface="Calibri"/>
                        </a:rPr>
                        <a:t>346.49–353.49</a:t>
                      </a:r>
                    </a:p>
                  </a:txBody>
                  <a:tcPr marL="85725" marR="38100" marT="19050" marB="19050" anchor="ctr">
                    <a:solidFill>
                      <a:srgbClr val="FFFFFF"/>
                    </a:solidFill>
                  </a:tcPr>
                </a:tc>
                <a:tc>
                  <a:txBody>
                    <a:bodyPr wrap="none"/>
                    <a:lstStyle/>
                    <a:p>
                      <a:pPr algn="l"/>
                      <a:r>
                        <a:rPr sz="800" b="0">
                          <a:solidFill>
                            <a:srgbClr val="2E2E2E"/>
                          </a:solidFill>
                          <a:latin typeface="Calibri"/>
                        </a:rPr>
                        <a:t>246.44–251.42</a:t>
                      </a:r>
                    </a:p>
                  </a:txBody>
                  <a:tcPr marL="85725" marR="38100" marT="19050" marB="19050" anchor="ctr">
                    <a:solidFill>
                      <a:srgbClr val="FFFFFF"/>
                    </a:solidFill>
                  </a:tcPr>
                </a:tc>
                <a:tc>
                  <a:txBody>
                    <a:bodyPr wrap="none"/>
                    <a:lstStyle/>
                    <a:p>
                      <a:pPr algn="l"/>
                      <a:r>
                        <a:rPr sz="800" b="0">
                          <a:solidFill>
                            <a:srgbClr val="2E2E2E"/>
                          </a:solidFill>
                          <a:latin typeface="Calibri"/>
                        </a:rPr>
                        <a:t>556.01–567.25</a:t>
                      </a:r>
                    </a:p>
                  </a:txBody>
                  <a:tcPr marL="85725" marR="38100" marT="19050" marB="19050" anchor="ctr">
                    <a:solidFill>
                      <a:srgbClr val="FFFFFF"/>
                    </a:solidFill>
                  </a:tcPr>
                </a:tc>
                <a:tc>
                  <a:txBody>
                    <a:bodyPr wrap="none"/>
                    <a:lstStyle/>
                    <a:p>
                      <a:pPr algn="l"/>
                      <a:r>
                        <a:rPr sz="800" b="0">
                          <a:solidFill>
                            <a:srgbClr val="2E2E2E"/>
                          </a:solidFill>
                          <a:latin typeface="Calibri"/>
                        </a:rPr>
                        <a:t>474.35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Latin America</a:t>
                      </a:r>
                    </a:p>
                  </a:txBody>
                  <a:tcPr marL="85725" marR="38100" marT="19050" marB="19050" anchor="ctr">
                    <a:solidFill>
                      <a:srgbClr val="F5F8FA"/>
                    </a:solidFill>
                  </a:tcPr>
                </a:tc>
                <a:tc>
                  <a:txBody>
                    <a:bodyPr wrap="none"/>
                    <a:lstStyle/>
                    <a:p>
                      <a:pPr algn="l"/>
                      <a:r>
                        <a:rPr sz="800" b="0">
                          <a:solidFill>
                            <a:srgbClr val="2E2E2E"/>
                          </a:solidFill>
                          <a:latin typeface="Calibri"/>
                        </a:rPr>
                        <a:t>181.13–184.79</a:t>
                      </a:r>
                    </a:p>
                  </a:txBody>
                  <a:tcPr marL="85725" marR="38100" marT="19050" marB="19050" anchor="ctr">
                    <a:solidFill>
                      <a:srgbClr val="F5F8FA"/>
                    </a:solidFill>
                  </a:tcPr>
                </a:tc>
                <a:tc>
                  <a:txBody>
                    <a:bodyPr wrap="none"/>
                    <a:lstStyle/>
                    <a:p>
                      <a:pPr algn="l"/>
                      <a:r>
                        <a:rPr sz="800" b="0">
                          <a:solidFill>
                            <a:srgbClr val="2E2E2E"/>
                          </a:solidFill>
                          <a:latin typeface="Calibri"/>
                        </a:rPr>
                        <a:t>102.49–104.56</a:t>
                      </a:r>
                    </a:p>
                  </a:txBody>
                  <a:tcPr marL="85725" marR="38100" marT="19050" marB="19050" anchor="ctr">
                    <a:solidFill>
                      <a:srgbClr val="F5F8FA"/>
                    </a:solidFill>
                  </a:tcPr>
                </a:tc>
                <a:tc>
                  <a:txBody>
                    <a:bodyPr wrap="none"/>
                    <a:lstStyle/>
                    <a:p>
                      <a:pPr algn="l"/>
                      <a:r>
                        <a:rPr sz="800" b="0">
                          <a:solidFill>
                            <a:srgbClr val="2E2E2E"/>
                          </a:solidFill>
                          <a:latin typeface="Calibri"/>
                        </a:rPr>
                        <a:t>178.52–182.12</a:t>
                      </a:r>
                    </a:p>
                  </a:txBody>
                  <a:tcPr marL="85725" marR="38100" marT="19050" marB="19050" anchor="ctr">
                    <a:solidFill>
                      <a:srgbClr val="F5F8FA"/>
                    </a:solidFill>
                  </a:tcPr>
                </a:tc>
                <a:tc>
                  <a:txBody>
                    <a:bodyPr wrap="none"/>
                    <a:lstStyle/>
                    <a:p>
                      <a:pPr algn="l"/>
                      <a:r>
                        <a:rPr sz="800" b="0">
                          <a:solidFill>
                            <a:srgbClr val="2E2E2E"/>
                          </a:solidFill>
                          <a:latin typeface="Calibri"/>
                        </a:rPr>
                        <a:t>258.75–263.98</a:t>
                      </a:r>
                    </a:p>
                  </a:txBody>
                  <a:tcPr marL="85725" marR="38100" marT="19050" marB="19050" anchor="ctr">
                    <a:solidFill>
                      <a:srgbClr val="F5F8FA"/>
                    </a:solidFill>
                  </a:tcPr>
                </a:tc>
                <a:tc>
                  <a:txBody>
                    <a:bodyPr wrap="none"/>
                    <a:lstStyle/>
                    <a:p>
                      <a:pPr algn="l"/>
                      <a:r>
                        <a:rPr sz="800" b="0">
                          <a:solidFill>
                            <a:srgbClr val="2E2E2E"/>
                          </a:solidFill>
                          <a:latin typeface="Calibri"/>
                        </a:rPr>
                        <a:t>232.65–237.35</a:t>
                      </a:r>
                    </a:p>
                  </a:txBody>
                  <a:tcPr marL="85725" marR="38100" marT="19050" marB="19050" anchor="ctr">
                    <a:solidFill>
                      <a:srgbClr val="F5F8FA"/>
                    </a:solidFill>
                  </a:tcPr>
                </a:tc>
                <a:tc>
                  <a:txBody>
                    <a:bodyPr wrap="none"/>
                    <a:lstStyle/>
                    <a:p>
                      <a:pPr algn="l"/>
                      <a:r>
                        <a:rPr sz="800" b="0">
                          <a:solidFill>
                            <a:srgbClr val="2E2E2E"/>
                          </a:solidFill>
                          <a:latin typeface="Calibri"/>
                        </a:rPr>
                        <a:t>150.08–153.11</a:t>
                      </a:r>
                    </a:p>
                  </a:txBody>
                  <a:tcPr marL="85725" marR="38100" marT="19050" marB="19050" anchor="ctr">
                    <a:solidFill>
                      <a:srgbClr val="F5F8FA"/>
                    </a:solidFill>
                  </a:tcPr>
                </a:tc>
                <a:tc>
                  <a:txBody>
                    <a:bodyPr wrap="none"/>
                    <a:lstStyle/>
                    <a:p>
                      <a:pPr algn="l"/>
                      <a:r>
                        <a:rPr sz="800" b="0">
                          <a:solidFill>
                            <a:srgbClr val="2E2E2E"/>
                          </a:solidFill>
                          <a:latin typeface="Calibri"/>
                        </a:rPr>
                        <a:t>298.96–305.00</a:t>
                      </a:r>
                    </a:p>
                  </a:txBody>
                  <a:tcPr marL="85725" marR="38100" marT="19050" marB="19050" anchor="ctr">
                    <a:solidFill>
                      <a:srgbClr val="F5F8FA"/>
                    </a:solidFill>
                  </a:tcPr>
                </a:tc>
                <a:tc>
                  <a:txBody>
                    <a:bodyPr wrap="none"/>
                    <a:lstStyle/>
                    <a:p>
                      <a:pPr algn="l"/>
                      <a:r>
                        <a:rPr sz="800" b="0">
                          <a:solidFill>
                            <a:srgbClr val="2E2E2E"/>
                          </a:solidFill>
                          <a:latin typeface="Calibri"/>
                        </a:rPr>
                        <a:t>181.63–185.30</a:t>
                      </a:r>
                    </a:p>
                  </a:txBody>
                  <a:tcPr marL="85725" marR="38100" marT="19050" marB="19050" anchor="ctr">
                    <a:solidFill>
                      <a:srgbClr val="F5F8FA"/>
                    </a:solidFill>
                  </a:tcPr>
                </a:tc>
                <a:tc>
                  <a:txBody>
                    <a:bodyPr wrap="none"/>
                    <a:lstStyle/>
                    <a:p>
                      <a:pPr algn="l"/>
                      <a:r>
                        <a:rPr sz="800" b="0">
                          <a:solidFill>
                            <a:srgbClr val="2E2E2E"/>
                          </a:solidFill>
                          <a:latin typeface="Calibri"/>
                        </a:rPr>
                        <a:t>107.71–109.88</a:t>
                      </a:r>
                    </a:p>
                  </a:txBody>
                  <a:tcPr marL="85725" marR="38100" marT="19050" marB="19050" anchor="ctr">
                    <a:solidFill>
                      <a:srgbClr val="F5F8FA"/>
                    </a:solidFill>
                  </a:tcPr>
                </a:tc>
                <a:tc>
                  <a:txBody>
                    <a:bodyPr wrap="none"/>
                    <a:lstStyle/>
                    <a:p>
                      <a:pPr algn="l"/>
                      <a:r>
                        <a:rPr sz="800" b="0">
                          <a:solidFill>
                            <a:srgbClr val="2E2E2E"/>
                          </a:solidFill>
                          <a:latin typeface="Calibri"/>
                        </a:rPr>
                        <a:t>176.16–179.72</a:t>
                      </a:r>
                    </a:p>
                  </a:txBody>
                  <a:tcPr marL="85725" marR="38100" marT="19050" marB="19050" anchor="ctr">
                    <a:solidFill>
                      <a:srgbClr val="F5F8FA"/>
                    </a:solidFill>
                  </a:tcPr>
                </a:tc>
                <a:tc>
                  <a:txBody>
                    <a:bodyPr wrap="none"/>
                    <a:lstStyle/>
                    <a:p>
                      <a:pPr algn="l"/>
                      <a:r>
                        <a:rPr sz="800" b="0">
                          <a:solidFill>
                            <a:srgbClr val="2E2E2E"/>
                          </a:solidFill>
                          <a:latin typeface="Calibri"/>
                        </a:rPr>
                        <a:t>393.45–401.40</a:t>
                      </a:r>
                    </a:p>
                  </a:txBody>
                  <a:tcPr marL="85725" marR="38100" marT="19050" marB="19050" anchor="ctr">
                    <a:solidFill>
                      <a:srgbClr val="F5F8FA"/>
                    </a:solidFill>
                  </a:tcPr>
                </a:tc>
                <a:tc>
                  <a:txBody>
                    <a:bodyPr wrap="none"/>
                    <a:lstStyle/>
                    <a:p>
                      <a:pPr algn="l"/>
                      <a:r>
                        <a:rPr sz="800" b="0">
                          <a:solidFill>
                            <a:srgbClr val="2E2E2E"/>
                          </a:solidFill>
                          <a:latin typeface="Calibri"/>
                        </a:rPr>
                        <a:t>189.74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Europe</a:t>
                      </a:r>
                    </a:p>
                  </a:txBody>
                  <a:tcPr marL="85725" marR="38100" marT="19050" marB="19050" anchor="ctr">
                    <a:solidFill>
                      <a:srgbClr val="FFFFFF"/>
                    </a:solidFill>
                  </a:tcPr>
                </a:tc>
                <a:tc>
                  <a:txBody>
                    <a:bodyPr wrap="none"/>
                    <a:lstStyle/>
                    <a:p>
                      <a:pPr algn="l"/>
                      <a:r>
                        <a:rPr sz="800" b="0">
                          <a:solidFill>
                            <a:srgbClr val="2E2E2E"/>
                          </a:solidFill>
                          <a:latin typeface="Calibri"/>
                        </a:rPr>
                        <a:t>369.45–376.92</a:t>
                      </a:r>
                    </a:p>
                  </a:txBody>
                  <a:tcPr marL="85725" marR="38100" marT="19050" marB="19050" anchor="ctr">
                    <a:solidFill>
                      <a:srgbClr val="FFFFFF"/>
                    </a:solidFill>
                  </a:tcPr>
                </a:tc>
                <a:tc>
                  <a:txBody>
                    <a:bodyPr wrap="none"/>
                    <a:lstStyle/>
                    <a:p>
                      <a:pPr algn="l"/>
                      <a:r>
                        <a:rPr sz="800" b="0">
                          <a:solidFill>
                            <a:srgbClr val="2E2E2E"/>
                          </a:solidFill>
                          <a:latin typeface="Calibri"/>
                        </a:rPr>
                        <a:t>181.67–185.34</a:t>
                      </a:r>
                    </a:p>
                  </a:txBody>
                  <a:tcPr marL="85725" marR="38100" marT="19050" marB="19050" anchor="ctr">
                    <a:solidFill>
                      <a:srgbClr val="FFFFFF"/>
                    </a:solidFill>
                  </a:tcPr>
                </a:tc>
                <a:tc>
                  <a:txBody>
                    <a:bodyPr wrap="none"/>
                    <a:lstStyle/>
                    <a:p>
                      <a:pPr algn="l"/>
                      <a:r>
                        <a:rPr sz="800" b="0">
                          <a:solidFill>
                            <a:srgbClr val="2E2E2E"/>
                          </a:solidFill>
                          <a:latin typeface="Calibri"/>
                        </a:rPr>
                        <a:t>218.43–222.85</a:t>
                      </a:r>
                    </a:p>
                  </a:txBody>
                  <a:tcPr marL="85725" marR="38100" marT="19050" marB="19050" anchor="ctr">
                    <a:solidFill>
                      <a:srgbClr val="FFFFFF"/>
                    </a:solidFill>
                  </a:tcPr>
                </a:tc>
                <a:tc>
                  <a:txBody>
                    <a:bodyPr wrap="none"/>
                    <a:lstStyle/>
                    <a:p>
                      <a:pPr algn="l"/>
                      <a:r>
                        <a:rPr sz="800" b="0">
                          <a:solidFill>
                            <a:srgbClr val="2E2E2E"/>
                          </a:solidFill>
                          <a:latin typeface="Calibri"/>
                        </a:rPr>
                        <a:t>489.32–499.20</a:t>
                      </a:r>
                    </a:p>
                  </a:txBody>
                  <a:tcPr marL="85725" marR="38100" marT="19050" marB="19050" anchor="ctr">
                    <a:solidFill>
                      <a:srgbClr val="FFFFFF"/>
                    </a:solidFill>
                  </a:tcPr>
                </a:tc>
                <a:tc>
                  <a:txBody>
                    <a:bodyPr wrap="none"/>
                    <a:lstStyle/>
                    <a:p>
                      <a:pPr algn="l"/>
                      <a:r>
                        <a:rPr sz="800" b="0">
                          <a:solidFill>
                            <a:srgbClr val="2E2E2E"/>
                          </a:solidFill>
                          <a:latin typeface="Calibri"/>
                        </a:rPr>
                        <a:t>197.60–201.59</a:t>
                      </a:r>
                    </a:p>
                  </a:txBody>
                  <a:tcPr marL="85725" marR="38100" marT="19050" marB="19050" anchor="ctr">
                    <a:solidFill>
                      <a:srgbClr val="FFFFFF"/>
                    </a:solidFill>
                  </a:tcPr>
                </a:tc>
                <a:tc>
                  <a:txBody>
                    <a:bodyPr wrap="none"/>
                    <a:lstStyle/>
                    <a:p>
                      <a:pPr algn="l"/>
                      <a:r>
                        <a:rPr sz="800" b="0">
                          <a:solidFill>
                            <a:srgbClr val="2E2E2E"/>
                          </a:solidFill>
                          <a:latin typeface="Calibri"/>
                        </a:rPr>
                        <a:t>279.49–285.13</a:t>
                      </a:r>
                    </a:p>
                  </a:txBody>
                  <a:tcPr marL="85725" marR="38100" marT="19050" marB="19050" anchor="ctr">
                    <a:solidFill>
                      <a:srgbClr val="FFFFFF"/>
                    </a:solidFill>
                  </a:tcPr>
                </a:tc>
                <a:tc>
                  <a:txBody>
                    <a:bodyPr wrap="none"/>
                    <a:lstStyle/>
                    <a:p>
                      <a:pPr algn="l"/>
                      <a:r>
                        <a:rPr sz="800" b="0">
                          <a:solidFill>
                            <a:srgbClr val="2E2E2E"/>
                          </a:solidFill>
                          <a:latin typeface="Calibri"/>
                        </a:rPr>
                        <a:t>184.71–188.44</a:t>
                      </a:r>
                    </a:p>
                  </a:txBody>
                  <a:tcPr marL="85725" marR="38100" marT="19050" marB="19050" anchor="ctr">
                    <a:solidFill>
                      <a:srgbClr val="FFFFFF"/>
                    </a:solidFill>
                  </a:tcPr>
                </a:tc>
                <a:tc>
                  <a:txBody>
                    <a:bodyPr wrap="none"/>
                    <a:lstStyle/>
                    <a:p>
                      <a:pPr algn="l"/>
                      <a:r>
                        <a:rPr sz="800" b="0">
                          <a:solidFill>
                            <a:srgbClr val="2E2E2E"/>
                          </a:solidFill>
                          <a:latin typeface="Calibri"/>
                        </a:rPr>
                        <a:t>437.69–446.53</a:t>
                      </a:r>
                    </a:p>
                  </a:txBody>
                  <a:tcPr marL="85725" marR="38100" marT="19050" marB="19050" anchor="ctr">
                    <a:solidFill>
                      <a:srgbClr val="FFFFFF"/>
                    </a:solidFill>
                  </a:tcPr>
                </a:tc>
                <a:tc>
                  <a:txBody>
                    <a:bodyPr wrap="none"/>
                    <a:lstStyle/>
                    <a:p>
                      <a:pPr algn="l"/>
                      <a:r>
                        <a:rPr sz="800" b="0">
                          <a:solidFill>
                            <a:srgbClr val="2E2E2E"/>
                          </a:solidFill>
                          <a:latin typeface="Calibri"/>
                        </a:rPr>
                        <a:t>269.18–274.62</a:t>
                      </a:r>
                    </a:p>
                  </a:txBody>
                  <a:tcPr marL="85725" marR="38100" marT="19050" marB="19050" anchor="ctr">
                    <a:solidFill>
                      <a:srgbClr val="FFFFFF"/>
                    </a:solidFill>
                  </a:tcPr>
                </a:tc>
                <a:tc>
                  <a:txBody>
                    <a:bodyPr wrap="none"/>
                    <a:lstStyle/>
                    <a:p>
                      <a:pPr algn="l"/>
                      <a:r>
                        <a:rPr sz="800" b="0">
                          <a:solidFill>
                            <a:srgbClr val="2E2E2E"/>
                          </a:solidFill>
                          <a:latin typeface="Calibri"/>
                        </a:rPr>
                        <a:t>144.30–147.22</a:t>
                      </a:r>
                    </a:p>
                  </a:txBody>
                  <a:tcPr marL="85725" marR="38100" marT="19050" marB="19050" anchor="ctr">
                    <a:solidFill>
                      <a:srgbClr val="FFFFFF"/>
                    </a:solidFill>
                  </a:tcPr>
                </a:tc>
                <a:tc>
                  <a:txBody>
                    <a:bodyPr wrap="none"/>
                    <a:lstStyle/>
                    <a:p>
                      <a:pPr algn="l"/>
                      <a:r>
                        <a:rPr sz="800" b="0">
                          <a:solidFill>
                            <a:srgbClr val="2E2E2E"/>
                          </a:solidFill>
                          <a:latin typeface="Calibri"/>
                        </a:rPr>
                        <a:t>183.75–187.47</a:t>
                      </a:r>
                    </a:p>
                  </a:txBody>
                  <a:tcPr marL="85725" marR="38100" marT="19050" marB="19050" anchor="ctr">
                    <a:solidFill>
                      <a:srgbClr val="FFFFFF"/>
                    </a:solidFill>
                  </a:tcPr>
                </a:tc>
                <a:tc>
                  <a:txBody>
                    <a:bodyPr wrap="none"/>
                    <a:lstStyle/>
                    <a:p>
                      <a:pPr algn="l"/>
                      <a:r>
                        <a:rPr sz="800" b="0">
                          <a:solidFill>
                            <a:srgbClr val="2E2E2E"/>
                          </a:solidFill>
                          <a:latin typeface="Calibri"/>
                        </a:rPr>
                        <a:t>260.13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East Asia</a:t>
                      </a:r>
                    </a:p>
                  </a:txBody>
                  <a:tcPr marL="85725" marR="38100" marT="19050" marB="19050" anchor="ctr">
                    <a:solidFill>
                      <a:srgbClr val="F5F8FA"/>
                    </a:solidFill>
                  </a:tcPr>
                </a:tc>
                <a:tc>
                  <a:txBody>
                    <a:bodyPr wrap="none"/>
                    <a:lstStyle/>
                    <a:p>
                      <a:pPr algn="l"/>
                      <a:r>
                        <a:rPr sz="800" b="0">
                          <a:solidFill>
                            <a:srgbClr val="2E2E2E"/>
                          </a:solidFill>
                          <a:latin typeface="Calibri"/>
                        </a:rPr>
                        <a:t>197.10–201.09</a:t>
                      </a:r>
                    </a:p>
                  </a:txBody>
                  <a:tcPr marL="85725" marR="38100" marT="19050" marB="19050" anchor="ctr">
                    <a:solidFill>
                      <a:srgbClr val="F5F8FA"/>
                    </a:solidFill>
                  </a:tcPr>
                </a:tc>
                <a:tc>
                  <a:txBody>
                    <a:bodyPr wrap="none"/>
                    <a:lstStyle/>
                    <a:p>
                      <a:pPr algn="l"/>
                      <a:r>
                        <a:rPr sz="800" b="0">
                          <a:solidFill>
                            <a:srgbClr val="2E2E2E"/>
                          </a:solidFill>
                          <a:latin typeface="Calibri"/>
                        </a:rPr>
                        <a:t>148.26–151.26</a:t>
                      </a:r>
                    </a:p>
                  </a:txBody>
                  <a:tcPr marL="85725" marR="38100" marT="19050" marB="19050" anchor="ctr">
                    <a:solidFill>
                      <a:srgbClr val="F5F8FA"/>
                    </a:solidFill>
                  </a:tcPr>
                </a:tc>
                <a:tc>
                  <a:txBody>
                    <a:bodyPr wrap="none"/>
                    <a:lstStyle/>
                    <a:p>
                      <a:pPr algn="l"/>
                      <a:r>
                        <a:rPr sz="800" b="0">
                          <a:solidFill>
                            <a:srgbClr val="2E2E2E"/>
                          </a:solidFill>
                          <a:latin typeface="Calibri"/>
                        </a:rPr>
                        <a:t>183.16–186.86</a:t>
                      </a:r>
                    </a:p>
                  </a:txBody>
                  <a:tcPr marL="85725" marR="38100" marT="19050" marB="19050" anchor="ctr">
                    <a:solidFill>
                      <a:srgbClr val="F5F8FA"/>
                    </a:solidFill>
                  </a:tcPr>
                </a:tc>
                <a:tc>
                  <a:txBody>
                    <a:bodyPr wrap="none"/>
                    <a:lstStyle/>
                    <a:p>
                      <a:pPr algn="l"/>
                      <a:r>
                        <a:rPr sz="800" b="0">
                          <a:solidFill>
                            <a:srgbClr val="2E2E2E"/>
                          </a:solidFill>
                          <a:latin typeface="Calibri"/>
                        </a:rPr>
                        <a:t>365.65–373.04</a:t>
                      </a:r>
                    </a:p>
                  </a:txBody>
                  <a:tcPr marL="85725" marR="38100" marT="19050" marB="19050" anchor="ctr">
                    <a:solidFill>
                      <a:srgbClr val="F5F8FA"/>
                    </a:solidFill>
                  </a:tcPr>
                </a:tc>
                <a:tc>
                  <a:txBody>
                    <a:bodyPr wrap="none"/>
                    <a:lstStyle/>
                    <a:p>
                      <a:pPr algn="l"/>
                      <a:r>
                        <a:rPr sz="800" b="0">
                          <a:solidFill>
                            <a:srgbClr val="2E2E2E"/>
                          </a:solidFill>
                          <a:latin typeface="Calibri"/>
                        </a:rPr>
                        <a:t>202.85–206.95</a:t>
                      </a:r>
                    </a:p>
                  </a:txBody>
                  <a:tcPr marL="85725" marR="38100" marT="19050" marB="19050" anchor="ctr">
                    <a:solidFill>
                      <a:srgbClr val="F5F8FA"/>
                    </a:solidFill>
                  </a:tcPr>
                </a:tc>
                <a:tc>
                  <a:txBody>
                    <a:bodyPr wrap="none"/>
                    <a:lstStyle/>
                    <a:p>
                      <a:pPr algn="l"/>
                      <a:r>
                        <a:rPr sz="800" b="0">
                          <a:solidFill>
                            <a:srgbClr val="2E2E2E"/>
                          </a:solidFill>
                          <a:latin typeface="Calibri"/>
                        </a:rPr>
                        <a:t>167.19–170.57</a:t>
                      </a:r>
                    </a:p>
                  </a:txBody>
                  <a:tcPr marL="85725" marR="38100" marT="19050" marB="19050" anchor="ctr">
                    <a:solidFill>
                      <a:srgbClr val="F5F8FA"/>
                    </a:solidFill>
                  </a:tcPr>
                </a:tc>
                <a:tc>
                  <a:txBody>
                    <a:bodyPr wrap="none"/>
                    <a:lstStyle/>
                    <a:p>
                      <a:pPr algn="l"/>
                      <a:r>
                        <a:rPr sz="800" b="0">
                          <a:solidFill>
                            <a:srgbClr val="2E2E2E"/>
                          </a:solidFill>
                          <a:latin typeface="Calibri"/>
                        </a:rPr>
                        <a:t>302.52–308.64</a:t>
                      </a:r>
                    </a:p>
                  </a:txBody>
                  <a:tcPr marL="85725" marR="38100" marT="19050" marB="19050" anchor="ctr">
                    <a:solidFill>
                      <a:srgbClr val="F5F8FA"/>
                    </a:solidFill>
                  </a:tcPr>
                </a:tc>
                <a:tc>
                  <a:txBody>
                    <a:bodyPr wrap="none"/>
                    <a:lstStyle/>
                    <a:p>
                      <a:pPr algn="l"/>
                      <a:r>
                        <a:rPr sz="800" b="0">
                          <a:solidFill>
                            <a:srgbClr val="2E2E2E"/>
                          </a:solidFill>
                          <a:latin typeface="Calibri"/>
                        </a:rPr>
                        <a:t>175.23–178.77</a:t>
                      </a:r>
                    </a:p>
                  </a:txBody>
                  <a:tcPr marL="85725" marR="38100" marT="19050" marB="19050" anchor="ctr">
                    <a:solidFill>
                      <a:srgbClr val="F5F8FA"/>
                    </a:solidFill>
                  </a:tcPr>
                </a:tc>
                <a:tc>
                  <a:txBody>
                    <a:bodyPr wrap="none"/>
                    <a:lstStyle/>
                    <a:p>
                      <a:pPr algn="l"/>
                      <a:r>
                        <a:rPr sz="800" b="0">
                          <a:solidFill>
                            <a:srgbClr val="2E2E2E"/>
                          </a:solidFill>
                          <a:latin typeface="Calibri"/>
                        </a:rPr>
                        <a:t>427.36–435.99</a:t>
                      </a:r>
                    </a:p>
                  </a:txBody>
                  <a:tcPr marL="85725" marR="38100" marT="19050" marB="19050" anchor="ctr">
                    <a:solidFill>
                      <a:srgbClr val="F5F8FA"/>
                    </a:solidFill>
                  </a:tcPr>
                </a:tc>
                <a:tc>
                  <a:txBody>
                    <a:bodyPr wrap="none"/>
                    <a:lstStyle/>
                    <a:p>
                      <a:pPr algn="l"/>
                      <a:r>
                        <a:rPr sz="800" b="0">
                          <a:solidFill>
                            <a:srgbClr val="2E2E2E"/>
                          </a:solidFill>
                          <a:latin typeface="Calibri"/>
                        </a:rPr>
                        <a:t>214.54–218.88</a:t>
                      </a:r>
                    </a:p>
                  </a:txBody>
                  <a:tcPr marL="85725" marR="38100" marT="19050" marB="19050" anchor="ctr">
                    <a:solidFill>
                      <a:srgbClr val="F5F8FA"/>
                    </a:solidFill>
                  </a:tcPr>
                </a:tc>
                <a:tc>
                  <a:txBody>
                    <a:bodyPr wrap="none"/>
                    <a:lstStyle/>
                    <a:p>
                      <a:pPr algn="l"/>
                      <a:r>
                        <a:rPr sz="800" b="0">
                          <a:solidFill>
                            <a:srgbClr val="2E2E2E"/>
                          </a:solidFill>
                          <a:latin typeface="Calibri"/>
                        </a:rPr>
                        <a:t>227.98–232.58</a:t>
                      </a:r>
                    </a:p>
                  </a:txBody>
                  <a:tcPr marL="85725" marR="38100" marT="19050" marB="19050" anchor="ctr">
                    <a:solidFill>
                      <a:srgbClr val="F5F8FA"/>
                    </a:solidFill>
                  </a:tcPr>
                </a:tc>
                <a:tc>
                  <a:txBody>
                    <a:bodyPr wrap="none"/>
                    <a:lstStyle/>
                    <a:p>
                      <a:pPr algn="l"/>
                      <a:r>
                        <a:rPr sz="800" b="0">
                          <a:solidFill>
                            <a:srgbClr val="2E2E2E"/>
                          </a:solidFill>
                          <a:latin typeface="Calibri"/>
                        </a:rPr>
                        <a:t>220.34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South Asia &amp; Pacific</a:t>
                      </a:r>
                    </a:p>
                  </a:txBody>
                  <a:tcPr marL="85725" marR="38100" marT="19050" marB="19050" anchor="ctr">
                    <a:solidFill>
                      <a:srgbClr val="FFFFFF"/>
                    </a:solidFill>
                  </a:tcPr>
                </a:tc>
                <a:tc>
                  <a:txBody>
                    <a:bodyPr wrap="none"/>
                    <a:lstStyle/>
                    <a:p>
                      <a:pPr algn="l"/>
                      <a:r>
                        <a:rPr sz="800" b="0">
                          <a:solidFill>
                            <a:srgbClr val="2E2E2E"/>
                          </a:solidFill>
                          <a:latin typeface="Calibri"/>
                        </a:rPr>
                        <a:t>114.51–116.82</a:t>
                      </a:r>
                    </a:p>
                  </a:txBody>
                  <a:tcPr marL="85725" marR="38100" marT="19050" marB="19050" anchor="ctr">
                    <a:solidFill>
                      <a:srgbClr val="FFFFFF"/>
                    </a:solidFill>
                  </a:tcPr>
                </a:tc>
                <a:tc>
                  <a:txBody>
                    <a:bodyPr wrap="none"/>
                    <a:lstStyle/>
                    <a:p>
                      <a:pPr algn="l"/>
                      <a:r>
                        <a:rPr sz="800" b="0">
                          <a:solidFill>
                            <a:srgbClr val="2E2E2E"/>
                          </a:solidFill>
                          <a:latin typeface="Calibri"/>
                        </a:rPr>
                        <a:t>89.85–91.66</a:t>
                      </a:r>
                    </a:p>
                  </a:txBody>
                  <a:tcPr marL="85725" marR="38100" marT="19050" marB="19050" anchor="ctr">
                    <a:solidFill>
                      <a:srgbClr val="FFFFFF"/>
                    </a:solidFill>
                  </a:tcPr>
                </a:tc>
                <a:tc>
                  <a:txBody>
                    <a:bodyPr wrap="none"/>
                    <a:lstStyle/>
                    <a:p>
                      <a:pPr algn="l"/>
                      <a:r>
                        <a:rPr sz="800" b="0">
                          <a:solidFill>
                            <a:srgbClr val="2E2E2E"/>
                          </a:solidFill>
                          <a:latin typeface="Calibri"/>
                        </a:rPr>
                        <a:t>99.89–101.91</a:t>
                      </a:r>
                    </a:p>
                  </a:txBody>
                  <a:tcPr marL="85725" marR="38100" marT="19050" marB="19050" anchor="ctr">
                    <a:solidFill>
                      <a:srgbClr val="FFFFFF"/>
                    </a:solidFill>
                  </a:tcPr>
                </a:tc>
                <a:tc>
                  <a:txBody>
                    <a:bodyPr wrap="none"/>
                    <a:lstStyle/>
                    <a:p>
                      <a:pPr algn="l"/>
                      <a:r>
                        <a:rPr sz="800" b="0">
                          <a:solidFill>
                            <a:srgbClr val="2E2E2E"/>
                          </a:solidFill>
                          <a:latin typeface="Calibri"/>
                        </a:rPr>
                        <a:t>210.84–215.10</a:t>
                      </a:r>
                    </a:p>
                  </a:txBody>
                  <a:tcPr marL="85725" marR="38100" marT="19050" marB="19050" anchor="ctr">
                    <a:solidFill>
                      <a:srgbClr val="FFFFFF"/>
                    </a:solidFill>
                  </a:tcPr>
                </a:tc>
                <a:tc>
                  <a:txBody>
                    <a:bodyPr wrap="none"/>
                    <a:lstStyle/>
                    <a:p>
                      <a:pPr algn="l"/>
                      <a:r>
                        <a:rPr sz="800" b="0">
                          <a:solidFill>
                            <a:srgbClr val="2E2E2E"/>
                          </a:solidFill>
                          <a:latin typeface="Calibri"/>
                        </a:rPr>
                        <a:t>117.62–120.00</a:t>
                      </a:r>
                    </a:p>
                  </a:txBody>
                  <a:tcPr marL="85725" marR="38100" marT="19050" marB="19050" anchor="ctr">
                    <a:solidFill>
                      <a:srgbClr val="FFFFFF"/>
                    </a:solidFill>
                  </a:tcPr>
                </a:tc>
                <a:tc>
                  <a:txBody>
                    <a:bodyPr wrap="none"/>
                    <a:lstStyle/>
                    <a:p>
                      <a:pPr algn="l"/>
                      <a:r>
                        <a:rPr sz="800" b="0">
                          <a:solidFill>
                            <a:srgbClr val="2E2E2E"/>
                          </a:solidFill>
                          <a:latin typeface="Calibri"/>
                        </a:rPr>
                        <a:t>103.53–105.62</a:t>
                      </a:r>
                    </a:p>
                  </a:txBody>
                  <a:tcPr marL="85725" marR="38100" marT="19050" marB="19050" anchor="ctr">
                    <a:solidFill>
                      <a:srgbClr val="FFFFFF"/>
                    </a:solidFill>
                  </a:tcPr>
                </a:tc>
                <a:tc>
                  <a:txBody>
                    <a:bodyPr wrap="none"/>
                    <a:lstStyle/>
                    <a:p>
                      <a:pPr algn="l"/>
                      <a:r>
                        <a:rPr sz="800" b="0">
                          <a:solidFill>
                            <a:srgbClr val="2E2E2E"/>
                          </a:solidFill>
                          <a:latin typeface="Calibri"/>
                        </a:rPr>
                        <a:t>280.69–286.36</a:t>
                      </a:r>
                    </a:p>
                  </a:txBody>
                  <a:tcPr marL="85725" marR="38100" marT="19050" marB="19050" anchor="ctr">
                    <a:solidFill>
                      <a:srgbClr val="FFFFFF"/>
                    </a:solidFill>
                  </a:tcPr>
                </a:tc>
                <a:tc>
                  <a:txBody>
                    <a:bodyPr wrap="none"/>
                    <a:lstStyle/>
                    <a:p>
                      <a:pPr algn="l"/>
                      <a:r>
                        <a:rPr sz="800" b="0">
                          <a:solidFill>
                            <a:srgbClr val="2E2E2E"/>
                          </a:solidFill>
                          <a:latin typeface="Calibri"/>
                        </a:rPr>
                        <a:t>137.61–140.39</a:t>
                      </a:r>
                    </a:p>
                  </a:txBody>
                  <a:tcPr marL="85725" marR="38100" marT="19050" marB="19050" anchor="ctr">
                    <a:solidFill>
                      <a:srgbClr val="FFFFFF"/>
                    </a:solidFill>
                  </a:tcPr>
                </a:tc>
                <a:tc>
                  <a:txBody>
                    <a:bodyPr wrap="none"/>
                    <a:lstStyle/>
                    <a:p>
                      <a:pPr algn="l"/>
                      <a:r>
                        <a:rPr sz="800" b="0">
                          <a:solidFill>
                            <a:srgbClr val="2E2E2E"/>
                          </a:solidFill>
                          <a:latin typeface="Calibri"/>
                        </a:rPr>
                        <a:t>158.32–161.52</a:t>
                      </a:r>
                    </a:p>
                  </a:txBody>
                  <a:tcPr marL="85725" marR="38100" marT="19050" marB="19050" anchor="ctr">
                    <a:solidFill>
                      <a:srgbClr val="FFFFFF"/>
                    </a:solidFill>
                  </a:tcPr>
                </a:tc>
                <a:tc>
                  <a:txBody>
                    <a:bodyPr wrap="none"/>
                    <a:lstStyle/>
                    <a:p>
                      <a:pPr algn="l"/>
                      <a:r>
                        <a:rPr sz="800" b="0">
                          <a:solidFill>
                            <a:srgbClr val="2E2E2E"/>
                          </a:solidFill>
                          <a:latin typeface="Calibri"/>
                        </a:rPr>
                        <a:t>117.05–119.42</a:t>
                      </a:r>
                    </a:p>
                  </a:txBody>
                  <a:tcPr marL="85725" marR="38100" marT="19050" marB="19050" anchor="ctr">
                    <a:solidFill>
                      <a:srgbClr val="FFFFFF"/>
                    </a:solidFill>
                  </a:tcPr>
                </a:tc>
                <a:tc>
                  <a:txBody>
                    <a:bodyPr wrap="none"/>
                    <a:lstStyle/>
                    <a:p>
                      <a:pPr algn="l"/>
                      <a:r>
                        <a:rPr sz="800" b="0">
                          <a:solidFill>
                            <a:srgbClr val="2E2E2E"/>
                          </a:solidFill>
                          <a:latin typeface="Calibri"/>
                        </a:rPr>
                        <a:t>209.81–214.05</a:t>
                      </a:r>
                    </a:p>
                  </a:txBody>
                  <a:tcPr marL="85725" marR="38100" marT="19050" marB="19050" anchor="ctr">
                    <a:solidFill>
                      <a:srgbClr val="FFFFFF"/>
                    </a:solidFill>
                  </a:tcPr>
                </a:tc>
                <a:tc>
                  <a:txBody>
                    <a:bodyPr wrap="none"/>
                    <a:lstStyle/>
                    <a:p>
                      <a:pPr algn="l"/>
                      <a:r>
                        <a:rPr sz="800" b="0">
                          <a:solidFill>
                            <a:srgbClr val="2E2E2E"/>
                          </a:solidFill>
                          <a:latin typeface="Calibri"/>
                        </a:rPr>
                        <a:t>137.71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Middle East &amp; Africa</a:t>
                      </a:r>
                    </a:p>
                  </a:txBody>
                  <a:tcPr marL="85725" marR="38100" marT="19050" marB="19050" anchor="ctr">
                    <a:solidFill>
                      <a:srgbClr val="F5F8FA"/>
                    </a:solidFill>
                  </a:tcPr>
                </a:tc>
                <a:tc>
                  <a:txBody>
                    <a:bodyPr wrap="none"/>
                    <a:lstStyle/>
                    <a:p>
                      <a:pPr algn="l"/>
                      <a:r>
                        <a:rPr sz="800" b="0">
                          <a:solidFill>
                            <a:srgbClr val="2E2E2E"/>
                          </a:solidFill>
                          <a:latin typeface="Calibri"/>
                        </a:rPr>
                        <a:t>349.39–356.44</a:t>
                      </a:r>
                    </a:p>
                  </a:txBody>
                  <a:tcPr marL="85725" marR="38100" marT="19050" marB="19050" anchor="ctr">
                    <a:solidFill>
                      <a:srgbClr val="F5F8FA"/>
                    </a:solidFill>
                  </a:tcPr>
                </a:tc>
                <a:tc>
                  <a:txBody>
                    <a:bodyPr wrap="none"/>
                    <a:lstStyle/>
                    <a:p>
                      <a:pPr algn="l"/>
                      <a:r>
                        <a:rPr sz="800" b="0">
                          <a:solidFill>
                            <a:srgbClr val="2E2E2E"/>
                          </a:solidFill>
                          <a:latin typeface="Calibri"/>
                        </a:rPr>
                        <a:t>270.83–276.30</a:t>
                      </a:r>
                    </a:p>
                  </a:txBody>
                  <a:tcPr marL="85725" marR="38100" marT="19050" marB="19050" anchor="ctr">
                    <a:solidFill>
                      <a:srgbClr val="F5F8FA"/>
                    </a:solidFill>
                  </a:tcPr>
                </a:tc>
                <a:tc>
                  <a:txBody>
                    <a:bodyPr wrap="none"/>
                    <a:lstStyle/>
                    <a:p>
                      <a:pPr algn="l"/>
                      <a:r>
                        <a:rPr sz="800" b="0">
                          <a:solidFill>
                            <a:srgbClr val="2E2E2E"/>
                          </a:solidFill>
                          <a:latin typeface="Calibri"/>
                        </a:rPr>
                        <a:t>127.92–130.51</a:t>
                      </a:r>
                    </a:p>
                  </a:txBody>
                  <a:tcPr marL="85725" marR="38100" marT="19050" marB="19050" anchor="ctr">
                    <a:solidFill>
                      <a:srgbClr val="F5F8FA"/>
                    </a:solidFill>
                  </a:tcPr>
                </a:tc>
                <a:tc>
                  <a:txBody>
                    <a:bodyPr wrap="none"/>
                    <a:lstStyle/>
                    <a:p>
                      <a:pPr algn="l"/>
                      <a:r>
                        <a:rPr sz="800" b="0">
                          <a:solidFill>
                            <a:srgbClr val="2E2E2E"/>
                          </a:solidFill>
                          <a:latin typeface="Calibri"/>
                        </a:rPr>
                        <a:t>174.60–178.13</a:t>
                      </a:r>
                    </a:p>
                  </a:txBody>
                  <a:tcPr marL="85725" marR="38100" marT="19050" marB="19050" anchor="ctr">
                    <a:solidFill>
                      <a:srgbClr val="F5F8FA"/>
                    </a:solidFill>
                  </a:tcPr>
                </a:tc>
                <a:tc>
                  <a:txBody>
                    <a:bodyPr wrap="none"/>
                    <a:lstStyle/>
                    <a:p>
                      <a:pPr algn="l"/>
                      <a:r>
                        <a:rPr sz="800" b="0">
                          <a:solidFill>
                            <a:srgbClr val="2E2E2E"/>
                          </a:solidFill>
                          <a:latin typeface="Calibri"/>
                        </a:rPr>
                        <a:t>201.89–205.97</a:t>
                      </a:r>
                    </a:p>
                  </a:txBody>
                  <a:tcPr marL="85725" marR="38100" marT="19050" marB="19050" anchor="ctr">
                    <a:solidFill>
                      <a:srgbClr val="F5F8FA"/>
                    </a:solidFill>
                  </a:tcPr>
                </a:tc>
                <a:tc>
                  <a:txBody>
                    <a:bodyPr wrap="none"/>
                    <a:lstStyle/>
                    <a:p>
                      <a:pPr algn="l"/>
                      <a:r>
                        <a:rPr sz="800" b="0">
                          <a:solidFill>
                            <a:srgbClr val="2E2E2E"/>
                          </a:solidFill>
                          <a:latin typeface="Calibri"/>
                        </a:rPr>
                        <a:t>177.96–181.55</a:t>
                      </a:r>
                    </a:p>
                  </a:txBody>
                  <a:tcPr marL="85725" marR="38100" marT="19050" marB="19050" anchor="ctr">
                    <a:solidFill>
                      <a:srgbClr val="F5F8FA"/>
                    </a:solidFill>
                  </a:tcPr>
                </a:tc>
                <a:tc>
                  <a:txBody>
                    <a:bodyPr wrap="none"/>
                    <a:lstStyle/>
                    <a:p>
                      <a:pPr algn="l"/>
                      <a:r>
                        <a:rPr sz="800" b="0">
                          <a:solidFill>
                            <a:srgbClr val="2E2E2E"/>
                          </a:solidFill>
                          <a:latin typeface="Calibri"/>
                        </a:rPr>
                        <a:t>420.05–428.53</a:t>
                      </a:r>
                    </a:p>
                  </a:txBody>
                  <a:tcPr marL="85725" marR="38100" marT="19050" marB="19050" anchor="ctr">
                    <a:solidFill>
                      <a:srgbClr val="F5F8FA"/>
                    </a:solidFill>
                  </a:tcPr>
                </a:tc>
                <a:tc>
                  <a:txBody>
                    <a:bodyPr wrap="none"/>
                    <a:lstStyle/>
                    <a:p>
                      <a:pPr algn="l"/>
                      <a:r>
                        <a:rPr sz="800" b="0">
                          <a:solidFill>
                            <a:srgbClr val="2E2E2E"/>
                          </a:solidFill>
                          <a:latin typeface="Calibri"/>
                        </a:rPr>
                        <a:t>143.51–146.41</a:t>
                      </a:r>
                    </a:p>
                  </a:txBody>
                  <a:tcPr marL="85725" marR="38100" marT="19050" marB="19050" anchor="ctr">
                    <a:solidFill>
                      <a:srgbClr val="F5F8FA"/>
                    </a:solidFill>
                  </a:tcPr>
                </a:tc>
                <a:tc>
                  <a:txBody>
                    <a:bodyPr wrap="none"/>
                    <a:lstStyle/>
                    <a:p>
                      <a:pPr algn="l"/>
                      <a:r>
                        <a:rPr sz="800" b="0">
                          <a:solidFill>
                            <a:srgbClr val="2E2E2E"/>
                          </a:solidFill>
                          <a:latin typeface="Calibri"/>
                        </a:rPr>
                        <a:t>145.87–148.82</a:t>
                      </a:r>
                    </a:p>
                  </a:txBody>
                  <a:tcPr marL="85725" marR="38100" marT="19050" marB="19050" anchor="ctr">
                    <a:solidFill>
                      <a:srgbClr val="F5F8FA"/>
                    </a:solidFill>
                  </a:tcPr>
                </a:tc>
                <a:tc>
                  <a:txBody>
                    <a:bodyPr wrap="none"/>
                    <a:lstStyle/>
                    <a:p>
                      <a:pPr algn="l"/>
                      <a:r>
                        <a:rPr sz="800" b="0">
                          <a:solidFill>
                            <a:srgbClr val="2E2E2E"/>
                          </a:solidFill>
                          <a:latin typeface="Calibri"/>
                        </a:rPr>
                        <a:t>437.94–446.79</a:t>
                      </a:r>
                    </a:p>
                  </a:txBody>
                  <a:tcPr marL="85725" marR="38100" marT="19050" marB="19050" anchor="ctr">
                    <a:solidFill>
                      <a:srgbClr val="F5F8FA"/>
                    </a:solidFill>
                  </a:tcPr>
                </a:tc>
                <a:tc>
                  <a:txBody>
                    <a:bodyPr wrap="none"/>
                    <a:lstStyle/>
                    <a:p>
                      <a:pPr algn="l"/>
                      <a:r>
                        <a:rPr sz="800" b="0">
                          <a:solidFill>
                            <a:srgbClr val="2E2E2E"/>
                          </a:solidFill>
                          <a:latin typeface="Calibri"/>
                        </a:rPr>
                        <a:t>135.80–138.55</a:t>
                      </a:r>
                    </a:p>
                  </a:txBody>
                  <a:tcPr marL="85725" marR="38100" marT="19050" marB="19050" anchor="ctr">
                    <a:solidFill>
                      <a:srgbClr val="F5F8FA"/>
                    </a:solidFill>
                  </a:tcPr>
                </a:tc>
                <a:tc>
                  <a:txBody>
                    <a:bodyPr wrap="none"/>
                    <a:lstStyle/>
                    <a:p>
                      <a:pPr algn="l"/>
                      <a:r>
                        <a:rPr sz="800" b="0">
                          <a:solidFill>
                            <a:srgbClr val="2E2E2E"/>
                          </a:solidFill>
                          <a:latin typeface="Calibri"/>
                        </a:rPr>
                        <a:t>208.10</a:t>
                      </a:r>
                    </a:p>
                  </a:txBody>
                  <a:tcPr marL="85725" marR="38100" marT="19050" marB="19050" anchor="ctr">
                    <a:solidFill>
                      <a:srgbClr val="F5F8FA"/>
                    </a:solidFill>
                  </a:tcPr>
                </a:tc>
              </a:tr>
            </a:tbl>
          </a:graphicData>
        </a:graphic>
      </p:graphicFrame>
      <p:sp>
        <p:nvSpPr>
          <p:cNvPr id="14" name="TextBox 13"/>
          <p:cNvSpPr txBox="1"/>
          <p:nvPr/>
        </p:nvSpPr>
        <p:spPr>
          <a:xfrm>
            <a:off x="219075" y="484822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5143500"/>
            <a:ext cx="11906250" cy="1504950"/>
          </a:xfrm>
          <a:prstGeom prst="roundRect">
            <a:avLst>
              <a:gd name="adj" fmla="val 506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5229225"/>
            <a:ext cx="11639550" cy="209550"/>
          </a:xfrm>
          <a:prstGeom prst="rect">
            <a:avLst/>
          </a:prstGeom>
          <a:noFill/>
        </p:spPr>
        <p:txBody>
          <a:bodyPr wrap="square" lIns="0" rIns="19050" tIns="9525" bIns="9525">
            <a:spAutoFit/>
          </a:bodyPr>
          <a:lstStyle/>
          <a:p>
            <a:pPr algn="l"/>
            <a:r>
              <a:rPr sz="1300" b="1">
                <a:solidFill>
                  <a:srgbClr val="0B2E4A"/>
                </a:solidFill>
                <a:latin typeface="Calibri"/>
              </a:rPr>
              <a:t>Benchmarking Insights</a:t>
            </a:r>
          </a:p>
        </p:txBody>
      </p:sp>
      <p:sp>
        <p:nvSpPr>
          <p:cNvPr id="17" name="Rectangle 16"/>
          <p:cNvSpPr/>
          <p:nvPr/>
        </p:nvSpPr>
        <p:spPr>
          <a:xfrm>
            <a:off x="276225" y="5467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553075"/>
            <a:ext cx="11639550" cy="1019175"/>
          </a:xfrm>
          <a:prstGeom prst="rect">
            <a:avLst/>
          </a:prstGeom>
          <a:noFill/>
        </p:spPr>
        <p:txBody>
          <a:bodyPr wrap="square" lIns="0" rIns="19050" tIns="9525" bIns="9525">
            <a:spAutoFit/>
          </a:bodyPr>
          <a:lstStyle/>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On a weighted-average basis 'North America' is the highest-priced region (~474.35 US$/unit) and 'South Asia &amp; Pacific' the most competitive (~137.71 US$/unit).</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Price ranges are benchmarked per product type type at 2026, derived as Value ÷ Volume with a ±1% observed trading band.</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Cross-region price dispersion of ~3.44× reflects differences in mix, logistics and channel structure.</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Benchmarks support price-corridor setting and margin-defence decisions across geographies.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Price Forecast &amp; Dynamics</a:t>
            </a:r>
          </a:p>
        </p:txBody>
      </p:sp>
      <p:sp>
        <p:nvSpPr>
          <p:cNvPr id="10" name="Rounded Rectangle 9"/>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Forward price trajectory to 2036 by product type type and the structural factors shaping it (US$/unit).</a:t>
            </a:r>
          </a:p>
        </p:txBody>
      </p:sp>
      <p:sp>
        <p:nvSpPr>
          <p:cNvPr id="11" name="Rounded Rectangle 10"/>
          <p:cNvSpPr/>
          <p:nvPr/>
        </p:nvSpPr>
        <p:spPr>
          <a:xfrm>
            <a:off x="142875" y="118110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23825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Product Type (US$/unit)</a:t>
            </a:r>
          </a:p>
        </p:txBody>
      </p:sp>
      <p:graphicFrame>
        <p:nvGraphicFramePr>
          <p:cNvPr id="13" name="Table 12"/>
          <p:cNvGraphicFramePr>
            <a:graphicFrameLocks noGrp="1"/>
          </p:cNvGraphicFramePr>
          <p:nvPr/>
        </p:nvGraphicFramePr>
        <p:xfrm>
          <a:off x="238125" y="1466850"/>
          <a:ext cx="11715753" cy="2171700"/>
        </p:xfrm>
        <a:graphic>
          <a:graphicData uri="http://schemas.openxmlformats.org/drawingml/2006/table">
            <a:tbl>
              <a:tblPr>
                <a:tableStyleId>{5C22544A-7EE6-4342-B048-85BDC9FD1C3A}</a:tableStyleId>
              </a:tblPr>
              <a:tblGrid>
                <a:gridCol w="3514725"/>
                <a:gridCol w="1366838"/>
                <a:gridCol w="1366838"/>
                <a:gridCol w="1366838"/>
                <a:gridCol w="1366838"/>
                <a:gridCol w="1366838"/>
                <a:gridCol w="1366838"/>
              </a:tblGrid>
              <a:tr h="180975">
                <a:tc>
                  <a:txBody>
                    <a:bodyPr wrap="none"/>
                    <a:lstStyle/>
                    <a:p>
                      <a:pPr algn="l"/>
                      <a:r>
                        <a:rPr sz="900" b="1">
                          <a:solidFill>
                            <a:srgbClr val="0B2E4A"/>
                          </a:solidFill>
                          <a:latin typeface="Calibri"/>
                        </a:rPr>
                        <a:t>Product Type</a:t>
                      </a:r>
                    </a:p>
                  </a:txBody>
                  <a:tcPr marL="85725" marR="38100" marT="19050" marB="19050" anchor="ctr">
                    <a:solidFill>
                      <a:srgbClr val="E0E8EF"/>
                    </a:solidFill>
                  </a:tcPr>
                </a:tc>
                <a:tc>
                  <a:txBody>
                    <a:bodyPr wrap="none"/>
                    <a:lstStyle/>
                    <a:p>
                      <a:pPr algn="l"/>
                      <a:r>
                        <a:rPr sz="900" b="1">
                          <a:solidFill>
                            <a:srgbClr val="0B2E4A"/>
                          </a:solidFill>
                          <a:latin typeface="Calibri"/>
                        </a:rPr>
                        <a:t>2026</a:t>
                      </a:r>
                    </a:p>
                  </a:txBody>
                  <a:tcPr marL="85725" marR="38100" marT="19050" marB="19050" anchor="ctr">
                    <a:solidFill>
                      <a:srgbClr val="E0E8EF"/>
                    </a:solidFill>
                  </a:tcPr>
                </a:tc>
                <a:tc>
                  <a:txBody>
                    <a:bodyPr wrap="none"/>
                    <a:lstStyle/>
                    <a:p>
                      <a:pPr algn="l"/>
                      <a:r>
                        <a:rPr sz="900" b="1">
                          <a:solidFill>
                            <a:srgbClr val="0B2E4A"/>
                          </a:solidFill>
                          <a:latin typeface="Calibri"/>
                        </a:rPr>
                        <a:t>2028</a:t>
                      </a:r>
                    </a:p>
                  </a:txBody>
                  <a:tcPr marL="85725" marR="38100" marT="19050" marB="19050" anchor="ctr">
                    <a:solidFill>
                      <a:srgbClr val="E0E8EF"/>
                    </a:solidFill>
                  </a:tcPr>
                </a:tc>
                <a:tc>
                  <a:txBody>
                    <a:bodyPr wrap="none"/>
                    <a:lstStyle/>
                    <a:p>
                      <a:pPr algn="l"/>
                      <a:r>
                        <a:rPr sz="900" b="1">
                          <a:solidFill>
                            <a:srgbClr val="0B2E4A"/>
                          </a:solidFill>
                          <a:latin typeface="Calibri"/>
                        </a:rPr>
                        <a:t>2030</a:t>
                      </a:r>
                    </a:p>
                  </a:txBody>
                  <a:tcPr marL="85725" marR="38100" marT="19050" marB="19050" anchor="ctr">
                    <a:solidFill>
                      <a:srgbClr val="E0E8EF"/>
                    </a:solidFill>
                  </a:tcPr>
                </a:tc>
                <a:tc>
                  <a:txBody>
                    <a:bodyPr wrap="none"/>
                    <a:lstStyle/>
                    <a:p>
                      <a:pPr algn="l"/>
                      <a:r>
                        <a:rPr sz="900" b="1">
                          <a:solidFill>
                            <a:srgbClr val="0B2E4A"/>
                          </a:solidFill>
                          <a:latin typeface="Calibri"/>
                        </a:rPr>
                        <a:t>2032</a:t>
                      </a:r>
                    </a:p>
                  </a:txBody>
                  <a:tcPr marL="85725" marR="38100" marT="19050" marB="19050" anchor="ctr">
                    <a:solidFill>
                      <a:srgbClr val="E0E8EF"/>
                    </a:solidFill>
                  </a:tcPr>
                </a:tc>
                <a:tc>
                  <a:txBody>
                    <a:bodyPr wrap="none"/>
                    <a:lstStyle/>
                    <a:p>
                      <a:pPr algn="l"/>
                      <a:r>
                        <a:rPr sz="900" b="1">
                          <a:solidFill>
                            <a:srgbClr val="0B2E4A"/>
                          </a:solidFill>
                          <a:latin typeface="Calibri"/>
                        </a:rPr>
                        <a:t>2034</a:t>
                      </a:r>
                    </a:p>
                  </a:txBody>
                  <a:tcPr marL="85725" marR="38100" marT="19050" marB="19050" anchor="ctr">
                    <a:solidFill>
                      <a:srgbClr val="E0E8EF"/>
                    </a:solidFill>
                  </a:tcPr>
                </a:tc>
                <a:tc>
                  <a:txBody>
                    <a:bodyPr wrap="none"/>
                    <a:lstStyle/>
                    <a:p>
                      <a:pPr algn="l"/>
                      <a:r>
                        <a:rPr sz="9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900" b="0">
                          <a:solidFill>
                            <a:srgbClr val="2E2E2E"/>
                          </a:solidFill>
                          <a:latin typeface="Calibri"/>
                        </a:rPr>
                        <a:t>201.52</a:t>
                      </a:r>
                    </a:p>
                  </a:txBody>
                  <a:tcPr marL="85725" marR="38100" marT="19050" marB="19050" anchor="ctr">
                    <a:solidFill>
                      <a:srgbClr val="FFFFFF"/>
                    </a:solidFill>
                  </a:tcPr>
                </a:tc>
                <a:tc>
                  <a:txBody>
                    <a:bodyPr wrap="none"/>
                    <a:lstStyle/>
                    <a:p>
                      <a:pPr algn="l"/>
                      <a:r>
                        <a:rPr sz="900" b="0">
                          <a:solidFill>
                            <a:srgbClr val="2E2E2E"/>
                          </a:solidFill>
                          <a:latin typeface="Calibri"/>
                        </a:rPr>
                        <a:t>170.82</a:t>
                      </a:r>
                    </a:p>
                  </a:txBody>
                  <a:tcPr marL="85725" marR="38100" marT="19050" marB="19050" anchor="ctr">
                    <a:solidFill>
                      <a:srgbClr val="FFFFFF"/>
                    </a:solidFill>
                  </a:tcPr>
                </a:tc>
                <a:tc>
                  <a:txBody>
                    <a:bodyPr wrap="none"/>
                    <a:lstStyle/>
                    <a:p>
                      <a:pPr algn="l"/>
                      <a:r>
                        <a:rPr sz="900" b="0">
                          <a:solidFill>
                            <a:srgbClr val="2E2E2E"/>
                          </a:solidFill>
                          <a:latin typeface="Calibri"/>
                        </a:rPr>
                        <a:t>144.83</a:t>
                      </a:r>
                    </a:p>
                  </a:txBody>
                  <a:tcPr marL="85725" marR="38100" marT="19050" marB="19050" anchor="ctr">
                    <a:solidFill>
                      <a:srgbClr val="FFFFFF"/>
                    </a:solidFill>
                  </a:tcPr>
                </a:tc>
                <a:tc>
                  <a:txBody>
                    <a:bodyPr wrap="none"/>
                    <a:lstStyle/>
                    <a:p>
                      <a:pPr algn="l"/>
                      <a:r>
                        <a:rPr sz="900" b="0">
                          <a:solidFill>
                            <a:srgbClr val="2E2E2E"/>
                          </a:solidFill>
                          <a:latin typeface="Calibri"/>
                        </a:rPr>
                        <a:t>122.81</a:t>
                      </a:r>
                    </a:p>
                  </a:txBody>
                  <a:tcPr marL="85725" marR="38100" marT="19050" marB="19050" anchor="ctr">
                    <a:solidFill>
                      <a:srgbClr val="FFFFFF"/>
                    </a:solidFill>
                  </a:tcPr>
                </a:tc>
                <a:tc>
                  <a:txBody>
                    <a:bodyPr wrap="none"/>
                    <a:lstStyle/>
                    <a:p>
                      <a:pPr algn="l"/>
                      <a:r>
                        <a:rPr sz="900" b="0">
                          <a:solidFill>
                            <a:srgbClr val="2E2E2E"/>
                          </a:solidFill>
                          <a:latin typeface="Calibri"/>
                        </a:rPr>
                        <a:t>104.16</a:t>
                      </a:r>
                    </a:p>
                  </a:txBody>
                  <a:tcPr marL="85725" marR="38100" marT="19050" marB="19050" anchor="ctr">
                    <a:solidFill>
                      <a:srgbClr val="FFFFFF"/>
                    </a:solidFill>
                  </a:tcPr>
                </a:tc>
                <a:tc>
                  <a:txBody>
                    <a:bodyPr wrap="none"/>
                    <a:lstStyle/>
                    <a:p>
                      <a:pPr algn="l"/>
                      <a:r>
                        <a:rPr sz="900" b="0">
                          <a:solidFill>
                            <a:srgbClr val="2E2E2E"/>
                          </a:solidFill>
                          <a:latin typeface="Calibri"/>
                        </a:rPr>
                        <a:t>88.35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Cyltezo</a:t>
                      </a:r>
                    </a:p>
                  </a:txBody>
                  <a:tcPr marL="85725" marR="38100" marT="19050" marB="19050" anchor="ctr">
                    <a:solidFill>
                      <a:srgbClr val="F5F8FA"/>
                    </a:solidFill>
                  </a:tcPr>
                </a:tc>
                <a:tc>
                  <a:txBody>
                    <a:bodyPr wrap="none"/>
                    <a:lstStyle/>
                    <a:p>
                      <a:pPr algn="l"/>
                      <a:r>
                        <a:rPr sz="900" b="0">
                          <a:solidFill>
                            <a:srgbClr val="2E2E2E"/>
                          </a:solidFill>
                          <a:latin typeface="Calibri"/>
                        </a:rPr>
                        <a:t>695.59</a:t>
                      </a:r>
                    </a:p>
                  </a:txBody>
                  <a:tcPr marL="85725" marR="38100" marT="19050" marB="19050" anchor="ctr">
                    <a:solidFill>
                      <a:srgbClr val="F5F8FA"/>
                    </a:solidFill>
                  </a:tcPr>
                </a:tc>
                <a:tc>
                  <a:txBody>
                    <a:bodyPr wrap="none"/>
                    <a:lstStyle/>
                    <a:p>
                      <a:pPr algn="l"/>
                      <a:r>
                        <a:rPr sz="900" b="0">
                          <a:solidFill>
                            <a:srgbClr val="2E2E2E"/>
                          </a:solidFill>
                          <a:latin typeface="Calibri"/>
                        </a:rPr>
                        <a:t>648.50</a:t>
                      </a:r>
                    </a:p>
                  </a:txBody>
                  <a:tcPr marL="85725" marR="38100" marT="19050" marB="19050" anchor="ctr">
                    <a:solidFill>
                      <a:srgbClr val="F5F8FA"/>
                    </a:solidFill>
                  </a:tcPr>
                </a:tc>
                <a:tc>
                  <a:txBody>
                    <a:bodyPr wrap="none"/>
                    <a:lstStyle/>
                    <a:p>
                      <a:pPr algn="l"/>
                      <a:r>
                        <a:rPr sz="900" b="0">
                          <a:solidFill>
                            <a:srgbClr val="2E2E2E"/>
                          </a:solidFill>
                          <a:latin typeface="Calibri"/>
                        </a:rPr>
                        <a:t>604.71</a:t>
                      </a:r>
                    </a:p>
                  </a:txBody>
                  <a:tcPr marL="85725" marR="38100" marT="19050" marB="19050" anchor="ctr">
                    <a:solidFill>
                      <a:srgbClr val="F5F8FA"/>
                    </a:solidFill>
                  </a:tcPr>
                </a:tc>
                <a:tc>
                  <a:txBody>
                    <a:bodyPr wrap="none"/>
                    <a:lstStyle/>
                    <a:p>
                      <a:pPr algn="l"/>
                      <a:r>
                        <a:rPr sz="900" b="0">
                          <a:solidFill>
                            <a:srgbClr val="2E2E2E"/>
                          </a:solidFill>
                          <a:latin typeface="Calibri"/>
                        </a:rPr>
                        <a:t>563.97</a:t>
                      </a:r>
                    </a:p>
                  </a:txBody>
                  <a:tcPr marL="85725" marR="38100" marT="19050" marB="19050" anchor="ctr">
                    <a:solidFill>
                      <a:srgbClr val="F5F8FA"/>
                    </a:solidFill>
                  </a:tcPr>
                </a:tc>
                <a:tc>
                  <a:txBody>
                    <a:bodyPr wrap="none"/>
                    <a:lstStyle/>
                    <a:p>
                      <a:pPr algn="l"/>
                      <a:r>
                        <a:rPr sz="900" b="0">
                          <a:solidFill>
                            <a:srgbClr val="2E2E2E"/>
                          </a:solidFill>
                          <a:latin typeface="Calibri"/>
                        </a:rPr>
                        <a:t>526.07</a:t>
                      </a:r>
                    </a:p>
                  </a:txBody>
                  <a:tcPr marL="85725" marR="38100" marT="19050" marB="19050" anchor="ctr">
                    <a:solidFill>
                      <a:srgbClr val="F5F8FA"/>
                    </a:solidFill>
                  </a:tcPr>
                </a:tc>
                <a:tc>
                  <a:txBody>
                    <a:bodyPr wrap="none"/>
                    <a:lstStyle/>
                    <a:p>
                      <a:pPr algn="l"/>
                      <a:r>
                        <a:rPr sz="900" b="0">
                          <a:solidFill>
                            <a:srgbClr val="2E2E2E"/>
                          </a:solidFill>
                          <a:latin typeface="Calibri"/>
                        </a:rPr>
                        <a:t>490.81</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900" b="0">
                          <a:solidFill>
                            <a:srgbClr val="2E2E2E"/>
                          </a:solidFill>
                          <a:latin typeface="Calibri"/>
                        </a:rPr>
                        <a:t>129.30</a:t>
                      </a:r>
                    </a:p>
                  </a:txBody>
                  <a:tcPr marL="85725" marR="38100" marT="19050" marB="19050" anchor="ctr">
                    <a:solidFill>
                      <a:srgbClr val="FFFFFF"/>
                    </a:solidFill>
                  </a:tcPr>
                </a:tc>
                <a:tc>
                  <a:txBody>
                    <a:bodyPr wrap="none"/>
                    <a:lstStyle/>
                    <a:p>
                      <a:pPr algn="l"/>
                      <a:r>
                        <a:rPr sz="900" b="0">
                          <a:solidFill>
                            <a:srgbClr val="2E2E2E"/>
                          </a:solidFill>
                          <a:latin typeface="Calibri"/>
                        </a:rPr>
                        <a:t>116.60</a:t>
                      </a:r>
                    </a:p>
                  </a:txBody>
                  <a:tcPr marL="85725" marR="38100" marT="19050" marB="19050" anchor="ctr">
                    <a:solidFill>
                      <a:srgbClr val="FFFFFF"/>
                    </a:solidFill>
                  </a:tcPr>
                </a:tc>
                <a:tc>
                  <a:txBody>
                    <a:bodyPr wrap="none"/>
                    <a:lstStyle/>
                    <a:p>
                      <a:pPr algn="l"/>
                      <a:r>
                        <a:rPr sz="900" b="0">
                          <a:solidFill>
                            <a:srgbClr val="2E2E2E"/>
                          </a:solidFill>
                          <a:latin typeface="Calibri"/>
                        </a:rPr>
                        <a:t>105.16</a:t>
                      </a:r>
                    </a:p>
                  </a:txBody>
                  <a:tcPr marL="85725" marR="38100" marT="19050" marB="19050" anchor="ctr">
                    <a:solidFill>
                      <a:srgbClr val="FFFFFF"/>
                    </a:solidFill>
                  </a:tcPr>
                </a:tc>
                <a:tc>
                  <a:txBody>
                    <a:bodyPr wrap="none"/>
                    <a:lstStyle/>
                    <a:p>
                      <a:pPr algn="l"/>
                      <a:r>
                        <a:rPr sz="900" b="0">
                          <a:solidFill>
                            <a:srgbClr val="2E2E2E"/>
                          </a:solidFill>
                          <a:latin typeface="Calibri"/>
                        </a:rPr>
                        <a:t>94.87</a:t>
                      </a:r>
                    </a:p>
                  </a:txBody>
                  <a:tcPr marL="85725" marR="38100" marT="19050" marB="19050" anchor="ctr">
                    <a:solidFill>
                      <a:srgbClr val="FFFFFF"/>
                    </a:solidFill>
                  </a:tcPr>
                </a:tc>
                <a:tc>
                  <a:txBody>
                    <a:bodyPr wrap="none"/>
                    <a:lstStyle/>
                    <a:p>
                      <a:pPr algn="l"/>
                      <a:r>
                        <a:rPr sz="900" b="0">
                          <a:solidFill>
                            <a:srgbClr val="2E2E2E"/>
                          </a:solidFill>
                          <a:latin typeface="Calibri"/>
                        </a:rPr>
                        <a:t>85.60</a:t>
                      </a:r>
                    </a:p>
                  </a:txBody>
                  <a:tcPr marL="85725" marR="38100" marT="19050" marB="19050" anchor="ctr">
                    <a:solidFill>
                      <a:srgbClr val="FFFFFF"/>
                    </a:solidFill>
                  </a:tcPr>
                </a:tc>
                <a:tc>
                  <a:txBody>
                    <a:bodyPr wrap="none"/>
                    <a:lstStyle/>
                    <a:p>
                      <a:pPr algn="l"/>
                      <a:r>
                        <a:rPr sz="900" b="0">
                          <a:solidFill>
                            <a:srgbClr val="2E2E2E"/>
                          </a:solidFill>
                          <a:latin typeface="Calibri"/>
                        </a:rPr>
                        <a:t>77.24</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900" b="0">
                          <a:solidFill>
                            <a:srgbClr val="2E2E2E"/>
                          </a:solidFill>
                          <a:latin typeface="Calibri"/>
                        </a:rPr>
                        <a:t>328.00</a:t>
                      </a:r>
                    </a:p>
                  </a:txBody>
                  <a:tcPr marL="85725" marR="38100" marT="19050" marB="19050" anchor="ctr">
                    <a:solidFill>
                      <a:srgbClr val="F5F8FA"/>
                    </a:solidFill>
                  </a:tcPr>
                </a:tc>
                <a:tc>
                  <a:txBody>
                    <a:bodyPr wrap="none"/>
                    <a:lstStyle/>
                    <a:p>
                      <a:pPr algn="l"/>
                      <a:r>
                        <a:rPr sz="900" b="0">
                          <a:solidFill>
                            <a:srgbClr val="2E2E2E"/>
                          </a:solidFill>
                          <a:latin typeface="Calibri"/>
                        </a:rPr>
                        <a:t>308.74</a:t>
                      </a:r>
                    </a:p>
                  </a:txBody>
                  <a:tcPr marL="85725" marR="38100" marT="19050" marB="19050" anchor="ctr">
                    <a:solidFill>
                      <a:srgbClr val="F5F8FA"/>
                    </a:solidFill>
                  </a:tcPr>
                </a:tc>
                <a:tc>
                  <a:txBody>
                    <a:bodyPr wrap="none"/>
                    <a:lstStyle/>
                    <a:p>
                      <a:pPr algn="l"/>
                      <a:r>
                        <a:rPr sz="900" b="0">
                          <a:solidFill>
                            <a:srgbClr val="2E2E2E"/>
                          </a:solidFill>
                          <a:latin typeface="Calibri"/>
                        </a:rPr>
                        <a:t>290.67</a:t>
                      </a:r>
                    </a:p>
                  </a:txBody>
                  <a:tcPr marL="85725" marR="38100" marT="19050" marB="19050" anchor="ctr">
                    <a:solidFill>
                      <a:srgbClr val="F5F8FA"/>
                    </a:solidFill>
                  </a:tcPr>
                </a:tc>
                <a:tc>
                  <a:txBody>
                    <a:bodyPr wrap="none"/>
                    <a:lstStyle/>
                    <a:p>
                      <a:pPr algn="l"/>
                      <a:r>
                        <a:rPr sz="900" b="0">
                          <a:solidFill>
                            <a:srgbClr val="2E2E2E"/>
                          </a:solidFill>
                          <a:latin typeface="Calibri"/>
                        </a:rPr>
                        <a:t>273.70</a:t>
                      </a:r>
                    </a:p>
                  </a:txBody>
                  <a:tcPr marL="85725" marR="38100" marT="19050" marB="19050" anchor="ctr">
                    <a:solidFill>
                      <a:srgbClr val="F5F8FA"/>
                    </a:solidFill>
                  </a:tcPr>
                </a:tc>
                <a:tc>
                  <a:txBody>
                    <a:bodyPr wrap="none"/>
                    <a:lstStyle/>
                    <a:p>
                      <a:pPr algn="l"/>
                      <a:r>
                        <a:rPr sz="900" b="0">
                          <a:solidFill>
                            <a:srgbClr val="2E2E2E"/>
                          </a:solidFill>
                          <a:latin typeface="Calibri"/>
                        </a:rPr>
                        <a:t>257.77</a:t>
                      </a:r>
                    </a:p>
                  </a:txBody>
                  <a:tcPr marL="85725" marR="38100" marT="19050" marB="19050" anchor="ctr">
                    <a:solidFill>
                      <a:srgbClr val="F5F8FA"/>
                    </a:solidFill>
                  </a:tcPr>
                </a:tc>
                <a:tc>
                  <a:txBody>
                    <a:bodyPr wrap="none"/>
                    <a:lstStyle/>
                    <a:p>
                      <a:pPr algn="l"/>
                      <a:r>
                        <a:rPr sz="900" b="0">
                          <a:solidFill>
                            <a:srgbClr val="2E2E2E"/>
                          </a:solidFill>
                          <a:latin typeface="Calibri"/>
                        </a:rPr>
                        <a:t>242.81</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Idacio</a:t>
                      </a:r>
                    </a:p>
                  </a:txBody>
                  <a:tcPr marL="85725" marR="38100" marT="19050" marB="19050" anchor="ctr">
                    <a:solidFill>
                      <a:srgbClr val="FFFFFF"/>
                    </a:solidFill>
                  </a:tcPr>
                </a:tc>
                <a:tc>
                  <a:txBody>
                    <a:bodyPr wrap="none"/>
                    <a:lstStyle/>
                    <a:p>
                      <a:pPr algn="l"/>
                      <a:r>
                        <a:rPr sz="900" b="0">
                          <a:solidFill>
                            <a:srgbClr val="2E2E2E"/>
                          </a:solidFill>
                          <a:latin typeface="Calibri"/>
                        </a:rPr>
                        <a:t>285.90</a:t>
                      </a:r>
                    </a:p>
                  </a:txBody>
                  <a:tcPr marL="85725" marR="38100" marT="19050" marB="19050" anchor="ctr">
                    <a:solidFill>
                      <a:srgbClr val="FFFFFF"/>
                    </a:solidFill>
                  </a:tcPr>
                </a:tc>
                <a:tc>
                  <a:txBody>
                    <a:bodyPr wrap="none"/>
                    <a:lstStyle/>
                    <a:p>
                      <a:pPr algn="l"/>
                      <a:r>
                        <a:rPr sz="900" b="0">
                          <a:solidFill>
                            <a:srgbClr val="2E2E2E"/>
                          </a:solidFill>
                          <a:latin typeface="Calibri"/>
                        </a:rPr>
                        <a:t>276.19</a:t>
                      </a:r>
                    </a:p>
                  </a:txBody>
                  <a:tcPr marL="85725" marR="38100" marT="19050" marB="19050" anchor="ctr">
                    <a:solidFill>
                      <a:srgbClr val="FFFFFF"/>
                    </a:solidFill>
                  </a:tcPr>
                </a:tc>
                <a:tc>
                  <a:txBody>
                    <a:bodyPr wrap="none"/>
                    <a:lstStyle/>
                    <a:p>
                      <a:pPr algn="l"/>
                      <a:r>
                        <a:rPr sz="900" b="0">
                          <a:solidFill>
                            <a:srgbClr val="2E2E2E"/>
                          </a:solidFill>
                          <a:latin typeface="Calibri"/>
                        </a:rPr>
                        <a:t>266.85</a:t>
                      </a:r>
                    </a:p>
                  </a:txBody>
                  <a:tcPr marL="85725" marR="38100" marT="19050" marB="19050" anchor="ctr">
                    <a:solidFill>
                      <a:srgbClr val="FFFFFF"/>
                    </a:solidFill>
                  </a:tcPr>
                </a:tc>
                <a:tc>
                  <a:txBody>
                    <a:bodyPr wrap="none"/>
                    <a:lstStyle/>
                    <a:p>
                      <a:pPr algn="l"/>
                      <a:r>
                        <a:rPr sz="900" b="0">
                          <a:solidFill>
                            <a:srgbClr val="2E2E2E"/>
                          </a:solidFill>
                          <a:latin typeface="Calibri"/>
                        </a:rPr>
                        <a:t>257.87</a:t>
                      </a:r>
                    </a:p>
                  </a:txBody>
                  <a:tcPr marL="85725" marR="38100" marT="19050" marB="19050" anchor="ctr">
                    <a:solidFill>
                      <a:srgbClr val="FFFFFF"/>
                    </a:solidFill>
                  </a:tcPr>
                </a:tc>
                <a:tc>
                  <a:txBody>
                    <a:bodyPr wrap="none"/>
                    <a:lstStyle/>
                    <a:p>
                      <a:pPr algn="l"/>
                      <a:r>
                        <a:rPr sz="900" b="0">
                          <a:solidFill>
                            <a:srgbClr val="2E2E2E"/>
                          </a:solidFill>
                          <a:latin typeface="Calibri"/>
                        </a:rPr>
                        <a:t>249.24</a:t>
                      </a:r>
                    </a:p>
                  </a:txBody>
                  <a:tcPr marL="85725" marR="38100" marT="19050" marB="19050" anchor="ctr">
                    <a:solidFill>
                      <a:srgbClr val="FFFFFF"/>
                    </a:solidFill>
                  </a:tcPr>
                </a:tc>
                <a:tc>
                  <a:txBody>
                    <a:bodyPr wrap="none"/>
                    <a:lstStyle/>
                    <a:p>
                      <a:pPr algn="l"/>
                      <a:r>
                        <a:rPr sz="900" b="0">
                          <a:solidFill>
                            <a:srgbClr val="2E2E2E"/>
                          </a:solidFill>
                          <a:latin typeface="Calibri"/>
                        </a:rPr>
                        <a:t>240.94</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Hulio</a:t>
                      </a:r>
                    </a:p>
                  </a:txBody>
                  <a:tcPr marL="85725" marR="38100" marT="19050" marB="19050" anchor="ctr">
                    <a:solidFill>
                      <a:srgbClr val="F5F8FA"/>
                    </a:solidFill>
                  </a:tcPr>
                </a:tc>
                <a:tc>
                  <a:txBody>
                    <a:bodyPr wrap="none"/>
                    <a:lstStyle/>
                    <a:p>
                      <a:pPr algn="l"/>
                      <a:r>
                        <a:rPr sz="900" b="0">
                          <a:solidFill>
                            <a:srgbClr val="2E2E2E"/>
                          </a:solidFill>
                          <a:latin typeface="Calibri"/>
                        </a:rPr>
                        <a:t>269.00</a:t>
                      </a:r>
                    </a:p>
                  </a:txBody>
                  <a:tcPr marL="85725" marR="38100" marT="19050" marB="19050" anchor="ctr">
                    <a:solidFill>
                      <a:srgbClr val="F5F8FA"/>
                    </a:solidFill>
                  </a:tcPr>
                </a:tc>
                <a:tc>
                  <a:txBody>
                    <a:bodyPr wrap="none"/>
                    <a:lstStyle/>
                    <a:p>
                      <a:pPr algn="l"/>
                      <a:r>
                        <a:rPr sz="900" b="0">
                          <a:solidFill>
                            <a:srgbClr val="2E2E2E"/>
                          </a:solidFill>
                          <a:latin typeface="Calibri"/>
                        </a:rPr>
                        <a:t>259.35</a:t>
                      </a:r>
                    </a:p>
                  </a:txBody>
                  <a:tcPr marL="85725" marR="38100" marT="19050" marB="19050" anchor="ctr">
                    <a:solidFill>
                      <a:srgbClr val="F5F8FA"/>
                    </a:solidFill>
                  </a:tcPr>
                </a:tc>
                <a:tc>
                  <a:txBody>
                    <a:bodyPr wrap="none"/>
                    <a:lstStyle/>
                    <a:p>
                      <a:pPr algn="l"/>
                      <a:r>
                        <a:rPr sz="900" b="0">
                          <a:solidFill>
                            <a:srgbClr val="2E2E2E"/>
                          </a:solidFill>
                          <a:latin typeface="Calibri"/>
                        </a:rPr>
                        <a:t>250.10</a:t>
                      </a:r>
                    </a:p>
                  </a:txBody>
                  <a:tcPr marL="85725" marR="38100" marT="19050" marB="19050" anchor="ctr">
                    <a:solidFill>
                      <a:srgbClr val="F5F8FA"/>
                    </a:solidFill>
                  </a:tcPr>
                </a:tc>
                <a:tc>
                  <a:txBody>
                    <a:bodyPr wrap="none"/>
                    <a:lstStyle/>
                    <a:p>
                      <a:pPr algn="l"/>
                      <a:r>
                        <a:rPr sz="900" b="0">
                          <a:solidFill>
                            <a:srgbClr val="2E2E2E"/>
                          </a:solidFill>
                          <a:latin typeface="Calibri"/>
                        </a:rPr>
                        <a:t>241.21</a:t>
                      </a:r>
                    </a:p>
                  </a:txBody>
                  <a:tcPr marL="85725" marR="38100" marT="19050" marB="19050" anchor="ctr">
                    <a:solidFill>
                      <a:srgbClr val="F5F8FA"/>
                    </a:solidFill>
                  </a:tcPr>
                </a:tc>
                <a:tc>
                  <a:txBody>
                    <a:bodyPr wrap="none"/>
                    <a:lstStyle/>
                    <a:p>
                      <a:pPr algn="l"/>
                      <a:r>
                        <a:rPr sz="900" b="0">
                          <a:solidFill>
                            <a:srgbClr val="2E2E2E"/>
                          </a:solidFill>
                          <a:latin typeface="Calibri"/>
                        </a:rPr>
                        <a:t>232.68</a:t>
                      </a:r>
                    </a:p>
                  </a:txBody>
                  <a:tcPr marL="85725" marR="38100" marT="19050" marB="19050" anchor="ctr">
                    <a:solidFill>
                      <a:srgbClr val="F5F8FA"/>
                    </a:solidFill>
                  </a:tcPr>
                </a:tc>
                <a:tc>
                  <a:txBody>
                    <a:bodyPr wrap="none"/>
                    <a:lstStyle/>
                    <a:p>
                      <a:pPr algn="l"/>
                      <a:r>
                        <a:rPr sz="900" b="0">
                          <a:solidFill>
                            <a:srgbClr val="2E2E2E"/>
                          </a:solidFill>
                          <a:latin typeface="Calibri"/>
                        </a:rPr>
                        <a:t>224.50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900" b="0">
                          <a:solidFill>
                            <a:srgbClr val="2E2E2E"/>
                          </a:solidFill>
                          <a:latin typeface="Calibri"/>
                        </a:rPr>
                        <a:t>295.61</a:t>
                      </a:r>
                    </a:p>
                  </a:txBody>
                  <a:tcPr marL="85725" marR="38100" marT="19050" marB="19050" anchor="ctr">
                    <a:solidFill>
                      <a:srgbClr val="FFFFFF"/>
                    </a:solidFill>
                  </a:tcPr>
                </a:tc>
                <a:tc>
                  <a:txBody>
                    <a:bodyPr wrap="none"/>
                    <a:lstStyle/>
                    <a:p>
                      <a:pPr algn="l"/>
                      <a:r>
                        <a:rPr sz="900" b="0">
                          <a:solidFill>
                            <a:srgbClr val="2E2E2E"/>
                          </a:solidFill>
                          <a:latin typeface="Calibri"/>
                        </a:rPr>
                        <a:t>270.93</a:t>
                      </a:r>
                    </a:p>
                  </a:txBody>
                  <a:tcPr marL="85725" marR="38100" marT="19050" marB="19050" anchor="ctr">
                    <a:solidFill>
                      <a:srgbClr val="FFFFFF"/>
                    </a:solidFill>
                  </a:tcPr>
                </a:tc>
                <a:tc>
                  <a:txBody>
                    <a:bodyPr wrap="none"/>
                    <a:lstStyle/>
                    <a:p>
                      <a:pPr algn="l"/>
                      <a:r>
                        <a:rPr sz="900" b="0">
                          <a:solidFill>
                            <a:srgbClr val="2E2E2E"/>
                          </a:solidFill>
                          <a:latin typeface="Calibri"/>
                        </a:rPr>
                        <a:t>248.35</a:t>
                      </a:r>
                    </a:p>
                  </a:txBody>
                  <a:tcPr marL="85725" marR="38100" marT="19050" marB="19050" anchor="ctr">
                    <a:solidFill>
                      <a:srgbClr val="FFFFFF"/>
                    </a:solidFill>
                  </a:tcPr>
                </a:tc>
                <a:tc>
                  <a:txBody>
                    <a:bodyPr wrap="none"/>
                    <a:lstStyle/>
                    <a:p>
                      <a:pPr algn="l"/>
                      <a:r>
                        <a:rPr sz="900" b="0">
                          <a:solidFill>
                            <a:srgbClr val="2E2E2E"/>
                          </a:solidFill>
                          <a:latin typeface="Calibri"/>
                        </a:rPr>
                        <a:t>227.69</a:t>
                      </a:r>
                    </a:p>
                  </a:txBody>
                  <a:tcPr marL="85725" marR="38100" marT="19050" marB="19050" anchor="ctr">
                    <a:solidFill>
                      <a:srgbClr val="FFFFFF"/>
                    </a:solidFill>
                  </a:tcPr>
                </a:tc>
                <a:tc>
                  <a:txBody>
                    <a:bodyPr wrap="none"/>
                    <a:lstStyle/>
                    <a:p>
                      <a:pPr algn="l"/>
                      <a:r>
                        <a:rPr sz="900" b="0">
                          <a:solidFill>
                            <a:srgbClr val="2E2E2E"/>
                          </a:solidFill>
                          <a:latin typeface="Calibri"/>
                        </a:rPr>
                        <a:t>208.79</a:t>
                      </a:r>
                    </a:p>
                  </a:txBody>
                  <a:tcPr marL="85725" marR="38100" marT="19050" marB="19050" anchor="ctr">
                    <a:solidFill>
                      <a:srgbClr val="FFFFFF"/>
                    </a:solidFill>
                  </a:tcPr>
                </a:tc>
                <a:tc>
                  <a:txBody>
                    <a:bodyPr wrap="none"/>
                    <a:lstStyle/>
                    <a:p>
                      <a:pPr algn="l"/>
                      <a:r>
                        <a:rPr sz="900" b="0">
                          <a:solidFill>
                            <a:srgbClr val="2E2E2E"/>
                          </a:solidFill>
                          <a:latin typeface="Calibri"/>
                        </a:rPr>
                        <a:t>191.49</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Yusimry</a:t>
                      </a:r>
                    </a:p>
                  </a:txBody>
                  <a:tcPr marL="85725" marR="38100" marT="19050" marB="19050" anchor="ctr">
                    <a:solidFill>
                      <a:srgbClr val="F5F8FA"/>
                    </a:solidFill>
                  </a:tcPr>
                </a:tc>
                <a:tc>
                  <a:txBody>
                    <a:bodyPr wrap="none"/>
                    <a:lstStyle/>
                    <a:p>
                      <a:pPr algn="l"/>
                      <a:r>
                        <a:rPr sz="900" b="0">
                          <a:solidFill>
                            <a:srgbClr val="2E2E2E"/>
                          </a:solidFill>
                          <a:latin typeface="Calibri"/>
                        </a:rPr>
                        <a:t>141.44</a:t>
                      </a:r>
                    </a:p>
                  </a:txBody>
                  <a:tcPr marL="85725" marR="38100" marT="19050" marB="19050" anchor="ctr">
                    <a:solidFill>
                      <a:srgbClr val="F5F8FA"/>
                    </a:solidFill>
                  </a:tcPr>
                </a:tc>
                <a:tc>
                  <a:txBody>
                    <a:bodyPr wrap="none"/>
                    <a:lstStyle/>
                    <a:p>
                      <a:pPr algn="l"/>
                      <a:r>
                        <a:rPr sz="900" b="0">
                          <a:solidFill>
                            <a:srgbClr val="2E2E2E"/>
                          </a:solidFill>
                          <a:latin typeface="Calibri"/>
                        </a:rPr>
                        <a:t>132.11</a:t>
                      </a:r>
                    </a:p>
                  </a:txBody>
                  <a:tcPr marL="85725" marR="38100" marT="19050" marB="19050" anchor="ctr">
                    <a:solidFill>
                      <a:srgbClr val="F5F8FA"/>
                    </a:solidFill>
                  </a:tcPr>
                </a:tc>
                <a:tc>
                  <a:txBody>
                    <a:bodyPr wrap="none"/>
                    <a:lstStyle/>
                    <a:p>
                      <a:pPr algn="l"/>
                      <a:r>
                        <a:rPr sz="900" b="0">
                          <a:solidFill>
                            <a:srgbClr val="2E2E2E"/>
                          </a:solidFill>
                          <a:latin typeface="Calibri"/>
                        </a:rPr>
                        <a:t>123.42</a:t>
                      </a:r>
                    </a:p>
                  </a:txBody>
                  <a:tcPr marL="85725" marR="38100" marT="19050" marB="19050" anchor="ctr">
                    <a:solidFill>
                      <a:srgbClr val="F5F8FA"/>
                    </a:solidFill>
                  </a:tcPr>
                </a:tc>
                <a:tc>
                  <a:txBody>
                    <a:bodyPr wrap="none"/>
                    <a:lstStyle/>
                    <a:p>
                      <a:pPr algn="l"/>
                      <a:r>
                        <a:rPr sz="900" b="0">
                          <a:solidFill>
                            <a:srgbClr val="2E2E2E"/>
                          </a:solidFill>
                          <a:latin typeface="Calibri"/>
                        </a:rPr>
                        <a:t>115.32</a:t>
                      </a:r>
                    </a:p>
                  </a:txBody>
                  <a:tcPr marL="85725" marR="38100" marT="19050" marB="19050" anchor="ctr">
                    <a:solidFill>
                      <a:srgbClr val="F5F8FA"/>
                    </a:solidFill>
                  </a:tcPr>
                </a:tc>
                <a:tc>
                  <a:txBody>
                    <a:bodyPr wrap="none"/>
                    <a:lstStyle/>
                    <a:p>
                      <a:pPr algn="l"/>
                      <a:r>
                        <a:rPr sz="900" b="0">
                          <a:solidFill>
                            <a:srgbClr val="2E2E2E"/>
                          </a:solidFill>
                          <a:latin typeface="Calibri"/>
                        </a:rPr>
                        <a:t>107.77</a:t>
                      </a:r>
                    </a:p>
                  </a:txBody>
                  <a:tcPr marL="85725" marR="38100" marT="19050" marB="19050" anchor="ctr">
                    <a:solidFill>
                      <a:srgbClr val="F5F8FA"/>
                    </a:solidFill>
                  </a:tcPr>
                </a:tc>
                <a:tc>
                  <a:txBody>
                    <a:bodyPr wrap="none"/>
                    <a:lstStyle/>
                    <a:p>
                      <a:pPr algn="l"/>
                      <a:r>
                        <a:rPr sz="900" b="0">
                          <a:solidFill>
                            <a:srgbClr val="2E2E2E"/>
                          </a:solidFill>
                          <a:latin typeface="Calibri"/>
                        </a:rPr>
                        <a:t>100.73</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Yuflyma</a:t>
                      </a:r>
                    </a:p>
                  </a:txBody>
                  <a:tcPr marL="85725" marR="38100" marT="19050" marB="19050" anchor="ctr">
                    <a:solidFill>
                      <a:srgbClr val="FFFFFF"/>
                    </a:solidFill>
                  </a:tcPr>
                </a:tc>
                <a:tc>
                  <a:txBody>
                    <a:bodyPr wrap="none"/>
                    <a:lstStyle/>
                    <a:p>
                      <a:pPr algn="l"/>
                      <a:r>
                        <a:rPr sz="900" b="0">
                          <a:solidFill>
                            <a:srgbClr val="2E2E2E"/>
                          </a:solidFill>
                          <a:latin typeface="Calibri"/>
                        </a:rPr>
                        <a:t>230.72</a:t>
                      </a:r>
                    </a:p>
                  </a:txBody>
                  <a:tcPr marL="85725" marR="38100" marT="19050" marB="19050" anchor="ctr">
                    <a:solidFill>
                      <a:srgbClr val="FFFFFF"/>
                    </a:solidFill>
                  </a:tcPr>
                </a:tc>
                <a:tc>
                  <a:txBody>
                    <a:bodyPr wrap="none"/>
                    <a:lstStyle/>
                    <a:p>
                      <a:pPr algn="l"/>
                      <a:r>
                        <a:rPr sz="900" b="0">
                          <a:solidFill>
                            <a:srgbClr val="2E2E2E"/>
                          </a:solidFill>
                          <a:latin typeface="Calibri"/>
                        </a:rPr>
                        <a:t>213.74</a:t>
                      </a:r>
                    </a:p>
                  </a:txBody>
                  <a:tcPr marL="85725" marR="38100" marT="19050" marB="19050" anchor="ctr">
                    <a:solidFill>
                      <a:srgbClr val="FFFFFF"/>
                    </a:solidFill>
                  </a:tcPr>
                </a:tc>
                <a:tc>
                  <a:txBody>
                    <a:bodyPr wrap="none"/>
                    <a:lstStyle/>
                    <a:p>
                      <a:pPr algn="l"/>
                      <a:r>
                        <a:rPr sz="900" b="0">
                          <a:solidFill>
                            <a:srgbClr val="2E2E2E"/>
                          </a:solidFill>
                          <a:latin typeface="Calibri"/>
                        </a:rPr>
                        <a:t>198.04</a:t>
                      </a:r>
                    </a:p>
                  </a:txBody>
                  <a:tcPr marL="85725" marR="38100" marT="19050" marB="19050" anchor="ctr">
                    <a:solidFill>
                      <a:srgbClr val="FFFFFF"/>
                    </a:solidFill>
                  </a:tcPr>
                </a:tc>
                <a:tc>
                  <a:txBody>
                    <a:bodyPr wrap="none"/>
                    <a:lstStyle/>
                    <a:p>
                      <a:pPr algn="l"/>
                      <a:r>
                        <a:rPr sz="900" b="0">
                          <a:solidFill>
                            <a:srgbClr val="2E2E2E"/>
                          </a:solidFill>
                          <a:latin typeface="Calibri"/>
                        </a:rPr>
                        <a:t>183.53</a:t>
                      </a:r>
                    </a:p>
                  </a:txBody>
                  <a:tcPr marL="85725" marR="38100" marT="19050" marB="19050" anchor="ctr">
                    <a:solidFill>
                      <a:srgbClr val="FFFFFF"/>
                    </a:solidFill>
                  </a:tcPr>
                </a:tc>
                <a:tc>
                  <a:txBody>
                    <a:bodyPr wrap="none"/>
                    <a:lstStyle/>
                    <a:p>
                      <a:pPr algn="l"/>
                      <a:r>
                        <a:rPr sz="900" b="0">
                          <a:solidFill>
                            <a:srgbClr val="2E2E2E"/>
                          </a:solidFill>
                          <a:latin typeface="Calibri"/>
                        </a:rPr>
                        <a:t>170.11</a:t>
                      </a:r>
                    </a:p>
                  </a:txBody>
                  <a:tcPr marL="85725" marR="38100" marT="19050" marB="19050" anchor="ctr">
                    <a:solidFill>
                      <a:srgbClr val="FFFFFF"/>
                    </a:solidFill>
                  </a:tcPr>
                </a:tc>
                <a:tc>
                  <a:txBody>
                    <a:bodyPr wrap="none"/>
                    <a:lstStyle/>
                    <a:p>
                      <a:pPr algn="l"/>
                      <a:r>
                        <a:rPr sz="900" b="0">
                          <a:solidFill>
                            <a:srgbClr val="2E2E2E"/>
                          </a:solidFill>
                          <a:latin typeface="Calibri"/>
                        </a:rPr>
                        <a:t>157.70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Simlandi</a:t>
                      </a:r>
                    </a:p>
                  </a:txBody>
                  <a:tcPr marL="85725" marR="38100" marT="19050" marB="19050" anchor="ctr">
                    <a:solidFill>
                      <a:srgbClr val="F5F8FA"/>
                    </a:solidFill>
                  </a:tcPr>
                </a:tc>
                <a:tc>
                  <a:txBody>
                    <a:bodyPr wrap="none"/>
                    <a:lstStyle/>
                    <a:p>
                      <a:pPr algn="l"/>
                      <a:r>
                        <a:rPr sz="900" b="0">
                          <a:solidFill>
                            <a:srgbClr val="2E2E2E"/>
                          </a:solidFill>
                          <a:latin typeface="Calibri"/>
                        </a:rPr>
                        <a:t>393.65</a:t>
                      </a:r>
                    </a:p>
                  </a:txBody>
                  <a:tcPr marL="85725" marR="38100" marT="19050" marB="19050" anchor="ctr">
                    <a:solidFill>
                      <a:srgbClr val="F5F8FA"/>
                    </a:solidFill>
                  </a:tcPr>
                </a:tc>
                <a:tc>
                  <a:txBody>
                    <a:bodyPr wrap="none"/>
                    <a:lstStyle/>
                    <a:p>
                      <a:pPr algn="l"/>
                      <a:r>
                        <a:rPr sz="900" b="0">
                          <a:solidFill>
                            <a:srgbClr val="2E2E2E"/>
                          </a:solidFill>
                          <a:latin typeface="Calibri"/>
                        </a:rPr>
                        <a:t>397.80</a:t>
                      </a:r>
                    </a:p>
                  </a:txBody>
                  <a:tcPr marL="85725" marR="38100" marT="19050" marB="19050" anchor="ctr">
                    <a:solidFill>
                      <a:srgbClr val="F5F8FA"/>
                    </a:solidFill>
                  </a:tcPr>
                </a:tc>
                <a:tc>
                  <a:txBody>
                    <a:bodyPr wrap="none"/>
                    <a:lstStyle/>
                    <a:p>
                      <a:pPr algn="l"/>
                      <a:r>
                        <a:rPr sz="900" b="0">
                          <a:solidFill>
                            <a:srgbClr val="2E2E2E"/>
                          </a:solidFill>
                          <a:latin typeface="Calibri"/>
                        </a:rPr>
                        <a:t>402.06</a:t>
                      </a:r>
                    </a:p>
                  </a:txBody>
                  <a:tcPr marL="85725" marR="38100" marT="19050" marB="19050" anchor="ctr">
                    <a:solidFill>
                      <a:srgbClr val="F5F8FA"/>
                    </a:solidFill>
                  </a:tcPr>
                </a:tc>
                <a:tc>
                  <a:txBody>
                    <a:bodyPr wrap="none"/>
                    <a:lstStyle/>
                    <a:p>
                      <a:pPr algn="l"/>
                      <a:r>
                        <a:rPr sz="900" b="0">
                          <a:solidFill>
                            <a:srgbClr val="2E2E2E"/>
                          </a:solidFill>
                          <a:latin typeface="Calibri"/>
                        </a:rPr>
                        <a:t>406.43</a:t>
                      </a:r>
                    </a:p>
                  </a:txBody>
                  <a:tcPr marL="85725" marR="38100" marT="19050" marB="19050" anchor="ctr">
                    <a:solidFill>
                      <a:srgbClr val="F5F8FA"/>
                    </a:solidFill>
                  </a:tcPr>
                </a:tc>
                <a:tc>
                  <a:txBody>
                    <a:bodyPr wrap="none"/>
                    <a:lstStyle/>
                    <a:p>
                      <a:pPr algn="l"/>
                      <a:r>
                        <a:rPr sz="900" b="0">
                          <a:solidFill>
                            <a:srgbClr val="2E2E2E"/>
                          </a:solidFill>
                          <a:latin typeface="Calibri"/>
                        </a:rPr>
                        <a:t>410.93</a:t>
                      </a:r>
                    </a:p>
                  </a:txBody>
                  <a:tcPr marL="85725" marR="38100" marT="19050" marB="19050" anchor="ctr">
                    <a:solidFill>
                      <a:srgbClr val="F5F8FA"/>
                    </a:solidFill>
                  </a:tcPr>
                </a:tc>
                <a:tc>
                  <a:txBody>
                    <a:bodyPr wrap="none"/>
                    <a:lstStyle/>
                    <a:p>
                      <a:pPr algn="l"/>
                      <a:r>
                        <a:rPr sz="900" b="0">
                          <a:solidFill>
                            <a:srgbClr val="2E2E2E"/>
                          </a:solidFill>
                          <a:latin typeface="Calibri"/>
                        </a:rPr>
                        <a:t>415.55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Other approved adalimumab bio…</a:t>
                      </a:r>
                    </a:p>
                  </a:txBody>
                  <a:tcPr marL="85725" marR="38100" marT="19050" marB="19050" anchor="ctr">
                    <a:solidFill>
                      <a:srgbClr val="FFFFFF"/>
                    </a:solidFill>
                  </a:tcPr>
                </a:tc>
                <a:tc>
                  <a:txBody>
                    <a:bodyPr wrap="none"/>
                    <a:lstStyle/>
                    <a:p>
                      <a:pPr algn="l"/>
                      <a:r>
                        <a:rPr sz="900" b="0">
                          <a:solidFill>
                            <a:srgbClr val="2E2E2E"/>
                          </a:solidFill>
                          <a:latin typeface="Calibri"/>
                        </a:rPr>
                        <a:t>417.74</a:t>
                      </a:r>
                    </a:p>
                  </a:txBody>
                  <a:tcPr marL="85725" marR="38100" marT="19050" marB="19050" anchor="ctr">
                    <a:solidFill>
                      <a:srgbClr val="FFFFFF"/>
                    </a:solidFill>
                  </a:tcPr>
                </a:tc>
                <a:tc>
                  <a:txBody>
                    <a:bodyPr wrap="none"/>
                    <a:lstStyle/>
                    <a:p>
                      <a:pPr algn="l"/>
                      <a:r>
                        <a:rPr sz="900" b="0">
                          <a:solidFill>
                            <a:srgbClr val="2E2E2E"/>
                          </a:solidFill>
                          <a:latin typeface="Calibri"/>
                        </a:rPr>
                        <a:t>353.62</a:t>
                      </a:r>
                    </a:p>
                  </a:txBody>
                  <a:tcPr marL="85725" marR="38100" marT="19050" marB="19050" anchor="ctr">
                    <a:solidFill>
                      <a:srgbClr val="FFFFFF"/>
                    </a:solidFill>
                  </a:tcPr>
                </a:tc>
                <a:tc>
                  <a:txBody>
                    <a:bodyPr wrap="none"/>
                    <a:lstStyle/>
                    <a:p>
                      <a:pPr algn="l"/>
                      <a:r>
                        <a:rPr sz="900" b="0">
                          <a:solidFill>
                            <a:srgbClr val="2E2E2E"/>
                          </a:solidFill>
                          <a:latin typeface="Calibri"/>
                        </a:rPr>
                        <a:t>299.40</a:t>
                      </a:r>
                    </a:p>
                  </a:txBody>
                  <a:tcPr marL="85725" marR="38100" marT="19050" marB="19050" anchor="ctr">
                    <a:solidFill>
                      <a:srgbClr val="FFFFFF"/>
                    </a:solidFill>
                  </a:tcPr>
                </a:tc>
                <a:tc>
                  <a:txBody>
                    <a:bodyPr wrap="none"/>
                    <a:lstStyle/>
                    <a:p>
                      <a:pPr algn="l"/>
                      <a:r>
                        <a:rPr sz="900" b="0">
                          <a:solidFill>
                            <a:srgbClr val="2E2E2E"/>
                          </a:solidFill>
                          <a:latin typeface="Calibri"/>
                        </a:rPr>
                        <a:t>253.53</a:t>
                      </a:r>
                    </a:p>
                  </a:txBody>
                  <a:tcPr marL="85725" marR="38100" marT="19050" marB="19050" anchor="ctr">
                    <a:solidFill>
                      <a:srgbClr val="FFFFFF"/>
                    </a:solidFill>
                  </a:tcPr>
                </a:tc>
                <a:tc>
                  <a:txBody>
                    <a:bodyPr wrap="none"/>
                    <a:lstStyle/>
                    <a:p>
                      <a:pPr algn="l"/>
                      <a:r>
                        <a:rPr sz="900" b="0">
                          <a:solidFill>
                            <a:srgbClr val="2E2E2E"/>
                          </a:solidFill>
                          <a:latin typeface="Calibri"/>
                        </a:rPr>
                        <a:t>214.73</a:t>
                      </a:r>
                    </a:p>
                  </a:txBody>
                  <a:tcPr marL="85725" marR="38100" marT="19050" marB="19050" anchor="ctr">
                    <a:solidFill>
                      <a:srgbClr val="FFFFFF"/>
                    </a:solidFill>
                  </a:tcPr>
                </a:tc>
                <a:tc>
                  <a:txBody>
                    <a:bodyPr wrap="none"/>
                    <a:lstStyle/>
                    <a:p>
                      <a:pPr algn="l"/>
                      <a:r>
                        <a:rPr sz="900" b="0">
                          <a:solidFill>
                            <a:srgbClr val="2E2E2E"/>
                          </a:solidFill>
                          <a:latin typeface="Calibri"/>
                        </a:rPr>
                        <a:t>181.90</a:t>
                      </a:r>
                    </a:p>
                  </a:txBody>
                  <a:tcPr marL="85725" marR="38100" marT="19050" marB="19050" anchor="ctr">
                    <a:solidFill>
                      <a:srgbClr val="FFFFFF"/>
                    </a:solidFill>
                  </a:tcPr>
                </a:tc>
              </a:tr>
            </a:tbl>
          </a:graphicData>
        </a:graphic>
      </p:graphicFrame>
      <p:sp>
        <p:nvSpPr>
          <p:cNvPr id="14" name="TextBox 13"/>
          <p:cNvSpPr txBox="1"/>
          <p:nvPr/>
        </p:nvSpPr>
        <p:spPr>
          <a:xfrm>
            <a:off x="219075" y="309562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352800"/>
            <a:ext cx="5905500" cy="3295650"/>
          </a:xfrm>
          <a:prstGeom prst="roundRect">
            <a:avLst>
              <a:gd name="adj" fmla="val 23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0995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7" name="Table 16"/>
          <p:cNvGraphicFramePr>
            <a:graphicFrameLocks noGrp="1"/>
          </p:cNvGraphicFramePr>
          <p:nvPr/>
        </p:nvGraphicFramePr>
        <p:xfrm>
          <a:off x="238125" y="3638550"/>
          <a:ext cx="5715000" cy="1990725"/>
        </p:xfrm>
        <a:graphic>
          <a:graphicData uri="http://schemas.openxmlformats.org/drawingml/2006/table">
            <a:tbl>
              <a:tblPr>
                <a:tableStyleId>{5C22544A-7EE6-4342-B048-85BDC9FD1C3A}</a:tableStyleId>
              </a:tblPr>
              <a:tblGrid>
                <a:gridCol w="1714500"/>
                <a:gridCol w="2000250"/>
                <a:gridCol w="2000250"/>
              </a:tblGrid>
              <a:tr h="180975">
                <a:tc>
                  <a:txBody>
                    <a:bodyPr wrap="none"/>
                    <a:lstStyle/>
                    <a:p>
                      <a:pPr algn="l"/>
                      <a:r>
                        <a:rPr sz="900" b="1">
                          <a:solidFill>
                            <a:srgbClr val="0B2E4A"/>
                          </a:solidFill>
                          <a:latin typeface="Calibri"/>
                        </a:rPr>
                        <a:t>Pricing Factor</a:t>
                      </a:r>
                    </a:p>
                  </a:txBody>
                  <a:tcPr marL="85725" marR="38100" marT="19050" marB="19050" anchor="ctr">
                    <a:solidFill>
                      <a:srgbClr val="E0E8EF"/>
                    </a:solidFill>
                  </a:tcPr>
                </a:tc>
                <a:tc>
                  <a:txBody>
                    <a:bodyPr wrap="none"/>
                    <a:lstStyle/>
                    <a:p>
                      <a:pPr algn="l"/>
                      <a:r>
                        <a:rPr sz="900" b="1">
                          <a:solidFill>
                            <a:srgbClr val="0B2E4A"/>
                          </a:solidFill>
                          <a:latin typeface="Calibri"/>
                        </a:rPr>
                        <a:t>Direction</a:t>
                      </a:r>
                    </a:p>
                  </a:txBody>
                  <a:tcPr marL="85725" marR="38100" marT="19050" marB="19050" anchor="ctr">
                    <a:solidFill>
                      <a:srgbClr val="E0E8EF"/>
                    </a:solidFill>
                  </a:tcPr>
                </a:tc>
                <a:tc>
                  <a:txBody>
                    <a:bodyPr wrap="none"/>
                    <a:lstStyle/>
                    <a:p>
                      <a:pPr algn="l"/>
                      <a:r>
                        <a:rPr sz="900" b="1">
                          <a:solidFill>
                            <a:srgbClr val="0B2E4A"/>
                          </a:solidFill>
                          <a:latin typeface="Calibri"/>
                        </a:rPr>
                        <a:t>Impact (H/M/L)</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Input Cost</a:t>
                      </a:r>
                    </a:p>
                  </a:txBody>
                  <a:tcPr marL="85725" marR="38100" marT="19050" marB="19050" anchor="ctr">
                    <a:solidFill>
                      <a:srgbClr val="FFFFFF"/>
                    </a:solidFill>
                  </a:tcPr>
                </a:tc>
                <a:tc>
                  <a:txBody>
                    <a:bodyPr wrap="none"/>
                    <a:lstStyle/>
                    <a:p>
                      <a:pPr algn="l"/>
                      <a:r>
                        <a:rPr sz="900" b="1">
                          <a:solidFill>
                            <a:srgbClr val="2E7D32"/>
                          </a:solidFill>
                          <a:latin typeface="Calibri"/>
                        </a:rPr>
                        <a:t>▲ Upward</a:t>
                      </a:r>
                    </a:p>
                  </a:txBody>
                  <a:tcPr marL="85725" marR="38100" marT="19050" marB="19050" anchor="ctr">
                    <a:solidFill>
                      <a:srgbClr val="FFFFFF"/>
                    </a:solidFill>
                  </a:tcPr>
                </a:tc>
                <a:tc>
                  <a:txBody>
                    <a:bodyPr wrap="none"/>
                    <a:lstStyle/>
                    <a:p>
                      <a:pPr algn="l"/>
                      <a:r>
                        <a:rPr sz="900" b="0">
                          <a:solidFill>
                            <a:srgbClr val="2E2E2E"/>
                          </a:solidFill>
                          <a:latin typeface="Calibri"/>
                        </a:rPr>
                        <a:t>High</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Labor &amp; Production Costs</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Medium</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Technology &amp; Innovation</a:t>
                      </a:r>
                    </a:p>
                  </a:txBody>
                  <a:tcPr marL="85725" marR="38100" marT="19050" marB="19050" anchor="ctr">
                    <a:solidFill>
                      <a:srgbClr val="FFFFFF"/>
                    </a:solidFill>
                  </a:tcPr>
                </a:tc>
                <a:tc>
                  <a:txBody>
                    <a:bodyPr wrap="none"/>
                    <a:lstStyle/>
                    <a:p>
                      <a:pPr algn="l"/>
                      <a:r>
                        <a:rPr sz="900" b="1">
                          <a:solidFill>
                            <a:srgbClr val="E44D3A"/>
                          </a:solidFill>
                          <a:latin typeface="Calibri"/>
                        </a:rPr>
                        <a:t>▼ Downward</a:t>
                      </a:r>
                    </a:p>
                  </a:txBody>
                  <a:tcPr marL="85725" marR="38100" marT="19050" marB="19050" anchor="ctr">
                    <a:solidFill>
                      <a:srgbClr val="FFFFFF"/>
                    </a:solidFill>
                  </a:tcPr>
                </a:tc>
                <a:tc>
                  <a:txBody>
                    <a:bodyPr wrap="none"/>
                    <a:lstStyle/>
                    <a:p>
                      <a:pPr algn="l"/>
                      <a:r>
                        <a:rPr sz="900" b="0">
                          <a:solidFill>
                            <a:srgbClr val="2E2E2E"/>
                          </a:solidFill>
                          <a:latin typeface="Calibri"/>
                        </a:rPr>
                        <a:t>Medium</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Supply Chain &amp; Logistics</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Medium</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Demand &amp; Market Conditions</a:t>
                      </a:r>
                    </a:p>
                  </a:txBody>
                  <a:tcPr marL="85725" marR="38100" marT="19050" marB="19050" anchor="ctr">
                    <a:solidFill>
                      <a:srgbClr val="FFFFFF"/>
                    </a:solidFill>
                  </a:tcPr>
                </a:tc>
                <a:tc>
                  <a:txBody>
                    <a:bodyPr wrap="none"/>
                    <a:lstStyle/>
                    <a:p>
                      <a:pPr algn="l"/>
                      <a:r>
                        <a:rPr sz="900" b="1">
                          <a:solidFill>
                            <a:srgbClr val="2E7D32"/>
                          </a:solidFill>
                          <a:latin typeface="Calibri"/>
                        </a:rPr>
                        <a:t>▲ Upward</a:t>
                      </a:r>
                    </a:p>
                  </a:txBody>
                  <a:tcPr marL="85725" marR="38100" marT="19050" marB="19050" anchor="ctr">
                    <a:solidFill>
                      <a:srgbClr val="FFFFFF"/>
                    </a:solidFill>
                  </a:tcPr>
                </a:tc>
                <a:tc>
                  <a:txBody>
                    <a:bodyPr wrap="none"/>
                    <a:lstStyle/>
                    <a:p>
                      <a:pPr algn="l"/>
                      <a:r>
                        <a:rPr sz="900" b="0">
                          <a:solidFill>
                            <a:srgbClr val="2E2E2E"/>
                          </a:solidFill>
                          <a:latin typeface="Calibri"/>
                        </a:rPr>
                        <a:t>High</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Competitive Landscape</a:t>
                      </a:r>
                    </a:p>
                  </a:txBody>
                  <a:tcPr marL="85725" marR="38100" marT="19050" marB="19050" anchor="ctr">
                    <a:solidFill>
                      <a:srgbClr val="F5F8FA"/>
                    </a:solidFill>
                  </a:tcPr>
                </a:tc>
                <a:tc>
                  <a:txBody>
                    <a:bodyPr wrap="none"/>
                    <a:lstStyle/>
                    <a:p>
                      <a:pPr algn="l"/>
                      <a:r>
                        <a:rPr sz="900" b="1">
                          <a:solidFill>
                            <a:srgbClr val="E44D3A"/>
                          </a:solidFill>
                          <a:latin typeface="Calibri"/>
                        </a:rPr>
                        <a:t>▼ Downward</a:t>
                      </a:r>
                    </a:p>
                  </a:txBody>
                  <a:tcPr marL="85725" marR="38100" marT="19050" marB="19050" anchor="ctr">
                    <a:solidFill>
                      <a:srgbClr val="F5F8FA"/>
                    </a:solidFill>
                  </a:tcPr>
                </a:tc>
                <a:tc>
                  <a:txBody>
                    <a:bodyPr wrap="none"/>
                    <a:lstStyle/>
                    <a:p>
                      <a:pPr algn="l"/>
                      <a:r>
                        <a:rPr sz="900" b="0">
                          <a:solidFill>
                            <a:srgbClr val="2E2E2E"/>
                          </a:solidFill>
                          <a:latin typeface="Calibri"/>
                        </a:rPr>
                        <a:t>High</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Regulatory &amp; Compliance Costs</a:t>
                      </a:r>
                    </a:p>
                  </a:txBody>
                  <a:tcPr marL="85725" marR="38100" marT="19050" marB="19050" anchor="ctr">
                    <a:solidFill>
                      <a:srgbClr val="FFFFFF"/>
                    </a:solidFill>
                  </a:tcPr>
                </a:tc>
                <a:tc>
                  <a:txBody>
                    <a:bodyPr wrap="none"/>
                    <a:lstStyle/>
                    <a:p>
                      <a:pPr algn="l"/>
                      <a:r>
                        <a:rPr sz="900" b="1">
                          <a:solidFill>
                            <a:srgbClr val="2E7D32"/>
                          </a:solidFill>
                          <a:latin typeface="Calibri"/>
                        </a:rPr>
                        <a:t>▲ Upward</a:t>
                      </a:r>
                    </a:p>
                  </a:txBody>
                  <a:tcPr marL="85725" marR="38100" marT="19050" marB="19050" anchor="ctr">
                    <a:solidFill>
                      <a:srgbClr val="FFFFFF"/>
                    </a:solidFill>
                  </a:tcPr>
                </a:tc>
                <a:tc>
                  <a:txBody>
                    <a:bodyPr wrap="none"/>
                    <a:lstStyle/>
                    <a:p>
                      <a:pPr algn="l"/>
                      <a:r>
                        <a:rPr sz="900" b="0">
                          <a:solidFill>
                            <a:srgbClr val="2E2E2E"/>
                          </a:solidFill>
                          <a:latin typeface="Calibri"/>
                        </a:rPr>
                        <a:t>Medium</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Currency &amp; Trade Dynamics</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Low</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Brand &amp; Value Perception</a:t>
                      </a:r>
                    </a:p>
                  </a:txBody>
                  <a:tcPr marL="85725" marR="38100" marT="19050" marB="19050" anchor="ctr">
                    <a:solidFill>
                      <a:srgbClr val="FFFFFF"/>
                    </a:solidFill>
                  </a:tcPr>
                </a:tc>
                <a:tc>
                  <a:txBody>
                    <a:bodyPr wrap="none"/>
                    <a:lstStyle/>
                    <a:p>
                      <a:pPr algn="l"/>
                      <a:r>
                        <a:rPr sz="900" b="1">
                          <a:solidFill>
                            <a:srgbClr val="2E7D32"/>
                          </a:solidFill>
                          <a:latin typeface="Calibri"/>
                        </a:rPr>
                        <a:t>▲ Upward</a:t>
                      </a:r>
                    </a:p>
                  </a:txBody>
                  <a:tcPr marL="85725" marR="38100" marT="19050" marB="19050" anchor="ctr">
                    <a:solidFill>
                      <a:srgbClr val="FFFFFF"/>
                    </a:solidFill>
                  </a:tcPr>
                </a:tc>
                <a:tc>
                  <a:txBody>
                    <a:bodyPr wrap="none"/>
                    <a:lstStyle/>
                    <a:p>
                      <a:pPr algn="l"/>
                      <a:r>
                        <a:rPr sz="900" b="0">
                          <a:solidFill>
                            <a:srgbClr val="2E2E2E"/>
                          </a:solidFill>
                          <a:latin typeface="Calibri"/>
                        </a:rPr>
                        <a:t>Medium</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Aftermarket &amp; Service Costs</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Low</a:t>
                      </a:r>
                    </a:p>
                  </a:txBody>
                  <a:tcPr marL="85725" marR="38100" marT="19050" marB="19050" anchor="ctr">
                    <a:solidFill>
                      <a:srgbClr val="F5F8FA"/>
                    </a:solidFill>
                  </a:tcPr>
                </a:tc>
              </a:tr>
            </a:tbl>
          </a:graphicData>
        </a:graphic>
      </p:graphicFrame>
      <p:sp>
        <p:nvSpPr>
          <p:cNvPr id="18" name="TextBox 17"/>
          <p:cNvSpPr txBox="1"/>
          <p:nvPr/>
        </p:nvSpPr>
        <p:spPr>
          <a:xfrm>
            <a:off x="219075" y="6505575"/>
            <a:ext cx="5753100"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ounded Rectangle 18"/>
          <p:cNvSpPr/>
          <p:nvPr/>
        </p:nvSpPr>
        <p:spPr>
          <a:xfrm>
            <a:off x="6200775" y="3352800"/>
            <a:ext cx="5848350" cy="3295650"/>
          </a:xfrm>
          <a:prstGeom prst="roundRect">
            <a:avLst>
              <a:gd name="adj" fmla="val 23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3438525"/>
            <a:ext cx="5581650" cy="209550"/>
          </a:xfrm>
          <a:prstGeom prst="rect">
            <a:avLst/>
          </a:prstGeom>
          <a:noFill/>
        </p:spPr>
        <p:txBody>
          <a:bodyPr wrap="square" lIns="0" rIns="19050" tIns="9525" bIns="9525">
            <a:spAutoFit/>
          </a:bodyPr>
          <a:lstStyle/>
          <a:p>
            <a:pPr algn="l"/>
            <a:r>
              <a:rPr sz="1300" b="1">
                <a:solidFill>
                  <a:srgbClr val="0B2E4A"/>
                </a:solidFill>
                <a:latin typeface="Calibri"/>
              </a:rPr>
              <a:t>Pricing Dynamics &amp; Outlook</a:t>
            </a:r>
          </a:p>
        </p:txBody>
      </p:sp>
      <p:sp>
        <p:nvSpPr>
          <p:cNvPr id="21" name="Rectangle 20"/>
          <p:cNvSpPr/>
          <p:nvPr/>
        </p:nvSpPr>
        <p:spPr>
          <a:xfrm>
            <a:off x="6334125" y="3676650"/>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4125" y="3762375"/>
            <a:ext cx="5581650" cy="28098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Average product type price is projected to rise from ~308.04 to ~219.27 US$/unit by 2036 a -3.3%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'Simlandi' shows the strongest forecast price appreciation (+5.6%) over the horizon.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Upward pressure is led by input cost and demand &amp; market conditions; efficiency and competitive intensity work the other way.</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Net outlook: modest, structural price appreciation mix and geography will determine realised pricing.</a:t>
            </a:r>
          </a:p>
        </p:txBody>
      </p:sp>
      <p:sp>
        <p:nvSpPr>
          <p:cNvPr id="23" name="Rectangle 2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5" name="Rounded Rectangle 24">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6" name="Rounded Rectangle 25">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Competitor Pricing Strategies</a:t>
            </a:r>
          </a:p>
        </p:txBody>
      </p:sp>
      <p:sp>
        <p:nvSpPr>
          <p:cNvPr id="10" name="Rounded Rectangle 9"/>
          <p:cNvSpPr/>
          <p:nvPr/>
        </p:nvSpPr>
        <p:spPr>
          <a:xfrm>
            <a:off x="142875" y="857250"/>
            <a:ext cx="769620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Competitor pricing strategies how leading players position price and the levers they use to sustain it.</a:t>
            </a:r>
          </a:p>
        </p:txBody>
      </p:sp>
      <p:sp>
        <p:nvSpPr>
          <p:cNvPr id="11" name="Rounded Rectangle 10"/>
          <p:cNvSpPr/>
          <p:nvPr/>
        </p:nvSpPr>
        <p:spPr>
          <a:xfrm>
            <a:off x="142875" y="1181100"/>
            <a:ext cx="7696200" cy="4095750"/>
          </a:xfrm>
          <a:prstGeom prst="roundRect">
            <a:avLst>
              <a:gd name="adj" fmla="val 18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219075" y="1257300"/>
          <a:ext cx="7543800" cy="1266825"/>
        </p:xfrm>
        <a:graphic>
          <a:graphicData uri="http://schemas.openxmlformats.org/drawingml/2006/table">
            <a:tbl>
              <a:tblPr>
                <a:tableStyleId>{5C22544A-7EE6-4342-B048-85BDC9FD1C3A}</a:tableStyleId>
              </a:tblPr>
              <a:tblGrid>
                <a:gridCol w="2263140"/>
                <a:gridCol w="1320165"/>
                <a:gridCol w="1320165"/>
                <a:gridCol w="1320165"/>
                <a:gridCol w="1320165"/>
              </a:tblGrid>
              <a:tr h="180975">
                <a:tc>
                  <a:txBody>
                    <a:bodyPr wrap="none"/>
                    <a:lstStyle/>
                    <a:p>
                      <a:pPr algn="l"/>
                      <a:r>
                        <a:rPr sz="900" b="1">
                          <a:solidFill>
                            <a:srgbClr val="0B2E4A"/>
                          </a:solidFill>
                          <a:latin typeface="Calibri"/>
                        </a:rPr>
                        <a:t>Company</a:t>
                      </a:r>
                    </a:p>
                  </a:txBody>
                  <a:tcPr marL="85725" marR="38100" marT="19050" marB="19050" anchor="ctr">
                    <a:solidFill>
                      <a:srgbClr val="E0E8EF"/>
                    </a:solidFill>
                  </a:tcPr>
                </a:tc>
                <a:tc>
                  <a:txBody>
                    <a:bodyPr wrap="none"/>
                    <a:lstStyle/>
                    <a:p>
                      <a:pPr algn="l"/>
                      <a:r>
                        <a:rPr sz="900" b="1">
                          <a:solidFill>
                            <a:srgbClr val="0B2E4A"/>
                          </a:solidFill>
                          <a:latin typeface="Calibri"/>
                        </a:rPr>
                        <a:t>Tier</a:t>
                      </a:r>
                    </a:p>
                  </a:txBody>
                  <a:tcPr marL="85725" marR="38100" marT="19050" marB="19050" anchor="ctr">
                    <a:solidFill>
                      <a:srgbClr val="E0E8EF"/>
                    </a:solidFill>
                  </a:tcPr>
                </a:tc>
                <a:tc>
                  <a:txBody>
                    <a:bodyPr wrap="none"/>
                    <a:lstStyle/>
                    <a:p>
                      <a:pPr algn="l"/>
                      <a:r>
                        <a:rPr sz="900" b="1">
                          <a:solidFill>
                            <a:srgbClr val="0B2E4A"/>
                          </a:solidFill>
                          <a:latin typeface="Calibri"/>
                        </a:rPr>
                        <a:t>Price Position</a:t>
                      </a:r>
                    </a:p>
                  </a:txBody>
                  <a:tcPr marL="85725" marR="38100" marT="19050" marB="19050" anchor="ctr">
                    <a:solidFill>
                      <a:srgbClr val="E0E8EF"/>
                    </a:solidFill>
                  </a:tcPr>
                </a:tc>
                <a:tc>
                  <a:txBody>
                    <a:bodyPr wrap="none"/>
                    <a:lstStyle/>
                    <a:p>
                      <a:pPr algn="l"/>
                      <a:r>
                        <a:rPr sz="900" b="1">
                          <a:solidFill>
                            <a:srgbClr val="0B2E4A"/>
                          </a:solidFill>
                          <a:latin typeface="Calibri"/>
                        </a:rPr>
                        <a:t>ASP vs Peers</a:t>
                      </a:r>
                    </a:p>
                  </a:txBody>
                  <a:tcPr marL="85725" marR="38100" marT="19050" marB="19050" anchor="ctr">
                    <a:solidFill>
                      <a:srgbClr val="E0E8EF"/>
                    </a:solidFill>
                  </a:tcPr>
                </a:tc>
                <a:tc>
                  <a:txBody>
                    <a:bodyPr wrap="none"/>
                    <a:lstStyle/>
                    <a:p>
                      <a:pPr algn="l"/>
                      <a:r>
                        <a:rPr sz="900" b="1">
                          <a:solidFill>
                            <a:srgbClr val="0B2E4A"/>
                          </a:solidFill>
                          <a:latin typeface="Calibri"/>
                        </a:rPr>
                        <a:t>Strategy Focus</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Company A</a:t>
                      </a:r>
                    </a:p>
                  </a:txBody>
                  <a:tcPr marL="85725" marR="38100" marT="19050" marB="19050" anchor="ctr">
                    <a:solidFill>
                      <a:srgbClr val="FFFFFF"/>
                    </a:solidFill>
                  </a:tcPr>
                </a:tc>
                <a:tc>
                  <a:txBody>
                    <a:bodyPr wrap="none"/>
                    <a:lstStyle/>
                    <a:p>
                      <a:pPr algn="l"/>
                      <a:r>
                        <a:rPr sz="900" b="0">
                          <a:solidFill>
                            <a:srgbClr val="2E2E2E"/>
                          </a:solidFill>
                          <a:latin typeface="Calibri"/>
                        </a:rPr>
                        <a:t>Tier 1</a:t>
                      </a:r>
                    </a:p>
                  </a:txBody>
                  <a:tcPr marL="85725" marR="38100" marT="19050" marB="19050" anchor="ctr">
                    <a:solidFill>
                      <a:srgbClr val="FFFFFF"/>
                    </a:solidFill>
                  </a:tcPr>
                </a:tc>
                <a:tc>
                  <a:txBody>
                    <a:bodyPr wrap="none"/>
                    <a:lstStyle/>
                    <a:p>
                      <a:pPr algn="l"/>
                      <a:r>
                        <a:rPr sz="900" b="0">
                          <a:solidFill>
                            <a:srgbClr val="2E2E2E"/>
                          </a:solidFill>
                          <a:latin typeface="Calibri"/>
                        </a:rPr>
                        <a:t>Premium</a:t>
                      </a:r>
                    </a:p>
                  </a:txBody>
                  <a:tcPr marL="85725" marR="38100" marT="19050" marB="19050" anchor="ctr">
                    <a:solidFill>
                      <a:srgbClr val="FFFFFF"/>
                    </a:solidFill>
                  </a:tcPr>
                </a:tc>
                <a:tc>
                  <a:txBody>
                    <a:bodyPr wrap="none"/>
                    <a:lstStyle/>
                    <a:p>
                      <a:pPr algn="l"/>
                      <a:r>
                        <a:rPr sz="900" b="0">
                          <a:solidFill>
                            <a:srgbClr val="2E2E2E"/>
                          </a:solidFill>
                          <a:latin typeface="Calibri"/>
                        </a:rPr>
                        <a:t>+6%</a:t>
                      </a:r>
                    </a:p>
                  </a:txBody>
                  <a:tcPr marL="85725" marR="38100" marT="19050" marB="19050" anchor="ctr">
                    <a:solidFill>
                      <a:srgbClr val="FFFFFF"/>
                    </a:solidFill>
                  </a:tcPr>
                </a:tc>
                <a:tc>
                  <a:txBody>
                    <a:bodyPr wrap="none"/>
                    <a:lstStyle/>
                    <a:p>
                      <a:pPr algn="l"/>
                      <a:r>
                        <a:rPr sz="900" b="0">
                          <a:solidFill>
                            <a:srgbClr val="2E2E2E"/>
                          </a:solidFill>
                          <a:latin typeface="Calibri"/>
                        </a:rPr>
                        <a:t>Premium, brand-led pricing</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Company B</a:t>
                      </a:r>
                    </a:p>
                  </a:txBody>
                  <a:tcPr marL="85725" marR="38100" marT="19050" marB="19050" anchor="ctr">
                    <a:solidFill>
                      <a:srgbClr val="F5F8FA"/>
                    </a:solidFill>
                  </a:tcPr>
                </a:tc>
                <a:tc>
                  <a:txBody>
                    <a:bodyPr wrap="none"/>
                    <a:lstStyle/>
                    <a:p>
                      <a:pPr algn="l"/>
                      <a:r>
                        <a:rPr sz="900" b="0">
                          <a:solidFill>
                            <a:srgbClr val="2E2E2E"/>
                          </a:solidFill>
                          <a:latin typeface="Calibri"/>
                        </a:rPr>
                        <a:t>Tier 1</a:t>
                      </a:r>
                    </a:p>
                  </a:txBody>
                  <a:tcPr marL="85725" marR="38100" marT="19050" marB="19050" anchor="ctr">
                    <a:solidFill>
                      <a:srgbClr val="F5F8FA"/>
                    </a:solidFill>
                  </a:tcPr>
                </a:tc>
                <a:tc>
                  <a:txBody>
                    <a:bodyPr wrap="none"/>
                    <a:lstStyle/>
                    <a:p>
                      <a:pPr algn="l"/>
                      <a:r>
                        <a:rPr sz="900" b="0">
                          <a:solidFill>
                            <a:srgbClr val="2E2E2E"/>
                          </a:solidFill>
                          <a:latin typeface="Calibri"/>
                        </a:rPr>
                        <a:t>Premium</a:t>
                      </a:r>
                    </a:p>
                  </a:txBody>
                  <a:tcPr marL="85725" marR="38100" marT="19050" marB="19050" anchor="ctr">
                    <a:solidFill>
                      <a:srgbClr val="F5F8FA"/>
                    </a:solidFill>
                  </a:tcPr>
                </a:tc>
                <a:tc>
                  <a:txBody>
                    <a:bodyPr wrap="none"/>
                    <a:lstStyle/>
                    <a:p>
                      <a:pPr algn="l"/>
                      <a:r>
                        <a:rPr sz="900" b="0">
                          <a:solidFill>
                            <a:srgbClr val="2E2E2E"/>
                          </a:solidFill>
                          <a:latin typeface="Calibri"/>
                        </a:rPr>
                        <a:t>+5%</a:t>
                      </a:r>
                    </a:p>
                  </a:txBody>
                  <a:tcPr marL="85725" marR="38100" marT="19050" marB="19050" anchor="ctr">
                    <a:solidFill>
                      <a:srgbClr val="F5F8FA"/>
                    </a:solidFill>
                  </a:tcPr>
                </a:tc>
                <a:tc>
                  <a:txBody>
                    <a:bodyPr wrap="none"/>
                    <a:lstStyle/>
                    <a:p>
                      <a:pPr algn="l"/>
                      <a:r>
                        <a:rPr sz="900" b="0">
                          <a:solidFill>
                            <a:srgbClr val="2E2E2E"/>
                          </a:solidFill>
                          <a:latin typeface="Calibri"/>
                        </a:rPr>
                        <a:t>Value-based premium pricing</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Company C</a:t>
                      </a:r>
                    </a:p>
                  </a:txBody>
                  <a:tcPr marL="85725" marR="38100" marT="19050" marB="19050" anchor="ctr">
                    <a:solidFill>
                      <a:srgbClr val="FFFFFF"/>
                    </a:solidFill>
                  </a:tcPr>
                </a:tc>
                <a:tc>
                  <a:txBody>
                    <a:bodyPr wrap="none"/>
                    <a:lstStyle/>
                    <a:p>
                      <a:pPr algn="l"/>
                      <a:r>
                        <a:rPr sz="900" b="0">
                          <a:solidFill>
                            <a:srgbClr val="2E2E2E"/>
                          </a:solidFill>
                          <a:latin typeface="Calibri"/>
                        </a:rPr>
                        <a:t>Tier 1</a:t>
                      </a:r>
                    </a:p>
                  </a:txBody>
                  <a:tcPr marL="85725" marR="38100" marT="19050" marB="19050" anchor="ctr">
                    <a:solidFill>
                      <a:srgbClr val="FFFFFF"/>
                    </a:solidFill>
                  </a:tcPr>
                </a:tc>
                <a:tc>
                  <a:txBody>
                    <a:bodyPr wrap="none"/>
                    <a:lstStyle/>
                    <a:p>
                      <a:pPr algn="l"/>
                      <a:r>
                        <a:rPr sz="900" b="0">
                          <a:solidFill>
                            <a:srgbClr val="2E2E2E"/>
                          </a:solidFill>
                          <a:latin typeface="Calibri"/>
                        </a:rPr>
                        <a:t>Premium</a:t>
                      </a:r>
                    </a:p>
                  </a:txBody>
                  <a:tcPr marL="85725" marR="38100" marT="19050" marB="19050" anchor="ctr">
                    <a:solidFill>
                      <a:srgbClr val="FFFFFF"/>
                    </a:solidFill>
                  </a:tcPr>
                </a:tc>
                <a:tc>
                  <a:txBody>
                    <a:bodyPr wrap="none"/>
                    <a:lstStyle/>
                    <a:p>
                      <a:pPr algn="l"/>
                      <a:r>
                        <a:rPr sz="900" b="0">
                          <a:solidFill>
                            <a:srgbClr val="2E2E2E"/>
                          </a:solidFill>
                          <a:latin typeface="Calibri"/>
                        </a:rPr>
                        <a:t>+4%</a:t>
                      </a:r>
                    </a:p>
                  </a:txBody>
                  <a:tcPr marL="85725" marR="38100" marT="19050" marB="19050" anchor="ctr">
                    <a:solidFill>
                      <a:srgbClr val="FFFFFF"/>
                    </a:solidFill>
                  </a:tcPr>
                </a:tc>
                <a:tc>
                  <a:txBody>
                    <a:bodyPr wrap="none"/>
                    <a:lstStyle/>
                    <a:p>
                      <a:pPr algn="l"/>
                      <a:r>
                        <a:rPr sz="900" b="0">
                          <a:solidFill>
                            <a:srgbClr val="2E2E2E"/>
                          </a:solidFill>
                          <a:latin typeface="Calibri"/>
                        </a:rPr>
                        <a:t>Innovation-led price leadership</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Company D</a:t>
                      </a:r>
                    </a:p>
                  </a:txBody>
                  <a:tcPr marL="85725" marR="38100" marT="19050" marB="19050" anchor="ctr">
                    <a:solidFill>
                      <a:srgbClr val="F5F8FA"/>
                    </a:solidFill>
                  </a:tcPr>
                </a:tc>
                <a:tc>
                  <a:txBody>
                    <a:bodyPr wrap="none"/>
                    <a:lstStyle/>
                    <a:p>
                      <a:pPr algn="l"/>
                      <a:r>
                        <a:rPr sz="900" b="0">
                          <a:solidFill>
                            <a:srgbClr val="2E2E2E"/>
                          </a:solidFill>
                          <a:latin typeface="Calibri"/>
                        </a:rPr>
                        <a:t>Tier 1</a:t>
                      </a:r>
                    </a:p>
                  </a:txBody>
                  <a:tcPr marL="85725" marR="38100" marT="19050" marB="19050" anchor="ctr">
                    <a:solidFill>
                      <a:srgbClr val="F5F8FA"/>
                    </a:solidFill>
                  </a:tcPr>
                </a:tc>
                <a:tc>
                  <a:txBody>
                    <a:bodyPr wrap="none"/>
                    <a:lstStyle/>
                    <a:p>
                      <a:pPr algn="l"/>
                      <a:r>
                        <a:rPr sz="900" b="0">
                          <a:solidFill>
                            <a:srgbClr val="2E2E2E"/>
                          </a:solidFill>
                          <a:latin typeface="Calibri"/>
                        </a:rPr>
                        <a:t>Parity</a:t>
                      </a:r>
                    </a:p>
                  </a:txBody>
                  <a:tcPr marL="85725" marR="38100" marT="19050" marB="19050" anchor="ctr">
                    <a:solidFill>
                      <a:srgbClr val="F5F8FA"/>
                    </a:solidFill>
                  </a:tcPr>
                </a:tc>
                <a:tc>
                  <a:txBody>
                    <a:bodyPr wrap="none"/>
                    <a:lstStyle/>
                    <a:p>
                      <a:pPr algn="l"/>
                      <a:r>
                        <a:rPr sz="900" b="0">
                          <a:solidFill>
                            <a:srgbClr val="2E2E2E"/>
                          </a:solidFill>
                          <a:latin typeface="Calibri"/>
                        </a:rPr>
                        <a:t>+3%</a:t>
                      </a:r>
                    </a:p>
                  </a:txBody>
                  <a:tcPr marL="85725" marR="38100" marT="19050" marB="19050" anchor="ctr">
                    <a:solidFill>
                      <a:srgbClr val="F5F8FA"/>
                    </a:solidFill>
                  </a:tcPr>
                </a:tc>
                <a:tc>
                  <a:txBody>
                    <a:bodyPr wrap="none"/>
                    <a:lstStyle/>
                    <a:p>
                      <a:pPr algn="l"/>
                      <a:r>
                        <a:rPr sz="900" b="0">
                          <a:solidFill>
                            <a:srgbClr val="2E2E2E"/>
                          </a:solidFill>
                          <a:latin typeface="Calibri"/>
                        </a:rPr>
                        <a:t>Parity pricing with mix upsell</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Company E</a:t>
                      </a:r>
                    </a:p>
                  </a:txBody>
                  <a:tcPr marL="85725" marR="38100" marT="19050" marB="19050" anchor="ctr">
                    <a:solidFill>
                      <a:srgbClr val="FFFFFF"/>
                    </a:solidFill>
                  </a:tcPr>
                </a:tc>
                <a:tc>
                  <a:txBody>
                    <a:bodyPr wrap="none"/>
                    <a:lstStyle/>
                    <a:p>
                      <a:pPr algn="l"/>
                      <a:r>
                        <a:rPr sz="900" b="0">
                          <a:solidFill>
                            <a:srgbClr val="2E2E2E"/>
                          </a:solidFill>
                          <a:latin typeface="Calibri"/>
                        </a:rPr>
                        <a:t>Tier 2</a:t>
                      </a:r>
                    </a:p>
                  </a:txBody>
                  <a:tcPr marL="85725" marR="38100" marT="19050" marB="19050" anchor="ctr">
                    <a:solidFill>
                      <a:srgbClr val="FFFFFF"/>
                    </a:solidFill>
                  </a:tcPr>
                </a:tc>
                <a:tc>
                  <a:txBody>
                    <a:bodyPr wrap="none"/>
                    <a:lstStyle/>
                    <a:p>
                      <a:pPr algn="l"/>
                      <a:r>
                        <a:rPr sz="900" b="0">
                          <a:solidFill>
                            <a:srgbClr val="2E2E2E"/>
                          </a:solidFill>
                          <a:latin typeface="Calibri"/>
                        </a:rPr>
                        <a:t>Parity</a:t>
                      </a:r>
                    </a:p>
                  </a:txBody>
                  <a:tcPr marL="85725" marR="38100" marT="19050" marB="19050" anchor="ctr">
                    <a:solidFill>
                      <a:srgbClr val="FFFFFF"/>
                    </a:solidFill>
                  </a:tcPr>
                </a:tc>
                <a:tc>
                  <a:txBody>
                    <a:bodyPr wrap="none"/>
                    <a:lstStyle/>
                    <a:p>
                      <a:pPr algn="l"/>
                      <a:r>
                        <a:rPr sz="900" b="0">
                          <a:solidFill>
                            <a:srgbClr val="2E2E2E"/>
                          </a:solidFill>
                          <a:latin typeface="Calibri"/>
                        </a:rPr>
                        <a:t>+2%</a:t>
                      </a:r>
                    </a:p>
                  </a:txBody>
                  <a:tcPr marL="85725" marR="38100" marT="19050" marB="19050" anchor="ctr">
                    <a:solidFill>
                      <a:srgbClr val="FFFFFF"/>
                    </a:solidFill>
                  </a:tcPr>
                </a:tc>
                <a:tc>
                  <a:txBody>
                    <a:bodyPr wrap="none"/>
                    <a:lstStyle/>
                    <a:p>
                      <a:pPr algn="l"/>
                      <a:r>
                        <a:rPr sz="900" b="0">
                          <a:solidFill>
                            <a:srgbClr val="2E2E2E"/>
                          </a:solidFill>
                          <a:latin typeface="Calibri"/>
                        </a:rPr>
                        <a:t>Penetration &amp; share-led pricing</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Company F</a:t>
                      </a:r>
                    </a:p>
                  </a:txBody>
                  <a:tcPr marL="85725" marR="38100" marT="19050" marB="19050" anchor="ctr">
                    <a:solidFill>
                      <a:srgbClr val="F5F8FA"/>
                    </a:solidFill>
                  </a:tcPr>
                </a:tc>
                <a:tc>
                  <a:txBody>
                    <a:bodyPr wrap="none"/>
                    <a:lstStyle/>
                    <a:p>
                      <a:pPr algn="l"/>
                      <a:r>
                        <a:rPr sz="900" b="0">
                          <a:solidFill>
                            <a:srgbClr val="2E2E2E"/>
                          </a:solidFill>
                          <a:latin typeface="Calibri"/>
                        </a:rPr>
                        <a:t>Tier 2</a:t>
                      </a:r>
                    </a:p>
                  </a:txBody>
                  <a:tcPr marL="85725" marR="38100" marT="19050" marB="19050" anchor="ctr">
                    <a:solidFill>
                      <a:srgbClr val="F5F8FA"/>
                    </a:solidFill>
                  </a:tcPr>
                </a:tc>
                <a:tc>
                  <a:txBody>
                    <a:bodyPr wrap="none"/>
                    <a:lstStyle/>
                    <a:p>
                      <a:pPr algn="l"/>
                      <a:r>
                        <a:rPr sz="900" b="0">
                          <a:solidFill>
                            <a:srgbClr val="2E2E2E"/>
                          </a:solidFill>
                          <a:latin typeface="Calibri"/>
                        </a:rPr>
                        <a:t>Parity</a:t>
                      </a:r>
                    </a:p>
                  </a:txBody>
                  <a:tcPr marL="85725" marR="38100" marT="19050" marB="19050" anchor="ctr">
                    <a:solidFill>
                      <a:srgbClr val="F5F8FA"/>
                    </a:solidFill>
                  </a:tcPr>
                </a:tc>
                <a:tc>
                  <a:txBody>
                    <a:bodyPr wrap="none"/>
                    <a:lstStyle/>
                    <a:p>
                      <a:pPr algn="l"/>
                      <a:r>
                        <a:rPr sz="900" b="0">
                          <a:solidFill>
                            <a:srgbClr val="2E2E2E"/>
                          </a:solidFill>
                          <a:latin typeface="Calibri"/>
                        </a:rPr>
                        <a:t>+1%</a:t>
                      </a:r>
                    </a:p>
                  </a:txBody>
                  <a:tcPr marL="85725" marR="38100" marT="19050" marB="19050" anchor="ctr">
                    <a:solidFill>
                      <a:srgbClr val="F5F8FA"/>
                    </a:solidFill>
                  </a:tcPr>
                </a:tc>
                <a:tc>
                  <a:txBody>
                    <a:bodyPr wrap="none"/>
                    <a:lstStyle/>
                    <a:p>
                      <a:pPr algn="l"/>
                      <a:r>
                        <a:rPr sz="900" b="0">
                          <a:solidFill>
                            <a:srgbClr val="2E2E2E"/>
                          </a:solidFill>
                          <a:latin typeface="Calibri"/>
                        </a:rPr>
                        <a:t>Competitive / discount-led pricing</a:t>
                      </a:r>
                    </a:p>
                  </a:txBody>
                  <a:tcPr marL="85725" marR="38100" marT="19050" marB="19050" anchor="ctr">
                    <a:solidFill>
                      <a:srgbClr val="F5F8FA"/>
                    </a:solidFill>
                  </a:tcPr>
                </a:tc>
              </a:tr>
            </a:tbl>
          </a:graphicData>
        </a:graphic>
      </p:graphicFrame>
      <p:sp>
        <p:nvSpPr>
          <p:cNvPr id="13" name="TextBox 12"/>
          <p:cNvSpPr txBox="1"/>
          <p:nvPr/>
        </p:nvSpPr>
        <p:spPr>
          <a:xfrm>
            <a:off x="219075" y="5133975"/>
            <a:ext cx="7543800" cy="123825"/>
          </a:xfrm>
          <a:prstGeom prst="rect">
            <a:avLst/>
          </a:prstGeom>
          <a:noFill/>
        </p:spPr>
        <p:txBody>
          <a:bodyPr wrap="none">
            <a:spAutoFit/>
          </a:bodyPr>
          <a:lstStyle/>
          <a:p>
            <a:r>
              <a:rPr sz="700" i="1">
                <a:solidFill>
                  <a:srgbClr val="6C7A89"/>
                </a:solidFill>
                <a:latin typeface="Calibri"/>
              </a:rPr>
              <a:t>Source: FMI Analysis, 2026</a:t>
            </a:r>
          </a:p>
        </p:txBody>
      </p:sp>
      <p:sp>
        <p:nvSpPr>
          <p:cNvPr id="14" name="Rounded Rectangle 13"/>
          <p:cNvSpPr/>
          <p:nvPr/>
        </p:nvSpPr>
        <p:spPr>
          <a:xfrm>
            <a:off x="142875" y="5391150"/>
            <a:ext cx="7696200" cy="381000"/>
          </a:xfrm>
          <a:prstGeom prst="roundRect">
            <a:avLst>
              <a:gd name="adj" fmla="val 20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Note: competitor figures are indicative derived from market modelling and expert validation, not company disclosures.</a:t>
            </a:r>
          </a:p>
        </p:txBody>
      </p:sp>
      <p:sp>
        <p:nvSpPr>
          <p:cNvPr id="15" name="Rounded Rectangle 14"/>
          <p:cNvSpPr/>
          <p:nvPr/>
        </p:nvSpPr>
        <p:spPr>
          <a:xfrm>
            <a:off x="7915275" y="1181100"/>
            <a:ext cx="4133850" cy="546735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8625" y="1266825"/>
            <a:ext cx="3867150" cy="209550"/>
          </a:xfrm>
          <a:prstGeom prst="rect">
            <a:avLst/>
          </a:prstGeom>
          <a:noFill/>
        </p:spPr>
        <p:txBody>
          <a:bodyPr wrap="square" lIns="0" rIns="19050" tIns="9525" bIns="9525">
            <a:spAutoFit/>
          </a:bodyPr>
          <a:lstStyle/>
          <a:p>
            <a:pPr algn="l"/>
            <a:r>
              <a:rPr sz="1300" b="1">
                <a:solidFill>
                  <a:srgbClr val="0B2E4A"/>
                </a:solidFill>
                <a:latin typeface="Calibri"/>
              </a:rPr>
              <a:t>Competitive Pricing Themes</a:t>
            </a:r>
          </a:p>
        </p:txBody>
      </p:sp>
      <p:sp>
        <p:nvSpPr>
          <p:cNvPr id="17" name="Rectangle 16"/>
          <p:cNvSpPr/>
          <p:nvPr/>
        </p:nvSpPr>
        <p:spPr>
          <a:xfrm>
            <a:off x="8048625" y="150495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590675"/>
            <a:ext cx="3867150" cy="49815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Supply Chain Analysis</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Value Chain &amp; Stakeholder Mapping</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Operating Margin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Buyers Assessment</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13</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Value Chain &amp; Stakeholder Mapping</a:t>
            </a:r>
          </a:p>
        </p:txBody>
      </p:sp>
      <p:sp>
        <p:nvSpPr>
          <p:cNvPr id="10" name="TextBox 9"/>
          <p:cNvSpPr txBox="1"/>
          <p:nvPr/>
        </p:nvSpPr>
        <p:spPr>
          <a:xfrm>
            <a:off x="285750" y="819150"/>
            <a:ext cx="10668000" cy="171450"/>
          </a:xfrm>
          <a:prstGeom prst="rect">
            <a:avLst/>
          </a:prstGeom>
          <a:noFill/>
        </p:spPr>
        <p:txBody>
          <a:bodyPr wrap="square" lIns="0" rIns="19050" tIns="0" bIns="0">
            <a:spAutoFit/>
          </a:bodyPr>
          <a:lstStyle/>
          <a:p>
            <a:pPr algn="l"/>
            <a:r>
              <a:rPr sz="950" b="0">
                <a:solidFill>
                  <a:srgbClr val="6C7A89"/>
                </a:solidFill>
                <a:latin typeface="Calibri"/>
              </a:rPr>
              <a:t>End-to-end value chain with the key stakeholders at each stage and their indicative contribution to value addition.</a:t>
            </a:r>
          </a:p>
        </p:txBody>
      </p:sp>
      <p:sp>
        <p:nvSpPr>
          <p:cNvPr id="11" name="Right Arrow 10"/>
          <p:cNvSpPr/>
          <p:nvPr/>
        </p:nvSpPr>
        <p:spPr>
          <a:xfrm>
            <a:off x="1885950" y="1914525"/>
            <a:ext cx="1562100" cy="171450"/>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171950" y="1914525"/>
            <a:ext cx="1562100" cy="171450"/>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457950" y="1914525"/>
            <a:ext cx="1562100" cy="171450"/>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8743950" y="1914525"/>
            <a:ext cx="1562100" cy="171450"/>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9100" y="1123950"/>
            <a:ext cx="2209800" cy="36195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6" name="Oval 15"/>
          <p:cNvSpPr/>
          <p:nvPr/>
        </p:nvSpPr>
        <p:spPr>
          <a:xfrm>
            <a:off x="1076325" y="1552575"/>
            <a:ext cx="895350" cy="895350"/>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3950" y="1600200"/>
            <a:ext cx="800100" cy="800100"/>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09712" y="1981200"/>
            <a:ext cx="28575" cy="1619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rot="19500000">
            <a:off x="1381125" y="1914525"/>
            <a:ext cx="142875" cy="8572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2100000">
            <a:off x="1524000" y="1914525"/>
            <a:ext cx="142875" cy="8572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152525" y="2514600"/>
            <a:ext cx="742950" cy="209550"/>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950" b="1">
                <a:solidFill>
                  <a:srgbClr val="6F3CC2"/>
                </a:solidFill>
                <a:latin typeface="Calibri"/>
              </a:rPr>
              <a:t>▲ 5–10%</a:t>
            </a:r>
          </a:p>
        </p:txBody>
      </p:sp>
      <p:sp>
        <p:nvSpPr>
          <p:cNvPr id="22" name="Rounded Rectangle 21"/>
          <p:cNvSpPr/>
          <p:nvPr/>
        </p:nvSpPr>
        <p:spPr>
          <a:xfrm>
            <a:off x="457200" y="2838450"/>
            <a:ext cx="2133600" cy="2381250"/>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838450"/>
            <a:ext cx="2133600" cy="4762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2925" y="2952750"/>
            <a:ext cx="1962150" cy="400050"/>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5" name="TextBox 24"/>
          <p:cNvSpPr txBox="1"/>
          <p:nvPr/>
        </p:nvSpPr>
        <p:spPr>
          <a:xfrm>
            <a:off x="542925" y="3371850"/>
            <a:ext cx="1962150" cy="1752600"/>
          </a:xfrm>
          <a:prstGeom prst="rect">
            <a:avLst/>
          </a:prstGeom>
          <a:noFill/>
        </p:spPr>
        <p:txBody>
          <a:bodyPr wrap="square" lIns="28575" rIns="28575" tIns="9525" bIns="9525">
            <a:spAutoFit/>
          </a:bodyPr>
          <a:lstStyle/>
          <a:p>
            <a:pPr algn="l">
              <a:lnSpc>
                <a:spcPct val="122000"/>
              </a:lnSpc>
            </a:pPr>
            <a:r>
              <a:rPr sz="1000" b="0">
                <a:solidFill>
                  <a:srgbClr val="2E2E2E"/>
                </a:solidFill>
                <a:latin typeface="Calibri"/>
              </a:rPr>
              <a:t>Growers and primary producers supply core inputs; some forward-integrate into small-scale processing.</a:t>
            </a:r>
          </a:p>
        </p:txBody>
      </p:sp>
      <p:sp>
        <p:nvSpPr>
          <p:cNvPr id="26" name="TextBox 25"/>
          <p:cNvSpPr txBox="1"/>
          <p:nvPr/>
        </p:nvSpPr>
        <p:spPr>
          <a:xfrm>
            <a:off x="2705100" y="1123950"/>
            <a:ext cx="2209800" cy="36195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7" name="Oval 26"/>
          <p:cNvSpPr/>
          <p:nvPr/>
        </p:nvSpPr>
        <p:spPr>
          <a:xfrm>
            <a:off x="3362325" y="1552575"/>
            <a:ext cx="895350" cy="895350"/>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409950" y="1600200"/>
            <a:ext cx="800100" cy="800100"/>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38550" y="1981200"/>
            <a:ext cx="342900" cy="1714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67125" y="1876425"/>
            <a:ext cx="66675" cy="114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71900" y="1914525"/>
            <a:ext cx="66675" cy="76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876675" y="1885950"/>
            <a:ext cx="66675" cy="1047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438525" y="2514600"/>
            <a:ext cx="742950" cy="209550"/>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950" b="1">
                <a:solidFill>
                  <a:srgbClr val="6F3CC2"/>
                </a:solidFill>
                <a:latin typeface="Calibri"/>
              </a:rPr>
              <a:t>▲ 20–40%</a:t>
            </a:r>
          </a:p>
        </p:txBody>
      </p:sp>
      <p:sp>
        <p:nvSpPr>
          <p:cNvPr id="34" name="Rounded Rectangle 33"/>
          <p:cNvSpPr/>
          <p:nvPr/>
        </p:nvSpPr>
        <p:spPr>
          <a:xfrm>
            <a:off x="2743200" y="2838450"/>
            <a:ext cx="2133600" cy="2381250"/>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743200" y="2838450"/>
            <a:ext cx="2133600" cy="476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28925" y="2952750"/>
            <a:ext cx="1962150" cy="400050"/>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7" name="TextBox 36"/>
          <p:cNvSpPr txBox="1"/>
          <p:nvPr/>
        </p:nvSpPr>
        <p:spPr>
          <a:xfrm>
            <a:off x="2828925" y="3371850"/>
            <a:ext cx="1962150" cy="1752600"/>
          </a:xfrm>
          <a:prstGeom prst="rect">
            <a:avLst/>
          </a:prstGeom>
          <a:noFill/>
        </p:spPr>
        <p:txBody>
          <a:bodyPr wrap="square" lIns="28575" rIns="28575" tIns="9525" bIns="9525">
            <a:spAutoFit/>
          </a:bodyPr>
          <a:lstStyle/>
          <a:p>
            <a:pPr algn="l">
              <a:lnSpc>
                <a:spcPct val="122000"/>
              </a:lnSpc>
            </a:pPr>
            <a:r>
              <a:rPr sz="1000" b="0">
                <a:solidFill>
                  <a:srgbClr val="2E2E2E"/>
                </a:solidFill>
                <a:latin typeface="Calibri"/>
              </a:rPr>
              <a:t>Convert inputs into finished and semi-finished product the single largest value-addition stage.</a:t>
            </a:r>
          </a:p>
        </p:txBody>
      </p:sp>
      <p:sp>
        <p:nvSpPr>
          <p:cNvPr id="38" name="TextBox 37"/>
          <p:cNvSpPr txBox="1"/>
          <p:nvPr/>
        </p:nvSpPr>
        <p:spPr>
          <a:xfrm>
            <a:off x="4991100" y="1123950"/>
            <a:ext cx="2209800" cy="36195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39" name="Oval 38"/>
          <p:cNvSpPr/>
          <p:nvPr/>
        </p:nvSpPr>
        <p:spPr>
          <a:xfrm>
            <a:off x="5648325" y="1552575"/>
            <a:ext cx="895350" cy="895350"/>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695950" y="1600200"/>
            <a:ext cx="800100" cy="800100"/>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15025" y="1895475"/>
            <a:ext cx="209550" cy="1714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34100" y="1971675"/>
            <a:ext cx="123825" cy="952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972175" y="2047875"/>
            <a:ext cx="85725" cy="8572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153150" y="2047875"/>
            <a:ext cx="85725" cy="8572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5724525" y="2514600"/>
            <a:ext cx="742950" cy="209550"/>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950" b="1">
                <a:solidFill>
                  <a:srgbClr val="6F3CC2"/>
                </a:solidFill>
                <a:latin typeface="Calibri"/>
              </a:rPr>
              <a:t>▲ 5–25%</a:t>
            </a:r>
          </a:p>
        </p:txBody>
      </p:sp>
      <p:sp>
        <p:nvSpPr>
          <p:cNvPr id="46" name="Rounded Rectangle 45"/>
          <p:cNvSpPr/>
          <p:nvPr/>
        </p:nvSpPr>
        <p:spPr>
          <a:xfrm>
            <a:off x="5029200" y="2838450"/>
            <a:ext cx="2133600" cy="2381250"/>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029200" y="2838450"/>
            <a:ext cx="2133600" cy="476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14925" y="2952750"/>
            <a:ext cx="1962150" cy="400050"/>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49" name="TextBox 48"/>
          <p:cNvSpPr txBox="1"/>
          <p:nvPr/>
        </p:nvSpPr>
        <p:spPr>
          <a:xfrm>
            <a:off x="5114925" y="3371850"/>
            <a:ext cx="1962150" cy="1752600"/>
          </a:xfrm>
          <a:prstGeom prst="rect">
            <a:avLst/>
          </a:prstGeom>
          <a:noFill/>
        </p:spPr>
        <p:txBody>
          <a:bodyPr wrap="square" lIns="28575" rIns="28575" tIns="9525" bIns="9525">
            <a:spAutoFit/>
          </a:bodyPr>
          <a:lstStyle/>
          <a:p>
            <a:pPr algn="l">
              <a:lnSpc>
                <a:spcPct val="122000"/>
              </a:lnSpc>
            </a:pPr>
            <a:r>
              <a:rPr sz="1000" b="0">
                <a:solidFill>
                  <a:srgbClr val="2E2E2E"/>
                </a:solidFill>
                <a:latin typeface="Calibri"/>
              </a:rPr>
              <a:t>Move product to market, hold inventory and provide logistics, reach and credit to downstream channels.</a:t>
            </a:r>
          </a:p>
        </p:txBody>
      </p:sp>
      <p:sp>
        <p:nvSpPr>
          <p:cNvPr id="50" name="TextBox 49"/>
          <p:cNvSpPr txBox="1"/>
          <p:nvPr/>
        </p:nvSpPr>
        <p:spPr>
          <a:xfrm>
            <a:off x="7277100" y="1123950"/>
            <a:ext cx="2209800" cy="36195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1" name="Oval 50"/>
          <p:cNvSpPr/>
          <p:nvPr/>
        </p:nvSpPr>
        <p:spPr>
          <a:xfrm>
            <a:off x="7934325" y="1552575"/>
            <a:ext cx="895350" cy="895350"/>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981950" y="1600200"/>
            <a:ext cx="800100" cy="800100"/>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Isosceles Triangle 52"/>
          <p:cNvSpPr/>
          <p:nvPr/>
        </p:nvSpPr>
        <p:spPr>
          <a:xfrm>
            <a:off x="8201025" y="1857375"/>
            <a:ext cx="361950" cy="11430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39125" y="1962150"/>
            <a:ext cx="285750" cy="190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343900" y="2038350"/>
            <a:ext cx="76200" cy="1143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8010525" y="2514600"/>
            <a:ext cx="742950" cy="209550"/>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950" b="1">
                <a:solidFill>
                  <a:srgbClr val="6F3CC2"/>
                </a:solidFill>
                <a:latin typeface="Calibri"/>
              </a:rPr>
              <a:t>▲ 10–35%</a:t>
            </a:r>
          </a:p>
        </p:txBody>
      </p:sp>
      <p:sp>
        <p:nvSpPr>
          <p:cNvPr id="57" name="Rounded Rectangle 56"/>
          <p:cNvSpPr/>
          <p:nvPr/>
        </p:nvSpPr>
        <p:spPr>
          <a:xfrm>
            <a:off x="7315200" y="2838450"/>
            <a:ext cx="2133600" cy="2381250"/>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315200" y="2838450"/>
            <a:ext cx="2133600" cy="47625"/>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00925" y="2952750"/>
            <a:ext cx="1962150" cy="400050"/>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0" name="TextBox 59"/>
          <p:cNvSpPr txBox="1"/>
          <p:nvPr/>
        </p:nvSpPr>
        <p:spPr>
          <a:xfrm>
            <a:off x="7400925" y="3371850"/>
            <a:ext cx="1962150" cy="1752600"/>
          </a:xfrm>
          <a:prstGeom prst="rect">
            <a:avLst/>
          </a:prstGeom>
          <a:noFill/>
        </p:spPr>
        <p:txBody>
          <a:bodyPr wrap="square" lIns="28575" rIns="28575" tIns="9525" bIns="9525">
            <a:spAutoFit/>
          </a:bodyPr>
          <a:lstStyle/>
          <a:p>
            <a:pPr algn="l">
              <a:lnSpc>
                <a:spcPct val="122000"/>
              </a:lnSpc>
            </a:pPr>
            <a:r>
              <a:rPr sz="1000" b="0">
                <a:solidFill>
                  <a:srgbClr val="2E2E2E"/>
                </a:solidFill>
                <a:latin typeface="Calibri"/>
              </a:rPr>
              <a:t>Sell to end customers across offline and online channels, capturing point-of-sale margin and brand visibility.</a:t>
            </a:r>
          </a:p>
        </p:txBody>
      </p:sp>
      <p:sp>
        <p:nvSpPr>
          <p:cNvPr id="61" name="TextBox 60"/>
          <p:cNvSpPr txBox="1"/>
          <p:nvPr/>
        </p:nvSpPr>
        <p:spPr>
          <a:xfrm>
            <a:off x="9563100" y="1123950"/>
            <a:ext cx="2209800" cy="36195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2" name="Oval 61"/>
          <p:cNvSpPr/>
          <p:nvPr/>
        </p:nvSpPr>
        <p:spPr>
          <a:xfrm>
            <a:off x="10220325" y="1552575"/>
            <a:ext cx="895350" cy="895350"/>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0267950" y="1600200"/>
            <a:ext cx="800100" cy="800100"/>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601325" y="1847850"/>
            <a:ext cx="133350" cy="1333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10544175" y="2009775"/>
            <a:ext cx="247650" cy="133350"/>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10296525" y="2514600"/>
            <a:ext cx="742950" cy="209550"/>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950" b="1">
                <a:solidFill>
                  <a:srgbClr val="6F3CC2"/>
                </a:solidFill>
                <a:latin typeface="Calibri"/>
              </a:rPr>
              <a:t>▲ 10–20%</a:t>
            </a:r>
          </a:p>
        </p:txBody>
      </p:sp>
      <p:sp>
        <p:nvSpPr>
          <p:cNvPr id="67" name="Rounded Rectangle 66"/>
          <p:cNvSpPr/>
          <p:nvPr/>
        </p:nvSpPr>
        <p:spPr>
          <a:xfrm>
            <a:off x="9601200" y="2838450"/>
            <a:ext cx="2133600" cy="2381250"/>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601200" y="2838450"/>
            <a:ext cx="2133600" cy="476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686925" y="2952750"/>
            <a:ext cx="1962150" cy="400050"/>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0" name="TextBox 69"/>
          <p:cNvSpPr txBox="1"/>
          <p:nvPr/>
        </p:nvSpPr>
        <p:spPr>
          <a:xfrm>
            <a:off x="9686925" y="3371850"/>
            <a:ext cx="1962150" cy="1752600"/>
          </a:xfrm>
          <a:prstGeom prst="rect">
            <a:avLst/>
          </a:prstGeom>
          <a:noFill/>
        </p:spPr>
        <p:txBody>
          <a:bodyPr wrap="square" lIns="28575" rIns="28575" tIns="9525" bIns="9525">
            <a:spAutoFit/>
          </a:bodyPr>
          <a:lstStyle/>
          <a:p>
            <a:pPr algn="l">
              <a:lnSpc>
                <a:spcPct val="122000"/>
              </a:lnSpc>
            </a:pPr>
            <a:r>
              <a:rPr sz="1000" b="0">
                <a:solidFill>
                  <a:srgbClr val="2E2E2E"/>
                </a:solidFill>
                <a:latin typeface="Calibri"/>
              </a:rPr>
              <a:t>Consumers and downstream industries; large end users sometimes backward-integrate to secure supply and cost.</a:t>
            </a:r>
          </a:p>
        </p:txBody>
      </p:sp>
      <p:sp>
        <p:nvSpPr>
          <p:cNvPr id="71" name="Rounded Rectangle 70"/>
          <p:cNvSpPr/>
          <p:nvPr/>
        </p:nvSpPr>
        <p:spPr>
          <a:xfrm>
            <a:off x="381000" y="5353050"/>
            <a:ext cx="11430000" cy="1352550"/>
          </a:xfrm>
          <a:prstGeom prst="roundRect">
            <a:avLst>
              <a:gd name="adj" fmla="val 563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14350" y="5438775"/>
            <a:ext cx="11163300" cy="209550"/>
          </a:xfrm>
          <a:prstGeom prst="rect">
            <a:avLst/>
          </a:prstGeom>
          <a:noFill/>
        </p:spPr>
        <p:txBody>
          <a:bodyPr wrap="square" lIns="0" rIns="19050" tIns="9525" bIns="9525">
            <a:spAutoFit/>
          </a:bodyPr>
          <a:lstStyle/>
          <a:p>
            <a:pPr algn="l"/>
            <a:r>
              <a:rPr sz="1300" b="1">
                <a:solidFill>
                  <a:srgbClr val="0B2E4A"/>
                </a:solidFill>
                <a:latin typeface="Calibri"/>
              </a:rPr>
              <a:t>Value-Added Read-out</a:t>
            </a:r>
          </a:p>
        </p:txBody>
      </p:sp>
      <p:sp>
        <p:nvSpPr>
          <p:cNvPr id="73" name="Rectangle 72"/>
          <p:cNvSpPr/>
          <p:nvPr/>
        </p:nvSpPr>
        <p:spPr>
          <a:xfrm>
            <a:off x="514350" y="5676900"/>
            <a:ext cx="111633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14350" y="5762625"/>
            <a:ext cx="11163300" cy="866775"/>
          </a:xfrm>
          <a:prstGeom prst="rect">
            <a:avLst/>
          </a:prstGeom>
          <a:noFill/>
        </p:spPr>
        <p:txBody>
          <a:bodyPr wrap="square" lIns="0" rIns="19050" tIns="9525" bIns="9525">
            <a:spAutoFit/>
          </a:bodyPr>
          <a:lstStyle/>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The Humira Biosimilars Market value chain runs from raw-material suppliers through manufacturers, distributors and retailers to end users.</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'Manufacturers / Processors' captures the largest value addition (20–40%), reflecting processing and scale advantages.</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Forward and backward integration is common some suppliers process, and some large end users produce their own input.</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Percentages show each stage's indicative share of value added along the chain.</a:t>
            </a:r>
          </a:p>
        </p:txBody>
      </p:sp>
      <p:sp>
        <p:nvSpPr>
          <p:cNvPr id="75" name="Rectangle 7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77" name="Rounded Rectangle 7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78" name="Rounded Rectangle 7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79" name="Rounded Rectangle 7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Industry-Wide Operating Margin Analysis</a:t>
            </a:r>
          </a:p>
        </p:txBody>
      </p:sp>
      <p:sp>
        <p:nvSpPr>
          <p:cNvPr id="10" name="Rounded Rectangle 9"/>
          <p:cNvSpPr/>
          <p:nvPr/>
        </p:nvSpPr>
        <p:spPr>
          <a:xfrm>
            <a:off x="142875" y="857250"/>
            <a:ext cx="11906250" cy="4000500"/>
          </a:xfrm>
          <a:prstGeom prst="roundRect">
            <a:avLst>
              <a:gd name="adj" fmla="val 190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Humira Biosimilars Market Operating Margin by Region &amp; Node</a:t>
            </a:r>
          </a:p>
        </p:txBody>
      </p:sp>
      <p:graphicFrame>
        <p:nvGraphicFramePr>
          <p:cNvPr id="12" name="Table 11"/>
          <p:cNvGraphicFramePr>
            <a:graphicFrameLocks noGrp="1"/>
          </p:cNvGraphicFramePr>
          <p:nvPr/>
        </p:nvGraphicFramePr>
        <p:xfrm>
          <a:off x="238125" y="1143000"/>
          <a:ext cx="11715749" cy="2352675"/>
        </p:xfrm>
        <a:graphic>
          <a:graphicData uri="http://schemas.openxmlformats.org/drawingml/2006/table">
            <a:tbl>
              <a:tblPr>
                <a:tableStyleId>{5C22544A-7EE6-4342-B048-85BDC9FD1C3A}</a:tableStyleId>
              </a:tblPr>
              <a:tblGrid>
                <a:gridCol w="3514725"/>
                <a:gridCol w="2050256"/>
                <a:gridCol w="2050256"/>
                <a:gridCol w="2050256"/>
                <a:gridCol w="2050256"/>
              </a:tblGrid>
              <a:tr h="180975">
                <a:tc>
                  <a:txBody>
                    <a:bodyPr wrap="none"/>
                    <a:lstStyle/>
                    <a:p>
                      <a:pPr algn="l"/>
                      <a:r>
                        <a:rPr sz="900" b="1">
                          <a:solidFill>
                            <a:srgbClr val="0B2E4A"/>
                          </a:solidFill>
                          <a:latin typeface="Calibri"/>
                        </a:rPr>
                        <a:t>Region</a:t>
                      </a:r>
                    </a:p>
                  </a:txBody>
                  <a:tcPr marL="85725" marR="38100" marT="19050" marB="19050" anchor="ctr">
                    <a:solidFill>
                      <a:srgbClr val="E0E8EF"/>
                    </a:solidFill>
                  </a:tcPr>
                </a:tc>
                <a:tc>
                  <a:txBody>
                    <a:bodyPr wrap="none"/>
                    <a:lstStyle/>
                    <a:p>
                      <a:pPr algn="l"/>
                      <a:r>
                        <a:rPr sz="900" b="1">
                          <a:solidFill>
                            <a:srgbClr val="0B2E4A"/>
                          </a:solidFill>
                          <a:latin typeface="Calibri"/>
                        </a:rPr>
                        <a:t>Node of Supply Chain</a:t>
                      </a:r>
                    </a:p>
                  </a:txBody>
                  <a:tcPr marL="85725" marR="38100" marT="19050" marB="19050" anchor="ctr">
                    <a:solidFill>
                      <a:srgbClr val="E0E8EF"/>
                    </a:solidFill>
                  </a:tcPr>
                </a:tc>
                <a:tc>
                  <a:txBody>
                    <a:bodyPr wrap="none"/>
                    <a:lstStyle/>
                    <a:p>
                      <a:pPr algn="l"/>
                      <a:r>
                        <a:rPr sz="900" b="1">
                          <a:solidFill>
                            <a:srgbClr val="0B2E4A"/>
                          </a:solidFill>
                          <a:latin typeface="Calibri"/>
                        </a:rPr>
                        <a:t>Operating Margin</a:t>
                      </a:r>
                    </a:p>
                  </a:txBody>
                  <a:tcPr marL="85725" marR="38100" marT="19050" marB="19050" anchor="ctr">
                    <a:solidFill>
                      <a:srgbClr val="E0E8EF"/>
                    </a:solidFill>
                  </a:tcPr>
                </a:tc>
                <a:tc>
                  <a:txBody>
                    <a:bodyPr wrap="none"/>
                    <a:lstStyle/>
                    <a:p>
                      <a:pPr algn="l"/>
                      <a:r>
                        <a:rPr sz="900" b="1">
                          <a:solidFill>
                            <a:srgbClr val="0B2E4A"/>
                          </a:solidFill>
                          <a:latin typeface="Calibri"/>
                        </a:rPr>
                        <a:t>Comparison to Parent Market</a:t>
                      </a:r>
                    </a:p>
                  </a:txBody>
                  <a:tcPr marL="85725" marR="38100" marT="19050" marB="19050" anchor="ctr">
                    <a:solidFill>
                      <a:srgbClr val="E0E8EF"/>
                    </a:solidFill>
                  </a:tcPr>
                </a:tc>
                <a:tc>
                  <a:txBody>
                    <a:bodyPr wrap="none"/>
                    <a:lstStyle/>
                    <a:p>
                      <a:pPr algn="l"/>
                      <a:r>
                        <a:rPr sz="900" b="1">
                          <a:solidFill>
                            <a:srgbClr val="0B2E4A"/>
                          </a:solidFill>
                          <a:latin typeface="Calibri"/>
                        </a:rPr>
                        <a:t>Notes</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North America</a:t>
                      </a:r>
                    </a:p>
                  </a:txBody>
                  <a:tcPr marL="85725" marR="38100" marT="19050" marB="19050" anchor="ctr">
                    <a:solidFill>
                      <a:srgbClr val="FFFFFF"/>
                    </a:solidFill>
                  </a:tcPr>
                </a:tc>
                <a:tc>
                  <a:txBody>
                    <a:bodyPr wrap="none"/>
                    <a:lstStyle/>
                    <a:p>
                      <a:pPr algn="l"/>
                      <a:r>
                        <a:rPr sz="900" b="0">
                          <a:solidFill>
                            <a:srgbClr val="2E2E2E"/>
                          </a:solidFill>
                          <a:latin typeface="Calibri"/>
                        </a:rPr>
                        <a:t>Raw Material Suppliers</a:t>
                      </a:r>
                    </a:p>
                  </a:txBody>
                  <a:tcPr marL="85725" marR="38100" marT="19050" marB="19050" anchor="ctr">
                    <a:solidFill>
                      <a:srgbClr val="FFFFFF"/>
                    </a:solidFill>
                  </a:tcPr>
                </a:tc>
                <a:tc>
                  <a:txBody>
                    <a:bodyPr wrap="none"/>
                    <a:lstStyle/>
                    <a:p>
                      <a:pPr algn="l"/>
                      <a:r>
                        <a:rPr sz="900" b="0">
                          <a:solidFill>
                            <a:srgbClr val="2E2E2E"/>
                          </a:solidFill>
                          <a:latin typeface="Calibri"/>
                        </a:rPr>
                        <a:t>10.0%</a:t>
                      </a:r>
                    </a:p>
                  </a:txBody>
                  <a:tcPr marL="85725" marR="38100" marT="19050" marB="19050" anchor="ctr">
                    <a:solidFill>
                      <a:srgbClr val="FFFFFF"/>
                    </a:solidFill>
                  </a:tcPr>
                </a:tc>
                <a:tc>
                  <a:txBody>
                    <a:bodyPr wrap="none"/>
                    <a:lstStyle/>
                    <a:p>
                      <a:pPr algn="l"/>
                      <a:r>
                        <a:rPr sz="900" b="0">
                          <a:solidFill>
                            <a:srgbClr val="2E2E2E"/>
                          </a:solidFill>
                          <a:latin typeface="Calibri"/>
                        </a:rPr>
                        <a:t>+830 BPS</a:t>
                      </a:r>
                    </a:p>
                  </a:txBody>
                  <a:tcPr marL="85725" marR="38100" marT="19050" marB="19050" anchor="ctr">
                    <a:solidFill>
                      <a:srgbClr val="FFFFFF"/>
                    </a:solidFill>
                  </a:tcPr>
                </a:tc>
                <a:tc>
                  <a:txBody>
                    <a:bodyPr wrap="none"/>
                    <a:lstStyle/>
                    <a:p>
                      <a:pPr algn="l"/>
                      <a:r>
                        <a:rPr sz="900" b="0">
                          <a:solidFill>
                            <a:srgbClr val="2E2E2E"/>
                          </a:solidFill>
                          <a:latin typeface="Calibri"/>
                        </a:rPr>
                        <a:t>Commodity-linked</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
                      </a:r>
                    </a:p>
                  </a:txBody>
                  <a:tcPr marL="85725" marR="38100" marT="19050" marB="19050" anchor="ctr">
                    <a:solidFill>
                      <a:srgbClr val="F5F8FA"/>
                    </a:solidFill>
                  </a:tcPr>
                </a:tc>
                <a:tc>
                  <a:txBody>
                    <a:bodyPr wrap="none"/>
                    <a:lstStyle/>
                    <a:p>
                      <a:pPr algn="l"/>
                      <a:r>
                        <a:rPr sz="900" b="0">
                          <a:solidFill>
                            <a:srgbClr val="2E2E2E"/>
                          </a:solidFill>
                          <a:latin typeface="Calibri"/>
                        </a:rPr>
                        <a:t>Manufacturers</a:t>
                      </a:r>
                    </a:p>
                  </a:txBody>
                  <a:tcPr marL="85725" marR="38100" marT="19050" marB="19050" anchor="ctr">
                    <a:solidFill>
                      <a:srgbClr val="F5F8FA"/>
                    </a:solidFill>
                  </a:tcPr>
                </a:tc>
                <a:tc>
                  <a:txBody>
                    <a:bodyPr wrap="none"/>
                    <a:lstStyle/>
                    <a:p>
                      <a:pPr algn="l"/>
                      <a:r>
                        <a:rPr sz="900" b="0">
                          <a:solidFill>
                            <a:srgbClr val="2E2E2E"/>
                          </a:solidFill>
                          <a:latin typeface="Calibri"/>
                        </a:rPr>
                        <a:t>19.7%</a:t>
                      </a:r>
                    </a:p>
                  </a:txBody>
                  <a:tcPr marL="85725" marR="38100" marT="19050" marB="19050" anchor="ctr">
                    <a:solidFill>
                      <a:srgbClr val="F5F8FA"/>
                    </a:solidFill>
                  </a:tcPr>
                </a:tc>
                <a:tc>
                  <a:txBody>
                    <a:bodyPr wrap="none"/>
                    <a:lstStyle/>
                    <a:p>
                      <a:pPr algn="l"/>
                      <a:r>
                        <a:rPr sz="900" b="0">
                          <a:solidFill>
                            <a:srgbClr val="2E2E2E"/>
                          </a:solidFill>
                          <a:latin typeface="Calibri"/>
                        </a:rPr>
                        <a:t>+1,738 BPS</a:t>
                      </a:r>
                    </a:p>
                  </a:txBody>
                  <a:tcPr marL="85725" marR="38100" marT="19050" marB="19050" anchor="ctr">
                    <a:solidFill>
                      <a:srgbClr val="F5F8FA"/>
                    </a:solidFill>
                  </a:tcPr>
                </a:tc>
                <a:tc>
                  <a:txBody>
                    <a:bodyPr wrap="none"/>
                    <a:lstStyle/>
                    <a:p>
                      <a:pPr algn="l"/>
                      <a:r>
                        <a:rPr sz="900" b="0">
                          <a:solidFill>
                            <a:srgbClr val="2E2E2E"/>
                          </a:solidFill>
                          <a:latin typeface="Calibri"/>
                        </a:rPr>
                        <a:t>Highest margins (value-add + scale)</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
                      </a:r>
                    </a:p>
                  </a:txBody>
                  <a:tcPr marL="85725" marR="38100" marT="19050" marB="19050" anchor="ctr">
                    <a:solidFill>
                      <a:srgbClr val="FFFFFF"/>
                    </a:solidFill>
                  </a:tcPr>
                </a:tc>
                <a:tc>
                  <a:txBody>
                    <a:bodyPr wrap="none"/>
                    <a:lstStyle/>
                    <a:p>
                      <a:pPr algn="l"/>
                      <a:r>
                        <a:rPr sz="900" b="0">
                          <a:solidFill>
                            <a:srgbClr val="2E2E2E"/>
                          </a:solidFill>
                          <a:latin typeface="Calibri"/>
                        </a:rPr>
                        <a:t>Distributors</a:t>
                      </a:r>
                    </a:p>
                  </a:txBody>
                  <a:tcPr marL="85725" marR="38100" marT="19050" marB="19050" anchor="ctr">
                    <a:solidFill>
                      <a:srgbClr val="FFFFFF"/>
                    </a:solidFill>
                  </a:tcPr>
                </a:tc>
                <a:tc>
                  <a:txBody>
                    <a:bodyPr wrap="none"/>
                    <a:lstStyle/>
                    <a:p>
                      <a:pPr algn="l"/>
                      <a:r>
                        <a:rPr sz="900" b="0">
                          <a:solidFill>
                            <a:srgbClr val="2E2E2E"/>
                          </a:solidFill>
                          <a:latin typeface="Calibri"/>
                        </a:rPr>
                        <a:t>9.8%</a:t>
                      </a:r>
                    </a:p>
                  </a:txBody>
                  <a:tcPr marL="85725" marR="38100" marT="19050" marB="19050" anchor="ctr">
                    <a:solidFill>
                      <a:srgbClr val="FFFFFF"/>
                    </a:solidFill>
                  </a:tcPr>
                </a:tc>
                <a:tc>
                  <a:txBody>
                    <a:bodyPr wrap="none"/>
                    <a:lstStyle/>
                    <a:p>
                      <a:pPr algn="l"/>
                      <a:r>
                        <a:rPr sz="900" b="0">
                          <a:solidFill>
                            <a:srgbClr val="2E2E2E"/>
                          </a:solidFill>
                          <a:latin typeface="Calibri"/>
                        </a:rPr>
                        <a:t>+692 BPS</a:t>
                      </a:r>
                    </a:p>
                  </a:txBody>
                  <a:tcPr marL="85725" marR="38100" marT="19050" marB="19050" anchor="ctr">
                    <a:solidFill>
                      <a:srgbClr val="FFFFFF"/>
                    </a:solidFill>
                  </a:tcPr>
                </a:tc>
                <a:tc>
                  <a:txBody>
                    <a:bodyPr wrap="none"/>
                    <a:lstStyle/>
                    <a:p>
                      <a:pPr algn="l"/>
                      <a:r>
                        <a:rPr sz="900" b="0">
                          <a:solidFill>
                            <a:srgbClr val="2E2E2E"/>
                          </a:solidFill>
                          <a:latin typeface="Calibri"/>
                        </a:rPr>
                        <a:t>Volume-led, thin</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
                      </a:r>
                    </a:p>
                  </a:txBody>
                  <a:tcPr marL="85725" marR="38100" marT="19050" marB="19050" anchor="ctr">
                    <a:solidFill>
                      <a:srgbClr val="F5F8FA"/>
                    </a:solidFill>
                  </a:tcPr>
                </a:tc>
                <a:tc>
                  <a:txBody>
                    <a:bodyPr wrap="none"/>
                    <a:lstStyle/>
                    <a:p>
                      <a:pPr algn="l"/>
                      <a:r>
                        <a:rPr sz="900" b="0">
                          <a:solidFill>
                            <a:srgbClr val="2E2E2E"/>
                          </a:solidFill>
                          <a:latin typeface="Calibri"/>
                        </a:rPr>
                        <a:t>Retailers</a:t>
                      </a:r>
                    </a:p>
                  </a:txBody>
                  <a:tcPr marL="85725" marR="38100" marT="19050" marB="19050" anchor="ctr">
                    <a:solidFill>
                      <a:srgbClr val="F5F8FA"/>
                    </a:solidFill>
                  </a:tcPr>
                </a:tc>
                <a:tc>
                  <a:txBody>
                    <a:bodyPr wrap="none"/>
                    <a:lstStyle/>
                    <a:p>
                      <a:pPr algn="l"/>
                      <a:r>
                        <a:rPr sz="900" b="0">
                          <a:solidFill>
                            <a:srgbClr val="2E2E2E"/>
                          </a:solidFill>
                          <a:latin typeface="Calibri"/>
                        </a:rPr>
                        <a:t>12.3%</a:t>
                      </a:r>
                    </a:p>
                  </a:txBody>
                  <a:tcPr marL="85725" marR="38100" marT="19050" marB="19050" anchor="ctr">
                    <a:solidFill>
                      <a:srgbClr val="F5F8FA"/>
                    </a:solidFill>
                  </a:tcPr>
                </a:tc>
                <a:tc>
                  <a:txBody>
                    <a:bodyPr wrap="none"/>
                    <a:lstStyle/>
                    <a:p>
                      <a:pPr algn="l"/>
                      <a:r>
                        <a:rPr sz="900" b="0">
                          <a:solidFill>
                            <a:srgbClr val="2E2E2E"/>
                          </a:solidFill>
                          <a:latin typeface="Calibri"/>
                        </a:rPr>
                        <a:t>+878 BPS</a:t>
                      </a:r>
                    </a:p>
                  </a:txBody>
                  <a:tcPr marL="85725" marR="38100" marT="19050" marB="19050" anchor="ctr">
                    <a:solidFill>
                      <a:srgbClr val="F5F8FA"/>
                    </a:solidFill>
                  </a:tcPr>
                </a:tc>
                <a:tc>
                  <a:txBody>
                    <a:bodyPr wrap="none"/>
                    <a:lstStyle/>
                    <a:p>
                      <a:pPr algn="l"/>
                      <a:r>
                        <a:rPr sz="900" b="0">
                          <a:solidFill>
                            <a:srgbClr val="2E2E2E"/>
                          </a:solidFill>
                          <a:latin typeface="Calibri"/>
                        </a:rPr>
                        <a:t>Channel-dependent PoS margin</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Latin America</a:t>
                      </a:r>
                    </a:p>
                  </a:txBody>
                  <a:tcPr marL="85725" marR="38100" marT="19050" marB="19050" anchor="ctr">
                    <a:solidFill>
                      <a:srgbClr val="FFFFFF"/>
                    </a:solidFill>
                  </a:tcPr>
                </a:tc>
                <a:tc>
                  <a:txBody>
                    <a:bodyPr wrap="none"/>
                    <a:lstStyle/>
                    <a:p>
                      <a:pPr algn="l"/>
                      <a:r>
                        <a:rPr sz="900" b="0">
                          <a:solidFill>
                            <a:srgbClr val="2E2E2E"/>
                          </a:solidFill>
                          <a:latin typeface="Calibri"/>
                        </a:rPr>
                        <a:t>Raw Material Suppliers</a:t>
                      </a:r>
                    </a:p>
                  </a:txBody>
                  <a:tcPr marL="85725" marR="38100" marT="19050" marB="19050" anchor="ctr">
                    <a:solidFill>
                      <a:srgbClr val="FFFFFF"/>
                    </a:solidFill>
                  </a:tcPr>
                </a:tc>
                <a:tc>
                  <a:txBody>
                    <a:bodyPr wrap="none"/>
                    <a:lstStyle/>
                    <a:p>
                      <a:pPr algn="l"/>
                      <a:r>
                        <a:rPr sz="900" b="0">
                          <a:solidFill>
                            <a:srgbClr val="2E2E2E"/>
                          </a:solidFill>
                          <a:latin typeface="Calibri"/>
                        </a:rPr>
                        <a:t>11.6%</a:t>
                      </a:r>
                    </a:p>
                  </a:txBody>
                  <a:tcPr marL="85725" marR="38100" marT="19050" marB="19050" anchor="ctr">
                    <a:solidFill>
                      <a:srgbClr val="FFFFFF"/>
                    </a:solidFill>
                  </a:tcPr>
                </a:tc>
                <a:tc>
                  <a:txBody>
                    <a:bodyPr wrap="none"/>
                    <a:lstStyle/>
                    <a:p>
                      <a:pPr algn="l"/>
                      <a:r>
                        <a:rPr sz="900" b="0">
                          <a:solidFill>
                            <a:srgbClr val="2E2E2E"/>
                          </a:solidFill>
                          <a:latin typeface="Calibri"/>
                        </a:rPr>
                        <a:t>+950 BPS</a:t>
                      </a:r>
                    </a:p>
                  </a:txBody>
                  <a:tcPr marL="85725" marR="38100" marT="19050" marB="19050" anchor="ctr">
                    <a:solidFill>
                      <a:srgbClr val="FFFFFF"/>
                    </a:solidFill>
                  </a:tcPr>
                </a:tc>
                <a:tc>
                  <a:txBody>
                    <a:bodyPr wrap="none"/>
                    <a:lstStyle/>
                    <a:p>
                      <a:pPr algn="l"/>
                      <a:r>
                        <a:rPr sz="900" b="0">
                          <a:solidFill>
                            <a:srgbClr val="2E2E2E"/>
                          </a:solidFill>
                          <a:latin typeface="Calibri"/>
                        </a:rPr>
                        <a:t>Commodity-linked</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
                      </a:r>
                    </a:p>
                  </a:txBody>
                  <a:tcPr marL="85725" marR="38100" marT="19050" marB="19050" anchor="ctr">
                    <a:solidFill>
                      <a:srgbClr val="F5F8FA"/>
                    </a:solidFill>
                  </a:tcPr>
                </a:tc>
                <a:tc>
                  <a:txBody>
                    <a:bodyPr wrap="none"/>
                    <a:lstStyle/>
                    <a:p>
                      <a:pPr algn="l"/>
                      <a:r>
                        <a:rPr sz="900" b="0">
                          <a:solidFill>
                            <a:srgbClr val="2E2E2E"/>
                          </a:solidFill>
                          <a:latin typeface="Calibri"/>
                        </a:rPr>
                        <a:t>Manufacturers</a:t>
                      </a:r>
                    </a:p>
                  </a:txBody>
                  <a:tcPr marL="85725" marR="38100" marT="19050" marB="19050" anchor="ctr">
                    <a:solidFill>
                      <a:srgbClr val="F5F8FA"/>
                    </a:solidFill>
                  </a:tcPr>
                </a:tc>
                <a:tc>
                  <a:txBody>
                    <a:bodyPr wrap="none"/>
                    <a:lstStyle/>
                    <a:p>
                      <a:pPr algn="l"/>
                      <a:r>
                        <a:rPr sz="900" b="0">
                          <a:solidFill>
                            <a:srgbClr val="2E2E2E"/>
                          </a:solidFill>
                          <a:latin typeface="Calibri"/>
                        </a:rPr>
                        <a:t>19.9%</a:t>
                      </a:r>
                    </a:p>
                  </a:txBody>
                  <a:tcPr marL="85725" marR="38100" marT="19050" marB="19050" anchor="ctr">
                    <a:solidFill>
                      <a:srgbClr val="F5F8FA"/>
                    </a:solidFill>
                  </a:tcPr>
                </a:tc>
                <a:tc>
                  <a:txBody>
                    <a:bodyPr wrap="none"/>
                    <a:lstStyle/>
                    <a:p>
                      <a:pPr algn="l"/>
                      <a:r>
                        <a:rPr sz="900" b="0">
                          <a:solidFill>
                            <a:srgbClr val="2E2E2E"/>
                          </a:solidFill>
                          <a:latin typeface="Calibri"/>
                        </a:rPr>
                        <a:t>+1,722 BPS</a:t>
                      </a:r>
                    </a:p>
                  </a:txBody>
                  <a:tcPr marL="85725" marR="38100" marT="19050" marB="19050" anchor="ctr">
                    <a:solidFill>
                      <a:srgbClr val="F5F8FA"/>
                    </a:solidFill>
                  </a:tcPr>
                </a:tc>
                <a:tc>
                  <a:txBody>
                    <a:bodyPr wrap="none"/>
                    <a:lstStyle/>
                    <a:p>
                      <a:pPr algn="l"/>
                      <a:r>
                        <a:rPr sz="900" b="0">
                          <a:solidFill>
                            <a:srgbClr val="2E2E2E"/>
                          </a:solidFill>
                          <a:latin typeface="Calibri"/>
                        </a:rPr>
                        <a:t>Highest margins (value-add + scale)</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
                      </a:r>
                    </a:p>
                  </a:txBody>
                  <a:tcPr marL="85725" marR="38100" marT="19050" marB="19050" anchor="ctr">
                    <a:solidFill>
                      <a:srgbClr val="FFFFFF"/>
                    </a:solidFill>
                  </a:tcPr>
                </a:tc>
                <a:tc>
                  <a:txBody>
                    <a:bodyPr wrap="none"/>
                    <a:lstStyle/>
                    <a:p>
                      <a:pPr algn="l"/>
                      <a:r>
                        <a:rPr sz="900" b="0">
                          <a:solidFill>
                            <a:srgbClr val="2E2E2E"/>
                          </a:solidFill>
                          <a:latin typeface="Calibri"/>
                        </a:rPr>
                        <a:t>Distributors</a:t>
                      </a:r>
                    </a:p>
                  </a:txBody>
                  <a:tcPr marL="85725" marR="38100" marT="19050" marB="19050" anchor="ctr">
                    <a:solidFill>
                      <a:srgbClr val="FFFFFF"/>
                    </a:solidFill>
                  </a:tcPr>
                </a:tc>
                <a:tc>
                  <a:txBody>
                    <a:bodyPr wrap="none"/>
                    <a:lstStyle/>
                    <a:p>
                      <a:pPr algn="l"/>
                      <a:r>
                        <a:rPr sz="900" b="0">
                          <a:solidFill>
                            <a:srgbClr val="2E2E2E"/>
                          </a:solidFill>
                          <a:latin typeface="Calibri"/>
                        </a:rPr>
                        <a:t>8.5%</a:t>
                      </a:r>
                    </a:p>
                  </a:txBody>
                  <a:tcPr marL="85725" marR="38100" marT="19050" marB="19050" anchor="ctr">
                    <a:solidFill>
                      <a:srgbClr val="FFFFFF"/>
                    </a:solidFill>
                  </a:tcPr>
                </a:tc>
                <a:tc>
                  <a:txBody>
                    <a:bodyPr wrap="none"/>
                    <a:lstStyle/>
                    <a:p>
                      <a:pPr algn="l"/>
                      <a:r>
                        <a:rPr sz="900" b="0">
                          <a:solidFill>
                            <a:srgbClr val="2E2E2E"/>
                          </a:solidFill>
                          <a:latin typeface="Calibri"/>
                        </a:rPr>
                        <a:t>+521 BPS</a:t>
                      </a:r>
                    </a:p>
                  </a:txBody>
                  <a:tcPr marL="85725" marR="38100" marT="19050" marB="19050" anchor="ctr">
                    <a:solidFill>
                      <a:srgbClr val="FFFFFF"/>
                    </a:solidFill>
                  </a:tcPr>
                </a:tc>
                <a:tc>
                  <a:txBody>
                    <a:bodyPr wrap="none"/>
                    <a:lstStyle/>
                    <a:p>
                      <a:pPr algn="l"/>
                      <a:r>
                        <a:rPr sz="900" b="0">
                          <a:solidFill>
                            <a:srgbClr val="2E2E2E"/>
                          </a:solidFill>
                          <a:latin typeface="Calibri"/>
                        </a:rPr>
                        <a:t>Volume-led, thin</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
                      </a:r>
                    </a:p>
                  </a:txBody>
                  <a:tcPr marL="85725" marR="38100" marT="19050" marB="19050" anchor="ctr">
                    <a:solidFill>
                      <a:srgbClr val="F5F8FA"/>
                    </a:solidFill>
                  </a:tcPr>
                </a:tc>
                <a:tc>
                  <a:txBody>
                    <a:bodyPr wrap="none"/>
                    <a:lstStyle/>
                    <a:p>
                      <a:pPr algn="l"/>
                      <a:r>
                        <a:rPr sz="900" b="0">
                          <a:solidFill>
                            <a:srgbClr val="2E2E2E"/>
                          </a:solidFill>
                          <a:latin typeface="Calibri"/>
                        </a:rPr>
                        <a:t>Retailers</a:t>
                      </a:r>
                    </a:p>
                  </a:txBody>
                  <a:tcPr marL="85725" marR="38100" marT="19050" marB="19050" anchor="ctr">
                    <a:solidFill>
                      <a:srgbClr val="F5F8FA"/>
                    </a:solidFill>
                  </a:tcPr>
                </a:tc>
                <a:tc>
                  <a:txBody>
                    <a:bodyPr wrap="none"/>
                    <a:lstStyle/>
                    <a:p>
                      <a:pPr algn="l"/>
                      <a:r>
                        <a:rPr sz="900" b="0">
                          <a:solidFill>
                            <a:srgbClr val="2E2E2E"/>
                          </a:solidFill>
                          <a:latin typeface="Calibri"/>
                        </a:rPr>
                        <a:t>10.6%</a:t>
                      </a:r>
                    </a:p>
                  </a:txBody>
                  <a:tcPr marL="85725" marR="38100" marT="19050" marB="19050" anchor="ctr">
                    <a:solidFill>
                      <a:srgbClr val="F5F8FA"/>
                    </a:solidFill>
                  </a:tcPr>
                </a:tc>
                <a:tc>
                  <a:txBody>
                    <a:bodyPr wrap="none"/>
                    <a:lstStyle/>
                    <a:p>
                      <a:pPr algn="l"/>
                      <a:r>
                        <a:rPr sz="900" b="0">
                          <a:solidFill>
                            <a:srgbClr val="2E2E2E"/>
                          </a:solidFill>
                          <a:latin typeface="Calibri"/>
                        </a:rPr>
                        <a:t>+676 BPS</a:t>
                      </a:r>
                    </a:p>
                  </a:txBody>
                  <a:tcPr marL="85725" marR="38100" marT="19050" marB="19050" anchor="ctr">
                    <a:solidFill>
                      <a:srgbClr val="F5F8FA"/>
                    </a:solidFill>
                  </a:tcPr>
                </a:tc>
                <a:tc>
                  <a:txBody>
                    <a:bodyPr wrap="none"/>
                    <a:lstStyle/>
                    <a:p>
                      <a:pPr algn="l"/>
                      <a:r>
                        <a:rPr sz="900" b="0">
                          <a:solidFill>
                            <a:srgbClr val="2E2E2E"/>
                          </a:solidFill>
                          <a:latin typeface="Calibri"/>
                        </a:rPr>
                        <a:t>Channel-dependent PoS margin</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Europe</a:t>
                      </a:r>
                    </a:p>
                  </a:txBody>
                  <a:tcPr marL="85725" marR="38100" marT="19050" marB="19050" anchor="ctr">
                    <a:solidFill>
                      <a:srgbClr val="FFFFFF"/>
                    </a:solidFill>
                  </a:tcPr>
                </a:tc>
                <a:tc>
                  <a:txBody>
                    <a:bodyPr wrap="none"/>
                    <a:lstStyle/>
                    <a:p>
                      <a:pPr algn="l"/>
                      <a:r>
                        <a:rPr sz="900" b="0">
                          <a:solidFill>
                            <a:srgbClr val="2E2E2E"/>
                          </a:solidFill>
                          <a:latin typeface="Calibri"/>
                        </a:rPr>
                        <a:t>Raw Material Suppliers</a:t>
                      </a:r>
                    </a:p>
                  </a:txBody>
                  <a:tcPr marL="85725" marR="38100" marT="19050" marB="19050" anchor="ctr">
                    <a:solidFill>
                      <a:srgbClr val="FFFFFF"/>
                    </a:solidFill>
                  </a:tcPr>
                </a:tc>
                <a:tc>
                  <a:txBody>
                    <a:bodyPr wrap="none"/>
                    <a:lstStyle/>
                    <a:p>
                      <a:pPr algn="l"/>
                      <a:r>
                        <a:rPr sz="900" b="0">
                          <a:solidFill>
                            <a:srgbClr val="2E2E2E"/>
                          </a:solidFill>
                          <a:latin typeface="Calibri"/>
                        </a:rPr>
                        <a:t>11.9%</a:t>
                      </a:r>
                    </a:p>
                  </a:txBody>
                  <a:tcPr marL="85725" marR="38100" marT="19050" marB="19050" anchor="ctr">
                    <a:solidFill>
                      <a:srgbClr val="FFFFFF"/>
                    </a:solidFill>
                  </a:tcPr>
                </a:tc>
                <a:tc>
                  <a:txBody>
                    <a:bodyPr wrap="none"/>
                    <a:lstStyle/>
                    <a:p>
                      <a:pPr algn="l"/>
                      <a:r>
                        <a:rPr sz="900" b="0">
                          <a:solidFill>
                            <a:srgbClr val="2E2E2E"/>
                          </a:solidFill>
                          <a:latin typeface="Calibri"/>
                        </a:rPr>
                        <a:t>+911 BPS</a:t>
                      </a:r>
                    </a:p>
                  </a:txBody>
                  <a:tcPr marL="85725" marR="38100" marT="19050" marB="19050" anchor="ctr">
                    <a:solidFill>
                      <a:srgbClr val="FFFFFF"/>
                    </a:solidFill>
                  </a:tcPr>
                </a:tc>
                <a:tc>
                  <a:txBody>
                    <a:bodyPr wrap="none"/>
                    <a:lstStyle/>
                    <a:p>
                      <a:pPr algn="l"/>
                      <a:r>
                        <a:rPr sz="900" b="0">
                          <a:solidFill>
                            <a:srgbClr val="2E2E2E"/>
                          </a:solidFill>
                          <a:latin typeface="Calibri"/>
                        </a:rPr>
                        <a:t>Commodity-linked</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
                      </a:r>
                    </a:p>
                  </a:txBody>
                  <a:tcPr marL="85725" marR="38100" marT="19050" marB="19050" anchor="ctr">
                    <a:solidFill>
                      <a:srgbClr val="F5F8FA"/>
                    </a:solidFill>
                  </a:tcPr>
                </a:tc>
                <a:tc>
                  <a:txBody>
                    <a:bodyPr wrap="none"/>
                    <a:lstStyle/>
                    <a:p>
                      <a:pPr algn="l"/>
                      <a:r>
                        <a:rPr sz="900" b="0">
                          <a:solidFill>
                            <a:srgbClr val="2E2E2E"/>
                          </a:solidFill>
                          <a:latin typeface="Calibri"/>
                        </a:rPr>
                        <a:t>Manufacturers</a:t>
                      </a:r>
                    </a:p>
                  </a:txBody>
                  <a:tcPr marL="85725" marR="38100" marT="19050" marB="19050" anchor="ctr">
                    <a:solidFill>
                      <a:srgbClr val="F5F8FA"/>
                    </a:solidFill>
                  </a:tcPr>
                </a:tc>
                <a:tc>
                  <a:txBody>
                    <a:bodyPr wrap="none"/>
                    <a:lstStyle/>
                    <a:p>
                      <a:pPr algn="l"/>
                      <a:r>
                        <a:rPr sz="900" b="0">
                          <a:solidFill>
                            <a:srgbClr val="2E2E2E"/>
                          </a:solidFill>
                          <a:latin typeface="Calibri"/>
                        </a:rPr>
                        <a:t>18.7%</a:t>
                      </a:r>
                    </a:p>
                  </a:txBody>
                  <a:tcPr marL="85725" marR="38100" marT="19050" marB="19050" anchor="ctr">
                    <a:solidFill>
                      <a:srgbClr val="F5F8FA"/>
                    </a:solidFill>
                  </a:tcPr>
                </a:tc>
                <a:tc>
                  <a:txBody>
                    <a:bodyPr wrap="none"/>
                    <a:lstStyle/>
                    <a:p>
                      <a:pPr algn="l"/>
                      <a:r>
                        <a:rPr sz="900" b="0">
                          <a:solidFill>
                            <a:srgbClr val="2E2E2E"/>
                          </a:solidFill>
                          <a:latin typeface="Calibri"/>
                        </a:rPr>
                        <a:t>+1,524 BPS</a:t>
                      </a:r>
                    </a:p>
                  </a:txBody>
                  <a:tcPr marL="85725" marR="38100" marT="19050" marB="19050" anchor="ctr">
                    <a:solidFill>
                      <a:srgbClr val="F5F8FA"/>
                    </a:solidFill>
                  </a:tcPr>
                </a:tc>
                <a:tc>
                  <a:txBody>
                    <a:bodyPr wrap="none"/>
                    <a:lstStyle/>
                    <a:p>
                      <a:pPr algn="l"/>
                      <a:r>
                        <a:rPr sz="900" b="0">
                          <a:solidFill>
                            <a:srgbClr val="2E2E2E"/>
                          </a:solidFill>
                          <a:latin typeface="Calibri"/>
                        </a:rPr>
                        <a:t>Highest margins (value-add + scale)</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
                      </a:r>
                    </a:p>
                  </a:txBody>
                  <a:tcPr marL="85725" marR="38100" marT="19050" marB="19050" anchor="ctr">
                    <a:solidFill>
                      <a:srgbClr val="FFFFFF"/>
                    </a:solidFill>
                  </a:tcPr>
                </a:tc>
                <a:tc>
                  <a:txBody>
                    <a:bodyPr wrap="none"/>
                    <a:lstStyle/>
                    <a:p>
                      <a:pPr algn="l"/>
                      <a:r>
                        <a:rPr sz="900" b="0">
                          <a:solidFill>
                            <a:srgbClr val="2E2E2E"/>
                          </a:solidFill>
                          <a:latin typeface="Calibri"/>
                        </a:rPr>
                        <a:t>Distributors</a:t>
                      </a:r>
                    </a:p>
                  </a:txBody>
                  <a:tcPr marL="85725" marR="38100" marT="19050" marB="19050" anchor="ctr">
                    <a:solidFill>
                      <a:srgbClr val="FFFFFF"/>
                    </a:solidFill>
                  </a:tcPr>
                </a:tc>
                <a:tc>
                  <a:txBody>
                    <a:bodyPr wrap="none"/>
                    <a:lstStyle/>
                    <a:p>
                      <a:pPr algn="l"/>
                      <a:r>
                        <a:rPr sz="900" b="0">
                          <a:solidFill>
                            <a:srgbClr val="2E2E2E"/>
                          </a:solidFill>
                          <a:latin typeface="Calibri"/>
                        </a:rPr>
                        <a:t>6.8%</a:t>
                      </a:r>
                    </a:p>
                  </a:txBody>
                  <a:tcPr marL="85725" marR="38100" marT="19050" marB="19050" anchor="ctr">
                    <a:solidFill>
                      <a:srgbClr val="FFFFFF"/>
                    </a:solidFill>
                  </a:tcPr>
                </a:tc>
                <a:tc>
                  <a:txBody>
                    <a:bodyPr wrap="none"/>
                    <a:lstStyle/>
                    <a:p>
                      <a:pPr algn="l"/>
                      <a:r>
                        <a:rPr sz="900" b="0">
                          <a:solidFill>
                            <a:srgbClr val="2E2E2E"/>
                          </a:solidFill>
                          <a:latin typeface="Calibri"/>
                        </a:rPr>
                        <a:t>+274 BPS</a:t>
                      </a:r>
                    </a:p>
                  </a:txBody>
                  <a:tcPr marL="85725" marR="38100" marT="19050" marB="19050" anchor="ctr">
                    <a:solidFill>
                      <a:srgbClr val="FFFFFF"/>
                    </a:solidFill>
                  </a:tcPr>
                </a:tc>
                <a:tc>
                  <a:txBody>
                    <a:bodyPr wrap="none"/>
                    <a:lstStyle/>
                    <a:p>
                      <a:pPr algn="l"/>
                      <a:r>
                        <a:rPr sz="900" b="0">
                          <a:solidFill>
                            <a:srgbClr val="2E2E2E"/>
                          </a:solidFill>
                          <a:latin typeface="Calibri"/>
                        </a:rPr>
                        <a:t>Volume-led, thin</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
                      </a:r>
                    </a:p>
                  </a:txBody>
                  <a:tcPr marL="85725" marR="38100" marT="19050" marB="19050" anchor="ctr">
                    <a:solidFill>
                      <a:srgbClr val="F5F8FA"/>
                    </a:solidFill>
                  </a:tcPr>
                </a:tc>
                <a:tc>
                  <a:txBody>
                    <a:bodyPr wrap="none"/>
                    <a:lstStyle/>
                    <a:p>
                      <a:pPr algn="l"/>
                      <a:r>
                        <a:rPr sz="900" b="0">
                          <a:solidFill>
                            <a:srgbClr val="2E2E2E"/>
                          </a:solidFill>
                          <a:latin typeface="Calibri"/>
                        </a:rPr>
                        <a:t>Retailers</a:t>
                      </a:r>
                    </a:p>
                  </a:txBody>
                  <a:tcPr marL="85725" marR="38100" marT="19050" marB="19050" anchor="ctr">
                    <a:solidFill>
                      <a:srgbClr val="F5F8FA"/>
                    </a:solidFill>
                  </a:tcPr>
                </a:tc>
                <a:tc>
                  <a:txBody>
                    <a:bodyPr wrap="none"/>
                    <a:lstStyle/>
                    <a:p>
                      <a:pPr algn="l"/>
                      <a:r>
                        <a:rPr sz="900" b="0">
                          <a:solidFill>
                            <a:srgbClr val="2E2E2E"/>
                          </a:solidFill>
                          <a:latin typeface="Calibri"/>
                        </a:rPr>
                        <a:t>10.0%</a:t>
                      </a:r>
                    </a:p>
                  </a:txBody>
                  <a:tcPr marL="85725" marR="38100" marT="19050" marB="19050" anchor="ctr">
                    <a:solidFill>
                      <a:srgbClr val="F5F8FA"/>
                    </a:solidFill>
                  </a:tcPr>
                </a:tc>
                <a:tc>
                  <a:txBody>
                    <a:bodyPr wrap="none"/>
                    <a:lstStyle/>
                    <a:p>
                      <a:pPr algn="l"/>
                      <a:r>
                        <a:rPr sz="900" b="0">
                          <a:solidFill>
                            <a:srgbClr val="2E2E2E"/>
                          </a:solidFill>
                          <a:latin typeface="Calibri"/>
                        </a:rPr>
                        <a:t>+537 BPS</a:t>
                      </a:r>
                    </a:p>
                  </a:txBody>
                  <a:tcPr marL="85725" marR="38100" marT="19050" marB="19050" anchor="ctr">
                    <a:solidFill>
                      <a:srgbClr val="F5F8FA"/>
                    </a:solidFill>
                  </a:tcPr>
                </a:tc>
                <a:tc>
                  <a:txBody>
                    <a:bodyPr wrap="none"/>
                    <a:lstStyle/>
                    <a:p>
                      <a:pPr algn="l"/>
                      <a:r>
                        <a:rPr sz="900" b="0">
                          <a:solidFill>
                            <a:srgbClr val="2E2E2E"/>
                          </a:solidFill>
                          <a:latin typeface="Calibri"/>
                        </a:rPr>
                        <a:t>Channel-dependent PoS margin</a:t>
                      </a:r>
                    </a:p>
                  </a:txBody>
                  <a:tcPr marL="85725" marR="38100" marT="19050" marB="19050" anchor="ctr">
                    <a:solidFill>
                      <a:srgbClr val="F5F8FA"/>
                    </a:solidFill>
                  </a:tcPr>
                </a:tc>
              </a:tr>
            </a:tbl>
          </a:graphicData>
        </a:graphic>
      </p:graphicFrame>
      <p:sp>
        <p:nvSpPr>
          <p:cNvPr id="13" name="TextBox 12"/>
          <p:cNvSpPr txBox="1"/>
          <p:nvPr/>
        </p:nvSpPr>
        <p:spPr>
          <a:xfrm>
            <a:off x="219075" y="47148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4" name="Rounded Rectangle 13"/>
          <p:cNvSpPr/>
          <p:nvPr/>
        </p:nvSpPr>
        <p:spPr>
          <a:xfrm>
            <a:off x="142875" y="4991100"/>
            <a:ext cx="11906250"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076825"/>
            <a:ext cx="11639550" cy="209550"/>
          </a:xfrm>
          <a:prstGeom prst="rect">
            <a:avLst/>
          </a:prstGeom>
          <a:noFill/>
        </p:spPr>
        <p:txBody>
          <a:bodyPr wrap="square" lIns="0" rIns="19050" tIns="9525" bIns="9525">
            <a:spAutoFit/>
          </a:bodyPr>
          <a:lstStyle/>
          <a:p>
            <a:pPr algn="l"/>
            <a:r>
              <a:rPr sz="1300" b="1">
                <a:solidFill>
                  <a:srgbClr val="0B2E4A"/>
                </a:solidFill>
                <a:latin typeface="Calibri"/>
              </a:rPr>
              <a:t>How to Read This</a:t>
            </a:r>
          </a:p>
        </p:txBody>
      </p:sp>
      <p:sp>
        <p:nvSpPr>
          <p:cNvPr id="16" name="Rectangle 15"/>
          <p:cNvSpPr/>
          <p:nvPr/>
        </p:nvSpPr>
        <p:spPr>
          <a:xfrm>
            <a:off x="276225" y="53149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400675"/>
            <a:ext cx="11639550" cy="12477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8" name="Rectangle 1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0" name="Rounded Rectangle 19">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Buyers Assessment</a:t>
            </a:r>
          </a:p>
        </p:txBody>
      </p:sp>
      <p:sp>
        <p:nvSpPr>
          <p:cNvPr id="10" name="Rounded Rectangle 9"/>
          <p:cNvSpPr/>
          <p:nvPr/>
        </p:nvSpPr>
        <p:spPr>
          <a:xfrm>
            <a:off x="142875" y="857250"/>
            <a:ext cx="11906250" cy="4048125"/>
          </a:xfrm>
          <a:prstGeom prst="roundRect">
            <a:avLst>
              <a:gd name="adj" fmla="val 18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Humira Biosimilars Market Buyers / End-User Assessment</a:t>
            </a:r>
          </a:p>
        </p:txBody>
      </p:sp>
      <p:graphicFrame>
        <p:nvGraphicFramePr>
          <p:cNvPr id="12" name="Table 11"/>
          <p:cNvGraphicFramePr>
            <a:graphicFrameLocks noGrp="1"/>
          </p:cNvGraphicFramePr>
          <p:nvPr/>
        </p:nvGraphicFramePr>
        <p:xfrm>
          <a:off x="238125" y="1143000"/>
          <a:ext cx="11715754" cy="1990725"/>
        </p:xfrm>
        <a:graphic>
          <a:graphicData uri="http://schemas.openxmlformats.org/drawingml/2006/table">
            <a:tbl>
              <a:tblPr>
                <a:tableStyleId>{5C22544A-7EE6-4342-B048-85BDC9FD1C3A}</a:tableStyleId>
              </a:tblPr>
              <a:tblGrid>
                <a:gridCol w="2863850"/>
                <a:gridCol w="1106488"/>
                <a:gridCol w="1106488"/>
                <a:gridCol w="1106488"/>
                <a:gridCol w="1106488"/>
                <a:gridCol w="1106488"/>
                <a:gridCol w="1106488"/>
                <a:gridCol w="1106488"/>
                <a:gridCol w="1106488"/>
              </a:tblGrid>
              <a:tr h="180975">
                <a:tc>
                  <a:txBody>
                    <a:bodyPr wrap="none"/>
                    <a:lstStyle/>
                    <a:p>
                      <a:pPr algn="l"/>
                      <a:r>
                        <a:rPr sz="900" b="1">
                          <a:solidFill>
                            <a:srgbClr val="0B2E4A"/>
                          </a:solidFill>
                          <a:latin typeface="Calibri"/>
                        </a:rPr>
                        <a:t>Company</a:t>
                      </a:r>
                    </a:p>
                  </a:txBody>
                  <a:tcPr marL="85725" marR="38100" marT="19050" marB="19050" anchor="ctr">
                    <a:solidFill>
                      <a:srgbClr val="E0E8EF"/>
                    </a:solidFill>
                  </a:tcPr>
                </a:tc>
                <a:tc>
                  <a:txBody>
                    <a:bodyPr wrap="none"/>
                    <a:lstStyle/>
                    <a:p>
                      <a:pPr algn="l"/>
                      <a:r>
                        <a:rPr sz="900" b="1">
                          <a:solidFill>
                            <a:srgbClr val="0B2E4A"/>
                          </a:solidFill>
                          <a:latin typeface="Calibri"/>
                        </a:rPr>
                        <a:t>Country</a:t>
                      </a:r>
                    </a:p>
                  </a:txBody>
                  <a:tcPr marL="85725" marR="38100" marT="19050" marB="19050" anchor="ctr">
                    <a:solidFill>
                      <a:srgbClr val="E0E8EF"/>
                    </a:solidFill>
                  </a:tcPr>
                </a:tc>
                <a:tc>
                  <a:txBody>
                    <a:bodyPr wrap="none"/>
                    <a:lstStyle/>
                    <a:p>
                      <a:pPr algn="l"/>
                      <a:r>
                        <a:rPr sz="900" b="1">
                          <a:solidFill>
                            <a:srgbClr val="0B2E4A"/>
                          </a:solidFill>
                          <a:latin typeface="Calibri"/>
                        </a:rPr>
                        <a:t>Region</a:t>
                      </a:r>
                    </a:p>
                  </a:txBody>
                  <a:tcPr marL="85725" marR="38100" marT="19050" marB="19050" anchor="ctr">
                    <a:solidFill>
                      <a:srgbClr val="E0E8EF"/>
                    </a:solidFill>
                  </a:tcPr>
                </a:tc>
                <a:tc>
                  <a:txBody>
                    <a:bodyPr wrap="none"/>
                    <a:lstStyle/>
                    <a:p>
                      <a:pPr algn="l"/>
                      <a:r>
                        <a:rPr sz="900" b="1">
                          <a:solidFill>
                            <a:srgbClr val="0B2E4A"/>
                          </a:solidFill>
                          <a:latin typeface="Calibri"/>
                        </a:rPr>
                        <a:t>Buyer Category</a:t>
                      </a:r>
                    </a:p>
                  </a:txBody>
                  <a:tcPr marL="85725" marR="38100" marT="19050" marB="19050" anchor="ctr">
                    <a:solidFill>
                      <a:srgbClr val="E0E8EF"/>
                    </a:solidFill>
                  </a:tcPr>
                </a:tc>
                <a:tc>
                  <a:txBody>
                    <a:bodyPr wrap="none"/>
                    <a:lstStyle/>
                    <a:p>
                      <a:pPr algn="l"/>
                      <a:r>
                        <a:rPr sz="900" b="1">
                          <a:solidFill>
                            <a:srgbClr val="0B2E4A"/>
                          </a:solidFill>
                          <a:latin typeface="Calibri"/>
                        </a:rPr>
                        <a:t>Buyer / End-User Type</a:t>
                      </a:r>
                    </a:p>
                  </a:txBody>
                  <a:tcPr marL="85725" marR="38100" marT="19050" marB="19050" anchor="ctr">
                    <a:solidFill>
                      <a:srgbClr val="E0E8EF"/>
                    </a:solidFill>
                  </a:tcPr>
                </a:tc>
                <a:tc>
                  <a:txBody>
                    <a:bodyPr wrap="none"/>
                    <a:lstStyle/>
                    <a:p>
                      <a:pPr algn="l"/>
                      <a:r>
                        <a:rPr sz="900" b="1">
                          <a:solidFill>
                            <a:srgbClr val="0B2E4A"/>
                          </a:solidFill>
                          <a:latin typeface="Calibri"/>
                        </a:rPr>
                        <a:t>Procurement Vol.</a:t>
                      </a:r>
                    </a:p>
                  </a:txBody>
                  <a:tcPr marL="85725" marR="38100" marT="19050" marB="19050" anchor="ctr">
                    <a:solidFill>
                      <a:srgbClr val="E0E8EF"/>
                    </a:solidFill>
                  </a:tcPr>
                </a:tc>
                <a:tc>
                  <a:txBody>
                    <a:bodyPr wrap="none"/>
                    <a:lstStyle/>
                    <a:p>
                      <a:pPr algn="l"/>
                      <a:r>
                        <a:rPr sz="900" b="1">
                          <a:solidFill>
                            <a:srgbClr val="0B2E4A"/>
                          </a:solidFill>
                          <a:latin typeface="Calibri"/>
                        </a:rPr>
                        <a:t>Avg Price (US$/unit)</a:t>
                      </a:r>
                    </a:p>
                  </a:txBody>
                  <a:tcPr marL="85725" marR="38100" marT="19050" marB="19050" anchor="ctr">
                    <a:solidFill>
                      <a:srgbClr val="E0E8EF"/>
                    </a:solidFill>
                  </a:tcPr>
                </a:tc>
                <a:tc>
                  <a:txBody>
                    <a:bodyPr wrap="none"/>
                    <a:lstStyle/>
                    <a:p>
                      <a:pPr algn="l"/>
                      <a:r>
                        <a:rPr sz="900" b="1">
                          <a:solidFill>
                            <a:srgbClr val="0B2E4A"/>
                          </a:solidFill>
                          <a:latin typeface="Calibri"/>
                        </a:rPr>
                        <a:t>Revenue (US$ Mn)</a:t>
                      </a:r>
                    </a:p>
                  </a:txBody>
                  <a:tcPr marL="85725" marR="38100" marT="19050" marB="19050" anchor="ctr">
                    <a:solidFill>
                      <a:srgbClr val="E0E8EF"/>
                    </a:solidFill>
                  </a:tcPr>
                </a:tc>
                <a:tc>
                  <a:txBody>
                    <a:bodyPr wrap="none"/>
                    <a:lstStyle/>
                    <a:p>
                      <a:pPr algn="l"/>
                      <a:r>
                        <a:rPr sz="900" b="1">
                          <a:solidFill>
                            <a:srgbClr val="0B2E4A"/>
                          </a:solidFill>
                          <a:latin typeface="Calibri"/>
                        </a:rPr>
                        <a:t>Key Selection Factor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Company 1</a:t>
                      </a:r>
                    </a:p>
                  </a:txBody>
                  <a:tcPr marL="85725" marR="38100" marT="19050" marB="19050" anchor="ctr">
                    <a:solidFill>
                      <a:srgbClr val="FFFFFF"/>
                    </a:solidFill>
                  </a:tcPr>
                </a:tc>
                <a:tc>
                  <a:txBody>
                    <a:bodyPr wrap="none"/>
                    <a:lstStyle/>
                    <a:p>
                      <a:pPr algn="l"/>
                      <a:r>
                        <a:rPr sz="900" b="0">
                          <a:solidFill>
                            <a:srgbClr val="2E2E2E"/>
                          </a:solidFill>
                          <a:latin typeface="Calibri"/>
                        </a:rPr>
                        <a:t>U.S.</a:t>
                      </a:r>
                    </a:p>
                  </a:txBody>
                  <a:tcPr marL="85725" marR="38100" marT="19050" marB="19050" anchor="ctr">
                    <a:solidFill>
                      <a:srgbClr val="FFFFFF"/>
                    </a:solidFill>
                  </a:tcPr>
                </a:tc>
                <a:tc>
                  <a:txBody>
                    <a:bodyPr wrap="none"/>
                    <a:lstStyle/>
                    <a:p>
                      <a:pPr algn="l"/>
                      <a:r>
                        <a:rPr sz="900" b="0">
                          <a:solidFill>
                            <a:srgbClr val="2E2E2E"/>
                          </a:solidFill>
                          <a:latin typeface="Calibri"/>
                        </a:rPr>
                        <a:t>North America</a:t>
                      </a:r>
                    </a:p>
                  </a:txBody>
                  <a:tcPr marL="85725" marR="38100" marT="19050" marB="19050" anchor="ctr">
                    <a:solidFill>
                      <a:srgbClr val="FFFFFF"/>
                    </a:solidFill>
                  </a:tcPr>
                </a:tc>
                <a:tc>
                  <a:txBody>
                    <a:bodyPr wrap="none"/>
                    <a:lstStyle/>
                    <a:p>
                      <a:pPr algn="l"/>
                      <a:r>
                        <a:rPr sz="900" b="0">
                          <a:solidFill>
                            <a:srgbClr val="2E2E2E"/>
                          </a:solidFill>
                          <a:latin typeface="Calibri"/>
                        </a:rPr>
                        <a:t>Manufacturer</a:t>
                      </a:r>
                    </a:p>
                  </a:txBody>
                  <a:tcPr marL="85725" marR="38100" marT="19050" marB="19050" anchor="ctr">
                    <a:solidFill>
                      <a:srgbClr val="FFFFFF"/>
                    </a:solidFill>
                  </a:tcPr>
                </a:tc>
                <a:tc>
                  <a:txBody>
                    <a:bodyPr wrap="none"/>
                    <a:lstStyle/>
                    <a:p>
                      <a:pPr algn="l"/>
                      <a:r>
                        <a:rPr sz="900" b="0">
                          <a:solidFill>
                            <a:srgbClr val="2E2E2E"/>
                          </a:solidFill>
                          <a:latin typeface="Calibri"/>
                        </a:rPr>
                        <a:t>B2B / Industrial</a:t>
                      </a:r>
                    </a:p>
                  </a:txBody>
                  <a:tcPr marL="85725" marR="38100" marT="19050" marB="19050" anchor="ctr">
                    <a:solidFill>
                      <a:srgbClr val="FFFFFF"/>
                    </a:solidFill>
                  </a:tcPr>
                </a:tc>
                <a:tc>
                  <a:txBody>
                    <a:bodyPr wrap="none"/>
                    <a:lstStyle/>
                    <a:p>
                      <a:pPr algn="l"/>
                      <a:r>
                        <a:rPr sz="900" b="0">
                          <a:solidFill>
                            <a:srgbClr val="2E2E2E"/>
                          </a:solidFill>
                          <a:latin typeface="Calibri"/>
                        </a:rPr>
                        <a:t>1 Mn Doses</a:t>
                      </a:r>
                    </a:p>
                  </a:txBody>
                  <a:tcPr marL="85725" marR="38100" marT="19050" marB="19050" anchor="ctr">
                    <a:solidFill>
                      <a:srgbClr val="FFFFFF"/>
                    </a:solidFill>
                  </a:tcPr>
                </a:tc>
                <a:tc>
                  <a:txBody>
                    <a:bodyPr wrap="none"/>
                    <a:lstStyle/>
                    <a:p>
                      <a:pPr algn="l"/>
                      <a:r>
                        <a:rPr sz="900" b="0">
                          <a:solidFill>
                            <a:srgbClr val="2E2E2E"/>
                          </a:solidFill>
                          <a:latin typeface="Calibri"/>
                        </a:rPr>
                        <a:t>244</a:t>
                      </a:r>
                    </a:p>
                  </a:txBody>
                  <a:tcPr marL="85725" marR="38100" marT="19050" marB="19050" anchor="ctr">
                    <a:solidFill>
                      <a:srgbClr val="FFFFFF"/>
                    </a:solidFill>
                  </a:tcPr>
                </a:tc>
                <a:tc>
                  <a:txBody>
                    <a:bodyPr wrap="none"/>
                    <a:lstStyle/>
                    <a:p>
                      <a:pPr algn="l"/>
                      <a:r>
                        <a:rPr sz="900" b="0">
                          <a:solidFill>
                            <a:srgbClr val="2E2E2E"/>
                          </a:solidFill>
                          <a:latin typeface="Calibri"/>
                        </a:rPr>
                        <a:t>256</a:t>
                      </a:r>
                    </a:p>
                  </a:txBody>
                  <a:tcPr marL="85725" marR="38100" marT="19050" marB="19050" anchor="ctr">
                    <a:solidFill>
                      <a:srgbClr val="FFFFFF"/>
                    </a:solidFill>
                  </a:tcPr>
                </a:tc>
                <a:tc>
                  <a:txBody>
                    <a:bodyPr wrap="none"/>
                    <a:lstStyle/>
                    <a:p>
                      <a:pPr algn="l"/>
                      <a:r>
                        <a:rPr sz="900" b="0">
                          <a:solidFill>
                            <a:srgbClr val="2E2E2E"/>
                          </a:solidFill>
                          <a:latin typeface="Calibri"/>
                        </a:rPr>
                        <a:t>Price &amp; reliability</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Company 2</a:t>
                      </a:r>
                    </a:p>
                  </a:txBody>
                  <a:tcPr marL="85725" marR="38100" marT="19050" marB="19050" anchor="ctr">
                    <a:solidFill>
                      <a:srgbClr val="F5F8FA"/>
                    </a:solidFill>
                  </a:tcPr>
                </a:tc>
                <a:tc>
                  <a:txBody>
                    <a:bodyPr wrap="none"/>
                    <a:lstStyle/>
                    <a:p>
                      <a:pPr algn="l"/>
                      <a:r>
                        <a:rPr sz="900" b="0">
                          <a:solidFill>
                            <a:srgbClr val="2E2E2E"/>
                          </a:solidFill>
                          <a:latin typeface="Calibri"/>
                        </a:rPr>
                        <a:t>Canada</a:t>
                      </a:r>
                    </a:p>
                  </a:txBody>
                  <a:tcPr marL="85725" marR="38100" marT="19050" marB="19050" anchor="ctr">
                    <a:solidFill>
                      <a:srgbClr val="F5F8FA"/>
                    </a:solidFill>
                  </a:tcPr>
                </a:tc>
                <a:tc>
                  <a:txBody>
                    <a:bodyPr wrap="none"/>
                    <a:lstStyle/>
                    <a:p>
                      <a:pPr algn="l"/>
                      <a:r>
                        <a:rPr sz="900" b="0">
                          <a:solidFill>
                            <a:srgbClr val="2E2E2E"/>
                          </a:solidFill>
                          <a:latin typeface="Calibri"/>
                        </a:rPr>
                        <a:t>North America</a:t>
                      </a:r>
                    </a:p>
                  </a:txBody>
                  <a:tcPr marL="85725" marR="38100" marT="19050" marB="19050" anchor="ctr">
                    <a:solidFill>
                      <a:srgbClr val="F5F8FA"/>
                    </a:solidFill>
                  </a:tcPr>
                </a:tc>
                <a:tc>
                  <a:txBody>
                    <a:bodyPr wrap="none"/>
                    <a:lstStyle/>
                    <a:p>
                      <a:pPr algn="l"/>
                      <a:r>
                        <a:rPr sz="900" b="0">
                          <a:solidFill>
                            <a:srgbClr val="2E2E2E"/>
                          </a:solidFill>
                          <a:latin typeface="Calibri"/>
                        </a:rPr>
                        <a:t>Distributor</a:t>
                      </a:r>
                    </a:p>
                  </a:txBody>
                  <a:tcPr marL="85725" marR="38100" marT="19050" marB="19050" anchor="ctr">
                    <a:solidFill>
                      <a:srgbClr val="F5F8FA"/>
                    </a:solidFill>
                  </a:tcPr>
                </a:tc>
                <a:tc>
                  <a:txBody>
                    <a:bodyPr wrap="none"/>
                    <a:lstStyle/>
                    <a:p>
                      <a:pPr algn="l"/>
                      <a:r>
                        <a:rPr sz="900" b="0">
                          <a:solidFill>
                            <a:srgbClr val="2E2E2E"/>
                          </a:solidFill>
                          <a:latin typeface="Calibri"/>
                        </a:rPr>
                        <a:t>B2B / Institutional</a:t>
                      </a:r>
                    </a:p>
                  </a:txBody>
                  <a:tcPr marL="85725" marR="38100" marT="19050" marB="19050" anchor="ctr">
                    <a:solidFill>
                      <a:srgbClr val="F5F8FA"/>
                    </a:solidFill>
                  </a:tcPr>
                </a:tc>
                <a:tc>
                  <a:txBody>
                    <a:bodyPr wrap="none"/>
                    <a:lstStyle/>
                    <a:p>
                      <a:pPr algn="l"/>
                      <a:r>
                        <a:rPr sz="900" b="0">
                          <a:solidFill>
                            <a:srgbClr val="2E2E2E"/>
                          </a:solidFill>
                          <a:latin typeface="Calibri"/>
                        </a:rPr>
                        <a:t>1 Mn Doses</a:t>
                      </a:r>
                    </a:p>
                  </a:txBody>
                  <a:tcPr marL="85725" marR="38100" marT="19050" marB="19050" anchor="ctr">
                    <a:solidFill>
                      <a:srgbClr val="F5F8FA"/>
                    </a:solidFill>
                  </a:tcPr>
                </a:tc>
                <a:tc>
                  <a:txBody>
                    <a:bodyPr wrap="none"/>
                    <a:lstStyle/>
                    <a:p>
                      <a:pPr algn="l"/>
                      <a:r>
                        <a:rPr sz="900" b="0">
                          <a:solidFill>
                            <a:srgbClr val="2E2E2E"/>
                          </a:solidFill>
                          <a:latin typeface="Calibri"/>
                        </a:rPr>
                        <a:t>253</a:t>
                      </a:r>
                    </a:p>
                  </a:txBody>
                  <a:tcPr marL="85725" marR="38100" marT="19050" marB="19050" anchor="ctr">
                    <a:solidFill>
                      <a:srgbClr val="F5F8FA"/>
                    </a:solidFill>
                  </a:tcPr>
                </a:tc>
                <a:tc>
                  <a:txBody>
                    <a:bodyPr wrap="none"/>
                    <a:lstStyle/>
                    <a:p>
                      <a:pPr algn="l"/>
                      <a:r>
                        <a:rPr sz="900" b="0">
                          <a:solidFill>
                            <a:srgbClr val="2E2E2E"/>
                          </a:solidFill>
                          <a:latin typeface="Calibri"/>
                        </a:rPr>
                        <a:t>239</a:t>
                      </a:r>
                    </a:p>
                  </a:txBody>
                  <a:tcPr marL="85725" marR="38100" marT="19050" marB="19050" anchor="ctr">
                    <a:solidFill>
                      <a:srgbClr val="F5F8FA"/>
                    </a:solidFill>
                  </a:tcPr>
                </a:tc>
                <a:tc>
                  <a:txBody>
                    <a:bodyPr wrap="none"/>
                    <a:lstStyle/>
                    <a:p>
                      <a:pPr algn="l"/>
                      <a:r>
                        <a:rPr sz="900" b="0">
                          <a:solidFill>
                            <a:srgbClr val="2E2E2E"/>
                          </a:solidFill>
                          <a:latin typeface="Calibri"/>
                        </a:rPr>
                        <a:t>Quality &amp; compliance</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Company 3</a:t>
                      </a:r>
                    </a:p>
                  </a:txBody>
                  <a:tcPr marL="85725" marR="38100" marT="19050" marB="19050" anchor="ctr">
                    <a:solidFill>
                      <a:srgbClr val="FFFFFF"/>
                    </a:solidFill>
                  </a:tcPr>
                </a:tc>
                <a:tc>
                  <a:txBody>
                    <a:bodyPr wrap="none"/>
                    <a:lstStyle/>
                    <a:p>
                      <a:pPr algn="l"/>
                      <a:r>
                        <a:rPr sz="900" b="0">
                          <a:solidFill>
                            <a:srgbClr val="2E2E2E"/>
                          </a:solidFill>
                          <a:latin typeface="Calibri"/>
                        </a:rPr>
                        <a:t>Brazil</a:t>
                      </a:r>
                    </a:p>
                  </a:txBody>
                  <a:tcPr marL="85725" marR="38100" marT="19050" marB="19050" anchor="ctr">
                    <a:solidFill>
                      <a:srgbClr val="FFFFFF"/>
                    </a:solidFill>
                  </a:tcPr>
                </a:tc>
                <a:tc>
                  <a:txBody>
                    <a:bodyPr wrap="none"/>
                    <a:lstStyle/>
                    <a:p>
                      <a:pPr algn="l"/>
                      <a:r>
                        <a:rPr sz="900" b="0">
                          <a:solidFill>
                            <a:srgbClr val="2E2E2E"/>
                          </a:solidFill>
                          <a:latin typeface="Calibri"/>
                        </a:rPr>
                        <a:t>Latin America</a:t>
                      </a:r>
                    </a:p>
                  </a:txBody>
                  <a:tcPr marL="85725" marR="38100" marT="19050" marB="19050" anchor="ctr">
                    <a:solidFill>
                      <a:srgbClr val="FFFFFF"/>
                    </a:solidFill>
                  </a:tcPr>
                </a:tc>
                <a:tc>
                  <a:txBody>
                    <a:bodyPr wrap="none"/>
                    <a:lstStyle/>
                    <a:p>
                      <a:pPr algn="l"/>
                      <a:r>
                        <a:rPr sz="900" b="0">
                          <a:solidFill>
                            <a:srgbClr val="2E2E2E"/>
                          </a:solidFill>
                          <a:latin typeface="Calibri"/>
                        </a:rPr>
                        <a:t>Retailer</a:t>
                      </a:r>
                    </a:p>
                  </a:txBody>
                  <a:tcPr marL="85725" marR="38100" marT="19050" marB="19050" anchor="ctr">
                    <a:solidFill>
                      <a:srgbClr val="FFFFFF"/>
                    </a:solidFill>
                  </a:tcPr>
                </a:tc>
                <a:tc>
                  <a:txBody>
                    <a:bodyPr wrap="none"/>
                    <a:lstStyle/>
                    <a:p>
                      <a:pPr algn="l"/>
                      <a:r>
                        <a:rPr sz="900" b="0">
                          <a:solidFill>
                            <a:srgbClr val="2E2E2E"/>
                          </a:solidFill>
                          <a:latin typeface="Calibri"/>
                        </a:rPr>
                        <a:t>B2C / Retail</a:t>
                      </a:r>
                    </a:p>
                  </a:txBody>
                  <a:tcPr marL="85725" marR="38100" marT="19050" marB="19050" anchor="ctr">
                    <a:solidFill>
                      <a:srgbClr val="FFFFFF"/>
                    </a:solidFill>
                  </a:tcPr>
                </a:tc>
                <a:tc>
                  <a:txBody>
                    <a:bodyPr wrap="none"/>
                    <a:lstStyle/>
                    <a:p>
                      <a:pPr algn="l"/>
                      <a:r>
                        <a:rPr sz="900" b="0">
                          <a:solidFill>
                            <a:srgbClr val="2E2E2E"/>
                          </a:solidFill>
                          <a:latin typeface="Calibri"/>
                        </a:rPr>
                        <a:t>1 Mn Doses</a:t>
                      </a:r>
                    </a:p>
                  </a:txBody>
                  <a:tcPr marL="85725" marR="38100" marT="19050" marB="19050" anchor="ctr">
                    <a:solidFill>
                      <a:srgbClr val="FFFFFF"/>
                    </a:solidFill>
                  </a:tcPr>
                </a:tc>
                <a:tc>
                  <a:txBody>
                    <a:bodyPr wrap="none"/>
                    <a:lstStyle/>
                    <a:p>
                      <a:pPr algn="l"/>
                      <a:r>
                        <a:rPr sz="900" b="0">
                          <a:solidFill>
                            <a:srgbClr val="2E2E2E"/>
                          </a:solidFill>
                          <a:latin typeface="Calibri"/>
                        </a:rPr>
                        <a:t>262</a:t>
                      </a:r>
                    </a:p>
                  </a:txBody>
                  <a:tcPr marL="85725" marR="38100" marT="19050" marB="19050" anchor="ctr">
                    <a:solidFill>
                      <a:srgbClr val="FFFFFF"/>
                    </a:solidFill>
                  </a:tcPr>
                </a:tc>
                <a:tc>
                  <a:txBody>
                    <a:bodyPr wrap="none"/>
                    <a:lstStyle/>
                    <a:p>
                      <a:pPr algn="l"/>
                      <a:r>
                        <a:rPr sz="900" b="0">
                          <a:solidFill>
                            <a:srgbClr val="2E2E2E"/>
                          </a:solidFill>
                          <a:latin typeface="Calibri"/>
                        </a:rPr>
                        <a:t>220</a:t>
                      </a:r>
                    </a:p>
                  </a:txBody>
                  <a:tcPr marL="85725" marR="38100" marT="19050" marB="19050" anchor="ctr">
                    <a:solidFill>
                      <a:srgbClr val="FFFFFF"/>
                    </a:solidFill>
                  </a:tcPr>
                </a:tc>
                <a:tc>
                  <a:txBody>
                    <a:bodyPr wrap="none"/>
                    <a:lstStyle/>
                    <a:p>
                      <a:pPr algn="l"/>
                      <a:r>
                        <a:rPr sz="900" b="0">
                          <a:solidFill>
                            <a:srgbClr val="2E2E2E"/>
                          </a:solidFill>
                          <a:latin typeface="Calibri"/>
                        </a:rPr>
                        <a:t>Lead time &amp; service</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Company 4</a:t>
                      </a:r>
                    </a:p>
                  </a:txBody>
                  <a:tcPr marL="85725" marR="38100" marT="19050" marB="19050" anchor="ctr">
                    <a:solidFill>
                      <a:srgbClr val="F5F8FA"/>
                    </a:solidFill>
                  </a:tcPr>
                </a:tc>
                <a:tc>
                  <a:txBody>
                    <a:bodyPr wrap="none"/>
                    <a:lstStyle/>
                    <a:p>
                      <a:pPr algn="l"/>
                      <a:r>
                        <a:rPr sz="900" b="0">
                          <a:solidFill>
                            <a:srgbClr val="2E2E2E"/>
                          </a:solidFill>
                          <a:latin typeface="Calibri"/>
                        </a:rPr>
                        <a:t>Mexico</a:t>
                      </a:r>
                    </a:p>
                  </a:txBody>
                  <a:tcPr marL="85725" marR="38100" marT="19050" marB="19050" anchor="ctr">
                    <a:solidFill>
                      <a:srgbClr val="F5F8FA"/>
                    </a:solidFill>
                  </a:tcPr>
                </a:tc>
                <a:tc>
                  <a:txBody>
                    <a:bodyPr wrap="none"/>
                    <a:lstStyle/>
                    <a:p>
                      <a:pPr algn="l"/>
                      <a:r>
                        <a:rPr sz="900" b="0">
                          <a:solidFill>
                            <a:srgbClr val="2E2E2E"/>
                          </a:solidFill>
                          <a:latin typeface="Calibri"/>
                        </a:rPr>
                        <a:t>Latin America</a:t>
                      </a:r>
                    </a:p>
                  </a:txBody>
                  <a:tcPr marL="85725" marR="38100" marT="19050" marB="19050" anchor="ctr">
                    <a:solidFill>
                      <a:srgbClr val="F5F8FA"/>
                    </a:solidFill>
                  </a:tcPr>
                </a:tc>
                <a:tc>
                  <a:txBody>
                    <a:bodyPr wrap="none"/>
                    <a:lstStyle/>
                    <a:p>
                      <a:pPr algn="l"/>
                      <a:r>
                        <a:rPr sz="900" b="0">
                          <a:solidFill>
                            <a:srgbClr val="2E2E2E"/>
                          </a:solidFill>
                          <a:latin typeface="Calibri"/>
                        </a:rPr>
                        <a:t>Others</a:t>
                      </a:r>
                    </a:p>
                  </a:txBody>
                  <a:tcPr marL="85725" marR="38100" marT="19050" marB="19050" anchor="ctr">
                    <a:solidFill>
                      <a:srgbClr val="F5F8FA"/>
                    </a:solidFill>
                  </a:tcPr>
                </a:tc>
                <a:tc>
                  <a:txBody>
                    <a:bodyPr wrap="none"/>
                    <a:lstStyle/>
                    <a:p>
                      <a:pPr algn="l"/>
                      <a:r>
                        <a:rPr sz="900" b="0">
                          <a:solidFill>
                            <a:srgbClr val="2E2E2E"/>
                          </a:solidFill>
                          <a:latin typeface="Calibri"/>
                        </a:rPr>
                        <a:t>Contract / OEM</a:t>
                      </a:r>
                    </a:p>
                  </a:txBody>
                  <a:tcPr marL="85725" marR="38100" marT="19050" marB="19050" anchor="ctr">
                    <a:solidFill>
                      <a:srgbClr val="F5F8FA"/>
                    </a:solidFill>
                  </a:tcPr>
                </a:tc>
                <a:tc>
                  <a:txBody>
                    <a:bodyPr wrap="none"/>
                    <a:lstStyle/>
                    <a:p>
                      <a:pPr algn="l"/>
                      <a:r>
                        <a:rPr sz="900" b="0">
                          <a:solidFill>
                            <a:srgbClr val="2E2E2E"/>
                          </a:solidFill>
                          <a:latin typeface="Calibri"/>
                        </a:rPr>
                        <a:t>1 Mn Doses</a:t>
                      </a:r>
                    </a:p>
                  </a:txBody>
                  <a:tcPr marL="85725" marR="38100" marT="19050" marB="19050" anchor="ctr">
                    <a:solidFill>
                      <a:srgbClr val="F5F8FA"/>
                    </a:solidFill>
                  </a:tcPr>
                </a:tc>
                <a:tc>
                  <a:txBody>
                    <a:bodyPr wrap="none"/>
                    <a:lstStyle/>
                    <a:p>
                      <a:pPr algn="l"/>
                      <a:r>
                        <a:rPr sz="900" b="0">
                          <a:solidFill>
                            <a:srgbClr val="2E2E2E"/>
                          </a:solidFill>
                          <a:latin typeface="Calibri"/>
                        </a:rPr>
                        <a:t>272</a:t>
                      </a:r>
                    </a:p>
                  </a:txBody>
                  <a:tcPr marL="85725" marR="38100" marT="19050" marB="19050" anchor="ctr">
                    <a:solidFill>
                      <a:srgbClr val="F5F8FA"/>
                    </a:solidFill>
                  </a:tcPr>
                </a:tc>
                <a:tc>
                  <a:txBody>
                    <a:bodyPr wrap="none"/>
                    <a:lstStyle/>
                    <a:p>
                      <a:pPr algn="l"/>
                      <a:r>
                        <a:rPr sz="900" b="0">
                          <a:solidFill>
                            <a:srgbClr val="2E2E2E"/>
                          </a:solidFill>
                          <a:latin typeface="Calibri"/>
                        </a:rPr>
                        <a:t>200</a:t>
                      </a:r>
                    </a:p>
                  </a:txBody>
                  <a:tcPr marL="85725" marR="38100" marT="19050" marB="19050" anchor="ctr">
                    <a:solidFill>
                      <a:srgbClr val="F5F8FA"/>
                    </a:solidFill>
                  </a:tcPr>
                </a:tc>
                <a:tc>
                  <a:txBody>
                    <a:bodyPr wrap="none"/>
                    <a:lstStyle/>
                    <a:p>
                      <a:pPr algn="l"/>
                      <a:r>
                        <a:rPr sz="900" b="0">
                          <a:solidFill>
                            <a:srgbClr val="2E2E2E"/>
                          </a:solidFill>
                          <a:latin typeface="Calibri"/>
                        </a:rPr>
                        <a:t>Capacity &amp; scale</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Company 5</a:t>
                      </a:r>
                    </a:p>
                  </a:txBody>
                  <a:tcPr marL="85725" marR="38100" marT="19050" marB="19050" anchor="ctr">
                    <a:solidFill>
                      <a:srgbClr val="FFFFFF"/>
                    </a:solidFill>
                  </a:tcPr>
                </a:tc>
                <a:tc>
                  <a:txBody>
                    <a:bodyPr wrap="none"/>
                    <a:lstStyle/>
                    <a:p>
                      <a:pPr algn="l"/>
                      <a:r>
                        <a:rPr sz="900" b="0">
                          <a:solidFill>
                            <a:srgbClr val="2E2E2E"/>
                          </a:solidFill>
                          <a:latin typeface="Calibri"/>
                        </a:rPr>
                        <a:t>Colombia</a:t>
                      </a:r>
                    </a:p>
                  </a:txBody>
                  <a:tcPr marL="85725" marR="38100" marT="19050" marB="19050" anchor="ctr">
                    <a:solidFill>
                      <a:srgbClr val="FFFFFF"/>
                    </a:solidFill>
                  </a:tcPr>
                </a:tc>
                <a:tc>
                  <a:txBody>
                    <a:bodyPr wrap="none"/>
                    <a:lstStyle/>
                    <a:p>
                      <a:pPr algn="l"/>
                      <a:r>
                        <a:rPr sz="900" b="0">
                          <a:solidFill>
                            <a:srgbClr val="2E2E2E"/>
                          </a:solidFill>
                          <a:latin typeface="Calibri"/>
                        </a:rPr>
                        <a:t>Latin America</a:t>
                      </a:r>
                    </a:p>
                  </a:txBody>
                  <a:tcPr marL="85725" marR="38100" marT="19050" marB="19050" anchor="ctr">
                    <a:solidFill>
                      <a:srgbClr val="FFFFFF"/>
                    </a:solidFill>
                  </a:tcPr>
                </a:tc>
                <a:tc>
                  <a:txBody>
                    <a:bodyPr wrap="none"/>
                    <a:lstStyle/>
                    <a:p>
                      <a:pPr algn="l"/>
                      <a:r>
                        <a:rPr sz="900" b="0">
                          <a:solidFill>
                            <a:srgbClr val="2E2E2E"/>
                          </a:solidFill>
                          <a:latin typeface="Calibri"/>
                        </a:rPr>
                        <a:t>Manufacturer</a:t>
                      </a:r>
                    </a:p>
                  </a:txBody>
                  <a:tcPr marL="85725" marR="38100" marT="19050" marB="19050" anchor="ctr">
                    <a:solidFill>
                      <a:srgbClr val="FFFFFF"/>
                    </a:solidFill>
                  </a:tcPr>
                </a:tc>
                <a:tc>
                  <a:txBody>
                    <a:bodyPr wrap="none"/>
                    <a:lstStyle/>
                    <a:p>
                      <a:pPr algn="l"/>
                      <a:r>
                        <a:rPr sz="900" b="0">
                          <a:solidFill>
                            <a:srgbClr val="2E2E2E"/>
                          </a:solidFill>
                          <a:latin typeface="Calibri"/>
                        </a:rPr>
                        <a:t>B2B / Industrial</a:t>
                      </a:r>
                    </a:p>
                  </a:txBody>
                  <a:tcPr marL="85725" marR="38100" marT="19050" marB="19050" anchor="ctr">
                    <a:solidFill>
                      <a:srgbClr val="FFFFFF"/>
                    </a:solidFill>
                  </a:tcPr>
                </a:tc>
                <a:tc>
                  <a:txBody>
                    <a:bodyPr wrap="none"/>
                    <a:lstStyle/>
                    <a:p>
                      <a:pPr algn="l"/>
                      <a:r>
                        <a:rPr sz="900" b="0">
                          <a:solidFill>
                            <a:srgbClr val="2E2E2E"/>
                          </a:solidFill>
                          <a:latin typeface="Calibri"/>
                        </a:rPr>
                        <a:t>1 Mn Doses</a:t>
                      </a:r>
                    </a:p>
                  </a:txBody>
                  <a:tcPr marL="85725" marR="38100" marT="19050" marB="19050" anchor="ctr">
                    <a:solidFill>
                      <a:srgbClr val="FFFFFF"/>
                    </a:solidFill>
                  </a:tcPr>
                </a:tc>
                <a:tc>
                  <a:txBody>
                    <a:bodyPr wrap="none"/>
                    <a:lstStyle/>
                    <a:p>
                      <a:pPr algn="l"/>
                      <a:r>
                        <a:rPr sz="900" b="0">
                          <a:solidFill>
                            <a:srgbClr val="2E2E2E"/>
                          </a:solidFill>
                          <a:latin typeface="Calibri"/>
                        </a:rPr>
                        <a:t>281</a:t>
                      </a:r>
                    </a:p>
                  </a:txBody>
                  <a:tcPr marL="85725" marR="38100" marT="19050" marB="19050" anchor="ctr">
                    <a:solidFill>
                      <a:srgbClr val="FFFFFF"/>
                    </a:solidFill>
                  </a:tcPr>
                </a:tc>
                <a:tc>
                  <a:txBody>
                    <a:bodyPr wrap="none"/>
                    <a:lstStyle/>
                    <a:p>
                      <a:pPr algn="l"/>
                      <a:r>
                        <a:rPr sz="900" b="0">
                          <a:solidFill>
                            <a:srgbClr val="2E2E2E"/>
                          </a:solidFill>
                          <a:latin typeface="Calibri"/>
                        </a:rPr>
                        <a:t>177</a:t>
                      </a:r>
                    </a:p>
                  </a:txBody>
                  <a:tcPr marL="85725" marR="38100" marT="19050" marB="19050" anchor="ctr">
                    <a:solidFill>
                      <a:srgbClr val="FFFFFF"/>
                    </a:solidFill>
                  </a:tcPr>
                </a:tc>
                <a:tc>
                  <a:txBody>
                    <a:bodyPr wrap="none"/>
                    <a:lstStyle/>
                    <a:p>
                      <a:pPr algn="l"/>
                      <a:r>
                        <a:rPr sz="900" b="0">
                          <a:solidFill>
                            <a:srgbClr val="2E2E2E"/>
                          </a:solidFill>
                          <a:latin typeface="Calibri"/>
                        </a:rPr>
                        <a:t>Brand &amp; support</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Company 6</a:t>
                      </a:r>
                    </a:p>
                  </a:txBody>
                  <a:tcPr marL="85725" marR="38100" marT="19050" marB="19050" anchor="ctr">
                    <a:solidFill>
                      <a:srgbClr val="F5F8FA"/>
                    </a:solidFill>
                  </a:tcPr>
                </a:tc>
                <a:tc>
                  <a:txBody>
                    <a:bodyPr wrap="none"/>
                    <a:lstStyle/>
                    <a:p>
                      <a:pPr algn="l"/>
                      <a:r>
                        <a:rPr sz="900" b="0">
                          <a:solidFill>
                            <a:srgbClr val="2E2E2E"/>
                          </a:solidFill>
                          <a:latin typeface="Calibri"/>
                        </a:rPr>
                        <a:t>Rest of Latin America</a:t>
                      </a:r>
                    </a:p>
                  </a:txBody>
                  <a:tcPr marL="85725" marR="38100" marT="19050" marB="19050" anchor="ctr">
                    <a:solidFill>
                      <a:srgbClr val="F5F8FA"/>
                    </a:solidFill>
                  </a:tcPr>
                </a:tc>
                <a:tc>
                  <a:txBody>
                    <a:bodyPr wrap="none"/>
                    <a:lstStyle/>
                    <a:p>
                      <a:pPr algn="l"/>
                      <a:r>
                        <a:rPr sz="900" b="0">
                          <a:solidFill>
                            <a:srgbClr val="2E2E2E"/>
                          </a:solidFill>
                          <a:latin typeface="Calibri"/>
                        </a:rPr>
                        <a:t>Latin America</a:t>
                      </a:r>
                    </a:p>
                  </a:txBody>
                  <a:tcPr marL="85725" marR="38100" marT="19050" marB="19050" anchor="ctr">
                    <a:solidFill>
                      <a:srgbClr val="F5F8FA"/>
                    </a:solidFill>
                  </a:tcPr>
                </a:tc>
                <a:tc>
                  <a:txBody>
                    <a:bodyPr wrap="none"/>
                    <a:lstStyle/>
                    <a:p>
                      <a:pPr algn="l"/>
                      <a:r>
                        <a:rPr sz="900" b="0">
                          <a:solidFill>
                            <a:srgbClr val="2E2E2E"/>
                          </a:solidFill>
                          <a:latin typeface="Calibri"/>
                        </a:rPr>
                        <a:t>Distributor</a:t>
                      </a:r>
                    </a:p>
                  </a:txBody>
                  <a:tcPr marL="85725" marR="38100" marT="19050" marB="19050" anchor="ctr">
                    <a:solidFill>
                      <a:srgbClr val="F5F8FA"/>
                    </a:solidFill>
                  </a:tcPr>
                </a:tc>
                <a:tc>
                  <a:txBody>
                    <a:bodyPr wrap="none"/>
                    <a:lstStyle/>
                    <a:p>
                      <a:pPr algn="l"/>
                      <a:r>
                        <a:rPr sz="900" b="0">
                          <a:solidFill>
                            <a:srgbClr val="2E2E2E"/>
                          </a:solidFill>
                          <a:latin typeface="Calibri"/>
                        </a:rPr>
                        <a:t>B2B / Institutional</a:t>
                      </a:r>
                    </a:p>
                  </a:txBody>
                  <a:tcPr marL="85725" marR="38100" marT="19050" marB="19050" anchor="ctr">
                    <a:solidFill>
                      <a:srgbClr val="F5F8FA"/>
                    </a:solidFill>
                  </a:tcPr>
                </a:tc>
                <a:tc>
                  <a:txBody>
                    <a:bodyPr wrap="none"/>
                    <a:lstStyle/>
                    <a:p>
                      <a:pPr algn="l"/>
                      <a:r>
                        <a:rPr sz="900" b="0">
                          <a:solidFill>
                            <a:srgbClr val="2E2E2E"/>
                          </a:solidFill>
                          <a:latin typeface="Calibri"/>
                        </a:rPr>
                        <a:t>1 Mn Doses</a:t>
                      </a:r>
                    </a:p>
                  </a:txBody>
                  <a:tcPr marL="85725" marR="38100" marT="19050" marB="19050" anchor="ctr">
                    <a:solidFill>
                      <a:srgbClr val="F5F8FA"/>
                    </a:solidFill>
                  </a:tcPr>
                </a:tc>
                <a:tc>
                  <a:txBody>
                    <a:bodyPr wrap="none"/>
                    <a:lstStyle/>
                    <a:p>
                      <a:pPr algn="l"/>
                      <a:r>
                        <a:rPr sz="900" b="0">
                          <a:solidFill>
                            <a:srgbClr val="2E2E2E"/>
                          </a:solidFill>
                          <a:latin typeface="Calibri"/>
                        </a:rPr>
                        <a:t>290</a:t>
                      </a:r>
                    </a:p>
                  </a:txBody>
                  <a:tcPr marL="85725" marR="38100" marT="19050" marB="19050" anchor="ctr">
                    <a:solidFill>
                      <a:srgbClr val="F5F8FA"/>
                    </a:solidFill>
                  </a:tcPr>
                </a:tc>
                <a:tc>
                  <a:txBody>
                    <a:bodyPr wrap="none"/>
                    <a:lstStyle/>
                    <a:p>
                      <a:pPr algn="l"/>
                      <a:r>
                        <a:rPr sz="900" b="0">
                          <a:solidFill>
                            <a:srgbClr val="2E2E2E"/>
                          </a:solidFill>
                          <a:latin typeface="Calibri"/>
                        </a:rPr>
                        <a:t>152</a:t>
                      </a:r>
                    </a:p>
                  </a:txBody>
                  <a:tcPr marL="85725" marR="38100" marT="19050" marB="19050" anchor="ctr">
                    <a:solidFill>
                      <a:srgbClr val="F5F8FA"/>
                    </a:solidFill>
                  </a:tcPr>
                </a:tc>
                <a:tc>
                  <a:txBody>
                    <a:bodyPr wrap="none"/>
                    <a:lstStyle/>
                    <a:p>
                      <a:pPr algn="l"/>
                      <a:r>
                        <a:rPr sz="900" b="0">
                          <a:solidFill>
                            <a:srgbClr val="2E2E2E"/>
                          </a:solidFill>
                          <a:latin typeface="Calibri"/>
                        </a:rPr>
                        <a:t>Price &amp; reliability</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Company 7</a:t>
                      </a:r>
                    </a:p>
                  </a:txBody>
                  <a:tcPr marL="85725" marR="38100" marT="19050" marB="19050" anchor="ctr">
                    <a:solidFill>
                      <a:srgbClr val="FFFFFF"/>
                    </a:solidFill>
                  </a:tcPr>
                </a:tc>
                <a:tc>
                  <a:txBody>
                    <a:bodyPr wrap="none"/>
                    <a:lstStyle/>
                    <a:p>
                      <a:pPr algn="l"/>
                      <a:r>
                        <a:rPr sz="900" b="0">
                          <a:solidFill>
                            <a:srgbClr val="2E2E2E"/>
                          </a:solidFill>
                          <a:latin typeface="Calibri"/>
                        </a:rPr>
                        <a:t>Germany</a:t>
                      </a:r>
                    </a:p>
                  </a:txBody>
                  <a:tcPr marL="85725" marR="38100" marT="19050" marB="19050" anchor="ctr">
                    <a:solidFill>
                      <a:srgbClr val="FFFFFF"/>
                    </a:solidFill>
                  </a:tcPr>
                </a:tc>
                <a:tc>
                  <a:txBody>
                    <a:bodyPr wrap="none"/>
                    <a:lstStyle/>
                    <a:p>
                      <a:pPr algn="l"/>
                      <a:r>
                        <a:rPr sz="900" b="0">
                          <a:solidFill>
                            <a:srgbClr val="2E2E2E"/>
                          </a:solidFill>
                          <a:latin typeface="Calibri"/>
                        </a:rPr>
                        <a:t>Europe</a:t>
                      </a:r>
                    </a:p>
                  </a:txBody>
                  <a:tcPr marL="85725" marR="38100" marT="19050" marB="19050" anchor="ctr">
                    <a:solidFill>
                      <a:srgbClr val="FFFFFF"/>
                    </a:solidFill>
                  </a:tcPr>
                </a:tc>
                <a:tc>
                  <a:txBody>
                    <a:bodyPr wrap="none"/>
                    <a:lstStyle/>
                    <a:p>
                      <a:pPr algn="l"/>
                      <a:r>
                        <a:rPr sz="900" b="0">
                          <a:solidFill>
                            <a:srgbClr val="2E2E2E"/>
                          </a:solidFill>
                          <a:latin typeface="Calibri"/>
                        </a:rPr>
                        <a:t>Retailer</a:t>
                      </a:r>
                    </a:p>
                  </a:txBody>
                  <a:tcPr marL="85725" marR="38100" marT="19050" marB="19050" anchor="ctr">
                    <a:solidFill>
                      <a:srgbClr val="FFFFFF"/>
                    </a:solidFill>
                  </a:tcPr>
                </a:tc>
                <a:tc>
                  <a:txBody>
                    <a:bodyPr wrap="none"/>
                    <a:lstStyle/>
                    <a:p>
                      <a:pPr algn="l"/>
                      <a:r>
                        <a:rPr sz="900" b="0">
                          <a:solidFill>
                            <a:srgbClr val="2E2E2E"/>
                          </a:solidFill>
                          <a:latin typeface="Calibri"/>
                        </a:rPr>
                        <a:t>B2C / Retail</a:t>
                      </a:r>
                    </a:p>
                  </a:txBody>
                  <a:tcPr marL="85725" marR="38100" marT="19050" marB="19050" anchor="ctr">
                    <a:solidFill>
                      <a:srgbClr val="FFFFFF"/>
                    </a:solidFill>
                  </a:tcPr>
                </a:tc>
                <a:tc>
                  <a:txBody>
                    <a:bodyPr wrap="none"/>
                    <a:lstStyle/>
                    <a:p>
                      <a:pPr algn="l"/>
                      <a:r>
                        <a:rPr sz="900" b="0">
                          <a:solidFill>
                            <a:srgbClr val="2E2E2E"/>
                          </a:solidFill>
                          <a:latin typeface="Calibri"/>
                        </a:rPr>
                        <a:t>0 Mn Doses</a:t>
                      </a:r>
                    </a:p>
                  </a:txBody>
                  <a:tcPr marL="85725" marR="38100" marT="19050" marB="19050" anchor="ctr">
                    <a:solidFill>
                      <a:srgbClr val="FFFFFF"/>
                    </a:solidFill>
                  </a:tcPr>
                </a:tc>
                <a:tc>
                  <a:txBody>
                    <a:bodyPr wrap="none"/>
                    <a:lstStyle/>
                    <a:p>
                      <a:pPr algn="l"/>
                      <a:r>
                        <a:rPr sz="900" b="0">
                          <a:solidFill>
                            <a:srgbClr val="2E2E2E"/>
                          </a:solidFill>
                          <a:latin typeface="Calibri"/>
                        </a:rPr>
                        <a:t>299</a:t>
                      </a:r>
                    </a:p>
                  </a:txBody>
                  <a:tcPr marL="85725" marR="38100" marT="19050" marB="19050" anchor="ctr">
                    <a:solidFill>
                      <a:srgbClr val="FFFFFF"/>
                    </a:solidFill>
                  </a:tcPr>
                </a:tc>
                <a:tc>
                  <a:txBody>
                    <a:bodyPr wrap="none"/>
                    <a:lstStyle/>
                    <a:p>
                      <a:pPr algn="l"/>
                      <a:r>
                        <a:rPr sz="900" b="0">
                          <a:solidFill>
                            <a:srgbClr val="2E2E2E"/>
                          </a:solidFill>
                          <a:latin typeface="Calibri"/>
                        </a:rPr>
                        <a:t>126</a:t>
                      </a:r>
                    </a:p>
                  </a:txBody>
                  <a:tcPr marL="85725" marR="38100" marT="19050" marB="19050" anchor="ctr">
                    <a:solidFill>
                      <a:srgbClr val="FFFFFF"/>
                    </a:solidFill>
                  </a:tcPr>
                </a:tc>
                <a:tc>
                  <a:txBody>
                    <a:bodyPr wrap="none"/>
                    <a:lstStyle/>
                    <a:p>
                      <a:pPr algn="l"/>
                      <a:r>
                        <a:rPr sz="900" b="0">
                          <a:solidFill>
                            <a:srgbClr val="2E2E2E"/>
                          </a:solidFill>
                          <a:latin typeface="Calibri"/>
                        </a:rPr>
                        <a:t>Quality &amp; compliance</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Company 8</a:t>
                      </a:r>
                    </a:p>
                  </a:txBody>
                  <a:tcPr marL="85725" marR="38100" marT="19050" marB="19050" anchor="ctr">
                    <a:solidFill>
                      <a:srgbClr val="F5F8FA"/>
                    </a:solidFill>
                  </a:tcPr>
                </a:tc>
                <a:tc>
                  <a:txBody>
                    <a:bodyPr wrap="none"/>
                    <a:lstStyle/>
                    <a:p>
                      <a:pPr algn="l"/>
                      <a:r>
                        <a:rPr sz="900" b="0">
                          <a:solidFill>
                            <a:srgbClr val="2E2E2E"/>
                          </a:solidFill>
                          <a:latin typeface="Calibri"/>
                        </a:rPr>
                        <a:t>U.K.</a:t>
                      </a:r>
                    </a:p>
                  </a:txBody>
                  <a:tcPr marL="85725" marR="38100" marT="19050" marB="19050" anchor="ctr">
                    <a:solidFill>
                      <a:srgbClr val="F5F8FA"/>
                    </a:solidFill>
                  </a:tcPr>
                </a:tc>
                <a:tc>
                  <a:txBody>
                    <a:bodyPr wrap="none"/>
                    <a:lstStyle/>
                    <a:p>
                      <a:pPr algn="l"/>
                      <a:r>
                        <a:rPr sz="900" b="0">
                          <a:solidFill>
                            <a:srgbClr val="2E2E2E"/>
                          </a:solidFill>
                          <a:latin typeface="Calibri"/>
                        </a:rPr>
                        <a:t>Europe</a:t>
                      </a:r>
                    </a:p>
                  </a:txBody>
                  <a:tcPr marL="85725" marR="38100" marT="19050" marB="19050" anchor="ctr">
                    <a:solidFill>
                      <a:srgbClr val="F5F8FA"/>
                    </a:solidFill>
                  </a:tcPr>
                </a:tc>
                <a:tc>
                  <a:txBody>
                    <a:bodyPr wrap="none"/>
                    <a:lstStyle/>
                    <a:p>
                      <a:pPr algn="l"/>
                      <a:r>
                        <a:rPr sz="900" b="0">
                          <a:solidFill>
                            <a:srgbClr val="2E2E2E"/>
                          </a:solidFill>
                          <a:latin typeface="Calibri"/>
                        </a:rPr>
                        <a:t>Others</a:t>
                      </a:r>
                    </a:p>
                  </a:txBody>
                  <a:tcPr marL="85725" marR="38100" marT="19050" marB="19050" anchor="ctr">
                    <a:solidFill>
                      <a:srgbClr val="F5F8FA"/>
                    </a:solidFill>
                  </a:tcPr>
                </a:tc>
                <a:tc>
                  <a:txBody>
                    <a:bodyPr wrap="none"/>
                    <a:lstStyle/>
                    <a:p>
                      <a:pPr algn="l"/>
                      <a:r>
                        <a:rPr sz="900" b="0">
                          <a:solidFill>
                            <a:srgbClr val="2E2E2E"/>
                          </a:solidFill>
                          <a:latin typeface="Calibri"/>
                        </a:rPr>
                        <a:t>Contract / OEM</a:t>
                      </a:r>
                    </a:p>
                  </a:txBody>
                  <a:tcPr marL="85725" marR="38100" marT="19050" marB="19050" anchor="ctr">
                    <a:solidFill>
                      <a:srgbClr val="F5F8FA"/>
                    </a:solidFill>
                  </a:tcPr>
                </a:tc>
                <a:tc>
                  <a:txBody>
                    <a:bodyPr wrap="none"/>
                    <a:lstStyle/>
                    <a:p>
                      <a:pPr algn="l"/>
                      <a:r>
                        <a:rPr sz="900" b="0">
                          <a:solidFill>
                            <a:srgbClr val="2E2E2E"/>
                          </a:solidFill>
                          <a:latin typeface="Calibri"/>
                        </a:rPr>
                        <a:t>0 Mn Doses</a:t>
                      </a:r>
                    </a:p>
                  </a:txBody>
                  <a:tcPr marL="85725" marR="38100" marT="19050" marB="19050" anchor="ctr">
                    <a:solidFill>
                      <a:srgbClr val="F5F8FA"/>
                    </a:solidFill>
                  </a:tcPr>
                </a:tc>
                <a:tc>
                  <a:txBody>
                    <a:bodyPr wrap="none"/>
                    <a:lstStyle/>
                    <a:p>
                      <a:pPr algn="l"/>
                      <a:r>
                        <a:rPr sz="900" b="0">
                          <a:solidFill>
                            <a:srgbClr val="2E2E2E"/>
                          </a:solidFill>
                          <a:latin typeface="Calibri"/>
                        </a:rPr>
                        <a:t>309</a:t>
                      </a:r>
                    </a:p>
                  </a:txBody>
                  <a:tcPr marL="85725" marR="38100" marT="19050" marB="19050" anchor="ctr">
                    <a:solidFill>
                      <a:srgbClr val="F5F8FA"/>
                    </a:solidFill>
                  </a:tcPr>
                </a:tc>
                <a:tc>
                  <a:txBody>
                    <a:bodyPr wrap="none"/>
                    <a:lstStyle/>
                    <a:p>
                      <a:pPr algn="l"/>
                      <a:r>
                        <a:rPr sz="900" b="0">
                          <a:solidFill>
                            <a:srgbClr val="2E2E2E"/>
                          </a:solidFill>
                          <a:latin typeface="Calibri"/>
                        </a:rPr>
                        <a:t>97</a:t>
                      </a:r>
                    </a:p>
                  </a:txBody>
                  <a:tcPr marL="85725" marR="38100" marT="19050" marB="19050" anchor="ctr">
                    <a:solidFill>
                      <a:srgbClr val="F5F8FA"/>
                    </a:solidFill>
                  </a:tcPr>
                </a:tc>
                <a:tc>
                  <a:txBody>
                    <a:bodyPr wrap="none"/>
                    <a:lstStyle/>
                    <a:p>
                      <a:pPr algn="l"/>
                      <a:r>
                        <a:rPr sz="900" b="0">
                          <a:solidFill>
                            <a:srgbClr val="2E2E2E"/>
                          </a:solidFill>
                          <a:latin typeface="Calibri"/>
                        </a:rPr>
                        <a:t>Lead time &amp; service</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Company 9</a:t>
                      </a:r>
                    </a:p>
                  </a:txBody>
                  <a:tcPr marL="85725" marR="38100" marT="19050" marB="19050" anchor="ctr">
                    <a:solidFill>
                      <a:srgbClr val="FFFFFF"/>
                    </a:solidFill>
                  </a:tcPr>
                </a:tc>
                <a:tc>
                  <a:txBody>
                    <a:bodyPr wrap="none"/>
                    <a:lstStyle/>
                    <a:p>
                      <a:pPr algn="l"/>
                      <a:r>
                        <a:rPr sz="900" b="0">
                          <a:solidFill>
                            <a:srgbClr val="2E2E2E"/>
                          </a:solidFill>
                          <a:latin typeface="Calibri"/>
                        </a:rPr>
                        <a:t>France</a:t>
                      </a:r>
                    </a:p>
                  </a:txBody>
                  <a:tcPr marL="85725" marR="38100" marT="19050" marB="19050" anchor="ctr">
                    <a:solidFill>
                      <a:srgbClr val="FFFFFF"/>
                    </a:solidFill>
                  </a:tcPr>
                </a:tc>
                <a:tc>
                  <a:txBody>
                    <a:bodyPr wrap="none"/>
                    <a:lstStyle/>
                    <a:p>
                      <a:pPr algn="l"/>
                      <a:r>
                        <a:rPr sz="900" b="0">
                          <a:solidFill>
                            <a:srgbClr val="2E2E2E"/>
                          </a:solidFill>
                          <a:latin typeface="Calibri"/>
                        </a:rPr>
                        <a:t>Europe</a:t>
                      </a:r>
                    </a:p>
                  </a:txBody>
                  <a:tcPr marL="85725" marR="38100" marT="19050" marB="19050" anchor="ctr">
                    <a:solidFill>
                      <a:srgbClr val="FFFFFF"/>
                    </a:solidFill>
                  </a:tcPr>
                </a:tc>
                <a:tc>
                  <a:txBody>
                    <a:bodyPr wrap="none"/>
                    <a:lstStyle/>
                    <a:p>
                      <a:pPr algn="l"/>
                      <a:r>
                        <a:rPr sz="900" b="0">
                          <a:solidFill>
                            <a:srgbClr val="2E2E2E"/>
                          </a:solidFill>
                          <a:latin typeface="Calibri"/>
                        </a:rPr>
                        <a:t>Manufacturer</a:t>
                      </a:r>
                    </a:p>
                  </a:txBody>
                  <a:tcPr marL="85725" marR="38100" marT="19050" marB="19050" anchor="ctr">
                    <a:solidFill>
                      <a:srgbClr val="FFFFFF"/>
                    </a:solidFill>
                  </a:tcPr>
                </a:tc>
                <a:tc>
                  <a:txBody>
                    <a:bodyPr wrap="none"/>
                    <a:lstStyle/>
                    <a:p>
                      <a:pPr algn="l"/>
                      <a:r>
                        <a:rPr sz="900" b="0">
                          <a:solidFill>
                            <a:srgbClr val="2E2E2E"/>
                          </a:solidFill>
                          <a:latin typeface="Calibri"/>
                        </a:rPr>
                        <a:t>B2B / Industrial</a:t>
                      </a:r>
                    </a:p>
                  </a:txBody>
                  <a:tcPr marL="85725" marR="38100" marT="19050" marB="19050" anchor="ctr">
                    <a:solidFill>
                      <a:srgbClr val="FFFFFF"/>
                    </a:solidFill>
                  </a:tcPr>
                </a:tc>
                <a:tc>
                  <a:txBody>
                    <a:bodyPr wrap="none"/>
                    <a:lstStyle/>
                    <a:p>
                      <a:pPr algn="l"/>
                      <a:r>
                        <a:rPr sz="900" b="0">
                          <a:solidFill>
                            <a:srgbClr val="2E2E2E"/>
                          </a:solidFill>
                          <a:latin typeface="Calibri"/>
                        </a:rPr>
                        <a:t>0 Mn Doses</a:t>
                      </a:r>
                    </a:p>
                  </a:txBody>
                  <a:tcPr marL="85725" marR="38100" marT="19050" marB="19050" anchor="ctr">
                    <a:solidFill>
                      <a:srgbClr val="FFFFFF"/>
                    </a:solidFill>
                  </a:tcPr>
                </a:tc>
                <a:tc>
                  <a:txBody>
                    <a:bodyPr wrap="none"/>
                    <a:lstStyle/>
                    <a:p>
                      <a:pPr algn="l"/>
                      <a:r>
                        <a:rPr sz="900" b="0">
                          <a:solidFill>
                            <a:srgbClr val="2E2E2E"/>
                          </a:solidFill>
                          <a:latin typeface="Calibri"/>
                        </a:rPr>
                        <a:t>318</a:t>
                      </a:r>
                    </a:p>
                  </a:txBody>
                  <a:tcPr marL="85725" marR="38100" marT="19050" marB="19050" anchor="ctr">
                    <a:solidFill>
                      <a:srgbClr val="FFFFFF"/>
                    </a:solidFill>
                  </a:tcPr>
                </a:tc>
                <a:tc>
                  <a:txBody>
                    <a:bodyPr wrap="none"/>
                    <a:lstStyle/>
                    <a:p>
                      <a:pPr algn="l"/>
                      <a:r>
                        <a:rPr sz="900" b="0">
                          <a:solidFill>
                            <a:srgbClr val="2E2E2E"/>
                          </a:solidFill>
                          <a:latin typeface="Calibri"/>
                        </a:rPr>
                        <a:t>67</a:t>
                      </a:r>
                    </a:p>
                  </a:txBody>
                  <a:tcPr marL="85725" marR="38100" marT="19050" marB="19050" anchor="ctr">
                    <a:solidFill>
                      <a:srgbClr val="FFFFFF"/>
                    </a:solidFill>
                  </a:tcPr>
                </a:tc>
                <a:tc>
                  <a:txBody>
                    <a:bodyPr wrap="none"/>
                    <a:lstStyle/>
                    <a:p>
                      <a:pPr algn="l"/>
                      <a:r>
                        <a:rPr sz="900" b="0">
                          <a:solidFill>
                            <a:srgbClr val="2E2E2E"/>
                          </a:solidFill>
                          <a:latin typeface="Calibri"/>
                        </a:rPr>
                        <a:t>Capacity &amp; scale</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Company 10</a:t>
                      </a:r>
                    </a:p>
                  </a:txBody>
                  <a:tcPr marL="85725" marR="38100" marT="19050" marB="19050" anchor="ctr">
                    <a:solidFill>
                      <a:srgbClr val="F5F8FA"/>
                    </a:solidFill>
                  </a:tcPr>
                </a:tc>
                <a:tc>
                  <a:txBody>
                    <a:bodyPr wrap="none"/>
                    <a:lstStyle/>
                    <a:p>
                      <a:pPr algn="l"/>
                      <a:r>
                        <a:rPr sz="900" b="0">
                          <a:solidFill>
                            <a:srgbClr val="2E2E2E"/>
                          </a:solidFill>
                          <a:latin typeface="Calibri"/>
                        </a:rPr>
                        <a:t>Italy</a:t>
                      </a:r>
                    </a:p>
                  </a:txBody>
                  <a:tcPr marL="85725" marR="38100" marT="19050" marB="19050" anchor="ctr">
                    <a:solidFill>
                      <a:srgbClr val="F5F8FA"/>
                    </a:solidFill>
                  </a:tcPr>
                </a:tc>
                <a:tc>
                  <a:txBody>
                    <a:bodyPr wrap="none"/>
                    <a:lstStyle/>
                    <a:p>
                      <a:pPr algn="l"/>
                      <a:r>
                        <a:rPr sz="900" b="0">
                          <a:solidFill>
                            <a:srgbClr val="2E2E2E"/>
                          </a:solidFill>
                          <a:latin typeface="Calibri"/>
                        </a:rPr>
                        <a:t>Europe</a:t>
                      </a:r>
                    </a:p>
                  </a:txBody>
                  <a:tcPr marL="85725" marR="38100" marT="19050" marB="19050" anchor="ctr">
                    <a:solidFill>
                      <a:srgbClr val="F5F8FA"/>
                    </a:solidFill>
                  </a:tcPr>
                </a:tc>
                <a:tc>
                  <a:txBody>
                    <a:bodyPr wrap="none"/>
                    <a:lstStyle/>
                    <a:p>
                      <a:pPr algn="l"/>
                      <a:r>
                        <a:rPr sz="900" b="0">
                          <a:solidFill>
                            <a:srgbClr val="2E2E2E"/>
                          </a:solidFill>
                          <a:latin typeface="Calibri"/>
                        </a:rPr>
                        <a:t>Distributor</a:t>
                      </a:r>
                    </a:p>
                  </a:txBody>
                  <a:tcPr marL="85725" marR="38100" marT="19050" marB="19050" anchor="ctr">
                    <a:solidFill>
                      <a:srgbClr val="F5F8FA"/>
                    </a:solidFill>
                  </a:tcPr>
                </a:tc>
                <a:tc>
                  <a:txBody>
                    <a:bodyPr wrap="none"/>
                    <a:lstStyle/>
                    <a:p>
                      <a:pPr algn="l"/>
                      <a:r>
                        <a:rPr sz="900" b="0">
                          <a:solidFill>
                            <a:srgbClr val="2E2E2E"/>
                          </a:solidFill>
                          <a:latin typeface="Calibri"/>
                        </a:rPr>
                        <a:t>B2B / Institutional</a:t>
                      </a:r>
                    </a:p>
                  </a:txBody>
                  <a:tcPr marL="85725" marR="38100" marT="19050" marB="19050" anchor="ctr">
                    <a:solidFill>
                      <a:srgbClr val="F5F8FA"/>
                    </a:solidFill>
                  </a:tcPr>
                </a:tc>
                <a:tc>
                  <a:txBody>
                    <a:bodyPr wrap="none"/>
                    <a:lstStyle/>
                    <a:p>
                      <a:pPr algn="l"/>
                      <a:r>
                        <a:rPr sz="900" b="0">
                          <a:solidFill>
                            <a:srgbClr val="2E2E2E"/>
                          </a:solidFill>
                          <a:latin typeface="Calibri"/>
                        </a:rPr>
                        <a:t>0 Mn Doses</a:t>
                      </a:r>
                    </a:p>
                  </a:txBody>
                  <a:tcPr marL="85725" marR="38100" marT="19050" marB="19050" anchor="ctr">
                    <a:solidFill>
                      <a:srgbClr val="F5F8FA"/>
                    </a:solidFill>
                  </a:tcPr>
                </a:tc>
                <a:tc>
                  <a:txBody>
                    <a:bodyPr wrap="none"/>
                    <a:lstStyle/>
                    <a:p>
                      <a:pPr algn="l"/>
                      <a:r>
                        <a:rPr sz="900" b="0">
                          <a:solidFill>
                            <a:srgbClr val="2E2E2E"/>
                          </a:solidFill>
                          <a:latin typeface="Calibri"/>
                        </a:rPr>
                        <a:t>327</a:t>
                      </a:r>
                    </a:p>
                  </a:txBody>
                  <a:tcPr marL="85725" marR="38100" marT="19050" marB="19050" anchor="ctr">
                    <a:solidFill>
                      <a:srgbClr val="F5F8FA"/>
                    </a:solidFill>
                  </a:tcPr>
                </a:tc>
                <a:tc>
                  <a:txBody>
                    <a:bodyPr wrap="none"/>
                    <a:lstStyle/>
                    <a:p>
                      <a:pPr algn="l"/>
                      <a:r>
                        <a:rPr sz="900" b="0">
                          <a:solidFill>
                            <a:srgbClr val="2E2E2E"/>
                          </a:solidFill>
                          <a:latin typeface="Calibri"/>
                        </a:rPr>
                        <a:t>34</a:t>
                      </a:r>
                    </a:p>
                  </a:txBody>
                  <a:tcPr marL="85725" marR="38100" marT="19050" marB="19050" anchor="ctr">
                    <a:solidFill>
                      <a:srgbClr val="F5F8FA"/>
                    </a:solidFill>
                  </a:tcPr>
                </a:tc>
                <a:tc>
                  <a:txBody>
                    <a:bodyPr wrap="none"/>
                    <a:lstStyle/>
                    <a:p>
                      <a:pPr algn="l"/>
                      <a:r>
                        <a:rPr sz="900" b="0">
                          <a:solidFill>
                            <a:srgbClr val="2E2E2E"/>
                          </a:solidFill>
                          <a:latin typeface="Calibri"/>
                        </a:rPr>
                        <a:t>Brand &amp; support</a:t>
                      </a:r>
                    </a:p>
                  </a:txBody>
                  <a:tcPr marL="85725" marR="38100" marT="19050" marB="19050" anchor="ctr">
                    <a:solidFill>
                      <a:srgbClr val="F5F8FA"/>
                    </a:solidFill>
                  </a:tcPr>
                </a:tc>
              </a:tr>
            </a:tbl>
          </a:graphicData>
        </a:graphic>
      </p:graphicFrame>
      <p:sp>
        <p:nvSpPr>
          <p:cNvPr id="13" name="TextBox 12"/>
          <p:cNvSpPr txBox="1"/>
          <p:nvPr/>
        </p:nvSpPr>
        <p:spPr>
          <a:xfrm>
            <a:off x="219075" y="47625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4" name="Rounded Rectangle 13"/>
          <p:cNvSpPr/>
          <p:nvPr/>
        </p:nvSpPr>
        <p:spPr>
          <a:xfrm>
            <a:off x="142875" y="5038725"/>
            <a:ext cx="11906250"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124450"/>
            <a:ext cx="11639550" cy="209550"/>
          </a:xfrm>
          <a:prstGeom prst="rect">
            <a:avLst/>
          </a:prstGeom>
          <a:noFill/>
        </p:spPr>
        <p:txBody>
          <a:bodyPr wrap="square" lIns="0" rIns="19050" tIns="9525" bIns="9525">
            <a:spAutoFit/>
          </a:bodyPr>
          <a:lstStyle/>
          <a:p>
            <a:pPr algn="l"/>
            <a:r>
              <a:rPr sz="1300" b="1">
                <a:solidFill>
                  <a:srgbClr val="0B2E4A"/>
                </a:solidFill>
                <a:latin typeface="Calibri"/>
              </a:rPr>
              <a:t>Notes</a:t>
            </a:r>
          </a:p>
        </p:txBody>
      </p:sp>
      <p:sp>
        <p:nvSpPr>
          <p:cNvPr id="16" name="Rectangle 15"/>
          <p:cNvSpPr/>
          <p:nvPr/>
        </p:nvSpPr>
        <p:spPr>
          <a:xfrm>
            <a:off x="276225" y="53625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448300"/>
            <a:ext cx="11639550" cy="12001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8" name="Rectangle 1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0" name="Rounded Rectangle 19">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 Country</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Overview</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Volume Overview</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Value Overview</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Key Segments (Value)</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14</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Volume Overview (Mn Doses)</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2857500" cy="7620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2025 MARKET SIZE (MN DOSES)</a:t>
            </a:r>
          </a:p>
          <a:p>
            <a:pPr algn="ctr"/>
            <a:r>
              <a:rPr sz="1500" b="1">
                <a:solidFill>
                  <a:srgbClr val="0E72AE"/>
                </a:solidFill>
                <a:latin typeface="Calibri"/>
              </a:rPr>
              <a:t>2.46</a:t>
            </a:r>
          </a:p>
          <a:p>
            <a:pPr algn="ctr"/>
            <a:r>
              <a:rPr sz="750" b="0">
                <a:solidFill>
                  <a:srgbClr val="6C7A89"/>
                </a:solidFill>
                <a:latin typeface="Calibri"/>
              </a:rPr>
              <a:t>estimate year</a:t>
            </a:r>
          </a:p>
        </p:txBody>
      </p:sp>
      <p:sp>
        <p:nvSpPr>
          <p:cNvPr id="12" name="Rounded Rectangle 11"/>
          <p:cNvSpPr/>
          <p:nvPr/>
        </p:nvSpPr>
        <p:spPr>
          <a:xfrm>
            <a:off x="3152775" y="857250"/>
            <a:ext cx="2857500" cy="7620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2036 MARKET SIZE (MN DOSES)</a:t>
            </a:r>
          </a:p>
          <a:p>
            <a:pPr algn="ctr"/>
            <a:r>
              <a:rPr sz="1500" b="1">
                <a:solidFill>
                  <a:srgbClr val="0E72AE"/>
                </a:solidFill>
                <a:latin typeface="Calibri"/>
              </a:rPr>
              <a:t>9.91</a:t>
            </a:r>
          </a:p>
          <a:p>
            <a:pPr algn="ctr"/>
            <a:r>
              <a:rPr sz="750" b="0">
                <a:solidFill>
                  <a:srgbClr val="6C7A89"/>
                </a:solidFill>
                <a:latin typeface="Calibri"/>
              </a:rPr>
              <a:t>forecast horizon</a:t>
            </a:r>
          </a:p>
        </p:txBody>
      </p:sp>
      <p:sp>
        <p:nvSpPr>
          <p:cNvPr id="13" name="Rounded Rectangle 12"/>
          <p:cNvSpPr/>
          <p:nvPr/>
        </p:nvSpPr>
        <p:spPr>
          <a:xfrm>
            <a:off x="6162675" y="857250"/>
            <a:ext cx="2857500" cy="7620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H-CAGR (2021–2025)</a:t>
            </a:r>
          </a:p>
          <a:p>
            <a:pPr algn="ctr"/>
            <a:r>
              <a:rPr sz="1500" b="1">
                <a:solidFill>
                  <a:srgbClr val="0E72AE"/>
                </a:solidFill>
                <a:latin typeface="Calibri"/>
              </a:rPr>
              <a:t>23.3%</a:t>
            </a:r>
          </a:p>
        </p:txBody>
      </p:sp>
      <p:sp>
        <p:nvSpPr>
          <p:cNvPr id="14" name="Rounded Rectangle 13"/>
          <p:cNvSpPr/>
          <p:nvPr/>
        </p:nvSpPr>
        <p:spPr>
          <a:xfrm>
            <a:off x="9172575" y="857250"/>
            <a:ext cx="2857500" cy="7620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F-CAGR (2026–2036)</a:t>
            </a:r>
          </a:p>
          <a:p>
            <a:pPr algn="ctr"/>
            <a:r>
              <a:rPr sz="1500" b="1">
                <a:solidFill>
                  <a:srgbClr val="0E72AE"/>
                </a:solidFill>
                <a:latin typeface="Calibri"/>
              </a:rPr>
              <a:t>12.7%</a:t>
            </a:r>
          </a:p>
        </p:txBody>
      </p:sp>
      <p:sp>
        <p:nvSpPr>
          <p:cNvPr id="15" name="Rounded Rectangle 14"/>
          <p:cNvSpPr/>
          <p:nvPr/>
        </p:nvSpPr>
        <p:spPr>
          <a:xfrm>
            <a:off x="142875" y="1752600"/>
            <a:ext cx="4638675"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809750"/>
            <a:ext cx="4448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Volume &amp; YoY Growth</a:t>
            </a:r>
          </a:p>
        </p:txBody>
      </p:sp>
      <p:graphicFrame>
        <p:nvGraphicFramePr>
          <p:cNvPr id="17" name="Chart 16"/>
          <p:cNvGraphicFramePr>
            <a:graphicFrameLocks noGrp="1"/>
          </p:cNvGraphicFramePr>
          <p:nvPr/>
        </p:nvGraphicFramePr>
        <p:xfrm>
          <a:off x="238125" y="2038350"/>
          <a:ext cx="4448175" cy="1495425"/>
        </p:xfrm>
        <a:graphic>
          <a:graphicData uri="http://schemas.openxmlformats.org/drawingml/2006/chart">
            <c:chart xmlns:c="http://schemas.openxmlformats.org/drawingml/2006/chart" r:id="rId3"/>
          </a:graphicData>
        </a:graphic>
      </p:graphicFrame>
      <p:sp>
        <p:nvSpPr>
          <p:cNvPr id="18" name="Rounded Rectangle 17"/>
          <p:cNvSpPr/>
          <p:nvPr/>
        </p:nvSpPr>
        <p:spPr>
          <a:xfrm>
            <a:off x="4933950" y="1752600"/>
            <a:ext cx="3476625"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0" y="1809750"/>
            <a:ext cx="328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a:t>
            </a:r>
          </a:p>
        </p:txBody>
      </p:sp>
      <p:graphicFrame>
        <p:nvGraphicFramePr>
          <p:cNvPr id="20" name="Chart 19"/>
          <p:cNvGraphicFramePr>
            <a:graphicFrameLocks noGrp="1"/>
          </p:cNvGraphicFramePr>
          <p:nvPr/>
        </p:nvGraphicFramePr>
        <p:xfrm>
          <a:off x="5029200" y="2038350"/>
          <a:ext cx="3286125" cy="1495425"/>
        </p:xfrm>
        <a:graphic>
          <a:graphicData uri="http://schemas.openxmlformats.org/drawingml/2006/chart">
            <c:chart xmlns:c="http://schemas.openxmlformats.org/drawingml/2006/chart" r:id="rId4"/>
          </a:graphicData>
        </a:graphic>
      </p:graphicFrame>
      <p:sp>
        <p:nvSpPr>
          <p:cNvPr id="21" name="Rounded Rectangle 20"/>
          <p:cNvSpPr/>
          <p:nvPr/>
        </p:nvSpPr>
        <p:spPr>
          <a:xfrm>
            <a:off x="8562975" y="1752600"/>
            <a:ext cx="3476625"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58225" y="1809750"/>
            <a:ext cx="328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Deviation from Regional Benchmark</a:t>
            </a:r>
          </a:p>
        </p:txBody>
      </p:sp>
      <p:sp>
        <p:nvSpPr>
          <p:cNvPr id="23" name="TextBox 22"/>
          <p:cNvSpPr txBox="1"/>
          <p:nvPr/>
        </p:nvSpPr>
        <p:spPr>
          <a:xfrm>
            <a:off x="8658225" y="2307526"/>
            <a:ext cx="3286125" cy="897255"/>
          </a:xfrm>
          <a:prstGeom prst="rect">
            <a:avLst/>
          </a:prstGeom>
          <a:noFill/>
        </p:spPr>
        <p:txBody>
          <a:bodyPr wrap="square" lIns="28575" rIns="28575" tIns="9525" bIns="9525">
            <a:spAutoFit/>
          </a:bodyPr>
          <a:lstStyle/>
          <a:p>
            <a:pPr algn="ctr"/>
            <a:r>
              <a:rPr sz="2400" b="1">
                <a:solidFill>
                  <a:srgbClr val="E44D3A"/>
                </a:solidFill>
                <a:latin typeface="Calibri"/>
              </a:rPr>
              <a:t>-26 BPS</a:t>
            </a:r>
          </a:p>
          <a:p>
            <a:pPr algn="ctr"/>
            <a:r>
              <a:rPr sz="900" b="0">
                <a:solidFill>
                  <a:srgbClr val="6C7A89"/>
                </a:solidFill>
                <a:latin typeface="Calibri"/>
              </a:rPr>
              <a:t>vs North America benchmark</a:t>
            </a:r>
          </a:p>
          <a:p>
            <a:pPr algn="ctr"/>
            <a:r>
              <a:rPr sz="1000" b="1">
                <a:solidFill>
                  <a:srgbClr val="E44D3A"/>
                </a:solidFill>
                <a:latin typeface="Calibri"/>
              </a:rPr>
              <a:t>▼ below benchmark</a:t>
            </a:r>
          </a:p>
        </p:txBody>
      </p:sp>
      <p:sp>
        <p:nvSpPr>
          <p:cNvPr id="24" name="Rounded Rectangle 23"/>
          <p:cNvSpPr/>
          <p:nvPr/>
        </p:nvSpPr>
        <p:spPr>
          <a:xfrm>
            <a:off x="142875" y="3724275"/>
            <a:ext cx="4695825"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3781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(Mn Doses)</a:t>
            </a:r>
          </a:p>
        </p:txBody>
      </p:sp>
      <p:graphicFrame>
        <p:nvGraphicFramePr>
          <p:cNvPr id="26" name="Chart 25"/>
          <p:cNvGraphicFramePr>
            <a:graphicFrameLocks noGrp="1"/>
          </p:cNvGraphicFramePr>
          <p:nvPr/>
        </p:nvGraphicFramePr>
        <p:xfrm>
          <a:off x="238125" y="4010025"/>
          <a:ext cx="4505325" cy="1495425"/>
        </p:xfrm>
        <a:graphic>
          <a:graphicData uri="http://schemas.openxmlformats.org/drawingml/2006/chart">
            <c:chart xmlns:c="http://schemas.openxmlformats.org/drawingml/2006/chart" r:id="rId5"/>
          </a:graphicData>
        </a:graphic>
      </p:graphicFrame>
      <p:sp>
        <p:nvSpPr>
          <p:cNvPr id="27" name="Rounded Rectangle 26"/>
          <p:cNvSpPr/>
          <p:nvPr/>
        </p:nvSpPr>
        <p:spPr>
          <a:xfrm>
            <a:off x="4991100" y="3724275"/>
            <a:ext cx="7048500"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86350" y="3781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Market Share, 2026</a:t>
            </a:r>
          </a:p>
        </p:txBody>
      </p:sp>
      <p:graphicFrame>
        <p:nvGraphicFramePr>
          <p:cNvPr id="29" name="Chart 28"/>
          <p:cNvGraphicFramePr>
            <a:graphicFrameLocks noGrp="1"/>
          </p:cNvGraphicFramePr>
          <p:nvPr/>
        </p:nvGraphicFramePr>
        <p:xfrm>
          <a:off x="5086350" y="4010025"/>
          <a:ext cx="6858000" cy="1495425"/>
        </p:xfrm>
        <a:graphic>
          <a:graphicData uri="http://schemas.openxmlformats.org/drawingml/2006/chart">
            <c:chart xmlns:c="http://schemas.openxmlformats.org/drawingml/2006/chart" r:id="rId6"/>
          </a:graphicData>
        </a:graphic>
      </p:graphicFrame>
      <p:sp>
        <p:nvSpPr>
          <p:cNvPr id="30" name="Rounded Rectangle 29"/>
          <p:cNvSpPr/>
          <p:nvPr/>
        </p:nvSpPr>
        <p:spPr>
          <a:xfrm>
            <a:off x="142875" y="5695950"/>
            <a:ext cx="3943350" cy="1028700"/>
          </a:xfrm>
          <a:prstGeom prst="roundRect">
            <a:avLst>
              <a:gd name="adj" fmla="val 74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Canada's humira biosimilars market expands at 12.7% CAGR through 2036, trailing the North America benchmark of 13.0% by 26 BPS.</a:t>
            </a:r>
          </a:p>
        </p:txBody>
      </p:sp>
      <p:sp>
        <p:nvSpPr>
          <p:cNvPr id="31" name="Rounded Rectangle 30"/>
          <p:cNvSpPr/>
          <p:nvPr/>
        </p:nvSpPr>
        <p:spPr>
          <a:xfrm>
            <a:off x="4238625" y="5695950"/>
            <a:ext cx="3819525" cy="1028700"/>
          </a:xfrm>
          <a:prstGeom prst="roundRect">
            <a:avLst>
              <a:gd name="adj" fmla="val 74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Canada holds 71.7% of the North America humira biosimilars market in 2026; by 2036 that share moves to 70.1%.</a:t>
            </a:r>
          </a:p>
        </p:txBody>
      </p:sp>
      <p:sp>
        <p:nvSpPr>
          <p:cNvPr id="32" name="Rounded Rectangle 31"/>
          <p:cNvSpPr/>
          <p:nvPr/>
        </p:nvSpPr>
        <p:spPr>
          <a:xfrm>
            <a:off x="8210550" y="5695950"/>
            <a:ext cx="3819525" cy="1028700"/>
          </a:xfrm>
          <a:prstGeom prst="roundRect">
            <a:avLst>
              <a:gd name="adj" fmla="val 74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The forecast build-up adds 6.92 Mn Doses between 2026 and 2036 the Canada market grows to 3.3× its 2026 size over the decade.</a:t>
            </a:r>
          </a:p>
        </p:txBody>
      </p:sp>
      <p:sp>
        <p:nvSpPr>
          <p:cNvPr id="33" name="Rectangle 3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5" name="Rounded Rectangle 34">
            <a:hlinkClick action="ppaction://hlinksldjump" r:id="rId8"/>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6" name="Rounded Rectangle 35">
            <a:hlinkClick action="ppaction://hlinksldjump" r:id="rId9"/>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7" name="Rounded Rectangle 36">
            <a:hlinkClick action="ppaction://hlinksldjump" r:id="rId10"/>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Value Overview (US$ Mn)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2857500" cy="7620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2025 MARKET SIZE (US$ MN)</a:t>
            </a:r>
          </a:p>
          <a:p>
            <a:pPr algn="ctr"/>
            <a:r>
              <a:rPr sz="1500" b="1">
                <a:solidFill>
                  <a:srgbClr val="0E72AE"/>
                </a:solidFill>
                <a:latin typeface="Calibri"/>
              </a:rPr>
              <a:t>1,238</a:t>
            </a:r>
          </a:p>
          <a:p>
            <a:pPr algn="ctr"/>
            <a:r>
              <a:rPr sz="750" b="0">
                <a:solidFill>
                  <a:srgbClr val="6C7A89"/>
                </a:solidFill>
                <a:latin typeface="Calibri"/>
              </a:rPr>
              <a:t>estimate year</a:t>
            </a:r>
          </a:p>
        </p:txBody>
      </p:sp>
      <p:sp>
        <p:nvSpPr>
          <p:cNvPr id="12" name="Rounded Rectangle 11"/>
          <p:cNvSpPr/>
          <p:nvPr/>
        </p:nvSpPr>
        <p:spPr>
          <a:xfrm>
            <a:off x="3152775" y="857250"/>
            <a:ext cx="2857500" cy="7620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2036 MARKET SIZE (US$ MN)</a:t>
            </a:r>
          </a:p>
          <a:p>
            <a:pPr algn="ctr"/>
            <a:r>
              <a:rPr sz="1500" b="1">
                <a:solidFill>
                  <a:srgbClr val="0E72AE"/>
                </a:solidFill>
                <a:latin typeface="Calibri"/>
              </a:rPr>
              <a:t>3,447</a:t>
            </a:r>
          </a:p>
          <a:p>
            <a:pPr algn="ctr"/>
            <a:r>
              <a:rPr sz="750" b="0">
                <a:solidFill>
                  <a:srgbClr val="6C7A89"/>
                </a:solidFill>
                <a:latin typeface="Calibri"/>
              </a:rPr>
              <a:t>forecast horizon</a:t>
            </a:r>
          </a:p>
        </p:txBody>
      </p:sp>
      <p:sp>
        <p:nvSpPr>
          <p:cNvPr id="13" name="Rounded Rectangle 12"/>
          <p:cNvSpPr/>
          <p:nvPr/>
        </p:nvSpPr>
        <p:spPr>
          <a:xfrm>
            <a:off x="6162675" y="857250"/>
            <a:ext cx="2857500" cy="7620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H-CAGR (2021–2025)</a:t>
            </a:r>
          </a:p>
          <a:p>
            <a:pPr algn="ctr"/>
            <a:r>
              <a:rPr sz="1500" b="1">
                <a:solidFill>
                  <a:srgbClr val="0E72AE"/>
                </a:solidFill>
                <a:latin typeface="Calibri"/>
              </a:rPr>
              <a:t>19.3%</a:t>
            </a:r>
          </a:p>
        </p:txBody>
      </p:sp>
      <p:sp>
        <p:nvSpPr>
          <p:cNvPr id="14" name="Rounded Rectangle 13"/>
          <p:cNvSpPr/>
          <p:nvPr/>
        </p:nvSpPr>
        <p:spPr>
          <a:xfrm>
            <a:off x="9172575" y="857250"/>
            <a:ext cx="2857500" cy="7620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F-CAGR (2026–2036)</a:t>
            </a:r>
          </a:p>
          <a:p>
            <a:pPr algn="ctr"/>
            <a:r>
              <a:rPr sz="1500" b="1">
                <a:solidFill>
                  <a:srgbClr val="0E72AE"/>
                </a:solidFill>
                <a:latin typeface="Calibri"/>
              </a:rPr>
              <a:t>9.0%</a:t>
            </a:r>
          </a:p>
        </p:txBody>
      </p:sp>
      <p:sp>
        <p:nvSpPr>
          <p:cNvPr id="15" name="Rounded Rectangle 14"/>
          <p:cNvSpPr/>
          <p:nvPr/>
        </p:nvSpPr>
        <p:spPr>
          <a:xfrm>
            <a:off x="142875" y="1752600"/>
            <a:ext cx="4638675"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809750"/>
            <a:ext cx="4448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Value &amp; YoY Growth</a:t>
            </a:r>
          </a:p>
        </p:txBody>
      </p:sp>
      <p:graphicFrame>
        <p:nvGraphicFramePr>
          <p:cNvPr id="17" name="Chart 16"/>
          <p:cNvGraphicFramePr>
            <a:graphicFrameLocks noGrp="1"/>
          </p:cNvGraphicFramePr>
          <p:nvPr/>
        </p:nvGraphicFramePr>
        <p:xfrm>
          <a:off x="238125" y="2038350"/>
          <a:ext cx="4448175" cy="1495425"/>
        </p:xfrm>
        <a:graphic>
          <a:graphicData uri="http://schemas.openxmlformats.org/drawingml/2006/chart">
            <c:chart xmlns:c="http://schemas.openxmlformats.org/drawingml/2006/chart" r:id="rId3"/>
          </a:graphicData>
        </a:graphic>
      </p:graphicFrame>
      <p:sp>
        <p:nvSpPr>
          <p:cNvPr id="18" name="Rounded Rectangle 17"/>
          <p:cNvSpPr/>
          <p:nvPr/>
        </p:nvSpPr>
        <p:spPr>
          <a:xfrm>
            <a:off x="4933950" y="1752600"/>
            <a:ext cx="3476625"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0" y="1809750"/>
            <a:ext cx="328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a:t>
            </a:r>
          </a:p>
        </p:txBody>
      </p:sp>
      <p:graphicFrame>
        <p:nvGraphicFramePr>
          <p:cNvPr id="20" name="Chart 19"/>
          <p:cNvGraphicFramePr>
            <a:graphicFrameLocks noGrp="1"/>
          </p:cNvGraphicFramePr>
          <p:nvPr/>
        </p:nvGraphicFramePr>
        <p:xfrm>
          <a:off x="5029200" y="2038350"/>
          <a:ext cx="3286125" cy="1495425"/>
        </p:xfrm>
        <a:graphic>
          <a:graphicData uri="http://schemas.openxmlformats.org/drawingml/2006/chart">
            <c:chart xmlns:c="http://schemas.openxmlformats.org/drawingml/2006/chart" r:id="rId4"/>
          </a:graphicData>
        </a:graphic>
      </p:graphicFrame>
      <p:sp>
        <p:nvSpPr>
          <p:cNvPr id="21" name="Rounded Rectangle 20"/>
          <p:cNvSpPr/>
          <p:nvPr/>
        </p:nvSpPr>
        <p:spPr>
          <a:xfrm>
            <a:off x="8562975" y="1752600"/>
            <a:ext cx="3476625"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58225" y="1809750"/>
            <a:ext cx="328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Deviation from Regional Benchmark</a:t>
            </a:r>
          </a:p>
        </p:txBody>
      </p:sp>
      <p:sp>
        <p:nvSpPr>
          <p:cNvPr id="23" name="TextBox 22"/>
          <p:cNvSpPr txBox="1"/>
          <p:nvPr/>
        </p:nvSpPr>
        <p:spPr>
          <a:xfrm>
            <a:off x="8658225" y="2307526"/>
            <a:ext cx="3286125" cy="897255"/>
          </a:xfrm>
          <a:prstGeom prst="rect">
            <a:avLst/>
          </a:prstGeom>
          <a:noFill/>
        </p:spPr>
        <p:txBody>
          <a:bodyPr wrap="square" lIns="28575" rIns="28575" tIns="9525" bIns="9525">
            <a:spAutoFit/>
          </a:bodyPr>
          <a:lstStyle/>
          <a:p>
            <a:pPr algn="ctr"/>
            <a:r>
              <a:rPr sz="2400" b="1">
                <a:solidFill>
                  <a:srgbClr val="008189"/>
                </a:solidFill>
                <a:latin typeface="Calibri"/>
              </a:rPr>
              <a:t>+50 BPS</a:t>
            </a:r>
          </a:p>
          <a:p>
            <a:pPr algn="ctr"/>
            <a:r>
              <a:rPr sz="900" b="0">
                <a:solidFill>
                  <a:srgbClr val="6C7A89"/>
                </a:solidFill>
                <a:latin typeface="Calibri"/>
              </a:rPr>
              <a:t>vs North America benchmark</a:t>
            </a:r>
          </a:p>
          <a:p>
            <a:pPr algn="ctr"/>
            <a:r>
              <a:rPr sz="1000" b="1">
                <a:solidFill>
                  <a:srgbClr val="2E7D32"/>
                </a:solidFill>
                <a:latin typeface="Calibri"/>
              </a:rPr>
              <a:t>▲ above benchmark</a:t>
            </a:r>
          </a:p>
        </p:txBody>
      </p:sp>
      <p:sp>
        <p:nvSpPr>
          <p:cNvPr id="24" name="Rounded Rectangle 23"/>
          <p:cNvSpPr/>
          <p:nvPr/>
        </p:nvSpPr>
        <p:spPr>
          <a:xfrm>
            <a:off x="142875" y="3724275"/>
            <a:ext cx="4695825"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3781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(US$ Mn)</a:t>
            </a:r>
          </a:p>
        </p:txBody>
      </p:sp>
      <p:graphicFrame>
        <p:nvGraphicFramePr>
          <p:cNvPr id="26" name="Chart 25"/>
          <p:cNvGraphicFramePr>
            <a:graphicFrameLocks noGrp="1"/>
          </p:cNvGraphicFramePr>
          <p:nvPr/>
        </p:nvGraphicFramePr>
        <p:xfrm>
          <a:off x="238125" y="4010025"/>
          <a:ext cx="4505325" cy="1495425"/>
        </p:xfrm>
        <a:graphic>
          <a:graphicData uri="http://schemas.openxmlformats.org/drawingml/2006/chart">
            <c:chart xmlns:c="http://schemas.openxmlformats.org/drawingml/2006/chart" r:id="rId5"/>
          </a:graphicData>
        </a:graphic>
      </p:graphicFrame>
      <p:sp>
        <p:nvSpPr>
          <p:cNvPr id="27" name="Rounded Rectangle 26"/>
          <p:cNvSpPr/>
          <p:nvPr/>
        </p:nvSpPr>
        <p:spPr>
          <a:xfrm>
            <a:off x="4991100" y="3724275"/>
            <a:ext cx="7048500"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86350" y="3781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Market Share, 2026</a:t>
            </a:r>
          </a:p>
        </p:txBody>
      </p:sp>
      <p:graphicFrame>
        <p:nvGraphicFramePr>
          <p:cNvPr id="29" name="Chart 28"/>
          <p:cNvGraphicFramePr>
            <a:graphicFrameLocks noGrp="1"/>
          </p:cNvGraphicFramePr>
          <p:nvPr/>
        </p:nvGraphicFramePr>
        <p:xfrm>
          <a:off x="5086350" y="4010025"/>
          <a:ext cx="6858000" cy="1495425"/>
        </p:xfrm>
        <a:graphic>
          <a:graphicData uri="http://schemas.openxmlformats.org/drawingml/2006/chart">
            <c:chart xmlns:c="http://schemas.openxmlformats.org/drawingml/2006/chart" r:id="rId6"/>
          </a:graphicData>
        </a:graphic>
      </p:graphicFrame>
      <p:sp>
        <p:nvSpPr>
          <p:cNvPr id="30" name="Rounded Rectangle 29"/>
          <p:cNvSpPr/>
          <p:nvPr/>
        </p:nvSpPr>
        <p:spPr>
          <a:xfrm>
            <a:off x="142875" y="5695950"/>
            <a:ext cx="3943350" cy="1028700"/>
          </a:xfrm>
          <a:prstGeom prst="roundRect">
            <a:avLst>
              <a:gd name="adj" fmla="val 74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Canada's humira biosimilars market expands at 9.0% CAGR through 2036, outpacing the North America benchmark of 8.5% by 50 BPS.</a:t>
            </a:r>
          </a:p>
        </p:txBody>
      </p:sp>
      <p:sp>
        <p:nvSpPr>
          <p:cNvPr id="31" name="Rounded Rectangle 30"/>
          <p:cNvSpPr/>
          <p:nvPr/>
        </p:nvSpPr>
        <p:spPr>
          <a:xfrm>
            <a:off x="4238625" y="5695950"/>
            <a:ext cx="3819525" cy="1028700"/>
          </a:xfrm>
          <a:prstGeom prst="roundRect">
            <a:avLst>
              <a:gd name="adj" fmla="val 74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Canada holds 73.6% of the North America humira biosimilars market in 2026; by 2036 that share moves to 77.0%.</a:t>
            </a:r>
          </a:p>
        </p:txBody>
      </p:sp>
      <p:sp>
        <p:nvSpPr>
          <p:cNvPr id="32" name="Rounded Rectangle 31"/>
          <p:cNvSpPr/>
          <p:nvPr/>
        </p:nvSpPr>
        <p:spPr>
          <a:xfrm>
            <a:off x="8210550" y="5695950"/>
            <a:ext cx="3819525" cy="1028700"/>
          </a:xfrm>
          <a:prstGeom prst="roundRect">
            <a:avLst>
              <a:gd name="adj" fmla="val 74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The forecast build-up adds 1,994 US$ Mn between 2026 and 2036 the Canada market grows to 2.4× its 2026 size over the decade.</a:t>
            </a:r>
          </a:p>
        </p:txBody>
      </p:sp>
      <p:sp>
        <p:nvSpPr>
          <p:cNvPr id="33" name="Rectangle 3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5" name="Rounded Rectangle 34">
            <a:hlinkClick action="ppaction://hlinksldjump" r:id="rId8"/>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6" name="Rounded Rectangle 35">
            <a:hlinkClick action="ppaction://hlinksldjump" r:id="rId9"/>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7" name="Rounded Rectangle 36">
            <a:hlinkClick action="ppaction://hlinksldjump" r:id="rId10"/>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Key Segments Overview, By Value (2026)</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2857500" cy="2867025"/>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(US$ Mn)</a:t>
            </a:r>
          </a:p>
        </p:txBody>
      </p:sp>
      <p:graphicFrame>
        <p:nvGraphicFramePr>
          <p:cNvPr id="13" name="Chart 12"/>
          <p:cNvGraphicFramePr>
            <a:graphicFrameLocks noGrp="1"/>
          </p:cNvGraphicFramePr>
          <p:nvPr/>
        </p:nvGraphicFramePr>
        <p:xfrm>
          <a:off x="238125" y="1143000"/>
          <a:ext cx="2667000" cy="2524125"/>
        </p:xfrm>
        <a:graphic>
          <a:graphicData uri="http://schemas.openxmlformats.org/drawingml/2006/chart">
            <c:chart xmlns:c="http://schemas.openxmlformats.org/drawingml/2006/chart" r:id="rId3"/>
          </a:graphicData>
        </a:graphic>
      </p:graphicFrame>
      <p:sp>
        <p:nvSpPr>
          <p:cNvPr id="14" name="Rounded Rectangle 13"/>
          <p:cNvSpPr/>
          <p:nvPr/>
        </p:nvSpPr>
        <p:spPr>
          <a:xfrm>
            <a:off x="3152775" y="857250"/>
            <a:ext cx="2857500" cy="2867025"/>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48025" y="914400"/>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Form Type  (US$ Mn)</a:t>
            </a:r>
          </a:p>
        </p:txBody>
      </p:sp>
      <p:graphicFrame>
        <p:nvGraphicFramePr>
          <p:cNvPr id="16" name="Chart 15"/>
          <p:cNvGraphicFramePr>
            <a:graphicFrameLocks noGrp="1"/>
          </p:cNvGraphicFramePr>
          <p:nvPr/>
        </p:nvGraphicFramePr>
        <p:xfrm>
          <a:off x="3248025" y="1143000"/>
          <a:ext cx="2667000" cy="2524125"/>
        </p:xfrm>
        <a:graphic>
          <a:graphicData uri="http://schemas.openxmlformats.org/drawingml/2006/chart">
            <c:chart xmlns:c="http://schemas.openxmlformats.org/drawingml/2006/chart" r:id="rId4"/>
          </a:graphicData>
        </a:graphic>
      </p:graphicFrame>
      <p:sp>
        <p:nvSpPr>
          <p:cNvPr id="17" name="Rounded Rectangle 16"/>
          <p:cNvSpPr/>
          <p:nvPr/>
        </p:nvSpPr>
        <p:spPr>
          <a:xfrm>
            <a:off x="6162675" y="857250"/>
            <a:ext cx="2857500" cy="2867025"/>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925" y="914400"/>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Dosage / Concentration  (US$ Mn)</a:t>
            </a:r>
          </a:p>
        </p:txBody>
      </p:sp>
      <p:graphicFrame>
        <p:nvGraphicFramePr>
          <p:cNvPr id="19" name="Chart 18"/>
          <p:cNvGraphicFramePr>
            <a:graphicFrameLocks noGrp="1"/>
          </p:cNvGraphicFramePr>
          <p:nvPr/>
        </p:nvGraphicFramePr>
        <p:xfrm>
          <a:off x="6257925" y="1143000"/>
          <a:ext cx="2667000" cy="2524125"/>
        </p:xfrm>
        <a:graphic>
          <a:graphicData uri="http://schemas.openxmlformats.org/drawingml/2006/chart">
            <c:chart xmlns:c="http://schemas.openxmlformats.org/drawingml/2006/chart" r:id="rId5"/>
          </a:graphicData>
        </a:graphic>
      </p:graphicFrame>
      <p:sp>
        <p:nvSpPr>
          <p:cNvPr id="20" name="Rounded Rectangle 19"/>
          <p:cNvSpPr/>
          <p:nvPr/>
        </p:nvSpPr>
        <p:spPr>
          <a:xfrm>
            <a:off x="9172575" y="857250"/>
            <a:ext cx="2857500" cy="2867025"/>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67825" y="914400"/>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Therapeutic Application  (US$ Mn)</a:t>
            </a:r>
          </a:p>
        </p:txBody>
      </p:sp>
      <p:graphicFrame>
        <p:nvGraphicFramePr>
          <p:cNvPr id="22" name="Chart 21"/>
          <p:cNvGraphicFramePr>
            <a:graphicFrameLocks noGrp="1"/>
          </p:cNvGraphicFramePr>
          <p:nvPr/>
        </p:nvGraphicFramePr>
        <p:xfrm>
          <a:off x="9267825" y="1143000"/>
          <a:ext cx="2667000" cy="2524125"/>
        </p:xfrm>
        <a:graphic>
          <a:graphicData uri="http://schemas.openxmlformats.org/drawingml/2006/chart">
            <c:chart xmlns:c="http://schemas.openxmlformats.org/drawingml/2006/chart" r:id="rId6"/>
          </a:graphicData>
        </a:graphic>
      </p:graphicFrame>
      <p:sp>
        <p:nvSpPr>
          <p:cNvPr id="23" name="Rounded Rectangle 22"/>
          <p:cNvSpPr/>
          <p:nvPr/>
        </p:nvSpPr>
        <p:spPr>
          <a:xfrm>
            <a:off x="142875" y="3857625"/>
            <a:ext cx="289560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8125" y="3914775"/>
            <a:ext cx="27051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Buyer Type  (US$ Mn)</a:t>
            </a:r>
          </a:p>
        </p:txBody>
      </p:sp>
      <p:graphicFrame>
        <p:nvGraphicFramePr>
          <p:cNvPr id="25" name="Chart 24"/>
          <p:cNvGraphicFramePr>
            <a:graphicFrameLocks noGrp="1"/>
          </p:cNvGraphicFramePr>
          <p:nvPr/>
        </p:nvGraphicFramePr>
        <p:xfrm>
          <a:off x="238125" y="4143375"/>
          <a:ext cx="2705100" cy="2524125"/>
        </p:xfrm>
        <a:graphic>
          <a:graphicData uri="http://schemas.openxmlformats.org/drawingml/2006/chart">
            <c:chart xmlns:c="http://schemas.openxmlformats.org/drawingml/2006/chart" r:id="rId7"/>
          </a:graphicData>
        </a:graphic>
      </p:graphicFrame>
      <p:sp>
        <p:nvSpPr>
          <p:cNvPr id="26" name="Rounded Rectangle 25"/>
          <p:cNvSpPr/>
          <p:nvPr/>
        </p:nvSpPr>
        <p:spPr>
          <a:xfrm>
            <a:off x="3190875" y="3857625"/>
            <a:ext cx="289560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86125" y="3914775"/>
            <a:ext cx="270510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 Distribution Channel  (US$ Mn)</a:t>
            </a:r>
          </a:p>
        </p:txBody>
      </p:sp>
      <p:graphicFrame>
        <p:nvGraphicFramePr>
          <p:cNvPr id="28" name="Chart 27"/>
          <p:cNvGraphicFramePr>
            <a:graphicFrameLocks noGrp="1"/>
          </p:cNvGraphicFramePr>
          <p:nvPr/>
        </p:nvGraphicFramePr>
        <p:xfrm>
          <a:off x="3286125" y="4314825"/>
          <a:ext cx="2705100" cy="2352675"/>
        </p:xfrm>
        <a:graphic>
          <a:graphicData uri="http://schemas.openxmlformats.org/drawingml/2006/chart">
            <c:chart xmlns:c="http://schemas.openxmlformats.org/drawingml/2006/chart" r:id="rId8"/>
          </a:graphicData>
        </a:graphic>
      </p:graphicFrame>
      <p:sp>
        <p:nvSpPr>
          <p:cNvPr id="29" name="Rounded Rectangle 28"/>
          <p:cNvSpPr/>
          <p:nvPr/>
        </p:nvSpPr>
        <p:spPr>
          <a:xfrm>
            <a:off x="6238875" y="3857625"/>
            <a:ext cx="289560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34125" y="3914775"/>
            <a:ext cx="270510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x Therapeutic Application  (US$ Mn)</a:t>
            </a:r>
          </a:p>
        </p:txBody>
      </p:sp>
      <p:graphicFrame>
        <p:nvGraphicFramePr>
          <p:cNvPr id="31" name="Chart 30"/>
          <p:cNvGraphicFramePr>
            <a:graphicFrameLocks noGrp="1"/>
          </p:cNvGraphicFramePr>
          <p:nvPr/>
        </p:nvGraphicFramePr>
        <p:xfrm>
          <a:off x="6334125" y="4314825"/>
          <a:ext cx="2705100" cy="2352675"/>
        </p:xfrm>
        <a:graphic>
          <a:graphicData uri="http://schemas.openxmlformats.org/drawingml/2006/chart">
            <c:chart xmlns:c="http://schemas.openxmlformats.org/drawingml/2006/chart" r:id="rId9"/>
          </a:graphicData>
        </a:graphic>
      </p:graphicFrame>
      <p:sp>
        <p:nvSpPr>
          <p:cNvPr id="32" name="Rectangle 3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4" name="Rounded Rectangle 33">
            <a:hlinkClick action="ppaction://hlinksldjump" r:id="rId11"/>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5" name="Rounded Rectangle 34">
            <a:hlinkClick action="ppaction://hlinksldjump" r:id="rId12"/>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6" name="Rounded Rectangle 35">
            <a:hlinkClick action="ppaction://hlinksldjump" r:id="rId13"/>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Key Segments Overview, By Value (2026)   ·   (continued 2/2)</a:t>
            </a:r>
          </a:p>
        </p:txBody>
      </p:sp>
      <p:sp>
        <p:nvSpPr>
          <p:cNvPr id="10" name="Rounded Rectangle 9"/>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942975"/>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  ·  2026 Total: 1,453 US$ Mn</a:t>
            </a:r>
          </a:p>
        </p:txBody>
      </p:sp>
      <p:sp>
        <p:nvSpPr>
          <p:cNvPr id="12" name="Rectangle 11"/>
          <p:cNvSpPr/>
          <p:nvPr/>
        </p:nvSpPr>
        <p:spPr>
          <a:xfrm>
            <a:off x="276225" y="11811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266825"/>
            <a:ext cx="11639550" cy="538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By Product Type, 'Amjevita / Amgevita' leads at 199.6 US$ Mn (14% share), ahead of 'Yusimry' (184.0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By Form Type, 'Autoinjector / Pen' leads at 751.3 US$ Mn (52% share), ahead of 'Prefilled Syringe' (701.5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By Dosage / Concentration, '40 mg' leads at 460.7 US$ Mn (32% share), ahead of '20 mg' (400.3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By Therapeutic Application, 'Rheumatology' leads at 753.3 US$ Mn (52% share), ahead of 'Dermatology' (314.0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By Buyer Type, 'Specialty Clinics' leads at 506.0 US$ Mn (35% share), ahead of 'Institutional Buyers' (363.3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By Sales / Distribution Channel, 'Online / Digital Pharmacy' leads at 486.8 US$ Mn (34% share), ahead of 'Specialty Distribution' (411.5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By Product Type x Therapeutic Application, 'Amjevita / Amgevita' leads at 199.6 US$ Mn (14% share), ahead of 'Yusimry' (184.0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Use the Country slicer in the top band to switch country the selection stays synced across every page of the report.</a:t>
            </a:r>
          </a:p>
        </p:txBody>
      </p:sp>
      <p:sp>
        <p:nvSpPr>
          <p:cNvPr id="14" name="Rectangle 1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6" name="Rounded Rectangle 1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7" name="Rounded Rectangle 1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 Country</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Product Type</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Segmental</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Table (Volume &amp; Value)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YoY</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15</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Segmental Analysis Product Type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5876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Product Type (US$ Mn)</a:t>
            </a:r>
          </a:p>
        </p:txBody>
      </p:sp>
      <p:graphicFrame>
        <p:nvGraphicFramePr>
          <p:cNvPr id="13" name="Chart 12"/>
          <p:cNvGraphicFramePr>
            <a:graphicFrameLocks noGrp="1"/>
          </p:cNvGraphicFramePr>
          <p:nvPr/>
        </p:nvGraphicFramePr>
        <p:xfrm>
          <a:off x="238125" y="1143000"/>
          <a:ext cx="5686425" cy="5524500"/>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857250"/>
            <a:ext cx="5876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Product Type</a:t>
            </a:r>
          </a:p>
        </p:txBody>
      </p:sp>
      <p:graphicFrame>
        <p:nvGraphicFramePr>
          <p:cNvPr id="16" name="Table 15"/>
          <p:cNvGraphicFramePr>
            <a:graphicFrameLocks noGrp="1"/>
          </p:cNvGraphicFramePr>
          <p:nvPr/>
        </p:nvGraphicFramePr>
        <p:xfrm>
          <a:off x="6267450" y="1143000"/>
          <a:ext cx="5686424" cy="2171700"/>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Product Type</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900" b="0">
                          <a:solidFill>
                            <a:srgbClr val="2E2E2E"/>
                          </a:solidFill>
                          <a:latin typeface="Calibri"/>
                        </a:rPr>
                        <a:t>13.7%</a:t>
                      </a:r>
                    </a:p>
                  </a:txBody>
                  <a:tcPr marL="85725" marR="38100" marT="19050" marB="19050" anchor="ctr">
                    <a:solidFill>
                      <a:srgbClr val="FFFFFF"/>
                    </a:solidFill>
                  </a:tcPr>
                </a:tc>
                <a:tc>
                  <a:txBody>
                    <a:bodyPr wrap="none"/>
                    <a:lstStyle/>
                    <a:p>
                      <a:pPr algn="l"/>
                      <a:r>
                        <a:rPr sz="900" b="0">
                          <a:solidFill>
                            <a:srgbClr val="2E2E2E"/>
                          </a:solidFill>
                          <a:latin typeface="Calibri"/>
                        </a:rPr>
                        <a:t>13.3%</a:t>
                      </a:r>
                    </a:p>
                  </a:txBody>
                  <a:tcPr marL="85725" marR="38100" marT="19050" marB="19050" anchor="ctr">
                    <a:solidFill>
                      <a:srgbClr val="FFFFFF"/>
                    </a:solidFill>
                  </a:tcPr>
                </a:tc>
                <a:tc>
                  <a:txBody>
                    <a:bodyPr wrap="none"/>
                    <a:lstStyle/>
                    <a:p>
                      <a:pPr algn="l"/>
                      <a:r>
                        <a:rPr sz="900" b="1">
                          <a:solidFill>
                            <a:srgbClr val="E44D3A"/>
                          </a:solidFill>
                          <a:latin typeface="Calibri"/>
                        </a:rPr>
                        <a:t>-39</a:t>
                      </a:r>
                    </a:p>
                  </a:txBody>
                  <a:tcPr marL="85725" marR="38100" marT="19050" marB="19050" anchor="ctr">
                    <a:solidFill>
                      <a:srgbClr val="FFFFFF"/>
                    </a:solidFill>
                  </a:tcPr>
                </a:tc>
                <a:tc>
                  <a:txBody>
                    <a:bodyPr wrap="none"/>
                    <a:lstStyle/>
                    <a:p>
                      <a:pPr algn="l"/>
                      <a:r>
                        <a:rPr sz="900" b="0">
                          <a:solidFill>
                            <a:srgbClr val="2E2E2E"/>
                          </a:solidFill>
                          <a:latin typeface="Calibri"/>
                        </a:rPr>
                        <a:t>8.7%</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Cyltezo</a:t>
                      </a:r>
                    </a:p>
                  </a:txBody>
                  <a:tcPr marL="85725" marR="38100" marT="19050" marB="19050" anchor="ctr">
                    <a:solidFill>
                      <a:srgbClr val="F5F8FA"/>
                    </a:solidFill>
                  </a:tcPr>
                </a:tc>
                <a:tc>
                  <a:txBody>
                    <a:bodyPr wrap="none"/>
                    <a:lstStyle/>
                    <a:p>
                      <a:pPr algn="l"/>
                      <a:r>
                        <a:rPr sz="900" b="0">
                          <a:solidFill>
                            <a:srgbClr val="2E2E2E"/>
                          </a:solidFill>
                          <a:latin typeface="Calibri"/>
                        </a:rPr>
                        <a:t>11.5%</a:t>
                      </a:r>
                    </a:p>
                  </a:txBody>
                  <a:tcPr marL="85725" marR="38100" marT="19050" marB="19050" anchor="ctr">
                    <a:solidFill>
                      <a:srgbClr val="F5F8FA"/>
                    </a:solidFill>
                  </a:tcPr>
                </a:tc>
                <a:tc>
                  <a:txBody>
                    <a:bodyPr wrap="none"/>
                    <a:lstStyle/>
                    <a:p>
                      <a:pPr algn="l"/>
                      <a:r>
                        <a:rPr sz="900" b="0">
                          <a:solidFill>
                            <a:srgbClr val="2E2E2E"/>
                          </a:solidFill>
                          <a:latin typeface="Calibri"/>
                        </a:rPr>
                        <a:t>11.0%</a:t>
                      </a:r>
                    </a:p>
                  </a:txBody>
                  <a:tcPr marL="85725" marR="38100" marT="19050" marB="19050" anchor="ctr">
                    <a:solidFill>
                      <a:srgbClr val="F5F8FA"/>
                    </a:solidFill>
                  </a:tcPr>
                </a:tc>
                <a:tc>
                  <a:txBody>
                    <a:bodyPr wrap="none"/>
                    <a:lstStyle/>
                    <a:p>
                      <a:pPr algn="l"/>
                      <a:r>
                        <a:rPr sz="900" b="1">
                          <a:solidFill>
                            <a:srgbClr val="E44D3A"/>
                          </a:solidFill>
                          <a:latin typeface="Calibri"/>
                        </a:rPr>
                        <a:t>-47</a:t>
                      </a:r>
                    </a:p>
                  </a:txBody>
                  <a:tcPr marL="85725" marR="38100" marT="19050" marB="19050" anchor="ctr">
                    <a:solidFill>
                      <a:srgbClr val="F5F8FA"/>
                    </a:solidFill>
                  </a:tcPr>
                </a:tc>
                <a:tc>
                  <a:txBody>
                    <a:bodyPr wrap="none"/>
                    <a:lstStyle/>
                    <a:p>
                      <a:pPr algn="l"/>
                      <a:r>
                        <a:rPr sz="900" b="0">
                          <a:solidFill>
                            <a:srgbClr val="2E2E2E"/>
                          </a:solidFill>
                          <a:latin typeface="Calibri"/>
                        </a:rPr>
                        <a:t>8.6%</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900" b="0">
                          <a:solidFill>
                            <a:srgbClr val="2E2E2E"/>
                          </a:solidFill>
                          <a:latin typeface="Calibri"/>
                        </a:rPr>
                        <a:t>5.0%</a:t>
                      </a:r>
                    </a:p>
                  </a:txBody>
                  <a:tcPr marL="85725" marR="38100" marT="19050" marB="19050" anchor="ctr">
                    <a:solidFill>
                      <a:srgbClr val="FFFFFF"/>
                    </a:solidFill>
                  </a:tcPr>
                </a:tc>
                <a:tc>
                  <a:txBody>
                    <a:bodyPr wrap="none"/>
                    <a:lstStyle/>
                    <a:p>
                      <a:pPr algn="l"/>
                      <a:r>
                        <a:rPr sz="900" b="0">
                          <a:solidFill>
                            <a:srgbClr val="2E2E2E"/>
                          </a:solidFill>
                          <a:latin typeface="Calibri"/>
                        </a:rPr>
                        <a:t>5.0%</a:t>
                      </a:r>
                    </a:p>
                  </a:txBody>
                  <a:tcPr marL="85725" marR="38100" marT="19050" marB="19050" anchor="ctr">
                    <a:solidFill>
                      <a:srgbClr val="FFFFFF"/>
                    </a:solidFill>
                  </a:tcPr>
                </a:tc>
                <a:tc>
                  <a:txBody>
                    <a:bodyPr wrap="none"/>
                    <a:lstStyle/>
                    <a:p>
                      <a:pPr algn="l"/>
                      <a:r>
                        <a:rPr sz="900" b="1">
                          <a:solidFill>
                            <a:srgbClr val="E44D3A"/>
                          </a:solidFill>
                          <a:latin typeface="Calibri"/>
                        </a:rPr>
                        <a:t>-2</a:t>
                      </a:r>
                    </a:p>
                  </a:txBody>
                  <a:tcPr marL="85725" marR="38100" marT="19050" marB="19050" anchor="ctr">
                    <a:solidFill>
                      <a:srgbClr val="FFFFFF"/>
                    </a:solidFill>
                  </a:tcPr>
                </a:tc>
                <a:tc>
                  <a:txBody>
                    <a:bodyPr wrap="none"/>
                    <a:lstStyle/>
                    <a:p>
                      <a:pPr algn="l"/>
                      <a:r>
                        <a:rPr sz="900" b="0">
                          <a:solidFill>
                            <a:srgbClr val="2E2E2E"/>
                          </a:solidFill>
                          <a:latin typeface="Calibri"/>
                        </a:rPr>
                        <a:t>9.0%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900" b="0">
                          <a:solidFill>
                            <a:srgbClr val="2E2E2E"/>
                          </a:solidFill>
                          <a:latin typeface="Calibri"/>
                        </a:rPr>
                        <a:t>7.6%</a:t>
                      </a:r>
                    </a:p>
                  </a:txBody>
                  <a:tcPr marL="85725" marR="38100" marT="19050" marB="19050" anchor="ctr">
                    <a:solidFill>
                      <a:srgbClr val="F5F8FA"/>
                    </a:solidFill>
                  </a:tcPr>
                </a:tc>
                <a:tc>
                  <a:txBody>
                    <a:bodyPr wrap="none"/>
                    <a:lstStyle/>
                    <a:p>
                      <a:pPr algn="l"/>
                      <a:r>
                        <a:rPr sz="900" b="0">
                          <a:solidFill>
                            <a:srgbClr val="2E2E2E"/>
                          </a:solidFill>
                          <a:latin typeface="Calibri"/>
                        </a:rPr>
                        <a:t>6.6%</a:t>
                      </a:r>
                    </a:p>
                  </a:txBody>
                  <a:tcPr marL="85725" marR="38100" marT="19050" marB="19050" anchor="ctr">
                    <a:solidFill>
                      <a:srgbClr val="F5F8FA"/>
                    </a:solidFill>
                  </a:tcPr>
                </a:tc>
                <a:tc>
                  <a:txBody>
                    <a:bodyPr wrap="none"/>
                    <a:lstStyle/>
                    <a:p>
                      <a:pPr algn="l"/>
                      <a:r>
                        <a:rPr sz="900" b="1">
                          <a:solidFill>
                            <a:srgbClr val="E44D3A"/>
                          </a:solidFill>
                          <a:latin typeface="Calibri"/>
                        </a:rPr>
                        <a:t>-100</a:t>
                      </a:r>
                    </a:p>
                  </a:txBody>
                  <a:tcPr marL="85725" marR="38100" marT="19050" marB="19050" anchor="ctr">
                    <a:solidFill>
                      <a:srgbClr val="F5F8FA"/>
                    </a:solidFill>
                  </a:tcPr>
                </a:tc>
                <a:tc>
                  <a:txBody>
                    <a:bodyPr wrap="none"/>
                    <a:lstStyle/>
                    <a:p>
                      <a:pPr algn="l"/>
                      <a:r>
                        <a:rPr sz="900" b="0">
                          <a:solidFill>
                            <a:srgbClr val="2E2E2E"/>
                          </a:solidFill>
                          <a:latin typeface="Calibri"/>
                        </a:rPr>
                        <a:t>7.5%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Idacio</a:t>
                      </a:r>
                    </a:p>
                  </a:txBody>
                  <a:tcPr marL="85725" marR="38100" marT="19050" marB="19050" anchor="ctr">
                    <a:solidFill>
                      <a:srgbClr val="FFFFFF"/>
                    </a:solidFill>
                  </a:tcPr>
                </a:tc>
                <a:tc>
                  <a:txBody>
                    <a:bodyPr wrap="none"/>
                    <a:lstStyle/>
                    <a:p>
                      <a:pPr algn="l"/>
                      <a:r>
                        <a:rPr sz="900" b="0">
                          <a:solidFill>
                            <a:srgbClr val="2E2E2E"/>
                          </a:solidFill>
                          <a:latin typeface="Calibri"/>
                        </a:rPr>
                        <a:t>4.9%</a:t>
                      </a:r>
                    </a:p>
                  </a:txBody>
                  <a:tcPr marL="85725" marR="38100" marT="19050" marB="19050" anchor="ctr">
                    <a:solidFill>
                      <a:srgbClr val="FFFFFF"/>
                    </a:solidFill>
                  </a:tcPr>
                </a:tc>
                <a:tc>
                  <a:txBody>
                    <a:bodyPr wrap="none"/>
                    <a:lstStyle/>
                    <a:p>
                      <a:pPr algn="l"/>
                      <a:r>
                        <a:rPr sz="900" b="0">
                          <a:solidFill>
                            <a:srgbClr val="2E2E2E"/>
                          </a:solidFill>
                          <a:latin typeface="Calibri"/>
                        </a:rPr>
                        <a:t>4.7%</a:t>
                      </a:r>
                    </a:p>
                  </a:txBody>
                  <a:tcPr marL="85725" marR="38100" marT="19050" marB="19050" anchor="ctr">
                    <a:solidFill>
                      <a:srgbClr val="FFFFFF"/>
                    </a:solidFill>
                  </a:tcPr>
                </a:tc>
                <a:tc>
                  <a:txBody>
                    <a:bodyPr wrap="none"/>
                    <a:lstStyle/>
                    <a:p>
                      <a:pPr algn="l"/>
                      <a:r>
                        <a:rPr sz="900" b="1">
                          <a:solidFill>
                            <a:srgbClr val="E44D3A"/>
                          </a:solidFill>
                          <a:latin typeface="Calibri"/>
                        </a:rPr>
                        <a:t>-23</a:t>
                      </a:r>
                    </a:p>
                  </a:txBody>
                  <a:tcPr marL="85725" marR="38100" marT="19050" marB="19050" anchor="ctr">
                    <a:solidFill>
                      <a:srgbClr val="FFFFFF"/>
                    </a:solidFill>
                  </a:tcPr>
                </a:tc>
                <a:tc>
                  <a:txBody>
                    <a:bodyPr wrap="none"/>
                    <a:lstStyle/>
                    <a:p>
                      <a:pPr algn="l"/>
                      <a:r>
                        <a:rPr sz="900" b="0">
                          <a:solidFill>
                            <a:srgbClr val="2E2E2E"/>
                          </a:solidFill>
                          <a:latin typeface="Calibri"/>
                        </a:rPr>
                        <a:t>8.5%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Hulio</a:t>
                      </a:r>
                    </a:p>
                  </a:txBody>
                  <a:tcPr marL="85725" marR="38100" marT="19050" marB="19050" anchor="ctr">
                    <a:solidFill>
                      <a:srgbClr val="F5F8FA"/>
                    </a:solidFill>
                  </a:tcPr>
                </a:tc>
                <a:tc>
                  <a:txBody>
                    <a:bodyPr wrap="none"/>
                    <a:lstStyle/>
                    <a:p>
                      <a:pPr algn="l"/>
                      <a:r>
                        <a:rPr sz="900" b="0">
                          <a:solidFill>
                            <a:srgbClr val="2E2E2E"/>
                          </a:solidFill>
                          <a:latin typeface="Calibri"/>
                        </a:rPr>
                        <a:t>8.0%</a:t>
                      </a:r>
                    </a:p>
                  </a:txBody>
                  <a:tcPr marL="85725" marR="38100" marT="19050" marB="19050" anchor="ctr">
                    <a:solidFill>
                      <a:srgbClr val="F5F8FA"/>
                    </a:solidFill>
                  </a:tcPr>
                </a:tc>
                <a:tc>
                  <a:txBody>
                    <a:bodyPr wrap="none"/>
                    <a:lstStyle/>
                    <a:p>
                      <a:pPr algn="l"/>
                      <a:r>
                        <a:rPr sz="900" b="0">
                          <a:solidFill>
                            <a:srgbClr val="2E2E2E"/>
                          </a:solidFill>
                          <a:latin typeface="Calibri"/>
                        </a:rPr>
                        <a:t>9.9%</a:t>
                      </a:r>
                    </a:p>
                  </a:txBody>
                  <a:tcPr marL="85725" marR="38100" marT="19050" marB="19050" anchor="ctr">
                    <a:solidFill>
                      <a:srgbClr val="F5F8FA"/>
                    </a:solidFill>
                  </a:tcPr>
                </a:tc>
                <a:tc>
                  <a:txBody>
                    <a:bodyPr wrap="none"/>
                    <a:lstStyle/>
                    <a:p>
                      <a:pPr algn="l"/>
                      <a:r>
                        <a:rPr sz="900" b="1">
                          <a:solidFill>
                            <a:srgbClr val="008189"/>
                          </a:solidFill>
                          <a:latin typeface="Calibri"/>
                        </a:rPr>
                        <a:t>+192</a:t>
                      </a:r>
                    </a:p>
                  </a:txBody>
                  <a:tcPr marL="85725" marR="38100" marT="19050" marB="19050" anchor="ctr">
                    <a:solidFill>
                      <a:srgbClr val="F5F8FA"/>
                    </a:solidFill>
                  </a:tcPr>
                </a:tc>
                <a:tc>
                  <a:txBody>
                    <a:bodyPr wrap="none"/>
                    <a:lstStyle/>
                    <a:p>
                      <a:pPr algn="l"/>
                      <a:r>
                        <a:rPr sz="900" b="0">
                          <a:solidFill>
                            <a:srgbClr val="2E2E2E"/>
                          </a:solidFill>
                          <a:latin typeface="Calibri"/>
                        </a:rPr>
                        <a:t>11.4%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900" b="0">
                          <a:solidFill>
                            <a:srgbClr val="2E2E2E"/>
                          </a:solidFill>
                          <a:latin typeface="Calibri"/>
                        </a:rPr>
                        <a:t>7.6%</a:t>
                      </a:r>
                    </a:p>
                  </a:txBody>
                  <a:tcPr marL="85725" marR="38100" marT="19050" marB="19050" anchor="ctr">
                    <a:solidFill>
                      <a:srgbClr val="FFFFFF"/>
                    </a:solidFill>
                  </a:tcPr>
                </a:tc>
                <a:tc>
                  <a:txBody>
                    <a:bodyPr wrap="none"/>
                    <a:lstStyle/>
                    <a:p>
                      <a:pPr algn="l"/>
                      <a:r>
                        <a:rPr sz="900" b="0">
                          <a:solidFill>
                            <a:srgbClr val="2E2E2E"/>
                          </a:solidFill>
                          <a:latin typeface="Calibri"/>
                        </a:rPr>
                        <a:t>8.0%</a:t>
                      </a:r>
                    </a:p>
                  </a:txBody>
                  <a:tcPr marL="85725" marR="38100" marT="19050" marB="19050" anchor="ctr">
                    <a:solidFill>
                      <a:srgbClr val="FFFFFF"/>
                    </a:solidFill>
                  </a:tcPr>
                </a:tc>
                <a:tc>
                  <a:txBody>
                    <a:bodyPr wrap="none"/>
                    <a:lstStyle/>
                    <a:p>
                      <a:pPr algn="l"/>
                      <a:r>
                        <a:rPr sz="900" b="1">
                          <a:solidFill>
                            <a:srgbClr val="008189"/>
                          </a:solidFill>
                          <a:latin typeface="Calibri"/>
                        </a:rPr>
                        <a:t>+40</a:t>
                      </a:r>
                    </a:p>
                  </a:txBody>
                  <a:tcPr marL="85725" marR="38100" marT="19050" marB="19050" anchor="ctr">
                    <a:solidFill>
                      <a:srgbClr val="FFFFFF"/>
                    </a:solidFill>
                  </a:tcPr>
                </a:tc>
                <a:tc>
                  <a:txBody>
                    <a:bodyPr wrap="none"/>
                    <a:lstStyle/>
                    <a:p>
                      <a:pPr algn="l"/>
                      <a:r>
                        <a:rPr sz="900" b="0">
                          <a:solidFill>
                            <a:srgbClr val="2E2E2E"/>
                          </a:solidFill>
                          <a:latin typeface="Calibri"/>
                        </a:rPr>
                        <a:t>9.6%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Yusimry</a:t>
                      </a:r>
                    </a:p>
                  </a:txBody>
                  <a:tcPr marL="85725" marR="38100" marT="19050" marB="19050" anchor="ctr">
                    <a:solidFill>
                      <a:srgbClr val="F5F8FA"/>
                    </a:solidFill>
                  </a:tcPr>
                </a:tc>
                <a:tc>
                  <a:txBody>
                    <a:bodyPr wrap="none"/>
                    <a:lstStyle/>
                    <a:p>
                      <a:pPr algn="l"/>
                      <a:r>
                        <a:rPr sz="900" b="0">
                          <a:solidFill>
                            <a:srgbClr val="2E2E2E"/>
                          </a:solidFill>
                          <a:latin typeface="Calibri"/>
                        </a:rPr>
                        <a:t>12.7%</a:t>
                      </a:r>
                    </a:p>
                  </a:txBody>
                  <a:tcPr marL="85725" marR="38100" marT="19050" marB="19050" anchor="ctr">
                    <a:solidFill>
                      <a:srgbClr val="F5F8FA"/>
                    </a:solidFill>
                  </a:tcPr>
                </a:tc>
                <a:tc>
                  <a:txBody>
                    <a:bodyPr wrap="none"/>
                    <a:lstStyle/>
                    <a:p>
                      <a:pPr algn="l"/>
                      <a:r>
                        <a:rPr sz="900" b="0">
                          <a:solidFill>
                            <a:srgbClr val="2E2E2E"/>
                          </a:solidFill>
                          <a:latin typeface="Calibri"/>
                        </a:rPr>
                        <a:t>12.1%</a:t>
                      </a:r>
                    </a:p>
                  </a:txBody>
                  <a:tcPr marL="85725" marR="38100" marT="19050" marB="19050" anchor="ctr">
                    <a:solidFill>
                      <a:srgbClr val="F5F8FA"/>
                    </a:solidFill>
                  </a:tcPr>
                </a:tc>
                <a:tc>
                  <a:txBody>
                    <a:bodyPr wrap="none"/>
                    <a:lstStyle/>
                    <a:p>
                      <a:pPr algn="l"/>
                      <a:r>
                        <a:rPr sz="900" b="1">
                          <a:solidFill>
                            <a:srgbClr val="E44D3A"/>
                          </a:solidFill>
                          <a:latin typeface="Calibri"/>
                        </a:rPr>
                        <a:t>-57</a:t>
                      </a:r>
                    </a:p>
                  </a:txBody>
                  <a:tcPr marL="85725" marR="38100" marT="19050" marB="19050" anchor="ctr">
                    <a:solidFill>
                      <a:srgbClr val="F5F8FA"/>
                    </a:solidFill>
                  </a:tcPr>
                </a:tc>
                <a:tc>
                  <a:txBody>
                    <a:bodyPr wrap="none"/>
                    <a:lstStyle/>
                    <a:p>
                      <a:pPr algn="l"/>
                      <a:r>
                        <a:rPr sz="900" b="0">
                          <a:solidFill>
                            <a:srgbClr val="2E2E2E"/>
                          </a:solidFill>
                          <a:latin typeface="Calibri"/>
                        </a:rPr>
                        <a:t>8.5%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Yuflyma</a:t>
                      </a:r>
                    </a:p>
                  </a:txBody>
                  <a:tcPr marL="85725" marR="38100" marT="19050" marB="19050" anchor="ctr">
                    <a:solidFill>
                      <a:srgbClr val="FFFFFF"/>
                    </a:solidFill>
                  </a:tcPr>
                </a:tc>
                <a:tc>
                  <a:txBody>
                    <a:bodyPr wrap="none"/>
                    <a:lstStyle/>
                    <a:p>
                      <a:pPr algn="l"/>
                      <a:r>
                        <a:rPr sz="900" b="0">
                          <a:solidFill>
                            <a:srgbClr val="2E2E2E"/>
                          </a:solidFill>
                          <a:latin typeface="Calibri"/>
                        </a:rPr>
                        <a:t>11.4%</a:t>
                      </a:r>
                    </a:p>
                  </a:txBody>
                  <a:tcPr marL="85725" marR="38100" marT="19050" marB="19050" anchor="ctr">
                    <a:solidFill>
                      <a:srgbClr val="FFFFFF"/>
                    </a:solidFill>
                  </a:tcPr>
                </a:tc>
                <a:tc>
                  <a:txBody>
                    <a:bodyPr wrap="none"/>
                    <a:lstStyle/>
                    <a:p>
                      <a:pPr algn="l"/>
                      <a:r>
                        <a:rPr sz="900" b="0">
                          <a:solidFill>
                            <a:srgbClr val="2E2E2E"/>
                          </a:solidFill>
                          <a:latin typeface="Calibri"/>
                        </a:rPr>
                        <a:t>13.1%</a:t>
                      </a:r>
                    </a:p>
                  </a:txBody>
                  <a:tcPr marL="85725" marR="38100" marT="19050" marB="19050" anchor="ctr">
                    <a:solidFill>
                      <a:srgbClr val="FFFFFF"/>
                    </a:solidFill>
                  </a:tcPr>
                </a:tc>
                <a:tc>
                  <a:txBody>
                    <a:bodyPr wrap="none"/>
                    <a:lstStyle/>
                    <a:p>
                      <a:pPr algn="l"/>
                      <a:r>
                        <a:rPr sz="900" b="1">
                          <a:solidFill>
                            <a:srgbClr val="008189"/>
                          </a:solidFill>
                          <a:latin typeface="Calibri"/>
                        </a:rPr>
                        <a:t>+162</a:t>
                      </a:r>
                    </a:p>
                  </a:txBody>
                  <a:tcPr marL="85725" marR="38100" marT="19050" marB="19050" anchor="ctr">
                    <a:solidFill>
                      <a:srgbClr val="FFFFFF"/>
                    </a:solidFill>
                  </a:tcPr>
                </a:tc>
                <a:tc>
                  <a:txBody>
                    <a:bodyPr wrap="none"/>
                    <a:lstStyle/>
                    <a:p>
                      <a:pPr algn="l"/>
                      <a:r>
                        <a:rPr sz="900" b="0">
                          <a:solidFill>
                            <a:srgbClr val="2E2E2E"/>
                          </a:solidFill>
                          <a:latin typeface="Calibri"/>
                        </a:rPr>
                        <a:t>10.5%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Simlandi</a:t>
                      </a:r>
                    </a:p>
                  </a:txBody>
                  <a:tcPr marL="85725" marR="38100" marT="19050" marB="19050" anchor="ctr">
                    <a:solidFill>
                      <a:srgbClr val="F5F8FA"/>
                    </a:solidFill>
                  </a:tcPr>
                </a:tc>
                <a:tc>
                  <a:txBody>
                    <a:bodyPr wrap="none"/>
                    <a:lstStyle/>
                    <a:p>
                      <a:pPr algn="l"/>
                      <a:r>
                        <a:rPr sz="900" b="0">
                          <a:solidFill>
                            <a:srgbClr val="2E2E2E"/>
                          </a:solidFill>
                          <a:latin typeface="Calibri"/>
                        </a:rPr>
                        <a:t>8.8%</a:t>
                      </a:r>
                    </a:p>
                  </a:txBody>
                  <a:tcPr marL="85725" marR="38100" marT="19050" marB="19050" anchor="ctr">
                    <a:solidFill>
                      <a:srgbClr val="F5F8FA"/>
                    </a:solidFill>
                  </a:tcPr>
                </a:tc>
                <a:tc>
                  <a:txBody>
                    <a:bodyPr wrap="none"/>
                    <a:lstStyle/>
                    <a:p>
                      <a:pPr algn="l"/>
                      <a:r>
                        <a:rPr sz="900" b="0">
                          <a:solidFill>
                            <a:srgbClr val="2E2E2E"/>
                          </a:solidFill>
                          <a:latin typeface="Calibri"/>
                        </a:rPr>
                        <a:t>7.5%</a:t>
                      </a:r>
                    </a:p>
                  </a:txBody>
                  <a:tcPr marL="85725" marR="38100" marT="19050" marB="19050" anchor="ctr">
                    <a:solidFill>
                      <a:srgbClr val="F5F8FA"/>
                    </a:solidFill>
                  </a:tcPr>
                </a:tc>
                <a:tc>
                  <a:txBody>
                    <a:bodyPr wrap="none"/>
                    <a:lstStyle/>
                    <a:p>
                      <a:pPr algn="l"/>
                      <a:r>
                        <a:rPr sz="900" b="1">
                          <a:solidFill>
                            <a:srgbClr val="E44D3A"/>
                          </a:solidFill>
                          <a:latin typeface="Calibri"/>
                        </a:rPr>
                        <a:t>-135</a:t>
                      </a:r>
                    </a:p>
                  </a:txBody>
                  <a:tcPr marL="85725" marR="38100" marT="19050" marB="19050" anchor="ctr">
                    <a:solidFill>
                      <a:srgbClr val="F5F8FA"/>
                    </a:solidFill>
                  </a:tcPr>
                </a:tc>
                <a:tc>
                  <a:txBody>
                    <a:bodyPr wrap="none"/>
                    <a:lstStyle/>
                    <a:p>
                      <a:pPr algn="l"/>
                      <a:r>
                        <a:rPr sz="900" b="0">
                          <a:solidFill>
                            <a:srgbClr val="2E2E2E"/>
                          </a:solidFill>
                          <a:latin typeface="Calibri"/>
                        </a:rPr>
                        <a:t>7.2%</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900" b="0">
                          <a:solidFill>
                            <a:srgbClr val="2E2E2E"/>
                          </a:solidFill>
                          <a:latin typeface="Calibri"/>
                        </a:rPr>
                        <a:t>8.8%</a:t>
                      </a:r>
                    </a:p>
                  </a:txBody>
                  <a:tcPr marL="85725" marR="38100" marT="19050" marB="19050" anchor="ctr">
                    <a:solidFill>
                      <a:srgbClr val="FFFFFF"/>
                    </a:solidFill>
                  </a:tcPr>
                </a:tc>
                <a:tc>
                  <a:txBody>
                    <a:bodyPr wrap="none"/>
                    <a:lstStyle/>
                    <a:p>
                      <a:pPr algn="l"/>
                      <a:r>
                        <a:rPr sz="900" b="0">
                          <a:solidFill>
                            <a:srgbClr val="2E2E2E"/>
                          </a:solidFill>
                          <a:latin typeface="Calibri"/>
                        </a:rPr>
                        <a:t>8.9%</a:t>
                      </a:r>
                    </a:p>
                  </a:txBody>
                  <a:tcPr marL="85725" marR="38100" marT="19050" marB="19050" anchor="ctr">
                    <a:solidFill>
                      <a:srgbClr val="FFFFFF"/>
                    </a:solidFill>
                  </a:tcPr>
                </a:tc>
                <a:tc>
                  <a:txBody>
                    <a:bodyPr wrap="none"/>
                    <a:lstStyle/>
                    <a:p>
                      <a:pPr algn="l"/>
                      <a:r>
                        <a:rPr sz="900" b="1">
                          <a:solidFill>
                            <a:srgbClr val="008189"/>
                          </a:solidFill>
                          <a:latin typeface="Calibri"/>
                        </a:rPr>
                        <a:t>+8</a:t>
                      </a:r>
                    </a:p>
                  </a:txBody>
                  <a:tcPr marL="85725" marR="38100" marT="19050" marB="19050" anchor="ctr">
                    <a:solidFill>
                      <a:srgbClr val="FFFFFF"/>
                    </a:solidFill>
                  </a:tcPr>
                </a:tc>
                <a:tc>
                  <a:txBody>
                    <a:bodyPr wrap="none"/>
                    <a:lstStyle/>
                    <a:p>
                      <a:pPr algn="l"/>
                      <a:r>
                        <a:rPr sz="900" b="0">
                          <a:solidFill>
                            <a:srgbClr val="2E2E2E"/>
                          </a:solidFill>
                          <a:latin typeface="Calibri"/>
                        </a:rPr>
                        <a:t>9.1%</a:t>
                      </a:r>
                    </a:p>
                  </a:txBody>
                  <a:tcPr marL="85725" marR="38100" marT="19050" marB="19050" anchor="ctr">
                    <a:solidFill>
                      <a:srgbClr val="FFFFFF"/>
                    </a:solidFill>
                  </a:tcPr>
                </a:tc>
              </a:tr>
            </a:tbl>
          </a:graphicData>
        </a:graphic>
      </p:graphicFrame>
      <p:sp>
        <p:nvSpPr>
          <p:cNvPr id="17" name="TextBox 16"/>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8" name="Rectangle 1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0" name="Rounded Rectangle 19">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Segmental Analysis Product Type   ·   (continued 2/2)</a:t>
            </a:r>
          </a:p>
        </p:txBody>
      </p:sp>
      <p:sp>
        <p:nvSpPr>
          <p:cNvPr id="10" name="Rounded Rectangle 9"/>
          <p:cNvSpPr/>
          <p:nvPr/>
        </p:nvSpPr>
        <p:spPr>
          <a:xfrm>
            <a:off x="142875" y="857250"/>
            <a:ext cx="5876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Product Type (US$ Mn)</a:t>
            </a:r>
          </a:p>
        </p:txBody>
      </p:sp>
      <p:graphicFrame>
        <p:nvGraphicFramePr>
          <p:cNvPr id="12" name="Chart 11"/>
          <p:cNvGraphicFramePr>
            <a:graphicFrameLocks noGrp="1"/>
          </p:cNvGraphicFramePr>
          <p:nvPr/>
        </p:nvGraphicFramePr>
        <p:xfrm>
          <a:off x="238125" y="1143000"/>
          <a:ext cx="5686425" cy="5524500"/>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857250"/>
            <a:ext cx="5876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Volume Shares &amp; Variance, By Product Type</a:t>
            </a:r>
          </a:p>
        </p:txBody>
      </p:sp>
      <p:graphicFrame>
        <p:nvGraphicFramePr>
          <p:cNvPr id="15" name="Table 14"/>
          <p:cNvGraphicFramePr>
            <a:graphicFrameLocks noGrp="1"/>
          </p:cNvGraphicFramePr>
          <p:nvPr/>
        </p:nvGraphicFramePr>
        <p:xfrm>
          <a:off x="6267450" y="1143000"/>
          <a:ext cx="5686424" cy="2171700"/>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Product Type</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900" b="0">
                          <a:solidFill>
                            <a:srgbClr val="2E2E2E"/>
                          </a:solidFill>
                          <a:latin typeface="Calibri"/>
                        </a:rPr>
                        <a:t>8.4%</a:t>
                      </a:r>
                    </a:p>
                  </a:txBody>
                  <a:tcPr marL="85725" marR="38100" marT="19050" marB="19050" anchor="ctr">
                    <a:solidFill>
                      <a:srgbClr val="FFFFFF"/>
                    </a:solidFill>
                  </a:tcPr>
                </a:tc>
                <a:tc>
                  <a:txBody>
                    <a:bodyPr wrap="none"/>
                    <a:lstStyle/>
                    <a:p>
                      <a:pPr algn="l"/>
                      <a:r>
                        <a:rPr sz="900" b="0">
                          <a:solidFill>
                            <a:srgbClr val="2E2E2E"/>
                          </a:solidFill>
                          <a:latin typeface="Calibri"/>
                        </a:rPr>
                        <a:t>8.1%</a:t>
                      </a:r>
                    </a:p>
                  </a:txBody>
                  <a:tcPr marL="85725" marR="38100" marT="19050" marB="19050" anchor="ctr">
                    <a:solidFill>
                      <a:srgbClr val="FFFFFF"/>
                    </a:solidFill>
                  </a:tcPr>
                </a:tc>
                <a:tc>
                  <a:txBody>
                    <a:bodyPr wrap="none"/>
                    <a:lstStyle/>
                    <a:p>
                      <a:pPr algn="l"/>
                      <a:r>
                        <a:rPr sz="900" b="1">
                          <a:solidFill>
                            <a:srgbClr val="E44D3A"/>
                          </a:solidFill>
                          <a:latin typeface="Calibri"/>
                        </a:rPr>
                        <a:t>-30</a:t>
                      </a:r>
                    </a:p>
                  </a:txBody>
                  <a:tcPr marL="85725" marR="38100" marT="19050" marB="19050" anchor="ctr">
                    <a:solidFill>
                      <a:srgbClr val="FFFFFF"/>
                    </a:solidFill>
                  </a:tcPr>
                </a:tc>
                <a:tc>
                  <a:txBody>
                    <a:bodyPr wrap="none"/>
                    <a:lstStyle/>
                    <a:p>
                      <a:pPr algn="l"/>
                      <a:r>
                        <a:rPr sz="900" b="0">
                          <a:solidFill>
                            <a:srgbClr val="2E2E2E"/>
                          </a:solidFill>
                          <a:latin typeface="Calibri"/>
                        </a:rPr>
                        <a:t>12.3%</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Cyltezo</a:t>
                      </a:r>
                    </a:p>
                  </a:txBody>
                  <a:tcPr marL="85725" marR="38100" marT="19050" marB="19050" anchor="ctr">
                    <a:solidFill>
                      <a:srgbClr val="F5F8FA"/>
                    </a:solidFill>
                  </a:tcPr>
                </a:tc>
                <a:tc>
                  <a:txBody>
                    <a:bodyPr wrap="none"/>
                    <a:lstStyle/>
                    <a:p>
                      <a:pPr algn="l"/>
                      <a:r>
                        <a:rPr sz="900" b="0">
                          <a:solidFill>
                            <a:srgbClr val="2E2E2E"/>
                          </a:solidFill>
                          <a:latin typeface="Calibri"/>
                        </a:rPr>
                        <a:t>7.6%</a:t>
                      </a:r>
                    </a:p>
                  </a:txBody>
                  <a:tcPr marL="85725" marR="38100" marT="19050" marB="19050" anchor="ctr">
                    <a:solidFill>
                      <a:srgbClr val="F5F8FA"/>
                    </a:solidFill>
                  </a:tcPr>
                </a:tc>
                <a:tc>
                  <a:txBody>
                    <a:bodyPr wrap="none"/>
                    <a:lstStyle/>
                    <a:p>
                      <a:pPr algn="l"/>
                      <a:r>
                        <a:rPr sz="900" b="0">
                          <a:solidFill>
                            <a:srgbClr val="2E2E2E"/>
                          </a:solidFill>
                          <a:latin typeface="Calibri"/>
                        </a:rPr>
                        <a:t>8.7%</a:t>
                      </a:r>
                    </a:p>
                  </a:txBody>
                  <a:tcPr marL="85725" marR="38100" marT="19050" marB="19050" anchor="ctr">
                    <a:solidFill>
                      <a:srgbClr val="F5F8FA"/>
                    </a:solidFill>
                  </a:tcPr>
                </a:tc>
                <a:tc>
                  <a:txBody>
                    <a:bodyPr wrap="none"/>
                    <a:lstStyle/>
                    <a:p>
                      <a:pPr algn="l"/>
                      <a:r>
                        <a:rPr sz="900" b="1">
                          <a:solidFill>
                            <a:srgbClr val="008189"/>
                          </a:solidFill>
                          <a:latin typeface="Calibri"/>
                        </a:rPr>
                        <a:t>+112</a:t>
                      </a:r>
                    </a:p>
                  </a:txBody>
                  <a:tcPr marL="85725" marR="38100" marT="19050" marB="19050" anchor="ctr">
                    <a:solidFill>
                      <a:srgbClr val="F5F8FA"/>
                    </a:solidFill>
                  </a:tcPr>
                </a:tc>
                <a:tc>
                  <a:txBody>
                    <a:bodyPr wrap="none"/>
                    <a:lstStyle/>
                    <a:p>
                      <a:pPr algn="l"/>
                      <a:r>
                        <a:rPr sz="900" b="0">
                          <a:solidFill>
                            <a:srgbClr val="2E2E2E"/>
                          </a:solidFill>
                          <a:latin typeface="Calibri"/>
                        </a:rPr>
                        <a:t>14.3%</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900" b="0">
                          <a:solidFill>
                            <a:srgbClr val="2E2E2E"/>
                          </a:solidFill>
                          <a:latin typeface="Calibri"/>
                        </a:rPr>
                        <a:t>10.5%</a:t>
                      </a:r>
                    </a:p>
                  </a:txBody>
                  <a:tcPr marL="85725" marR="38100" marT="19050" marB="19050" anchor="ctr">
                    <a:solidFill>
                      <a:srgbClr val="FFFFFF"/>
                    </a:solidFill>
                  </a:tcPr>
                </a:tc>
                <a:tc>
                  <a:txBody>
                    <a:bodyPr wrap="none"/>
                    <a:lstStyle/>
                    <a:p>
                      <a:pPr algn="l"/>
                      <a:r>
                        <a:rPr sz="900" b="0">
                          <a:solidFill>
                            <a:srgbClr val="2E2E2E"/>
                          </a:solidFill>
                          <a:latin typeface="Calibri"/>
                        </a:rPr>
                        <a:t>8.5%</a:t>
                      </a:r>
                    </a:p>
                  </a:txBody>
                  <a:tcPr marL="85725" marR="38100" marT="19050" marB="19050" anchor="ctr">
                    <a:solidFill>
                      <a:srgbClr val="FFFFFF"/>
                    </a:solidFill>
                  </a:tcPr>
                </a:tc>
                <a:tc>
                  <a:txBody>
                    <a:bodyPr wrap="none"/>
                    <a:lstStyle/>
                    <a:p>
                      <a:pPr algn="l"/>
                      <a:r>
                        <a:rPr sz="900" b="1">
                          <a:solidFill>
                            <a:srgbClr val="E44D3A"/>
                          </a:solidFill>
                          <a:latin typeface="Calibri"/>
                        </a:rPr>
                        <a:t>-207</a:t>
                      </a:r>
                    </a:p>
                  </a:txBody>
                  <a:tcPr marL="85725" marR="38100" marT="19050" marB="19050" anchor="ctr">
                    <a:solidFill>
                      <a:srgbClr val="FFFFFF"/>
                    </a:solidFill>
                  </a:tcPr>
                </a:tc>
                <a:tc>
                  <a:txBody>
                    <a:bodyPr wrap="none"/>
                    <a:lstStyle/>
                    <a:p>
                      <a:pPr algn="l"/>
                      <a:r>
                        <a:rPr sz="900" b="0">
                          <a:solidFill>
                            <a:srgbClr val="2E2E2E"/>
                          </a:solidFill>
                          <a:latin typeface="Calibri"/>
                        </a:rPr>
                        <a:t>10.3%</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900" b="0">
                          <a:solidFill>
                            <a:srgbClr val="2E2E2E"/>
                          </a:solidFill>
                          <a:latin typeface="Calibri"/>
                        </a:rPr>
                        <a:t>11.8%</a:t>
                      </a:r>
                    </a:p>
                  </a:txBody>
                  <a:tcPr marL="85725" marR="38100" marT="19050" marB="19050" anchor="ctr">
                    <a:solidFill>
                      <a:srgbClr val="F5F8FA"/>
                    </a:solidFill>
                  </a:tcPr>
                </a:tc>
                <a:tc>
                  <a:txBody>
                    <a:bodyPr wrap="none"/>
                    <a:lstStyle/>
                    <a:p>
                      <a:pPr algn="l"/>
                      <a:r>
                        <a:rPr sz="900" b="0">
                          <a:solidFill>
                            <a:srgbClr val="2E2E2E"/>
                          </a:solidFill>
                          <a:latin typeface="Calibri"/>
                        </a:rPr>
                        <a:t>11.0%</a:t>
                      </a:r>
                    </a:p>
                  </a:txBody>
                  <a:tcPr marL="85725" marR="38100" marT="19050" marB="19050" anchor="ctr">
                    <a:solidFill>
                      <a:srgbClr val="F5F8FA"/>
                    </a:solidFill>
                  </a:tcPr>
                </a:tc>
                <a:tc>
                  <a:txBody>
                    <a:bodyPr wrap="none"/>
                    <a:lstStyle/>
                    <a:p>
                      <a:pPr algn="l"/>
                      <a:r>
                        <a:rPr sz="900" b="1">
                          <a:solidFill>
                            <a:srgbClr val="E44D3A"/>
                          </a:solidFill>
                          <a:latin typeface="Calibri"/>
                        </a:rPr>
                        <a:t>-76</a:t>
                      </a:r>
                    </a:p>
                  </a:txBody>
                  <a:tcPr marL="85725" marR="38100" marT="19050" marB="19050" anchor="ctr">
                    <a:solidFill>
                      <a:srgbClr val="F5F8FA"/>
                    </a:solidFill>
                  </a:tcPr>
                </a:tc>
                <a:tc>
                  <a:txBody>
                    <a:bodyPr wrap="none"/>
                    <a:lstStyle/>
                    <a:p>
                      <a:pPr algn="l"/>
                      <a:r>
                        <a:rPr sz="900" b="0">
                          <a:solidFill>
                            <a:srgbClr val="2E2E2E"/>
                          </a:solidFill>
                          <a:latin typeface="Calibri"/>
                        </a:rPr>
                        <a:t>12.0%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Idacio</a:t>
                      </a:r>
                    </a:p>
                  </a:txBody>
                  <a:tcPr marL="85725" marR="38100" marT="19050" marB="19050" anchor="ctr">
                    <a:solidFill>
                      <a:srgbClr val="FFFFFF"/>
                    </a:solidFill>
                  </a:tcPr>
                </a:tc>
                <a:tc>
                  <a:txBody>
                    <a:bodyPr wrap="none"/>
                    <a:lstStyle/>
                    <a:p>
                      <a:pPr algn="l"/>
                      <a:r>
                        <a:rPr sz="900" b="0">
                          <a:solidFill>
                            <a:srgbClr val="2E2E2E"/>
                          </a:solidFill>
                          <a:latin typeface="Calibri"/>
                        </a:rPr>
                        <a:t>5.9%</a:t>
                      </a:r>
                    </a:p>
                  </a:txBody>
                  <a:tcPr marL="85725" marR="38100" marT="19050" marB="19050" anchor="ctr">
                    <a:solidFill>
                      <a:srgbClr val="FFFFFF"/>
                    </a:solidFill>
                  </a:tcPr>
                </a:tc>
                <a:tc>
                  <a:txBody>
                    <a:bodyPr wrap="none"/>
                    <a:lstStyle/>
                    <a:p>
                      <a:pPr algn="l"/>
                      <a:r>
                        <a:rPr sz="900" b="0">
                          <a:solidFill>
                            <a:srgbClr val="2E2E2E"/>
                          </a:solidFill>
                          <a:latin typeface="Calibri"/>
                        </a:rPr>
                        <a:t>6.2%</a:t>
                      </a:r>
                    </a:p>
                  </a:txBody>
                  <a:tcPr marL="85725" marR="38100" marT="19050" marB="19050" anchor="ctr">
                    <a:solidFill>
                      <a:srgbClr val="FFFFFF"/>
                    </a:solidFill>
                  </a:tcPr>
                </a:tc>
                <a:tc>
                  <a:txBody>
                    <a:bodyPr wrap="none"/>
                    <a:lstStyle/>
                    <a:p>
                      <a:pPr algn="l"/>
                      <a:r>
                        <a:rPr sz="900" b="1">
                          <a:solidFill>
                            <a:srgbClr val="008189"/>
                          </a:solidFill>
                          <a:latin typeface="Calibri"/>
                        </a:rPr>
                        <a:t>+27</a:t>
                      </a:r>
                    </a:p>
                  </a:txBody>
                  <a:tcPr marL="85725" marR="38100" marT="19050" marB="19050" anchor="ctr">
                    <a:solidFill>
                      <a:srgbClr val="FFFFFF"/>
                    </a:solidFill>
                  </a:tcPr>
                </a:tc>
                <a:tc>
                  <a:txBody>
                    <a:bodyPr wrap="none"/>
                    <a:lstStyle/>
                    <a:p>
                      <a:pPr algn="l"/>
                      <a:r>
                        <a:rPr sz="900" b="0">
                          <a:solidFill>
                            <a:srgbClr val="2E2E2E"/>
                          </a:solidFill>
                          <a:latin typeface="Calibri"/>
                        </a:rPr>
                        <a:t>13.2%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Hulio</a:t>
                      </a:r>
                    </a:p>
                  </a:txBody>
                  <a:tcPr marL="85725" marR="38100" marT="19050" marB="19050" anchor="ctr">
                    <a:solidFill>
                      <a:srgbClr val="F5F8FA"/>
                    </a:solidFill>
                  </a:tcPr>
                </a:tc>
                <a:tc>
                  <a:txBody>
                    <a:bodyPr wrap="none"/>
                    <a:lstStyle/>
                    <a:p>
                      <a:pPr algn="l"/>
                      <a:r>
                        <a:rPr sz="900" b="0">
                          <a:solidFill>
                            <a:srgbClr val="2E2E2E"/>
                          </a:solidFill>
                          <a:latin typeface="Calibri"/>
                        </a:rPr>
                        <a:t>5.6%</a:t>
                      </a:r>
                    </a:p>
                  </a:txBody>
                  <a:tcPr marL="85725" marR="38100" marT="19050" marB="19050" anchor="ctr">
                    <a:solidFill>
                      <a:srgbClr val="F5F8FA"/>
                    </a:solidFill>
                  </a:tcPr>
                </a:tc>
                <a:tc>
                  <a:txBody>
                    <a:bodyPr wrap="none"/>
                    <a:lstStyle/>
                    <a:p>
                      <a:pPr algn="l"/>
                      <a:r>
                        <a:rPr sz="900" b="0">
                          <a:solidFill>
                            <a:srgbClr val="2E2E2E"/>
                          </a:solidFill>
                          <a:latin typeface="Calibri"/>
                        </a:rPr>
                        <a:t>6.7%</a:t>
                      </a:r>
                    </a:p>
                  </a:txBody>
                  <a:tcPr marL="85725" marR="38100" marT="19050" marB="19050" anchor="ctr">
                    <a:solidFill>
                      <a:srgbClr val="F5F8FA"/>
                    </a:solidFill>
                  </a:tcPr>
                </a:tc>
                <a:tc>
                  <a:txBody>
                    <a:bodyPr wrap="none"/>
                    <a:lstStyle/>
                    <a:p>
                      <a:pPr algn="l"/>
                      <a:r>
                        <a:rPr sz="900" b="1">
                          <a:solidFill>
                            <a:srgbClr val="008189"/>
                          </a:solidFill>
                          <a:latin typeface="Calibri"/>
                        </a:rPr>
                        <a:t>+109</a:t>
                      </a:r>
                    </a:p>
                  </a:txBody>
                  <a:tcPr marL="85725" marR="38100" marT="19050" marB="19050" anchor="ctr">
                    <a:solidFill>
                      <a:srgbClr val="F5F8FA"/>
                    </a:solidFill>
                  </a:tcPr>
                </a:tc>
                <a:tc>
                  <a:txBody>
                    <a:bodyPr wrap="none"/>
                    <a:lstStyle/>
                    <a:p>
                      <a:pPr algn="l"/>
                      <a:r>
                        <a:rPr sz="900" b="0">
                          <a:solidFill>
                            <a:srgbClr val="2E2E2E"/>
                          </a:solidFill>
                          <a:latin typeface="Calibri"/>
                        </a:rPr>
                        <a:t>14.8%</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900" b="0">
                          <a:solidFill>
                            <a:srgbClr val="2E2E2E"/>
                          </a:solidFill>
                          <a:latin typeface="Calibri"/>
                        </a:rPr>
                        <a:t>10.2%</a:t>
                      </a:r>
                    </a:p>
                  </a:txBody>
                  <a:tcPr marL="85725" marR="38100" marT="19050" marB="19050" anchor="ctr">
                    <a:solidFill>
                      <a:srgbClr val="FFFFFF"/>
                    </a:solidFill>
                  </a:tcPr>
                </a:tc>
                <a:tc>
                  <a:txBody>
                    <a:bodyPr wrap="none"/>
                    <a:lstStyle/>
                    <a:p>
                      <a:pPr algn="l"/>
                      <a:r>
                        <a:rPr sz="900" b="0">
                          <a:solidFill>
                            <a:srgbClr val="2E2E2E"/>
                          </a:solidFill>
                          <a:latin typeface="Calibri"/>
                        </a:rPr>
                        <a:t>10.1%</a:t>
                      </a:r>
                    </a:p>
                  </a:txBody>
                  <a:tcPr marL="85725" marR="38100" marT="19050" marB="19050" anchor="ctr">
                    <a:solidFill>
                      <a:srgbClr val="FFFFFF"/>
                    </a:solidFill>
                  </a:tcPr>
                </a:tc>
                <a:tc>
                  <a:txBody>
                    <a:bodyPr wrap="none"/>
                    <a:lstStyle/>
                    <a:p>
                      <a:pPr algn="l"/>
                      <a:r>
                        <a:rPr sz="900" b="1">
                          <a:solidFill>
                            <a:srgbClr val="E44D3A"/>
                          </a:solidFill>
                          <a:latin typeface="Calibri"/>
                        </a:rPr>
                        <a:t>-10</a:t>
                      </a:r>
                    </a:p>
                  </a:txBody>
                  <a:tcPr marL="85725" marR="38100" marT="19050" marB="19050" anchor="ctr">
                    <a:solidFill>
                      <a:srgbClr val="FFFFFF"/>
                    </a:solidFill>
                  </a:tcPr>
                </a:tc>
                <a:tc>
                  <a:txBody>
                    <a:bodyPr wrap="none"/>
                    <a:lstStyle/>
                    <a:p>
                      <a:pPr algn="l"/>
                      <a:r>
                        <a:rPr sz="900" b="0">
                          <a:solidFill>
                            <a:srgbClr val="2E2E2E"/>
                          </a:solidFill>
                          <a:latin typeface="Calibri"/>
                        </a:rPr>
                        <a:t>12.6%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Yusimry</a:t>
                      </a:r>
                    </a:p>
                  </a:txBody>
                  <a:tcPr marL="85725" marR="38100" marT="19050" marB="19050" anchor="ctr">
                    <a:solidFill>
                      <a:srgbClr val="F5F8FA"/>
                    </a:solidFill>
                  </a:tcPr>
                </a:tc>
                <a:tc>
                  <a:txBody>
                    <a:bodyPr wrap="none"/>
                    <a:lstStyle/>
                    <a:p>
                      <a:pPr algn="l"/>
                      <a:r>
                        <a:rPr sz="900" b="0">
                          <a:solidFill>
                            <a:srgbClr val="2E2E2E"/>
                          </a:solidFill>
                          <a:latin typeface="Calibri"/>
                        </a:rPr>
                        <a:t>10.0%</a:t>
                      </a:r>
                    </a:p>
                  </a:txBody>
                  <a:tcPr marL="85725" marR="38100" marT="19050" marB="19050" anchor="ctr">
                    <a:solidFill>
                      <a:srgbClr val="F5F8FA"/>
                    </a:solidFill>
                  </a:tcPr>
                </a:tc>
                <a:tc>
                  <a:txBody>
                    <a:bodyPr wrap="none"/>
                    <a:lstStyle/>
                    <a:p>
                      <a:pPr algn="l"/>
                      <a:r>
                        <a:rPr sz="900" b="0">
                          <a:solidFill>
                            <a:srgbClr val="2E2E2E"/>
                          </a:solidFill>
                          <a:latin typeface="Calibri"/>
                        </a:rPr>
                        <a:t>10.4%</a:t>
                      </a:r>
                    </a:p>
                  </a:txBody>
                  <a:tcPr marL="85725" marR="38100" marT="19050" marB="19050" anchor="ctr">
                    <a:solidFill>
                      <a:srgbClr val="F5F8FA"/>
                    </a:solidFill>
                  </a:tcPr>
                </a:tc>
                <a:tc>
                  <a:txBody>
                    <a:bodyPr wrap="none"/>
                    <a:lstStyle/>
                    <a:p>
                      <a:pPr algn="l"/>
                      <a:r>
                        <a:rPr sz="900" b="1">
                          <a:solidFill>
                            <a:srgbClr val="008189"/>
                          </a:solidFill>
                          <a:latin typeface="Calibri"/>
                        </a:rPr>
                        <a:t>+32</a:t>
                      </a:r>
                    </a:p>
                  </a:txBody>
                  <a:tcPr marL="85725" marR="38100" marT="19050" marB="19050" anchor="ctr">
                    <a:solidFill>
                      <a:srgbClr val="F5F8FA"/>
                    </a:solidFill>
                  </a:tcPr>
                </a:tc>
                <a:tc>
                  <a:txBody>
                    <a:bodyPr wrap="none"/>
                    <a:lstStyle/>
                    <a:p>
                      <a:pPr algn="l"/>
                      <a:r>
                        <a:rPr sz="900" b="0">
                          <a:solidFill>
                            <a:srgbClr val="2E2E2E"/>
                          </a:solidFill>
                          <a:latin typeface="Calibri"/>
                        </a:rPr>
                        <a:t>13.1%</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Yuflyma</a:t>
                      </a:r>
                    </a:p>
                  </a:txBody>
                  <a:tcPr marL="85725" marR="38100" marT="19050" marB="19050" anchor="ctr">
                    <a:solidFill>
                      <a:srgbClr val="FFFFFF"/>
                    </a:solidFill>
                  </a:tcPr>
                </a:tc>
                <a:tc>
                  <a:txBody>
                    <a:bodyPr wrap="none"/>
                    <a:lstStyle/>
                    <a:p>
                      <a:pPr algn="l"/>
                      <a:r>
                        <a:rPr sz="900" b="0">
                          <a:solidFill>
                            <a:srgbClr val="2E2E2E"/>
                          </a:solidFill>
                          <a:latin typeface="Calibri"/>
                        </a:rPr>
                        <a:t>10.6%</a:t>
                      </a:r>
                    </a:p>
                  </a:txBody>
                  <a:tcPr marL="85725" marR="38100" marT="19050" marB="19050" anchor="ctr">
                    <a:solidFill>
                      <a:srgbClr val="FFFFFF"/>
                    </a:solidFill>
                  </a:tcPr>
                </a:tc>
                <a:tc>
                  <a:txBody>
                    <a:bodyPr wrap="none"/>
                    <a:lstStyle/>
                    <a:p>
                      <a:pPr algn="l"/>
                      <a:r>
                        <a:rPr sz="900" b="0">
                          <a:solidFill>
                            <a:srgbClr val="2E2E2E"/>
                          </a:solidFill>
                          <a:latin typeface="Calibri"/>
                        </a:rPr>
                        <a:t>10.2%</a:t>
                      </a:r>
                    </a:p>
                  </a:txBody>
                  <a:tcPr marL="85725" marR="38100" marT="19050" marB="19050" anchor="ctr">
                    <a:solidFill>
                      <a:srgbClr val="FFFFFF"/>
                    </a:solidFill>
                  </a:tcPr>
                </a:tc>
                <a:tc>
                  <a:txBody>
                    <a:bodyPr wrap="none"/>
                    <a:lstStyle/>
                    <a:p>
                      <a:pPr algn="l"/>
                      <a:r>
                        <a:rPr sz="900" b="1">
                          <a:solidFill>
                            <a:srgbClr val="E44D3A"/>
                          </a:solidFill>
                          <a:latin typeface="Calibri"/>
                        </a:rPr>
                        <a:t>-46</a:t>
                      </a:r>
                    </a:p>
                  </a:txBody>
                  <a:tcPr marL="85725" marR="38100" marT="19050" marB="19050" anchor="ctr">
                    <a:solidFill>
                      <a:srgbClr val="FFFFFF"/>
                    </a:solidFill>
                  </a:tcPr>
                </a:tc>
                <a:tc>
                  <a:txBody>
                    <a:bodyPr wrap="none"/>
                    <a:lstStyle/>
                    <a:p>
                      <a:pPr algn="l"/>
                      <a:r>
                        <a:rPr sz="900" b="0">
                          <a:solidFill>
                            <a:srgbClr val="2E2E2E"/>
                          </a:solidFill>
                          <a:latin typeface="Calibri"/>
                        </a:rPr>
                        <a:t>12.2%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Simlandi</a:t>
                      </a:r>
                    </a:p>
                  </a:txBody>
                  <a:tcPr marL="85725" marR="38100" marT="19050" marB="19050" anchor="ctr">
                    <a:solidFill>
                      <a:srgbClr val="F5F8FA"/>
                    </a:solidFill>
                  </a:tcPr>
                </a:tc>
                <a:tc>
                  <a:txBody>
                    <a:bodyPr wrap="none"/>
                    <a:lstStyle/>
                    <a:p>
                      <a:pPr algn="l"/>
                      <a:r>
                        <a:rPr sz="900" b="0">
                          <a:solidFill>
                            <a:srgbClr val="2E2E2E"/>
                          </a:solidFill>
                          <a:latin typeface="Calibri"/>
                        </a:rPr>
                        <a:t>11.8%</a:t>
                      </a:r>
                    </a:p>
                  </a:txBody>
                  <a:tcPr marL="85725" marR="38100" marT="19050" marB="19050" anchor="ctr">
                    <a:solidFill>
                      <a:srgbClr val="F5F8FA"/>
                    </a:solidFill>
                  </a:tcPr>
                </a:tc>
                <a:tc>
                  <a:txBody>
                    <a:bodyPr wrap="none"/>
                    <a:lstStyle/>
                    <a:p>
                      <a:pPr algn="l"/>
                      <a:r>
                        <a:rPr sz="900" b="0">
                          <a:solidFill>
                            <a:srgbClr val="2E2E2E"/>
                          </a:solidFill>
                          <a:latin typeface="Calibri"/>
                        </a:rPr>
                        <a:t>12.7%</a:t>
                      </a:r>
                    </a:p>
                  </a:txBody>
                  <a:tcPr marL="85725" marR="38100" marT="19050" marB="19050" anchor="ctr">
                    <a:solidFill>
                      <a:srgbClr val="F5F8FA"/>
                    </a:solidFill>
                  </a:tcPr>
                </a:tc>
                <a:tc>
                  <a:txBody>
                    <a:bodyPr wrap="none"/>
                    <a:lstStyle/>
                    <a:p>
                      <a:pPr algn="l"/>
                      <a:r>
                        <a:rPr sz="900" b="1">
                          <a:solidFill>
                            <a:srgbClr val="008189"/>
                          </a:solidFill>
                          <a:latin typeface="Calibri"/>
                        </a:rPr>
                        <a:t>+91</a:t>
                      </a:r>
                    </a:p>
                  </a:txBody>
                  <a:tcPr marL="85725" marR="38100" marT="19050" marB="19050" anchor="ctr">
                    <a:solidFill>
                      <a:srgbClr val="F5F8FA"/>
                    </a:solidFill>
                  </a:tcPr>
                </a:tc>
                <a:tc>
                  <a:txBody>
                    <a:bodyPr wrap="none"/>
                    <a:lstStyle/>
                    <a:p>
                      <a:pPr algn="l"/>
                      <a:r>
                        <a:rPr sz="900" b="0">
                          <a:solidFill>
                            <a:srgbClr val="2E2E2E"/>
                          </a:solidFill>
                          <a:latin typeface="Calibri"/>
                        </a:rPr>
                        <a:t>13.6%</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900" b="0">
                          <a:solidFill>
                            <a:srgbClr val="2E2E2E"/>
                          </a:solidFill>
                          <a:latin typeface="Calibri"/>
                        </a:rPr>
                        <a:t>7.4%</a:t>
                      </a:r>
                    </a:p>
                  </a:txBody>
                  <a:tcPr marL="85725" marR="38100" marT="19050" marB="19050" anchor="ctr">
                    <a:solidFill>
                      <a:srgbClr val="FFFFFF"/>
                    </a:solidFill>
                  </a:tcPr>
                </a:tc>
                <a:tc>
                  <a:txBody>
                    <a:bodyPr wrap="none"/>
                    <a:lstStyle/>
                    <a:p>
                      <a:pPr algn="l"/>
                      <a:r>
                        <a:rPr sz="900" b="0">
                          <a:solidFill>
                            <a:srgbClr val="2E2E2E"/>
                          </a:solidFill>
                          <a:latin typeface="Calibri"/>
                        </a:rPr>
                        <a:t>7.4%</a:t>
                      </a:r>
                    </a:p>
                  </a:txBody>
                  <a:tcPr marL="85725" marR="38100" marT="19050" marB="19050" anchor="ctr">
                    <a:solidFill>
                      <a:srgbClr val="FFFFFF"/>
                    </a:solidFill>
                  </a:tcPr>
                </a:tc>
                <a:tc>
                  <a:txBody>
                    <a:bodyPr wrap="none"/>
                    <a:lstStyle/>
                    <a:p>
                      <a:pPr algn="l"/>
                      <a:r>
                        <a:rPr sz="900" b="1">
                          <a:solidFill>
                            <a:srgbClr val="E44D3A"/>
                          </a:solidFill>
                          <a:latin typeface="Calibri"/>
                        </a:rPr>
                        <a:t>-1</a:t>
                      </a:r>
                    </a:p>
                  </a:txBody>
                  <a:tcPr marL="85725" marR="38100" marT="19050" marB="19050" anchor="ctr">
                    <a:solidFill>
                      <a:srgbClr val="FFFFFF"/>
                    </a:solidFill>
                  </a:tcPr>
                </a:tc>
                <a:tc>
                  <a:txBody>
                    <a:bodyPr wrap="none"/>
                    <a:lstStyle/>
                    <a:p>
                      <a:pPr algn="l"/>
                      <a:r>
                        <a:rPr sz="900" b="0">
                          <a:solidFill>
                            <a:srgbClr val="2E2E2E"/>
                          </a:solidFill>
                          <a:latin typeface="Calibri"/>
                        </a:rPr>
                        <a:t>12.7%</a:t>
                      </a:r>
                    </a:p>
                  </a:txBody>
                  <a:tcPr marL="85725" marR="38100" marT="19050" marB="19050" anchor="ctr">
                    <a:solidFill>
                      <a:srgbClr val="FFFFFF"/>
                    </a:solidFill>
                  </a:tcPr>
                </a:tc>
              </a:tr>
            </a:tbl>
          </a:graphicData>
        </a:graphic>
      </p:graphicFrame>
      <p:sp>
        <p:nvSpPr>
          <p:cNvPr id="16" name="TextBox 15"/>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7" name="Rectangle 1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9" name="Rounded Rectangle 18">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0" name="Rounded Rectangle 19">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Tables Product Type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Volume, By Product Type (Mn Doses)</a:t>
            </a:r>
          </a:p>
        </p:txBody>
      </p:sp>
      <p:graphicFrame>
        <p:nvGraphicFramePr>
          <p:cNvPr id="13" name="Table 12"/>
          <p:cNvGraphicFramePr>
            <a:graphicFrameLocks noGrp="1"/>
          </p:cNvGraphicFramePr>
          <p:nvPr/>
        </p:nvGraphicFramePr>
        <p:xfrm>
          <a:off x="238125" y="1143000"/>
          <a:ext cx="11715752" cy="2352675"/>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Product Type</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800" b="0">
                          <a:solidFill>
                            <a:srgbClr val="2E2E2E"/>
                          </a:solidFill>
                          <a:latin typeface="Calibri"/>
                        </a:rPr>
                        <a:t>0.09</a:t>
                      </a:r>
                    </a:p>
                  </a:txBody>
                  <a:tcPr marL="85725" marR="38100" marT="19050" marB="19050" anchor="ctr">
                    <a:solidFill>
                      <a:srgbClr val="FFFFFF"/>
                    </a:solidFill>
                  </a:tcPr>
                </a:tc>
                <a:tc>
                  <a:txBody>
                    <a:bodyPr wrap="none"/>
                    <a:lstStyle/>
                    <a:p>
                      <a:pPr algn="l"/>
                      <a:r>
                        <a:rPr sz="800" b="0">
                          <a:solidFill>
                            <a:srgbClr val="2E2E2E"/>
                          </a:solidFill>
                          <a:latin typeface="Calibri"/>
                        </a:rPr>
                        <a:t>0.11</a:t>
                      </a:r>
                    </a:p>
                  </a:txBody>
                  <a:tcPr marL="85725" marR="38100" marT="19050" marB="19050" anchor="ctr">
                    <a:solidFill>
                      <a:srgbClr val="FFFFFF"/>
                    </a:solidFill>
                  </a:tcPr>
                </a:tc>
                <a:tc>
                  <a:txBody>
                    <a:bodyPr wrap="none"/>
                    <a:lstStyle/>
                    <a:p>
                      <a:pPr algn="l"/>
                      <a:r>
                        <a:rPr sz="800" b="0">
                          <a:solidFill>
                            <a:srgbClr val="2E2E2E"/>
                          </a:solidFill>
                          <a:latin typeface="Calibri"/>
                        </a:rPr>
                        <a:t>0.13</a:t>
                      </a:r>
                    </a:p>
                  </a:txBody>
                  <a:tcPr marL="85725" marR="38100" marT="19050" marB="19050" anchor="ctr">
                    <a:solidFill>
                      <a:srgbClr val="FFFFFF"/>
                    </a:solidFill>
                  </a:tcPr>
                </a:tc>
                <a:tc>
                  <a:txBody>
                    <a:bodyPr wrap="none"/>
                    <a:lstStyle/>
                    <a:p>
                      <a:pPr algn="l"/>
                      <a:r>
                        <a:rPr sz="800" b="0">
                          <a:solidFill>
                            <a:srgbClr val="2E2E2E"/>
                          </a:solidFill>
                          <a:latin typeface="Calibri"/>
                        </a:rPr>
                        <a:t>0.17</a:t>
                      </a:r>
                    </a:p>
                  </a:txBody>
                  <a:tcPr marL="85725" marR="38100" marT="19050" marB="19050" anchor="ctr">
                    <a:solidFill>
                      <a:srgbClr val="FFFFFF"/>
                    </a:solidFill>
                  </a:tcPr>
                </a:tc>
                <a:tc>
                  <a:txBody>
                    <a:bodyPr wrap="none"/>
                    <a:lstStyle/>
                    <a:p>
                      <a:pPr algn="l"/>
                      <a:r>
                        <a:rPr sz="800" b="0">
                          <a:solidFill>
                            <a:srgbClr val="2E2E2E"/>
                          </a:solidFill>
                          <a:latin typeface="Calibri"/>
                        </a:rPr>
                        <a:t>0.21</a:t>
                      </a:r>
                    </a:p>
                  </a:txBody>
                  <a:tcPr marL="85725" marR="38100" marT="19050" marB="19050" anchor="ctr">
                    <a:solidFill>
                      <a:srgbClr val="FFFFFF"/>
                    </a:solidFill>
                  </a:tcPr>
                </a:tc>
                <a:tc>
                  <a:txBody>
                    <a:bodyPr wrap="none"/>
                    <a:lstStyle/>
                    <a:p>
                      <a:pPr algn="l"/>
                      <a:r>
                        <a:rPr sz="800" b="0">
                          <a:solidFill>
                            <a:srgbClr val="2E2E2E"/>
                          </a:solidFill>
                          <a:latin typeface="Calibri"/>
                        </a:rPr>
                        <a:t>0.25</a:t>
                      </a:r>
                    </a:p>
                  </a:txBody>
                  <a:tcPr marL="85725" marR="38100" marT="19050" marB="19050" anchor="ctr">
                    <a:solidFill>
                      <a:srgbClr val="FFFFFF"/>
                    </a:solidFill>
                  </a:tcPr>
                </a:tc>
                <a:tc>
                  <a:txBody>
                    <a:bodyPr wrap="none"/>
                    <a:lstStyle/>
                    <a:p>
                      <a:pPr algn="l"/>
                      <a:r>
                        <a:rPr sz="800" b="0">
                          <a:solidFill>
                            <a:srgbClr val="2E2E2E"/>
                          </a:solidFill>
                          <a:latin typeface="Calibri"/>
                        </a:rPr>
                        <a:t>0.30</a:t>
                      </a:r>
                    </a:p>
                  </a:txBody>
                  <a:tcPr marL="85725" marR="38100" marT="19050" marB="19050" anchor="ctr">
                    <a:solidFill>
                      <a:srgbClr val="FFFFFF"/>
                    </a:solidFill>
                  </a:tcPr>
                </a:tc>
                <a:tc>
                  <a:txBody>
                    <a:bodyPr wrap="none"/>
                    <a:lstStyle/>
                    <a:p>
                      <a:pPr algn="l"/>
                      <a:r>
                        <a:rPr sz="800" b="0">
                          <a:solidFill>
                            <a:srgbClr val="2E2E2E"/>
                          </a:solidFill>
                          <a:latin typeface="Calibri"/>
                        </a:rPr>
                        <a:t>0.35</a:t>
                      </a:r>
                    </a:p>
                  </a:txBody>
                  <a:tcPr marL="85725" marR="38100" marT="19050" marB="19050" anchor="ctr">
                    <a:solidFill>
                      <a:srgbClr val="FFFFFF"/>
                    </a:solidFill>
                  </a:tcPr>
                </a:tc>
                <a:tc>
                  <a:txBody>
                    <a:bodyPr wrap="none"/>
                    <a:lstStyle/>
                    <a:p>
                      <a:pPr algn="l"/>
                      <a:r>
                        <a:rPr sz="800" b="0">
                          <a:solidFill>
                            <a:srgbClr val="2E2E2E"/>
                          </a:solidFill>
                          <a:latin typeface="Calibri"/>
                        </a:rPr>
                        <a:t>0.40</a:t>
                      </a:r>
                    </a:p>
                  </a:txBody>
                  <a:tcPr marL="85725" marR="38100" marT="19050" marB="19050" anchor="ctr">
                    <a:solidFill>
                      <a:srgbClr val="FFFFFF"/>
                    </a:solidFill>
                  </a:tcPr>
                </a:tc>
                <a:tc>
                  <a:txBody>
                    <a:bodyPr wrap="none"/>
                    <a:lstStyle/>
                    <a:p>
                      <a:pPr algn="l"/>
                      <a:r>
                        <a:rPr sz="800" b="0">
                          <a:solidFill>
                            <a:srgbClr val="2E2E2E"/>
                          </a:solidFill>
                          <a:latin typeface="Calibri"/>
                        </a:rPr>
                        <a:t>0.45</a:t>
                      </a:r>
                    </a:p>
                  </a:txBody>
                  <a:tcPr marL="85725" marR="38100" marT="19050" marB="19050" anchor="ctr">
                    <a:solidFill>
                      <a:srgbClr val="FFFFFF"/>
                    </a:solidFill>
                  </a:tcPr>
                </a:tc>
                <a:tc>
                  <a:txBody>
                    <a:bodyPr wrap="none"/>
                    <a:lstStyle/>
                    <a:p>
                      <a:pPr algn="l"/>
                      <a:r>
                        <a:rPr sz="800" b="0">
                          <a:solidFill>
                            <a:srgbClr val="2E2E2E"/>
                          </a:solidFill>
                          <a:latin typeface="Calibri"/>
                        </a:rPr>
                        <a:t>0.51</a:t>
                      </a:r>
                    </a:p>
                  </a:txBody>
                  <a:tcPr marL="85725" marR="38100" marT="19050" marB="19050" anchor="ctr">
                    <a:solidFill>
                      <a:srgbClr val="FFFFFF"/>
                    </a:solidFill>
                  </a:tcPr>
                </a:tc>
                <a:tc>
                  <a:txBody>
                    <a:bodyPr wrap="none"/>
                    <a:lstStyle/>
                    <a:p>
                      <a:pPr algn="l"/>
                      <a:r>
                        <a:rPr sz="800" b="0">
                          <a:solidFill>
                            <a:srgbClr val="2E2E2E"/>
                          </a:solidFill>
                          <a:latin typeface="Calibri"/>
                        </a:rPr>
                        <a:t>0.56</a:t>
                      </a:r>
                    </a:p>
                  </a:txBody>
                  <a:tcPr marL="85725" marR="38100" marT="19050" marB="19050" anchor="ctr">
                    <a:solidFill>
                      <a:srgbClr val="FFFFFF"/>
                    </a:solidFill>
                  </a:tcPr>
                </a:tc>
                <a:tc>
                  <a:txBody>
                    <a:bodyPr wrap="none"/>
                    <a:lstStyle/>
                    <a:p>
                      <a:pPr algn="l"/>
                      <a:r>
                        <a:rPr sz="800" b="0">
                          <a:solidFill>
                            <a:srgbClr val="2E2E2E"/>
                          </a:solidFill>
                          <a:latin typeface="Calibri"/>
                        </a:rPr>
                        <a:t>0.62</a:t>
                      </a:r>
                    </a:p>
                  </a:txBody>
                  <a:tcPr marL="85725" marR="38100" marT="19050" marB="19050" anchor="ctr">
                    <a:solidFill>
                      <a:srgbClr val="FFFFFF"/>
                    </a:solidFill>
                  </a:tcPr>
                </a:tc>
                <a:tc>
                  <a:txBody>
                    <a:bodyPr wrap="none"/>
                    <a:lstStyle/>
                    <a:p>
                      <a:pPr algn="l"/>
                      <a:r>
                        <a:rPr sz="800" b="0">
                          <a:solidFill>
                            <a:srgbClr val="2E2E2E"/>
                          </a:solidFill>
                          <a:latin typeface="Calibri"/>
                        </a:rPr>
                        <a:t>0.68</a:t>
                      </a:r>
                    </a:p>
                  </a:txBody>
                  <a:tcPr marL="85725" marR="38100" marT="19050" marB="19050" anchor="ctr">
                    <a:solidFill>
                      <a:srgbClr val="FFFFFF"/>
                    </a:solidFill>
                  </a:tcPr>
                </a:tc>
                <a:tc>
                  <a:txBody>
                    <a:bodyPr wrap="none"/>
                    <a:lstStyle/>
                    <a:p>
                      <a:pPr algn="l"/>
                      <a:r>
                        <a:rPr sz="800" b="0">
                          <a:solidFill>
                            <a:srgbClr val="2E2E2E"/>
                          </a:solidFill>
                          <a:latin typeface="Calibri"/>
                        </a:rPr>
                        <a:t>0.74</a:t>
                      </a:r>
                    </a:p>
                  </a:txBody>
                  <a:tcPr marL="85725" marR="38100" marT="19050" marB="19050" anchor="ctr">
                    <a:solidFill>
                      <a:srgbClr val="FFFFFF"/>
                    </a:solidFill>
                  </a:tcPr>
                </a:tc>
                <a:tc>
                  <a:txBody>
                    <a:bodyPr wrap="none"/>
                    <a:lstStyle/>
                    <a:p>
                      <a:pPr algn="l"/>
                      <a:r>
                        <a:rPr sz="800" b="0">
                          <a:solidFill>
                            <a:srgbClr val="2E2E2E"/>
                          </a:solidFill>
                          <a:latin typeface="Calibri"/>
                        </a:rPr>
                        <a:t>0.81</a:t>
                      </a:r>
                    </a:p>
                  </a:txBody>
                  <a:tcPr marL="85725" marR="38100" marT="19050" marB="19050" anchor="ctr">
                    <a:solidFill>
                      <a:srgbClr val="FFFFFF"/>
                    </a:solidFill>
                  </a:tcPr>
                </a:tc>
                <a:tc>
                  <a:txBody>
                    <a:bodyPr wrap="none"/>
                    <a:lstStyle/>
                    <a:p>
                      <a:pPr algn="l"/>
                      <a:r>
                        <a:rPr sz="800" b="0">
                          <a:solidFill>
                            <a:srgbClr val="2E2E2E"/>
                          </a:solidFill>
                          <a:latin typeface="Calibri"/>
                        </a:rPr>
                        <a:t>12.3%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Cyltezo</a:t>
                      </a:r>
                    </a:p>
                  </a:txBody>
                  <a:tcPr marL="85725" marR="38100" marT="19050" marB="19050" anchor="ctr">
                    <a:solidFill>
                      <a:srgbClr val="F5F8FA"/>
                    </a:solidFill>
                  </a:tcPr>
                </a:tc>
                <a:tc>
                  <a:txBody>
                    <a:bodyPr wrap="none"/>
                    <a:lstStyle/>
                    <a:p>
                      <a:pPr algn="l"/>
                      <a:r>
                        <a:rPr sz="800" b="0">
                          <a:solidFill>
                            <a:srgbClr val="2E2E2E"/>
                          </a:solidFill>
                          <a:latin typeface="Calibri"/>
                        </a:rPr>
                        <a:t>0.08</a:t>
                      </a:r>
                    </a:p>
                  </a:txBody>
                  <a:tcPr marL="85725" marR="38100" marT="19050" marB="19050" anchor="ctr">
                    <a:solidFill>
                      <a:srgbClr val="F5F8FA"/>
                    </a:solidFill>
                  </a:tcPr>
                </a:tc>
                <a:tc>
                  <a:txBody>
                    <a:bodyPr wrap="none"/>
                    <a:lstStyle/>
                    <a:p>
                      <a:pPr algn="l"/>
                      <a:r>
                        <a:rPr sz="800" b="0">
                          <a:solidFill>
                            <a:srgbClr val="2E2E2E"/>
                          </a:solidFill>
                          <a:latin typeface="Calibri"/>
                        </a:rPr>
                        <a:t>0.09</a:t>
                      </a:r>
                    </a:p>
                  </a:txBody>
                  <a:tcPr marL="85725" marR="38100" marT="19050" marB="19050" anchor="ctr">
                    <a:solidFill>
                      <a:srgbClr val="F5F8FA"/>
                    </a:solidFill>
                  </a:tcPr>
                </a:tc>
                <a:tc>
                  <a:txBody>
                    <a:bodyPr wrap="none"/>
                    <a:lstStyle/>
                    <a:p>
                      <a:pPr algn="l"/>
                      <a:r>
                        <a:rPr sz="800" b="0">
                          <a:solidFill>
                            <a:srgbClr val="2E2E2E"/>
                          </a:solidFill>
                          <a:latin typeface="Calibri"/>
                        </a:rPr>
                        <a:t>0.11</a:t>
                      </a:r>
                    </a:p>
                  </a:txBody>
                  <a:tcPr marL="85725" marR="38100" marT="19050" marB="19050" anchor="ctr">
                    <a:solidFill>
                      <a:srgbClr val="F5F8FA"/>
                    </a:solidFill>
                  </a:tcPr>
                </a:tc>
                <a:tc>
                  <a:txBody>
                    <a:bodyPr wrap="none"/>
                    <a:lstStyle/>
                    <a:p>
                      <a:pPr algn="l"/>
                      <a:r>
                        <a:rPr sz="800" b="0">
                          <a:solidFill>
                            <a:srgbClr val="2E2E2E"/>
                          </a:solidFill>
                          <a:latin typeface="Calibri"/>
                        </a:rPr>
                        <a:t>0.15</a:t>
                      </a:r>
                    </a:p>
                  </a:txBody>
                  <a:tcPr marL="85725" marR="38100" marT="19050" marB="19050" anchor="ctr">
                    <a:solidFill>
                      <a:srgbClr val="F5F8FA"/>
                    </a:solidFill>
                  </a:tcPr>
                </a:tc>
                <a:tc>
                  <a:txBody>
                    <a:bodyPr wrap="none"/>
                    <a:lstStyle/>
                    <a:p>
                      <a:pPr algn="l"/>
                      <a:r>
                        <a:rPr sz="800" b="0">
                          <a:solidFill>
                            <a:srgbClr val="2E2E2E"/>
                          </a:solidFill>
                          <a:latin typeface="Calibri"/>
                        </a:rPr>
                        <a:t>0.19</a:t>
                      </a:r>
                    </a:p>
                  </a:txBody>
                  <a:tcPr marL="85725" marR="38100" marT="19050" marB="19050" anchor="ctr">
                    <a:solidFill>
                      <a:srgbClr val="F5F8FA"/>
                    </a:solidFill>
                  </a:tcPr>
                </a:tc>
                <a:tc>
                  <a:txBody>
                    <a:bodyPr wrap="none"/>
                    <a:lstStyle/>
                    <a:p>
                      <a:pPr algn="l"/>
                      <a:r>
                        <a:rPr sz="800" b="0">
                          <a:solidFill>
                            <a:srgbClr val="2E2E2E"/>
                          </a:solidFill>
                          <a:latin typeface="Calibri"/>
                        </a:rPr>
                        <a:t>0.23</a:t>
                      </a:r>
                    </a:p>
                  </a:txBody>
                  <a:tcPr marL="85725" marR="38100" marT="19050" marB="19050" anchor="ctr">
                    <a:solidFill>
                      <a:srgbClr val="F5F8FA"/>
                    </a:solidFill>
                  </a:tcPr>
                </a:tc>
                <a:tc>
                  <a:txBody>
                    <a:bodyPr wrap="none"/>
                    <a:lstStyle/>
                    <a:p>
                      <a:pPr algn="l"/>
                      <a:r>
                        <a:rPr sz="800" b="0">
                          <a:solidFill>
                            <a:srgbClr val="2E2E2E"/>
                          </a:solidFill>
                          <a:latin typeface="Calibri"/>
                        </a:rPr>
                        <a:t>0.28</a:t>
                      </a:r>
                    </a:p>
                  </a:txBody>
                  <a:tcPr marL="85725" marR="38100" marT="19050" marB="19050" anchor="ctr">
                    <a:solidFill>
                      <a:srgbClr val="F5F8FA"/>
                    </a:solidFill>
                  </a:tcPr>
                </a:tc>
                <a:tc>
                  <a:txBody>
                    <a:bodyPr wrap="none"/>
                    <a:lstStyle/>
                    <a:p>
                      <a:pPr algn="l"/>
                      <a:r>
                        <a:rPr sz="800" b="0">
                          <a:solidFill>
                            <a:srgbClr val="2E2E2E"/>
                          </a:solidFill>
                          <a:latin typeface="Calibri"/>
                        </a:rPr>
                        <a:t>0.33</a:t>
                      </a:r>
                    </a:p>
                  </a:txBody>
                  <a:tcPr marL="85725" marR="38100" marT="19050" marB="19050" anchor="ctr">
                    <a:solidFill>
                      <a:srgbClr val="F5F8FA"/>
                    </a:solidFill>
                  </a:tcPr>
                </a:tc>
                <a:tc>
                  <a:txBody>
                    <a:bodyPr wrap="none"/>
                    <a:lstStyle/>
                    <a:p>
                      <a:pPr algn="l"/>
                      <a:r>
                        <a:rPr sz="800" b="0">
                          <a:solidFill>
                            <a:srgbClr val="2E2E2E"/>
                          </a:solidFill>
                          <a:latin typeface="Calibri"/>
                        </a:rPr>
                        <a:t>0.38</a:t>
                      </a:r>
                    </a:p>
                  </a:txBody>
                  <a:tcPr marL="85725" marR="38100" marT="19050" marB="19050" anchor="ctr">
                    <a:solidFill>
                      <a:srgbClr val="F5F8FA"/>
                    </a:solidFill>
                  </a:tcPr>
                </a:tc>
                <a:tc>
                  <a:txBody>
                    <a:bodyPr wrap="none"/>
                    <a:lstStyle/>
                    <a:p>
                      <a:pPr algn="l"/>
                      <a:r>
                        <a:rPr sz="800" b="0">
                          <a:solidFill>
                            <a:srgbClr val="2E2E2E"/>
                          </a:solidFill>
                          <a:latin typeface="Calibri"/>
                        </a:rPr>
                        <a:t>0.44</a:t>
                      </a:r>
                    </a:p>
                  </a:txBody>
                  <a:tcPr marL="85725" marR="38100" marT="19050" marB="19050" anchor="ctr">
                    <a:solidFill>
                      <a:srgbClr val="F5F8FA"/>
                    </a:solidFill>
                  </a:tcPr>
                </a:tc>
                <a:tc>
                  <a:txBody>
                    <a:bodyPr wrap="none"/>
                    <a:lstStyle/>
                    <a:p>
                      <a:pPr algn="l"/>
                      <a:r>
                        <a:rPr sz="800" b="0">
                          <a:solidFill>
                            <a:srgbClr val="2E2E2E"/>
                          </a:solidFill>
                          <a:latin typeface="Calibri"/>
                        </a:rPr>
                        <a:t>0.50</a:t>
                      </a:r>
                    </a:p>
                  </a:txBody>
                  <a:tcPr marL="85725" marR="38100" marT="19050" marB="19050" anchor="ctr">
                    <a:solidFill>
                      <a:srgbClr val="F5F8FA"/>
                    </a:solidFill>
                  </a:tcPr>
                </a:tc>
                <a:tc>
                  <a:txBody>
                    <a:bodyPr wrap="none"/>
                    <a:lstStyle/>
                    <a:p>
                      <a:pPr algn="l"/>
                      <a:r>
                        <a:rPr sz="800" b="0">
                          <a:solidFill>
                            <a:srgbClr val="2E2E2E"/>
                          </a:solidFill>
                          <a:latin typeface="Calibri"/>
                        </a:rPr>
                        <a:t>0.56</a:t>
                      </a:r>
                    </a:p>
                  </a:txBody>
                  <a:tcPr marL="85725" marR="38100" marT="19050" marB="19050" anchor="ctr">
                    <a:solidFill>
                      <a:srgbClr val="F5F8FA"/>
                    </a:solidFill>
                  </a:tcPr>
                </a:tc>
                <a:tc>
                  <a:txBody>
                    <a:bodyPr wrap="none"/>
                    <a:lstStyle/>
                    <a:p>
                      <a:pPr algn="l"/>
                      <a:r>
                        <a:rPr sz="800" b="0">
                          <a:solidFill>
                            <a:srgbClr val="2E2E2E"/>
                          </a:solidFill>
                          <a:latin typeface="Calibri"/>
                        </a:rPr>
                        <a:t>0.63</a:t>
                      </a:r>
                    </a:p>
                  </a:txBody>
                  <a:tcPr marL="85725" marR="38100" marT="19050" marB="19050" anchor="ctr">
                    <a:solidFill>
                      <a:srgbClr val="F5F8FA"/>
                    </a:solidFill>
                  </a:tcPr>
                </a:tc>
                <a:tc>
                  <a:txBody>
                    <a:bodyPr wrap="none"/>
                    <a:lstStyle/>
                    <a:p>
                      <a:pPr algn="l"/>
                      <a:r>
                        <a:rPr sz="800" b="0">
                          <a:solidFill>
                            <a:srgbClr val="2E2E2E"/>
                          </a:solidFill>
                          <a:latin typeface="Calibri"/>
                        </a:rPr>
                        <a:t>0.71</a:t>
                      </a:r>
                    </a:p>
                  </a:txBody>
                  <a:tcPr marL="85725" marR="38100" marT="19050" marB="19050" anchor="ctr">
                    <a:solidFill>
                      <a:srgbClr val="F5F8FA"/>
                    </a:solidFill>
                  </a:tcPr>
                </a:tc>
                <a:tc>
                  <a:txBody>
                    <a:bodyPr wrap="none"/>
                    <a:lstStyle/>
                    <a:p>
                      <a:pPr algn="l"/>
                      <a:r>
                        <a:rPr sz="800" b="0">
                          <a:solidFill>
                            <a:srgbClr val="2E2E2E"/>
                          </a:solidFill>
                          <a:latin typeface="Calibri"/>
                        </a:rPr>
                        <a:t>0.78</a:t>
                      </a:r>
                    </a:p>
                  </a:txBody>
                  <a:tcPr marL="85725" marR="38100" marT="19050" marB="19050" anchor="ctr">
                    <a:solidFill>
                      <a:srgbClr val="F5F8FA"/>
                    </a:solidFill>
                  </a:tcPr>
                </a:tc>
                <a:tc>
                  <a:txBody>
                    <a:bodyPr wrap="none"/>
                    <a:lstStyle/>
                    <a:p>
                      <a:pPr algn="l"/>
                      <a:r>
                        <a:rPr sz="800" b="0">
                          <a:solidFill>
                            <a:srgbClr val="2E2E2E"/>
                          </a:solidFill>
                          <a:latin typeface="Calibri"/>
                        </a:rPr>
                        <a:t>0.87</a:t>
                      </a:r>
                    </a:p>
                  </a:txBody>
                  <a:tcPr marL="85725" marR="38100" marT="19050" marB="19050" anchor="ctr">
                    <a:solidFill>
                      <a:srgbClr val="F5F8FA"/>
                    </a:solidFill>
                  </a:tcPr>
                </a:tc>
                <a:tc>
                  <a:txBody>
                    <a:bodyPr wrap="none"/>
                    <a:lstStyle/>
                    <a:p>
                      <a:pPr algn="l"/>
                      <a:r>
                        <a:rPr sz="800" b="0">
                          <a:solidFill>
                            <a:srgbClr val="2E2E2E"/>
                          </a:solidFill>
                          <a:latin typeface="Calibri"/>
                        </a:rPr>
                        <a:t>14.3%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800" b="0">
                          <a:solidFill>
                            <a:srgbClr val="2E2E2E"/>
                          </a:solidFill>
                          <a:latin typeface="Calibri"/>
                        </a:rPr>
                        <a:t>0.12</a:t>
                      </a:r>
                    </a:p>
                  </a:txBody>
                  <a:tcPr marL="85725" marR="38100" marT="19050" marB="19050" anchor="ctr">
                    <a:solidFill>
                      <a:srgbClr val="FFFFFF"/>
                    </a:solidFill>
                  </a:tcPr>
                </a:tc>
                <a:tc>
                  <a:txBody>
                    <a:bodyPr wrap="none"/>
                    <a:lstStyle/>
                    <a:p>
                      <a:pPr algn="l"/>
                      <a:r>
                        <a:rPr sz="800" b="0">
                          <a:solidFill>
                            <a:srgbClr val="2E2E2E"/>
                          </a:solidFill>
                          <a:latin typeface="Calibri"/>
                        </a:rPr>
                        <a:t>0.14</a:t>
                      </a:r>
                    </a:p>
                  </a:txBody>
                  <a:tcPr marL="85725" marR="38100" marT="19050" marB="19050" anchor="ctr">
                    <a:solidFill>
                      <a:srgbClr val="FFFFFF"/>
                    </a:solidFill>
                  </a:tcPr>
                </a:tc>
                <a:tc>
                  <a:txBody>
                    <a:bodyPr wrap="none"/>
                    <a:lstStyle/>
                    <a:p>
                      <a:pPr algn="l"/>
                      <a:r>
                        <a:rPr sz="800" b="0">
                          <a:solidFill>
                            <a:srgbClr val="2E2E2E"/>
                          </a:solidFill>
                          <a:latin typeface="Calibri"/>
                        </a:rPr>
                        <a:t>0.17</a:t>
                      </a:r>
                    </a:p>
                  </a:txBody>
                  <a:tcPr marL="85725" marR="38100" marT="19050" marB="19050" anchor="ctr">
                    <a:solidFill>
                      <a:srgbClr val="FFFFFF"/>
                    </a:solidFill>
                  </a:tcPr>
                </a:tc>
                <a:tc>
                  <a:txBody>
                    <a:bodyPr wrap="none"/>
                    <a:lstStyle/>
                    <a:p>
                      <a:pPr algn="l"/>
                      <a:r>
                        <a:rPr sz="800" b="0">
                          <a:solidFill>
                            <a:srgbClr val="2E2E2E"/>
                          </a:solidFill>
                          <a:latin typeface="Calibri"/>
                        </a:rPr>
                        <a:t>0.22</a:t>
                      </a:r>
                    </a:p>
                  </a:txBody>
                  <a:tcPr marL="85725" marR="38100" marT="19050" marB="19050" anchor="ctr">
                    <a:solidFill>
                      <a:srgbClr val="FFFFFF"/>
                    </a:solidFill>
                  </a:tcPr>
                </a:tc>
                <a:tc>
                  <a:txBody>
                    <a:bodyPr wrap="none"/>
                    <a:lstStyle/>
                    <a:p>
                      <a:pPr algn="l"/>
                      <a:r>
                        <a:rPr sz="800" b="0">
                          <a:solidFill>
                            <a:srgbClr val="2E2E2E"/>
                          </a:solidFill>
                          <a:latin typeface="Calibri"/>
                        </a:rPr>
                        <a:t>0.26</a:t>
                      </a:r>
                    </a:p>
                  </a:txBody>
                  <a:tcPr marL="85725" marR="38100" marT="19050" marB="19050" anchor="ctr">
                    <a:solidFill>
                      <a:srgbClr val="FFFFFF"/>
                    </a:solidFill>
                  </a:tcPr>
                </a:tc>
                <a:tc>
                  <a:txBody>
                    <a:bodyPr wrap="none"/>
                    <a:lstStyle/>
                    <a:p>
                      <a:pPr algn="l"/>
                      <a:r>
                        <a:rPr sz="800" b="0">
                          <a:solidFill>
                            <a:srgbClr val="2E2E2E"/>
                          </a:solidFill>
                          <a:latin typeface="Calibri"/>
                        </a:rPr>
                        <a:t>0.31</a:t>
                      </a:r>
                    </a:p>
                  </a:txBody>
                  <a:tcPr marL="85725" marR="38100" marT="19050" marB="19050" anchor="ctr">
                    <a:solidFill>
                      <a:srgbClr val="FFFFFF"/>
                    </a:solidFill>
                  </a:tcPr>
                </a:tc>
                <a:tc>
                  <a:txBody>
                    <a:bodyPr wrap="none"/>
                    <a:lstStyle/>
                    <a:p>
                      <a:pPr algn="l"/>
                      <a:r>
                        <a:rPr sz="800" b="0">
                          <a:solidFill>
                            <a:srgbClr val="2E2E2E"/>
                          </a:solidFill>
                          <a:latin typeface="Calibri"/>
                        </a:rPr>
                        <a:t>0.37</a:t>
                      </a:r>
                    </a:p>
                  </a:txBody>
                  <a:tcPr marL="85725" marR="38100" marT="19050" marB="19050" anchor="ctr">
                    <a:solidFill>
                      <a:srgbClr val="FFFFFF"/>
                    </a:solidFill>
                  </a:tcPr>
                </a:tc>
                <a:tc>
                  <a:txBody>
                    <a:bodyPr wrap="none"/>
                    <a:lstStyle/>
                    <a:p>
                      <a:pPr algn="l"/>
                      <a:r>
                        <a:rPr sz="800" b="0">
                          <a:solidFill>
                            <a:srgbClr val="2E2E2E"/>
                          </a:solidFill>
                          <a:latin typeface="Calibri"/>
                        </a:rPr>
                        <a:t>0.42</a:t>
                      </a:r>
                    </a:p>
                  </a:txBody>
                  <a:tcPr marL="85725" marR="38100" marT="19050" marB="19050" anchor="ctr">
                    <a:solidFill>
                      <a:srgbClr val="FFFFFF"/>
                    </a:solidFill>
                  </a:tcPr>
                </a:tc>
                <a:tc>
                  <a:txBody>
                    <a:bodyPr wrap="none"/>
                    <a:lstStyle/>
                    <a:p>
                      <a:pPr algn="l"/>
                      <a:r>
                        <a:rPr sz="800" b="0">
                          <a:solidFill>
                            <a:srgbClr val="2E2E2E"/>
                          </a:solidFill>
                          <a:latin typeface="Calibri"/>
                        </a:rPr>
                        <a:t>0.47</a:t>
                      </a:r>
                    </a:p>
                  </a:txBody>
                  <a:tcPr marL="85725" marR="38100" marT="19050" marB="19050" anchor="ctr">
                    <a:solidFill>
                      <a:srgbClr val="FFFFFF"/>
                    </a:solidFill>
                  </a:tcPr>
                </a:tc>
                <a:tc>
                  <a:txBody>
                    <a:bodyPr wrap="none"/>
                    <a:lstStyle/>
                    <a:p>
                      <a:pPr algn="l"/>
                      <a:r>
                        <a:rPr sz="800" b="0">
                          <a:solidFill>
                            <a:srgbClr val="2E2E2E"/>
                          </a:solidFill>
                          <a:latin typeface="Calibri"/>
                        </a:rPr>
                        <a:t>0.52</a:t>
                      </a:r>
                    </a:p>
                  </a:txBody>
                  <a:tcPr marL="85725" marR="38100" marT="19050" marB="19050" anchor="ctr">
                    <a:solidFill>
                      <a:srgbClr val="FFFFFF"/>
                    </a:solidFill>
                  </a:tcPr>
                </a:tc>
                <a:tc>
                  <a:txBody>
                    <a:bodyPr wrap="none"/>
                    <a:lstStyle/>
                    <a:p>
                      <a:pPr algn="l"/>
                      <a:r>
                        <a:rPr sz="800" b="0">
                          <a:solidFill>
                            <a:srgbClr val="2E2E2E"/>
                          </a:solidFill>
                          <a:latin typeface="Calibri"/>
                        </a:rPr>
                        <a:t>0.58</a:t>
                      </a:r>
                    </a:p>
                  </a:txBody>
                  <a:tcPr marL="85725" marR="38100" marT="19050" marB="19050" anchor="ctr">
                    <a:solidFill>
                      <a:srgbClr val="FFFFFF"/>
                    </a:solidFill>
                  </a:tcPr>
                </a:tc>
                <a:tc>
                  <a:txBody>
                    <a:bodyPr wrap="none"/>
                    <a:lstStyle/>
                    <a:p>
                      <a:pPr algn="l"/>
                      <a:r>
                        <a:rPr sz="800" b="0">
                          <a:solidFill>
                            <a:srgbClr val="2E2E2E"/>
                          </a:solidFill>
                          <a:latin typeface="Calibri"/>
                        </a:rPr>
                        <a:t>0.63</a:t>
                      </a:r>
                    </a:p>
                  </a:txBody>
                  <a:tcPr marL="85725" marR="38100" marT="19050" marB="19050" anchor="ctr">
                    <a:solidFill>
                      <a:srgbClr val="FFFFFF"/>
                    </a:solidFill>
                  </a:tcPr>
                </a:tc>
                <a:tc>
                  <a:txBody>
                    <a:bodyPr wrap="none"/>
                    <a:lstStyle/>
                    <a:p>
                      <a:pPr algn="l"/>
                      <a:r>
                        <a:rPr sz="800" b="0">
                          <a:solidFill>
                            <a:srgbClr val="2E2E2E"/>
                          </a:solidFill>
                          <a:latin typeface="Calibri"/>
                        </a:rPr>
                        <a:t>0.68</a:t>
                      </a:r>
                    </a:p>
                  </a:txBody>
                  <a:tcPr marL="85725" marR="38100" marT="19050" marB="19050" anchor="ctr">
                    <a:solidFill>
                      <a:srgbClr val="FFFFFF"/>
                    </a:solidFill>
                  </a:tcPr>
                </a:tc>
                <a:tc>
                  <a:txBody>
                    <a:bodyPr wrap="none"/>
                    <a:lstStyle/>
                    <a:p>
                      <a:pPr algn="l"/>
                      <a:r>
                        <a:rPr sz="800" b="0">
                          <a:solidFill>
                            <a:srgbClr val="2E2E2E"/>
                          </a:solidFill>
                          <a:latin typeface="Calibri"/>
                        </a:rPr>
                        <a:t>0.73</a:t>
                      </a:r>
                    </a:p>
                  </a:txBody>
                  <a:tcPr marL="85725" marR="38100" marT="19050" marB="19050" anchor="ctr">
                    <a:solidFill>
                      <a:srgbClr val="FFFFFF"/>
                    </a:solidFill>
                  </a:tcPr>
                </a:tc>
                <a:tc>
                  <a:txBody>
                    <a:bodyPr wrap="none"/>
                    <a:lstStyle/>
                    <a:p>
                      <a:pPr algn="l"/>
                      <a:r>
                        <a:rPr sz="800" b="0">
                          <a:solidFill>
                            <a:srgbClr val="2E2E2E"/>
                          </a:solidFill>
                          <a:latin typeface="Calibri"/>
                        </a:rPr>
                        <a:t>0.79</a:t>
                      </a:r>
                    </a:p>
                  </a:txBody>
                  <a:tcPr marL="85725" marR="38100" marT="19050" marB="19050" anchor="ctr">
                    <a:solidFill>
                      <a:srgbClr val="FFFFFF"/>
                    </a:solidFill>
                  </a:tcPr>
                </a:tc>
                <a:tc>
                  <a:txBody>
                    <a:bodyPr wrap="none"/>
                    <a:lstStyle/>
                    <a:p>
                      <a:pPr algn="l"/>
                      <a:r>
                        <a:rPr sz="800" b="0">
                          <a:solidFill>
                            <a:srgbClr val="2E2E2E"/>
                          </a:solidFill>
                          <a:latin typeface="Calibri"/>
                        </a:rPr>
                        <a:t>0.84</a:t>
                      </a:r>
                    </a:p>
                  </a:txBody>
                  <a:tcPr marL="85725" marR="38100" marT="19050" marB="19050" anchor="ctr">
                    <a:solidFill>
                      <a:srgbClr val="FFFFFF"/>
                    </a:solidFill>
                  </a:tcPr>
                </a:tc>
                <a:tc>
                  <a:txBody>
                    <a:bodyPr wrap="none"/>
                    <a:lstStyle/>
                    <a:p>
                      <a:pPr algn="l"/>
                      <a:r>
                        <a:rPr sz="800" b="0">
                          <a:solidFill>
                            <a:srgbClr val="2E2E2E"/>
                          </a:solidFill>
                          <a:latin typeface="Calibri"/>
                        </a:rPr>
                        <a:t>10.3%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800" b="0">
                          <a:solidFill>
                            <a:srgbClr val="2E2E2E"/>
                          </a:solidFill>
                          <a:latin typeface="Calibri"/>
                        </a:rPr>
                        <a:t>0.13</a:t>
                      </a:r>
                    </a:p>
                  </a:txBody>
                  <a:tcPr marL="85725" marR="38100" marT="19050" marB="19050" anchor="ctr">
                    <a:solidFill>
                      <a:srgbClr val="F5F8FA"/>
                    </a:solidFill>
                  </a:tcPr>
                </a:tc>
                <a:tc>
                  <a:txBody>
                    <a:bodyPr wrap="none"/>
                    <a:lstStyle/>
                    <a:p>
                      <a:pPr algn="l"/>
                      <a:r>
                        <a:rPr sz="800" b="0">
                          <a:solidFill>
                            <a:srgbClr val="2E2E2E"/>
                          </a:solidFill>
                          <a:latin typeface="Calibri"/>
                        </a:rPr>
                        <a:t>0.15</a:t>
                      </a:r>
                    </a:p>
                  </a:txBody>
                  <a:tcPr marL="85725" marR="38100" marT="19050" marB="19050" anchor="ctr">
                    <a:solidFill>
                      <a:srgbClr val="F5F8FA"/>
                    </a:solidFill>
                  </a:tcPr>
                </a:tc>
                <a:tc>
                  <a:txBody>
                    <a:bodyPr wrap="none"/>
                    <a:lstStyle/>
                    <a:p>
                      <a:pPr algn="l"/>
                      <a:r>
                        <a:rPr sz="800" b="0">
                          <a:solidFill>
                            <a:srgbClr val="2E2E2E"/>
                          </a:solidFill>
                          <a:latin typeface="Calibri"/>
                        </a:rPr>
                        <a:t>0.18</a:t>
                      </a:r>
                    </a:p>
                  </a:txBody>
                  <a:tcPr marL="85725" marR="38100" marT="19050" marB="19050" anchor="ctr">
                    <a:solidFill>
                      <a:srgbClr val="F5F8FA"/>
                    </a:solidFill>
                  </a:tcPr>
                </a:tc>
                <a:tc>
                  <a:txBody>
                    <a:bodyPr wrap="none"/>
                    <a:lstStyle/>
                    <a:p>
                      <a:pPr algn="l"/>
                      <a:r>
                        <a:rPr sz="800" b="0">
                          <a:solidFill>
                            <a:srgbClr val="2E2E2E"/>
                          </a:solidFill>
                          <a:latin typeface="Calibri"/>
                        </a:rPr>
                        <a:t>0.23</a:t>
                      </a:r>
                    </a:p>
                  </a:txBody>
                  <a:tcPr marL="85725" marR="38100" marT="19050" marB="19050" anchor="ctr">
                    <a:solidFill>
                      <a:srgbClr val="F5F8FA"/>
                    </a:solidFill>
                  </a:tcPr>
                </a:tc>
                <a:tc>
                  <a:txBody>
                    <a:bodyPr wrap="none"/>
                    <a:lstStyle/>
                    <a:p>
                      <a:pPr algn="l"/>
                      <a:r>
                        <a:rPr sz="800" b="0">
                          <a:solidFill>
                            <a:srgbClr val="2E2E2E"/>
                          </a:solidFill>
                          <a:latin typeface="Calibri"/>
                        </a:rPr>
                        <a:t>0.29</a:t>
                      </a:r>
                    </a:p>
                  </a:txBody>
                  <a:tcPr marL="85725" marR="38100" marT="19050" marB="19050" anchor="ctr">
                    <a:solidFill>
                      <a:srgbClr val="F5F8FA"/>
                    </a:solidFill>
                  </a:tcPr>
                </a:tc>
                <a:tc>
                  <a:txBody>
                    <a:bodyPr wrap="none"/>
                    <a:lstStyle/>
                    <a:p>
                      <a:pPr algn="l"/>
                      <a:r>
                        <a:rPr sz="800" b="0">
                          <a:solidFill>
                            <a:srgbClr val="2E2E2E"/>
                          </a:solidFill>
                          <a:latin typeface="Calibri"/>
                        </a:rPr>
                        <a:t>0.35</a:t>
                      </a:r>
                    </a:p>
                  </a:txBody>
                  <a:tcPr marL="85725" marR="38100" marT="19050" marB="19050" anchor="ctr">
                    <a:solidFill>
                      <a:srgbClr val="F5F8FA"/>
                    </a:solidFill>
                  </a:tcPr>
                </a:tc>
                <a:tc>
                  <a:txBody>
                    <a:bodyPr wrap="none"/>
                    <a:lstStyle/>
                    <a:p>
                      <a:pPr algn="l"/>
                      <a:r>
                        <a:rPr sz="800" b="0">
                          <a:solidFill>
                            <a:srgbClr val="2E2E2E"/>
                          </a:solidFill>
                          <a:latin typeface="Calibri"/>
                        </a:rPr>
                        <a:t>0.42</a:t>
                      </a:r>
                    </a:p>
                  </a:txBody>
                  <a:tcPr marL="85725" marR="38100" marT="19050" marB="19050" anchor="ctr">
                    <a:solidFill>
                      <a:srgbClr val="F5F8FA"/>
                    </a:solidFill>
                  </a:tcPr>
                </a:tc>
                <a:tc>
                  <a:txBody>
                    <a:bodyPr wrap="none"/>
                    <a:lstStyle/>
                    <a:p>
                      <a:pPr algn="l"/>
                      <a:r>
                        <a:rPr sz="800" b="0">
                          <a:solidFill>
                            <a:srgbClr val="2E2E2E"/>
                          </a:solidFill>
                          <a:latin typeface="Calibri"/>
                        </a:rPr>
                        <a:t>0.48</a:t>
                      </a:r>
                    </a:p>
                  </a:txBody>
                  <a:tcPr marL="85725" marR="38100" marT="19050" marB="19050" anchor="ctr">
                    <a:solidFill>
                      <a:srgbClr val="F5F8FA"/>
                    </a:solidFill>
                  </a:tcPr>
                </a:tc>
                <a:tc>
                  <a:txBody>
                    <a:bodyPr wrap="none"/>
                    <a:lstStyle/>
                    <a:p>
                      <a:pPr algn="l"/>
                      <a:r>
                        <a:rPr sz="800" b="0">
                          <a:solidFill>
                            <a:srgbClr val="2E2E2E"/>
                          </a:solidFill>
                          <a:latin typeface="Calibri"/>
                        </a:rPr>
                        <a:t>0.55</a:t>
                      </a:r>
                    </a:p>
                  </a:txBody>
                  <a:tcPr marL="85725" marR="38100" marT="19050" marB="19050" anchor="ctr">
                    <a:solidFill>
                      <a:srgbClr val="F5F8FA"/>
                    </a:solidFill>
                  </a:tcPr>
                </a:tc>
                <a:tc>
                  <a:txBody>
                    <a:bodyPr wrap="none"/>
                    <a:lstStyle/>
                    <a:p>
                      <a:pPr algn="l"/>
                      <a:r>
                        <a:rPr sz="800" b="0">
                          <a:solidFill>
                            <a:srgbClr val="2E2E2E"/>
                          </a:solidFill>
                          <a:latin typeface="Calibri"/>
                        </a:rPr>
                        <a:t>0.62</a:t>
                      </a:r>
                    </a:p>
                  </a:txBody>
                  <a:tcPr marL="85725" marR="38100" marT="19050" marB="19050" anchor="ctr">
                    <a:solidFill>
                      <a:srgbClr val="F5F8FA"/>
                    </a:solidFill>
                  </a:tcPr>
                </a:tc>
                <a:tc>
                  <a:txBody>
                    <a:bodyPr wrap="none"/>
                    <a:lstStyle/>
                    <a:p>
                      <a:pPr algn="l"/>
                      <a:r>
                        <a:rPr sz="800" b="0">
                          <a:solidFill>
                            <a:srgbClr val="2E2E2E"/>
                          </a:solidFill>
                          <a:latin typeface="Calibri"/>
                        </a:rPr>
                        <a:t>0.70</a:t>
                      </a:r>
                    </a:p>
                  </a:txBody>
                  <a:tcPr marL="85725" marR="38100" marT="19050" marB="19050" anchor="ctr">
                    <a:solidFill>
                      <a:srgbClr val="F5F8FA"/>
                    </a:solidFill>
                  </a:tcPr>
                </a:tc>
                <a:tc>
                  <a:txBody>
                    <a:bodyPr wrap="none"/>
                    <a:lstStyle/>
                    <a:p>
                      <a:pPr algn="l"/>
                      <a:r>
                        <a:rPr sz="800" b="0">
                          <a:solidFill>
                            <a:srgbClr val="2E2E2E"/>
                          </a:solidFill>
                          <a:latin typeface="Calibri"/>
                        </a:rPr>
                        <a:t>0.77</a:t>
                      </a:r>
                    </a:p>
                  </a:txBody>
                  <a:tcPr marL="85725" marR="38100" marT="19050" marB="19050" anchor="ctr">
                    <a:solidFill>
                      <a:srgbClr val="F5F8FA"/>
                    </a:solidFill>
                  </a:tcPr>
                </a:tc>
                <a:tc>
                  <a:txBody>
                    <a:bodyPr wrap="none"/>
                    <a:lstStyle/>
                    <a:p>
                      <a:pPr algn="l"/>
                      <a:r>
                        <a:rPr sz="800" b="0">
                          <a:solidFill>
                            <a:srgbClr val="2E2E2E"/>
                          </a:solidFill>
                          <a:latin typeface="Calibri"/>
                        </a:rPr>
                        <a:t>0.85</a:t>
                      </a:r>
                    </a:p>
                  </a:txBody>
                  <a:tcPr marL="85725" marR="38100" marT="19050" marB="19050" anchor="ctr">
                    <a:solidFill>
                      <a:srgbClr val="F5F8FA"/>
                    </a:solidFill>
                  </a:tcPr>
                </a:tc>
                <a:tc>
                  <a:txBody>
                    <a:bodyPr wrap="none"/>
                    <a:lstStyle/>
                    <a:p>
                      <a:pPr algn="l"/>
                      <a:r>
                        <a:rPr sz="800" b="0">
                          <a:solidFill>
                            <a:srgbClr val="2E2E2E"/>
                          </a:solidFill>
                          <a:latin typeface="Calibri"/>
                        </a:rPr>
                        <a:t>0.93</a:t>
                      </a:r>
                    </a:p>
                  </a:txBody>
                  <a:tcPr marL="85725" marR="38100" marT="19050" marB="19050" anchor="ctr">
                    <a:solidFill>
                      <a:srgbClr val="F5F8FA"/>
                    </a:solidFill>
                  </a:tcPr>
                </a:tc>
                <a:tc>
                  <a:txBody>
                    <a:bodyPr wrap="none"/>
                    <a:lstStyle/>
                    <a:p>
                      <a:pPr algn="l"/>
                      <a:r>
                        <a:rPr sz="800" b="0">
                          <a:solidFill>
                            <a:srgbClr val="2E2E2E"/>
                          </a:solidFill>
                          <a:latin typeface="Calibri"/>
                        </a:rPr>
                        <a:t>1.01</a:t>
                      </a:r>
                    </a:p>
                  </a:txBody>
                  <a:tcPr marL="85725" marR="38100" marT="19050" marB="19050" anchor="ctr">
                    <a:solidFill>
                      <a:srgbClr val="F5F8FA"/>
                    </a:solidFill>
                  </a:tcPr>
                </a:tc>
                <a:tc>
                  <a:txBody>
                    <a:bodyPr wrap="none"/>
                    <a:lstStyle/>
                    <a:p>
                      <a:pPr algn="l"/>
                      <a:r>
                        <a:rPr sz="800" b="0">
                          <a:solidFill>
                            <a:srgbClr val="2E2E2E"/>
                          </a:solidFill>
                          <a:latin typeface="Calibri"/>
                        </a:rPr>
                        <a:t>1.09</a:t>
                      </a:r>
                    </a:p>
                  </a:txBody>
                  <a:tcPr marL="85725" marR="38100" marT="19050" marB="19050" anchor="ctr">
                    <a:solidFill>
                      <a:srgbClr val="F5F8FA"/>
                    </a:solidFill>
                  </a:tcPr>
                </a:tc>
                <a:tc>
                  <a:txBody>
                    <a:bodyPr wrap="none"/>
                    <a:lstStyle/>
                    <a:p>
                      <a:pPr algn="l"/>
                      <a:r>
                        <a:rPr sz="800" b="0">
                          <a:solidFill>
                            <a:srgbClr val="2E2E2E"/>
                          </a:solidFill>
                          <a:latin typeface="Calibri"/>
                        </a:rPr>
                        <a:t>12.0%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Idacio</a:t>
                      </a:r>
                    </a:p>
                  </a:txBody>
                  <a:tcPr marL="85725" marR="38100" marT="19050" marB="19050" anchor="ctr">
                    <a:solidFill>
                      <a:srgbClr val="FFFFFF"/>
                    </a:solidFill>
                  </a:tcPr>
                </a:tc>
                <a:tc>
                  <a:txBody>
                    <a:bodyPr wrap="none"/>
                    <a:lstStyle/>
                    <a:p>
                      <a:pPr algn="l"/>
                      <a:r>
                        <a:rPr sz="800" b="0">
                          <a:solidFill>
                            <a:srgbClr val="2E2E2E"/>
                          </a:solidFill>
                          <a:latin typeface="Calibri"/>
                        </a:rPr>
                        <a:t>0.06</a:t>
                      </a:r>
                    </a:p>
                  </a:txBody>
                  <a:tcPr marL="85725" marR="38100" marT="19050" marB="19050" anchor="ctr">
                    <a:solidFill>
                      <a:srgbClr val="FFFFFF"/>
                    </a:solidFill>
                  </a:tcPr>
                </a:tc>
                <a:tc>
                  <a:txBody>
                    <a:bodyPr wrap="none"/>
                    <a:lstStyle/>
                    <a:p>
                      <a:pPr algn="l"/>
                      <a:r>
                        <a:rPr sz="800" b="0">
                          <a:solidFill>
                            <a:srgbClr val="2E2E2E"/>
                          </a:solidFill>
                          <a:latin typeface="Calibri"/>
                        </a:rPr>
                        <a:t>0.07</a:t>
                      </a:r>
                    </a:p>
                  </a:txBody>
                  <a:tcPr marL="85725" marR="38100" marT="19050" marB="19050" anchor="ctr">
                    <a:solidFill>
                      <a:srgbClr val="FFFFFF"/>
                    </a:solidFill>
                  </a:tcPr>
                </a:tc>
                <a:tc>
                  <a:txBody>
                    <a:bodyPr wrap="none"/>
                    <a:lstStyle/>
                    <a:p>
                      <a:pPr algn="l"/>
                      <a:r>
                        <a:rPr sz="800" b="0">
                          <a:solidFill>
                            <a:srgbClr val="2E2E2E"/>
                          </a:solidFill>
                          <a:latin typeface="Calibri"/>
                        </a:rPr>
                        <a:t>0.09</a:t>
                      </a:r>
                    </a:p>
                  </a:txBody>
                  <a:tcPr marL="85725" marR="38100" marT="19050" marB="19050" anchor="ctr">
                    <a:solidFill>
                      <a:srgbClr val="FFFFFF"/>
                    </a:solidFill>
                  </a:tcPr>
                </a:tc>
                <a:tc>
                  <a:txBody>
                    <a:bodyPr wrap="none"/>
                    <a:lstStyle/>
                    <a:p>
                      <a:pPr algn="l"/>
                      <a:r>
                        <a:rPr sz="800" b="0">
                          <a:solidFill>
                            <a:srgbClr val="2E2E2E"/>
                          </a:solidFill>
                          <a:latin typeface="Calibri"/>
                        </a:rPr>
                        <a:t>0.12</a:t>
                      </a:r>
                    </a:p>
                  </a:txBody>
                  <a:tcPr marL="85725" marR="38100" marT="19050" marB="19050" anchor="ctr">
                    <a:solidFill>
                      <a:srgbClr val="FFFFFF"/>
                    </a:solidFill>
                  </a:tcPr>
                </a:tc>
                <a:tc>
                  <a:txBody>
                    <a:bodyPr wrap="none"/>
                    <a:lstStyle/>
                    <a:p>
                      <a:pPr algn="l"/>
                      <a:r>
                        <a:rPr sz="800" b="0">
                          <a:solidFill>
                            <a:srgbClr val="2E2E2E"/>
                          </a:solidFill>
                          <a:latin typeface="Calibri"/>
                        </a:rPr>
                        <a:t>0.15</a:t>
                      </a:r>
                    </a:p>
                  </a:txBody>
                  <a:tcPr marL="85725" marR="38100" marT="19050" marB="19050" anchor="ctr">
                    <a:solidFill>
                      <a:srgbClr val="FFFFFF"/>
                    </a:solidFill>
                  </a:tcPr>
                </a:tc>
                <a:tc>
                  <a:txBody>
                    <a:bodyPr wrap="none"/>
                    <a:lstStyle/>
                    <a:p>
                      <a:pPr algn="l"/>
                      <a:r>
                        <a:rPr sz="800" b="0">
                          <a:solidFill>
                            <a:srgbClr val="2E2E2E"/>
                          </a:solidFill>
                          <a:latin typeface="Calibri"/>
                        </a:rPr>
                        <a:t>0.18</a:t>
                      </a:r>
                    </a:p>
                  </a:txBody>
                  <a:tcPr marL="85725" marR="38100" marT="19050" marB="19050" anchor="ctr">
                    <a:solidFill>
                      <a:srgbClr val="FFFFFF"/>
                    </a:solidFill>
                  </a:tcPr>
                </a:tc>
                <a:tc>
                  <a:txBody>
                    <a:bodyPr wrap="none"/>
                    <a:lstStyle/>
                    <a:p>
                      <a:pPr algn="l"/>
                      <a:r>
                        <a:rPr sz="800" b="0">
                          <a:solidFill>
                            <a:srgbClr val="2E2E2E"/>
                          </a:solidFill>
                          <a:latin typeface="Calibri"/>
                        </a:rPr>
                        <a:t>0.21</a:t>
                      </a:r>
                    </a:p>
                  </a:txBody>
                  <a:tcPr marL="85725" marR="38100" marT="19050" marB="19050" anchor="ctr">
                    <a:solidFill>
                      <a:srgbClr val="FFFFFF"/>
                    </a:solidFill>
                  </a:tcPr>
                </a:tc>
                <a:tc>
                  <a:txBody>
                    <a:bodyPr wrap="none"/>
                    <a:lstStyle/>
                    <a:p>
                      <a:pPr algn="l"/>
                      <a:r>
                        <a:rPr sz="800" b="0">
                          <a:solidFill>
                            <a:srgbClr val="2E2E2E"/>
                          </a:solidFill>
                          <a:latin typeface="Calibri"/>
                        </a:rPr>
                        <a:t>0.25</a:t>
                      </a:r>
                    </a:p>
                  </a:txBody>
                  <a:tcPr marL="85725" marR="38100" marT="19050" marB="19050" anchor="ctr">
                    <a:solidFill>
                      <a:srgbClr val="FFFFFF"/>
                    </a:solidFill>
                  </a:tcPr>
                </a:tc>
                <a:tc>
                  <a:txBody>
                    <a:bodyPr wrap="none"/>
                    <a:lstStyle/>
                    <a:p>
                      <a:pPr algn="l"/>
                      <a:r>
                        <a:rPr sz="800" b="0">
                          <a:solidFill>
                            <a:srgbClr val="2E2E2E"/>
                          </a:solidFill>
                          <a:latin typeface="Calibri"/>
                        </a:rPr>
                        <a:t>0.29</a:t>
                      </a:r>
                    </a:p>
                  </a:txBody>
                  <a:tcPr marL="85725" marR="38100" marT="19050" marB="19050" anchor="ctr">
                    <a:solidFill>
                      <a:srgbClr val="FFFFFF"/>
                    </a:solidFill>
                  </a:tcPr>
                </a:tc>
                <a:tc>
                  <a:txBody>
                    <a:bodyPr wrap="none"/>
                    <a:lstStyle/>
                    <a:p>
                      <a:pPr algn="l"/>
                      <a:r>
                        <a:rPr sz="800" b="0">
                          <a:solidFill>
                            <a:srgbClr val="2E2E2E"/>
                          </a:solidFill>
                          <a:latin typeface="Calibri"/>
                        </a:rPr>
                        <a:t>0.33</a:t>
                      </a:r>
                    </a:p>
                  </a:txBody>
                  <a:tcPr marL="85725" marR="38100" marT="19050" marB="19050" anchor="ctr">
                    <a:solidFill>
                      <a:srgbClr val="FFFFFF"/>
                    </a:solidFill>
                  </a:tcPr>
                </a:tc>
                <a:tc>
                  <a:txBody>
                    <a:bodyPr wrap="none"/>
                    <a:lstStyle/>
                    <a:p>
                      <a:pPr algn="l"/>
                      <a:r>
                        <a:rPr sz="800" b="0">
                          <a:solidFill>
                            <a:srgbClr val="2E2E2E"/>
                          </a:solidFill>
                          <a:latin typeface="Calibri"/>
                        </a:rPr>
                        <a:t>0.37</a:t>
                      </a:r>
                    </a:p>
                  </a:txBody>
                  <a:tcPr marL="85725" marR="38100" marT="19050" marB="19050" anchor="ctr">
                    <a:solidFill>
                      <a:srgbClr val="FFFFFF"/>
                    </a:solidFill>
                  </a:tcPr>
                </a:tc>
                <a:tc>
                  <a:txBody>
                    <a:bodyPr wrap="none"/>
                    <a:lstStyle/>
                    <a:p>
                      <a:pPr algn="l"/>
                      <a:r>
                        <a:rPr sz="800" b="0">
                          <a:solidFill>
                            <a:srgbClr val="2E2E2E"/>
                          </a:solidFill>
                          <a:latin typeface="Calibri"/>
                        </a:rPr>
                        <a:t>0.42</a:t>
                      </a:r>
                    </a:p>
                  </a:txBody>
                  <a:tcPr marL="85725" marR="38100" marT="19050" marB="19050" anchor="ctr">
                    <a:solidFill>
                      <a:srgbClr val="FFFFFF"/>
                    </a:solidFill>
                  </a:tcPr>
                </a:tc>
                <a:tc>
                  <a:txBody>
                    <a:bodyPr wrap="none"/>
                    <a:lstStyle/>
                    <a:p>
                      <a:pPr algn="l"/>
                      <a:r>
                        <a:rPr sz="800" b="0">
                          <a:solidFill>
                            <a:srgbClr val="2E2E2E"/>
                          </a:solidFill>
                          <a:latin typeface="Calibri"/>
                        </a:rPr>
                        <a:t>0.46</a:t>
                      </a:r>
                    </a:p>
                  </a:txBody>
                  <a:tcPr marL="85725" marR="38100" marT="19050" marB="19050" anchor="ctr">
                    <a:solidFill>
                      <a:srgbClr val="FFFFFF"/>
                    </a:solidFill>
                  </a:tcPr>
                </a:tc>
                <a:tc>
                  <a:txBody>
                    <a:bodyPr wrap="none"/>
                    <a:lstStyle/>
                    <a:p>
                      <a:pPr algn="l"/>
                      <a:r>
                        <a:rPr sz="800" b="0">
                          <a:solidFill>
                            <a:srgbClr val="2E2E2E"/>
                          </a:solidFill>
                          <a:latin typeface="Calibri"/>
                        </a:rPr>
                        <a:t>0.51</a:t>
                      </a:r>
                    </a:p>
                  </a:txBody>
                  <a:tcPr marL="85725" marR="38100" marT="19050" marB="19050" anchor="ctr">
                    <a:solidFill>
                      <a:srgbClr val="FFFFFF"/>
                    </a:solidFill>
                  </a:tcPr>
                </a:tc>
                <a:tc>
                  <a:txBody>
                    <a:bodyPr wrap="none"/>
                    <a:lstStyle/>
                    <a:p>
                      <a:pPr algn="l"/>
                      <a:r>
                        <a:rPr sz="800" b="0">
                          <a:solidFill>
                            <a:srgbClr val="2E2E2E"/>
                          </a:solidFill>
                          <a:latin typeface="Calibri"/>
                        </a:rPr>
                        <a:t>0.56</a:t>
                      </a:r>
                    </a:p>
                  </a:txBody>
                  <a:tcPr marL="85725" marR="38100" marT="19050" marB="19050" anchor="ctr">
                    <a:solidFill>
                      <a:srgbClr val="FFFFFF"/>
                    </a:solidFill>
                  </a:tcPr>
                </a:tc>
                <a:tc>
                  <a:txBody>
                    <a:bodyPr wrap="none"/>
                    <a:lstStyle/>
                    <a:p>
                      <a:pPr algn="l"/>
                      <a:r>
                        <a:rPr sz="800" b="0">
                          <a:solidFill>
                            <a:srgbClr val="2E2E2E"/>
                          </a:solidFill>
                          <a:latin typeface="Calibri"/>
                        </a:rPr>
                        <a:t>0.61</a:t>
                      </a:r>
                    </a:p>
                  </a:txBody>
                  <a:tcPr marL="85725" marR="38100" marT="19050" marB="19050" anchor="ctr">
                    <a:solidFill>
                      <a:srgbClr val="FFFFFF"/>
                    </a:solidFill>
                  </a:tcPr>
                </a:tc>
                <a:tc>
                  <a:txBody>
                    <a:bodyPr wrap="none"/>
                    <a:lstStyle/>
                    <a:p>
                      <a:pPr algn="l"/>
                      <a:r>
                        <a:rPr sz="800" b="0">
                          <a:solidFill>
                            <a:srgbClr val="2E2E2E"/>
                          </a:solidFill>
                          <a:latin typeface="Calibri"/>
                        </a:rPr>
                        <a:t>13.2%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Hulio</a:t>
                      </a:r>
                    </a:p>
                  </a:txBody>
                  <a:tcPr marL="85725" marR="38100" marT="19050" marB="19050" anchor="ctr">
                    <a:solidFill>
                      <a:srgbClr val="F5F8FA"/>
                    </a:solidFill>
                  </a:tcPr>
                </a:tc>
                <a:tc>
                  <a:txBody>
                    <a:bodyPr wrap="none"/>
                    <a:lstStyle/>
                    <a:p>
                      <a:pPr algn="l"/>
                      <a:r>
                        <a:rPr sz="800" b="0">
                          <a:solidFill>
                            <a:srgbClr val="2E2E2E"/>
                          </a:solidFill>
                          <a:latin typeface="Calibri"/>
                        </a:rPr>
                        <a:t>0.05</a:t>
                      </a:r>
                    </a:p>
                  </a:txBody>
                  <a:tcPr marL="85725" marR="38100" marT="19050" marB="19050" anchor="ctr">
                    <a:solidFill>
                      <a:srgbClr val="F5F8FA"/>
                    </a:solidFill>
                  </a:tcPr>
                </a:tc>
                <a:tc>
                  <a:txBody>
                    <a:bodyPr wrap="none"/>
                    <a:lstStyle/>
                    <a:p>
                      <a:pPr algn="l"/>
                      <a:r>
                        <a:rPr sz="800" b="0">
                          <a:solidFill>
                            <a:srgbClr val="2E2E2E"/>
                          </a:solidFill>
                          <a:latin typeface="Calibri"/>
                        </a:rPr>
                        <a:t>0.06</a:t>
                      </a:r>
                    </a:p>
                  </a:txBody>
                  <a:tcPr marL="85725" marR="38100" marT="19050" marB="19050" anchor="ctr">
                    <a:solidFill>
                      <a:srgbClr val="F5F8FA"/>
                    </a:solidFill>
                  </a:tcPr>
                </a:tc>
                <a:tc>
                  <a:txBody>
                    <a:bodyPr wrap="none"/>
                    <a:lstStyle/>
                    <a:p>
                      <a:pPr algn="l"/>
                      <a:r>
                        <a:rPr sz="800" b="0">
                          <a:solidFill>
                            <a:srgbClr val="2E2E2E"/>
                          </a:solidFill>
                          <a:latin typeface="Calibri"/>
                        </a:rPr>
                        <a:t>0.08</a:t>
                      </a:r>
                    </a:p>
                  </a:txBody>
                  <a:tcPr marL="85725" marR="38100" marT="19050" marB="19050" anchor="ctr">
                    <a:solidFill>
                      <a:srgbClr val="F5F8FA"/>
                    </a:solidFill>
                  </a:tcPr>
                </a:tc>
                <a:tc>
                  <a:txBody>
                    <a:bodyPr wrap="none"/>
                    <a:lstStyle/>
                    <a:p>
                      <a:pPr algn="l"/>
                      <a:r>
                        <a:rPr sz="800" b="0">
                          <a:solidFill>
                            <a:srgbClr val="2E2E2E"/>
                          </a:solidFill>
                          <a:latin typeface="Calibri"/>
                        </a:rPr>
                        <a:t>0.11</a:t>
                      </a:r>
                    </a:p>
                  </a:txBody>
                  <a:tcPr marL="85725" marR="38100" marT="19050" marB="19050" anchor="ctr">
                    <a:solidFill>
                      <a:srgbClr val="F5F8FA"/>
                    </a:solidFill>
                  </a:tcPr>
                </a:tc>
                <a:tc>
                  <a:txBody>
                    <a:bodyPr wrap="none"/>
                    <a:lstStyle/>
                    <a:p>
                      <a:pPr algn="l"/>
                      <a:r>
                        <a:rPr sz="800" b="0">
                          <a:solidFill>
                            <a:srgbClr val="2E2E2E"/>
                          </a:solidFill>
                          <a:latin typeface="Calibri"/>
                        </a:rPr>
                        <a:t>0.14</a:t>
                      </a:r>
                    </a:p>
                  </a:txBody>
                  <a:tcPr marL="85725" marR="38100" marT="19050" marB="19050" anchor="ctr">
                    <a:solidFill>
                      <a:srgbClr val="F5F8FA"/>
                    </a:solidFill>
                  </a:tcPr>
                </a:tc>
                <a:tc>
                  <a:txBody>
                    <a:bodyPr wrap="none"/>
                    <a:lstStyle/>
                    <a:p>
                      <a:pPr algn="l"/>
                      <a:r>
                        <a:rPr sz="800" b="0">
                          <a:solidFill>
                            <a:srgbClr val="2E2E2E"/>
                          </a:solidFill>
                          <a:latin typeface="Calibri"/>
                        </a:rPr>
                        <a:t>0.17</a:t>
                      </a:r>
                    </a:p>
                  </a:txBody>
                  <a:tcPr marL="85725" marR="38100" marT="19050" marB="19050" anchor="ctr">
                    <a:solidFill>
                      <a:srgbClr val="F5F8FA"/>
                    </a:solidFill>
                  </a:tcPr>
                </a:tc>
                <a:tc>
                  <a:txBody>
                    <a:bodyPr wrap="none"/>
                    <a:lstStyle/>
                    <a:p>
                      <a:pPr algn="l"/>
                      <a:r>
                        <a:rPr sz="800" b="0">
                          <a:solidFill>
                            <a:srgbClr val="2E2E2E"/>
                          </a:solidFill>
                          <a:latin typeface="Calibri"/>
                        </a:rPr>
                        <a:t>0.20</a:t>
                      </a:r>
                    </a:p>
                  </a:txBody>
                  <a:tcPr marL="85725" marR="38100" marT="19050" marB="19050" anchor="ctr">
                    <a:solidFill>
                      <a:srgbClr val="F5F8FA"/>
                    </a:solidFill>
                  </a:tcPr>
                </a:tc>
                <a:tc>
                  <a:txBody>
                    <a:bodyPr wrap="none"/>
                    <a:lstStyle/>
                    <a:p>
                      <a:pPr algn="l"/>
                      <a:r>
                        <a:rPr sz="800" b="0">
                          <a:solidFill>
                            <a:srgbClr val="2E2E2E"/>
                          </a:solidFill>
                          <a:latin typeface="Calibri"/>
                        </a:rPr>
                        <a:t>0.24</a:t>
                      </a:r>
                    </a:p>
                  </a:txBody>
                  <a:tcPr marL="85725" marR="38100" marT="19050" marB="19050" anchor="ctr">
                    <a:solidFill>
                      <a:srgbClr val="F5F8FA"/>
                    </a:solidFill>
                  </a:tcPr>
                </a:tc>
                <a:tc>
                  <a:txBody>
                    <a:bodyPr wrap="none"/>
                    <a:lstStyle/>
                    <a:p>
                      <a:pPr algn="l"/>
                      <a:r>
                        <a:rPr sz="800" b="0">
                          <a:solidFill>
                            <a:srgbClr val="2E2E2E"/>
                          </a:solidFill>
                          <a:latin typeface="Calibri"/>
                        </a:rPr>
                        <a:t>0.28</a:t>
                      </a:r>
                    </a:p>
                  </a:txBody>
                  <a:tcPr marL="85725" marR="38100" marT="19050" marB="19050" anchor="ctr">
                    <a:solidFill>
                      <a:srgbClr val="F5F8FA"/>
                    </a:solidFill>
                  </a:tcPr>
                </a:tc>
                <a:tc>
                  <a:txBody>
                    <a:bodyPr wrap="none"/>
                    <a:lstStyle/>
                    <a:p>
                      <a:pPr algn="l"/>
                      <a:r>
                        <a:rPr sz="800" b="0">
                          <a:solidFill>
                            <a:srgbClr val="2E2E2E"/>
                          </a:solidFill>
                          <a:latin typeface="Calibri"/>
                        </a:rPr>
                        <a:t>0.33</a:t>
                      </a:r>
                    </a:p>
                  </a:txBody>
                  <a:tcPr marL="85725" marR="38100" marT="19050" marB="19050" anchor="ctr">
                    <a:solidFill>
                      <a:srgbClr val="F5F8FA"/>
                    </a:solidFill>
                  </a:tcPr>
                </a:tc>
                <a:tc>
                  <a:txBody>
                    <a:bodyPr wrap="none"/>
                    <a:lstStyle/>
                    <a:p>
                      <a:pPr algn="l"/>
                      <a:r>
                        <a:rPr sz="800" b="0">
                          <a:solidFill>
                            <a:srgbClr val="2E2E2E"/>
                          </a:solidFill>
                          <a:latin typeface="Calibri"/>
                        </a:rPr>
                        <a:t>0.38</a:t>
                      </a:r>
                    </a:p>
                  </a:txBody>
                  <a:tcPr marL="85725" marR="38100" marT="19050" marB="19050" anchor="ctr">
                    <a:solidFill>
                      <a:srgbClr val="F5F8FA"/>
                    </a:solidFill>
                  </a:tcPr>
                </a:tc>
                <a:tc>
                  <a:txBody>
                    <a:bodyPr wrap="none"/>
                    <a:lstStyle/>
                    <a:p>
                      <a:pPr algn="l"/>
                      <a:r>
                        <a:rPr sz="800" b="0">
                          <a:solidFill>
                            <a:srgbClr val="2E2E2E"/>
                          </a:solidFill>
                          <a:latin typeface="Calibri"/>
                        </a:rPr>
                        <a:t>0.43</a:t>
                      </a:r>
                    </a:p>
                  </a:txBody>
                  <a:tcPr marL="85725" marR="38100" marT="19050" marB="19050" anchor="ctr">
                    <a:solidFill>
                      <a:srgbClr val="F5F8FA"/>
                    </a:solidFill>
                  </a:tcPr>
                </a:tc>
                <a:tc>
                  <a:txBody>
                    <a:bodyPr wrap="none"/>
                    <a:lstStyle/>
                    <a:p>
                      <a:pPr algn="l"/>
                      <a:r>
                        <a:rPr sz="800" b="0">
                          <a:solidFill>
                            <a:srgbClr val="2E2E2E"/>
                          </a:solidFill>
                          <a:latin typeface="Calibri"/>
                        </a:rPr>
                        <a:t>0.48</a:t>
                      </a:r>
                    </a:p>
                  </a:txBody>
                  <a:tcPr marL="85725" marR="38100" marT="19050" marB="19050" anchor="ctr">
                    <a:solidFill>
                      <a:srgbClr val="F5F8FA"/>
                    </a:solidFill>
                  </a:tcPr>
                </a:tc>
                <a:tc>
                  <a:txBody>
                    <a:bodyPr wrap="none"/>
                    <a:lstStyle/>
                    <a:p>
                      <a:pPr algn="l"/>
                      <a:r>
                        <a:rPr sz="800" b="0">
                          <a:solidFill>
                            <a:srgbClr val="2E2E2E"/>
                          </a:solidFill>
                          <a:latin typeface="Calibri"/>
                        </a:rPr>
                        <a:t>0.54</a:t>
                      </a:r>
                    </a:p>
                  </a:txBody>
                  <a:tcPr marL="85725" marR="38100" marT="19050" marB="19050" anchor="ctr">
                    <a:solidFill>
                      <a:srgbClr val="F5F8FA"/>
                    </a:solidFill>
                  </a:tcPr>
                </a:tc>
                <a:tc>
                  <a:txBody>
                    <a:bodyPr wrap="none"/>
                    <a:lstStyle/>
                    <a:p>
                      <a:pPr algn="l"/>
                      <a:r>
                        <a:rPr sz="800" b="0">
                          <a:solidFill>
                            <a:srgbClr val="2E2E2E"/>
                          </a:solidFill>
                          <a:latin typeface="Calibri"/>
                        </a:rPr>
                        <a:t>0.60</a:t>
                      </a:r>
                    </a:p>
                  </a:txBody>
                  <a:tcPr marL="85725" marR="38100" marT="19050" marB="19050" anchor="ctr">
                    <a:solidFill>
                      <a:srgbClr val="F5F8FA"/>
                    </a:solidFill>
                  </a:tcPr>
                </a:tc>
                <a:tc>
                  <a:txBody>
                    <a:bodyPr wrap="none"/>
                    <a:lstStyle/>
                    <a:p>
                      <a:pPr algn="l"/>
                      <a:r>
                        <a:rPr sz="800" b="0">
                          <a:solidFill>
                            <a:srgbClr val="2E2E2E"/>
                          </a:solidFill>
                          <a:latin typeface="Calibri"/>
                        </a:rPr>
                        <a:t>0.67</a:t>
                      </a:r>
                    </a:p>
                  </a:txBody>
                  <a:tcPr marL="85725" marR="38100" marT="19050" marB="19050" anchor="ctr">
                    <a:solidFill>
                      <a:srgbClr val="F5F8FA"/>
                    </a:solidFill>
                  </a:tcPr>
                </a:tc>
                <a:tc>
                  <a:txBody>
                    <a:bodyPr wrap="none"/>
                    <a:lstStyle/>
                    <a:p>
                      <a:pPr algn="l"/>
                      <a:r>
                        <a:rPr sz="800" b="0">
                          <a:solidFill>
                            <a:srgbClr val="2E2E2E"/>
                          </a:solidFill>
                          <a:latin typeface="Calibri"/>
                        </a:rPr>
                        <a:t>14.8%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800" b="0">
                          <a:solidFill>
                            <a:srgbClr val="2E2E2E"/>
                          </a:solidFill>
                          <a:latin typeface="Calibri"/>
                        </a:rPr>
                        <a:t>0.11</a:t>
                      </a:r>
                    </a:p>
                  </a:txBody>
                  <a:tcPr marL="85725" marR="38100" marT="19050" marB="19050" anchor="ctr">
                    <a:solidFill>
                      <a:srgbClr val="FFFFFF"/>
                    </a:solidFill>
                  </a:tcPr>
                </a:tc>
                <a:tc>
                  <a:txBody>
                    <a:bodyPr wrap="none"/>
                    <a:lstStyle/>
                    <a:p>
                      <a:pPr algn="l"/>
                      <a:r>
                        <a:rPr sz="800" b="0">
                          <a:solidFill>
                            <a:srgbClr val="2E2E2E"/>
                          </a:solidFill>
                          <a:latin typeface="Calibri"/>
                        </a:rPr>
                        <a:t>0.13</a:t>
                      </a:r>
                    </a:p>
                  </a:txBody>
                  <a:tcPr marL="85725" marR="38100" marT="19050" marB="19050" anchor="ctr">
                    <a:solidFill>
                      <a:srgbClr val="FFFFFF"/>
                    </a:solidFill>
                  </a:tcPr>
                </a:tc>
                <a:tc>
                  <a:txBody>
                    <a:bodyPr wrap="none"/>
                    <a:lstStyle/>
                    <a:p>
                      <a:pPr algn="l"/>
                      <a:r>
                        <a:rPr sz="800" b="0">
                          <a:solidFill>
                            <a:srgbClr val="2E2E2E"/>
                          </a:solidFill>
                          <a:latin typeface="Calibri"/>
                        </a:rPr>
                        <a:t>0.16</a:t>
                      </a:r>
                    </a:p>
                  </a:txBody>
                  <a:tcPr marL="85725" marR="38100" marT="19050" marB="19050" anchor="ctr">
                    <a:solidFill>
                      <a:srgbClr val="FFFFFF"/>
                    </a:solidFill>
                  </a:tcPr>
                </a:tc>
                <a:tc>
                  <a:txBody>
                    <a:bodyPr wrap="none"/>
                    <a:lstStyle/>
                    <a:p>
                      <a:pPr algn="l"/>
                      <a:r>
                        <a:rPr sz="800" b="0">
                          <a:solidFill>
                            <a:srgbClr val="2E2E2E"/>
                          </a:solidFill>
                          <a:latin typeface="Calibri"/>
                        </a:rPr>
                        <a:t>0.20</a:t>
                      </a:r>
                    </a:p>
                  </a:txBody>
                  <a:tcPr marL="85725" marR="38100" marT="19050" marB="19050" anchor="ctr">
                    <a:solidFill>
                      <a:srgbClr val="FFFFFF"/>
                    </a:solidFill>
                  </a:tcPr>
                </a:tc>
                <a:tc>
                  <a:txBody>
                    <a:bodyPr wrap="none"/>
                    <a:lstStyle/>
                    <a:p>
                      <a:pPr algn="l"/>
                      <a:r>
                        <a:rPr sz="800" b="0">
                          <a:solidFill>
                            <a:srgbClr val="2E2E2E"/>
                          </a:solidFill>
                          <a:latin typeface="Calibri"/>
                        </a:rPr>
                        <a:t>0.25</a:t>
                      </a:r>
                    </a:p>
                  </a:txBody>
                  <a:tcPr marL="85725" marR="38100" marT="19050" marB="19050" anchor="ctr">
                    <a:solidFill>
                      <a:srgbClr val="FFFFFF"/>
                    </a:solidFill>
                  </a:tcPr>
                </a:tc>
                <a:tc>
                  <a:txBody>
                    <a:bodyPr wrap="none"/>
                    <a:lstStyle/>
                    <a:p>
                      <a:pPr algn="l"/>
                      <a:r>
                        <a:rPr sz="800" b="0">
                          <a:solidFill>
                            <a:srgbClr val="2E2E2E"/>
                          </a:solidFill>
                          <a:latin typeface="Calibri"/>
                        </a:rPr>
                        <a:t>0.30</a:t>
                      </a:r>
                    </a:p>
                  </a:txBody>
                  <a:tcPr marL="85725" marR="38100" marT="19050" marB="19050" anchor="ctr">
                    <a:solidFill>
                      <a:srgbClr val="FFFFFF"/>
                    </a:solidFill>
                  </a:tcPr>
                </a:tc>
                <a:tc>
                  <a:txBody>
                    <a:bodyPr wrap="none"/>
                    <a:lstStyle/>
                    <a:p>
                      <a:pPr algn="l"/>
                      <a:r>
                        <a:rPr sz="800" b="0">
                          <a:solidFill>
                            <a:srgbClr val="2E2E2E"/>
                          </a:solidFill>
                          <a:latin typeface="Calibri"/>
                        </a:rPr>
                        <a:t>0.36</a:t>
                      </a:r>
                    </a:p>
                  </a:txBody>
                  <a:tcPr marL="85725" marR="38100" marT="19050" marB="19050" anchor="ctr">
                    <a:solidFill>
                      <a:srgbClr val="FFFFFF"/>
                    </a:solidFill>
                  </a:tcPr>
                </a:tc>
                <a:tc>
                  <a:txBody>
                    <a:bodyPr wrap="none"/>
                    <a:lstStyle/>
                    <a:p>
                      <a:pPr algn="l"/>
                      <a:r>
                        <a:rPr sz="800" b="0">
                          <a:solidFill>
                            <a:srgbClr val="2E2E2E"/>
                          </a:solidFill>
                          <a:latin typeface="Calibri"/>
                        </a:rPr>
                        <a:t>0.42</a:t>
                      </a:r>
                    </a:p>
                  </a:txBody>
                  <a:tcPr marL="85725" marR="38100" marT="19050" marB="19050" anchor="ctr">
                    <a:solidFill>
                      <a:srgbClr val="FFFFFF"/>
                    </a:solidFill>
                  </a:tcPr>
                </a:tc>
                <a:tc>
                  <a:txBody>
                    <a:bodyPr wrap="none"/>
                    <a:lstStyle/>
                    <a:p>
                      <a:pPr algn="l"/>
                      <a:r>
                        <a:rPr sz="800" b="0">
                          <a:solidFill>
                            <a:srgbClr val="2E2E2E"/>
                          </a:solidFill>
                          <a:latin typeface="Calibri"/>
                        </a:rPr>
                        <a:t>0.49</a:t>
                      </a:r>
                    </a:p>
                  </a:txBody>
                  <a:tcPr marL="85725" marR="38100" marT="19050" marB="19050" anchor="ctr">
                    <a:solidFill>
                      <a:srgbClr val="FFFFFF"/>
                    </a:solidFill>
                  </a:tcPr>
                </a:tc>
                <a:tc>
                  <a:txBody>
                    <a:bodyPr wrap="none"/>
                    <a:lstStyle/>
                    <a:p>
                      <a:pPr algn="l"/>
                      <a:r>
                        <a:rPr sz="800" b="0">
                          <a:solidFill>
                            <a:srgbClr val="2E2E2E"/>
                          </a:solidFill>
                          <a:latin typeface="Calibri"/>
                        </a:rPr>
                        <a:t>0.55</a:t>
                      </a:r>
                    </a:p>
                  </a:txBody>
                  <a:tcPr marL="85725" marR="38100" marT="19050" marB="19050" anchor="ctr">
                    <a:solidFill>
                      <a:srgbClr val="FFFFFF"/>
                    </a:solidFill>
                  </a:tcPr>
                </a:tc>
                <a:tc>
                  <a:txBody>
                    <a:bodyPr wrap="none"/>
                    <a:lstStyle/>
                    <a:p>
                      <a:pPr algn="l"/>
                      <a:r>
                        <a:rPr sz="800" b="0">
                          <a:solidFill>
                            <a:srgbClr val="2E2E2E"/>
                          </a:solidFill>
                          <a:latin typeface="Calibri"/>
                        </a:rPr>
                        <a:t>0.62</a:t>
                      </a:r>
                    </a:p>
                  </a:txBody>
                  <a:tcPr marL="85725" marR="38100" marT="19050" marB="19050" anchor="ctr">
                    <a:solidFill>
                      <a:srgbClr val="FFFFFF"/>
                    </a:solidFill>
                  </a:tcPr>
                </a:tc>
                <a:tc>
                  <a:txBody>
                    <a:bodyPr wrap="none"/>
                    <a:lstStyle/>
                    <a:p>
                      <a:pPr algn="l"/>
                      <a:r>
                        <a:rPr sz="800" b="0">
                          <a:solidFill>
                            <a:srgbClr val="2E2E2E"/>
                          </a:solidFill>
                          <a:latin typeface="Calibri"/>
                        </a:rPr>
                        <a:t>0.69</a:t>
                      </a:r>
                    </a:p>
                  </a:txBody>
                  <a:tcPr marL="85725" marR="38100" marT="19050" marB="19050" anchor="ctr">
                    <a:solidFill>
                      <a:srgbClr val="FFFFFF"/>
                    </a:solidFill>
                  </a:tcPr>
                </a:tc>
                <a:tc>
                  <a:txBody>
                    <a:bodyPr wrap="none"/>
                    <a:lstStyle/>
                    <a:p>
                      <a:pPr algn="l"/>
                      <a:r>
                        <a:rPr sz="800" b="0">
                          <a:solidFill>
                            <a:srgbClr val="2E2E2E"/>
                          </a:solidFill>
                          <a:latin typeface="Calibri"/>
                        </a:rPr>
                        <a:t>0.77</a:t>
                      </a:r>
                    </a:p>
                  </a:txBody>
                  <a:tcPr marL="85725" marR="38100" marT="19050" marB="19050" anchor="ctr">
                    <a:solidFill>
                      <a:srgbClr val="FFFFFF"/>
                    </a:solidFill>
                  </a:tcPr>
                </a:tc>
                <a:tc>
                  <a:txBody>
                    <a:bodyPr wrap="none"/>
                    <a:lstStyle/>
                    <a:p>
                      <a:pPr algn="l"/>
                      <a:r>
                        <a:rPr sz="800" b="0">
                          <a:solidFill>
                            <a:srgbClr val="2E2E2E"/>
                          </a:solidFill>
                          <a:latin typeface="Calibri"/>
                        </a:rPr>
                        <a:t>0.84</a:t>
                      </a:r>
                    </a:p>
                  </a:txBody>
                  <a:tcPr marL="85725" marR="38100" marT="19050" marB="19050" anchor="ctr">
                    <a:solidFill>
                      <a:srgbClr val="FFFFFF"/>
                    </a:solidFill>
                  </a:tcPr>
                </a:tc>
                <a:tc>
                  <a:txBody>
                    <a:bodyPr wrap="none"/>
                    <a:lstStyle/>
                    <a:p>
                      <a:pPr algn="l"/>
                      <a:r>
                        <a:rPr sz="800" b="0">
                          <a:solidFill>
                            <a:srgbClr val="2E2E2E"/>
                          </a:solidFill>
                          <a:latin typeface="Calibri"/>
                        </a:rPr>
                        <a:t>0.92</a:t>
                      </a:r>
                    </a:p>
                  </a:txBody>
                  <a:tcPr marL="85725" marR="38100" marT="19050" marB="19050" anchor="ctr">
                    <a:solidFill>
                      <a:srgbClr val="FFFFFF"/>
                    </a:solidFill>
                  </a:tcPr>
                </a:tc>
                <a:tc>
                  <a:txBody>
                    <a:bodyPr wrap="none"/>
                    <a:lstStyle/>
                    <a:p>
                      <a:pPr algn="l"/>
                      <a:r>
                        <a:rPr sz="800" b="0">
                          <a:solidFill>
                            <a:srgbClr val="2E2E2E"/>
                          </a:solidFill>
                          <a:latin typeface="Calibri"/>
                        </a:rPr>
                        <a:t>1.00</a:t>
                      </a:r>
                    </a:p>
                  </a:txBody>
                  <a:tcPr marL="85725" marR="38100" marT="19050" marB="19050" anchor="ctr">
                    <a:solidFill>
                      <a:srgbClr val="FFFFFF"/>
                    </a:solidFill>
                  </a:tcPr>
                </a:tc>
                <a:tc>
                  <a:txBody>
                    <a:bodyPr wrap="none"/>
                    <a:lstStyle/>
                    <a:p>
                      <a:pPr algn="l"/>
                      <a:r>
                        <a:rPr sz="800" b="0">
                          <a:solidFill>
                            <a:srgbClr val="2E2E2E"/>
                          </a:solidFill>
                          <a:latin typeface="Calibri"/>
                        </a:rPr>
                        <a:t>12.6%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Yusimry</a:t>
                      </a:r>
                    </a:p>
                  </a:txBody>
                  <a:tcPr marL="85725" marR="38100" marT="19050" marB="19050" anchor="ctr">
                    <a:solidFill>
                      <a:srgbClr val="F5F8FA"/>
                    </a:solidFill>
                  </a:tcPr>
                </a:tc>
                <a:tc>
                  <a:txBody>
                    <a:bodyPr wrap="none"/>
                    <a:lstStyle/>
                    <a:p>
                      <a:pPr algn="l"/>
                      <a:r>
                        <a:rPr sz="800" b="0">
                          <a:solidFill>
                            <a:srgbClr val="2E2E2E"/>
                          </a:solidFill>
                          <a:latin typeface="Calibri"/>
                        </a:rPr>
                        <a:t>0.10</a:t>
                      </a:r>
                    </a:p>
                  </a:txBody>
                  <a:tcPr marL="85725" marR="38100" marT="19050" marB="19050" anchor="ctr">
                    <a:solidFill>
                      <a:srgbClr val="F5F8FA"/>
                    </a:solidFill>
                  </a:tcPr>
                </a:tc>
                <a:tc>
                  <a:txBody>
                    <a:bodyPr wrap="none"/>
                    <a:lstStyle/>
                    <a:p>
                      <a:pPr algn="l"/>
                      <a:r>
                        <a:rPr sz="800" b="0">
                          <a:solidFill>
                            <a:srgbClr val="2E2E2E"/>
                          </a:solidFill>
                          <a:latin typeface="Calibri"/>
                        </a:rPr>
                        <a:t>0.12</a:t>
                      </a:r>
                    </a:p>
                  </a:txBody>
                  <a:tcPr marL="85725" marR="38100" marT="19050" marB="19050" anchor="ctr">
                    <a:solidFill>
                      <a:srgbClr val="F5F8FA"/>
                    </a:solidFill>
                  </a:tcPr>
                </a:tc>
                <a:tc>
                  <a:txBody>
                    <a:bodyPr wrap="none"/>
                    <a:lstStyle/>
                    <a:p>
                      <a:pPr algn="l"/>
                      <a:r>
                        <a:rPr sz="800" b="0">
                          <a:solidFill>
                            <a:srgbClr val="2E2E2E"/>
                          </a:solidFill>
                          <a:latin typeface="Calibri"/>
                        </a:rPr>
                        <a:t>0.15</a:t>
                      </a:r>
                    </a:p>
                  </a:txBody>
                  <a:tcPr marL="85725" marR="38100" marT="19050" marB="19050" anchor="ctr">
                    <a:solidFill>
                      <a:srgbClr val="F5F8FA"/>
                    </a:solidFill>
                  </a:tcPr>
                </a:tc>
                <a:tc>
                  <a:txBody>
                    <a:bodyPr wrap="none"/>
                    <a:lstStyle/>
                    <a:p>
                      <a:pPr algn="l"/>
                      <a:r>
                        <a:rPr sz="800" b="0">
                          <a:solidFill>
                            <a:srgbClr val="2E2E2E"/>
                          </a:solidFill>
                          <a:latin typeface="Calibri"/>
                        </a:rPr>
                        <a:t>0.20</a:t>
                      </a:r>
                    </a:p>
                  </a:txBody>
                  <a:tcPr marL="85725" marR="38100" marT="19050" marB="19050" anchor="ctr">
                    <a:solidFill>
                      <a:srgbClr val="F5F8FA"/>
                    </a:solidFill>
                  </a:tcPr>
                </a:tc>
                <a:tc>
                  <a:txBody>
                    <a:bodyPr wrap="none"/>
                    <a:lstStyle/>
                    <a:p>
                      <a:pPr algn="l"/>
                      <a:r>
                        <a:rPr sz="800" b="0">
                          <a:solidFill>
                            <a:srgbClr val="2E2E2E"/>
                          </a:solidFill>
                          <a:latin typeface="Calibri"/>
                        </a:rPr>
                        <a:t>0.25</a:t>
                      </a:r>
                    </a:p>
                  </a:txBody>
                  <a:tcPr marL="85725" marR="38100" marT="19050" marB="19050" anchor="ctr">
                    <a:solidFill>
                      <a:srgbClr val="F5F8FA"/>
                    </a:solidFill>
                  </a:tcPr>
                </a:tc>
                <a:tc>
                  <a:txBody>
                    <a:bodyPr wrap="none"/>
                    <a:lstStyle/>
                    <a:p>
                      <a:pPr algn="l"/>
                      <a:r>
                        <a:rPr sz="800" b="0">
                          <a:solidFill>
                            <a:srgbClr val="2E2E2E"/>
                          </a:solidFill>
                          <a:latin typeface="Calibri"/>
                        </a:rPr>
                        <a:t>0.30</a:t>
                      </a:r>
                    </a:p>
                  </a:txBody>
                  <a:tcPr marL="85725" marR="38100" marT="19050" marB="19050" anchor="ctr">
                    <a:solidFill>
                      <a:srgbClr val="F5F8FA"/>
                    </a:solidFill>
                  </a:tcPr>
                </a:tc>
                <a:tc>
                  <a:txBody>
                    <a:bodyPr wrap="none"/>
                    <a:lstStyle/>
                    <a:p>
                      <a:pPr algn="l"/>
                      <a:r>
                        <a:rPr sz="800" b="0">
                          <a:solidFill>
                            <a:srgbClr val="2E2E2E"/>
                          </a:solidFill>
                          <a:latin typeface="Calibri"/>
                        </a:rPr>
                        <a:t>0.36</a:t>
                      </a:r>
                    </a:p>
                  </a:txBody>
                  <a:tcPr marL="85725" marR="38100" marT="19050" marB="19050" anchor="ctr">
                    <a:solidFill>
                      <a:srgbClr val="F5F8FA"/>
                    </a:solidFill>
                  </a:tcPr>
                </a:tc>
                <a:tc>
                  <a:txBody>
                    <a:bodyPr wrap="none"/>
                    <a:lstStyle/>
                    <a:p>
                      <a:pPr algn="l"/>
                      <a:r>
                        <a:rPr sz="800" b="0">
                          <a:solidFill>
                            <a:srgbClr val="2E2E2E"/>
                          </a:solidFill>
                          <a:latin typeface="Calibri"/>
                        </a:rPr>
                        <a:t>0.42</a:t>
                      </a:r>
                    </a:p>
                  </a:txBody>
                  <a:tcPr marL="85725" marR="38100" marT="19050" marB="19050" anchor="ctr">
                    <a:solidFill>
                      <a:srgbClr val="F5F8FA"/>
                    </a:solidFill>
                  </a:tcPr>
                </a:tc>
                <a:tc>
                  <a:txBody>
                    <a:bodyPr wrap="none"/>
                    <a:lstStyle/>
                    <a:p>
                      <a:pPr algn="l"/>
                      <a:r>
                        <a:rPr sz="800" b="0">
                          <a:solidFill>
                            <a:srgbClr val="2E2E2E"/>
                          </a:solidFill>
                          <a:latin typeface="Calibri"/>
                        </a:rPr>
                        <a:t>0.48</a:t>
                      </a:r>
                    </a:p>
                  </a:txBody>
                  <a:tcPr marL="85725" marR="38100" marT="19050" marB="19050" anchor="ctr">
                    <a:solidFill>
                      <a:srgbClr val="F5F8FA"/>
                    </a:solidFill>
                  </a:tcPr>
                </a:tc>
                <a:tc>
                  <a:txBody>
                    <a:bodyPr wrap="none"/>
                    <a:lstStyle/>
                    <a:p>
                      <a:pPr algn="l"/>
                      <a:r>
                        <a:rPr sz="800" b="0">
                          <a:solidFill>
                            <a:srgbClr val="2E2E2E"/>
                          </a:solidFill>
                          <a:latin typeface="Calibri"/>
                        </a:rPr>
                        <a:t>0.55</a:t>
                      </a:r>
                    </a:p>
                  </a:txBody>
                  <a:tcPr marL="85725" marR="38100" marT="19050" marB="19050" anchor="ctr">
                    <a:solidFill>
                      <a:srgbClr val="F5F8FA"/>
                    </a:solidFill>
                  </a:tcPr>
                </a:tc>
                <a:tc>
                  <a:txBody>
                    <a:bodyPr wrap="none"/>
                    <a:lstStyle/>
                    <a:p>
                      <a:pPr algn="l"/>
                      <a:r>
                        <a:rPr sz="800" b="0">
                          <a:solidFill>
                            <a:srgbClr val="2E2E2E"/>
                          </a:solidFill>
                          <a:latin typeface="Calibri"/>
                        </a:rPr>
                        <a:t>0.62</a:t>
                      </a:r>
                    </a:p>
                  </a:txBody>
                  <a:tcPr marL="85725" marR="38100" marT="19050" marB="19050" anchor="ctr">
                    <a:solidFill>
                      <a:srgbClr val="F5F8FA"/>
                    </a:solidFill>
                  </a:tcPr>
                </a:tc>
                <a:tc>
                  <a:txBody>
                    <a:bodyPr wrap="none"/>
                    <a:lstStyle/>
                    <a:p>
                      <a:pPr algn="l"/>
                      <a:r>
                        <a:rPr sz="800" b="0">
                          <a:solidFill>
                            <a:srgbClr val="2E2E2E"/>
                          </a:solidFill>
                          <a:latin typeface="Calibri"/>
                        </a:rPr>
                        <a:t>0.70</a:t>
                      </a:r>
                    </a:p>
                  </a:txBody>
                  <a:tcPr marL="85725" marR="38100" marT="19050" marB="19050" anchor="ctr">
                    <a:solidFill>
                      <a:srgbClr val="F5F8FA"/>
                    </a:solidFill>
                  </a:tcPr>
                </a:tc>
                <a:tc>
                  <a:txBody>
                    <a:bodyPr wrap="none"/>
                    <a:lstStyle/>
                    <a:p>
                      <a:pPr algn="l"/>
                      <a:r>
                        <a:rPr sz="800" b="0">
                          <a:solidFill>
                            <a:srgbClr val="2E2E2E"/>
                          </a:solidFill>
                          <a:latin typeface="Calibri"/>
                        </a:rPr>
                        <a:t>0.77</a:t>
                      </a:r>
                    </a:p>
                  </a:txBody>
                  <a:tcPr marL="85725" marR="38100" marT="19050" marB="19050" anchor="ctr">
                    <a:solidFill>
                      <a:srgbClr val="F5F8FA"/>
                    </a:solidFill>
                  </a:tcPr>
                </a:tc>
                <a:tc>
                  <a:txBody>
                    <a:bodyPr wrap="none"/>
                    <a:lstStyle/>
                    <a:p>
                      <a:pPr algn="l"/>
                      <a:r>
                        <a:rPr sz="800" b="0">
                          <a:solidFill>
                            <a:srgbClr val="2E2E2E"/>
                          </a:solidFill>
                          <a:latin typeface="Calibri"/>
                        </a:rPr>
                        <a:t>0.85</a:t>
                      </a:r>
                    </a:p>
                  </a:txBody>
                  <a:tcPr marL="85725" marR="38100" marT="19050" marB="19050" anchor="ctr">
                    <a:solidFill>
                      <a:srgbClr val="F5F8FA"/>
                    </a:solidFill>
                  </a:tcPr>
                </a:tc>
                <a:tc>
                  <a:txBody>
                    <a:bodyPr wrap="none"/>
                    <a:lstStyle/>
                    <a:p>
                      <a:pPr algn="l"/>
                      <a:r>
                        <a:rPr sz="800" b="0">
                          <a:solidFill>
                            <a:srgbClr val="2E2E2E"/>
                          </a:solidFill>
                          <a:latin typeface="Calibri"/>
                        </a:rPr>
                        <a:t>0.94</a:t>
                      </a:r>
                    </a:p>
                  </a:txBody>
                  <a:tcPr marL="85725" marR="38100" marT="19050" marB="19050" anchor="ctr">
                    <a:solidFill>
                      <a:srgbClr val="F5F8FA"/>
                    </a:solidFill>
                  </a:tcPr>
                </a:tc>
                <a:tc>
                  <a:txBody>
                    <a:bodyPr wrap="none"/>
                    <a:lstStyle/>
                    <a:p>
                      <a:pPr algn="l"/>
                      <a:r>
                        <a:rPr sz="800" b="0">
                          <a:solidFill>
                            <a:srgbClr val="2E2E2E"/>
                          </a:solidFill>
                          <a:latin typeface="Calibri"/>
                        </a:rPr>
                        <a:t>1.03</a:t>
                      </a:r>
                    </a:p>
                  </a:txBody>
                  <a:tcPr marL="85725" marR="38100" marT="19050" marB="19050" anchor="ctr">
                    <a:solidFill>
                      <a:srgbClr val="F5F8FA"/>
                    </a:solidFill>
                  </a:tcPr>
                </a:tc>
                <a:tc>
                  <a:txBody>
                    <a:bodyPr wrap="none"/>
                    <a:lstStyle/>
                    <a:p>
                      <a:pPr algn="l"/>
                      <a:r>
                        <a:rPr sz="800" b="0">
                          <a:solidFill>
                            <a:srgbClr val="2E2E2E"/>
                          </a:solidFill>
                          <a:latin typeface="Calibri"/>
                        </a:rPr>
                        <a:t>13.1%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Yuflyma</a:t>
                      </a:r>
                    </a:p>
                  </a:txBody>
                  <a:tcPr marL="85725" marR="38100" marT="19050" marB="19050" anchor="ctr">
                    <a:solidFill>
                      <a:srgbClr val="FFFFFF"/>
                    </a:solidFill>
                  </a:tcPr>
                </a:tc>
                <a:tc>
                  <a:txBody>
                    <a:bodyPr wrap="none"/>
                    <a:lstStyle/>
                    <a:p>
                      <a:pPr algn="l"/>
                      <a:r>
                        <a:rPr sz="800" b="0">
                          <a:solidFill>
                            <a:srgbClr val="2E2E2E"/>
                          </a:solidFill>
                          <a:latin typeface="Calibri"/>
                        </a:rPr>
                        <a:t>0.12</a:t>
                      </a:r>
                    </a:p>
                  </a:txBody>
                  <a:tcPr marL="85725" marR="38100" marT="19050" marB="19050" anchor="ctr">
                    <a:solidFill>
                      <a:srgbClr val="FFFFFF"/>
                    </a:solidFill>
                  </a:tcPr>
                </a:tc>
                <a:tc>
                  <a:txBody>
                    <a:bodyPr wrap="none"/>
                    <a:lstStyle/>
                    <a:p>
                      <a:pPr algn="l"/>
                      <a:r>
                        <a:rPr sz="800" b="0">
                          <a:solidFill>
                            <a:srgbClr val="2E2E2E"/>
                          </a:solidFill>
                          <a:latin typeface="Calibri"/>
                        </a:rPr>
                        <a:t>0.13</a:t>
                      </a:r>
                    </a:p>
                  </a:txBody>
                  <a:tcPr marL="85725" marR="38100" marT="19050" marB="19050" anchor="ctr">
                    <a:solidFill>
                      <a:srgbClr val="FFFFFF"/>
                    </a:solidFill>
                  </a:tcPr>
                </a:tc>
                <a:tc>
                  <a:txBody>
                    <a:bodyPr wrap="none"/>
                    <a:lstStyle/>
                    <a:p>
                      <a:pPr algn="l"/>
                      <a:r>
                        <a:rPr sz="800" b="0">
                          <a:solidFill>
                            <a:srgbClr val="2E2E2E"/>
                          </a:solidFill>
                          <a:latin typeface="Calibri"/>
                        </a:rPr>
                        <a:t>0.17</a:t>
                      </a:r>
                    </a:p>
                  </a:txBody>
                  <a:tcPr marL="85725" marR="38100" marT="19050" marB="19050" anchor="ctr">
                    <a:solidFill>
                      <a:srgbClr val="FFFFFF"/>
                    </a:solidFill>
                  </a:tcPr>
                </a:tc>
                <a:tc>
                  <a:txBody>
                    <a:bodyPr wrap="none"/>
                    <a:lstStyle/>
                    <a:p>
                      <a:pPr algn="l"/>
                      <a:r>
                        <a:rPr sz="800" b="0">
                          <a:solidFill>
                            <a:srgbClr val="2E2E2E"/>
                          </a:solidFill>
                          <a:latin typeface="Calibri"/>
                        </a:rPr>
                        <a:t>0.21</a:t>
                      </a:r>
                    </a:p>
                  </a:txBody>
                  <a:tcPr marL="85725" marR="38100" marT="19050" marB="19050" anchor="ctr">
                    <a:solidFill>
                      <a:srgbClr val="FFFFFF"/>
                    </a:solidFill>
                  </a:tcPr>
                </a:tc>
                <a:tc>
                  <a:txBody>
                    <a:bodyPr wrap="none"/>
                    <a:lstStyle/>
                    <a:p>
                      <a:pPr algn="l"/>
                      <a:r>
                        <a:rPr sz="800" b="0">
                          <a:solidFill>
                            <a:srgbClr val="2E2E2E"/>
                          </a:solidFill>
                          <a:latin typeface="Calibri"/>
                        </a:rPr>
                        <a:t>0.26</a:t>
                      </a:r>
                    </a:p>
                  </a:txBody>
                  <a:tcPr marL="85725" marR="38100" marT="19050" marB="19050" anchor="ctr">
                    <a:solidFill>
                      <a:srgbClr val="FFFFFF"/>
                    </a:solidFill>
                  </a:tcPr>
                </a:tc>
                <a:tc>
                  <a:txBody>
                    <a:bodyPr wrap="none"/>
                    <a:lstStyle/>
                    <a:p>
                      <a:pPr algn="l"/>
                      <a:r>
                        <a:rPr sz="800" b="0">
                          <a:solidFill>
                            <a:srgbClr val="2E2E2E"/>
                          </a:solidFill>
                          <a:latin typeface="Calibri"/>
                        </a:rPr>
                        <a:t>0.32</a:t>
                      </a:r>
                    </a:p>
                  </a:txBody>
                  <a:tcPr marL="85725" marR="38100" marT="19050" marB="19050" anchor="ctr">
                    <a:solidFill>
                      <a:srgbClr val="FFFFFF"/>
                    </a:solidFill>
                  </a:tcPr>
                </a:tc>
                <a:tc>
                  <a:txBody>
                    <a:bodyPr wrap="none"/>
                    <a:lstStyle/>
                    <a:p>
                      <a:pPr algn="l"/>
                      <a:r>
                        <a:rPr sz="800" b="0">
                          <a:solidFill>
                            <a:srgbClr val="2E2E2E"/>
                          </a:solidFill>
                          <a:latin typeface="Calibri"/>
                        </a:rPr>
                        <a:t>0.38</a:t>
                      </a:r>
                    </a:p>
                  </a:txBody>
                  <a:tcPr marL="85725" marR="38100" marT="19050" marB="19050" anchor="ctr">
                    <a:solidFill>
                      <a:srgbClr val="FFFFFF"/>
                    </a:solidFill>
                  </a:tcPr>
                </a:tc>
                <a:tc>
                  <a:txBody>
                    <a:bodyPr wrap="none"/>
                    <a:lstStyle/>
                    <a:p>
                      <a:pPr algn="l"/>
                      <a:r>
                        <a:rPr sz="800" b="0">
                          <a:solidFill>
                            <a:srgbClr val="2E2E2E"/>
                          </a:solidFill>
                          <a:latin typeface="Calibri"/>
                        </a:rPr>
                        <a:t>0.44</a:t>
                      </a:r>
                    </a:p>
                  </a:txBody>
                  <a:tcPr marL="85725" marR="38100" marT="19050" marB="19050" anchor="ctr">
                    <a:solidFill>
                      <a:srgbClr val="FFFFFF"/>
                    </a:solidFill>
                  </a:tcPr>
                </a:tc>
                <a:tc>
                  <a:txBody>
                    <a:bodyPr wrap="none"/>
                    <a:lstStyle/>
                    <a:p>
                      <a:pPr algn="l"/>
                      <a:r>
                        <a:rPr sz="800" b="0">
                          <a:solidFill>
                            <a:srgbClr val="2E2E2E"/>
                          </a:solidFill>
                          <a:latin typeface="Calibri"/>
                        </a:rPr>
                        <a:t>0.50</a:t>
                      </a:r>
                    </a:p>
                  </a:txBody>
                  <a:tcPr marL="85725" marR="38100" marT="19050" marB="19050" anchor="ctr">
                    <a:solidFill>
                      <a:srgbClr val="FFFFFF"/>
                    </a:solidFill>
                  </a:tcPr>
                </a:tc>
                <a:tc>
                  <a:txBody>
                    <a:bodyPr wrap="none"/>
                    <a:lstStyle/>
                    <a:p>
                      <a:pPr algn="l"/>
                      <a:r>
                        <a:rPr sz="800" b="0">
                          <a:solidFill>
                            <a:srgbClr val="2E2E2E"/>
                          </a:solidFill>
                          <a:latin typeface="Calibri"/>
                        </a:rPr>
                        <a:t>0.57</a:t>
                      </a:r>
                    </a:p>
                  </a:txBody>
                  <a:tcPr marL="85725" marR="38100" marT="19050" marB="19050" anchor="ctr">
                    <a:solidFill>
                      <a:srgbClr val="FFFFFF"/>
                    </a:solidFill>
                  </a:tcPr>
                </a:tc>
                <a:tc>
                  <a:txBody>
                    <a:bodyPr wrap="none"/>
                    <a:lstStyle/>
                    <a:p>
                      <a:pPr algn="l"/>
                      <a:r>
                        <a:rPr sz="800" b="0">
                          <a:solidFill>
                            <a:srgbClr val="2E2E2E"/>
                          </a:solidFill>
                          <a:latin typeface="Calibri"/>
                        </a:rPr>
                        <a:t>0.63</a:t>
                      </a:r>
                    </a:p>
                  </a:txBody>
                  <a:tcPr marL="85725" marR="38100" marT="19050" marB="19050" anchor="ctr">
                    <a:solidFill>
                      <a:srgbClr val="FFFFFF"/>
                    </a:solidFill>
                  </a:tcPr>
                </a:tc>
                <a:tc>
                  <a:txBody>
                    <a:bodyPr wrap="none"/>
                    <a:lstStyle/>
                    <a:p>
                      <a:pPr algn="l"/>
                      <a:r>
                        <a:rPr sz="800" b="0">
                          <a:solidFill>
                            <a:srgbClr val="2E2E2E"/>
                          </a:solidFill>
                          <a:latin typeface="Calibri"/>
                        </a:rPr>
                        <a:t>0.70</a:t>
                      </a:r>
                    </a:p>
                  </a:txBody>
                  <a:tcPr marL="85725" marR="38100" marT="19050" marB="19050" anchor="ctr">
                    <a:solidFill>
                      <a:srgbClr val="FFFFFF"/>
                    </a:solidFill>
                  </a:tcPr>
                </a:tc>
                <a:tc>
                  <a:txBody>
                    <a:bodyPr wrap="none"/>
                    <a:lstStyle/>
                    <a:p>
                      <a:pPr algn="l"/>
                      <a:r>
                        <a:rPr sz="800" b="0">
                          <a:solidFill>
                            <a:srgbClr val="2E2E2E"/>
                          </a:solidFill>
                          <a:latin typeface="Calibri"/>
                        </a:rPr>
                        <a:t>0.78</a:t>
                      </a:r>
                    </a:p>
                  </a:txBody>
                  <a:tcPr marL="85725" marR="38100" marT="19050" marB="19050" anchor="ctr">
                    <a:solidFill>
                      <a:srgbClr val="FFFFFF"/>
                    </a:solidFill>
                  </a:tcPr>
                </a:tc>
                <a:tc>
                  <a:txBody>
                    <a:bodyPr wrap="none"/>
                    <a:lstStyle/>
                    <a:p>
                      <a:pPr algn="l"/>
                      <a:r>
                        <a:rPr sz="800" b="0">
                          <a:solidFill>
                            <a:srgbClr val="2E2E2E"/>
                          </a:solidFill>
                          <a:latin typeface="Calibri"/>
                        </a:rPr>
                        <a:t>0.85</a:t>
                      </a:r>
                    </a:p>
                  </a:txBody>
                  <a:tcPr marL="85725" marR="38100" marT="19050" marB="19050" anchor="ctr">
                    <a:solidFill>
                      <a:srgbClr val="FFFFFF"/>
                    </a:solidFill>
                  </a:tcPr>
                </a:tc>
                <a:tc>
                  <a:txBody>
                    <a:bodyPr wrap="none"/>
                    <a:lstStyle/>
                    <a:p>
                      <a:pPr algn="l"/>
                      <a:r>
                        <a:rPr sz="800" b="0">
                          <a:solidFill>
                            <a:srgbClr val="2E2E2E"/>
                          </a:solidFill>
                          <a:latin typeface="Calibri"/>
                        </a:rPr>
                        <a:t>0.93</a:t>
                      </a:r>
                    </a:p>
                  </a:txBody>
                  <a:tcPr marL="85725" marR="38100" marT="19050" marB="19050" anchor="ctr">
                    <a:solidFill>
                      <a:srgbClr val="FFFFFF"/>
                    </a:solidFill>
                  </a:tcPr>
                </a:tc>
                <a:tc>
                  <a:txBody>
                    <a:bodyPr wrap="none"/>
                    <a:lstStyle/>
                    <a:p>
                      <a:pPr algn="l"/>
                      <a:r>
                        <a:rPr sz="800" b="0">
                          <a:solidFill>
                            <a:srgbClr val="2E2E2E"/>
                          </a:solidFill>
                          <a:latin typeface="Calibri"/>
                        </a:rPr>
                        <a:t>1.01</a:t>
                      </a:r>
                    </a:p>
                  </a:txBody>
                  <a:tcPr marL="85725" marR="38100" marT="19050" marB="19050" anchor="ctr">
                    <a:solidFill>
                      <a:srgbClr val="FFFFFF"/>
                    </a:solidFill>
                  </a:tcPr>
                </a:tc>
                <a:tc>
                  <a:txBody>
                    <a:bodyPr wrap="none"/>
                    <a:lstStyle/>
                    <a:p>
                      <a:pPr algn="l"/>
                      <a:r>
                        <a:rPr sz="800" b="0">
                          <a:solidFill>
                            <a:srgbClr val="2E2E2E"/>
                          </a:solidFill>
                          <a:latin typeface="Calibri"/>
                        </a:rPr>
                        <a:t>12.2%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Simlandi</a:t>
                      </a:r>
                    </a:p>
                  </a:txBody>
                  <a:tcPr marL="85725" marR="38100" marT="19050" marB="19050" anchor="ctr">
                    <a:solidFill>
                      <a:srgbClr val="F5F8FA"/>
                    </a:solidFill>
                  </a:tcPr>
                </a:tc>
                <a:tc>
                  <a:txBody>
                    <a:bodyPr wrap="none"/>
                    <a:lstStyle/>
                    <a:p>
                      <a:pPr algn="l"/>
                      <a:r>
                        <a:rPr sz="800" b="0">
                          <a:solidFill>
                            <a:srgbClr val="2E2E2E"/>
                          </a:solidFill>
                          <a:latin typeface="Calibri"/>
                        </a:rPr>
                        <a:t>0.12</a:t>
                      </a:r>
                    </a:p>
                  </a:txBody>
                  <a:tcPr marL="85725" marR="38100" marT="19050" marB="19050" anchor="ctr">
                    <a:solidFill>
                      <a:srgbClr val="F5F8FA"/>
                    </a:solidFill>
                  </a:tcPr>
                </a:tc>
                <a:tc>
                  <a:txBody>
                    <a:bodyPr wrap="none"/>
                    <a:lstStyle/>
                    <a:p>
                      <a:pPr algn="l"/>
                      <a:r>
                        <a:rPr sz="800" b="0">
                          <a:solidFill>
                            <a:srgbClr val="2E2E2E"/>
                          </a:solidFill>
                          <a:latin typeface="Calibri"/>
                        </a:rPr>
                        <a:t>0.14</a:t>
                      </a:r>
                    </a:p>
                  </a:txBody>
                  <a:tcPr marL="85725" marR="38100" marT="19050" marB="19050" anchor="ctr">
                    <a:solidFill>
                      <a:srgbClr val="F5F8FA"/>
                    </a:solidFill>
                  </a:tcPr>
                </a:tc>
                <a:tc>
                  <a:txBody>
                    <a:bodyPr wrap="none"/>
                    <a:lstStyle/>
                    <a:p>
                      <a:pPr algn="l"/>
                      <a:r>
                        <a:rPr sz="800" b="0">
                          <a:solidFill>
                            <a:srgbClr val="2E2E2E"/>
                          </a:solidFill>
                          <a:latin typeface="Calibri"/>
                        </a:rPr>
                        <a:t>0.18</a:t>
                      </a:r>
                    </a:p>
                  </a:txBody>
                  <a:tcPr marL="85725" marR="38100" marT="19050" marB="19050" anchor="ctr">
                    <a:solidFill>
                      <a:srgbClr val="F5F8FA"/>
                    </a:solidFill>
                  </a:tcPr>
                </a:tc>
                <a:tc>
                  <a:txBody>
                    <a:bodyPr wrap="none"/>
                    <a:lstStyle/>
                    <a:p>
                      <a:pPr algn="l"/>
                      <a:r>
                        <a:rPr sz="800" b="0">
                          <a:solidFill>
                            <a:srgbClr val="2E2E2E"/>
                          </a:solidFill>
                          <a:latin typeface="Calibri"/>
                        </a:rPr>
                        <a:t>0.23</a:t>
                      </a:r>
                    </a:p>
                  </a:txBody>
                  <a:tcPr marL="85725" marR="38100" marT="19050" marB="19050" anchor="ctr">
                    <a:solidFill>
                      <a:srgbClr val="F5F8FA"/>
                    </a:solidFill>
                  </a:tcPr>
                </a:tc>
                <a:tc>
                  <a:txBody>
                    <a:bodyPr wrap="none"/>
                    <a:lstStyle/>
                    <a:p>
                      <a:pPr algn="l"/>
                      <a:r>
                        <a:rPr sz="800" b="0">
                          <a:solidFill>
                            <a:srgbClr val="2E2E2E"/>
                          </a:solidFill>
                          <a:latin typeface="Calibri"/>
                        </a:rPr>
                        <a:t>0.29</a:t>
                      </a:r>
                    </a:p>
                  </a:txBody>
                  <a:tcPr marL="85725" marR="38100" marT="19050" marB="19050" anchor="ctr">
                    <a:solidFill>
                      <a:srgbClr val="F5F8FA"/>
                    </a:solidFill>
                  </a:tcPr>
                </a:tc>
                <a:tc>
                  <a:txBody>
                    <a:bodyPr wrap="none"/>
                    <a:lstStyle/>
                    <a:p>
                      <a:pPr algn="l"/>
                      <a:r>
                        <a:rPr sz="800" b="0">
                          <a:solidFill>
                            <a:srgbClr val="2E2E2E"/>
                          </a:solidFill>
                          <a:latin typeface="Calibri"/>
                        </a:rPr>
                        <a:t>0.35</a:t>
                      </a:r>
                    </a:p>
                  </a:txBody>
                  <a:tcPr marL="85725" marR="38100" marT="19050" marB="19050" anchor="ctr">
                    <a:solidFill>
                      <a:srgbClr val="F5F8FA"/>
                    </a:solidFill>
                  </a:tcPr>
                </a:tc>
                <a:tc>
                  <a:txBody>
                    <a:bodyPr wrap="none"/>
                    <a:lstStyle/>
                    <a:p>
                      <a:pPr algn="l"/>
                      <a:r>
                        <a:rPr sz="800" b="0">
                          <a:solidFill>
                            <a:srgbClr val="2E2E2E"/>
                          </a:solidFill>
                          <a:latin typeface="Calibri"/>
                        </a:rPr>
                        <a:t>0.42</a:t>
                      </a:r>
                    </a:p>
                  </a:txBody>
                  <a:tcPr marL="85725" marR="38100" marT="19050" marB="19050" anchor="ctr">
                    <a:solidFill>
                      <a:srgbClr val="F5F8FA"/>
                    </a:solidFill>
                  </a:tcPr>
                </a:tc>
                <a:tc>
                  <a:txBody>
                    <a:bodyPr wrap="none"/>
                    <a:lstStyle/>
                    <a:p>
                      <a:pPr algn="l"/>
                      <a:r>
                        <a:rPr sz="800" b="0">
                          <a:solidFill>
                            <a:srgbClr val="2E2E2E"/>
                          </a:solidFill>
                          <a:latin typeface="Calibri"/>
                        </a:rPr>
                        <a:t>0.50</a:t>
                      </a:r>
                    </a:p>
                  </a:txBody>
                  <a:tcPr marL="85725" marR="38100" marT="19050" marB="19050" anchor="ctr">
                    <a:solidFill>
                      <a:srgbClr val="F5F8FA"/>
                    </a:solidFill>
                  </a:tcPr>
                </a:tc>
                <a:tc>
                  <a:txBody>
                    <a:bodyPr wrap="none"/>
                    <a:lstStyle/>
                    <a:p>
                      <a:pPr algn="l"/>
                      <a:r>
                        <a:rPr sz="800" b="0">
                          <a:solidFill>
                            <a:srgbClr val="2E2E2E"/>
                          </a:solidFill>
                          <a:latin typeface="Calibri"/>
                        </a:rPr>
                        <a:t>0.57</a:t>
                      </a:r>
                    </a:p>
                  </a:txBody>
                  <a:tcPr marL="85725" marR="38100" marT="19050" marB="19050" anchor="ctr">
                    <a:solidFill>
                      <a:srgbClr val="F5F8FA"/>
                    </a:solidFill>
                  </a:tcPr>
                </a:tc>
                <a:tc>
                  <a:txBody>
                    <a:bodyPr wrap="none"/>
                    <a:lstStyle/>
                    <a:p>
                      <a:pPr algn="l"/>
                      <a:r>
                        <a:rPr sz="800" b="0">
                          <a:solidFill>
                            <a:srgbClr val="2E2E2E"/>
                          </a:solidFill>
                          <a:latin typeface="Calibri"/>
                        </a:rPr>
                        <a:t>0.66</a:t>
                      </a:r>
                    </a:p>
                  </a:txBody>
                  <a:tcPr marL="85725" marR="38100" marT="19050" marB="19050" anchor="ctr">
                    <a:solidFill>
                      <a:srgbClr val="F5F8FA"/>
                    </a:solidFill>
                  </a:tcPr>
                </a:tc>
                <a:tc>
                  <a:txBody>
                    <a:bodyPr wrap="none"/>
                    <a:lstStyle/>
                    <a:p>
                      <a:pPr algn="l"/>
                      <a:r>
                        <a:rPr sz="800" b="0">
                          <a:solidFill>
                            <a:srgbClr val="2E2E2E"/>
                          </a:solidFill>
                          <a:latin typeface="Calibri"/>
                        </a:rPr>
                        <a:t>0.75</a:t>
                      </a:r>
                    </a:p>
                  </a:txBody>
                  <a:tcPr marL="85725" marR="38100" marT="19050" marB="19050" anchor="ctr">
                    <a:solidFill>
                      <a:srgbClr val="F5F8FA"/>
                    </a:solidFill>
                  </a:tcPr>
                </a:tc>
                <a:tc>
                  <a:txBody>
                    <a:bodyPr wrap="none"/>
                    <a:lstStyle/>
                    <a:p>
                      <a:pPr algn="l"/>
                      <a:r>
                        <a:rPr sz="800" b="0">
                          <a:solidFill>
                            <a:srgbClr val="2E2E2E"/>
                          </a:solidFill>
                          <a:latin typeface="Calibri"/>
                        </a:rPr>
                        <a:t>0.84</a:t>
                      </a:r>
                    </a:p>
                  </a:txBody>
                  <a:tcPr marL="85725" marR="38100" marT="19050" marB="19050" anchor="ctr">
                    <a:solidFill>
                      <a:srgbClr val="F5F8FA"/>
                    </a:solidFill>
                  </a:tcPr>
                </a:tc>
                <a:tc>
                  <a:txBody>
                    <a:bodyPr wrap="none"/>
                    <a:lstStyle/>
                    <a:p>
                      <a:pPr algn="l"/>
                      <a:r>
                        <a:rPr sz="800" b="0">
                          <a:solidFill>
                            <a:srgbClr val="2E2E2E"/>
                          </a:solidFill>
                          <a:latin typeface="Calibri"/>
                        </a:rPr>
                        <a:t>0.93</a:t>
                      </a:r>
                    </a:p>
                  </a:txBody>
                  <a:tcPr marL="85725" marR="38100" marT="19050" marB="19050" anchor="ctr">
                    <a:solidFill>
                      <a:srgbClr val="F5F8FA"/>
                    </a:solidFill>
                  </a:tcPr>
                </a:tc>
                <a:tc>
                  <a:txBody>
                    <a:bodyPr wrap="none"/>
                    <a:lstStyle/>
                    <a:p>
                      <a:pPr algn="l"/>
                      <a:r>
                        <a:rPr sz="800" b="0">
                          <a:solidFill>
                            <a:srgbClr val="2E2E2E"/>
                          </a:solidFill>
                          <a:latin typeface="Calibri"/>
                        </a:rPr>
                        <a:t>1.04</a:t>
                      </a:r>
                    </a:p>
                  </a:txBody>
                  <a:tcPr marL="85725" marR="38100" marT="19050" marB="19050" anchor="ctr">
                    <a:solidFill>
                      <a:srgbClr val="F5F8FA"/>
                    </a:solidFill>
                  </a:tcPr>
                </a:tc>
                <a:tc>
                  <a:txBody>
                    <a:bodyPr wrap="none"/>
                    <a:lstStyle/>
                    <a:p>
                      <a:pPr algn="l"/>
                      <a:r>
                        <a:rPr sz="800" b="0">
                          <a:solidFill>
                            <a:srgbClr val="2E2E2E"/>
                          </a:solidFill>
                          <a:latin typeface="Calibri"/>
                        </a:rPr>
                        <a:t>1.14</a:t>
                      </a:r>
                    </a:p>
                  </a:txBody>
                  <a:tcPr marL="85725" marR="38100" marT="19050" marB="19050" anchor="ctr">
                    <a:solidFill>
                      <a:srgbClr val="F5F8FA"/>
                    </a:solidFill>
                  </a:tcPr>
                </a:tc>
                <a:tc>
                  <a:txBody>
                    <a:bodyPr wrap="none"/>
                    <a:lstStyle/>
                    <a:p>
                      <a:pPr algn="l"/>
                      <a:r>
                        <a:rPr sz="800" b="0">
                          <a:solidFill>
                            <a:srgbClr val="2E2E2E"/>
                          </a:solidFill>
                          <a:latin typeface="Calibri"/>
                        </a:rPr>
                        <a:t>1.25</a:t>
                      </a:r>
                    </a:p>
                  </a:txBody>
                  <a:tcPr marL="85725" marR="38100" marT="19050" marB="19050" anchor="ctr">
                    <a:solidFill>
                      <a:srgbClr val="F5F8FA"/>
                    </a:solidFill>
                  </a:tcPr>
                </a:tc>
                <a:tc>
                  <a:txBody>
                    <a:bodyPr wrap="none"/>
                    <a:lstStyle/>
                    <a:p>
                      <a:pPr algn="l"/>
                      <a:r>
                        <a:rPr sz="800" b="0">
                          <a:solidFill>
                            <a:srgbClr val="2E2E2E"/>
                          </a:solidFill>
                          <a:latin typeface="Calibri"/>
                        </a:rPr>
                        <a:t>13.6%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800" b="0">
                          <a:solidFill>
                            <a:srgbClr val="2E2E2E"/>
                          </a:solidFill>
                          <a:latin typeface="Calibri"/>
                        </a:rPr>
                        <a:t>0.08</a:t>
                      </a:r>
                    </a:p>
                  </a:txBody>
                  <a:tcPr marL="85725" marR="38100" marT="19050" marB="19050" anchor="ctr">
                    <a:solidFill>
                      <a:srgbClr val="FFFFFF"/>
                    </a:solidFill>
                  </a:tcPr>
                </a:tc>
                <a:tc>
                  <a:txBody>
                    <a:bodyPr wrap="none"/>
                    <a:lstStyle/>
                    <a:p>
                      <a:pPr algn="l"/>
                      <a:r>
                        <a:rPr sz="800" b="0">
                          <a:solidFill>
                            <a:srgbClr val="2E2E2E"/>
                          </a:solidFill>
                          <a:latin typeface="Calibri"/>
                        </a:rPr>
                        <a:t>0.09</a:t>
                      </a:r>
                    </a:p>
                  </a:txBody>
                  <a:tcPr marL="85725" marR="38100" marT="19050" marB="19050" anchor="ctr">
                    <a:solidFill>
                      <a:srgbClr val="FFFFFF"/>
                    </a:solidFill>
                  </a:tcPr>
                </a:tc>
                <a:tc>
                  <a:txBody>
                    <a:bodyPr wrap="none"/>
                    <a:lstStyle/>
                    <a:p>
                      <a:pPr algn="l"/>
                      <a:r>
                        <a:rPr sz="800" b="0">
                          <a:solidFill>
                            <a:srgbClr val="2E2E2E"/>
                          </a:solidFill>
                          <a:latin typeface="Calibri"/>
                        </a:rPr>
                        <a:t>0.11</a:t>
                      </a:r>
                    </a:p>
                  </a:txBody>
                  <a:tcPr marL="85725" marR="38100" marT="19050" marB="19050" anchor="ctr">
                    <a:solidFill>
                      <a:srgbClr val="FFFFFF"/>
                    </a:solidFill>
                  </a:tcPr>
                </a:tc>
                <a:tc>
                  <a:txBody>
                    <a:bodyPr wrap="none"/>
                    <a:lstStyle/>
                    <a:p>
                      <a:pPr algn="l"/>
                      <a:r>
                        <a:rPr sz="800" b="0">
                          <a:solidFill>
                            <a:srgbClr val="2E2E2E"/>
                          </a:solidFill>
                          <a:latin typeface="Calibri"/>
                        </a:rPr>
                        <a:t>0.15</a:t>
                      </a:r>
                    </a:p>
                  </a:txBody>
                  <a:tcPr marL="85725" marR="38100" marT="19050" marB="19050" anchor="ctr">
                    <a:solidFill>
                      <a:srgbClr val="FFFFFF"/>
                    </a:solidFill>
                  </a:tcPr>
                </a:tc>
                <a:tc>
                  <a:txBody>
                    <a:bodyPr wrap="none"/>
                    <a:lstStyle/>
                    <a:p>
                      <a:pPr algn="l"/>
                      <a:r>
                        <a:rPr sz="800" b="0">
                          <a:solidFill>
                            <a:srgbClr val="2E2E2E"/>
                          </a:solidFill>
                          <a:latin typeface="Calibri"/>
                        </a:rPr>
                        <a:t>0.18</a:t>
                      </a:r>
                    </a:p>
                  </a:txBody>
                  <a:tcPr marL="85725" marR="38100" marT="19050" marB="19050" anchor="ctr">
                    <a:solidFill>
                      <a:srgbClr val="FFFFFF"/>
                    </a:solidFill>
                  </a:tcPr>
                </a:tc>
                <a:tc>
                  <a:txBody>
                    <a:bodyPr wrap="none"/>
                    <a:lstStyle/>
                    <a:p>
                      <a:pPr algn="l"/>
                      <a:r>
                        <a:rPr sz="800" b="0">
                          <a:solidFill>
                            <a:srgbClr val="2E2E2E"/>
                          </a:solidFill>
                          <a:latin typeface="Calibri"/>
                        </a:rPr>
                        <a:t>0.22</a:t>
                      </a:r>
                    </a:p>
                  </a:txBody>
                  <a:tcPr marL="85725" marR="38100" marT="19050" marB="19050" anchor="ctr">
                    <a:solidFill>
                      <a:srgbClr val="FFFFFF"/>
                    </a:solidFill>
                  </a:tcPr>
                </a:tc>
                <a:tc>
                  <a:txBody>
                    <a:bodyPr wrap="none"/>
                    <a:lstStyle/>
                    <a:p>
                      <a:pPr algn="l"/>
                      <a:r>
                        <a:rPr sz="800" b="0">
                          <a:solidFill>
                            <a:srgbClr val="2E2E2E"/>
                          </a:solidFill>
                          <a:latin typeface="Calibri"/>
                        </a:rPr>
                        <a:t>0.26</a:t>
                      </a:r>
                    </a:p>
                  </a:txBody>
                  <a:tcPr marL="85725" marR="38100" marT="19050" marB="19050" anchor="ctr">
                    <a:solidFill>
                      <a:srgbClr val="FFFFFF"/>
                    </a:solidFill>
                  </a:tcPr>
                </a:tc>
                <a:tc>
                  <a:txBody>
                    <a:bodyPr wrap="none"/>
                    <a:lstStyle/>
                    <a:p>
                      <a:pPr algn="l"/>
                      <a:r>
                        <a:rPr sz="800" b="0">
                          <a:solidFill>
                            <a:srgbClr val="2E2E2E"/>
                          </a:solidFill>
                          <a:latin typeface="Calibri"/>
                        </a:rPr>
                        <a:t>0.31</a:t>
                      </a:r>
                    </a:p>
                  </a:txBody>
                  <a:tcPr marL="85725" marR="38100" marT="19050" marB="19050" anchor="ctr">
                    <a:solidFill>
                      <a:srgbClr val="FFFFFF"/>
                    </a:solidFill>
                  </a:tcPr>
                </a:tc>
                <a:tc>
                  <a:txBody>
                    <a:bodyPr wrap="none"/>
                    <a:lstStyle/>
                    <a:p>
                      <a:pPr algn="l"/>
                      <a:r>
                        <a:rPr sz="800" b="0">
                          <a:solidFill>
                            <a:srgbClr val="2E2E2E"/>
                          </a:solidFill>
                          <a:latin typeface="Calibri"/>
                        </a:rPr>
                        <a:t>0.36</a:t>
                      </a:r>
                    </a:p>
                  </a:txBody>
                  <a:tcPr marL="85725" marR="38100" marT="19050" marB="19050" anchor="ctr">
                    <a:solidFill>
                      <a:srgbClr val="FFFFFF"/>
                    </a:solidFill>
                  </a:tcPr>
                </a:tc>
                <a:tc>
                  <a:txBody>
                    <a:bodyPr wrap="none"/>
                    <a:lstStyle/>
                    <a:p>
                      <a:pPr algn="l"/>
                      <a:r>
                        <a:rPr sz="800" b="0">
                          <a:solidFill>
                            <a:srgbClr val="2E2E2E"/>
                          </a:solidFill>
                          <a:latin typeface="Calibri"/>
                        </a:rPr>
                        <a:t>0.40</a:t>
                      </a:r>
                    </a:p>
                  </a:txBody>
                  <a:tcPr marL="85725" marR="38100" marT="19050" marB="19050" anchor="ctr">
                    <a:solidFill>
                      <a:srgbClr val="FFFFFF"/>
                    </a:solidFill>
                  </a:tcPr>
                </a:tc>
                <a:tc>
                  <a:txBody>
                    <a:bodyPr wrap="none"/>
                    <a:lstStyle/>
                    <a:p>
                      <a:pPr algn="l"/>
                      <a:r>
                        <a:rPr sz="800" b="0">
                          <a:solidFill>
                            <a:srgbClr val="2E2E2E"/>
                          </a:solidFill>
                          <a:latin typeface="Calibri"/>
                        </a:rPr>
                        <a:t>0.45</a:t>
                      </a:r>
                    </a:p>
                  </a:txBody>
                  <a:tcPr marL="85725" marR="38100" marT="19050" marB="19050" anchor="ctr">
                    <a:solidFill>
                      <a:srgbClr val="FFFFFF"/>
                    </a:solidFill>
                  </a:tcPr>
                </a:tc>
                <a:tc>
                  <a:txBody>
                    <a:bodyPr wrap="none"/>
                    <a:lstStyle/>
                    <a:p>
                      <a:pPr algn="l"/>
                      <a:r>
                        <a:rPr sz="800" b="0">
                          <a:solidFill>
                            <a:srgbClr val="2E2E2E"/>
                          </a:solidFill>
                          <a:latin typeface="Calibri"/>
                        </a:rPr>
                        <a:t>0.51</a:t>
                      </a:r>
                    </a:p>
                  </a:txBody>
                  <a:tcPr marL="85725" marR="38100" marT="19050" marB="19050" anchor="ctr">
                    <a:solidFill>
                      <a:srgbClr val="FFFFFF"/>
                    </a:solidFill>
                  </a:tcPr>
                </a:tc>
                <a:tc>
                  <a:txBody>
                    <a:bodyPr wrap="none"/>
                    <a:lstStyle/>
                    <a:p>
                      <a:pPr algn="l"/>
                      <a:r>
                        <a:rPr sz="800" b="0">
                          <a:solidFill>
                            <a:srgbClr val="2E2E2E"/>
                          </a:solidFill>
                          <a:latin typeface="Calibri"/>
                        </a:rPr>
                        <a:t>0.56</a:t>
                      </a:r>
                    </a:p>
                  </a:txBody>
                  <a:tcPr marL="85725" marR="38100" marT="19050" marB="19050" anchor="ctr">
                    <a:solidFill>
                      <a:srgbClr val="FFFFFF"/>
                    </a:solidFill>
                  </a:tcPr>
                </a:tc>
                <a:tc>
                  <a:txBody>
                    <a:bodyPr wrap="none"/>
                    <a:lstStyle/>
                    <a:p>
                      <a:pPr algn="l"/>
                      <a:r>
                        <a:rPr sz="800" b="0">
                          <a:solidFill>
                            <a:srgbClr val="2E2E2E"/>
                          </a:solidFill>
                          <a:latin typeface="Calibri"/>
                        </a:rPr>
                        <a:t>0.62</a:t>
                      </a:r>
                    </a:p>
                  </a:txBody>
                  <a:tcPr marL="85725" marR="38100" marT="19050" marB="19050" anchor="ctr">
                    <a:solidFill>
                      <a:srgbClr val="FFFFFF"/>
                    </a:solidFill>
                  </a:tcPr>
                </a:tc>
                <a:tc>
                  <a:txBody>
                    <a:bodyPr wrap="none"/>
                    <a:lstStyle/>
                    <a:p>
                      <a:pPr algn="l"/>
                      <a:r>
                        <a:rPr sz="800" b="0">
                          <a:solidFill>
                            <a:srgbClr val="2E2E2E"/>
                          </a:solidFill>
                          <a:latin typeface="Calibri"/>
                        </a:rPr>
                        <a:t>0.68</a:t>
                      </a:r>
                    </a:p>
                  </a:txBody>
                  <a:tcPr marL="85725" marR="38100" marT="19050" marB="19050" anchor="ctr">
                    <a:solidFill>
                      <a:srgbClr val="FFFFFF"/>
                    </a:solidFill>
                  </a:tcPr>
                </a:tc>
                <a:tc>
                  <a:txBody>
                    <a:bodyPr wrap="none"/>
                    <a:lstStyle/>
                    <a:p>
                      <a:pPr algn="l"/>
                      <a:r>
                        <a:rPr sz="800" b="0">
                          <a:solidFill>
                            <a:srgbClr val="2E2E2E"/>
                          </a:solidFill>
                          <a:latin typeface="Calibri"/>
                        </a:rPr>
                        <a:t>0.74</a:t>
                      </a:r>
                    </a:p>
                  </a:txBody>
                  <a:tcPr marL="85725" marR="38100" marT="19050" marB="19050" anchor="ctr">
                    <a:solidFill>
                      <a:srgbClr val="FFFFFF"/>
                    </a:solidFill>
                  </a:tcPr>
                </a:tc>
                <a:tc>
                  <a:txBody>
                    <a:bodyPr wrap="none"/>
                    <a:lstStyle/>
                    <a:p>
                      <a:pPr algn="l"/>
                      <a:r>
                        <a:rPr sz="800" b="0">
                          <a:solidFill>
                            <a:srgbClr val="2E2E2E"/>
                          </a:solidFill>
                          <a:latin typeface="Calibri"/>
                        </a:rPr>
                        <a:t>12.7%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1.06</a:t>
                      </a:r>
                    </a:p>
                  </a:txBody>
                  <a:tcPr marL="85725" marR="38100" marT="19050" marB="19050" anchor="ctr">
                    <a:solidFill>
                      <a:srgbClr val="E0E8EF"/>
                    </a:solidFill>
                  </a:tcPr>
                </a:tc>
                <a:tc>
                  <a:txBody>
                    <a:bodyPr wrap="none"/>
                    <a:lstStyle/>
                    <a:p>
                      <a:pPr algn="l"/>
                      <a:r>
                        <a:rPr sz="800" b="1">
                          <a:solidFill>
                            <a:srgbClr val="2E2E2E"/>
                          </a:solidFill>
                          <a:latin typeface="Calibri"/>
                        </a:rPr>
                        <a:t>1.24</a:t>
                      </a:r>
                    </a:p>
                  </a:txBody>
                  <a:tcPr marL="85725" marR="38100" marT="19050" marB="19050" anchor="ctr">
                    <a:solidFill>
                      <a:srgbClr val="E0E8EF"/>
                    </a:solidFill>
                  </a:tcPr>
                </a:tc>
                <a:tc>
                  <a:txBody>
                    <a:bodyPr wrap="none"/>
                    <a:lstStyle/>
                    <a:p>
                      <a:pPr algn="l"/>
                      <a:r>
                        <a:rPr sz="800" b="1">
                          <a:solidFill>
                            <a:srgbClr val="2E2E2E"/>
                          </a:solidFill>
                          <a:latin typeface="Calibri"/>
                        </a:rPr>
                        <a:t>1.54</a:t>
                      </a:r>
                    </a:p>
                  </a:txBody>
                  <a:tcPr marL="85725" marR="38100" marT="19050" marB="19050" anchor="ctr">
                    <a:solidFill>
                      <a:srgbClr val="E0E8EF"/>
                    </a:solidFill>
                  </a:tcPr>
                </a:tc>
                <a:tc>
                  <a:txBody>
                    <a:bodyPr wrap="none"/>
                    <a:lstStyle/>
                    <a:p>
                      <a:pPr algn="l"/>
                      <a:r>
                        <a:rPr sz="800" b="1">
                          <a:solidFill>
                            <a:srgbClr val="2E2E2E"/>
                          </a:solidFill>
                          <a:latin typeface="Calibri"/>
                        </a:rPr>
                        <a:t>1.97</a:t>
                      </a:r>
                    </a:p>
                  </a:txBody>
                  <a:tcPr marL="85725" marR="38100" marT="19050" marB="19050" anchor="ctr">
                    <a:solidFill>
                      <a:srgbClr val="E0E8EF"/>
                    </a:solidFill>
                  </a:tcPr>
                </a:tc>
                <a:tc>
                  <a:txBody>
                    <a:bodyPr wrap="none"/>
                    <a:lstStyle/>
                    <a:p>
                      <a:pPr algn="l"/>
                      <a:r>
                        <a:rPr sz="800" b="1">
                          <a:solidFill>
                            <a:srgbClr val="2E2E2E"/>
                          </a:solidFill>
                          <a:latin typeface="Calibri"/>
                        </a:rPr>
                        <a:t>2.46</a:t>
                      </a:r>
                    </a:p>
                  </a:txBody>
                  <a:tcPr marL="85725" marR="38100" marT="19050" marB="19050" anchor="ctr">
                    <a:solidFill>
                      <a:srgbClr val="E0E8EF"/>
                    </a:solidFill>
                  </a:tcPr>
                </a:tc>
                <a:tc>
                  <a:txBody>
                    <a:bodyPr wrap="none"/>
                    <a:lstStyle/>
                    <a:p>
                      <a:pPr algn="l"/>
                      <a:r>
                        <a:rPr sz="800" b="1">
                          <a:solidFill>
                            <a:srgbClr val="2E2E2E"/>
                          </a:solidFill>
                          <a:latin typeface="Calibri"/>
                        </a:rPr>
                        <a:t>2.98</a:t>
                      </a:r>
                    </a:p>
                  </a:txBody>
                  <a:tcPr marL="85725" marR="38100" marT="19050" marB="19050" anchor="ctr">
                    <a:solidFill>
                      <a:srgbClr val="E0E8EF"/>
                    </a:solidFill>
                  </a:tcPr>
                </a:tc>
                <a:tc>
                  <a:txBody>
                    <a:bodyPr wrap="none"/>
                    <a:lstStyle/>
                    <a:p>
                      <a:pPr algn="l"/>
                      <a:r>
                        <a:rPr sz="800" b="1">
                          <a:solidFill>
                            <a:srgbClr val="2E2E2E"/>
                          </a:solidFill>
                          <a:latin typeface="Calibri"/>
                        </a:rPr>
                        <a:t>3.56</a:t>
                      </a:r>
                    </a:p>
                  </a:txBody>
                  <a:tcPr marL="85725" marR="38100" marT="19050" marB="19050" anchor="ctr">
                    <a:solidFill>
                      <a:srgbClr val="E0E8EF"/>
                    </a:solidFill>
                  </a:tcPr>
                </a:tc>
                <a:tc>
                  <a:txBody>
                    <a:bodyPr wrap="none"/>
                    <a:lstStyle/>
                    <a:p>
                      <a:pPr algn="l"/>
                      <a:r>
                        <a:rPr sz="800" b="1">
                          <a:solidFill>
                            <a:srgbClr val="2E2E2E"/>
                          </a:solidFill>
                          <a:latin typeface="Calibri"/>
                        </a:rPr>
                        <a:t>4.15</a:t>
                      </a:r>
                    </a:p>
                  </a:txBody>
                  <a:tcPr marL="85725" marR="38100" marT="19050" marB="19050" anchor="ctr">
                    <a:solidFill>
                      <a:srgbClr val="E0E8EF"/>
                    </a:solidFill>
                  </a:tcPr>
                </a:tc>
                <a:tc>
                  <a:txBody>
                    <a:bodyPr wrap="none"/>
                    <a:lstStyle/>
                    <a:p>
                      <a:pPr algn="l"/>
                      <a:r>
                        <a:rPr sz="800" b="1">
                          <a:solidFill>
                            <a:srgbClr val="2E2E2E"/>
                          </a:solidFill>
                          <a:latin typeface="Calibri"/>
                        </a:rPr>
                        <a:t>4.77</a:t>
                      </a:r>
                    </a:p>
                  </a:txBody>
                  <a:tcPr marL="85725" marR="38100" marT="19050" marB="19050" anchor="ctr">
                    <a:solidFill>
                      <a:srgbClr val="E0E8EF"/>
                    </a:solidFill>
                  </a:tcPr>
                </a:tc>
                <a:tc>
                  <a:txBody>
                    <a:bodyPr wrap="none"/>
                    <a:lstStyle/>
                    <a:p>
                      <a:pPr algn="l"/>
                      <a:r>
                        <a:rPr sz="800" b="1">
                          <a:solidFill>
                            <a:srgbClr val="2E2E2E"/>
                          </a:solidFill>
                          <a:latin typeface="Calibri"/>
                        </a:rPr>
                        <a:t>5.42</a:t>
                      </a:r>
                    </a:p>
                  </a:txBody>
                  <a:tcPr marL="85725" marR="38100" marT="19050" marB="19050" anchor="ctr">
                    <a:solidFill>
                      <a:srgbClr val="E0E8EF"/>
                    </a:solidFill>
                  </a:tcPr>
                </a:tc>
                <a:tc>
                  <a:txBody>
                    <a:bodyPr wrap="none"/>
                    <a:lstStyle/>
                    <a:p>
                      <a:pPr algn="l"/>
                      <a:r>
                        <a:rPr sz="800" b="1">
                          <a:solidFill>
                            <a:srgbClr val="2E2E2E"/>
                          </a:solidFill>
                          <a:latin typeface="Calibri"/>
                        </a:rPr>
                        <a:t>6.10</a:t>
                      </a:r>
                    </a:p>
                  </a:txBody>
                  <a:tcPr marL="85725" marR="38100" marT="19050" marB="19050" anchor="ctr">
                    <a:solidFill>
                      <a:srgbClr val="E0E8EF"/>
                    </a:solidFill>
                  </a:tcPr>
                </a:tc>
                <a:tc>
                  <a:txBody>
                    <a:bodyPr wrap="none"/>
                    <a:lstStyle/>
                    <a:p>
                      <a:pPr algn="l"/>
                      <a:r>
                        <a:rPr sz="800" b="1">
                          <a:solidFill>
                            <a:srgbClr val="2E2E2E"/>
                          </a:solidFill>
                          <a:latin typeface="Calibri"/>
                        </a:rPr>
                        <a:t>6.81</a:t>
                      </a:r>
                    </a:p>
                  </a:txBody>
                  <a:tcPr marL="85725" marR="38100" marT="19050" marB="19050" anchor="ctr">
                    <a:solidFill>
                      <a:srgbClr val="E0E8EF"/>
                    </a:solidFill>
                  </a:tcPr>
                </a:tc>
                <a:tc>
                  <a:txBody>
                    <a:bodyPr wrap="none"/>
                    <a:lstStyle/>
                    <a:p>
                      <a:pPr algn="l"/>
                      <a:r>
                        <a:rPr sz="800" b="1">
                          <a:solidFill>
                            <a:srgbClr val="2E2E2E"/>
                          </a:solidFill>
                          <a:latin typeface="Calibri"/>
                        </a:rPr>
                        <a:t>7.53</a:t>
                      </a:r>
                    </a:p>
                  </a:txBody>
                  <a:tcPr marL="85725" marR="38100" marT="19050" marB="19050" anchor="ctr">
                    <a:solidFill>
                      <a:srgbClr val="E0E8EF"/>
                    </a:solidFill>
                  </a:tcPr>
                </a:tc>
                <a:tc>
                  <a:txBody>
                    <a:bodyPr wrap="none"/>
                    <a:lstStyle/>
                    <a:p>
                      <a:pPr algn="l"/>
                      <a:r>
                        <a:rPr sz="800" b="1">
                          <a:solidFill>
                            <a:srgbClr val="2E2E2E"/>
                          </a:solidFill>
                          <a:latin typeface="Calibri"/>
                        </a:rPr>
                        <a:t>8.29</a:t>
                      </a:r>
                    </a:p>
                  </a:txBody>
                  <a:tcPr marL="85725" marR="38100" marT="19050" marB="19050" anchor="ctr">
                    <a:solidFill>
                      <a:srgbClr val="E0E8EF"/>
                    </a:solidFill>
                  </a:tcPr>
                </a:tc>
                <a:tc>
                  <a:txBody>
                    <a:bodyPr wrap="none"/>
                    <a:lstStyle/>
                    <a:p>
                      <a:pPr algn="l"/>
                      <a:r>
                        <a:rPr sz="800" b="1">
                          <a:solidFill>
                            <a:srgbClr val="2E2E2E"/>
                          </a:solidFill>
                          <a:latin typeface="Calibri"/>
                        </a:rPr>
                        <a:t>9.08</a:t>
                      </a:r>
                    </a:p>
                  </a:txBody>
                  <a:tcPr marL="85725" marR="38100" marT="19050" marB="19050" anchor="ctr">
                    <a:solidFill>
                      <a:srgbClr val="E0E8EF"/>
                    </a:solidFill>
                  </a:tcPr>
                </a:tc>
                <a:tc>
                  <a:txBody>
                    <a:bodyPr wrap="none"/>
                    <a:lstStyle/>
                    <a:p>
                      <a:pPr algn="l"/>
                      <a:r>
                        <a:rPr sz="800" b="1">
                          <a:solidFill>
                            <a:srgbClr val="2E2E2E"/>
                          </a:solidFill>
                          <a:latin typeface="Calibri"/>
                        </a:rPr>
                        <a:t>9.91</a:t>
                      </a:r>
                    </a:p>
                  </a:txBody>
                  <a:tcPr marL="85725" marR="38100" marT="19050" marB="19050" anchor="ctr">
                    <a:solidFill>
                      <a:srgbClr val="E0E8EF"/>
                    </a:solidFill>
                  </a:tcPr>
                </a:tc>
                <a:tc>
                  <a:txBody>
                    <a:bodyPr wrap="none"/>
                    <a:lstStyle/>
                    <a:p>
                      <a:pPr algn="l"/>
                      <a:r>
                        <a:rPr sz="800" b="1">
                          <a:solidFill>
                            <a:srgbClr val="2E2E2E"/>
                          </a:solidFill>
                          <a:latin typeface="Calibri"/>
                        </a:rPr>
                        <a:t>12.7%</a:t>
                      </a:r>
                    </a:p>
                  </a:txBody>
                  <a:tcPr marL="85725" marR="38100" marT="19050" marB="19050" anchor="ctr">
                    <a:solidFill>
                      <a:srgbClr val="E0E8EF"/>
                    </a:solidFill>
                  </a:tcPr>
                </a:tc>
              </a:tr>
            </a:tbl>
          </a:graphicData>
        </a:graphic>
      </p:graphicFrame>
      <p:sp>
        <p:nvSpPr>
          <p:cNvPr id="14" name="TextBox 13"/>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ectangle 1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7" name="Rounded Rectangle 1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9" name="Rounded Rectangle 1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Tables Product Type   ·   (continued 2/2)</a:t>
            </a:r>
          </a:p>
        </p:txBody>
      </p:sp>
      <p:sp>
        <p:nvSpPr>
          <p:cNvPr id="10" name="Rounded Rectangle 9"/>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Value, By Product Type (US$ Mn)</a:t>
            </a:r>
          </a:p>
        </p:txBody>
      </p:sp>
      <p:graphicFrame>
        <p:nvGraphicFramePr>
          <p:cNvPr id="12" name="Table 11"/>
          <p:cNvGraphicFramePr>
            <a:graphicFrameLocks noGrp="1"/>
          </p:cNvGraphicFramePr>
          <p:nvPr/>
        </p:nvGraphicFramePr>
        <p:xfrm>
          <a:off x="238125" y="1143000"/>
          <a:ext cx="11715752" cy="2352675"/>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Product Type</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800" b="0">
                          <a:solidFill>
                            <a:srgbClr val="2E2E2E"/>
                          </a:solidFill>
                          <a:latin typeface="Calibri"/>
                        </a:rPr>
                        <a:t>84.9</a:t>
                      </a:r>
                    </a:p>
                  </a:txBody>
                  <a:tcPr marL="85725" marR="38100" marT="19050" marB="19050" anchor="ctr">
                    <a:solidFill>
                      <a:srgbClr val="FFFFFF"/>
                    </a:solidFill>
                  </a:tcPr>
                </a:tc>
                <a:tc>
                  <a:txBody>
                    <a:bodyPr wrap="none"/>
                    <a:lstStyle/>
                    <a:p>
                      <a:pPr algn="l"/>
                      <a:r>
                        <a:rPr sz="800" b="0">
                          <a:solidFill>
                            <a:srgbClr val="2E2E2E"/>
                          </a:solidFill>
                          <a:latin typeface="Calibri"/>
                        </a:rPr>
                        <a:t>95.7</a:t>
                      </a:r>
                    </a:p>
                  </a:txBody>
                  <a:tcPr marL="85725" marR="38100" marT="19050" marB="19050" anchor="ctr">
                    <a:solidFill>
                      <a:srgbClr val="FFFFFF"/>
                    </a:solidFill>
                  </a:tcPr>
                </a:tc>
                <a:tc>
                  <a:txBody>
                    <a:bodyPr wrap="none"/>
                    <a:lstStyle/>
                    <a:p>
                      <a:pPr algn="l"/>
                      <a:r>
                        <a:rPr sz="800" b="0">
                          <a:solidFill>
                            <a:srgbClr val="2E2E2E"/>
                          </a:solidFill>
                          <a:latin typeface="Calibri"/>
                        </a:rPr>
                        <a:t>114.5</a:t>
                      </a:r>
                    </a:p>
                  </a:txBody>
                  <a:tcPr marL="85725" marR="38100" marT="19050" marB="19050" anchor="ctr">
                    <a:solidFill>
                      <a:srgbClr val="FFFFFF"/>
                    </a:solidFill>
                  </a:tcPr>
                </a:tc>
                <a:tc>
                  <a:txBody>
                    <a:bodyPr wrap="none"/>
                    <a:lstStyle/>
                    <a:p>
                      <a:pPr algn="l"/>
                      <a:r>
                        <a:rPr sz="800" b="0">
                          <a:solidFill>
                            <a:srgbClr val="2E2E2E"/>
                          </a:solidFill>
                          <a:latin typeface="Calibri"/>
                        </a:rPr>
                        <a:t>141.2</a:t>
                      </a:r>
                    </a:p>
                  </a:txBody>
                  <a:tcPr marL="85725" marR="38100" marT="19050" marB="19050" anchor="ctr">
                    <a:solidFill>
                      <a:srgbClr val="FFFFFF"/>
                    </a:solidFill>
                  </a:tcPr>
                </a:tc>
                <a:tc>
                  <a:txBody>
                    <a:bodyPr wrap="none"/>
                    <a:lstStyle/>
                    <a:p>
                      <a:pPr algn="l"/>
                      <a:r>
                        <a:rPr sz="800" b="0">
                          <a:solidFill>
                            <a:srgbClr val="2E2E2E"/>
                          </a:solidFill>
                          <a:latin typeface="Calibri"/>
                        </a:rPr>
                        <a:t>170.5</a:t>
                      </a:r>
                    </a:p>
                  </a:txBody>
                  <a:tcPr marL="85725" marR="38100" marT="19050" marB="19050" anchor="ctr">
                    <a:solidFill>
                      <a:srgbClr val="FFFFFF"/>
                    </a:solidFill>
                  </a:tcPr>
                </a:tc>
                <a:tc>
                  <a:txBody>
                    <a:bodyPr wrap="none"/>
                    <a:lstStyle/>
                    <a:p>
                      <a:pPr algn="l"/>
                      <a:r>
                        <a:rPr sz="800" b="0">
                          <a:solidFill>
                            <a:srgbClr val="2E2E2E"/>
                          </a:solidFill>
                          <a:latin typeface="Calibri"/>
                        </a:rPr>
                        <a:t>199.6</a:t>
                      </a:r>
                    </a:p>
                  </a:txBody>
                  <a:tcPr marL="85725" marR="38100" marT="19050" marB="19050" anchor="ctr">
                    <a:solidFill>
                      <a:srgbClr val="FFFFFF"/>
                    </a:solidFill>
                  </a:tcPr>
                </a:tc>
                <a:tc>
                  <a:txBody>
                    <a:bodyPr wrap="none"/>
                    <a:lstStyle/>
                    <a:p>
                      <a:pPr algn="l"/>
                      <a:r>
                        <a:rPr sz="800" b="0">
                          <a:solidFill>
                            <a:srgbClr val="2E2E2E"/>
                          </a:solidFill>
                          <a:latin typeface="Calibri"/>
                        </a:rPr>
                        <a:t>229.4</a:t>
                      </a:r>
                    </a:p>
                  </a:txBody>
                  <a:tcPr marL="85725" marR="38100" marT="19050" marB="19050" anchor="ctr">
                    <a:solidFill>
                      <a:srgbClr val="FFFFFF"/>
                    </a:solidFill>
                  </a:tcPr>
                </a:tc>
                <a:tc>
                  <a:txBody>
                    <a:bodyPr wrap="none"/>
                    <a:lstStyle/>
                    <a:p>
                      <a:pPr algn="l"/>
                      <a:r>
                        <a:rPr sz="800" b="0">
                          <a:solidFill>
                            <a:srgbClr val="2E2E2E"/>
                          </a:solidFill>
                          <a:latin typeface="Calibri"/>
                        </a:rPr>
                        <a:t>258.2</a:t>
                      </a:r>
                    </a:p>
                  </a:txBody>
                  <a:tcPr marL="85725" marR="38100" marT="19050" marB="19050" anchor="ctr">
                    <a:solidFill>
                      <a:srgbClr val="FFFFFF"/>
                    </a:solidFill>
                  </a:tcPr>
                </a:tc>
                <a:tc>
                  <a:txBody>
                    <a:bodyPr wrap="none"/>
                    <a:lstStyle/>
                    <a:p>
                      <a:pPr algn="l"/>
                      <a:r>
                        <a:rPr sz="800" b="0">
                          <a:solidFill>
                            <a:srgbClr val="2E2E2E"/>
                          </a:solidFill>
                          <a:latin typeface="Calibri"/>
                        </a:rPr>
                        <a:t>286.5</a:t>
                      </a:r>
                    </a:p>
                  </a:txBody>
                  <a:tcPr marL="85725" marR="38100" marT="19050" marB="19050" anchor="ctr">
                    <a:solidFill>
                      <a:srgbClr val="FFFFFF"/>
                    </a:solidFill>
                  </a:tcPr>
                </a:tc>
                <a:tc>
                  <a:txBody>
                    <a:bodyPr wrap="none"/>
                    <a:lstStyle/>
                    <a:p>
                      <a:pPr algn="l"/>
                      <a:r>
                        <a:rPr sz="800" b="0">
                          <a:solidFill>
                            <a:srgbClr val="2E2E2E"/>
                          </a:solidFill>
                          <a:latin typeface="Calibri"/>
                        </a:rPr>
                        <a:t>314.0</a:t>
                      </a:r>
                    </a:p>
                  </a:txBody>
                  <a:tcPr marL="85725" marR="38100" marT="19050" marB="19050" anchor="ctr">
                    <a:solidFill>
                      <a:srgbClr val="FFFFFF"/>
                    </a:solidFill>
                  </a:tcPr>
                </a:tc>
                <a:tc>
                  <a:txBody>
                    <a:bodyPr wrap="none"/>
                    <a:lstStyle/>
                    <a:p>
                      <a:pPr algn="l"/>
                      <a:r>
                        <a:rPr sz="800" b="0">
                          <a:solidFill>
                            <a:srgbClr val="2E2E2E"/>
                          </a:solidFill>
                          <a:latin typeface="Calibri"/>
                        </a:rPr>
                        <a:t>340.6</a:t>
                      </a:r>
                    </a:p>
                  </a:txBody>
                  <a:tcPr marL="85725" marR="38100" marT="19050" marB="19050" anchor="ctr">
                    <a:solidFill>
                      <a:srgbClr val="FFFFFF"/>
                    </a:solidFill>
                  </a:tcPr>
                </a:tc>
                <a:tc>
                  <a:txBody>
                    <a:bodyPr wrap="none"/>
                    <a:lstStyle/>
                    <a:p>
                      <a:pPr algn="l"/>
                      <a:r>
                        <a:rPr sz="800" b="0">
                          <a:solidFill>
                            <a:srgbClr val="2E2E2E"/>
                          </a:solidFill>
                          <a:latin typeface="Calibri"/>
                        </a:rPr>
                        <a:t>366.3</a:t>
                      </a:r>
                    </a:p>
                  </a:txBody>
                  <a:tcPr marL="85725" marR="38100" marT="19050" marB="19050" anchor="ctr">
                    <a:solidFill>
                      <a:srgbClr val="FFFFFF"/>
                    </a:solidFill>
                  </a:tcPr>
                </a:tc>
                <a:tc>
                  <a:txBody>
                    <a:bodyPr wrap="none"/>
                    <a:lstStyle/>
                    <a:p>
                      <a:pPr algn="l"/>
                      <a:r>
                        <a:rPr sz="800" b="0">
                          <a:solidFill>
                            <a:srgbClr val="2E2E2E"/>
                          </a:solidFill>
                          <a:latin typeface="Calibri"/>
                        </a:rPr>
                        <a:t>390.9</a:t>
                      </a:r>
                    </a:p>
                  </a:txBody>
                  <a:tcPr marL="85725" marR="38100" marT="19050" marB="19050" anchor="ctr">
                    <a:solidFill>
                      <a:srgbClr val="FFFFFF"/>
                    </a:solidFill>
                  </a:tcPr>
                </a:tc>
                <a:tc>
                  <a:txBody>
                    <a:bodyPr wrap="none"/>
                    <a:lstStyle/>
                    <a:p>
                      <a:pPr algn="l"/>
                      <a:r>
                        <a:rPr sz="800" b="0">
                          <a:solidFill>
                            <a:srgbClr val="2E2E2E"/>
                          </a:solidFill>
                          <a:latin typeface="Calibri"/>
                        </a:rPr>
                        <a:t>414.6</a:t>
                      </a:r>
                    </a:p>
                  </a:txBody>
                  <a:tcPr marL="85725" marR="38100" marT="19050" marB="19050" anchor="ctr">
                    <a:solidFill>
                      <a:srgbClr val="FFFFFF"/>
                    </a:solidFill>
                  </a:tcPr>
                </a:tc>
                <a:tc>
                  <a:txBody>
                    <a:bodyPr wrap="none"/>
                    <a:lstStyle/>
                    <a:p>
                      <a:pPr algn="l"/>
                      <a:r>
                        <a:rPr sz="800" b="0">
                          <a:solidFill>
                            <a:srgbClr val="2E2E2E"/>
                          </a:solidFill>
                          <a:latin typeface="Calibri"/>
                        </a:rPr>
                        <a:t>437.7</a:t>
                      </a:r>
                    </a:p>
                  </a:txBody>
                  <a:tcPr marL="85725" marR="38100" marT="19050" marB="19050" anchor="ctr">
                    <a:solidFill>
                      <a:srgbClr val="FFFFFF"/>
                    </a:solidFill>
                  </a:tcPr>
                </a:tc>
                <a:tc>
                  <a:txBody>
                    <a:bodyPr wrap="none"/>
                    <a:lstStyle/>
                    <a:p>
                      <a:pPr algn="l"/>
                      <a:r>
                        <a:rPr sz="800" b="0">
                          <a:solidFill>
                            <a:srgbClr val="2E2E2E"/>
                          </a:solidFill>
                          <a:latin typeface="Calibri"/>
                        </a:rPr>
                        <a:t>460.1</a:t>
                      </a:r>
                    </a:p>
                  </a:txBody>
                  <a:tcPr marL="85725" marR="38100" marT="19050" marB="19050" anchor="ctr">
                    <a:solidFill>
                      <a:srgbClr val="FFFFFF"/>
                    </a:solidFill>
                  </a:tcPr>
                </a:tc>
                <a:tc>
                  <a:txBody>
                    <a:bodyPr wrap="none"/>
                    <a:lstStyle/>
                    <a:p>
                      <a:pPr algn="l"/>
                      <a:r>
                        <a:rPr sz="800" b="0">
                          <a:solidFill>
                            <a:srgbClr val="2E2E2E"/>
                          </a:solidFill>
                          <a:latin typeface="Calibri"/>
                        </a:rPr>
                        <a:t>8.7%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Cyltezo</a:t>
                      </a:r>
                    </a:p>
                  </a:txBody>
                  <a:tcPr marL="85725" marR="38100" marT="19050" marB="19050" anchor="ctr">
                    <a:solidFill>
                      <a:srgbClr val="F5F8FA"/>
                    </a:solidFill>
                  </a:tcPr>
                </a:tc>
                <a:tc>
                  <a:txBody>
                    <a:bodyPr wrap="none"/>
                    <a:lstStyle/>
                    <a:p>
                      <a:pPr algn="l"/>
                      <a:r>
                        <a:rPr sz="800" b="0">
                          <a:solidFill>
                            <a:srgbClr val="2E2E2E"/>
                          </a:solidFill>
                          <a:latin typeface="Calibri"/>
                        </a:rPr>
                        <a:t>71.4</a:t>
                      </a:r>
                    </a:p>
                  </a:txBody>
                  <a:tcPr marL="85725" marR="38100" marT="19050" marB="19050" anchor="ctr">
                    <a:solidFill>
                      <a:srgbClr val="F5F8FA"/>
                    </a:solidFill>
                  </a:tcPr>
                </a:tc>
                <a:tc>
                  <a:txBody>
                    <a:bodyPr wrap="none"/>
                    <a:lstStyle/>
                    <a:p>
                      <a:pPr algn="l"/>
                      <a:r>
                        <a:rPr sz="800" b="0">
                          <a:solidFill>
                            <a:srgbClr val="2E2E2E"/>
                          </a:solidFill>
                          <a:latin typeface="Calibri"/>
                        </a:rPr>
                        <a:t>80.3</a:t>
                      </a:r>
                    </a:p>
                  </a:txBody>
                  <a:tcPr marL="85725" marR="38100" marT="19050" marB="19050" anchor="ctr">
                    <a:solidFill>
                      <a:srgbClr val="F5F8FA"/>
                    </a:solidFill>
                  </a:tcPr>
                </a:tc>
                <a:tc>
                  <a:txBody>
                    <a:bodyPr wrap="none"/>
                    <a:lstStyle/>
                    <a:p>
                      <a:pPr algn="l"/>
                      <a:r>
                        <a:rPr sz="800" b="0">
                          <a:solidFill>
                            <a:srgbClr val="2E2E2E"/>
                          </a:solidFill>
                          <a:latin typeface="Calibri"/>
                        </a:rPr>
                        <a:t>95.9</a:t>
                      </a:r>
                    </a:p>
                  </a:txBody>
                  <a:tcPr marL="85725" marR="38100" marT="19050" marB="19050" anchor="ctr">
                    <a:solidFill>
                      <a:srgbClr val="F5F8FA"/>
                    </a:solidFill>
                  </a:tcPr>
                </a:tc>
                <a:tc>
                  <a:txBody>
                    <a:bodyPr wrap="none"/>
                    <a:lstStyle/>
                    <a:p>
                      <a:pPr algn="l"/>
                      <a:r>
                        <a:rPr sz="800" b="0">
                          <a:solidFill>
                            <a:srgbClr val="2E2E2E"/>
                          </a:solidFill>
                          <a:latin typeface="Calibri"/>
                        </a:rPr>
                        <a:t>118.2</a:t>
                      </a:r>
                    </a:p>
                  </a:txBody>
                  <a:tcPr marL="85725" marR="38100" marT="19050" marB="19050" anchor="ctr">
                    <a:solidFill>
                      <a:srgbClr val="F5F8FA"/>
                    </a:solidFill>
                  </a:tcPr>
                </a:tc>
                <a:tc>
                  <a:txBody>
                    <a:bodyPr wrap="none"/>
                    <a:lstStyle/>
                    <a:p>
                      <a:pPr algn="l"/>
                      <a:r>
                        <a:rPr sz="800" b="0">
                          <a:solidFill>
                            <a:srgbClr val="2E2E2E"/>
                          </a:solidFill>
                          <a:latin typeface="Calibri"/>
                        </a:rPr>
                        <a:t>142.5</a:t>
                      </a:r>
                    </a:p>
                  </a:txBody>
                  <a:tcPr marL="85725" marR="38100" marT="19050" marB="19050" anchor="ctr">
                    <a:solidFill>
                      <a:srgbClr val="F5F8FA"/>
                    </a:solidFill>
                  </a:tcPr>
                </a:tc>
                <a:tc>
                  <a:txBody>
                    <a:bodyPr wrap="none"/>
                    <a:lstStyle/>
                    <a:p>
                      <a:pPr algn="l"/>
                      <a:r>
                        <a:rPr sz="800" b="0">
                          <a:solidFill>
                            <a:srgbClr val="2E2E2E"/>
                          </a:solidFill>
                          <a:latin typeface="Calibri"/>
                        </a:rPr>
                        <a:t>166.6</a:t>
                      </a:r>
                    </a:p>
                  </a:txBody>
                  <a:tcPr marL="85725" marR="38100" marT="19050" marB="19050" anchor="ctr">
                    <a:solidFill>
                      <a:srgbClr val="F5F8FA"/>
                    </a:solidFill>
                  </a:tcPr>
                </a:tc>
                <a:tc>
                  <a:txBody>
                    <a:bodyPr wrap="none"/>
                    <a:lstStyle/>
                    <a:p>
                      <a:pPr algn="l"/>
                      <a:r>
                        <a:rPr sz="800" b="0">
                          <a:solidFill>
                            <a:srgbClr val="2E2E2E"/>
                          </a:solidFill>
                          <a:latin typeface="Calibri"/>
                        </a:rPr>
                        <a:t>191.2</a:t>
                      </a:r>
                    </a:p>
                  </a:txBody>
                  <a:tcPr marL="85725" marR="38100" marT="19050" marB="19050" anchor="ctr">
                    <a:solidFill>
                      <a:srgbClr val="F5F8FA"/>
                    </a:solidFill>
                  </a:tcPr>
                </a:tc>
                <a:tc>
                  <a:txBody>
                    <a:bodyPr wrap="none"/>
                    <a:lstStyle/>
                    <a:p>
                      <a:pPr algn="l"/>
                      <a:r>
                        <a:rPr sz="800" b="0">
                          <a:solidFill>
                            <a:srgbClr val="2E2E2E"/>
                          </a:solidFill>
                          <a:latin typeface="Calibri"/>
                        </a:rPr>
                        <a:t>215.0</a:t>
                      </a:r>
                    </a:p>
                  </a:txBody>
                  <a:tcPr marL="85725" marR="38100" marT="19050" marB="19050" anchor="ctr">
                    <a:solidFill>
                      <a:srgbClr val="F5F8FA"/>
                    </a:solidFill>
                  </a:tcPr>
                </a:tc>
                <a:tc>
                  <a:txBody>
                    <a:bodyPr wrap="none"/>
                    <a:lstStyle/>
                    <a:p>
                      <a:pPr algn="l"/>
                      <a:r>
                        <a:rPr sz="800" b="0">
                          <a:solidFill>
                            <a:srgbClr val="2E2E2E"/>
                          </a:solidFill>
                          <a:latin typeface="Calibri"/>
                        </a:rPr>
                        <a:t>238.2</a:t>
                      </a:r>
                    </a:p>
                  </a:txBody>
                  <a:tcPr marL="85725" marR="38100" marT="19050" marB="19050" anchor="ctr">
                    <a:solidFill>
                      <a:srgbClr val="F5F8FA"/>
                    </a:solidFill>
                  </a:tcPr>
                </a:tc>
                <a:tc>
                  <a:txBody>
                    <a:bodyPr wrap="none"/>
                    <a:lstStyle/>
                    <a:p>
                      <a:pPr algn="l"/>
                      <a:r>
                        <a:rPr sz="800" b="0">
                          <a:solidFill>
                            <a:srgbClr val="2E2E2E"/>
                          </a:solidFill>
                          <a:latin typeface="Calibri"/>
                        </a:rPr>
                        <a:t>260.7</a:t>
                      </a:r>
                    </a:p>
                  </a:txBody>
                  <a:tcPr marL="85725" marR="38100" marT="19050" marB="19050" anchor="ctr">
                    <a:solidFill>
                      <a:srgbClr val="F5F8FA"/>
                    </a:solidFill>
                  </a:tcPr>
                </a:tc>
                <a:tc>
                  <a:txBody>
                    <a:bodyPr wrap="none"/>
                    <a:lstStyle/>
                    <a:p>
                      <a:pPr algn="l"/>
                      <a:r>
                        <a:rPr sz="800" b="0">
                          <a:solidFill>
                            <a:srgbClr val="2E2E2E"/>
                          </a:solidFill>
                          <a:latin typeface="Calibri"/>
                        </a:rPr>
                        <a:t>282.4</a:t>
                      </a:r>
                    </a:p>
                  </a:txBody>
                  <a:tcPr marL="85725" marR="38100" marT="19050" marB="19050" anchor="ctr">
                    <a:solidFill>
                      <a:srgbClr val="F5F8FA"/>
                    </a:solidFill>
                  </a:tcPr>
                </a:tc>
                <a:tc>
                  <a:txBody>
                    <a:bodyPr wrap="none"/>
                    <a:lstStyle/>
                    <a:p>
                      <a:pPr algn="l"/>
                      <a:r>
                        <a:rPr sz="800" b="0">
                          <a:solidFill>
                            <a:srgbClr val="2E2E2E"/>
                          </a:solidFill>
                          <a:latin typeface="Calibri"/>
                        </a:rPr>
                        <a:t>303.3</a:t>
                      </a:r>
                    </a:p>
                  </a:txBody>
                  <a:tcPr marL="85725" marR="38100" marT="19050" marB="19050" anchor="ctr">
                    <a:solidFill>
                      <a:srgbClr val="F5F8FA"/>
                    </a:solidFill>
                  </a:tcPr>
                </a:tc>
                <a:tc>
                  <a:txBody>
                    <a:bodyPr wrap="none"/>
                    <a:lstStyle/>
                    <a:p>
                      <a:pPr algn="l"/>
                      <a:r>
                        <a:rPr sz="800" b="0">
                          <a:solidFill>
                            <a:srgbClr val="2E2E2E"/>
                          </a:solidFill>
                          <a:latin typeface="Calibri"/>
                        </a:rPr>
                        <a:t>323.3</a:t>
                      </a:r>
                    </a:p>
                  </a:txBody>
                  <a:tcPr marL="85725" marR="38100" marT="19050" marB="19050" anchor="ctr">
                    <a:solidFill>
                      <a:srgbClr val="F5F8FA"/>
                    </a:solidFill>
                  </a:tcPr>
                </a:tc>
                <a:tc>
                  <a:txBody>
                    <a:bodyPr wrap="none"/>
                    <a:lstStyle/>
                    <a:p>
                      <a:pPr algn="l"/>
                      <a:r>
                        <a:rPr sz="800" b="0">
                          <a:solidFill>
                            <a:srgbClr val="2E2E2E"/>
                          </a:solidFill>
                          <a:latin typeface="Calibri"/>
                        </a:rPr>
                        <a:t>342.5</a:t>
                      </a:r>
                    </a:p>
                  </a:txBody>
                  <a:tcPr marL="85725" marR="38100" marT="19050" marB="19050" anchor="ctr">
                    <a:solidFill>
                      <a:srgbClr val="F5F8FA"/>
                    </a:solidFill>
                  </a:tcPr>
                </a:tc>
                <a:tc>
                  <a:txBody>
                    <a:bodyPr wrap="none"/>
                    <a:lstStyle/>
                    <a:p>
                      <a:pPr algn="l"/>
                      <a:r>
                        <a:rPr sz="800" b="0">
                          <a:solidFill>
                            <a:srgbClr val="2E2E2E"/>
                          </a:solidFill>
                          <a:latin typeface="Calibri"/>
                        </a:rPr>
                        <a:t>361.0</a:t>
                      </a:r>
                    </a:p>
                  </a:txBody>
                  <a:tcPr marL="85725" marR="38100" marT="19050" marB="19050" anchor="ctr">
                    <a:solidFill>
                      <a:srgbClr val="F5F8FA"/>
                    </a:solidFill>
                  </a:tcPr>
                </a:tc>
                <a:tc>
                  <a:txBody>
                    <a:bodyPr wrap="none"/>
                    <a:lstStyle/>
                    <a:p>
                      <a:pPr algn="l"/>
                      <a:r>
                        <a:rPr sz="800" b="0">
                          <a:solidFill>
                            <a:srgbClr val="2E2E2E"/>
                          </a:solidFill>
                          <a:latin typeface="Calibri"/>
                        </a:rPr>
                        <a:t>379.0</a:t>
                      </a:r>
                    </a:p>
                  </a:txBody>
                  <a:tcPr marL="85725" marR="38100" marT="19050" marB="19050" anchor="ctr">
                    <a:solidFill>
                      <a:srgbClr val="F5F8FA"/>
                    </a:solidFill>
                  </a:tcPr>
                </a:tc>
                <a:tc>
                  <a:txBody>
                    <a:bodyPr wrap="none"/>
                    <a:lstStyle/>
                    <a:p>
                      <a:pPr algn="l"/>
                      <a:r>
                        <a:rPr sz="800" b="0">
                          <a:solidFill>
                            <a:srgbClr val="2E2E2E"/>
                          </a:solidFill>
                          <a:latin typeface="Calibri"/>
                        </a:rPr>
                        <a:t>8.6%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800" b="0">
                          <a:solidFill>
                            <a:srgbClr val="2E2E2E"/>
                          </a:solidFill>
                          <a:latin typeface="Calibri"/>
                        </a:rPr>
                        <a:t>30.5</a:t>
                      </a:r>
                    </a:p>
                  </a:txBody>
                  <a:tcPr marL="85725" marR="38100" marT="19050" marB="19050" anchor="ctr">
                    <a:solidFill>
                      <a:srgbClr val="FFFFFF"/>
                    </a:solidFill>
                  </a:tcPr>
                </a:tc>
                <a:tc>
                  <a:txBody>
                    <a:bodyPr wrap="none"/>
                    <a:lstStyle/>
                    <a:p>
                      <a:pPr algn="l"/>
                      <a:r>
                        <a:rPr sz="800" b="0">
                          <a:solidFill>
                            <a:srgbClr val="2E2E2E"/>
                          </a:solidFill>
                          <a:latin typeface="Calibri"/>
                        </a:rPr>
                        <a:t>34.4</a:t>
                      </a:r>
                    </a:p>
                  </a:txBody>
                  <a:tcPr marL="85725" marR="38100" marT="19050" marB="19050" anchor="ctr">
                    <a:solidFill>
                      <a:srgbClr val="FFFFFF"/>
                    </a:solidFill>
                  </a:tcPr>
                </a:tc>
                <a:tc>
                  <a:txBody>
                    <a:bodyPr wrap="none"/>
                    <a:lstStyle/>
                    <a:p>
                      <a:pPr algn="l"/>
                      <a:r>
                        <a:rPr sz="800" b="0">
                          <a:solidFill>
                            <a:srgbClr val="2E2E2E"/>
                          </a:solidFill>
                          <a:latin typeface="Calibri"/>
                        </a:rPr>
                        <a:t>41.3</a:t>
                      </a:r>
                    </a:p>
                  </a:txBody>
                  <a:tcPr marL="85725" marR="38100" marT="19050" marB="19050" anchor="ctr">
                    <a:solidFill>
                      <a:srgbClr val="FFFFFF"/>
                    </a:solidFill>
                  </a:tcPr>
                </a:tc>
                <a:tc>
                  <a:txBody>
                    <a:bodyPr wrap="none"/>
                    <a:lstStyle/>
                    <a:p>
                      <a:pPr algn="l"/>
                      <a:r>
                        <a:rPr sz="800" b="0">
                          <a:solidFill>
                            <a:srgbClr val="2E2E2E"/>
                          </a:solidFill>
                          <a:latin typeface="Calibri"/>
                        </a:rPr>
                        <a:t>51.0</a:t>
                      </a:r>
                    </a:p>
                  </a:txBody>
                  <a:tcPr marL="85725" marR="38100" marT="19050" marB="19050" anchor="ctr">
                    <a:solidFill>
                      <a:srgbClr val="FFFFFF"/>
                    </a:solidFill>
                  </a:tcPr>
                </a:tc>
                <a:tc>
                  <a:txBody>
                    <a:bodyPr wrap="none"/>
                    <a:lstStyle/>
                    <a:p>
                      <a:pPr algn="l"/>
                      <a:r>
                        <a:rPr sz="800" b="0">
                          <a:solidFill>
                            <a:srgbClr val="2E2E2E"/>
                          </a:solidFill>
                          <a:latin typeface="Calibri"/>
                        </a:rPr>
                        <a:t>61.8</a:t>
                      </a:r>
                    </a:p>
                  </a:txBody>
                  <a:tcPr marL="85725" marR="38100" marT="19050" marB="19050" anchor="ctr">
                    <a:solidFill>
                      <a:srgbClr val="FFFFFF"/>
                    </a:solidFill>
                  </a:tcPr>
                </a:tc>
                <a:tc>
                  <a:txBody>
                    <a:bodyPr wrap="none"/>
                    <a:lstStyle/>
                    <a:p>
                      <a:pPr algn="l"/>
                      <a:r>
                        <a:rPr sz="800" b="0">
                          <a:solidFill>
                            <a:srgbClr val="2E2E2E"/>
                          </a:solidFill>
                          <a:latin typeface="Calibri"/>
                        </a:rPr>
                        <a:t>72.5</a:t>
                      </a:r>
                    </a:p>
                  </a:txBody>
                  <a:tcPr marL="85725" marR="38100" marT="19050" marB="19050" anchor="ctr">
                    <a:solidFill>
                      <a:srgbClr val="FFFFFF"/>
                    </a:solidFill>
                  </a:tcPr>
                </a:tc>
                <a:tc>
                  <a:txBody>
                    <a:bodyPr wrap="none"/>
                    <a:lstStyle/>
                    <a:p>
                      <a:pPr algn="l"/>
                      <a:r>
                        <a:rPr sz="800" b="0">
                          <a:solidFill>
                            <a:srgbClr val="2E2E2E"/>
                          </a:solidFill>
                          <a:latin typeface="Calibri"/>
                        </a:rPr>
                        <a:t>83.5</a:t>
                      </a:r>
                    </a:p>
                  </a:txBody>
                  <a:tcPr marL="85725" marR="38100" marT="19050" marB="19050" anchor="ctr">
                    <a:solidFill>
                      <a:srgbClr val="FFFFFF"/>
                    </a:solidFill>
                  </a:tcPr>
                </a:tc>
                <a:tc>
                  <a:txBody>
                    <a:bodyPr wrap="none"/>
                    <a:lstStyle/>
                    <a:p>
                      <a:pPr algn="l"/>
                      <a:r>
                        <a:rPr sz="800" b="0">
                          <a:solidFill>
                            <a:srgbClr val="2E2E2E"/>
                          </a:solidFill>
                          <a:latin typeface="Calibri"/>
                        </a:rPr>
                        <a:t>94.2</a:t>
                      </a:r>
                    </a:p>
                  </a:txBody>
                  <a:tcPr marL="85725" marR="38100" marT="19050" marB="19050" anchor="ctr">
                    <a:solidFill>
                      <a:srgbClr val="FFFFFF"/>
                    </a:solidFill>
                  </a:tcPr>
                </a:tc>
                <a:tc>
                  <a:txBody>
                    <a:bodyPr wrap="none"/>
                    <a:lstStyle/>
                    <a:p>
                      <a:pPr algn="l"/>
                      <a:r>
                        <a:rPr sz="800" b="0">
                          <a:solidFill>
                            <a:srgbClr val="2E2E2E"/>
                          </a:solidFill>
                          <a:latin typeface="Calibri"/>
                        </a:rPr>
                        <a:t>104.8</a:t>
                      </a:r>
                    </a:p>
                  </a:txBody>
                  <a:tcPr marL="85725" marR="38100" marT="19050" marB="19050" anchor="ctr">
                    <a:solidFill>
                      <a:srgbClr val="FFFFFF"/>
                    </a:solidFill>
                  </a:tcPr>
                </a:tc>
                <a:tc>
                  <a:txBody>
                    <a:bodyPr wrap="none"/>
                    <a:lstStyle/>
                    <a:p>
                      <a:pPr algn="l"/>
                      <a:r>
                        <a:rPr sz="800" b="0">
                          <a:solidFill>
                            <a:srgbClr val="2E2E2E"/>
                          </a:solidFill>
                          <a:latin typeface="Calibri"/>
                        </a:rPr>
                        <a:t>115.2</a:t>
                      </a:r>
                    </a:p>
                  </a:txBody>
                  <a:tcPr marL="85725" marR="38100" marT="19050" marB="19050" anchor="ctr">
                    <a:solidFill>
                      <a:srgbClr val="FFFFFF"/>
                    </a:solidFill>
                  </a:tcPr>
                </a:tc>
                <a:tc>
                  <a:txBody>
                    <a:bodyPr wrap="none"/>
                    <a:lstStyle/>
                    <a:p>
                      <a:pPr algn="l"/>
                      <a:r>
                        <a:rPr sz="800" b="0">
                          <a:solidFill>
                            <a:srgbClr val="2E2E2E"/>
                          </a:solidFill>
                          <a:latin typeface="Calibri"/>
                        </a:rPr>
                        <a:t>125.2</a:t>
                      </a:r>
                    </a:p>
                  </a:txBody>
                  <a:tcPr marL="85725" marR="38100" marT="19050" marB="19050" anchor="ctr">
                    <a:solidFill>
                      <a:srgbClr val="FFFFFF"/>
                    </a:solidFill>
                  </a:tcPr>
                </a:tc>
                <a:tc>
                  <a:txBody>
                    <a:bodyPr wrap="none"/>
                    <a:lstStyle/>
                    <a:p>
                      <a:pPr algn="l"/>
                      <a:r>
                        <a:rPr sz="800" b="0">
                          <a:solidFill>
                            <a:srgbClr val="2E2E2E"/>
                          </a:solidFill>
                          <a:latin typeface="Calibri"/>
                        </a:rPr>
                        <a:t>135.0</a:t>
                      </a:r>
                    </a:p>
                  </a:txBody>
                  <a:tcPr marL="85725" marR="38100" marT="19050" marB="19050" anchor="ctr">
                    <a:solidFill>
                      <a:srgbClr val="FFFFFF"/>
                    </a:solidFill>
                  </a:tcPr>
                </a:tc>
                <a:tc>
                  <a:txBody>
                    <a:bodyPr wrap="none"/>
                    <a:lstStyle/>
                    <a:p>
                      <a:pPr algn="l"/>
                      <a:r>
                        <a:rPr sz="800" b="0">
                          <a:solidFill>
                            <a:srgbClr val="2E2E2E"/>
                          </a:solidFill>
                          <a:latin typeface="Calibri"/>
                        </a:rPr>
                        <a:t>144.4</a:t>
                      </a:r>
                    </a:p>
                  </a:txBody>
                  <a:tcPr marL="85725" marR="38100" marT="19050" marB="19050" anchor="ctr">
                    <a:solidFill>
                      <a:srgbClr val="FFFFFF"/>
                    </a:solidFill>
                  </a:tcPr>
                </a:tc>
                <a:tc>
                  <a:txBody>
                    <a:bodyPr wrap="none"/>
                    <a:lstStyle/>
                    <a:p>
                      <a:pPr algn="l"/>
                      <a:r>
                        <a:rPr sz="800" b="0">
                          <a:solidFill>
                            <a:srgbClr val="2E2E2E"/>
                          </a:solidFill>
                          <a:latin typeface="Calibri"/>
                        </a:rPr>
                        <a:t>153.6</a:t>
                      </a:r>
                    </a:p>
                  </a:txBody>
                  <a:tcPr marL="85725" marR="38100" marT="19050" marB="19050" anchor="ctr">
                    <a:solidFill>
                      <a:srgbClr val="FFFFFF"/>
                    </a:solidFill>
                  </a:tcPr>
                </a:tc>
                <a:tc>
                  <a:txBody>
                    <a:bodyPr wrap="none"/>
                    <a:lstStyle/>
                    <a:p>
                      <a:pPr algn="l"/>
                      <a:r>
                        <a:rPr sz="800" b="0">
                          <a:solidFill>
                            <a:srgbClr val="2E2E2E"/>
                          </a:solidFill>
                          <a:latin typeface="Calibri"/>
                        </a:rPr>
                        <a:t>162.5</a:t>
                      </a:r>
                    </a:p>
                  </a:txBody>
                  <a:tcPr marL="85725" marR="38100" marT="19050" marB="19050" anchor="ctr">
                    <a:solidFill>
                      <a:srgbClr val="FFFFFF"/>
                    </a:solidFill>
                  </a:tcPr>
                </a:tc>
                <a:tc>
                  <a:txBody>
                    <a:bodyPr wrap="none"/>
                    <a:lstStyle/>
                    <a:p>
                      <a:pPr algn="l"/>
                      <a:r>
                        <a:rPr sz="800" b="0">
                          <a:solidFill>
                            <a:srgbClr val="2E2E2E"/>
                          </a:solidFill>
                          <a:latin typeface="Calibri"/>
                        </a:rPr>
                        <a:t>171.3</a:t>
                      </a:r>
                    </a:p>
                  </a:txBody>
                  <a:tcPr marL="85725" marR="38100" marT="19050" marB="19050" anchor="ctr">
                    <a:solidFill>
                      <a:srgbClr val="FFFFFF"/>
                    </a:solidFill>
                  </a:tcPr>
                </a:tc>
                <a:tc>
                  <a:txBody>
                    <a:bodyPr wrap="none"/>
                    <a:lstStyle/>
                    <a:p>
                      <a:pPr algn="l"/>
                      <a:r>
                        <a:rPr sz="800" b="0">
                          <a:solidFill>
                            <a:srgbClr val="2E2E2E"/>
                          </a:solidFill>
                          <a:latin typeface="Calibri"/>
                        </a:rPr>
                        <a:t>9.0%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800" b="0">
                          <a:solidFill>
                            <a:srgbClr val="2E2E2E"/>
                          </a:solidFill>
                          <a:latin typeface="Calibri"/>
                        </a:rPr>
                        <a:t>49.6</a:t>
                      </a:r>
                    </a:p>
                  </a:txBody>
                  <a:tcPr marL="85725" marR="38100" marT="19050" marB="19050" anchor="ctr">
                    <a:solidFill>
                      <a:srgbClr val="F5F8FA"/>
                    </a:solidFill>
                  </a:tcPr>
                </a:tc>
                <a:tc>
                  <a:txBody>
                    <a:bodyPr wrap="none"/>
                    <a:lstStyle/>
                    <a:p>
                      <a:pPr algn="l"/>
                      <a:r>
                        <a:rPr sz="800" b="0">
                          <a:solidFill>
                            <a:srgbClr val="2E2E2E"/>
                          </a:solidFill>
                          <a:latin typeface="Calibri"/>
                        </a:rPr>
                        <a:t>55.3</a:t>
                      </a:r>
                    </a:p>
                  </a:txBody>
                  <a:tcPr marL="85725" marR="38100" marT="19050" marB="19050" anchor="ctr">
                    <a:solidFill>
                      <a:srgbClr val="F5F8FA"/>
                    </a:solidFill>
                  </a:tcPr>
                </a:tc>
                <a:tc>
                  <a:txBody>
                    <a:bodyPr wrap="none"/>
                    <a:lstStyle/>
                    <a:p>
                      <a:pPr algn="l"/>
                      <a:r>
                        <a:rPr sz="800" b="0">
                          <a:solidFill>
                            <a:srgbClr val="2E2E2E"/>
                          </a:solidFill>
                          <a:latin typeface="Calibri"/>
                        </a:rPr>
                        <a:t>65.4</a:t>
                      </a:r>
                    </a:p>
                  </a:txBody>
                  <a:tcPr marL="85725" marR="38100" marT="19050" marB="19050" anchor="ctr">
                    <a:solidFill>
                      <a:srgbClr val="F5F8FA"/>
                    </a:solidFill>
                  </a:tcPr>
                </a:tc>
                <a:tc>
                  <a:txBody>
                    <a:bodyPr wrap="none"/>
                    <a:lstStyle/>
                    <a:p>
                      <a:pPr algn="l"/>
                      <a:r>
                        <a:rPr sz="800" b="0">
                          <a:solidFill>
                            <a:srgbClr val="2E2E2E"/>
                          </a:solidFill>
                          <a:latin typeface="Calibri"/>
                        </a:rPr>
                        <a:t>79.8</a:t>
                      </a:r>
                    </a:p>
                  </a:txBody>
                  <a:tcPr marL="85725" marR="38100" marT="19050" marB="19050" anchor="ctr">
                    <a:solidFill>
                      <a:srgbClr val="F5F8FA"/>
                    </a:solidFill>
                  </a:tcPr>
                </a:tc>
                <a:tc>
                  <a:txBody>
                    <a:bodyPr wrap="none"/>
                    <a:lstStyle/>
                    <a:p>
                      <a:pPr algn="l"/>
                      <a:r>
                        <a:rPr sz="800" b="0">
                          <a:solidFill>
                            <a:srgbClr val="2E2E2E"/>
                          </a:solidFill>
                          <a:latin typeface="Calibri"/>
                        </a:rPr>
                        <a:t>95.2</a:t>
                      </a:r>
                    </a:p>
                  </a:txBody>
                  <a:tcPr marL="85725" marR="38100" marT="19050" marB="19050" anchor="ctr">
                    <a:solidFill>
                      <a:srgbClr val="F5F8FA"/>
                    </a:solidFill>
                  </a:tcPr>
                </a:tc>
                <a:tc>
                  <a:txBody>
                    <a:bodyPr wrap="none"/>
                    <a:lstStyle/>
                    <a:p>
                      <a:pPr algn="l"/>
                      <a:r>
                        <a:rPr sz="800" b="0">
                          <a:solidFill>
                            <a:srgbClr val="2E2E2E"/>
                          </a:solidFill>
                          <a:latin typeface="Calibri"/>
                        </a:rPr>
                        <a:t>110.2</a:t>
                      </a:r>
                    </a:p>
                  </a:txBody>
                  <a:tcPr marL="85725" marR="38100" marT="19050" marB="19050" anchor="ctr">
                    <a:solidFill>
                      <a:srgbClr val="F5F8FA"/>
                    </a:solidFill>
                  </a:tcPr>
                </a:tc>
                <a:tc>
                  <a:txBody>
                    <a:bodyPr wrap="none"/>
                    <a:lstStyle/>
                    <a:p>
                      <a:pPr algn="l"/>
                      <a:r>
                        <a:rPr sz="800" b="0">
                          <a:solidFill>
                            <a:srgbClr val="2E2E2E"/>
                          </a:solidFill>
                          <a:latin typeface="Calibri"/>
                        </a:rPr>
                        <a:t>125.3</a:t>
                      </a:r>
                    </a:p>
                  </a:txBody>
                  <a:tcPr marL="85725" marR="38100" marT="19050" marB="19050" anchor="ctr">
                    <a:solidFill>
                      <a:srgbClr val="F5F8FA"/>
                    </a:solidFill>
                  </a:tcPr>
                </a:tc>
                <a:tc>
                  <a:txBody>
                    <a:bodyPr wrap="none"/>
                    <a:lstStyle/>
                    <a:p>
                      <a:pPr algn="l"/>
                      <a:r>
                        <a:rPr sz="800" b="0">
                          <a:solidFill>
                            <a:srgbClr val="2E2E2E"/>
                          </a:solidFill>
                          <a:latin typeface="Calibri"/>
                        </a:rPr>
                        <a:t>139.4</a:t>
                      </a:r>
                    </a:p>
                  </a:txBody>
                  <a:tcPr marL="85725" marR="38100" marT="19050" marB="19050" anchor="ctr">
                    <a:solidFill>
                      <a:srgbClr val="F5F8FA"/>
                    </a:solidFill>
                  </a:tcPr>
                </a:tc>
                <a:tc>
                  <a:txBody>
                    <a:bodyPr wrap="none"/>
                    <a:lstStyle/>
                    <a:p>
                      <a:pPr algn="l"/>
                      <a:r>
                        <a:rPr sz="800" b="0">
                          <a:solidFill>
                            <a:srgbClr val="2E2E2E"/>
                          </a:solidFill>
                          <a:latin typeface="Calibri"/>
                        </a:rPr>
                        <a:t>153.0</a:t>
                      </a:r>
                    </a:p>
                  </a:txBody>
                  <a:tcPr marL="85725" marR="38100" marT="19050" marB="19050" anchor="ctr">
                    <a:solidFill>
                      <a:srgbClr val="F5F8FA"/>
                    </a:solidFill>
                  </a:tcPr>
                </a:tc>
                <a:tc>
                  <a:txBody>
                    <a:bodyPr wrap="none"/>
                    <a:lstStyle/>
                    <a:p>
                      <a:pPr algn="l"/>
                      <a:r>
                        <a:rPr sz="800" b="0">
                          <a:solidFill>
                            <a:srgbClr val="2E2E2E"/>
                          </a:solidFill>
                          <a:latin typeface="Calibri"/>
                        </a:rPr>
                        <a:t>165.8</a:t>
                      </a:r>
                    </a:p>
                  </a:txBody>
                  <a:tcPr marL="85725" marR="38100" marT="19050" marB="19050" anchor="ctr">
                    <a:solidFill>
                      <a:srgbClr val="F5F8FA"/>
                    </a:solidFill>
                  </a:tcPr>
                </a:tc>
                <a:tc>
                  <a:txBody>
                    <a:bodyPr wrap="none"/>
                    <a:lstStyle/>
                    <a:p>
                      <a:pPr algn="l"/>
                      <a:r>
                        <a:rPr sz="800" b="0">
                          <a:solidFill>
                            <a:srgbClr val="2E2E2E"/>
                          </a:solidFill>
                          <a:latin typeface="Calibri"/>
                        </a:rPr>
                        <a:t>177.8</a:t>
                      </a:r>
                    </a:p>
                  </a:txBody>
                  <a:tcPr marL="85725" marR="38100" marT="19050" marB="19050" anchor="ctr">
                    <a:solidFill>
                      <a:srgbClr val="F5F8FA"/>
                    </a:solidFill>
                  </a:tcPr>
                </a:tc>
                <a:tc>
                  <a:txBody>
                    <a:bodyPr wrap="none"/>
                    <a:lstStyle/>
                    <a:p>
                      <a:pPr algn="l"/>
                      <a:r>
                        <a:rPr sz="800" b="0">
                          <a:solidFill>
                            <a:srgbClr val="2E2E2E"/>
                          </a:solidFill>
                          <a:latin typeface="Calibri"/>
                        </a:rPr>
                        <a:t>189.1</a:t>
                      </a:r>
                    </a:p>
                  </a:txBody>
                  <a:tcPr marL="85725" marR="38100" marT="19050" marB="19050" anchor="ctr">
                    <a:solidFill>
                      <a:srgbClr val="F5F8FA"/>
                    </a:solidFill>
                  </a:tcPr>
                </a:tc>
                <a:tc>
                  <a:txBody>
                    <a:bodyPr wrap="none"/>
                    <a:lstStyle/>
                    <a:p>
                      <a:pPr algn="l"/>
                      <a:r>
                        <a:rPr sz="800" b="0">
                          <a:solidFill>
                            <a:srgbClr val="2E2E2E"/>
                          </a:solidFill>
                          <a:latin typeface="Calibri"/>
                        </a:rPr>
                        <a:t>199.6</a:t>
                      </a:r>
                    </a:p>
                  </a:txBody>
                  <a:tcPr marL="85725" marR="38100" marT="19050" marB="19050" anchor="ctr">
                    <a:solidFill>
                      <a:srgbClr val="F5F8FA"/>
                    </a:solidFill>
                  </a:tcPr>
                </a:tc>
                <a:tc>
                  <a:txBody>
                    <a:bodyPr wrap="none"/>
                    <a:lstStyle/>
                    <a:p>
                      <a:pPr algn="l"/>
                      <a:r>
                        <a:rPr sz="800" b="0">
                          <a:solidFill>
                            <a:srgbClr val="2E2E2E"/>
                          </a:solidFill>
                          <a:latin typeface="Calibri"/>
                        </a:rPr>
                        <a:t>209.3</a:t>
                      </a:r>
                    </a:p>
                  </a:txBody>
                  <a:tcPr marL="85725" marR="38100" marT="19050" marB="19050" anchor="ctr">
                    <a:solidFill>
                      <a:srgbClr val="F5F8FA"/>
                    </a:solidFill>
                  </a:tcPr>
                </a:tc>
                <a:tc>
                  <a:txBody>
                    <a:bodyPr wrap="none"/>
                    <a:lstStyle/>
                    <a:p>
                      <a:pPr algn="l"/>
                      <a:r>
                        <a:rPr sz="800" b="0">
                          <a:solidFill>
                            <a:srgbClr val="2E2E2E"/>
                          </a:solidFill>
                          <a:latin typeface="Calibri"/>
                        </a:rPr>
                        <a:t>218.5</a:t>
                      </a:r>
                    </a:p>
                  </a:txBody>
                  <a:tcPr marL="85725" marR="38100" marT="19050" marB="19050" anchor="ctr">
                    <a:solidFill>
                      <a:srgbClr val="F5F8FA"/>
                    </a:solidFill>
                  </a:tcPr>
                </a:tc>
                <a:tc>
                  <a:txBody>
                    <a:bodyPr wrap="none"/>
                    <a:lstStyle/>
                    <a:p>
                      <a:pPr algn="l"/>
                      <a:r>
                        <a:rPr sz="800" b="0">
                          <a:solidFill>
                            <a:srgbClr val="2E2E2E"/>
                          </a:solidFill>
                          <a:latin typeface="Calibri"/>
                        </a:rPr>
                        <a:t>227.1</a:t>
                      </a:r>
                    </a:p>
                  </a:txBody>
                  <a:tcPr marL="85725" marR="38100" marT="19050" marB="19050" anchor="ctr">
                    <a:solidFill>
                      <a:srgbClr val="F5F8FA"/>
                    </a:solidFill>
                  </a:tcPr>
                </a:tc>
                <a:tc>
                  <a:txBody>
                    <a:bodyPr wrap="none"/>
                    <a:lstStyle/>
                    <a:p>
                      <a:pPr algn="l"/>
                      <a:r>
                        <a:rPr sz="800" b="0">
                          <a:solidFill>
                            <a:srgbClr val="2E2E2E"/>
                          </a:solidFill>
                          <a:latin typeface="Calibri"/>
                        </a:rPr>
                        <a:t>7.5%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Idacio</a:t>
                      </a:r>
                    </a:p>
                  </a:txBody>
                  <a:tcPr marL="85725" marR="38100" marT="19050" marB="19050" anchor="ctr">
                    <a:solidFill>
                      <a:srgbClr val="FFFFFF"/>
                    </a:solidFill>
                  </a:tcPr>
                </a:tc>
                <a:tc>
                  <a:txBody>
                    <a:bodyPr wrap="none"/>
                    <a:lstStyle/>
                    <a:p>
                      <a:pPr algn="l"/>
                      <a:r>
                        <a:rPr sz="800" b="0">
                          <a:solidFill>
                            <a:srgbClr val="2E2E2E"/>
                          </a:solidFill>
                          <a:latin typeface="Calibri"/>
                        </a:rPr>
                        <a:t>30.8</a:t>
                      </a:r>
                    </a:p>
                  </a:txBody>
                  <a:tcPr marL="85725" marR="38100" marT="19050" marB="19050" anchor="ctr">
                    <a:solidFill>
                      <a:srgbClr val="FFFFFF"/>
                    </a:solidFill>
                  </a:tcPr>
                </a:tc>
                <a:tc>
                  <a:txBody>
                    <a:bodyPr wrap="none"/>
                    <a:lstStyle/>
                    <a:p>
                      <a:pPr algn="l"/>
                      <a:r>
                        <a:rPr sz="800" b="0">
                          <a:solidFill>
                            <a:srgbClr val="2E2E2E"/>
                          </a:solidFill>
                          <a:latin typeface="Calibri"/>
                        </a:rPr>
                        <a:t>34.7</a:t>
                      </a:r>
                    </a:p>
                  </a:txBody>
                  <a:tcPr marL="85725" marR="38100" marT="19050" marB="19050" anchor="ctr">
                    <a:solidFill>
                      <a:srgbClr val="FFFFFF"/>
                    </a:solidFill>
                  </a:tcPr>
                </a:tc>
                <a:tc>
                  <a:txBody>
                    <a:bodyPr wrap="none"/>
                    <a:lstStyle/>
                    <a:p>
                      <a:pPr algn="l"/>
                      <a:r>
                        <a:rPr sz="800" b="0">
                          <a:solidFill>
                            <a:srgbClr val="2E2E2E"/>
                          </a:solidFill>
                          <a:latin typeface="Calibri"/>
                        </a:rPr>
                        <a:t>41.4</a:t>
                      </a:r>
                    </a:p>
                  </a:txBody>
                  <a:tcPr marL="85725" marR="38100" marT="19050" marB="19050" anchor="ctr">
                    <a:solidFill>
                      <a:srgbClr val="FFFFFF"/>
                    </a:solidFill>
                  </a:tcPr>
                </a:tc>
                <a:tc>
                  <a:txBody>
                    <a:bodyPr wrap="none"/>
                    <a:lstStyle/>
                    <a:p>
                      <a:pPr algn="l"/>
                      <a:r>
                        <a:rPr sz="800" b="0">
                          <a:solidFill>
                            <a:srgbClr val="2E2E2E"/>
                          </a:solidFill>
                          <a:latin typeface="Calibri"/>
                        </a:rPr>
                        <a:t>51.0</a:t>
                      </a:r>
                    </a:p>
                  </a:txBody>
                  <a:tcPr marL="85725" marR="38100" marT="19050" marB="19050" anchor="ctr">
                    <a:solidFill>
                      <a:srgbClr val="FFFFFF"/>
                    </a:solidFill>
                  </a:tcPr>
                </a:tc>
                <a:tc>
                  <a:txBody>
                    <a:bodyPr wrap="none"/>
                    <a:lstStyle/>
                    <a:p>
                      <a:pPr algn="l"/>
                      <a:r>
                        <a:rPr sz="800" b="0">
                          <a:solidFill>
                            <a:srgbClr val="2E2E2E"/>
                          </a:solidFill>
                          <a:latin typeface="Calibri"/>
                        </a:rPr>
                        <a:t>61.4</a:t>
                      </a:r>
                    </a:p>
                  </a:txBody>
                  <a:tcPr marL="85725" marR="38100" marT="19050" marB="19050" anchor="ctr">
                    <a:solidFill>
                      <a:srgbClr val="FFFFFF"/>
                    </a:solidFill>
                  </a:tcPr>
                </a:tc>
                <a:tc>
                  <a:txBody>
                    <a:bodyPr wrap="none"/>
                    <a:lstStyle/>
                    <a:p>
                      <a:pPr algn="l"/>
                      <a:r>
                        <a:rPr sz="800" b="0">
                          <a:solidFill>
                            <a:srgbClr val="2E2E2E"/>
                          </a:solidFill>
                          <a:latin typeface="Calibri"/>
                        </a:rPr>
                        <a:t>71.8</a:t>
                      </a:r>
                    </a:p>
                  </a:txBody>
                  <a:tcPr marL="85725" marR="38100" marT="19050" marB="19050" anchor="ctr">
                    <a:solidFill>
                      <a:srgbClr val="FFFFFF"/>
                    </a:solidFill>
                  </a:tcPr>
                </a:tc>
                <a:tc>
                  <a:txBody>
                    <a:bodyPr wrap="none"/>
                    <a:lstStyle/>
                    <a:p>
                      <a:pPr algn="l"/>
                      <a:r>
                        <a:rPr sz="800" b="0">
                          <a:solidFill>
                            <a:srgbClr val="2E2E2E"/>
                          </a:solidFill>
                          <a:latin typeface="Calibri"/>
                        </a:rPr>
                        <a:t>82.3</a:t>
                      </a:r>
                    </a:p>
                  </a:txBody>
                  <a:tcPr marL="85725" marR="38100" marT="19050" marB="19050" anchor="ctr">
                    <a:solidFill>
                      <a:srgbClr val="FFFFFF"/>
                    </a:solidFill>
                  </a:tcPr>
                </a:tc>
                <a:tc>
                  <a:txBody>
                    <a:bodyPr wrap="none"/>
                    <a:lstStyle/>
                    <a:p>
                      <a:pPr algn="l"/>
                      <a:r>
                        <a:rPr sz="800" b="0">
                          <a:solidFill>
                            <a:srgbClr val="2E2E2E"/>
                          </a:solidFill>
                          <a:latin typeface="Calibri"/>
                        </a:rPr>
                        <a:t>92.5</a:t>
                      </a:r>
                    </a:p>
                  </a:txBody>
                  <a:tcPr marL="85725" marR="38100" marT="19050" marB="19050" anchor="ctr">
                    <a:solidFill>
                      <a:srgbClr val="FFFFFF"/>
                    </a:solidFill>
                  </a:tcPr>
                </a:tc>
                <a:tc>
                  <a:txBody>
                    <a:bodyPr wrap="none"/>
                    <a:lstStyle/>
                    <a:p>
                      <a:pPr algn="l"/>
                      <a:r>
                        <a:rPr sz="800" b="0">
                          <a:solidFill>
                            <a:srgbClr val="2E2E2E"/>
                          </a:solidFill>
                          <a:latin typeface="Calibri"/>
                        </a:rPr>
                        <a:t>102.5</a:t>
                      </a:r>
                    </a:p>
                  </a:txBody>
                  <a:tcPr marL="85725" marR="38100" marT="19050" marB="19050" anchor="ctr">
                    <a:solidFill>
                      <a:srgbClr val="FFFFFF"/>
                    </a:solidFill>
                  </a:tcPr>
                </a:tc>
                <a:tc>
                  <a:txBody>
                    <a:bodyPr wrap="none"/>
                    <a:lstStyle/>
                    <a:p>
                      <a:pPr algn="l"/>
                      <a:r>
                        <a:rPr sz="800" b="0">
                          <a:solidFill>
                            <a:srgbClr val="2E2E2E"/>
                          </a:solidFill>
                          <a:latin typeface="Calibri"/>
                        </a:rPr>
                        <a:t>112.1</a:t>
                      </a:r>
                    </a:p>
                  </a:txBody>
                  <a:tcPr marL="85725" marR="38100" marT="19050" marB="19050" anchor="ctr">
                    <a:solidFill>
                      <a:srgbClr val="FFFFFF"/>
                    </a:solidFill>
                  </a:tcPr>
                </a:tc>
                <a:tc>
                  <a:txBody>
                    <a:bodyPr wrap="none"/>
                    <a:lstStyle/>
                    <a:p>
                      <a:pPr algn="l"/>
                      <a:r>
                        <a:rPr sz="800" b="0">
                          <a:solidFill>
                            <a:srgbClr val="2E2E2E"/>
                          </a:solidFill>
                          <a:latin typeface="Calibri"/>
                        </a:rPr>
                        <a:t>121.4</a:t>
                      </a:r>
                    </a:p>
                  </a:txBody>
                  <a:tcPr marL="85725" marR="38100" marT="19050" marB="19050" anchor="ctr">
                    <a:solidFill>
                      <a:srgbClr val="FFFFFF"/>
                    </a:solidFill>
                  </a:tcPr>
                </a:tc>
                <a:tc>
                  <a:txBody>
                    <a:bodyPr wrap="none"/>
                    <a:lstStyle/>
                    <a:p>
                      <a:pPr algn="l"/>
                      <a:r>
                        <a:rPr sz="800" b="0">
                          <a:solidFill>
                            <a:srgbClr val="2E2E2E"/>
                          </a:solidFill>
                          <a:latin typeface="Calibri"/>
                        </a:rPr>
                        <a:t>130.3</a:t>
                      </a:r>
                    </a:p>
                  </a:txBody>
                  <a:tcPr marL="85725" marR="38100" marT="19050" marB="19050" anchor="ctr">
                    <a:solidFill>
                      <a:srgbClr val="FFFFFF"/>
                    </a:solidFill>
                  </a:tcPr>
                </a:tc>
                <a:tc>
                  <a:txBody>
                    <a:bodyPr wrap="none"/>
                    <a:lstStyle/>
                    <a:p>
                      <a:pPr algn="l"/>
                      <a:r>
                        <a:rPr sz="800" b="0">
                          <a:solidFill>
                            <a:srgbClr val="2E2E2E"/>
                          </a:solidFill>
                          <a:latin typeface="Calibri"/>
                        </a:rPr>
                        <a:t>138.8</a:t>
                      </a:r>
                    </a:p>
                  </a:txBody>
                  <a:tcPr marL="85725" marR="38100" marT="19050" marB="19050" anchor="ctr">
                    <a:solidFill>
                      <a:srgbClr val="FFFFFF"/>
                    </a:solidFill>
                  </a:tcPr>
                </a:tc>
                <a:tc>
                  <a:txBody>
                    <a:bodyPr wrap="none"/>
                    <a:lstStyle/>
                    <a:p>
                      <a:pPr algn="l"/>
                      <a:r>
                        <a:rPr sz="800" b="0">
                          <a:solidFill>
                            <a:srgbClr val="2E2E2E"/>
                          </a:solidFill>
                          <a:latin typeface="Calibri"/>
                        </a:rPr>
                        <a:t>146.9</a:t>
                      </a:r>
                    </a:p>
                  </a:txBody>
                  <a:tcPr marL="85725" marR="38100" marT="19050" marB="19050" anchor="ctr">
                    <a:solidFill>
                      <a:srgbClr val="FFFFFF"/>
                    </a:solidFill>
                  </a:tcPr>
                </a:tc>
                <a:tc>
                  <a:txBody>
                    <a:bodyPr wrap="none"/>
                    <a:lstStyle/>
                    <a:p>
                      <a:pPr algn="l"/>
                      <a:r>
                        <a:rPr sz="800" b="0">
                          <a:solidFill>
                            <a:srgbClr val="2E2E2E"/>
                          </a:solidFill>
                          <a:latin typeface="Calibri"/>
                        </a:rPr>
                        <a:t>154.8</a:t>
                      </a:r>
                    </a:p>
                  </a:txBody>
                  <a:tcPr marL="85725" marR="38100" marT="19050" marB="19050" anchor="ctr">
                    <a:solidFill>
                      <a:srgbClr val="FFFFFF"/>
                    </a:solidFill>
                  </a:tcPr>
                </a:tc>
                <a:tc>
                  <a:txBody>
                    <a:bodyPr wrap="none"/>
                    <a:lstStyle/>
                    <a:p>
                      <a:pPr algn="l"/>
                      <a:r>
                        <a:rPr sz="800" b="0">
                          <a:solidFill>
                            <a:srgbClr val="2E2E2E"/>
                          </a:solidFill>
                          <a:latin typeface="Calibri"/>
                        </a:rPr>
                        <a:t>162.4</a:t>
                      </a:r>
                    </a:p>
                  </a:txBody>
                  <a:tcPr marL="85725" marR="38100" marT="19050" marB="19050" anchor="ctr">
                    <a:solidFill>
                      <a:srgbClr val="FFFFFF"/>
                    </a:solidFill>
                  </a:tcPr>
                </a:tc>
                <a:tc>
                  <a:txBody>
                    <a:bodyPr wrap="none"/>
                    <a:lstStyle/>
                    <a:p>
                      <a:pPr algn="l"/>
                      <a:r>
                        <a:rPr sz="800" b="0">
                          <a:solidFill>
                            <a:srgbClr val="2E2E2E"/>
                          </a:solidFill>
                          <a:latin typeface="Calibri"/>
                        </a:rPr>
                        <a:t>8.5%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Hulio</a:t>
                      </a:r>
                    </a:p>
                  </a:txBody>
                  <a:tcPr marL="85725" marR="38100" marT="19050" marB="19050" anchor="ctr">
                    <a:solidFill>
                      <a:srgbClr val="F5F8FA"/>
                    </a:solidFill>
                  </a:tcPr>
                </a:tc>
                <a:tc>
                  <a:txBody>
                    <a:bodyPr wrap="none"/>
                    <a:lstStyle/>
                    <a:p>
                      <a:pPr algn="l"/>
                      <a:r>
                        <a:rPr sz="800" b="0">
                          <a:solidFill>
                            <a:srgbClr val="2E2E2E"/>
                          </a:solidFill>
                          <a:latin typeface="Calibri"/>
                        </a:rPr>
                        <a:t>44.0</a:t>
                      </a:r>
                    </a:p>
                  </a:txBody>
                  <a:tcPr marL="85725" marR="38100" marT="19050" marB="19050" anchor="ctr">
                    <a:solidFill>
                      <a:srgbClr val="F5F8FA"/>
                    </a:solidFill>
                  </a:tcPr>
                </a:tc>
                <a:tc>
                  <a:txBody>
                    <a:bodyPr wrap="none"/>
                    <a:lstStyle/>
                    <a:p>
                      <a:pPr algn="l"/>
                      <a:r>
                        <a:rPr sz="800" b="0">
                          <a:solidFill>
                            <a:srgbClr val="2E2E2E"/>
                          </a:solidFill>
                          <a:latin typeface="Calibri"/>
                        </a:rPr>
                        <a:t>50.8</a:t>
                      </a:r>
                    </a:p>
                  </a:txBody>
                  <a:tcPr marL="85725" marR="38100" marT="19050" marB="19050" anchor="ctr">
                    <a:solidFill>
                      <a:srgbClr val="F5F8FA"/>
                    </a:solidFill>
                  </a:tcPr>
                </a:tc>
                <a:tc>
                  <a:txBody>
                    <a:bodyPr wrap="none"/>
                    <a:lstStyle/>
                    <a:p>
                      <a:pPr algn="l"/>
                      <a:r>
                        <a:rPr sz="800" b="0">
                          <a:solidFill>
                            <a:srgbClr val="2E2E2E"/>
                          </a:solidFill>
                          <a:latin typeface="Calibri"/>
                        </a:rPr>
                        <a:t>62.2</a:t>
                      </a:r>
                    </a:p>
                  </a:txBody>
                  <a:tcPr marL="85725" marR="38100" marT="19050" marB="19050" anchor="ctr">
                    <a:solidFill>
                      <a:srgbClr val="F5F8FA"/>
                    </a:solidFill>
                  </a:tcPr>
                </a:tc>
                <a:tc>
                  <a:txBody>
                    <a:bodyPr wrap="none"/>
                    <a:lstStyle/>
                    <a:p>
                      <a:pPr algn="l"/>
                      <a:r>
                        <a:rPr sz="800" b="0">
                          <a:solidFill>
                            <a:srgbClr val="2E2E2E"/>
                          </a:solidFill>
                          <a:latin typeface="Calibri"/>
                        </a:rPr>
                        <a:t>78.6</a:t>
                      </a:r>
                    </a:p>
                  </a:txBody>
                  <a:tcPr marL="85725" marR="38100" marT="19050" marB="19050" anchor="ctr">
                    <a:solidFill>
                      <a:srgbClr val="F5F8FA"/>
                    </a:solidFill>
                  </a:tcPr>
                </a:tc>
                <a:tc>
                  <a:txBody>
                    <a:bodyPr wrap="none"/>
                    <a:lstStyle/>
                    <a:p>
                      <a:pPr algn="l"/>
                      <a:r>
                        <a:rPr sz="800" b="0">
                          <a:solidFill>
                            <a:srgbClr val="2E2E2E"/>
                          </a:solidFill>
                          <a:latin typeface="Calibri"/>
                        </a:rPr>
                        <a:t>97.3</a:t>
                      </a:r>
                    </a:p>
                  </a:txBody>
                  <a:tcPr marL="85725" marR="38100" marT="19050" marB="19050" anchor="ctr">
                    <a:solidFill>
                      <a:srgbClr val="F5F8FA"/>
                    </a:solidFill>
                  </a:tcPr>
                </a:tc>
                <a:tc>
                  <a:txBody>
                    <a:bodyPr wrap="none"/>
                    <a:lstStyle/>
                    <a:p>
                      <a:pPr algn="l"/>
                      <a:r>
                        <a:rPr sz="800" b="0">
                          <a:solidFill>
                            <a:srgbClr val="2E2E2E"/>
                          </a:solidFill>
                          <a:latin typeface="Calibri"/>
                        </a:rPr>
                        <a:t>116.7</a:t>
                      </a:r>
                    </a:p>
                  </a:txBody>
                  <a:tcPr marL="85725" marR="38100" marT="19050" marB="19050" anchor="ctr">
                    <a:solidFill>
                      <a:srgbClr val="F5F8FA"/>
                    </a:solidFill>
                  </a:tcPr>
                </a:tc>
                <a:tc>
                  <a:txBody>
                    <a:bodyPr wrap="none"/>
                    <a:lstStyle/>
                    <a:p>
                      <a:pPr algn="l"/>
                      <a:r>
                        <a:rPr sz="800" b="0">
                          <a:solidFill>
                            <a:srgbClr val="2E2E2E"/>
                          </a:solidFill>
                          <a:latin typeface="Calibri"/>
                        </a:rPr>
                        <a:t>137.3</a:t>
                      </a:r>
                    </a:p>
                  </a:txBody>
                  <a:tcPr marL="85725" marR="38100" marT="19050" marB="19050" anchor="ctr">
                    <a:solidFill>
                      <a:srgbClr val="F5F8FA"/>
                    </a:solidFill>
                  </a:tcPr>
                </a:tc>
                <a:tc>
                  <a:txBody>
                    <a:bodyPr wrap="none"/>
                    <a:lstStyle/>
                    <a:p>
                      <a:pPr algn="l"/>
                      <a:r>
                        <a:rPr sz="800" b="0">
                          <a:solidFill>
                            <a:srgbClr val="2E2E2E"/>
                          </a:solidFill>
                          <a:latin typeface="Calibri"/>
                        </a:rPr>
                        <a:t>158.4</a:t>
                      </a:r>
                    </a:p>
                  </a:txBody>
                  <a:tcPr marL="85725" marR="38100" marT="19050" marB="19050" anchor="ctr">
                    <a:solidFill>
                      <a:srgbClr val="F5F8FA"/>
                    </a:solidFill>
                  </a:tcPr>
                </a:tc>
                <a:tc>
                  <a:txBody>
                    <a:bodyPr wrap="none"/>
                    <a:lstStyle/>
                    <a:p>
                      <a:pPr algn="l"/>
                      <a:r>
                        <a:rPr sz="800" b="0">
                          <a:solidFill>
                            <a:srgbClr val="2E2E2E"/>
                          </a:solidFill>
                          <a:latin typeface="Calibri"/>
                        </a:rPr>
                        <a:t>180.1</a:t>
                      </a:r>
                    </a:p>
                  </a:txBody>
                  <a:tcPr marL="85725" marR="38100" marT="19050" marB="19050" anchor="ctr">
                    <a:solidFill>
                      <a:srgbClr val="F5F8FA"/>
                    </a:solidFill>
                  </a:tcPr>
                </a:tc>
                <a:tc>
                  <a:txBody>
                    <a:bodyPr wrap="none"/>
                    <a:lstStyle/>
                    <a:p>
                      <a:pPr algn="l"/>
                      <a:r>
                        <a:rPr sz="800" b="0">
                          <a:solidFill>
                            <a:srgbClr val="2E2E2E"/>
                          </a:solidFill>
                          <a:latin typeface="Calibri"/>
                        </a:rPr>
                        <a:t>202.2</a:t>
                      </a:r>
                    </a:p>
                  </a:txBody>
                  <a:tcPr marL="85725" marR="38100" marT="19050" marB="19050" anchor="ctr">
                    <a:solidFill>
                      <a:srgbClr val="F5F8FA"/>
                    </a:solidFill>
                  </a:tcPr>
                </a:tc>
                <a:tc>
                  <a:txBody>
                    <a:bodyPr wrap="none"/>
                    <a:lstStyle/>
                    <a:p>
                      <a:pPr algn="l"/>
                      <a:r>
                        <a:rPr sz="800" b="0">
                          <a:solidFill>
                            <a:srgbClr val="2E2E2E"/>
                          </a:solidFill>
                          <a:latin typeface="Calibri"/>
                        </a:rPr>
                        <a:t>224.7</a:t>
                      </a:r>
                    </a:p>
                  </a:txBody>
                  <a:tcPr marL="85725" marR="38100" marT="19050" marB="19050" anchor="ctr">
                    <a:solidFill>
                      <a:srgbClr val="F5F8FA"/>
                    </a:solidFill>
                  </a:tcPr>
                </a:tc>
                <a:tc>
                  <a:txBody>
                    <a:bodyPr wrap="none"/>
                    <a:lstStyle/>
                    <a:p>
                      <a:pPr algn="l"/>
                      <a:r>
                        <a:rPr sz="800" b="0">
                          <a:solidFill>
                            <a:srgbClr val="2E2E2E"/>
                          </a:solidFill>
                          <a:latin typeface="Calibri"/>
                        </a:rPr>
                        <a:t>247.6</a:t>
                      </a:r>
                    </a:p>
                  </a:txBody>
                  <a:tcPr marL="85725" marR="38100" marT="19050" marB="19050" anchor="ctr">
                    <a:solidFill>
                      <a:srgbClr val="F5F8FA"/>
                    </a:solidFill>
                  </a:tcPr>
                </a:tc>
                <a:tc>
                  <a:txBody>
                    <a:bodyPr wrap="none"/>
                    <a:lstStyle/>
                    <a:p>
                      <a:pPr algn="l"/>
                      <a:r>
                        <a:rPr sz="800" b="0">
                          <a:solidFill>
                            <a:srgbClr val="2E2E2E"/>
                          </a:solidFill>
                          <a:latin typeface="Calibri"/>
                        </a:rPr>
                        <a:t>270.7</a:t>
                      </a:r>
                    </a:p>
                  </a:txBody>
                  <a:tcPr marL="85725" marR="38100" marT="19050" marB="19050" anchor="ctr">
                    <a:solidFill>
                      <a:srgbClr val="F5F8FA"/>
                    </a:solidFill>
                  </a:tcPr>
                </a:tc>
                <a:tc>
                  <a:txBody>
                    <a:bodyPr wrap="none"/>
                    <a:lstStyle/>
                    <a:p>
                      <a:pPr algn="l"/>
                      <a:r>
                        <a:rPr sz="800" b="0">
                          <a:solidFill>
                            <a:srgbClr val="2E2E2E"/>
                          </a:solidFill>
                          <a:latin typeface="Calibri"/>
                        </a:rPr>
                        <a:t>294.3</a:t>
                      </a:r>
                    </a:p>
                  </a:txBody>
                  <a:tcPr marL="85725" marR="38100" marT="19050" marB="19050" anchor="ctr">
                    <a:solidFill>
                      <a:srgbClr val="F5F8FA"/>
                    </a:solidFill>
                  </a:tcPr>
                </a:tc>
                <a:tc>
                  <a:txBody>
                    <a:bodyPr wrap="none"/>
                    <a:lstStyle/>
                    <a:p>
                      <a:pPr algn="l"/>
                      <a:r>
                        <a:rPr sz="800" b="0">
                          <a:solidFill>
                            <a:srgbClr val="2E2E2E"/>
                          </a:solidFill>
                          <a:latin typeface="Calibri"/>
                        </a:rPr>
                        <a:t>318.2</a:t>
                      </a:r>
                    </a:p>
                  </a:txBody>
                  <a:tcPr marL="85725" marR="38100" marT="19050" marB="19050" anchor="ctr">
                    <a:solidFill>
                      <a:srgbClr val="F5F8FA"/>
                    </a:solidFill>
                  </a:tcPr>
                </a:tc>
                <a:tc>
                  <a:txBody>
                    <a:bodyPr wrap="none"/>
                    <a:lstStyle/>
                    <a:p>
                      <a:pPr algn="l"/>
                      <a:r>
                        <a:rPr sz="800" b="0">
                          <a:solidFill>
                            <a:srgbClr val="2E2E2E"/>
                          </a:solidFill>
                          <a:latin typeface="Calibri"/>
                        </a:rPr>
                        <a:t>342.8</a:t>
                      </a:r>
                    </a:p>
                  </a:txBody>
                  <a:tcPr marL="85725" marR="38100" marT="19050" marB="19050" anchor="ctr">
                    <a:solidFill>
                      <a:srgbClr val="F5F8FA"/>
                    </a:solidFill>
                  </a:tcPr>
                </a:tc>
                <a:tc>
                  <a:txBody>
                    <a:bodyPr wrap="none"/>
                    <a:lstStyle/>
                    <a:p>
                      <a:pPr algn="l"/>
                      <a:r>
                        <a:rPr sz="800" b="0">
                          <a:solidFill>
                            <a:srgbClr val="2E2E2E"/>
                          </a:solidFill>
                          <a:latin typeface="Calibri"/>
                        </a:rPr>
                        <a:t>11.4%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800" b="0">
                          <a:solidFill>
                            <a:srgbClr val="2E2E2E"/>
                          </a:solidFill>
                          <a:latin typeface="Calibri"/>
                        </a:rPr>
                        <a:t>44.9</a:t>
                      </a:r>
                    </a:p>
                  </a:txBody>
                  <a:tcPr marL="85725" marR="38100" marT="19050" marB="19050" anchor="ctr">
                    <a:solidFill>
                      <a:srgbClr val="FFFFFF"/>
                    </a:solidFill>
                  </a:tcPr>
                </a:tc>
                <a:tc>
                  <a:txBody>
                    <a:bodyPr wrap="none"/>
                    <a:lstStyle/>
                    <a:p>
                      <a:pPr algn="l"/>
                      <a:r>
                        <a:rPr sz="800" b="0">
                          <a:solidFill>
                            <a:srgbClr val="2E2E2E"/>
                          </a:solidFill>
                          <a:latin typeface="Calibri"/>
                        </a:rPr>
                        <a:t>51.0</a:t>
                      </a:r>
                    </a:p>
                  </a:txBody>
                  <a:tcPr marL="85725" marR="38100" marT="19050" marB="19050" anchor="ctr">
                    <a:solidFill>
                      <a:srgbClr val="FFFFFF"/>
                    </a:solidFill>
                  </a:tcPr>
                </a:tc>
                <a:tc>
                  <a:txBody>
                    <a:bodyPr wrap="none"/>
                    <a:lstStyle/>
                    <a:p>
                      <a:pPr algn="l"/>
                      <a:r>
                        <a:rPr sz="800" b="0">
                          <a:solidFill>
                            <a:srgbClr val="2E2E2E"/>
                          </a:solidFill>
                          <a:latin typeface="Calibri"/>
                        </a:rPr>
                        <a:t>61.5</a:t>
                      </a:r>
                    </a:p>
                  </a:txBody>
                  <a:tcPr marL="85725" marR="38100" marT="19050" marB="19050" anchor="ctr">
                    <a:solidFill>
                      <a:srgbClr val="FFFFFF"/>
                    </a:solidFill>
                  </a:tcPr>
                </a:tc>
                <a:tc>
                  <a:txBody>
                    <a:bodyPr wrap="none"/>
                    <a:lstStyle/>
                    <a:p>
                      <a:pPr algn="l"/>
                      <a:r>
                        <a:rPr sz="800" b="0">
                          <a:solidFill>
                            <a:srgbClr val="2E2E2E"/>
                          </a:solidFill>
                          <a:latin typeface="Calibri"/>
                        </a:rPr>
                        <a:t>76.5</a:t>
                      </a:r>
                    </a:p>
                  </a:txBody>
                  <a:tcPr marL="85725" marR="38100" marT="19050" marB="19050" anchor="ctr">
                    <a:solidFill>
                      <a:srgbClr val="FFFFFF"/>
                    </a:solidFill>
                  </a:tcPr>
                </a:tc>
                <a:tc>
                  <a:txBody>
                    <a:bodyPr wrap="none"/>
                    <a:lstStyle/>
                    <a:p>
                      <a:pPr algn="l"/>
                      <a:r>
                        <a:rPr sz="800" b="0">
                          <a:solidFill>
                            <a:srgbClr val="2E2E2E"/>
                          </a:solidFill>
                          <a:latin typeface="Calibri"/>
                        </a:rPr>
                        <a:t>93.1</a:t>
                      </a:r>
                    </a:p>
                  </a:txBody>
                  <a:tcPr marL="85725" marR="38100" marT="19050" marB="19050" anchor="ctr">
                    <a:solidFill>
                      <a:srgbClr val="FFFFFF"/>
                    </a:solidFill>
                  </a:tcPr>
                </a:tc>
                <a:tc>
                  <a:txBody>
                    <a:bodyPr wrap="none"/>
                    <a:lstStyle/>
                    <a:p>
                      <a:pPr algn="l"/>
                      <a:r>
                        <a:rPr sz="800" b="0">
                          <a:solidFill>
                            <a:srgbClr val="2E2E2E"/>
                          </a:solidFill>
                          <a:latin typeface="Calibri"/>
                        </a:rPr>
                        <a:t>109.9</a:t>
                      </a:r>
                    </a:p>
                  </a:txBody>
                  <a:tcPr marL="85725" marR="38100" marT="19050" marB="19050" anchor="ctr">
                    <a:solidFill>
                      <a:srgbClr val="FFFFFF"/>
                    </a:solidFill>
                  </a:tcPr>
                </a:tc>
                <a:tc>
                  <a:txBody>
                    <a:bodyPr wrap="none"/>
                    <a:lstStyle/>
                    <a:p>
                      <a:pPr algn="l"/>
                      <a:r>
                        <a:rPr sz="800" b="0">
                          <a:solidFill>
                            <a:srgbClr val="2E2E2E"/>
                          </a:solidFill>
                          <a:latin typeface="Calibri"/>
                        </a:rPr>
                        <a:t>127.3</a:t>
                      </a:r>
                    </a:p>
                  </a:txBody>
                  <a:tcPr marL="85725" marR="38100" marT="19050" marB="19050" anchor="ctr">
                    <a:solidFill>
                      <a:srgbClr val="FFFFFF"/>
                    </a:solidFill>
                  </a:tcPr>
                </a:tc>
                <a:tc>
                  <a:txBody>
                    <a:bodyPr wrap="none"/>
                    <a:lstStyle/>
                    <a:p>
                      <a:pPr algn="l"/>
                      <a:r>
                        <a:rPr sz="800" b="0">
                          <a:solidFill>
                            <a:srgbClr val="2E2E2E"/>
                          </a:solidFill>
                          <a:latin typeface="Calibri"/>
                        </a:rPr>
                        <a:t>144.5</a:t>
                      </a:r>
                    </a:p>
                  </a:txBody>
                  <a:tcPr marL="85725" marR="38100" marT="19050" marB="19050" anchor="ctr">
                    <a:solidFill>
                      <a:srgbClr val="FFFFFF"/>
                    </a:solidFill>
                  </a:tcPr>
                </a:tc>
                <a:tc>
                  <a:txBody>
                    <a:bodyPr wrap="none"/>
                    <a:lstStyle/>
                    <a:p>
                      <a:pPr algn="l"/>
                      <a:r>
                        <a:rPr sz="800" b="0">
                          <a:solidFill>
                            <a:srgbClr val="2E2E2E"/>
                          </a:solidFill>
                          <a:latin typeface="Calibri"/>
                        </a:rPr>
                        <a:t>161.6</a:t>
                      </a:r>
                    </a:p>
                  </a:txBody>
                  <a:tcPr marL="85725" marR="38100" marT="19050" marB="19050" anchor="ctr">
                    <a:solidFill>
                      <a:srgbClr val="FFFFFF"/>
                    </a:solidFill>
                  </a:tcPr>
                </a:tc>
                <a:tc>
                  <a:txBody>
                    <a:bodyPr wrap="none"/>
                    <a:lstStyle/>
                    <a:p>
                      <a:pPr algn="l"/>
                      <a:r>
                        <a:rPr sz="800" b="0">
                          <a:solidFill>
                            <a:srgbClr val="2E2E2E"/>
                          </a:solidFill>
                          <a:latin typeface="Calibri"/>
                        </a:rPr>
                        <a:t>178.5</a:t>
                      </a:r>
                    </a:p>
                  </a:txBody>
                  <a:tcPr marL="85725" marR="38100" marT="19050" marB="19050" anchor="ctr">
                    <a:solidFill>
                      <a:srgbClr val="FFFFFF"/>
                    </a:solidFill>
                  </a:tcPr>
                </a:tc>
                <a:tc>
                  <a:txBody>
                    <a:bodyPr wrap="none"/>
                    <a:lstStyle/>
                    <a:p>
                      <a:pPr algn="l"/>
                      <a:r>
                        <a:rPr sz="800" b="0">
                          <a:solidFill>
                            <a:srgbClr val="2E2E2E"/>
                          </a:solidFill>
                          <a:latin typeface="Calibri"/>
                        </a:rPr>
                        <a:t>195.2</a:t>
                      </a:r>
                    </a:p>
                  </a:txBody>
                  <a:tcPr marL="85725" marR="38100" marT="19050" marB="19050" anchor="ctr">
                    <a:solidFill>
                      <a:srgbClr val="FFFFFF"/>
                    </a:solidFill>
                  </a:tcPr>
                </a:tc>
                <a:tc>
                  <a:txBody>
                    <a:bodyPr wrap="none"/>
                    <a:lstStyle/>
                    <a:p>
                      <a:pPr algn="l"/>
                      <a:r>
                        <a:rPr sz="800" b="0">
                          <a:solidFill>
                            <a:srgbClr val="2E2E2E"/>
                          </a:solidFill>
                          <a:latin typeface="Calibri"/>
                        </a:rPr>
                        <a:t>211.6</a:t>
                      </a:r>
                    </a:p>
                  </a:txBody>
                  <a:tcPr marL="85725" marR="38100" marT="19050" marB="19050" anchor="ctr">
                    <a:solidFill>
                      <a:srgbClr val="FFFFFF"/>
                    </a:solidFill>
                  </a:tcPr>
                </a:tc>
                <a:tc>
                  <a:txBody>
                    <a:bodyPr wrap="none"/>
                    <a:lstStyle/>
                    <a:p>
                      <a:pPr algn="l"/>
                      <a:r>
                        <a:rPr sz="800" b="0">
                          <a:solidFill>
                            <a:srgbClr val="2E2E2E"/>
                          </a:solidFill>
                          <a:latin typeface="Calibri"/>
                        </a:rPr>
                        <a:t>227.7</a:t>
                      </a:r>
                    </a:p>
                  </a:txBody>
                  <a:tcPr marL="85725" marR="38100" marT="19050" marB="19050" anchor="ctr">
                    <a:solidFill>
                      <a:srgbClr val="FFFFFF"/>
                    </a:solidFill>
                  </a:tcPr>
                </a:tc>
                <a:tc>
                  <a:txBody>
                    <a:bodyPr wrap="none"/>
                    <a:lstStyle/>
                    <a:p>
                      <a:pPr algn="l"/>
                      <a:r>
                        <a:rPr sz="800" b="0">
                          <a:solidFill>
                            <a:srgbClr val="2E2E2E"/>
                          </a:solidFill>
                          <a:latin typeface="Calibri"/>
                        </a:rPr>
                        <a:t>243.5</a:t>
                      </a:r>
                    </a:p>
                  </a:txBody>
                  <a:tcPr marL="85725" marR="38100" marT="19050" marB="19050" anchor="ctr">
                    <a:solidFill>
                      <a:srgbClr val="FFFFFF"/>
                    </a:solidFill>
                  </a:tcPr>
                </a:tc>
                <a:tc>
                  <a:txBody>
                    <a:bodyPr wrap="none"/>
                    <a:lstStyle/>
                    <a:p>
                      <a:pPr algn="l"/>
                      <a:r>
                        <a:rPr sz="800" b="0">
                          <a:solidFill>
                            <a:srgbClr val="2E2E2E"/>
                          </a:solidFill>
                          <a:latin typeface="Calibri"/>
                        </a:rPr>
                        <a:t>259.0</a:t>
                      </a:r>
                    </a:p>
                  </a:txBody>
                  <a:tcPr marL="85725" marR="38100" marT="19050" marB="19050" anchor="ctr">
                    <a:solidFill>
                      <a:srgbClr val="FFFFFF"/>
                    </a:solidFill>
                  </a:tcPr>
                </a:tc>
                <a:tc>
                  <a:txBody>
                    <a:bodyPr wrap="none"/>
                    <a:lstStyle/>
                    <a:p>
                      <a:pPr algn="l"/>
                      <a:r>
                        <a:rPr sz="800" b="0">
                          <a:solidFill>
                            <a:srgbClr val="2E2E2E"/>
                          </a:solidFill>
                          <a:latin typeface="Calibri"/>
                        </a:rPr>
                        <a:t>274.5</a:t>
                      </a:r>
                    </a:p>
                  </a:txBody>
                  <a:tcPr marL="85725" marR="38100" marT="19050" marB="19050" anchor="ctr">
                    <a:solidFill>
                      <a:srgbClr val="FFFFFF"/>
                    </a:solidFill>
                  </a:tcPr>
                </a:tc>
                <a:tc>
                  <a:txBody>
                    <a:bodyPr wrap="none"/>
                    <a:lstStyle/>
                    <a:p>
                      <a:pPr algn="l"/>
                      <a:r>
                        <a:rPr sz="800" b="0">
                          <a:solidFill>
                            <a:srgbClr val="2E2E2E"/>
                          </a:solidFill>
                          <a:latin typeface="Calibri"/>
                        </a:rPr>
                        <a:t>9.6%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Yusimry</a:t>
                      </a:r>
                    </a:p>
                  </a:txBody>
                  <a:tcPr marL="85725" marR="38100" marT="19050" marB="19050" anchor="ctr">
                    <a:solidFill>
                      <a:srgbClr val="F5F8FA"/>
                    </a:solidFill>
                  </a:tcPr>
                </a:tc>
                <a:tc>
                  <a:txBody>
                    <a:bodyPr wrap="none"/>
                    <a:lstStyle/>
                    <a:p>
                      <a:pPr algn="l"/>
                      <a:r>
                        <a:rPr sz="800" b="0">
                          <a:solidFill>
                            <a:srgbClr val="2E2E2E"/>
                          </a:solidFill>
                          <a:latin typeface="Calibri"/>
                        </a:rPr>
                        <a:t>78.9</a:t>
                      </a:r>
                    </a:p>
                  </a:txBody>
                  <a:tcPr marL="85725" marR="38100" marT="19050" marB="19050" anchor="ctr">
                    <a:solidFill>
                      <a:srgbClr val="F5F8FA"/>
                    </a:solidFill>
                  </a:tcPr>
                </a:tc>
                <a:tc>
                  <a:txBody>
                    <a:bodyPr wrap="none"/>
                    <a:lstStyle/>
                    <a:p>
                      <a:pPr algn="l"/>
                      <a:r>
                        <a:rPr sz="800" b="0">
                          <a:solidFill>
                            <a:srgbClr val="2E2E2E"/>
                          </a:solidFill>
                          <a:latin typeface="Calibri"/>
                        </a:rPr>
                        <a:t>88.8</a:t>
                      </a:r>
                    </a:p>
                  </a:txBody>
                  <a:tcPr marL="85725" marR="38100" marT="19050" marB="19050" anchor="ctr">
                    <a:solidFill>
                      <a:srgbClr val="F5F8FA"/>
                    </a:solidFill>
                  </a:tcPr>
                </a:tc>
                <a:tc>
                  <a:txBody>
                    <a:bodyPr wrap="none"/>
                    <a:lstStyle/>
                    <a:p>
                      <a:pPr algn="l"/>
                      <a:r>
                        <a:rPr sz="800" b="0">
                          <a:solidFill>
                            <a:srgbClr val="2E2E2E"/>
                          </a:solidFill>
                          <a:latin typeface="Calibri"/>
                        </a:rPr>
                        <a:t>106.1</a:t>
                      </a:r>
                    </a:p>
                  </a:txBody>
                  <a:tcPr marL="85725" marR="38100" marT="19050" marB="19050" anchor="ctr">
                    <a:solidFill>
                      <a:srgbClr val="F5F8FA"/>
                    </a:solidFill>
                  </a:tcPr>
                </a:tc>
                <a:tc>
                  <a:txBody>
                    <a:bodyPr wrap="none"/>
                    <a:lstStyle/>
                    <a:p>
                      <a:pPr algn="l"/>
                      <a:r>
                        <a:rPr sz="800" b="0">
                          <a:solidFill>
                            <a:srgbClr val="2E2E2E"/>
                          </a:solidFill>
                          <a:latin typeface="Calibri"/>
                        </a:rPr>
                        <a:t>130.6</a:t>
                      </a:r>
                    </a:p>
                  </a:txBody>
                  <a:tcPr marL="85725" marR="38100" marT="19050" marB="19050" anchor="ctr">
                    <a:solidFill>
                      <a:srgbClr val="F5F8FA"/>
                    </a:solidFill>
                  </a:tcPr>
                </a:tc>
                <a:tc>
                  <a:txBody>
                    <a:bodyPr wrap="none"/>
                    <a:lstStyle/>
                    <a:p>
                      <a:pPr algn="l"/>
                      <a:r>
                        <a:rPr sz="800" b="0">
                          <a:solidFill>
                            <a:srgbClr val="2E2E2E"/>
                          </a:solidFill>
                          <a:latin typeface="Calibri"/>
                        </a:rPr>
                        <a:t>157.4</a:t>
                      </a:r>
                    </a:p>
                  </a:txBody>
                  <a:tcPr marL="85725" marR="38100" marT="19050" marB="19050" anchor="ctr">
                    <a:solidFill>
                      <a:srgbClr val="F5F8FA"/>
                    </a:solidFill>
                  </a:tcPr>
                </a:tc>
                <a:tc>
                  <a:txBody>
                    <a:bodyPr wrap="none"/>
                    <a:lstStyle/>
                    <a:p>
                      <a:pPr algn="l"/>
                      <a:r>
                        <a:rPr sz="800" b="0">
                          <a:solidFill>
                            <a:srgbClr val="2E2E2E"/>
                          </a:solidFill>
                          <a:latin typeface="Calibri"/>
                        </a:rPr>
                        <a:t>184.0</a:t>
                      </a:r>
                    </a:p>
                  </a:txBody>
                  <a:tcPr marL="85725" marR="38100" marT="19050" marB="19050" anchor="ctr">
                    <a:solidFill>
                      <a:srgbClr val="F5F8FA"/>
                    </a:solidFill>
                  </a:tcPr>
                </a:tc>
                <a:tc>
                  <a:txBody>
                    <a:bodyPr wrap="none"/>
                    <a:lstStyle/>
                    <a:p>
                      <a:pPr algn="l"/>
                      <a:r>
                        <a:rPr sz="800" b="0">
                          <a:solidFill>
                            <a:srgbClr val="2E2E2E"/>
                          </a:solidFill>
                          <a:latin typeface="Calibri"/>
                        </a:rPr>
                        <a:t>211.1</a:t>
                      </a:r>
                    </a:p>
                  </a:txBody>
                  <a:tcPr marL="85725" marR="38100" marT="19050" marB="19050" anchor="ctr">
                    <a:solidFill>
                      <a:srgbClr val="F5F8FA"/>
                    </a:solidFill>
                  </a:tcPr>
                </a:tc>
                <a:tc>
                  <a:txBody>
                    <a:bodyPr wrap="none"/>
                    <a:lstStyle/>
                    <a:p>
                      <a:pPr algn="l"/>
                      <a:r>
                        <a:rPr sz="800" b="0">
                          <a:solidFill>
                            <a:srgbClr val="2E2E2E"/>
                          </a:solidFill>
                          <a:latin typeface="Calibri"/>
                        </a:rPr>
                        <a:t>237.2</a:t>
                      </a:r>
                    </a:p>
                  </a:txBody>
                  <a:tcPr marL="85725" marR="38100" marT="19050" marB="19050" anchor="ctr">
                    <a:solidFill>
                      <a:srgbClr val="F5F8FA"/>
                    </a:solidFill>
                  </a:tcPr>
                </a:tc>
                <a:tc>
                  <a:txBody>
                    <a:bodyPr wrap="none"/>
                    <a:lstStyle/>
                    <a:p>
                      <a:pPr algn="l"/>
                      <a:r>
                        <a:rPr sz="800" b="0">
                          <a:solidFill>
                            <a:srgbClr val="2E2E2E"/>
                          </a:solidFill>
                          <a:latin typeface="Calibri"/>
                        </a:rPr>
                        <a:t>262.7</a:t>
                      </a:r>
                    </a:p>
                  </a:txBody>
                  <a:tcPr marL="85725" marR="38100" marT="19050" marB="19050" anchor="ctr">
                    <a:solidFill>
                      <a:srgbClr val="F5F8FA"/>
                    </a:solidFill>
                  </a:tcPr>
                </a:tc>
                <a:tc>
                  <a:txBody>
                    <a:bodyPr wrap="none"/>
                    <a:lstStyle/>
                    <a:p>
                      <a:pPr algn="l"/>
                      <a:r>
                        <a:rPr sz="800" b="0">
                          <a:solidFill>
                            <a:srgbClr val="2E2E2E"/>
                          </a:solidFill>
                          <a:latin typeface="Calibri"/>
                        </a:rPr>
                        <a:t>287.4</a:t>
                      </a:r>
                    </a:p>
                  </a:txBody>
                  <a:tcPr marL="85725" marR="38100" marT="19050" marB="19050" anchor="ctr">
                    <a:solidFill>
                      <a:srgbClr val="F5F8FA"/>
                    </a:solidFill>
                  </a:tcPr>
                </a:tc>
                <a:tc>
                  <a:txBody>
                    <a:bodyPr wrap="none"/>
                    <a:lstStyle/>
                    <a:p>
                      <a:pPr algn="l"/>
                      <a:r>
                        <a:rPr sz="800" b="0">
                          <a:solidFill>
                            <a:srgbClr val="2E2E2E"/>
                          </a:solidFill>
                          <a:latin typeface="Calibri"/>
                        </a:rPr>
                        <a:t>311.3</a:t>
                      </a:r>
                    </a:p>
                  </a:txBody>
                  <a:tcPr marL="85725" marR="38100" marT="19050" marB="19050" anchor="ctr">
                    <a:solidFill>
                      <a:srgbClr val="F5F8FA"/>
                    </a:solidFill>
                  </a:tcPr>
                </a:tc>
                <a:tc>
                  <a:txBody>
                    <a:bodyPr wrap="none"/>
                    <a:lstStyle/>
                    <a:p>
                      <a:pPr algn="l"/>
                      <a:r>
                        <a:rPr sz="800" b="0">
                          <a:solidFill>
                            <a:srgbClr val="2E2E2E"/>
                          </a:solidFill>
                          <a:latin typeface="Calibri"/>
                        </a:rPr>
                        <a:t>334.2</a:t>
                      </a:r>
                    </a:p>
                  </a:txBody>
                  <a:tcPr marL="85725" marR="38100" marT="19050" marB="19050" anchor="ctr">
                    <a:solidFill>
                      <a:srgbClr val="F5F8FA"/>
                    </a:solidFill>
                  </a:tcPr>
                </a:tc>
                <a:tc>
                  <a:txBody>
                    <a:bodyPr wrap="none"/>
                    <a:lstStyle/>
                    <a:p>
                      <a:pPr algn="l"/>
                      <a:r>
                        <a:rPr sz="800" b="0">
                          <a:solidFill>
                            <a:srgbClr val="2E2E2E"/>
                          </a:solidFill>
                          <a:latin typeface="Calibri"/>
                        </a:rPr>
                        <a:t>356.0</a:t>
                      </a:r>
                    </a:p>
                  </a:txBody>
                  <a:tcPr marL="85725" marR="38100" marT="19050" marB="19050" anchor="ctr">
                    <a:solidFill>
                      <a:srgbClr val="F5F8FA"/>
                    </a:solidFill>
                  </a:tcPr>
                </a:tc>
                <a:tc>
                  <a:txBody>
                    <a:bodyPr wrap="none"/>
                    <a:lstStyle/>
                    <a:p>
                      <a:pPr algn="l"/>
                      <a:r>
                        <a:rPr sz="800" b="0">
                          <a:solidFill>
                            <a:srgbClr val="2E2E2E"/>
                          </a:solidFill>
                          <a:latin typeface="Calibri"/>
                        </a:rPr>
                        <a:t>377.0</a:t>
                      </a:r>
                    </a:p>
                  </a:txBody>
                  <a:tcPr marL="85725" marR="38100" marT="19050" marB="19050" anchor="ctr">
                    <a:solidFill>
                      <a:srgbClr val="F5F8FA"/>
                    </a:solidFill>
                  </a:tcPr>
                </a:tc>
                <a:tc>
                  <a:txBody>
                    <a:bodyPr wrap="none"/>
                    <a:lstStyle/>
                    <a:p>
                      <a:pPr algn="l"/>
                      <a:r>
                        <a:rPr sz="800" b="0">
                          <a:solidFill>
                            <a:srgbClr val="2E2E2E"/>
                          </a:solidFill>
                          <a:latin typeface="Calibri"/>
                        </a:rPr>
                        <a:t>397.2</a:t>
                      </a:r>
                    </a:p>
                  </a:txBody>
                  <a:tcPr marL="85725" marR="38100" marT="19050" marB="19050" anchor="ctr">
                    <a:solidFill>
                      <a:srgbClr val="F5F8FA"/>
                    </a:solidFill>
                  </a:tcPr>
                </a:tc>
                <a:tc>
                  <a:txBody>
                    <a:bodyPr wrap="none"/>
                    <a:lstStyle/>
                    <a:p>
                      <a:pPr algn="l"/>
                      <a:r>
                        <a:rPr sz="800" b="0">
                          <a:solidFill>
                            <a:srgbClr val="2E2E2E"/>
                          </a:solidFill>
                          <a:latin typeface="Calibri"/>
                        </a:rPr>
                        <a:t>416.9</a:t>
                      </a:r>
                    </a:p>
                  </a:txBody>
                  <a:tcPr marL="85725" marR="38100" marT="19050" marB="19050" anchor="ctr">
                    <a:solidFill>
                      <a:srgbClr val="F5F8FA"/>
                    </a:solidFill>
                  </a:tcPr>
                </a:tc>
                <a:tc>
                  <a:txBody>
                    <a:bodyPr wrap="none"/>
                    <a:lstStyle/>
                    <a:p>
                      <a:pPr algn="l"/>
                      <a:r>
                        <a:rPr sz="800" b="0">
                          <a:solidFill>
                            <a:srgbClr val="2E2E2E"/>
                          </a:solidFill>
                          <a:latin typeface="Calibri"/>
                        </a:rPr>
                        <a:t>8.5%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Yuflyma</a:t>
                      </a:r>
                    </a:p>
                  </a:txBody>
                  <a:tcPr marL="85725" marR="38100" marT="19050" marB="19050" anchor="ctr">
                    <a:solidFill>
                      <a:srgbClr val="FFFFFF"/>
                    </a:solidFill>
                  </a:tcPr>
                </a:tc>
                <a:tc>
                  <a:txBody>
                    <a:bodyPr wrap="none"/>
                    <a:lstStyle/>
                    <a:p>
                      <a:pPr algn="l"/>
                      <a:r>
                        <a:rPr sz="800" b="0">
                          <a:solidFill>
                            <a:srgbClr val="2E2E2E"/>
                          </a:solidFill>
                          <a:latin typeface="Calibri"/>
                        </a:rPr>
                        <a:t>65.2</a:t>
                      </a:r>
                    </a:p>
                  </a:txBody>
                  <a:tcPr marL="85725" marR="38100" marT="19050" marB="19050" anchor="ctr">
                    <a:solidFill>
                      <a:srgbClr val="FFFFFF"/>
                    </a:solidFill>
                  </a:tcPr>
                </a:tc>
                <a:tc>
                  <a:txBody>
                    <a:bodyPr wrap="none"/>
                    <a:lstStyle/>
                    <a:p>
                      <a:pPr algn="l"/>
                      <a:r>
                        <a:rPr sz="800" b="0">
                          <a:solidFill>
                            <a:srgbClr val="2E2E2E"/>
                          </a:solidFill>
                          <a:latin typeface="Calibri"/>
                        </a:rPr>
                        <a:t>74.7</a:t>
                      </a:r>
                    </a:p>
                  </a:txBody>
                  <a:tcPr marL="85725" marR="38100" marT="19050" marB="19050" anchor="ctr">
                    <a:solidFill>
                      <a:srgbClr val="FFFFFF"/>
                    </a:solidFill>
                  </a:tcPr>
                </a:tc>
                <a:tc>
                  <a:txBody>
                    <a:bodyPr wrap="none"/>
                    <a:lstStyle/>
                    <a:p>
                      <a:pPr algn="l"/>
                      <a:r>
                        <a:rPr sz="800" b="0">
                          <a:solidFill>
                            <a:srgbClr val="2E2E2E"/>
                          </a:solidFill>
                          <a:latin typeface="Calibri"/>
                        </a:rPr>
                        <a:t>90.7</a:t>
                      </a:r>
                    </a:p>
                  </a:txBody>
                  <a:tcPr marL="85725" marR="38100" marT="19050" marB="19050" anchor="ctr">
                    <a:solidFill>
                      <a:srgbClr val="FFFFFF"/>
                    </a:solidFill>
                  </a:tcPr>
                </a:tc>
                <a:tc>
                  <a:txBody>
                    <a:bodyPr wrap="none"/>
                    <a:lstStyle/>
                    <a:p>
                      <a:pPr algn="l"/>
                      <a:r>
                        <a:rPr sz="800" b="0">
                          <a:solidFill>
                            <a:srgbClr val="2E2E2E"/>
                          </a:solidFill>
                          <a:latin typeface="Calibri"/>
                        </a:rPr>
                        <a:t>113.7</a:t>
                      </a:r>
                    </a:p>
                  </a:txBody>
                  <a:tcPr marL="85725" marR="38100" marT="19050" marB="19050" anchor="ctr">
                    <a:solidFill>
                      <a:srgbClr val="FFFFFF"/>
                    </a:solidFill>
                  </a:tcPr>
                </a:tc>
                <a:tc>
                  <a:txBody>
                    <a:bodyPr wrap="none"/>
                    <a:lstStyle/>
                    <a:p>
                      <a:pPr algn="l"/>
                      <a:r>
                        <a:rPr sz="800" b="0">
                          <a:solidFill>
                            <a:srgbClr val="2E2E2E"/>
                          </a:solidFill>
                          <a:latin typeface="Calibri"/>
                        </a:rPr>
                        <a:t>139.6</a:t>
                      </a:r>
                    </a:p>
                  </a:txBody>
                  <a:tcPr marL="85725" marR="38100" marT="19050" marB="19050" anchor="ctr">
                    <a:solidFill>
                      <a:srgbClr val="FFFFFF"/>
                    </a:solidFill>
                  </a:tcPr>
                </a:tc>
                <a:tc>
                  <a:txBody>
                    <a:bodyPr wrap="none"/>
                    <a:lstStyle/>
                    <a:p>
                      <a:pPr algn="l"/>
                      <a:r>
                        <a:rPr sz="800" b="0">
                          <a:solidFill>
                            <a:srgbClr val="2E2E2E"/>
                          </a:solidFill>
                          <a:latin typeface="Calibri"/>
                        </a:rPr>
                        <a:t>166.0</a:t>
                      </a:r>
                    </a:p>
                  </a:txBody>
                  <a:tcPr marL="85725" marR="38100" marT="19050" marB="19050" anchor="ctr">
                    <a:solidFill>
                      <a:srgbClr val="FFFFFF"/>
                    </a:solidFill>
                  </a:tcPr>
                </a:tc>
                <a:tc>
                  <a:txBody>
                    <a:bodyPr wrap="none"/>
                    <a:lstStyle/>
                    <a:p>
                      <a:pPr algn="l"/>
                      <a:r>
                        <a:rPr sz="800" b="0">
                          <a:solidFill>
                            <a:srgbClr val="2E2E2E"/>
                          </a:solidFill>
                          <a:latin typeface="Calibri"/>
                        </a:rPr>
                        <a:t>193.9</a:t>
                      </a:r>
                    </a:p>
                  </a:txBody>
                  <a:tcPr marL="85725" marR="38100" marT="19050" marB="19050" anchor="ctr">
                    <a:solidFill>
                      <a:srgbClr val="FFFFFF"/>
                    </a:solidFill>
                  </a:tcPr>
                </a:tc>
                <a:tc>
                  <a:txBody>
                    <a:bodyPr wrap="none"/>
                    <a:lstStyle/>
                    <a:p>
                      <a:pPr algn="l"/>
                      <a:r>
                        <a:rPr sz="800" b="0">
                          <a:solidFill>
                            <a:srgbClr val="2E2E2E"/>
                          </a:solidFill>
                          <a:latin typeface="Calibri"/>
                        </a:rPr>
                        <a:t>221.9</a:t>
                      </a:r>
                    </a:p>
                  </a:txBody>
                  <a:tcPr marL="85725" marR="38100" marT="19050" marB="19050" anchor="ctr">
                    <a:solidFill>
                      <a:srgbClr val="FFFFFF"/>
                    </a:solidFill>
                  </a:tcPr>
                </a:tc>
                <a:tc>
                  <a:txBody>
                    <a:bodyPr wrap="none"/>
                    <a:lstStyle/>
                    <a:p>
                      <a:pPr algn="l"/>
                      <a:r>
                        <a:rPr sz="800" b="0">
                          <a:solidFill>
                            <a:srgbClr val="2E2E2E"/>
                          </a:solidFill>
                          <a:latin typeface="Calibri"/>
                        </a:rPr>
                        <a:t>250.2</a:t>
                      </a:r>
                    </a:p>
                  </a:txBody>
                  <a:tcPr marL="85725" marR="38100" marT="19050" marB="19050" anchor="ctr">
                    <a:solidFill>
                      <a:srgbClr val="FFFFFF"/>
                    </a:solidFill>
                  </a:tcPr>
                </a:tc>
                <a:tc>
                  <a:txBody>
                    <a:bodyPr wrap="none"/>
                    <a:lstStyle/>
                    <a:p>
                      <a:pPr algn="l"/>
                      <a:r>
                        <a:rPr sz="800" b="0">
                          <a:solidFill>
                            <a:srgbClr val="2E2E2E"/>
                          </a:solidFill>
                          <a:latin typeface="Calibri"/>
                        </a:rPr>
                        <a:t>278.7</a:t>
                      </a:r>
                    </a:p>
                  </a:txBody>
                  <a:tcPr marL="85725" marR="38100" marT="19050" marB="19050" anchor="ctr">
                    <a:solidFill>
                      <a:srgbClr val="FFFFFF"/>
                    </a:solidFill>
                  </a:tcPr>
                </a:tc>
                <a:tc>
                  <a:txBody>
                    <a:bodyPr wrap="none"/>
                    <a:lstStyle/>
                    <a:p>
                      <a:pPr algn="l"/>
                      <a:r>
                        <a:rPr sz="800" b="0">
                          <a:solidFill>
                            <a:srgbClr val="2E2E2E"/>
                          </a:solidFill>
                          <a:latin typeface="Calibri"/>
                        </a:rPr>
                        <a:t>307.2</a:t>
                      </a:r>
                    </a:p>
                  </a:txBody>
                  <a:tcPr marL="85725" marR="38100" marT="19050" marB="19050" anchor="ctr">
                    <a:solidFill>
                      <a:srgbClr val="FFFFFF"/>
                    </a:solidFill>
                  </a:tcPr>
                </a:tc>
                <a:tc>
                  <a:txBody>
                    <a:bodyPr wrap="none"/>
                    <a:lstStyle/>
                    <a:p>
                      <a:pPr algn="l"/>
                      <a:r>
                        <a:rPr sz="800" b="0">
                          <a:solidFill>
                            <a:srgbClr val="2E2E2E"/>
                          </a:solidFill>
                          <a:latin typeface="Calibri"/>
                        </a:rPr>
                        <a:t>335.7</a:t>
                      </a:r>
                    </a:p>
                  </a:txBody>
                  <a:tcPr marL="85725" marR="38100" marT="19050" marB="19050" anchor="ctr">
                    <a:solidFill>
                      <a:srgbClr val="FFFFFF"/>
                    </a:solidFill>
                  </a:tcPr>
                </a:tc>
                <a:tc>
                  <a:txBody>
                    <a:bodyPr wrap="none"/>
                    <a:lstStyle/>
                    <a:p>
                      <a:pPr algn="l"/>
                      <a:r>
                        <a:rPr sz="800" b="0">
                          <a:solidFill>
                            <a:srgbClr val="2E2E2E"/>
                          </a:solidFill>
                          <a:latin typeface="Calibri"/>
                        </a:rPr>
                        <a:t>364.1</a:t>
                      </a:r>
                    </a:p>
                  </a:txBody>
                  <a:tcPr marL="85725" marR="38100" marT="19050" marB="19050" anchor="ctr">
                    <a:solidFill>
                      <a:srgbClr val="FFFFFF"/>
                    </a:solidFill>
                  </a:tcPr>
                </a:tc>
                <a:tc>
                  <a:txBody>
                    <a:bodyPr wrap="none"/>
                    <a:lstStyle/>
                    <a:p>
                      <a:pPr algn="l"/>
                      <a:r>
                        <a:rPr sz="800" b="0">
                          <a:solidFill>
                            <a:srgbClr val="2E2E2E"/>
                          </a:solidFill>
                          <a:latin typeface="Calibri"/>
                        </a:rPr>
                        <a:t>392.6</a:t>
                      </a:r>
                    </a:p>
                  </a:txBody>
                  <a:tcPr marL="85725" marR="38100" marT="19050" marB="19050" anchor="ctr">
                    <a:solidFill>
                      <a:srgbClr val="FFFFFF"/>
                    </a:solidFill>
                  </a:tcPr>
                </a:tc>
                <a:tc>
                  <a:txBody>
                    <a:bodyPr wrap="none"/>
                    <a:lstStyle/>
                    <a:p>
                      <a:pPr algn="l"/>
                      <a:r>
                        <a:rPr sz="800" b="0">
                          <a:solidFill>
                            <a:srgbClr val="2E2E2E"/>
                          </a:solidFill>
                          <a:latin typeface="Calibri"/>
                        </a:rPr>
                        <a:t>421.1</a:t>
                      </a:r>
                    </a:p>
                  </a:txBody>
                  <a:tcPr marL="85725" marR="38100" marT="19050" marB="19050" anchor="ctr">
                    <a:solidFill>
                      <a:srgbClr val="FFFFFF"/>
                    </a:solidFill>
                  </a:tcPr>
                </a:tc>
                <a:tc>
                  <a:txBody>
                    <a:bodyPr wrap="none"/>
                    <a:lstStyle/>
                    <a:p>
                      <a:pPr algn="l"/>
                      <a:r>
                        <a:rPr sz="800" b="0">
                          <a:solidFill>
                            <a:srgbClr val="2E2E2E"/>
                          </a:solidFill>
                          <a:latin typeface="Calibri"/>
                        </a:rPr>
                        <a:t>449.9</a:t>
                      </a:r>
                    </a:p>
                  </a:txBody>
                  <a:tcPr marL="85725" marR="38100" marT="19050" marB="19050" anchor="ctr">
                    <a:solidFill>
                      <a:srgbClr val="FFFFFF"/>
                    </a:solidFill>
                  </a:tcPr>
                </a:tc>
                <a:tc>
                  <a:txBody>
                    <a:bodyPr wrap="none"/>
                    <a:lstStyle/>
                    <a:p>
                      <a:pPr algn="l"/>
                      <a:r>
                        <a:rPr sz="800" b="0">
                          <a:solidFill>
                            <a:srgbClr val="2E2E2E"/>
                          </a:solidFill>
                          <a:latin typeface="Calibri"/>
                        </a:rPr>
                        <a:t>10.5%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Simlandi</a:t>
                      </a:r>
                    </a:p>
                  </a:txBody>
                  <a:tcPr marL="85725" marR="38100" marT="19050" marB="19050" anchor="ctr">
                    <a:solidFill>
                      <a:srgbClr val="F5F8FA"/>
                    </a:solidFill>
                  </a:tcPr>
                </a:tc>
                <a:tc>
                  <a:txBody>
                    <a:bodyPr wrap="none"/>
                    <a:lstStyle/>
                    <a:p>
                      <a:pPr algn="l"/>
                      <a:r>
                        <a:rPr sz="800" b="0">
                          <a:solidFill>
                            <a:srgbClr val="2E2E2E"/>
                          </a:solidFill>
                          <a:latin typeface="Calibri"/>
                        </a:rPr>
                        <a:t>58.3</a:t>
                      </a:r>
                    </a:p>
                  </a:txBody>
                  <a:tcPr marL="85725" marR="38100" marT="19050" marB="19050" anchor="ctr">
                    <a:solidFill>
                      <a:srgbClr val="F5F8FA"/>
                    </a:solidFill>
                  </a:tcPr>
                </a:tc>
                <a:tc>
                  <a:txBody>
                    <a:bodyPr wrap="none"/>
                    <a:lstStyle/>
                    <a:p>
                      <a:pPr algn="l"/>
                      <a:r>
                        <a:rPr sz="800" b="0">
                          <a:solidFill>
                            <a:srgbClr val="2E2E2E"/>
                          </a:solidFill>
                          <a:latin typeface="Calibri"/>
                        </a:rPr>
                        <a:t>64.8</a:t>
                      </a:r>
                    </a:p>
                  </a:txBody>
                  <a:tcPr marL="85725" marR="38100" marT="19050" marB="19050" anchor="ctr">
                    <a:solidFill>
                      <a:srgbClr val="F5F8FA"/>
                    </a:solidFill>
                  </a:tcPr>
                </a:tc>
                <a:tc>
                  <a:txBody>
                    <a:bodyPr wrap="none"/>
                    <a:lstStyle/>
                    <a:p>
                      <a:pPr algn="l"/>
                      <a:r>
                        <a:rPr sz="800" b="0">
                          <a:solidFill>
                            <a:srgbClr val="2E2E2E"/>
                          </a:solidFill>
                          <a:latin typeface="Calibri"/>
                        </a:rPr>
                        <a:t>76.4</a:t>
                      </a:r>
                    </a:p>
                  </a:txBody>
                  <a:tcPr marL="85725" marR="38100" marT="19050" marB="19050" anchor="ctr">
                    <a:solidFill>
                      <a:srgbClr val="F5F8FA"/>
                    </a:solidFill>
                  </a:tcPr>
                </a:tc>
                <a:tc>
                  <a:txBody>
                    <a:bodyPr wrap="none"/>
                    <a:lstStyle/>
                    <a:p>
                      <a:pPr algn="l"/>
                      <a:r>
                        <a:rPr sz="800" b="0">
                          <a:solidFill>
                            <a:srgbClr val="2E2E2E"/>
                          </a:solidFill>
                          <a:latin typeface="Calibri"/>
                        </a:rPr>
                        <a:t>93.0</a:t>
                      </a:r>
                    </a:p>
                  </a:txBody>
                  <a:tcPr marL="85725" marR="38100" marT="19050" marB="19050" anchor="ctr">
                    <a:solidFill>
                      <a:srgbClr val="F5F8FA"/>
                    </a:solidFill>
                  </a:tcPr>
                </a:tc>
                <a:tc>
                  <a:txBody>
                    <a:bodyPr wrap="none"/>
                    <a:lstStyle/>
                    <a:p>
                      <a:pPr algn="l"/>
                      <a:r>
                        <a:rPr sz="800" b="0">
                          <a:solidFill>
                            <a:srgbClr val="2E2E2E"/>
                          </a:solidFill>
                          <a:latin typeface="Calibri"/>
                        </a:rPr>
                        <a:t>110.7</a:t>
                      </a:r>
                    </a:p>
                  </a:txBody>
                  <a:tcPr marL="85725" marR="38100" marT="19050" marB="19050" anchor="ctr">
                    <a:solidFill>
                      <a:srgbClr val="F5F8FA"/>
                    </a:solidFill>
                  </a:tcPr>
                </a:tc>
                <a:tc>
                  <a:txBody>
                    <a:bodyPr wrap="none"/>
                    <a:lstStyle/>
                    <a:p>
                      <a:pPr algn="l"/>
                      <a:r>
                        <a:rPr sz="800" b="0">
                          <a:solidFill>
                            <a:srgbClr val="2E2E2E"/>
                          </a:solidFill>
                          <a:latin typeface="Calibri"/>
                        </a:rPr>
                        <a:t>127.9</a:t>
                      </a:r>
                    </a:p>
                  </a:txBody>
                  <a:tcPr marL="85725" marR="38100" marT="19050" marB="19050" anchor="ctr">
                    <a:solidFill>
                      <a:srgbClr val="F5F8FA"/>
                    </a:solidFill>
                  </a:tcPr>
                </a:tc>
                <a:tc>
                  <a:txBody>
                    <a:bodyPr wrap="none"/>
                    <a:lstStyle/>
                    <a:p>
                      <a:pPr algn="l"/>
                      <a:r>
                        <a:rPr sz="800" b="0">
                          <a:solidFill>
                            <a:srgbClr val="2E2E2E"/>
                          </a:solidFill>
                          <a:latin typeface="Calibri"/>
                        </a:rPr>
                        <a:t>145.0</a:t>
                      </a:r>
                    </a:p>
                  </a:txBody>
                  <a:tcPr marL="85725" marR="38100" marT="19050" marB="19050" anchor="ctr">
                    <a:solidFill>
                      <a:srgbClr val="F5F8FA"/>
                    </a:solidFill>
                  </a:tcPr>
                </a:tc>
                <a:tc>
                  <a:txBody>
                    <a:bodyPr wrap="none"/>
                    <a:lstStyle/>
                    <a:p>
                      <a:pPr algn="l"/>
                      <a:r>
                        <a:rPr sz="800" b="0">
                          <a:solidFill>
                            <a:srgbClr val="2E2E2E"/>
                          </a:solidFill>
                          <a:latin typeface="Calibri"/>
                        </a:rPr>
                        <a:t>161.0</a:t>
                      </a:r>
                    </a:p>
                  </a:txBody>
                  <a:tcPr marL="85725" marR="38100" marT="19050" marB="19050" anchor="ctr">
                    <a:solidFill>
                      <a:srgbClr val="F5F8FA"/>
                    </a:solidFill>
                  </a:tcPr>
                </a:tc>
                <a:tc>
                  <a:txBody>
                    <a:bodyPr wrap="none"/>
                    <a:lstStyle/>
                    <a:p>
                      <a:pPr algn="l"/>
                      <a:r>
                        <a:rPr sz="800" b="0">
                          <a:solidFill>
                            <a:srgbClr val="2E2E2E"/>
                          </a:solidFill>
                          <a:latin typeface="Calibri"/>
                        </a:rPr>
                        <a:t>176.2</a:t>
                      </a:r>
                    </a:p>
                  </a:txBody>
                  <a:tcPr marL="85725" marR="38100" marT="19050" marB="19050" anchor="ctr">
                    <a:solidFill>
                      <a:srgbClr val="F5F8FA"/>
                    </a:solidFill>
                  </a:tcPr>
                </a:tc>
                <a:tc>
                  <a:txBody>
                    <a:bodyPr wrap="none"/>
                    <a:lstStyle/>
                    <a:p>
                      <a:pPr algn="l"/>
                      <a:r>
                        <a:rPr sz="800" b="0">
                          <a:solidFill>
                            <a:srgbClr val="2E2E2E"/>
                          </a:solidFill>
                          <a:latin typeface="Calibri"/>
                        </a:rPr>
                        <a:t>190.4</a:t>
                      </a:r>
                    </a:p>
                  </a:txBody>
                  <a:tcPr marL="85725" marR="38100" marT="19050" marB="19050" anchor="ctr">
                    <a:solidFill>
                      <a:srgbClr val="F5F8FA"/>
                    </a:solidFill>
                  </a:tcPr>
                </a:tc>
                <a:tc>
                  <a:txBody>
                    <a:bodyPr wrap="none"/>
                    <a:lstStyle/>
                    <a:p>
                      <a:pPr algn="l"/>
                      <a:r>
                        <a:rPr sz="800" b="0">
                          <a:solidFill>
                            <a:srgbClr val="2E2E2E"/>
                          </a:solidFill>
                          <a:latin typeface="Calibri"/>
                        </a:rPr>
                        <a:t>203.8</a:t>
                      </a:r>
                    </a:p>
                  </a:txBody>
                  <a:tcPr marL="85725" marR="38100" marT="19050" marB="19050" anchor="ctr">
                    <a:solidFill>
                      <a:srgbClr val="F5F8FA"/>
                    </a:solidFill>
                  </a:tcPr>
                </a:tc>
                <a:tc>
                  <a:txBody>
                    <a:bodyPr wrap="none"/>
                    <a:lstStyle/>
                    <a:p>
                      <a:pPr algn="l"/>
                      <a:r>
                        <a:rPr sz="800" b="0">
                          <a:solidFill>
                            <a:srgbClr val="2E2E2E"/>
                          </a:solidFill>
                          <a:latin typeface="Calibri"/>
                        </a:rPr>
                        <a:t>216.1</a:t>
                      </a:r>
                    </a:p>
                  </a:txBody>
                  <a:tcPr marL="85725" marR="38100" marT="19050" marB="19050" anchor="ctr">
                    <a:solidFill>
                      <a:srgbClr val="F5F8FA"/>
                    </a:solidFill>
                  </a:tcPr>
                </a:tc>
                <a:tc>
                  <a:txBody>
                    <a:bodyPr wrap="none"/>
                    <a:lstStyle/>
                    <a:p>
                      <a:pPr algn="l"/>
                      <a:r>
                        <a:rPr sz="800" b="0">
                          <a:solidFill>
                            <a:srgbClr val="2E2E2E"/>
                          </a:solidFill>
                          <a:latin typeface="Calibri"/>
                        </a:rPr>
                        <a:t>227.5</a:t>
                      </a:r>
                    </a:p>
                  </a:txBody>
                  <a:tcPr marL="85725" marR="38100" marT="19050" marB="19050" anchor="ctr">
                    <a:solidFill>
                      <a:srgbClr val="F5F8FA"/>
                    </a:solidFill>
                  </a:tcPr>
                </a:tc>
                <a:tc>
                  <a:txBody>
                    <a:bodyPr wrap="none"/>
                    <a:lstStyle/>
                    <a:p>
                      <a:pPr algn="l"/>
                      <a:r>
                        <a:rPr sz="800" b="0">
                          <a:solidFill>
                            <a:srgbClr val="2E2E2E"/>
                          </a:solidFill>
                          <a:latin typeface="Calibri"/>
                        </a:rPr>
                        <a:t>238.1</a:t>
                      </a:r>
                    </a:p>
                  </a:txBody>
                  <a:tcPr marL="85725" marR="38100" marT="19050" marB="19050" anchor="ctr">
                    <a:solidFill>
                      <a:srgbClr val="F5F8FA"/>
                    </a:solidFill>
                  </a:tcPr>
                </a:tc>
                <a:tc>
                  <a:txBody>
                    <a:bodyPr wrap="none"/>
                    <a:lstStyle/>
                    <a:p>
                      <a:pPr algn="l"/>
                      <a:r>
                        <a:rPr sz="800" b="0">
                          <a:solidFill>
                            <a:srgbClr val="2E2E2E"/>
                          </a:solidFill>
                          <a:latin typeface="Calibri"/>
                        </a:rPr>
                        <a:t>247.9</a:t>
                      </a:r>
                    </a:p>
                  </a:txBody>
                  <a:tcPr marL="85725" marR="38100" marT="19050" marB="19050" anchor="ctr">
                    <a:solidFill>
                      <a:srgbClr val="F5F8FA"/>
                    </a:solidFill>
                  </a:tcPr>
                </a:tc>
                <a:tc>
                  <a:txBody>
                    <a:bodyPr wrap="none"/>
                    <a:lstStyle/>
                    <a:p>
                      <a:pPr algn="l"/>
                      <a:r>
                        <a:rPr sz="800" b="0">
                          <a:solidFill>
                            <a:srgbClr val="2E2E2E"/>
                          </a:solidFill>
                          <a:latin typeface="Calibri"/>
                        </a:rPr>
                        <a:t>257.0</a:t>
                      </a:r>
                    </a:p>
                  </a:txBody>
                  <a:tcPr marL="85725" marR="38100" marT="19050" marB="19050" anchor="ctr">
                    <a:solidFill>
                      <a:srgbClr val="F5F8FA"/>
                    </a:solidFill>
                  </a:tcPr>
                </a:tc>
                <a:tc>
                  <a:txBody>
                    <a:bodyPr wrap="none"/>
                    <a:lstStyle/>
                    <a:p>
                      <a:pPr algn="l"/>
                      <a:r>
                        <a:rPr sz="800" b="0">
                          <a:solidFill>
                            <a:srgbClr val="2E2E2E"/>
                          </a:solidFill>
                          <a:latin typeface="Calibri"/>
                        </a:rPr>
                        <a:t>7.2%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800" b="0">
                          <a:solidFill>
                            <a:srgbClr val="2E2E2E"/>
                          </a:solidFill>
                          <a:latin typeface="Calibri"/>
                        </a:rPr>
                        <a:t>53.3</a:t>
                      </a:r>
                    </a:p>
                  </a:txBody>
                  <a:tcPr marL="85725" marR="38100" marT="19050" marB="19050" anchor="ctr">
                    <a:solidFill>
                      <a:srgbClr val="FFFFFF"/>
                    </a:solidFill>
                  </a:tcPr>
                </a:tc>
                <a:tc>
                  <a:txBody>
                    <a:bodyPr wrap="none"/>
                    <a:lstStyle/>
                    <a:p>
                      <a:pPr algn="l"/>
                      <a:r>
                        <a:rPr sz="800" b="0">
                          <a:solidFill>
                            <a:srgbClr val="2E2E2E"/>
                          </a:solidFill>
                          <a:latin typeface="Calibri"/>
                        </a:rPr>
                        <a:t>60.3</a:t>
                      </a:r>
                    </a:p>
                  </a:txBody>
                  <a:tcPr marL="85725" marR="38100" marT="19050" marB="19050" anchor="ctr">
                    <a:solidFill>
                      <a:srgbClr val="FFFFFF"/>
                    </a:solidFill>
                  </a:tcPr>
                </a:tc>
                <a:tc>
                  <a:txBody>
                    <a:bodyPr wrap="none"/>
                    <a:lstStyle/>
                    <a:p>
                      <a:pPr algn="l"/>
                      <a:r>
                        <a:rPr sz="800" b="0">
                          <a:solidFill>
                            <a:srgbClr val="2E2E2E"/>
                          </a:solidFill>
                          <a:latin typeface="Calibri"/>
                        </a:rPr>
                        <a:t>72.4</a:t>
                      </a:r>
                    </a:p>
                  </a:txBody>
                  <a:tcPr marL="85725" marR="38100" marT="19050" marB="19050" anchor="ctr">
                    <a:solidFill>
                      <a:srgbClr val="FFFFFF"/>
                    </a:solidFill>
                  </a:tcPr>
                </a:tc>
                <a:tc>
                  <a:txBody>
                    <a:bodyPr wrap="none"/>
                    <a:lstStyle/>
                    <a:p>
                      <a:pPr algn="l"/>
                      <a:r>
                        <a:rPr sz="800" b="0">
                          <a:solidFill>
                            <a:srgbClr val="2E2E2E"/>
                          </a:solidFill>
                          <a:latin typeface="Calibri"/>
                        </a:rPr>
                        <a:t>89.7</a:t>
                      </a:r>
                    </a:p>
                  </a:txBody>
                  <a:tcPr marL="85725" marR="38100" marT="19050" marB="19050" anchor="ctr">
                    <a:solidFill>
                      <a:srgbClr val="FFFFFF"/>
                    </a:solidFill>
                  </a:tcPr>
                </a:tc>
                <a:tc>
                  <a:txBody>
                    <a:bodyPr wrap="none"/>
                    <a:lstStyle/>
                    <a:p>
                      <a:pPr algn="l"/>
                      <a:r>
                        <a:rPr sz="800" b="0">
                          <a:solidFill>
                            <a:srgbClr val="2E2E2E"/>
                          </a:solidFill>
                          <a:latin typeface="Calibri"/>
                        </a:rPr>
                        <a:t>108.6</a:t>
                      </a:r>
                    </a:p>
                  </a:txBody>
                  <a:tcPr marL="85725" marR="38100" marT="19050" marB="19050" anchor="ctr">
                    <a:solidFill>
                      <a:srgbClr val="FFFFFF"/>
                    </a:solidFill>
                  </a:tcPr>
                </a:tc>
                <a:tc>
                  <a:txBody>
                    <a:bodyPr wrap="none"/>
                    <a:lstStyle/>
                    <a:p>
                      <a:pPr algn="l"/>
                      <a:r>
                        <a:rPr sz="800" b="0">
                          <a:solidFill>
                            <a:srgbClr val="2E2E2E"/>
                          </a:solidFill>
                          <a:latin typeface="Calibri"/>
                        </a:rPr>
                        <a:t>127.7</a:t>
                      </a:r>
                    </a:p>
                  </a:txBody>
                  <a:tcPr marL="85725" marR="38100" marT="19050" marB="19050" anchor="ctr">
                    <a:solidFill>
                      <a:srgbClr val="FFFFFF"/>
                    </a:solidFill>
                  </a:tcPr>
                </a:tc>
                <a:tc>
                  <a:txBody>
                    <a:bodyPr wrap="none"/>
                    <a:lstStyle/>
                    <a:p>
                      <a:pPr algn="l"/>
                      <a:r>
                        <a:rPr sz="800" b="0">
                          <a:solidFill>
                            <a:srgbClr val="2E2E2E"/>
                          </a:solidFill>
                          <a:latin typeface="Calibri"/>
                        </a:rPr>
                        <a:t>147.3</a:t>
                      </a:r>
                    </a:p>
                  </a:txBody>
                  <a:tcPr marL="85725" marR="38100" marT="19050" marB="19050" anchor="ctr">
                    <a:solidFill>
                      <a:srgbClr val="FFFFFF"/>
                    </a:solidFill>
                  </a:tcPr>
                </a:tc>
                <a:tc>
                  <a:txBody>
                    <a:bodyPr wrap="none"/>
                    <a:lstStyle/>
                    <a:p>
                      <a:pPr algn="l"/>
                      <a:r>
                        <a:rPr sz="800" b="0">
                          <a:solidFill>
                            <a:srgbClr val="2E2E2E"/>
                          </a:solidFill>
                          <a:latin typeface="Calibri"/>
                        </a:rPr>
                        <a:t>166.4</a:t>
                      </a:r>
                    </a:p>
                  </a:txBody>
                  <a:tcPr marL="85725" marR="38100" marT="19050" marB="19050" anchor="ctr">
                    <a:solidFill>
                      <a:srgbClr val="FFFFFF"/>
                    </a:solidFill>
                  </a:tcPr>
                </a:tc>
                <a:tc>
                  <a:txBody>
                    <a:bodyPr wrap="none"/>
                    <a:lstStyle/>
                    <a:p>
                      <a:pPr algn="l"/>
                      <a:r>
                        <a:rPr sz="800" b="0">
                          <a:solidFill>
                            <a:srgbClr val="2E2E2E"/>
                          </a:solidFill>
                          <a:latin typeface="Calibri"/>
                        </a:rPr>
                        <a:t>185.3</a:t>
                      </a:r>
                    </a:p>
                  </a:txBody>
                  <a:tcPr marL="85725" marR="38100" marT="19050" marB="19050" anchor="ctr">
                    <a:solidFill>
                      <a:srgbClr val="FFFFFF"/>
                    </a:solidFill>
                  </a:tcPr>
                </a:tc>
                <a:tc>
                  <a:txBody>
                    <a:bodyPr wrap="none"/>
                    <a:lstStyle/>
                    <a:p>
                      <a:pPr algn="l"/>
                      <a:r>
                        <a:rPr sz="800" b="0">
                          <a:solidFill>
                            <a:srgbClr val="2E2E2E"/>
                          </a:solidFill>
                          <a:latin typeface="Calibri"/>
                        </a:rPr>
                        <a:t>203.9</a:t>
                      </a:r>
                    </a:p>
                  </a:txBody>
                  <a:tcPr marL="85725" marR="38100" marT="19050" marB="19050" anchor="ctr">
                    <a:solidFill>
                      <a:srgbClr val="FFFFFF"/>
                    </a:solidFill>
                  </a:tcPr>
                </a:tc>
                <a:tc>
                  <a:txBody>
                    <a:bodyPr wrap="none"/>
                    <a:lstStyle/>
                    <a:p>
                      <a:pPr algn="l"/>
                      <a:r>
                        <a:rPr sz="800" b="0">
                          <a:solidFill>
                            <a:srgbClr val="2E2E2E"/>
                          </a:solidFill>
                          <a:latin typeface="Calibri"/>
                        </a:rPr>
                        <a:t>222.0</a:t>
                      </a:r>
                    </a:p>
                  </a:txBody>
                  <a:tcPr marL="85725" marR="38100" marT="19050" marB="19050" anchor="ctr">
                    <a:solidFill>
                      <a:srgbClr val="FFFFFF"/>
                    </a:solidFill>
                  </a:tcPr>
                </a:tc>
                <a:tc>
                  <a:txBody>
                    <a:bodyPr wrap="none"/>
                    <a:lstStyle/>
                    <a:p>
                      <a:pPr algn="l"/>
                      <a:r>
                        <a:rPr sz="800" b="0">
                          <a:solidFill>
                            <a:srgbClr val="2E2E2E"/>
                          </a:solidFill>
                          <a:latin typeface="Calibri"/>
                        </a:rPr>
                        <a:t>239.7</a:t>
                      </a:r>
                    </a:p>
                  </a:txBody>
                  <a:tcPr marL="85725" marR="38100" marT="19050" marB="19050" anchor="ctr">
                    <a:solidFill>
                      <a:srgbClr val="FFFFFF"/>
                    </a:solidFill>
                  </a:tcPr>
                </a:tc>
                <a:tc>
                  <a:txBody>
                    <a:bodyPr wrap="none"/>
                    <a:lstStyle/>
                    <a:p>
                      <a:pPr algn="l"/>
                      <a:r>
                        <a:rPr sz="800" b="0">
                          <a:solidFill>
                            <a:srgbClr val="2E2E2E"/>
                          </a:solidFill>
                          <a:latin typeface="Calibri"/>
                        </a:rPr>
                        <a:t>256.7</a:t>
                      </a:r>
                    </a:p>
                  </a:txBody>
                  <a:tcPr marL="85725" marR="38100" marT="19050" marB="19050" anchor="ctr">
                    <a:solidFill>
                      <a:srgbClr val="FFFFFF"/>
                    </a:solidFill>
                  </a:tcPr>
                </a:tc>
                <a:tc>
                  <a:txBody>
                    <a:bodyPr wrap="none"/>
                    <a:lstStyle/>
                    <a:p>
                      <a:pPr algn="l"/>
                      <a:r>
                        <a:rPr sz="800" b="0">
                          <a:solidFill>
                            <a:srgbClr val="2E2E2E"/>
                          </a:solidFill>
                          <a:latin typeface="Calibri"/>
                        </a:rPr>
                        <a:t>273.4</a:t>
                      </a:r>
                    </a:p>
                  </a:txBody>
                  <a:tcPr marL="85725" marR="38100" marT="19050" marB="19050" anchor="ctr">
                    <a:solidFill>
                      <a:srgbClr val="FFFFFF"/>
                    </a:solidFill>
                  </a:tcPr>
                </a:tc>
                <a:tc>
                  <a:txBody>
                    <a:bodyPr wrap="none"/>
                    <a:lstStyle/>
                    <a:p>
                      <a:pPr algn="l"/>
                      <a:r>
                        <a:rPr sz="800" b="0">
                          <a:solidFill>
                            <a:srgbClr val="2E2E2E"/>
                          </a:solidFill>
                          <a:latin typeface="Calibri"/>
                        </a:rPr>
                        <a:t>289.7</a:t>
                      </a:r>
                    </a:p>
                  </a:txBody>
                  <a:tcPr marL="85725" marR="38100" marT="19050" marB="19050" anchor="ctr">
                    <a:solidFill>
                      <a:srgbClr val="FFFFFF"/>
                    </a:solidFill>
                  </a:tcPr>
                </a:tc>
                <a:tc>
                  <a:txBody>
                    <a:bodyPr wrap="none"/>
                    <a:lstStyle/>
                    <a:p>
                      <a:pPr algn="l"/>
                      <a:r>
                        <a:rPr sz="800" b="0">
                          <a:solidFill>
                            <a:srgbClr val="2E2E2E"/>
                          </a:solidFill>
                          <a:latin typeface="Calibri"/>
                        </a:rPr>
                        <a:t>305.7</a:t>
                      </a:r>
                    </a:p>
                  </a:txBody>
                  <a:tcPr marL="85725" marR="38100" marT="19050" marB="19050" anchor="ctr">
                    <a:solidFill>
                      <a:srgbClr val="FFFFFF"/>
                    </a:solidFill>
                  </a:tcPr>
                </a:tc>
                <a:tc>
                  <a:txBody>
                    <a:bodyPr wrap="none"/>
                    <a:lstStyle/>
                    <a:p>
                      <a:pPr algn="l"/>
                      <a:r>
                        <a:rPr sz="800" b="0">
                          <a:solidFill>
                            <a:srgbClr val="2E2E2E"/>
                          </a:solidFill>
                          <a:latin typeface="Calibri"/>
                        </a:rPr>
                        <a:t>9.1%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611.7</a:t>
                      </a:r>
                    </a:p>
                  </a:txBody>
                  <a:tcPr marL="85725" marR="38100" marT="19050" marB="19050" anchor="ctr">
                    <a:solidFill>
                      <a:srgbClr val="E0E8EF"/>
                    </a:solidFill>
                  </a:tcPr>
                </a:tc>
                <a:tc>
                  <a:txBody>
                    <a:bodyPr wrap="none"/>
                    <a:lstStyle/>
                    <a:p>
                      <a:pPr algn="l"/>
                      <a:r>
                        <a:rPr sz="800" b="1">
                          <a:solidFill>
                            <a:srgbClr val="2E2E2E"/>
                          </a:solidFill>
                          <a:latin typeface="Calibri"/>
                        </a:rPr>
                        <a:t>690.9</a:t>
                      </a:r>
                    </a:p>
                  </a:txBody>
                  <a:tcPr marL="85725" marR="38100" marT="19050" marB="19050" anchor="ctr">
                    <a:solidFill>
                      <a:srgbClr val="E0E8EF"/>
                    </a:solidFill>
                  </a:tcPr>
                </a:tc>
                <a:tc>
                  <a:txBody>
                    <a:bodyPr wrap="none"/>
                    <a:lstStyle/>
                    <a:p>
                      <a:pPr algn="l"/>
                      <a:r>
                        <a:rPr sz="800" b="1">
                          <a:solidFill>
                            <a:srgbClr val="2E2E2E"/>
                          </a:solidFill>
                          <a:latin typeface="Calibri"/>
                        </a:rPr>
                        <a:t>827.8</a:t>
                      </a:r>
                    </a:p>
                  </a:txBody>
                  <a:tcPr marL="85725" marR="38100" marT="19050" marB="19050" anchor="ctr">
                    <a:solidFill>
                      <a:srgbClr val="E0E8EF"/>
                    </a:solidFill>
                  </a:tcPr>
                </a:tc>
                <a:tc>
                  <a:txBody>
                    <a:bodyPr wrap="none"/>
                    <a:lstStyle/>
                    <a:p>
                      <a:pPr algn="l"/>
                      <a:r>
                        <a:rPr sz="800" b="1">
                          <a:solidFill>
                            <a:srgbClr val="2E2E2E"/>
                          </a:solidFill>
                          <a:latin typeface="Calibri"/>
                        </a:rPr>
                        <a:t>1,023</a:t>
                      </a:r>
                    </a:p>
                  </a:txBody>
                  <a:tcPr marL="85725" marR="38100" marT="19050" marB="19050" anchor="ctr">
                    <a:solidFill>
                      <a:srgbClr val="E0E8EF"/>
                    </a:solidFill>
                  </a:tcPr>
                </a:tc>
                <a:tc>
                  <a:txBody>
                    <a:bodyPr wrap="none"/>
                    <a:lstStyle/>
                    <a:p>
                      <a:pPr algn="l"/>
                      <a:r>
                        <a:rPr sz="800" b="1">
                          <a:solidFill>
                            <a:srgbClr val="2E2E2E"/>
                          </a:solidFill>
                          <a:latin typeface="Calibri"/>
                        </a:rPr>
                        <a:t>1,238</a:t>
                      </a:r>
                    </a:p>
                  </a:txBody>
                  <a:tcPr marL="85725" marR="38100" marT="19050" marB="19050" anchor="ctr">
                    <a:solidFill>
                      <a:srgbClr val="E0E8EF"/>
                    </a:solidFill>
                  </a:tcPr>
                </a:tc>
                <a:tc>
                  <a:txBody>
                    <a:bodyPr wrap="none"/>
                    <a:lstStyle/>
                    <a:p>
                      <a:pPr algn="l"/>
                      <a:r>
                        <a:rPr sz="800" b="1">
                          <a:solidFill>
                            <a:srgbClr val="2E2E2E"/>
                          </a:solidFill>
                          <a:latin typeface="Calibri"/>
                        </a:rPr>
                        <a:t>1,453</a:t>
                      </a:r>
                    </a:p>
                  </a:txBody>
                  <a:tcPr marL="85725" marR="38100" marT="19050" marB="19050" anchor="ctr">
                    <a:solidFill>
                      <a:srgbClr val="E0E8EF"/>
                    </a:solidFill>
                  </a:tcPr>
                </a:tc>
                <a:tc>
                  <a:txBody>
                    <a:bodyPr wrap="none"/>
                    <a:lstStyle/>
                    <a:p>
                      <a:pPr algn="l"/>
                      <a:r>
                        <a:rPr sz="800" b="1">
                          <a:solidFill>
                            <a:srgbClr val="2E2E2E"/>
                          </a:solidFill>
                          <a:latin typeface="Calibri"/>
                        </a:rPr>
                        <a:t>1,674</a:t>
                      </a:r>
                    </a:p>
                  </a:txBody>
                  <a:tcPr marL="85725" marR="38100" marT="19050" marB="19050" anchor="ctr">
                    <a:solidFill>
                      <a:srgbClr val="E0E8EF"/>
                    </a:solidFill>
                  </a:tcPr>
                </a:tc>
                <a:tc>
                  <a:txBody>
                    <a:bodyPr wrap="none"/>
                    <a:lstStyle/>
                    <a:p>
                      <a:pPr algn="l"/>
                      <a:r>
                        <a:rPr sz="800" b="1">
                          <a:solidFill>
                            <a:srgbClr val="2E2E2E"/>
                          </a:solidFill>
                          <a:latin typeface="Calibri"/>
                        </a:rPr>
                        <a:t>1,889</a:t>
                      </a:r>
                    </a:p>
                  </a:txBody>
                  <a:tcPr marL="85725" marR="38100" marT="19050" marB="19050" anchor="ctr">
                    <a:solidFill>
                      <a:srgbClr val="E0E8EF"/>
                    </a:solidFill>
                  </a:tcPr>
                </a:tc>
                <a:tc>
                  <a:txBody>
                    <a:bodyPr wrap="none"/>
                    <a:lstStyle/>
                    <a:p>
                      <a:pPr algn="l"/>
                      <a:r>
                        <a:rPr sz="800" b="1">
                          <a:solidFill>
                            <a:srgbClr val="2E2E2E"/>
                          </a:solidFill>
                          <a:latin typeface="Calibri"/>
                        </a:rPr>
                        <a:t>2,101</a:t>
                      </a:r>
                    </a:p>
                  </a:txBody>
                  <a:tcPr marL="85725" marR="38100" marT="19050" marB="19050" anchor="ctr">
                    <a:solidFill>
                      <a:srgbClr val="E0E8EF"/>
                    </a:solidFill>
                  </a:tcPr>
                </a:tc>
                <a:tc>
                  <a:txBody>
                    <a:bodyPr wrap="none"/>
                    <a:lstStyle/>
                    <a:p>
                      <a:pPr algn="l"/>
                      <a:r>
                        <a:rPr sz="800" b="1">
                          <a:solidFill>
                            <a:srgbClr val="2E2E2E"/>
                          </a:solidFill>
                          <a:latin typeface="Calibri"/>
                        </a:rPr>
                        <a:t>2,309</a:t>
                      </a:r>
                    </a:p>
                  </a:txBody>
                  <a:tcPr marL="85725" marR="38100" marT="19050" marB="19050" anchor="ctr">
                    <a:solidFill>
                      <a:srgbClr val="E0E8EF"/>
                    </a:solidFill>
                  </a:tcPr>
                </a:tc>
                <a:tc>
                  <a:txBody>
                    <a:bodyPr wrap="none"/>
                    <a:lstStyle/>
                    <a:p>
                      <a:pPr algn="l"/>
                      <a:r>
                        <a:rPr sz="800" b="1">
                          <a:solidFill>
                            <a:srgbClr val="2E2E2E"/>
                          </a:solidFill>
                          <a:latin typeface="Calibri"/>
                        </a:rPr>
                        <a:t>2,512</a:t>
                      </a:r>
                    </a:p>
                  </a:txBody>
                  <a:tcPr marL="85725" marR="38100" marT="19050" marB="19050" anchor="ctr">
                    <a:solidFill>
                      <a:srgbClr val="E0E8EF"/>
                    </a:solidFill>
                  </a:tcPr>
                </a:tc>
                <a:tc>
                  <a:txBody>
                    <a:bodyPr wrap="none"/>
                    <a:lstStyle/>
                    <a:p>
                      <a:pPr algn="l"/>
                      <a:r>
                        <a:rPr sz="800" b="1">
                          <a:solidFill>
                            <a:srgbClr val="2E2E2E"/>
                          </a:solidFill>
                          <a:latin typeface="Calibri"/>
                        </a:rPr>
                        <a:t>2,709</a:t>
                      </a:r>
                    </a:p>
                  </a:txBody>
                  <a:tcPr marL="85725" marR="38100" marT="19050" marB="19050" anchor="ctr">
                    <a:solidFill>
                      <a:srgbClr val="E0E8EF"/>
                    </a:solidFill>
                  </a:tcPr>
                </a:tc>
                <a:tc>
                  <a:txBody>
                    <a:bodyPr wrap="none"/>
                    <a:lstStyle/>
                    <a:p>
                      <a:pPr algn="l"/>
                      <a:r>
                        <a:rPr sz="800" b="1">
                          <a:solidFill>
                            <a:srgbClr val="2E2E2E"/>
                          </a:solidFill>
                          <a:latin typeface="Calibri"/>
                        </a:rPr>
                        <a:t>2,900</a:t>
                      </a:r>
                    </a:p>
                  </a:txBody>
                  <a:tcPr marL="85725" marR="38100" marT="19050" marB="19050" anchor="ctr">
                    <a:solidFill>
                      <a:srgbClr val="E0E8EF"/>
                    </a:solidFill>
                  </a:tcPr>
                </a:tc>
                <a:tc>
                  <a:txBody>
                    <a:bodyPr wrap="none"/>
                    <a:lstStyle/>
                    <a:p>
                      <a:pPr algn="l"/>
                      <a:r>
                        <a:rPr sz="800" b="1">
                          <a:solidFill>
                            <a:srgbClr val="2E2E2E"/>
                          </a:solidFill>
                          <a:latin typeface="Calibri"/>
                        </a:rPr>
                        <a:t>3,086</a:t>
                      </a:r>
                    </a:p>
                  </a:txBody>
                  <a:tcPr marL="85725" marR="38100" marT="19050" marB="19050" anchor="ctr">
                    <a:solidFill>
                      <a:srgbClr val="E0E8EF"/>
                    </a:solidFill>
                  </a:tcPr>
                </a:tc>
                <a:tc>
                  <a:txBody>
                    <a:bodyPr wrap="none"/>
                    <a:lstStyle/>
                    <a:p>
                      <a:pPr algn="l"/>
                      <a:r>
                        <a:rPr sz="800" b="1">
                          <a:solidFill>
                            <a:srgbClr val="2E2E2E"/>
                          </a:solidFill>
                          <a:latin typeface="Calibri"/>
                        </a:rPr>
                        <a:t>3,268</a:t>
                      </a:r>
                    </a:p>
                  </a:txBody>
                  <a:tcPr marL="85725" marR="38100" marT="19050" marB="19050" anchor="ctr">
                    <a:solidFill>
                      <a:srgbClr val="E0E8EF"/>
                    </a:solidFill>
                  </a:tcPr>
                </a:tc>
                <a:tc>
                  <a:txBody>
                    <a:bodyPr wrap="none"/>
                    <a:lstStyle/>
                    <a:p>
                      <a:pPr algn="l"/>
                      <a:r>
                        <a:rPr sz="800" b="1">
                          <a:solidFill>
                            <a:srgbClr val="2E2E2E"/>
                          </a:solidFill>
                          <a:latin typeface="Calibri"/>
                        </a:rPr>
                        <a:t>3,447</a:t>
                      </a:r>
                    </a:p>
                  </a:txBody>
                  <a:tcPr marL="85725" marR="38100" marT="19050" marB="19050" anchor="ctr">
                    <a:solidFill>
                      <a:srgbClr val="E0E8EF"/>
                    </a:solidFill>
                  </a:tcPr>
                </a:tc>
                <a:tc>
                  <a:txBody>
                    <a:bodyPr wrap="none"/>
                    <a:lstStyle/>
                    <a:p>
                      <a:pPr algn="l"/>
                      <a:r>
                        <a:rPr sz="800" b="1">
                          <a:solidFill>
                            <a:srgbClr val="2E2E2E"/>
                          </a:solidFill>
                          <a:latin typeface="Calibri"/>
                        </a:rPr>
                        <a:t>9.0%</a:t>
                      </a:r>
                    </a:p>
                  </a:txBody>
                  <a:tcPr marL="85725" marR="38100" marT="19050" marB="19050" anchor="ctr">
                    <a:solidFill>
                      <a:srgbClr val="E0E8EF"/>
                    </a:solidFill>
                  </a:tcPr>
                </a:tc>
              </a:tr>
            </a:tbl>
          </a:graphicData>
        </a:graphic>
      </p:graphicFrame>
      <p:sp>
        <p:nvSpPr>
          <p:cNvPr id="13" name="TextBox 12"/>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4" name="Rectangle 1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6" name="Rounded Rectangle 1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7" name="Rounded Rectangle 1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YoY Analysis Product Type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Volume YoY, By Product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2171700"/>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Product Type</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800" b="1">
                          <a:solidFill>
                            <a:srgbClr val="A86F00"/>
                          </a:solidFill>
                          <a:latin typeface="Calibri"/>
                        </a:rPr>
                        <a:t>▶ 16.5%</a:t>
                      </a:r>
                    </a:p>
                  </a:txBody>
                  <a:tcPr marL="85725" marR="38100" marT="19050" marB="19050" anchor="ctr">
                    <a:solidFill>
                      <a:srgbClr val="FFFFFF"/>
                    </a:solidFill>
                  </a:tcPr>
                </a:tc>
                <a:tc>
                  <a:txBody>
                    <a:bodyPr wrap="none"/>
                    <a:lstStyle/>
                    <a:p>
                      <a:pPr algn="l"/>
                      <a:r>
                        <a:rPr sz="800" b="1">
                          <a:solidFill>
                            <a:srgbClr val="A86F00"/>
                          </a:solidFill>
                          <a:latin typeface="Calibri"/>
                        </a:rPr>
                        <a:t>▶ 23.5%</a:t>
                      </a:r>
                    </a:p>
                  </a:txBody>
                  <a:tcPr marL="85725" marR="38100" marT="19050" marB="19050" anchor="ctr">
                    <a:solidFill>
                      <a:srgbClr val="FFFFFF"/>
                    </a:solidFill>
                  </a:tcPr>
                </a:tc>
                <a:tc>
                  <a:txBody>
                    <a:bodyPr wrap="none"/>
                    <a:lstStyle/>
                    <a:p>
                      <a:pPr algn="l"/>
                      <a:r>
                        <a:rPr sz="800" b="1">
                          <a:solidFill>
                            <a:srgbClr val="A86F00"/>
                          </a:solidFill>
                          <a:latin typeface="Calibri"/>
                        </a:rPr>
                        <a:t>▶ 27.4%</a:t>
                      </a:r>
                    </a:p>
                  </a:txBody>
                  <a:tcPr marL="85725" marR="38100" marT="19050" marB="19050" anchor="ctr">
                    <a:solidFill>
                      <a:srgbClr val="FFFFFF"/>
                    </a:solidFill>
                  </a:tcPr>
                </a:tc>
                <a:tc>
                  <a:txBody>
                    <a:bodyPr wrap="none"/>
                    <a:lstStyle/>
                    <a:p>
                      <a:pPr algn="l"/>
                      <a:r>
                        <a:rPr sz="800" b="1">
                          <a:solidFill>
                            <a:srgbClr val="A86F00"/>
                          </a:solidFill>
                          <a:latin typeface="Calibri"/>
                        </a:rPr>
                        <a:t>▶ 24.7%</a:t>
                      </a:r>
                    </a:p>
                  </a:txBody>
                  <a:tcPr marL="85725" marR="38100" marT="19050" marB="19050" anchor="ctr">
                    <a:solidFill>
                      <a:srgbClr val="FFFFFF"/>
                    </a:solidFill>
                  </a:tcPr>
                </a:tc>
                <a:tc>
                  <a:txBody>
                    <a:bodyPr wrap="none"/>
                    <a:lstStyle/>
                    <a:p>
                      <a:pPr algn="l"/>
                      <a:r>
                        <a:rPr sz="800" b="1">
                          <a:solidFill>
                            <a:srgbClr val="A86F00"/>
                          </a:solidFill>
                          <a:latin typeface="Calibri"/>
                        </a:rPr>
                        <a:t>▶ 20.9%</a:t>
                      </a:r>
                    </a:p>
                  </a:txBody>
                  <a:tcPr marL="85725" marR="38100" marT="19050" marB="19050" anchor="ctr">
                    <a:solidFill>
                      <a:srgbClr val="FFFFFF"/>
                    </a:solidFill>
                  </a:tcPr>
                </a:tc>
                <a:tc>
                  <a:txBody>
                    <a:bodyPr wrap="none"/>
                    <a:lstStyle/>
                    <a:p>
                      <a:pPr algn="l"/>
                      <a:r>
                        <a:rPr sz="800" b="1">
                          <a:solidFill>
                            <a:srgbClr val="A86F00"/>
                          </a:solidFill>
                          <a:latin typeface="Calibri"/>
                        </a:rPr>
                        <a:t>▶ 18.7%</a:t>
                      </a:r>
                    </a:p>
                  </a:txBody>
                  <a:tcPr marL="85725" marR="38100" marT="19050" marB="19050" anchor="ctr">
                    <a:solidFill>
                      <a:srgbClr val="FFFFFF"/>
                    </a:solidFill>
                  </a:tcPr>
                </a:tc>
                <a:tc>
                  <a:txBody>
                    <a:bodyPr wrap="none"/>
                    <a:lstStyle/>
                    <a:p>
                      <a:pPr algn="l"/>
                      <a:r>
                        <a:rPr sz="800" b="1">
                          <a:solidFill>
                            <a:srgbClr val="A86F00"/>
                          </a:solidFill>
                          <a:latin typeface="Calibri"/>
                        </a:rPr>
                        <a:t>▶ 16.3%</a:t>
                      </a:r>
                    </a:p>
                  </a:txBody>
                  <a:tcPr marL="85725" marR="38100" marT="19050" marB="19050" anchor="ctr">
                    <a:solidFill>
                      <a:srgbClr val="FFFFFF"/>
                    </a:solidFill>
                  </a:tcPr>
                </a:tc>
                <a:tc>
                  <a:txBody>
                    <a:bodyPr wrap="none"/>
                    <a:lstStyle/>
                    <a:p>
                      <a:pPr algn="l"/>
                      <a:r>
                        <a:rPr sz="800" b="1">
                          <a:solidFill>
                            <a:srgbClr val="A86F00"/>
                          </a:solidFill>
                          <a:latin typeface="Calibri"/>
                        </a:rPr>
                        <a:t>▶ 14.6%</a:t>
                      </a:r>
                    </a:p>
                  </a:txBody>
                  <a:tcPr marL="85725" marR="38100" marT="19050" marB="19050" anchor="ctr">
                    <a:solidFill>
                      <a:srgbClr val="FFFFFF"/>
                    </a:solidFill>
                  </a:tcPr>
                </a:tc>
                <a:tc>
                  <a:txBody>
                    <a:bodyPr wrap="none"/>
                    <a:lstStyle/>
                    <a:p>
                      <a:pPr algn="l"/>
                      <a:r>
                        <a:rPr sz="800" b="1">
                          <a:solidFill>
                            <a:srgbClr val="A86F00"/>
                          </a:solidFill>
                          <a:latin typeface="Calibri"/>
                        </a:rPr>
                        <a:t>▶ 13.3%</a:t>
                      </a:r>
                    </a:p>
                  </a:txBody>
                  <a:tcPr marL="85725" marR="38100" marT="19050" marB="19050" anchor="ctr">
                    <a:solidFill>
                      <a:srgbClr val="FFFFFF"/>
                    </a:solidFill>
                  </a:tcPr>
                </a:tc>
                <a:tc>
                  <a:txBody>
                    <a:bodyPr wrap="none"/>
                    <a:lstStyle/>
                    <a:p>
                      <a:pPr algn="l"/>
                      <a:r>
                        <a:rPr sz="800" b="1">
                          <a:solidFill>
                            <a:srgbClr val="A86F00"/>
                          </a:solidFill>
                          <a:latin typeface="Calibri"/>
                        </a:rPr>
                        <a:t>▶ 12.1%</a:t>
                      </a:r>
                    </a:p>
                  </a:txBody>
                  <a:tcPr marL="85725" marR="38100" marT="19050" marB="19050" anchor="ctr">
                    <a:solidFill>
                      <a:srgbClr val="FFFFFF"/>
                    </a:solidFill>
                  </a:tcPr>
                </a:tc>
                <a:tc>
                  <a:txBody>
                    <a:bodyPr wrap="none"/>
                    <a:lstStyle/>
                    <a:p>
                      <a:pPr algn="l"/>
                      <a:r>
                        <a:rPr sz="800" b="1">
                          <a:solidFill>
                            <a:srgbClr val="A86F00"/>
                          </a:solidFill>
                          <a:latin typeface="Calibri"/>
                        </a:rPr>
                        <a:t>▶ 11.1%</a:t>
                      </a:r>
                    </a:p>
                  </a:txBody>
                  <a:tcPr marL="85725" marR="38100" marT="19050" marB="19050" anchor="ctr">
                    <a:solidFill>
                      <a:srgbClr val="FFFFFF"/>
                    </a:solidFill>
                  </a:tcPr>
                </a:tc>
                <a:tc>
                  <a:txBody>
                    <a:bodyPr wrap="none"/>
                    <a:lstStyle/>
                    <a:p>
                      <a:pPr algn="l"/>
                      <a:r>
                        <a:rPr sz="800" b="1">
                          <a:solidFill>
                            <a:srgbClr val="A86F00"/>
                          </a:solidFill>
                          <a:latin typeface="Calibri"/>
                        </a:rPr>
                        <a:t>▶ 10.3%</a:t>
                      </a:r>
                    </a:p>
                  </a:txBody>
                  <a:tcPr marL="85725" marR="38100" marT="19050" marB="19050" anchor="ctr">
                    <a:solidFill>
                      <a:srgbClr val="FFFFFF"/>
                    </a:solidFill>
                  </a:tcPr>
                </a:tc>
                <a:tc>
                  <a:txBody>
                    <a:bodyPr wrap="none"/>
                    <a:lstStyle/>
                    <a:p>
                      <a:pPr algn="l"/>
                      <a:r>
                        <a:rPr sz="800" b="1">
                          <a:solidFill>
                            <a:srgbClr val="A86F00"/>
                          </a:solidFill>
                          <a:latin typeface="Calibri"/>
                        </a:rPr>
                        <a:t>▶ 9.6%</a:t>
                      </a:r>
                    </a:p>
                  </a:txBody>
                  <a:tcPr marL="85725" marR="38100" marT="19050" marB="19050" anchor="ctr">
                    <a:solidFill>
                      <a:srgbClr val="FFFFFF"/>
                    </a:solidFill>
                  </a:tcPr>
                </a:tc>
                <a:tc>
                  <a:txBody>
                    <a:bodyPr wrap="none"/>
                    <a:lstStyle/>
                    <a:p>
                      <a:pPr algn="l"/>
                      <a:r>
                        <a:rPr sz="800" b="1">
                          <a:solidFill>
                            <a:srgbClr val="A86F00"/>
                          </a:solidFill>
                          <a:latin typeface="Calibri"/>
                        </a:rPr>
                        <a:t>▶ 9.1%</a:t>
                      </a:r>
                    </a:p>
                  </a:txBody>
                  <a:tcPr marL="85725" marR="38100" marT="19050" marB="19050" anchor="ctr">
                    <a:solidFill>
                      <a:srgbClr val="FFFFFF"/>
                    </a:solidFill>
                  </a:tcPr>
                </a:tc>
                <a:tc>
                  <a:txBody>
                    <a:bodyPr wrap="none"/>
                    <a:lstStyle/>
                    <a:p>
                      <a:pPr algn="l"/>
                      <a:r>
                        <a:rPr sz="800" b="1">
                          <a:solidFill>
                            <a:srgbClr val="A86F00"/>
                          </a:solidFill>
                          <a:latin typeface="Calibri"/>
                        </a:rPr>
                        <a:t>▶ 8.7%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Cyltezo</a:t>
                      </a:r>
                    </a:p>
                  </a:txBody>
                  <a:tcPr marL="85725" marR="38100" marT="19050" marB="19050" anchor="ctr">
                    <a:solidFill>
                      <a:srgbClr val="F5F8FA"/>
                    </a:solidFill>
                  </a:tcPr>
                </a:tc>
                <a:tc>
                  <a:txBody>
                    <a:bodyPr wrap="none"/>
                    <a:lstStyle/>
                    <a:p>
                      <a:pPr algn="l"/>
                      <a:r>
                        <a:rPr sz="800" b="1">
                          <a:solidFill>
                            <a:srgbClr val="2E7D32"/>
                          </a:solidFill>
                          <a:latin typeface="Calibri"/>
                        </a:rPr>
                        <a:t>▲ 18.5%</a:t>
                      </a:r>
                    </a:p>
                  </a:txBody>
                  <a:tcPr marL="85725" marR="38100" marT="19050" marB="19050" anchor="ctr">
                    <a:solidFill>
                      <a:srgbClr val="F5F8FA"/>
                    </a:solidFill>
                  </a:tcPr>
                </a:tc>
                <a:tc>
                  <a:txBody>
                    <a:bodyPr wrap="none"/>
                    <a:lstStyle/>
                    <a:p>
                      <a:pPr algn="l"/>
                      <a:r>
                        <a:rPr sz="800" b="1">
                          <a:solidFill>
                            <a:srgbClr val="2E7D32"/>
                          </a:solidFill>
                          <a:latin typeface="Calibri"/>
                        </a:rPr>
                        <a:t>▲ 25.7%</a:t>
                      </a:r>
                    </a:p>
                  </a:txBody>
                  <a:tcPr marL="85725" marR="38100" marT="19050" marB="19050" anchor="ctr">
                    <a:solidFill>
                      <a:srgbClr val="F5F8FA"/>
                    </a:solidFill>
                  </a:tcPr>
                </a:tc>
                <a:tc>
                  <a:txBody>
                    <a:bodyPr wrap="none"/>
                    <a:lstStyle/>
                    <a:p>
                      <a:pPr algn="l"/>
                      <a:r>
                        <a:rPr sz="800" b="1">
                          <a:solidFill>
                            <a:srgbClr val="2E7D32"/>
                          </a:solidFill>
                          <a:latin typeface="Calibri"/>
                        </a:rPr>
                        <a:t>▲ 29.7%</a:t>
                      </a:r>
                    </a:p>
                  </a:txBody>
                  <a:tcPr marL="85725" marR="38100" marT="19050" marB="19050" anchor="ctr">
                    <a:solidFill>
                      <a:srgbClr val="F5F8FA"/>
                    </a:solidFill>
                  </a:tcPr>
                </a:tc>
                <a:tc>
                  <a:txBody>
                    <a:bodyPr wrap="none"/>
                    <a:lstStyle/>
                    <a:p>
                      <a:pPr algn="l"/>
                      <a:r>
                        <a:rPr sz="800" b="1">
                          <a:solidFill>
                            <a:srgbClr val="2E7D32"/>
                          </a:solidFill>
                          <a:latin typeface="Calibri"/>
                        </a:rPr>
                        <a:t>▲ 26.9%</a:t>
                      </a:r>
                    </a:p>
                  </a:txBody>
                  <a:tcPr marL="85725" marR="38100" marT="19050" marB="19050" anchor="ctr">
                    <a:solidFill>
                      <a:srgbClr val="F5F8FA"/>
                    </a:solidFill>
                  </a:tcPr>
                </a:tc>
                <a:tc>
                  <a:txBody>
                    <a:bodyPr wrap="none"/>
                    <a:lstStyle/>
                    <a:p>
                      <a:pPr algn="l"/>
                      <a:r>
                        <a:rPr sz="800" b="1">
                          <a:solidFill>
                            <a:srgbClr val="2E7D32"/>
                          </a:solidFill>
                          <a:latin typeface="Calibri"/>
                        </a:rPr>
                        <a:t>▲ 23.1%</a:t>
                      </a:r>
                    </a:p>
                  </a:txBody>
                  <a:tcPr marL="85725" marR="38100" marT="19050" marB="19050" anchor="ctr">
                    <a:solidFill>
                      <a:srgbClr val="F5F8FA"/>
                    </a:solidFill>
                  </a:tcPr>
                </a:tc>
                <a:tc>
                  <a:txBody>
                    <a:bodyPr wrap="none"/>
                    <a:lstStyle/>
                    <a:p>
                      <a:pPr algn="l"/>
                      <a:r>
                        <a:rPr sz="800" b="1">
                          <a:solidFill>
                            <a:srgbClr val="2E7D32"/>
                          </a:solidFill>
                          <a:latin typeface="Calibri"/>
                        </a:rPr>
                        <a:t>▲ 20.8%</a:t>
                      </a:r>
                    </a:p>
                  </a:txBody>
                  <a:tcPr marL="85725" marR="38100" marT="19050" marB="19050" anchor="ctr">
                    <a:solidFill>
                      <a:srgbClr val="F5F8FA"/>
                    </a:solidFill>
                  </a:tcPr>
                </a:tc>
                <a:tc>
                  <a:txBody>
                    <a:bodyPr wrap="none"/>
                    <a:lstStyle/>
                    <a:p>
                      <a:pPr algn="l"/>
                      <a:r>
                        <a:rPr sz="800" b="1">
                          <a:solidFill>
                            <a:srgbClr val="2E7D32"/>
                          </a:solidFill>
                          <a:latin typeface="Calibri"/>
                        </a:rPr>
                        <a:t>▲ 18.3%</a:t>
                      </a:r>
                    </a:p>
                  </a:txBody>
                  <a:tcPr marL="85725" marR="38100" marT="19050" marB="19050" anchor="ctr">
                    <a:solidFill>
                      <a:srgbClr val="F5F8FA"/>
                    </a:solidFill>
                  </a:tcPr>
                </a:tc>
                <a:tc>
                  <a:txBody>
                    <a:bodyPr wrap="none"/>
                    <a:lstStyle/>
                    <a:p>
                      <a:pPr algn="l"/>
                      <a:r>
                        <a:rPr sz="800" b="1">
                          <a:solidFill>
                            <a:srgbClr val="2E7D32"/>
                          </a:solidFill>
                          <a:latin typeface="Calibri"/>
                        </a:rPr>
                        <a:t>▲ 16.6%</a:t>
                      </a:r>
                    </a:p>
                  </a:txBody>
                  <a:tcPr marL="85725" marR="38100" marT="19050" marB="19050" anchor="ctr">
                    <a:solidFill>
                      <a:srgbClr val="F5F8FA"/>
                    </a:solidFill>
                  </a:tcPr>
                </a:tc>
                <a:tc>
                  <a:txBody>
                    <a:bodyPr wrap="none"/>
                    <a:lstStyle/>
                    <a:p>
                      <a:pPr algn="l"/>
                      <a:r>
                        <a:rPr sz="800" b="1">
                          <a:solidFill>
                            <a:srgbClr val="2E7D32"/>
                          </a:solidFill>
                          <a:latin typeface="Calibri"/>
                        </a:rPr>
                        <a:t>▲ 15.2%</a:t>
                      </a:r>
                    </a:p>
                  </a:txBody>
                  <a:tcPr marL="85725" marR="38100" marT="19050" marB="19050" anchor="ctr">
                    <a:solidFill>
                      <a:srgbClr val="F5F8FA"/>
                    </a:solidFill>
                  </a:tcPr>
                </a:tc>
                <a:tc>
                  <a:txBody>
                    <a:bodyPr wrap="none"/>
                    <a:lstStyle/>
                    <a:p>
                      <a:pPr algn="l"/>
                      <a:r>
                        <a:rPr sz="800" b="1">
                          <a:solidFill>
                            <a:srgbClr val="2E7D32"/>
                          </a:solidFill>
                          <a:latin typeface="Calibri"/>
                        </a:rPr>
                        <a:t>▲ 14.0%</a:t>
                      </a:r>
                    </a:p>
                  </a:txBody>
                  <a:tcPr marL="85725" marR="38100" marT="19050" marB="19050" anchor="ctr">
                    <a:solidFill>
                      <a:srgbClr val="F5F8FA"/>
                    </a:solidFill>
                  </a:tcPr>
                </a:tc>
                <a:tc>
                  <a:txBody>
                    <a:bodyPr wrap="none"/>
                    <a:lstStyle/>
                    <a:p>
                      <a:pPr algn="l"/>
                      <a:r>
                        <a:rPr sz="800" b="1">
                          <a:solidFill>
                            <a:srgbClr val="2E7D32"/>
                          </a:solidFill>
                          <a:latin typeface="Calibri"/>
                        </a:rPr>
                        <a:t>▲ 13.1%</a:t>
                      </a:r>
                    </a:p>
                  </a:txBody>
                  <a:tcPr marL="85725" marR="38100" marT="19050" marB="19050" anchor="ctr">
                    <a:solidFill>
                      <a:srgbClr val="F5F8FA"/>
                    </a:solidFill>
                  </a:tcPr>
                </a:tc>
                <a:tc>
                  <a:txBody>
                    <a:bodyPr wrap="none"/>
                    <a:lstStyle/>
                    <a:p>
                      <a:pPr algn="l"/>
                      <a:r>
                        <a:rPr sz="800" b="1">
                          <a:solidFill>
                            <a:srgbClr val="2E7D32"/>
                          </a:solidFill>
                          <a:latin typeface="Calibri"/>
                        </a:rPr>
                        <a:t>▲ 12.2%</a:t>
                      </a:r>
                    </a:p>
                  </a:txBody>
                  <a:tcPr marL="85725" marR="38100" marT="19050" marB="19050" anchor="ctr">
                    <a:solidFill>
                      <a:srgbClr val="F5F8FA"/>
                    </a:solidFill>
                  </a:tcPr>
                </a:tc>
                <a:tc>
                  <a:txBody>
                    <a:bodyPr wrap="none"/>
                    <a:lstStyle/>
                    <a:p>
                      <a:pPr algn="l"/>
                      <a:r>
                        <a:rPr sz="800" b="1">
                          <a:solidFill>
                            <a:srgbClr val="2E7D32"/>
                          </a:solidFill>
                          <a:latin typeface="Calibri"/>
                        </a:rPr>
                        <a:t>▲ 11.6%</a:t>
                      </a:r>
                    </a:p>
                  </a:txBody>
                  <a:tcPr marL="85725" marR="38100" marT="19050" marB="19050" anchor="ctr">
                    <a:solidFill>
                      <a:srgbClr val="F5F8FA"/>
                    </a:solidFill>
                  </a:tcPr>
                </a:tc>
                <a:tc>
                  <a:txBody>
                    <a:bodyPr wrap="none"/>
                    <a:lstStyle/>
                    <a:p>
                      <a:pPr algn="l"/>
                      <a:r>
                        <a:rPr sz="800" b="1">
                          <a:solidFill>
                            <a:srgbClr val="2E7D32"/>
                          </a:solidFill>
                          <a:latin typeface="Calibri"/>
                        </a:rPr>
                        <a:t>▲ 11.0%</a:t>
                      </a:r>
                    </a:p>
                  </a:txBody>
                  <a:tcPr marL="85725" marR="38100" marT="19050" marB="19050" anchor="ctr">
                    <a:solidFill>
                      <a:srgbClr val="F5F8FA"/>
                    </a:solidFill>
                  </a:tcPr>
                </a:tc>
                <a:tc>
                  <a:txBody>
                    <a:bodyPr wrap="none"/>
                    <a:lstStyle/>
                    <a:p>
                      <a:pPr algn="l"/>
                      <a:r>
                        <a:rPr sz="800" b="1">
                          <a:solidFill>
                            <a:srgbClr val="2E7D32"/>
                          </a:solidFill>
                          <a:latin typeface="Calibri"/>
                        </a:rPr>
                        <a:t>▲ 10.6%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800" b="1">
                          <a:solidFill>
                            <a:srgbClr val="A86F00"/>
                          </a:solidFill>
                          <a:latin typeface="Calibri"/>
                        </a:rPr>
                        <a:t>▶ 14.4%</a:t>
                      </a:r>
                    </a:p>
                  </a:txBody>
                  <a:tcPr marL="85725" marR="38100" marT="19050" marB="19050" anchor="ctr">
                    <a:solidFill>
                      <a:srgbClr val="FFFFFF"/>
                    </a:solidFill>
                  </a:tcPr>
                </a:tc>
                <a:tc>
                  <a:txBody>
                    <a:bodyPr wrap="none"/>
                    <a:lstStyle/>
                    <a:p>
                      <a:pPr algn="l"/>
                      <a:r>
                        <a:rPr sz="800" b="1">
                          <a:solidFill>
                            <a:srgbClr val="A86F00"/>
                          </a:solidFill>
                          <a:latin typeface="Calibri"/>
                        </a:rPr>
                        <a:t>▶ 21.3%</a:t>
                      </a:r>
                    </a:p>
                  </a:txBody>
                  <a:tcPr marL="85725" marR="38100" marT="19050" marB="19050" anchor="ctr">
                    <a:solidFill>
                      <a:srgbClr val="FFFFFF"/>
                    </a:solidFill>
                  </a:tcPr>
                </a:tc>
                <a:tc>
                  <a:txBody>
                    <a:bodyPr wrap="none"/>
                    <a:lstStyle/>
                    <a:p>
                      <a:pPr algn="l"/>
                      <a:r>
                        <a:rPr sz="800" b="1">
                          <a:solidFill>
                            <a:srgbClr val="A86F00"/>
                          </a:solidFill>
                          <a:latin typeface="Calibri"/>
                        </a:rPr>
                        <a:t>▶ 25.1%</a:t>
                      </a:r>
                    </a:p>
                  </a:txBody>
                  <a:tcPr marL="85725" marR="38100" marT="19050" marB="19050" anchor="ctr">
                    <a:solidFill>
                      <a:srgbClr val="FFFFFF"/>
                    </a:solidFill>
                  </a:tcPr>
                </a:tc>
                <a:tc>
                  <a:txBody>
                    <a:bodyPr wrap="none"/>
                    <a:lstStyle/>
                    <a:p>
                      <a:pPr algn="l"/>
                      <a:r>
                        <a:rPr sz="800" b="1">
                          <a:solidFill>
                            <a:srgbClr val="A86F00"/>
                          </a:solidFill>
                          <a:latin typeface="Calibri"/>
                        </a:rPr>
                        <a:t>▶ 22.5%</a:t>
                      </a:r>
                    </a:p>
                  </a:txBody>
                  <a:tcPr marL="85725" marR="38100" marT="19050" marB="19050" anchor="ctr">
                    <a:solidFill>
                      <a:srgbClr val="FFFFFF"/>
                    </a:solidFill>
                  </a:tcPr>
                </a:tc>
                <a:tc>
                  <a:txBody>
                    <a:bodyPr wrap="none"/>
                    <a:lstStyle/>
                    <a:p>
                      <a:pPr algn="l"/>
                      <a:r>
                        <a:rPr sz="800" b="1">
                          <a:solidFill>
                            <a:srgbClr val="A86F00"/>
                          </a:solidFill>
                          <a:latin typeface="Calibri"/>
                        </a:rPr>
                        <a:t>▶ 18.8%</a:t>
                      </a:r>
                    </a:p>
                  </a:txBody>
                  <a:tcPr marL="85725" marR="38100" marT="19050" marB="19050" anchor="ctr">
                    <a:solidFill>
                      <a:srgbClr val="FFFFFF"/>
                    </a:solidFill>
                  </a:tcPr>
                </a:tc>
                <a:tc>
                  <a:txBody>
                    <a:bodyPr wrap="none"/>
                    <a:lstStyle/>
                    <a:p>
                      <a:pPr algn="l"/>
                      <a:r>
                        <a:rPr sz="800" b="1">
                          <a:solidFill>
                            <a:srgbClr val="A86F00"/>
                          </a:solidFill>
                          <a:latin typeface="Calibri"/>
                        </a:rPr>
                        <a:t>▶ 16.6%</a:t>
                      </a:r>
                    </a:p>
                  </a:txBody>
                  <a:tcPr marL="85725" marR="38100" marT="19050" marB="19050" anchor="ctr">
                    <a:solidFill>
                      <a:srgbClr val="FFFFFF"/>
                    </a:solidFill>
                  </a:tcPr>
                </a:tc>
                <a:tc>
                  <a:txBody>
                    <a:bodyPr wrap="none"/>
                    <a:lstStyle/>
                    <a:p>
                      <a:pPr algn="l"/>
                      <a:r>
                        <a:rPr sz="800" b="1">
                          <a:solidFill>
                            <a:srgbClr val="A86F00"/>
                          </a:solidFill>
                          <a:latin typeface="Calibri"/>
                        </a:rPr>
                        <a:t>▶ 14.2%</a:t>
                      </a:r>
                    </a:p>
                  </a:txBody>
                  <a:tcPr marL="85725" marR="38100" marT="19050" marB="19050" anchor="ctr">
                    <a:solidFill>
                      <a:srgbClr val="FFFFFF"/>
                    </a:solidFill>
                  </a:tcPr>
                </a:tc>
                <a:tc>
                  <a:txBody>
                    <a:bodyPr wrap="none"/>
                    <a:lstStyle/>
                    <a:p>
                      <a:pPr algn="l"/>
                      <a:r>
                        <a:rPr sz="800" b="1">
                          <a:solidFill>
                            <a:srgbClr val="A86F00"/>
                          </a:solidFill>
                          <a:latin typeface="Calibri"/>
                        </a:rPr>
                        <a:t>▶ 12.6%</a:t>
                      </a:r>
                    </a:p>
                  </a:txBody>
                  <a:tcPr marL="85725" marR="38100" marT="19050" marB="19050" anchor="ctr">
                    <a:solidFill>
                      <a:srgbClr val="FFFFFF"/>
                    </a:solidFill>
                  </a:tcPr>
                </a:tc>
                <a:tc>
                  <a:txBody>
                    <a:bodyPr wrap="none"/>
                    <a:lstStyle/>
                    <a:p>
                      <a:pPr algn="l"/>
                      <a:r>
                        <a:rPr sz="800" b="1">
                          <a:solidFill>
                            <a:srgbClr val="A86F00"/>
                          </a:solidFill>
                          <a:latin typeface="Calibri"/>
                        </a:rPr>
                        <a:t>▶ 11.2%</a:t>
                      </a:r>
                    </a:p>
                  </a:txBody>
                  <a:tcPr marL="85725" marR="38100" marT="19050" marB="19050" anchor="ctr">
                    <a:solidFill>
                      <a:srgbClr val="FFFFFF"/>
                    </a:solidFill>
                  </a:tcPr>
                </a:tc>
                <a:tc>
                  <a:txBody>
                    <a:bodyPr wrap="none"/>
                    <a:lstStyle/>
                    <a:p>
                      <a:pPr algn="l"/>
                      <a:r>
                        <a:rPr sz="800" b="1">
                          <a:solidFill>
                            <a:srgbClr val="A86F00"/>
                          </a:solidFill>
                          <a:latin typeface="Calibri"/>
                        </a:rPr>
                        <a:t>▶ 10.1%</a:t>
                      </a:r>
                    </a:p>
                  </a:txBody>
                  <a:tcPr marL="85725" marR="38100" marT="19050" marB="19050" anchor="ctr">
                    <a:solidFill>
                      <a:srgbClr val="FFFFFF"/>
                    </a:solidFill>
                  </a:tcPr>
                </a:tc>
                <a:tc>
                  <a:txBody>
                    <a:bodyPr wrap="none"/>
                    <a:lstStyle/>
                    <a:p>
                      <a:pPr algn="l"/>
                      <a:r>
                        <a:rPr sz="800" b="1">
                          <a:solidFill>
                            <a:srgbClr val="A86F00"/>
                          </a:solidFill>
                          <a:latin typeface="Calibri"/>
                        </a:rPr>
                        <a:t>▶ 9.1%</a:t>
                      </a:r>
                    </a:p>
                  </a:txBody>
                  <a:tcPr marL="85725" marR="38100" marT="19050" marB="19050" anchor="ctr">
                    <a:solidFill>
                      <a:srgbClr val="FFFFFF"/>
                    </a:solidFill>
                  </a:tcPr>
                </a:tc>
                <a:tc>
                  <a:txBody>
                    <a:bodyPr wrap="none"/>
                    <a:lstStyle/>
                    <a:p>
                      <a:pPr algn="l"/>
                      <a:r>
                        <a:rPr sz="800" b="1">
                          <a:solidFill>
                            <a:srgbClr val="A86F00"/>
                          </a:solidFill>
                          <a:latin typeface="Calibri"/>
                        </a:rPr>
                        <a:t>▶ 8.3%</a:t>
                      </a:r>
                    </a:p>
                  </a:txBody>
                  <a:tcPr marL="85725" marR="38100" marT="19050" marB="19050" anchor="ctr">
                    <a:solidFill>
                      <a:srgbClr val="FFFFFF"/>
                    </a:solidFill>
                  </a:tcPr>
                </a:tc>
                <a:tc>
                  <a:txBody>
                    <a:bodyPr wrap="none"/>
                    <a:lstStyle/>
                    <a:p>
                      <a:pPr algn="l"/>
                      <a:r>
                        <a:rPr sz="800" b="1">
                          <a:solidFill>
                            <a:srgbClr val="A86F00"/>
                          </a:solidFill>
                          <a:latin typeface="Calibri"/>
                        </a:rPr>
                        <a:t>▶ 7.7%</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800" b="1">
                          <a:solidFill>
                            <a:srgbClr val="A86F00"/>
                          </a:solidFill>
                          <a:latin typeface="Calibri"/>
                        </a:rPr>
                        <a:t>▶ 16.1%</a:t>
                      </a:r>
                    </a:p>
                  </a:txBody>
                  <a:tcPr marL="85725" marR="38100" marT="19050" marB="19050" anchor="ctr">
                    <a:solidFill>
                      <a:srgbClr val="F5F8FA"/>
                    </a:solidFill>
                  </a:tcPr>
                </a:tc>
                <a:tc>
                  <a:txBody>
                    <a:bodyPr wrap="none"/>
                    <a:lstStyle/>
                    <a:p>
                      <a:pPr algn="l"/>
                      <a:r>
                        <a:rPr sz="800" b="1">
                          <a:solidFill>
                            <a:srgbClr val="A86F00"/>
                          </a:solidFill>
                          <a:latin typeface="Calibri"/>
                        </a:rPr>
                        <a:t>▶ 23.1%</a:t>
                      </a:r>
                    </a:p>
                  </a:txBody>
                  <a:tcPr marL="85725" marR="38100" marT="19050" marB="19050" anchor="ctr">
                    <a:solidFill>
                      <a:srgbClr val="F5F8FA"/>
                    </a:solidFill>
                  </a:tcPr>
                </a:tc>
                <a:tc>
                  <a:txBody>
                    <a:bodyPr wrap="none"/>
                    <a:lstStyle/>
                    <a:p>
                      <a:pPr algn="l"/>
                      <a:r>
                        <a:rPr sz="800" b="1">
                          <a:solidFill>
                            <a:srgbClr val="A86F00"/>
                          </a:solidFill>
                          <a:latin typeface="Calibri"/>
                        </a:rPr>
                        <a:t>▶ 27.1%</a:t>
                      </a:r>
                    </a:p>
                  </a:txBody>
                  <a:tcPr marL="85725" marR="38100" marT="19050" marB="19050" anchor="ctr">
                    <a:solidFill>
                      <a:srgbClr val="F5F8FA"/>
                    </a:solidFill>
                  </a:tcPr>
                </a:tc>
                <a:tc>
                  <a:txBody>
                    <a:bodyPr wrap="none"/>
                    <a:lstStyle/>
                    <a:p>
                      <a:pPr algn="l"/>
                      <a:r>
                        <a:rPr sz="800" b="1">
                          <a:solidFill>
                            <a:srgbClr val="A86F00"/>
                          </a:solidFill>
                          <a:latin typeface="Calibri"/>
                        </a:rPr>
                        <a:t>▶ 24.3%</a:t>
                      </a:r>
                    </a:p>
                  </a:txBody>
                  <a:tcPr marL="85725" marR="38100" marT="19050" marB="19050" anchor="ctr">
                    <a:solidFill>
                      <a:srgbClr val="F5F8FA"/>
                    </a:solidFill>
                  </a:tcPr>
                </a:tc>
                <a:tc>
                  <a:txBody>
                    <a:bodyPr wrap="none"/>
                    <a:lstStyle/>
                    <a:p>
                      <a:pPr algn="l"/>
                      <a:r>
                        <a:rPr sz="800" b="1">
                          <a:solidFill>
                            <a:srgbClr val="A86F00"/>
                          </a:solidFill>
                          <a:latin typeface="Calibri"/>
                        </a:rPr>
                        <a:t>▶ 20.6%</a:t>
                      </a:r>
                    </a:p>
                  </a:txBody>
                  <a:tcPr marL="85725" marR="38100" marT="19050" marB="19050" anchor="ctr">
                    <a:solidFill>
                      <a:srgbClr val="F5F8FA"/>
                    </a:solidFill>
                  </a:tcPr>
                </a:tc>
                <a:tc>
                  <a:txBody>
                    <a:bodyPr wrap="none"/>
                    <a:lstStyle/>
                    <a:p>
                      <a:pPr algn="l"/>
                      <a:r>
                        <a:rPr sz="800" b="1">
                          <a:solidFill>
                            <a:srgbClr val="A86F00"/>
                          </a:solidFill>
                          <a:latin typeface="Calibri"/>
                        </a:rPr>
                        <a:t>▶ 18.4%</a:t>
                      </a:r>
                    </a:p>
                  </a:txBody>
                  <a:tcPr marL="85725" marR="38100" marT="19050" marB="19050" anchor="ctr">
                    <a:solidFill>
                      <a:srgbClr val="F5F8FA"/>
                    </a:solidFill>
                  </a:tcPr>
                </a:tc>
                <a:tc>
                  <a:txBody>
                    <a:bodyPr wrap="none"/>
                    <a:lstStyle/>
                    <a:p>
                      <a:pPr algn="l"/>
                      <a:r>
                        <a:rPr sz="800" b="1">
                          <a:solidFill>
                            <a:srgbClr val="A86F00"/>
                          </a:solidFill>
                          <a:latin typeface="Calibri"/>
                        </a:rPr>
                        <a:t>▶ 16.0%</a:t>
                      </a:r>
                    </a:p>
                  </a:txBody>
                  <a:tcPr marL="85725" marR="38100" marT="19050" marB="19050" anchor="ctr">
                    <a:solidFill>
                      <a:srgbClr val="F5F8FA"/>
                    </a:solidFill>
                  </a:tcPr>
                </a:tc>
                <a:tc>
                  <a:txBody>
                    <a:bodyPr wrap="none"/>
                    <a:lstStyle/>
                    <a:p>
                      <a:pPr algn="l"/>
                      <a:r>
                        <a:rPr sz="800" b="1">
                          <a:solidFill>
                            <a:srgbClr val="A86F00"/>
                          </a:solidFill>
                          <a:latin typeface="Calibri"/>
                        </a:rPr>
                        <a:t>▶ 14.3%</a:t>
                      </a:r>
                    </a:p>
                  </a:txBody>
                  <a:tcPr marL="85725" marR="38100" marT="19050" marB="19050" anchor="ctr">
                    <a:solidFill>
                      <a:srgbClr val="F5F8FA"/>
                    </a:solidFill>
                  </a:tcPr>
                </a:tc>
                <a:tc>
                  <a:txBody>
                    <a:bodyPr wrap="none"/>
                    <a:lstStyle/>
                    <a:p>
                      <a:pPr algn="l"/>
                      <a:r>
                        <a:rPr sz="800" b="1">
                          <a:solidFill>
                            <a:srgbClr val="A86F00"/>
                          </a:solidFill>
                          <a:latin typeface="Calibri"/>
                        </a:rPr>
                        <a:t>▶ 12.9%</a:t>
                      </a:r>
                    </a:p>
                  </a:txBody>
                  <a:tcPr marL="85725" marR="38100" marT="19050" marB="19050" anchor="ctr">
                    <a:solidFill>
                      <a:srgbClr val="F5F8FA"/>
                    </a:solidFill>
                  </a:tcPr>
                </a:tc>
                <a:tc>
                  <a:txBody>
                    <a:bodyPr wrap="none"/>
                    <a:lstStyle/>
                    <a:p>
                      <a:pPr algn="l"/>
                      <a:r>
                        <a:rPr sz="800" b="1">
                          <a:solidFill>
                            <a:srgbClr val="A86F00"/>
                          </a:solidFill>
                          <a:latin typeface="Calibri"/>
                        </a:rPr>
                        <a:t>▶ 11.7%</a:t>
                      </a:r>
                    </a:p>
                  </a:txBody>
                  <a:tcPr marL="85725" marR="38100" marT="19050" marB="19050" anchor="ctr">
                    <a:solidFill>
                      <a:srgbClr val="F5F8FA"/>
                    </a:solidFill>
                  </a:tcPr>
                </a:tc>
                <a:tc>
                  <a:txBody>
                    <a:bodyPr wrap="none"/>
                    <a:lstStyle/>
                    <a:p>
                      <a:pPr algn="l"/>
                      <a:r>
                        <a:rPr sz="800" b="1">
                          <a:solidFill>
                            <a:srgbClr val="A86F00"/>
                          </a:solidFill>
                          <a:latin typeface="Calibri"/>
                        </a:rPr>
                        <a:t>▶ 10.8%</a:t>
                      </a:r>
                    </a:p>
                  </a:txBody>
                  <a:tcPr marL="85725" marR="38100" marT="19050" marB="19050" anchor="ctr">
                    <a:solidFill>
                      <a:srgbClr val="F5F8FA"/>
                    </a:solidFill>
                  </a:tcPr>
                </a:tc>
                <a:tc>
                  <a:txBody>
                    <a:bodyPr wrap="none"/>
                    <a:lstStyle/>
                    <a:p>
                      <a:pPr algn="l"/>
                      <a:r>
                        <a:rPr sz="800" b="1">
                          <a:solidFill>
                            <a:srgbClr val="A86F00"/>
                          </a:solidFill>
                          <a:latin typeface="Calibri"/>
                        </a:rPr>
                        <a:t>▶ 9.9%</a:t>
                      </a:r>
                    </a:p>
                  </a:txBody>
                  <a:tcPr marL="85725" marR="38100" marT="19050" marB="19050" anchor="ctr">
                    <a:solidFill>
                      <a:srgbClr val="F5F8FA"/>
                    </a:solidFill>
                  </a:tcPr>
                </a:tc>
                <a:tc>
                  <a:txBody>
                    <a:bodyPr wrap="none"/>
                    <a:lstStyle/>
                    <a:p>
                      <a:pPr algn="l"/>
                      <a:r>
                        <a:rPr sz="800" b="1">
                          <a:solidFill>
                            <a:srgbClr val="A86F00"/>
                          </a:solidFill>
                          <a:latin typeface="Calibri"/>
                        </a:rPr>
                        <a:t>▶ 9.3%</a:t>
                      </a:r>
                    </a:p>
                  </a:txBody>
                  <a:tcPr marL="85725" marR="38100" marT="19050" marB="19050" anchor="ctr">
                    <a:solidFill>
                      <a:srgbClr val="F5F8FA"/>
                    </a:solidFill>
                  </a:tcPr>
                </a:tc>
                <a:tc>
                  <a:txBody>
                    <a:bodyPr wrap="none"/>
                    <a:lstStyle/>
                    <a:p>
                      <a:pPr algn="l"/>
                      <a:r>
                        <a:rPr sz="800" b="1">
                          <a:solidFill>
                            <a:srgbClr val="A86F00"/>
                          </a:solidFill>
                          <a:latin typeface="Calibri"/>
                        </a:rPr>
                        <a:t>▶ 8.8%</a:t>
                      </a:r>
                    </a:p>
                  </a:txBody>
                  <a:tcPr marL="85725" marR="38100" marT="19050" marB="19050" anchor="ctr">
                    <a:solidFill>
                      <a:srgbClr val="F5F8FA"/>
                    </a:solidFill>
                  </a:tcPr>
                </a:tc>
                <a:tc>
                  <a:txBody>
                    <a:bodyPr wrap="none"/>
                    <a:lstStyle/>
                    <a:p>
                      <a:pPr algn="l"/>
                      <a:r>
                        <a:rPr sz="800" b="1">
                          <a:solidFill>
                            <a:srgbClr val="A86F00"/>
                          </a:solidFill>
                          <a:latin typeface="Calibri"/>
                        </a:rPr>
                        <a:t>▶ 8.3%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Idacio</a:t>
                      </a:r>
                    </a:p>
                  </a:txBody>
                  <a:tcPr marL="85725" marR="38100" marT="19050" marB="19050" anchor="ctr">
                    <a:solidFill>
                      <a:srgbClr val="FFFFFF"/>
                    </a:solidFill>
                  </a:tcPr>
                </a:tc>
                <a:tc>
                  <a:txBody>
                    <a:bodyPr wrap="none"/>
                    <a:lstStyle/>
                    <a:p>
                      <a:pPr algn="l"/>
                      <a:r>
                        <a:rPr sz="800" b="1">
                          <a:solidFill>
                            <a:srgbClr val="2E7D32"/>
                          </a:solidFill>
                          <a:latin typeface="Calibri"/>
                        </a:rPr>
                        <a:t>▲ 17.4%</a:t>
                      </a:r>
                    </a:p>
                  </a:txBody>
                  <a:tcPr marL="85725" marR="38100" marT="19050" marB="19050" anchor="ctr">
                    <a:solidFill>
                      <a:srgbClr val="FFFFFF"/>
                    </a:solidFill>
                  </a:tcPr>
                </a:tc>
                <a:tc>
                  <a:txBody>
                    <a:bodyPr wrap="none"/>
                    <a:lstStyle/>
                    <a:p>
                      <a:pPr algn="l"/>
                      <a:r>
                        <a:rPr sz="800" b="1">
                          <a:solidFill>
                            <a:srgbClr val="2E7D32"/>
                          </a:solidFill>
                          <a:latin typeface="Calibri"/>
                        </a:rPr>
                        <a:t>▲ 24.5%</a:t>
                      </a:r>
                    </a:p>
                  </a:txBody>
                  <a:tcPr marL="85725" marR="38100" marT="19050" marB="19050" anchor="ctr">
                    <a:solidFill>
                      <a:srgbClr val="FFFFFF"/>
                    </a:solidFill>
                  </a:tcPr>
                </a:tc>
                <a:tc>
                  <a:txBody>
                    <a:bodyPr wrap="none"/>
                    <a:lstStyle/>
                    <a:p>
                      <a:pPr algn="l"/>
                      <a:r>
                        <a:rPr sz="800" b="1">
                          <a:solidFill>
                            <a:srgbClr val="2E7D32"/>
                          </a:solidFill>
                          <a:latin typeface="Calibri"/>
                        </a:rPr>
                        <a:t>▲ 28.5%</a:t>
                      </a:r>
                    </a:p>
                  </a:txBody>
                  <a:tcPr marL="85725" marR="38100" marT="19050" marB="19050" anchor="ctr">
                    <a:solidFill>
                      <a:srgbClr val="FFFFFF"/>
                    </a:solidFill>
                  </a:tcPr>
                </a:tc>
                <a:tc>
                  <a:txBody>
                    <a:bodyPr wrap="none"/>
                    <a:lstStyle/>
                    <a:p>
                      <a:pPr algn="l"/>
                      <a:r>
                        <a:rPr sz="800" b="1">
                          <a:solidFill>
                            <a:srgbClr val="2E7D32"/>
                          </a:solidFill>
                          <a:latin typeface="Calibri"/>
                        </a:rPr>
                        <a:t>▲ 25.7%</a:t>
                      </a:r>
                    </a:p>
                  </a:txBody>
                  <a:tcPr marL="85725" marR="38100" marT="19050" marB="19050" anchor="ctr">
                    <a:solidFill>
                      <a:srgbClr val="FFFFFF"/>
                    </a:solidFill>
                  </a:tcPr>
                </a:tc>
                <a:tc>
                  <a:txBody>
                    <a:bodyPr wrap="none"/>
                    <a:lstStyle/>
                    <a:p>
                      <a:pPr algn="l"/>
                      <a:r>
                        <a:rPr sz="800" b="1">
                          <a:solidFill>
                            <a:srgbClr val="2E7D32"/>
                          </a:solidFill>
                          <a:latin typeface="Calibri"/>
                        </a:rPr>
                        <a:t>▲ 21.9%</a:t>
                      </a:r>
                    </a:p>
                  </a:txBody>
                  <a:tcPr marL="85725" marR="38100" marT="19050" marB="19050" anchor="ctr">
                    <a:solidFill>
                      <a:srgbClr val="FFFFFF"/>
                    </a:solidFill>
                  </a:tcPr>
                </a:tc>
                <a:tc>
                  <a:txBody>
                    <a:bodyPr wrap="none"/>
                    <a:lstStyle/>
                    <a:p>
                      <a:pPr algn="l"/>
                      <a:r>
                        <a:rPr sz="800" b="1">
                          <a:solidFill>
                            <a:srgbClr val="2E7D32"/>
                          </a:solidFill>
                          <a:latin typeface="Calibri"/>
                        </a:rPr>
                        <a:t>▲ 19.7%</a:t>
                      </a:r>
                    </a:p>
                  </a:txBody>
                  <a:tcPr marL="85725" marR="38100" marT="19050" marB="19050" anchor="ctr">
                    <a:solidFill>
                      <a:srgbClr val="FFFFFF"/>
                    </a:solidFill>
                  </a:tcPr>
                </a:tc>
                <a:tc>
                  <a:txBody>
                    <a:bodyPr wrap="none"/>
                    <a:lstStyle/>
                    <a:p>
                      <a:pPr algn="l"/>
                      <a:r>
                        <a:rPr sz="800" b="1">
                          <a:solidFill>
                            <a:srgbClr val="2E7D32"/>
                          </a:solidFill>
                          <a:latin typeface="Calibri"/>
                        </a:rPr>
                        <a:t>▲ 17.3%</a:t>
                      </a:r>
                    </a:p>
                  </a:txBody>
                  <a:tcPr marL="85725" marR="38100" marT="19050" marB="19050" anchor="ctr">
                    <a:solidFill>
                      <a:srgbClr val="FFFFFF"/>
                    </a:solidFill>
                  </a:tcPr>
                </a:tc>
                <a:tc>
                  <a:txBody>
                    <a:bodyPr wrap="none"/>
                    <a:lstStyle/>
                    <a:p>
                      <a:pPr algn="l"/>
                      <a:r>
                        <a:rPr sz="800" b="1">
                          <a:solidFill>
                            <a:srgbClr val="2E7D32"/>
                          </a:solidFill>
                          <a:latin typeface="Calibri"/>
                        </a:rPr>
                        <a:t>▲ 15.6%</a:t>
                      </a:r>
                    </a:p>
                  </a:txBody>
                  <a:tcPr marL="85725" marR="38100" marT="19050" marB="19050" anchor="ctr">
                    <a:solidFill>
                      <a:srgbClr val="FFFFFF"/>
                    </a:solidFill>
                  </a:tcPr>
                </a:tc>
                <a:tc>
                  <a:txBody>
                    <a:bodyPr wrap="none"/>
                    <a:lstStyle/>
                    <a:p>
                      <a:pPr algn="l"/>
                      <a:r>
                        <a:rPr sz="800" b="1">
                          <a:solidFill>
                            <a:srgbClr val="2E7D32"/>
                          </a:solidFill>
                          <a:latin typeface="Calibri"/>
                        </a:rPr>
                        <a:t>▲ 14.2%</a:t>
                      </a:r>
                    </a:p>
                  </a:txBody>
                  <a:tcPr marL="85725" marR="38100" marT="19050" marB="19050" anchor="ctr">
                    <a:solidFill>
                      <a:srgbClr val="FFFFFF"/>
                    </a:solidFill>
                  </a:tcPr>
                </a:tc>
                <a:tc>
                  <a:txBody>
                    <a:bodyPr wrap="none"/>
                    <a:lstStyle/>
                    <a:p>
                      <a:pPr algn="l"/>
                      <a:r>
                        <a:rPr sz="800" b="1">
                          <a:solidFill>
                            <a:srgbClr val="2E7D32"/>
                          </a:solidFill>
                          <a:latin typeface="Calibri"/>
                        </a:rPr>
                        <a:t>▲ 13.0%</a:t>
                      </a:r>
                    </a:p>
                  </a:txBody>
                  <a:tcPr marL="85725" marR="38100" marT="19050" marB="19050" anchor="ctr">
                    <a:solidFill>
                      <a:srgbClr val="FFFFFF"/>
                    </a:solidFill>
                  </a:tcPr>
                </a:tc>
                <a:tc>
                  <a:txBody>
                    <a:bodyPr wrap="none"/>
                    <a:lstStyle/>
                    <a:p>
                      <a:pPr algn="l"/>
                      <a:r>
                        <a:rPr sz="800" b="1">
                          <a:solidFill>
                            <a:srgbClr val="2E7D32"/>
                          </a:solidFill>
                          <a:latin typeface="Calibri"/>
                        </a:rPr>
                        <a:t>▲ 12.0%</a:t>
                      </a:r>
                    </a:p>
                  </a:txBody>
                  <a:tcPr marL="85725" marR="38100" marT="19050" marB="19050" anchor="ctr">
                    <a:solidFill>
                      <a:srgbClr val="FFFFFF"/>
                    </a:solidFill>
                  </a:tcPr>
                </a:tc>
                <a:tc>
                  <a:txBody>
                    <a:bodyPr wrap="none"/>
                    <a:lstStyle/>
                    <a:p>
                      <a:pPr algn="l"/>
                      <a:r>
                        <a:rPr sz="800" b="1">
                          <a:solidFill>
                            <a:srgbClr val="2E7D32"/>
                          </a:solidFill>
                          <a:latin typeface="Calibri"/>
                        </a:rPr>
                        <a:t>▲ 11.2%</a:t>
                      </a:r>
                    </a:p>
                  </a:txBody>
                  <a:tcPr marL="85725" marR="38100" marT="19050" marB="19050" anchor="ctr">
                    <a:solidFill>
                      <a:srgbClr val="FFFFFF"/>
                    </a:solidFill>
                  </a:tcPr>
                </a:tc>
                <a:tc>
                  <a:txBody>
                    <a:bodyPr wrap="none"/>
                    <a:lstStyle/>
                    <a:p>
                      <a:pPr algn="l"/>
                      <a:r>
                        <a:rPr sz="800" b="1">
                          <a:solidFill>
                            <a:srgbClr val="2E7D32"/>
                          </a:solidFill>
                          <a:latin typeface="Calibri"/>
                        </a:rPr>
                        <a:t>▲ 10.5%</a:t>
                      </a:r>
                    </a:p>
                  </a:txBody>
                  <a:tcPr marL="85725" marR="38100" marT="19050" marB="19050" anchor="ctr">
                    <a:solidFill>
                      <a:srgbClr val="FFFFFF"/>
                    </a:solidFill>
                  </a:tcPr>
                </a:tc>
                <a:tc>
                  <a:txBody>
                    <a:bodyPr wrap="none"/>
                    <a:lstStyle/>
                    <a:p>
                      <a:pPr algn="l"/>
                      <a:r>
                        <a:rPr sz="800" b="1">
                          <a:solidFill>
                            <a:srgbClr val="2E7D32"/>
                          </a:solidFill>
                          <a:latin typeface="Calibri"/>
                        </a:rPr>
                        <a:t>▲ 10.0%</a:t>
                      </a:r>
                    </a:p>
                  </a:txBody>
                  <a:tcPr marL="85725" marR="38100" marT="19050" marB="19050" anchor="ctr">
                    <a:solidFill>
                      <a:srgbClr val="FFFFFF"/>
                    </a:solidFill>
                  </a:tcPr>
                </a:tc>
                <a:tc>
                  <a:txBody>
                    <a:bodyPr wrap="none"/>
                    <a:lstStyle/>
                    <a:p>
                      <a:pPr algn="l"/>
                      <a:r>
                        <a:rPr sz="800" b="1">
                          <a:solidFill>
                            <a:srgbClr val="2E7D32"/>
                          </a:solidFill>
                          <a:latin typeface="Calibri"/>
                        </a:rPr>
                        <a:t>▲ 9.5%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Hulio</a:t>
                      </a:r>
                    </a:p>
                  </a:txBody>
                  <a:tcPr marL="85725" marR="38100" marT="19050" marB="19050" anchor="ctr">
                    <a:solidFill>
                      <a:srgbClr val="F5F8FA"/>
                    </a:solidFill>
                  </a:tcPr>
                </a:tc>
                <a:tc>
                  <a:txBody>
                    <a:bodyPr wrap="none"/>
                    <a:lstStyle/>
                    <a:p>
                      <a:pPr algn="l"/>
                      <a:r>
                        <a:rPr sz="800" b="1">
                          <a:solidFill>
                            <a:srgbClr val="2E7D32"/>
                          </a:solidFill>
                          <a:latin typeface="Calibri"/>
                        </a:rPr>
                        <a:t>▲ 19.0%</a:t>
                      </a:r>
                    </a:p>
                  </a:txBody>
                  <a:tcPr marL="85725" marR="38100" marT="19050" marB="19050" anchor="ctr">
                    <a:solidFill>
                      <a:srgbClr val="F5F8FA"/>
                    </a:solidFill>
                  </a:tcPr>
                </a:tc>
                <a:tc>
                  <a:txBody>
                    <a:bodyPr wrap="none"/>
                    <a:lstStyle/>
                    <a:p>
                      <a:pPr algn="l"/>
                      <a:r>
                        <a:rPr sz="800" b="1">
                          <a:solidFill>
                            <a:srgbClr val="2E7D32"/>
                          </a:solidFill>
                          <a:latin typeface="Calibri"/>
                        </a:rPr>
                        <a:t>▲ 26.2%</a:t>
                      </a:r>
                    </a:p>
                  </a:txBody>
                  <a:tcPr marL="85725" marR="38100" marT="19050" marB="19050" anchor="ctr">
                    <a:solidFill>
                      <a:srgbClr val="F5F8FA"/>
                    </a:solidFill>
                  </a:tcPr>
                </a:tc>
                <a:tc>
                  <a:txBody>
                    <a:bodyPr wrap="none"/>
                    <a:lstStyle/>
                    <a:p>
                      <a:pPr algn="l"/>
                      <a:r>
                        <a:rPr sz="800" b="1">
                          <a:solidFill>
                            <a:srgbClr val="2E7D32"/>
                          </a:solidFill>
                          <a:latin typeface="Calibri"/>
                        </a:rPr>
                        <a:t>▲ 30.2%</a:t>
                      </a:r>
                    </a:p>
                  </a:txBody>
                  <a:tcPr marL="85725" marR="38100" marT="19050" marB="19050" anchor="ctr">
                    <a:solidFill>
                      <a:srgbClr val="F5F8FA"/>
                    </a:solidFill>
                  </a:tcPr>
                </a:tc>
                <a:tc>
                  <a:txBody>
                    <a:bodyPr wrap="none"/>
                    <a:lstStyle/>
                    <a:p>
                      <a:pPr algn="l"/>
                      <a:r>
                        <a:rPr sz="800" b="1">
                          <a:solidFill>
                            <a:srgbClr val="2E7D32"/>
                          </a:solidFill>
                          <a:latin typeface="Calibri"/>
                        </a:rPr>
                        <a:t>▲ 27.4%</a:t>
                      </a:r>
                    </a:p>
                  </a:txBody>
                  <a:tcPr marL="85725" marR="38100" marT="19050" marB="19050" anchor="ctr">
                    <a:solidFill>
                      <a:srgbClr val="F5F8FA"/>
                    </a:solidFill>
                  </a:tcPr>
                </a:tc>
                <a:tc>
                  <a:txBody>
                    <a:bodyPr wrap="none"/>
                    <a:lstStyle/>
                    <a:p>
                      <a:pPr algn="l"/>
                      <a:r>
                        <a:rPr sz="800" b="1">
                          <a:solidFill>
                            <a:srgbClr val="2E7D32"/>
                          </a:solidFill>
                          <a:latin typeface="Calibri"/>
                        </a:rPr>
                        <a:t>▲ 23.6%</a:t>
                      </a:r>
                    </a:p>
                  </a:txBody>
                  <a:tcPr marL="85725" marR="38100" marT="19050" marB="19050" anchor="ctr">
                    <a:solidFill>
                      <a:srgbClr val="F5F8FA"/>
                    </a:solidFill>
                  </a:tcPr>
                </a:tc>
                <a:tc>
                  <a:txBody>
                    <a:bodyPr wrap="none"/>
                    <a:lstStyle/>
                    <a:p>
                      <a:pPr algn="l"/>
                      <a:r>
                        <a:rPr sz="800" b="1">
                          <a:solidFill>
                            <a:srgbClr val="2E7D32"/>
                          </a:solidFill>
                          <a:latin typeface="Calibri"/>
                        </a:rPr>
                        <a:t>▲ 21.3%</a:t>
                      </a:r>
                    </a:p>
                  </a:txBody>
                  <a:tcPr marL="85725" marR="38100" marT="19050" marB="19050" anchor="ctr">
                    <a:solidFill>
                      <a:srgbClr val="F5F8FA"/>
                    </a:solidFill>
                  </a:tcPr>
                </a:tc>
                <a:tc>
                  <a:txBody>
                    <a:bodyPr wrap="none"/>
                    <a:lstStyle/>
                    <a:p>
                      <a:pPr algn="l"/>
                      <a:r>
                        <a:rPr sz="800" b="1">
                          <a:solidFill>
                            <a:srgbClr val="2E7D32"/>
                          </a:solidFill>
                          <a:latin typeface="Calibri"/>
                        </a:rPr>
                        <a:t>▲ 18.8%</a:t>
                      </a:r>
                    </a:p>
                  </a:txBody>
                  <a:tcPr marL="85725" marR="38100" marT="19050" marB="19050" anchor="ctr">
                    <a:solidFill>
                      <a:srgbClr val="F5F8FA"/>
                    </a:solidFill>
                  </a:tcPr>
                </a:tc>
                <a:tc>
                  <a:txBody>
                    <a:bodyPr wrap="none"/>
                    <a:lstStyle/>
                    <a:p>
                      <a:pPr algn="l"/>
                      <a:r>
                        <a:rPr sz="800" b="1">
                          <a:solidFill>
                            <a:srgbClr val="2E7D32"/>
                          </a:solidFill>
                          <a:latin typeface="Calibri"/>
                        </a:rPr>
                        <a:t>▲ 17.1%</a:t>
                      </a:r>
                    </a:p>
                  </a:txBody>
                  <a:tcPr marL="85725" marR="38100" marT="19050" marB="19050" anchor="ctr">
                    <a:solidFill>
                      <a:srgbClr val="F5F8FA"/>
                    </a:solidFill>
                  </a:tcPr>
                </a:tc>
                <a:tc>
                  <a:txBody>
                    <a:bodyPr wrap="none"/>
                    <a:lstStyle/>
                    <a:p>
                      <a:pPr algn="l"/>
                      <a:r>
                        <a:rPr sz="800" b="1">
                          <a:solidFill>
                            <a:srgbClr val="2E7D32"/>
                          </a:solidFill>
                          <a:latin typeface="Calibri"/>
                        </a:rPr>
                        <a:t>▲ 15.7%</a:t>
                      </a:r>
                    </a:p>
                  </a:txBody>
                  <a:tcPr marL="85725" marR="38100" marT="19050" marB="19050" anchor="ctr">
                    <a:solidFill>
                      <a:srgbClr val="F5F8FA"/>
                    </a:solidFill>
                  </a:tcPr>
                </a:tc>
                <a:tc>
                  <a:txBody>
                    <a:bodyPr wrap="none"/>
                    <a:lstStyle/>
                    <a:p>
                      <a:pPr algn="l"/>
                      <a:r>
                        <a:rPr sz="800" b="1">
                          <a:solidFill>
                            <a:srgbClr val="2E7D32"/>
                          </a:solidFill>
                          <a:latin typeface="Calibri"/>
                        </a:rPr>
                        <a:t>▲ 14.5%</a:t>
                      </a:r>
                    </a:p>
                  </a:txBody>
                  <a:tcPr marL="85725" marR="38100" marT="19050" marB="19050" anchor="ctr">
                    <a:solidFill>
                      <a:srgbClr val="F5F8FA"/>
                    </a:solidFill>
                  </a:tcPr>
                </a:tc>
                <a:tc>
                  <a:txBody>
                    <a:bodyPr wrap="none"/>
                    <a:lstStyle/>
                    <a:p>
                      <a:pPr algn="l"/>
                      <a:r>
                        <a:rPr sz="800" b="1">
                          <a:solidFill>
                            <a:srgbClr val="2E7D32"/>
                          </a:solidFill>
                          <a:latin typeface="Calibri"/>
                        </a:rPr>
                        <a:t>▲ 13.5%</a:t>
                      </a:r>
                    </a:p>
                  </a:txBody>
                  <a:tcPr marL="85725" marR="38100" marT="19050" marB="19050" anchor="ctr">
                    <a:solidFill>
                      <a:srgbClr val="F5F8FA"/>
                    </a:solidFill>
                  </a:tcPr>
                </a:tc>
                <a:tc>
                  <a:txBody>
                    <a:bodyPr wrap="none"/>
                    <a:lstStyle/>
                    <a:p>
                      <a:pPr algn="l"/>
                      <a:r>
                        <a:rPr sz="800" b="1">
                          <a:solidFill>
                            <a:srgbClr val="2E7D32"/>
                          </a:solidFill>
                          <a:latin typeface="Calibri"/>
                        </a:rPr>
                        <a:t>▲ 12.7%</a:t>
                      </a:r>
                    </a:p>
                  </a:txBody>
                  <a:tcPr marL="85725" marR="38100" marT="19050" marB="19050" anchor="ctr">
                    <a:solidFill>
                      <a:srgbClr val="F5F8FA"/>
                    </a:solidFill>
                  </a:tcPr>
                </a:tc>
                <a:tc>
                  <a:txBody>
                    <a:bodyPr wrap="none"/>
                    <a:lstStyle/>
                    <a:p>
                      <a:pPr algn="l"/>
                      <a:r>
                        <a:rPr sz="800" b="1">
                          <a:solidFill>
                            <a:srgbClr val="2E7D32"/>
                          </a:solidFill>
                          <a:latin typeface="Calibri"/>
                        </a:rPr>
                        <a:t>▲ 12.0%</a:t>
                      </a:r>
                    </a:p>
                  </a:txBody>
                  <a:tcPr marL="85725" marR="38100" marT="19050" marB="19050" anchor="ctr">
                    <a:solidFill>
                      <a:srgbClr val="F5F8FA"/>
                    </a:solidFill>
                  </a:tcPr>
                </a:tc>
                <a:tc>
                  <a:txBody>
                    <a:bodyPr wrap="none"/>
                    <a:lstStyle/>
                    <a:p>
                      <a:pPr algn="l"/>
                      <a:r>
                        <a:rPr sz="800" b="1">
                          <a:solidFill>
                            <a:srgbClr val="2E7D32"/>
                          </a:solidFill>
                          <a:latin typeface="Calibri"/>
                        </a:rPr>
                        <a:t>▲ 11.4%</a:t>
                      </a:r>
                    </a:p>
                  </a:txBody>
                  <a:tcPr marL="85725" marR="38100" marT="19050" marB="19050" anchor="ctr">
                    <a:solidFill>
                      <a:srgbClr val="F5F8FA"/>
                    </a:solidFill>
                  </a:tcPr>
                </a:tc>
                <a:tc>
                  <a:txBody>
                    <a:bodyPr wrap="none"/>
                    <a:lstStyle/>
                    <a:p>
                      <a:pPr algn="l"/>
                      <a:r>
                        <a:rPr sz="800" b="1">
                          <a:solidFill>
                            <a:srgbClr val="2E7D32"/>
                          </a:solidFill>
                          <a:latin typeface="Calibri"/>
                        </a:rPr>
                        <a:t>▲ 11.0%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800" b="1">
                          <a:solidFill>
                            <a:srgbClr val="A86F00"/>
                          </a:solidFill>
                          <a:latin typeface="Calibri"/>
                        </a:rPr>
                        <a:t>▶ 16.8%</a:t>
                      </a:r>
                    </a:p>
                  </a:txBody>
                  <a:tcPr marL="85725" marR="38100" marT="19050" marB="19050" anchor="ctr">
                    <a:solidFill>
                      <a:srgbClr val="FFFFFF"/>
                    </a:solidFill>
                  </a:tcPr>
                </a:tc>
                <a:tc>
                  <a:txBody>
                    <a:bodyPr wrap="none"/>
                    <a:lstStyle/>
                    <a:p>
                      <a:pPr algn="l"/>
                      <a:r>
                        <a:rPr sz="800" b="1">
                          <a:solidFill>
                            <a:srgbClr val="A86F00"/>
                          </a:solidFill>
                          <a:latin typeface="Calibri"/>
                        </a:rPr>
                        <a:t>▶ 23.8%</a:t>
                      </a:r>
                    </a:p>
                  </a:txBody>
                  <a:tcPr marL="85725" marR="38100" marT="19050" marB="19050" anchor="ctr">
                    <a:solidFill>
                      <a:srgbClr val="FFFFFF"/>
                    </a:solidFill>
                  </a:tcPr>
                </a:tc>
                <a:tc>
                  <a:txBody>
                    <a:bodyPr wrap="none"/>
                    <a:lstStyle/>
                    <a:p>
                      <a:pPr algn="l"/>
                      <a:r>
                        <a:rPr sz="800" b="1">
                          <a:solidFill>
                            <a:srgbClr val="A86F00"/>
                          </a:solidFill>
                          <a:latin typeface="Calibri"/>
                        </a:rPr>
                        <a:t>▶ 27.8%</a:t>
                      </a:r>
                    </a:p>
                  </a:txBody>
                  <a:tcPr marL="85725" marR="38100" marT="19050" marB="19050" anchor="ctr">
                    <a:solidFill>
                      <a:srgbClr val="FFFFFF"/>
                    </a:solidFill>
                  </a:tcPr>
                </a:tc>
                <a:tc>
                  <a:txBody>
                    <a:bodyPr wrap="none"/>
                    <a:lstStyle/>
                    <a:p>
                      <a:pPr algn="l"/>
                      <a:r>
                        <a:rPr sz="800" b="1">
                          <a:solidFill>
                            <a:srgbClr val="A86F00"/>
                          </a:solidFill>
                          <a:latin typeface="Calibri"/>
                        </a:rPr>
                        <a:t>▶ 25.0%</a:t>
                      </a:r>
                    </a:p>
                  </a:txBody>
                  <a:tcPr marL="85725" marR="38100" marT="19050" marB="19050" anchor="ctr">
                    <a:solidFill>
                      <a:srgbClr val="FFFFFF"/>
                    </a:solidFill>
                  </a:tcPr>
                </a:tc>
                <a:tc>
                  <a:txBody>
                    <a:bodyPr wrap="none"/>
                    <a:lstStyle/>
                    <a:p>
                      <a:pPr algn="l"/>
                      <a:r>
                        <a:rPr sz="800" b="1">
                          <a:solidFill>
                            <a:srgbClr val="A86F00"/>
                          </a:solidFill>
                          <a:latin typeface="Calibri"/>
                        </a:rPr>
                        <a:t>▶ 21.3%</a:t>
                      </a:r>
                    </a:p>
                  </a:txBody>
                  <a:tcPr marL="85725" marR="38100" marT="19050" marB="19050" anchor="ctr">
                    <a:solidFill>
                      <a:srgbClr val="FFFFFF"/>
                    </a:solidFill>
                  </a:tcPr>
                </a:tc>
                <a:tc>
                  <a:txBody>
                    <a:bodyPr wrap="none"/>
                    <a:lstStyle/>
                    <a:p>
                      <a:pPr algn="l"/>
                      <a:r>
                        <a:rPr sz="800" b="1">
                          <a:solidFill>
                            <a:srgbClr val="A86F00"/>
                          </a:solidFill>
                          <a:latin typeface="Calibri"/>
                        </a:rPr>
                        <a:t>▶ 19.1%</a:t>
                      </a:r>
                    </a:p>
                  </a:txBody>
                  <a:tcPr marL="85725" marR="38100" marT="19050" marB="19050" anchor="ctr">
                    <a:solidFill>
                      <a:srgbClr val="FFFFFF"/>
                    </a:solidFill>
                  </a:tcPr>
                </a:tc>
                <a:tc>
                  <a:txBody>
                    <a:bodyPr wrap="none"/>
                    <a:lstStyle/>
                    <a:p>
                      <a:pPr algn="l"/>
                      <a:r>
                        <a:rPr sz="800" b="1">
                          <a:solidFill>
                            <a:srgbClr val="A86F00"/>
                          </a:solidFill>
                          <a:latin typeface="Calibri"/>
                        </a:rPr>
                        <a:t>▶ 16.6%</a:t>
                      </a:r>
                    </a:p>
                  </a:txBody>
                  <a:tcPr marL="85725" marR="38100" marT="19050" marB="19050" anchor="ctr">
                    <a:solidFill>
                      <a:srgbClr val="FFFFFF"/>
                    </a:solidFill>
                  </a:tcPr>
                </a:tc>
                <a:tc>
                  <a:txBody>
                    <a:bodyPr wrap="none"/>
                    <a:lstStyle/>
                    <a:p>
                      <a:pPr algn="l"/>
                      <a:r>
                        <a:rPr sz="800" b="1">
                          <a:solidFill>
                            <a:srgbClr val="A86F00"/>
                          </a:solidFill>
                          <a:latin typeface="Calibri"/>
                        </a:rPr>
                        <a:t>▶ 14.9%</a:t>
                      </a:r>
                    </a:p>
                  </a:txBody>
                  <a:tcPr marL="85725" marR="38100" marT="19050" marB="19050" anchor="ctr">
                    <a:solidFill>
                      <a:srgbClr val="FFFFFF"/>
                    </a:solidFill>
                  </a:tcPr>
                </a:tc>
                <a:tc>
                  <a:txBody>
                    <a:bodyPr wrap="none"/>
                    <a:lstStyle/>
                    <a:p>
                      <a:pPr algn="l"/>
                      <a:r>
                        <a:rPr sz="800" b="1">
                          <a:solidFill>
                            <a:srgbClr val="A86F00"/>
                          </a:solidFill>
                          <a:latin typeface="Calibri"/>
                        </a:rPr>
                        <a:t>▶ 13.6%</a:t>
                      </a:r>
                    </a:p>
                  </a:txBody>
                  <a:tcPr marL="85725" marR="38100" marT="19050" marB="19050" anchor="ctr">
                    <a:solidFill>
                      <a:srgbClr val="FFFFFF"/>
                    </a:solidFill>
                  </a:tcPr>
                </a:tc>
                <a:tc>
                  <a:txBody>
                    <a:bodyPr wrap="none"/>
                    <a:lstStyle/>
                    <a:p>
                      <a:pPr algn="l"/>
                      <a:r>
                        <a:rPr sz="800" b="1">
                          <a:solidFill>
                            <a:srgbClr val="A86F00"/>
                          </a:solidFill>
                          <a:latin typeface="Calibri"/>
                        </a:rPr>
                        <a:t>▶ 12.4%</a:t>
                      </a:r>
                    </a:p>
                  </a:txBody>
                  <a:tcPr marL="85725" marR="38100" marT="19050" marB="19050" anchor="ctr">
                    <a:solidFill>
                      <a:srgbClr val="FFFFFF"/>
                    </a:solidFill>
                  </a:tcPr>
                </a:tc>
                <a:tc>
                  <a:txBody>
                    <a:bodyPr wrap="none"/>
                    <a:lstStyle/>
                    <a:p>
                      <a:pPr algn="l"/>
                      <a:r>
                        <a:rPr sz="800" b="1">
                          <a:solidFill>
                            <a:srgbClr val="A86F00"/>
                          </a:solidFill>
                          <a:latin typeface="Calibri"/>
                        </a:rPr>
                        <a:t>▶ 11.4%</a:t>
                      </a:r>
                    </a:p>
                  </a:txBody>
                  <a:tcPr marL="85725" marR="38100" marT="19050" marB="19050" anchor="ctr">
                    <a:solidFill>
                      <a:srgbClr val="FFFFFF"/>
                    </a:solidFill>
                  </a:tcPr>
                </a:tc>
                <a:tc>
                  <a:txBody>
                    <a:bodyPr wrap="none"/>
                    <a:lstStyle/>
                    <a:p>
                      <a:pPr algn="l"/>
                      <a:r>
                        <a:rPr sz="800" b="1">
                          <a:solidFill>
                            <a:srgbClr val="A86F00"/>
                          </a:solidFill>
                          <a:latin typeface="Calibri"/>
                        </a:rPr>
                        <a:t>▶ 10.6%</a:t>
                      </a:r>
                    </a:p>
                  </a:txBody>
                  <a:tcPr marL="85725" marR="38100" marT="19050" marB="19050" anchor="ctr">
                    <a:solidFill>
                      <a:srgbClr val="FFFFFF"/>
                    </a:solidFill>
                  </a:tcPr>
                </a:tc>
                <a:tc>
                  <a:txBody>
                    <a:bodyPr wrap="none"/>
                    <a:lstStyle/>
                    <a:p>
                      <a:pPr algn="l"/>
                      <a:r>
                        <a:rPr sz="800" b="1">
                          <a:solidFill>
                            <a:srgbClr val="A86F00"/>
                          </a:solidFill>
                          <a:latin typeface="Calibri"/>
                        </a:rPr>
                        <a:t>▶ 9.9%</a:t>
                      </a:r>
                    </a:p>
                  </a:txBody>
                  <a:tcPr marL="85725" marR="38100" marT="19050" marB="19050" anchor="ctr">
                    <a:solidFill>
                      <a:srgbClr val="FFFFFF"/>
                    </a:solidFill>
                  </a:tcPr>
                </a:tc>
                <a:tc>
                  <a:txBody>
                    <a:bodyPr wrap="none"/>
                    <a:lstStyle/>
                    <a:p>
                      <a:pPr algn="l"/>
                      <a:r>
                        <a:rPr sz="800" b="1">
                          <a:solidFill>
                            <a:srgbClr val="A86F00"/>
                          </a:solidFill>
                          <a:latin typeface="Calibri"/>
                        </a:rPr>
                        <a:t>▶ 9.4%</a:t>
                      </a:r>
                    </a:p>
                  </a:txBody>
                  <a:tcPr marL="85725" marR="38100" marT="19050" marB="19050" anchor="ctr">
                    <a:solidFill>
                      <a:srgbClr val="FFFFFF"/>
                    </a:solidFill>
                  </a:tcPr>
                </a:tc>
                <a:tc>
                  <a:txBody>
                    <a:bodyPr wrap="none"/>
                    <a:lstStyle/>
                    <a:p>
                      <a:pPr algn="l"/>
                      <a:r>
                        <a:rPr sz="800" b="1">
                          <a:solidFill>
                            <a:srgbClr val="A86F00"/>
                          </a:solidFill>
                          <a:latin typeface="Calibri"/>
                        </a:rPr>
                        <a:t>▶ 9.0%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Yusimry</a:t>
                      </a:r>
                    </a:p>
                  </a:txBody>
                  <a:tcPr marL="85725" marR="38100" marT="19050" marB="19050" anchor="ctr">
                    <a:solidFill>
                      <a:srgbClr val="F5F8FA"/>
                    </a:solidFill>
                  </a:tcPr>
                </a:tc>
                <a:tc>
                  <a:txBody>
                    <a:bodyPr wrap="none"/>
                    <a:lstStyle/>
                    <a:p>
                      <a:pPr algn="l"/>
                      <a:r>
                        <a:rPr sz="800" b="1">
                          <a:solidFill>
                            <a:srgbClr val="2E7D32"/>
                          </a:solidFill>
                          <a:latin typeface="Calibri"/>
                        </a:rPr>
                        <a:t>▲ 17.2%</a:t>
                      </a:r>
                    </a:p>
                  </a:txBody>
                  <a:tcPr marL="85725" marR="38100" marT="19050" marB="19050" anchor="ctr">
                    <a:solidFill>
                      <a:srgbClr val="F5F8FA"/>
                    </a:solidFill>
                  </a:tcPr>
                </a:tc>
                <a:tc>
                  <a:txBody>
                    <a:bodyPr wrap="none"/>
                    <a:lstStyle/>
                    <a:p>
                      <a:pPr algn="l"/>
                      <a:r>
                        <a:rPr sz="800" b="1">
                          <a:solidFill>
                            <a:srgbClr val="2E7D32"/>
                          </a:solidFill>
                          <a:latin typeface="Calibri"/>
                        </a:rPr>
                        <a:t>▲ 24.3%</a:t>
                      </a:r>
                    </a:p>
                  </a:txBody>
                  <a:tcPr marL="85725" marR="38100" marT="19050" marB="19050" anchor="ctr">
                    <a:solidFill>
                      <a:srgbClr val="F5F8FA"/>
                    </a:solidFill>
                  </a:tcPr>
                </a:tc>
                <a:tc>
                  <a:txBody>
                    <a:bodyPr wrap="none"/>
                    <a:lstStyle/>
                    <a:p>
                      <a:pPr algn="l"/>
                      <a:r>
                        <a:rPr sz="800" b="1">
                          <a:solidFill>
                            <a:srgbClr val="2E7D32"/>
                          </a:solidFill>
                          <a:latin typeface="Calibri"/>
                        </a:rPr>
                        <a:t>▲ 28.3%</a:t>
                      </a:r>
                    </a:p>
                  </a:txBody>
                  <a:tcPr marL="85725" marR="38100" marT="19050" marB="19050" anchor="ctr">
                    <a:solidFill>
                      <a:srgbClr val="F5F8FA"/>
                    </a:solidFill>
                  </a:tcPr>
                </a:tc>
                <a:tc>
                  <a:txBody>
                    <a:bodyPr wrap="none"/>
                    <a:lstStyle/>
                    <a:p>
                      <a:pPr algn="l"/>
                      <a:r>
                        <a:rPr sz="800" b="1">
                          <a:solidFill>
                            <a:srgbClr val="2E7D32"/>
                          </a:solidFill>
                          <a:latin typeface="Calibri"/>
                        </a:rPr>
                        <a:t>▲ 25.6%</a:t>
                      </a:r>
                    </a:p>
                  </a:txBody>
                  <a:tcPr marL="85725" marR="38100" marT="19050" marB="19050" anchor="ctr">
                    <a:solidFill>
                      <a:srgbClr val="F5F8FA"/>
                    </a:solidFill>
                  </a:tcPr>
                </a:tc>
                <a:tc>
                  <a:txBody>
                    <a:bodyPr wrap="none"/>
                    <a:lstStyle/>
                    <a:p>
                      <a:pPr algn="l"/>
                      <a:r>
                        <a:rPr sz="800" b="1">
                          <a:solidFill>
                            <a:srgbClr val="2E7D32"/>
                          </a:solidFill>
                          <a:latin typeface="Calibri"/>
                        </a:rPr>
                        <a:t>▲ 21.8%</a:t>
                      </a:r>
                    </a:p>
                  </a:txBody>
                  <a:tcPr marL="85725" marR="38100" marT="19050" marB="19050" anchor="ctr">
                    <a:solidFill>
                      <a:srgbClr val="F5F8FA"/>
                    </a:solidFill>
                  </a:tcPr>
                </a:tc>
                <a:tc>
                  <a:txBody>
                    <a:bodyPr wrap="none"/>
                    <a:lstStyle/>
                    <a:p>
                      <a:pPr algn="l"/>
                      <a:r>
                        <a:rPr sz="800" b="1">
                          <a:solidFill>
                            <a:srgbClr val="2E7D32"/>
                          </a:solidFill>
                          <a:latin typeface="Calibri"/>
                        </a:rPr>
                        <a:t>▲ 19.5%</a:t>
                      </a:r>
                    </a:p>
                  </a:txBody>
                  <a:tcPr marL="85725" marR="38100" marT="19050" marB="19050" anchor="ctr">
                    <a:solidFill>
                      <a:srgbClr val="F5F8FA"/>
                    </a:solidFill>
                  </a:tcPr>
                </a:tc>
                <a:tc>
                  <a:txBody>
                    <a:bodyPr wrap="none"/>
                    <a:lstStyle/>
                    <a:p>
                      <a:pPr algn="l"/>
                      <a:r>
                        <a:rPr sz="800" b="1">
                          <a:solidFill>
                            <a:srgbClr val="2E7D32"/>
                          </a:solidFill>
                          <a:latin typeface="Calibri"/>
                        </a:rPr>
                        <a:t>▲ 17.1%</a:t>
                      </a:r>
                    </a:p>
                  </a:txBody>
                  <a:tcPr marL="85725" marR="38100" marT="19050" marB="19050" anchor="ctr">
                    <a:solidFill>
                      <a:srgbClr val="F5F8FA"/>
                    </a:solidFill>
                  </a:tcPr>
                </a:tc>
                <a:tc>
                  <a:txBody>
                    <a:bodyPr wrap="none"/>
                    <a:lstStyle/>
                    <a:p>
                      <a:pPr algn="l"/>
                      <a:r>
                        <a:rPr sz="800" b="1">
                          <a:solidFill>
                            <a:srgbClr val="2E7D32"/>
                          </a:solidFill>
                          <a:latin typeface="Calibri"/>
                        </a:rPr>
                        <a:t>▲ 15.4%</a:t>
                      </a:r>
                    </a:p>
                  </a:txBody>
                  <a:tcPr marL="85725" marR="38100" marT="19050" marB="19050" anchor="ctr">
                    <a:solidFill>
                      <a:srgbClr val="F5F8FA"/>
                    </a:solidFill>
                  </a:tcPr>
                </a:tc>
                <a:tc>
                  <a:txBody>
                    <a:bodyPr wrap="none"/>
                    <a:lstStyle/>
                    <a:p>
                      <a:pPr algn="l"/>
                      <a:r>
                        <a:rPr sz="800" b="1">
                          <a:solidFill>
                            <a:srgbClr val="2E7D32"/>
                          </a:solidFill>
                          <a:latin typeface="Calibri"/>
                        </a:rPr>
                        <a:t>▲ 14.0%</a:t>
                      </a:r>
                    </a:p>
                  </a:txBody>
                  <a:tcPr marL="85725" marR="38100" marT="19050" marB="19050" anchor="ctr">
                    <a:solidFill>
                      <a:srgbClr val="F5F8FA"/>
                    </a:solidFill>
                  </a:tcPr>
                </a:tc>
                <a:tc>
                  <a:txBody>
                    <a:bodyPr wrap="none"/>
                    <a:lstStyle/>
                    <a:p>
                      <a:pPr algn="l"/>
                      <a:r>
                        <a:rPr sz="800" b="1">
                          <a:solidFill>
                            <a:srgbClr val="2E7D32"/>
                          </a:solidFill>
                          <a:latin typeface="Calibri"/>
                        </a:rPr>
                        <a:t>▲ 12.8%</a:t>
                      </a:r>
                    </a:p>
                  </a:txBody>
                  <a:tcPr marL="85725" marR="38100" marT="19050" marB="19050" anchor="ctr">
                    <a:solidFill>
                      <a:srgbClr val="F5F8FA"/>
                    </a:solidFill>
                  </a:tcPr>
                </a:tc>
                <a:tc>
                  <a:txBody>
                    <a:bodyPr wrap="none"/>
                    <a:lstStyle/>
                    <a:p>
                      <a:pPr algn="l"/>
                      <a:r>
                        <a:rPr sz="800" b="1">
                          <a:solidFill>
                            <a:srgbClr val="2E7D32"/>
                          </a:solidFill>
                          <a:latin typeface="Calibri"/>
                        </a:rPr>
                        <a:t>▲ 11.9%</a:t>
                      </a:r>
                    </a:p>
                  </a:txBody>
                  <a:tcPr marL="85725" marR="38100" marT="19050" marB="19050" anchor="ctr">
                    <a:solidFill>
                      <a:srgbClr val="F5F8FA"/>
                    </a:solidFill>
                  </a:tcPr>
                </a:tc>
                <a:tc>
                  <a:txBody>
                    <a:bodyPr wrap="none"/>
                    <a:lstStyle/>
                    <a:p>
                      <a:pPr algn="l"/>
                      <a:r>
                        <a:rPr sz="800" b="1">
                          <a:solidFill>
                            <a:srgbClr val="2E7D32"/>
                          </a:solidFill>
                          <a:latin typeface="Calibri"/>
                        </a:rPr>
                        <a:t>▲ 11.0%</a:t>
                      </a:r>
                    </a:p>
                  </a:txBody>
                  <a:tcPr marL="85725" marR="38100" marT="19050" marB="19050" anchor="ctr">
                    <a:solidFill>
                      <a:srgbClr val="F5F8FA"/>
                    </a:solidFill>
                  </a:tcPr>
                </a:tc>
                <a:tc>
                  <a:txBody>
                    <a:bodyPr wrap="none"/>
                    <a:lstStyle/>
                    <a:p>
                      <a:pPr algn="l"/>
                      <a:r>
                        <a:rPr sz="800" b="1">
                          <a:solidFill>
                            <a:srgbClr val="2E7D32"/>
                          </a:solidFill>
                          <a:latin typeface="Calibri"/>
                        </a:rPr>
                        <a:t>▲ 10.4%</a:t>
                      </a:r>
                    </a:p>
                  </a:txBody>
                  <a:tcPr marL="85725" marR="38100" marT="19050" marB="19050" anchor="ctr">
                    <a:solidFill>
                      <a:srgbClr val="F5F8FA"/>
                    </a:solidFill>
                  </a:tcPr>
                </a:tc>
                <a:tc>
                  <a:txBody>
                    <a:bodyPr wrap="none"/>
                    <a:lstStyle/>
                    <a:p>
                      <a:pPr algn="l"/>
                      <a:r>
                        <a:rPr sz="800" b="1">
                          <a:solidFill>
                            <a:srgbClr val="2E7D32"/>
                          </a:solidFill>
                          <a:latin typeface="Calibri"/>
                        </a:rPr>
                        <a:t>▲ 9.8%</a:t>
                      </a:r>
                    </a:p>
                  </a:txBody>
                  <a:tcPr marL="85725" marR="38100" marT="19050" marB="19050" anchor="ctr">
                    <a:solidFill>
                      <a:srgbClr val="F5F8FA"/>
                    </a:solidFill>
                  </a:tcPr>
                </a:tc>
                <a:tc>
                  <a:txBody>
                    <a:bodyPr wrap="none"/>
                    <a:lstStyle/>
                    <a:p>
                      <a:pPr algn="l"/>
                      <a:r>
                        <a:rPr sz="800" b="1">
                          <a:solidFill>
                            <a:srgbClr val="2E7D32"/>
                          </a:solidFill>
                          <a:latin typeface="Calibri"/>
                        </a:rPr>
                        <a:t>▲ 9.4%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Yuflyma</a:t>
                      </a:r>
                    </a:p>
                  </a:txBody>
                  <a:tcPr marL="85725" marR="38100" marT="19050" marB="19050" anchor="ctr">
                    <a:solidFill>
                      <a:srgbClr val="FFFFFF"/>
                    </a:solidFill>
                  </a:tcPr>
                </a:tc>
                <a:tc>
                  <a:txBody>
                    <a:bodyPr wrap="none"/>
                    <a:lstStyle/>
                    <a:p>
                      <a:pPr algn="l"/>
                      <a:r>
                        <a:rPr sz="800" b="1">
                          <a:solidFill>
                            <a:srgbClr val="A86F00"/>
                          </a:solidFill>
                          <a:latin typeface="Calibri"/>
                        </a:rPr>
                        <a:t>▶ 16.4%</a:t>
                      </a:r>
                    </a:p>
                  </a:txBody>
                  <a:tcPr marL="85725" marR="38100" marT="19050" marB="19050" anchor="ctr">
                    <a:solidFill>
                      <a:srgbClr val="FFFFFF"/>
                    </a:solidFill>
                  </a:tcPr>
                </a:tc>
                <a:tc>
                  <a:txBody>
                    <a:bodyPr wrap="none"/>
                    <a:lstStyle/>
                    <a:p>
                      <a:pPr algn="l"/>
                      <a:r>
                        <a:rPr sz="800" b="1">
                          <a:solidFill>
                            <a:srgbClr val="A86F00"/>
                          </a:solidFill>
                          <a:latin typeface="Calibri"/>
                        </a:rPr>
                        <a:t>▶ 23.4%</a:t>
                      </a:r>
                    </a:p>
                  </a:txBody>
                  <a:tcPr marL="85725" marR="38100" marT="19050" marB="19050" anchor="ctr">
                    <a:solidFill>
                      <a:srgbClr val="FFFFFF"/>
                    </a:solidFill>
                  </a:tcPr>
                </a:tc>
                <a:tc>
                  <a:txBody>
                    <a:bodyPr wrap="none"/>
                    <a:lstStyle/>
                    <a:p>
                      <a:pPr algn="l"/>
                      <a:r>
                        <a:rPr sz="800" b="1">
                          <a:solidFill>
                            <a:srgbClr val="A86F00"/>
                          </a:solidFill>
                          <a:latin typeface="Calibri"/>
                        </a:rPr>
                        <a:t>▶ 27.3%</a:t>
                      </a:r>
                    </a:p>
                  </a:txBody>
                  <a:tcPr marL="85725" marR="38100" marT="19050" marB="19050" anchor="ctr">
                    <a:solidFill>
                      <a:srgbClr val="FFFFFF"/>
                    </a:solidFill>
                  </a:tcPr>
                </a:tc>
                <a:tc>
                  <a:txBody>
                    <a:bodyPr wrap="none"/>
                    <a:lstStyle/>
                    <a:p>
                      <a:pPr algn="l"/>
                      <a:r>
                        <a:rPr sz="800" b="1">
                          <a:solidFill>
                            <a:srgbClr val="A86F00"/>
                          </a:solidFill>
                          <a:latin typeface="Calibri"/>
                        </a:rPr>
                        <a:t>▶ 24.6%</a:t>
                      </a:r>
                    </a:p>
                  </a:txBody>
                  <a:tcPr marL="85725" marR="38100" marT="19050" marB="19050" anchor="ctr">
                    <a:solidFill>
                      <a:srgbClr val="FFFFFF"/>
                    </a:solidFill>
                  </a:tcPr>
                </a:tc>
                <a:tc>
                  <a:txBody>
                    <a:bodyPr wrap="none"/>
                    <a:lstStyle/>
                    <a:p>
                      <a:pPr algn="l"/>
                      <a:r>
                        <a:rPr sz="800" b="1">
                          <a:solidFill>
                            <a:srgbClr val="A86F00"/>
                          </a:solidFill>
                          <a:latin typeface="Calibri"/>
                        </a:rPr>
                        <a:t>▶ 20.8%</a:t>
                      </a:r>
                    </a:p>
                  </a:txBody>
                  <a:tcPr marL="85725" marR="38100" marT="19050" marB="19050" anchor="ctr">
                    <a:solidFill>
                      <a:srgbClr val="FFFFFF"/>
                    </a:solidFill>
                  </a:tcPr>
                </a:tc>
                <a:tc>
                  <a:txBody>
                    <a:bodyPr wrap="none"/>
                    <a:lstStyle/>
                    <a:p>
                      <a:pPr algn="l"/>
                      <a:r>
                        <a:rPr sz="800" b="1">
                          <a:solidFill>
                            <a:srgbClr val="A86F00"/>
                          </a:solidFill>
                          <a:latin typeface="Calibri"/>
                        </a:rPr>
                        <a:t>▶ 18.6%</a:t>
                      </a:r>
                    </a:p>
                  </a:txBody>
                  <a:tcPr marL="85725" marR="38100" marT="19050" marB="19050" anchor="ctr">
                    <a:solidFill>
                      <a:srgbClr val="FFFFFF"/>
                    </a:solidFill>
                  </a:tcPr>
                </a:tc>
                <a:tc>
                  <a:txBody>
                    <a:bodyPr wrap="none"/>
                    <a:lstStyle/>
                    <a:p>
                      <a:pPr algn="l"/>
                      <a:r>
                        <a:rPr sz="800" b="1">
                          <a:solidFill>
                            <a:srgbClr val="A86F00"/>
                          </a:solidFill>
                          <a:latin typeface="Calibri"/>
                        </a:rPr>
                        <a:t>▶ 16.2%</a:t>
                      </a:r>
                    </a:p>
                  </a:txBody>
                  <a:tcPr marL="85725" marR="38100" marT="19050" marB="19050" anchor="ctr">
                    <a:solidFill>
                      <a:srgbClr val="FFFFFF"/>
                    </a:solidFill>
                  </a:tcPr>
                </a:tc>
                <a:tc>
                  <a:txBody>
                    <a:bodyPr wrap="none"/>
                    <a:lstStyle/>
                    <a:p>
                      <a:pPr algn="l"/>
                      <a:r>
                        <a:rPr sz="800" b="1">
                          <a:solidFill>
                            <a:srgbClr val="A86F00"/>
                          </a:solidFill>
                          <a:latin typeface="Calibri"/>
                        </a:rPr>
                        <a:t>▶ 14.5%</a:t>
                      </a:r>
                    </a:p>
                  </a:txBody>
                  <a:tcPr marL="85725" marR="38100" marT="19050" marB="19050" anchor="ctr">
                    <a:solidFill>
                      <a:srgbClr val="FFFFFF"/>
                    </a:solidFill>
                  </a:tcPr>
                </a:tc>
                <a:tc>
                  <a:txBody>
                    <a:bodyPr wrap="none"/>
                    <a:lstStyle/>
                    <a:p>
                      <a:pPr algn="l"/>
                      <a:r>
                        <a:rPr sz="800" b="1">
                          <a:solidFill>
                            <a:srgbClr val="A86F00"/>
                          </a:solidFill>
                          <a:latin typeface="Calibri"/>
                        </a:rPr>
                        <a:t>▶ 13.2%</a:t>
                      </a:r>
                    </a:p>
                  </a:txBody>
                  <a:tcPr marL="85725" marR="38100" marT="19050" marB="19050" anchor="ctr">
                    <a:solidFill>
                      <a:srgbClr val="FFFFFF"/>
                    </a:solidFill>
                  </a:tcPr>
                </a:tc>
                <a:tc>
                  <a:txBody>
                    <a:bodyPr wrap="none"/>
                    <a:lstStyle/>
                    <a:p>
                      <a:pPr algn="l"/>
                      <a:r>
                        <a:rPr sz="800" b="1">
                          <a:solidFill>
                            <a:srgbClr val="A86F00"/>
                          </a:solidFill>
                          <a:latin typeface="Calibri"/>
                        </a:rPr>
                        <a:t>▶ 12.0%</a:t>
                      </a:r>
                    </a:p>
                  </a:txBody>
                  <a:tcPr marL="85725" marR="38100" marT="19050" marB="19050" anchor="ctr">
                    <a:solidFill>
                      <a:srgbClr val="FFFFFF"/>
                    </a:solidFill>
                  </a:tcPr>
                </a:tc>
                <a:tc>
                  <a:txBody>
                    <a:bodyPr wrap="none"/>
                    <a:lstStyle/>
                    <a:p>
                      <a:pPr algn="l"/>
                      <a:r>
                        <a:rPr sz="800" b="1">
                          <a:solidFill>
                            <a:srgbClr val="A86F00"/>
                          </a:solidFill>
                          <a:latin typeface="Calibri"/>
                        </a:rPr>
                        <a:t>▶ 11.0%</a:t>
                      </a:r>
                    </a:p>
                  </a:txBody>
                  <a:tcPr marL="85725" marR="38100" marT="19050" marB="19050" anchor="ctr">
                    <a:solidFill>
                      <a:srgbClr val="FFFFFF"/>
                    </a:solidFill>
                  </a:tcPr>
                </a:tc>
                <a:tc>
                  <a:txBody>
                    <a:bodyPr wrap="none"/>
                    <a:lstStyle/>
                    <a:p>
                      <a:pPr algn="l"/>
                      <a:r>
                        <a:rPr sz="800" b="1">
                          <a:solidFill>
                            <a:srgbClr val="A86F00"/>
                          </a:solidFill>
                          <a:latin typeface="Calibri"/>
                        </a:rPr>
                        <a:t>▶ 10.2%</a:t>
                      </a:r>
                    </a:p>
                  </a:txBody>
                  <a:tcPr marL="85725" marR="38100" marT="19050" marB="19050" anchor="ctr">
                    <a:solidFill>
                      <a:srgbClr val="FFFFFF"/>
                    </a:solidFill>
                  </a:tcPr>
                </a:tc>
                <a:tc>
                  <a:txBody>
                    <a:bodyPr wrap="none"/>
                    <a:lstStyle/>
                    <a:p>
                      <a:pPr algn="l"/>
                      <a:r>
                        <a:rPr sz="800" b="1">
                          <a:solidFill>
                            <a:srgbClr val="A86F00"/>
                          </a:solidFill>
                          <a:latin typeface="Calibri"/>
                        </a:rPr>
                        <a:t>▶ 9.5%</a:t>
                      </a:r>
                    </a:p>
                  </a:txBody>
                  <a:tcPr marL="85725" marR="38100" marT="19050" marB="19050" anchor="ctr">
                    <a:solidFill>
                      <a:srgbClr val="FFFFFF"/>
                    </a:solidFill>
                  </a:tcPr>
                </a:tc>
                <a:tc>
                  <a:txBody>
                    <a:bodyPr wrap="none"/>
                    <a:lstStyle/>
                    <a:p>
                      <a:pPr algn="l"/>
                      <a:r>
                        <a:rPr sz="800" b="1">
                          <a:solidFill>
                            <a:srgbClr val="A86F00"/>
                          </a:solidFill>
                          <a:latin typeface="Calibri"/>
                        </a:rPr>
                        <a:t>▶ 9.0%</a:t>
                      </a:r>
                    </a:p>
                  </a:txBody>
                  <a:tcPr marL="85725" marR="38100" marT="19050" marB="19050" anchor="ctr">
                    <a:solidFill>
                      <a:srgbClr val="FFFFFF"/>
                    </a:solidFill>
                  </a:tcPr>
                </a:tc>
                <a:tc>
                  <a:txBody>
                    <a:bodyPr wrap="none"/>
                    <a:lstStyle/>
                    <a:p>
                      <a:pPr algn="l"/>
                      <a:r>
                        <a:rPr sz="800" b="1">
                          <a:solidFill>
                            <a:srgbClr val="A86F00"/>
                          </a:solidFill>
                          <a:latin typeface="Calibri"/>
                        </a:rPr>
                        <a:t>▶ 8.6%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Simlandi</a:t>
                      </a:r>
                    </a:p>
                  </a:txBody>
                  <a:tcPr marL="85725" marR="38100" marT="19050" marB="19050" anchor="ctr">
                    <a:solidFill>
                      <a:srgbClr val="F5F8FA"/>
                    </a:solidFill>
                  </a:tcPr>
                </a:tc>
                <a:tc>
                  <a:txBody>
                    <a:bodyPr wrap="none"/>
                    <a:lstStyle/>
                    <a:p>
                      <a:pPr algn="l"/>
                      <a:r>
                        <a:rPr sz="800" b="1">
                          <a:solidFill>
                            <a:srgbClr val="2E7D32"/>
                          </a:solidFill>
                          <a:latin typeface="Calibri"/>
                        </a:rPr>
                        <a:t>▲ 17.8%</a:t>
                      </a:r>
                    </a:p>
                  </a:txBody>
                  <a:tcPr marL="85725" marR="38100" marT="19050" marB="19050" anchor="ctr">
                    <a:solidFill>
                      <a:srgbClr val="F5F8FA"/>
                    </a:solidFill>
                  </a:tcPr>
                </a:tc>
                <a:tc>
                  <a:txBody>
                    <a:bodyPr wrap="none"/>
                    <a:lstStyle/>
                    <a:p>
                      <a:pPr algn="l"/>
                      <a:r>
                        <a:rPr sz="800" b="1">
                          <a:solidFill>
                            <a:srgbClr val="2E7D32"/>
                          </a:solidFill>
                          <a:latin typeface="Calibri"/>
                        </a:rPr>
                        <a:t>▲ 24.9%</a:t>
                      </a:r>
                    </a:p>
                  </a:txBody>
                  <a:tcPr marL="85725" marR="38100" marT="19050" marB="19050" anchor="ctr">
                    <a:solidFill>
                      <a:srgbClr val="F5F8FA"/>
                    </a:solidFill>
                  </a:tcPr>
                </a:tc>
                <a:tc>
                  <a:txBody>
                    <a:bodyPr wrap="none"/>
                    <a:lstStyle/>
                    <a:p>
                      <a:pPr algn="l"/>
                      <a:r>
                        <a:rPr sz="800" b="1">
                          <a:solidFill>
                            <a:srgbClr val="2E7D32"/>
                          </a:solidFill>
                          <a:latin typeface="Calibri"/>
                        </a:rPr>
                        <a:t>▲ 28.9%</a:t>
                      </a:r>
                    </a:p>
                  </a:txBody>
                  <a:tcPr marL="85725" marR="38100" marT="19050" marB="19050" anchor="ctr">
                    <a:solidFill>
                      <a:srgbClr val="F5F8FA"/>
                    </a:solidFill>
                  </a:tcPr>
                </a:tc>
                <a:tc>
                  <a:txBody>
                    <a:bodyPr wrap="none"/>
                    <a:lstStyle/>
                    <a:p>
                      <a:pPr algn="l"/>
                      <a:r>
                        <a:rPr sz="800" b="1">
                          <a:solidFill>
                            <a:srgbClr val="2E7D32"/>
                          </a:solidFill>
                          <a:latin typeface="Calibri"/>
                        </a:rPr>
                        <a:t>▲ 26.1%</a:t>
                      </a:r>
                    </a:p>
                  </a:txBody>
                  <a:tcPr marL="85725" marR="38100" marT="19050" marB="19050" anchor="ctr">
                    <a:solidFill>
                      <a:srgbClr val="F5F8FA"/>
                    </a:solidFill>
                  </a:tcPr>
                </a:tc>
                <a:tc>
                  <a:txBody>
                    <a:bodyPr wrap="none"/>
                    <a:lstStyle/>
                    <a:p>
                      <a:pPr algn="l"/>
                      <a:r>
                        <a:rPr sz="800" b="1">
                          <a:solidFill>
                            <a:srgbClr val="2E7D32"/>
                          </a:solidFill>
                          <a:latin typeface="Calibri"/>
                        </a:rPr>
                        <a:t>▲ 22.3%</a:t>
                      </a:r>
                    </a:p>
                  </a:txBody>
                  <a:tcPr marL="85725" marR="38100" marT="19050" marB="19050" anchor="ctr">
                    <a:solidFill>
                      <a:srgbClr val="F5F8FA"/>
                    </a:solidFill>
                  </a:tcPr>
                </a:tc>
                <a:tc>
                  <a:txBody>
                    <a:bodyPr wrap="none"/>
                    <a:lstStyle/>
                    <a:p>
                      <a:pPr algn="l"/>
                      <a:r>
                        <a:rPr sz="800" b="1">
                          <a:solidFill>
                            <a:srgbClr val="2E7D32"/>
                          </a:solidFill>
                          <a:latin typeface="Calibri"/>
                        </a:rPr>
                        <a:t>▲ 20.1%</a:t>
                      </a:r>
                    </a:p>
                  </a:txBody>
                  <a:tcPr marL="85725" marR="38100" marT="19050" marB="19050" anchor="ctr">
                    <a:solidFill>
                      <a:srgbClr val="F5F8FA"/>
                    </a:solidFill>
                  </a:tcPr>
                </a:tc>
                <a:tc>
                  <a:txBody>
                    <a:bodyPr wrap="none"/>
                    <a:lstStyle/>
                    <a:p>
                      <a:pPr algn="l"/>
                      <a:r>
                        <a:rPr sz="800" b="1">
                          <a:solidFill>
                            <a:srgbClr val="2E7D32"/>
                          </a:solidFill>
                          <a:latin typeface="Calibri"/>
                        </a:rPr>
                        <a:t>▲ 17.6%</a:t>
                      </a:r>
                    </a:p>
                  </a:txBody>
                  <a:tcPr marL="85725" marR="38100" marT="19050" marB="19050" anchor="ctr">
                    <a:solidFill>
                      <a:srgbClr val="F5F8FA"/>
                    </a:solidFill>
                  </a:tcPr>
                </a:tc>
                <a:tc>
                  <a:txBody>
                    <a:bodyPr wrap="none"/>
                    <a:lstStyle/>
                    <a:p>
                      <a:pPr algn="l"/>
                      <a:r>
                        <a:rPr sz="800" b="1">
                          <a:solidFill>
                            <a:srgbClr val="2E7D32"/>
                          </a:solidFill>
                          <a:latin typeface="Calibri"/>
                        </a:rPr>
                        <a:t>▲ 15.9%</a:t>
                      </a:r>
                    </a:p>
                  </a:txBody>
                  <a:tcPr marL="85725" marR="38100" marT="19050" marB="19050" anchor="ctr">
                    <a:solidFill>
                      <a:srgbClr val="F5F8FA"/>
                    </a:solidFill>
                  </a:tcPr>
                </a:tc>
                <a:tc>
                  <a:txBody>
                    <a:bodyPr wrap="none"/>
                    <a:lstStyle/>
                    <a:p>
                      <a:pPr algn="l"/>
                      <a:r>
                        <a:rPr sz="800" b="1">
                          <a:solidFill>
                            <a:srgbClr val="2E7D32"/>
                          </a:solidFill>
                          <a:latin typeface="Calibri"/>
                        </a:rPr>
                        <a:t>▲ 14.5%</a:t>
                      </a:r>
                    </a:p>
                  </a:txBody>
                  <a:tcPr marL="85725" marR="38100" marT="19050" marB="19050" anchor="ctr">
                    <a:solidFill>
                      <a:srgbClr val="F5F8FA"/>
                    </a:solidFill>
                  </a:tcPr>
                </a:tc>
                <a:tc>
                  <a:txBody>
                    <a:bodyPr wrap="none"/>
                    <a:lstStyle/>
                    <a:p>
                      <a:pPr algn="l"/>
                      <a:r>
                        <a:rPr sz="800" b="1">
                          <a:solidFill>
                            <a:srgbClr val="2E7D32"/>
                          </a:solidFill>
                          <a:latin typeface="Calibri"/>
                        </a:rPr>
                        <a:t>▲ 13.3%</a:t>
                      </a:r>
                    </a:p>
                  </a:txBody>
                  <a:tcPr marL="85725" marR="38100" marT="19050" marB="19050" anchor="ctr">
                    <a:solidFill>
                      <a:srgbClr val="F5F8FA"/>
                    </a:solidFill>
                  </a:tcPr>
                </a:tc>
                <a:tc>
                  <a:txBody>
                    <a:bodyPr wrap="none"/>
                    <a:lstStyle/>
                    <a:p>
                      <a:pPr algn="l"/>
                      <a:r>
                        <a:rPr sz="800" b="1">
                          <a:solidFill>
                            <a:srgbClr val="2E7D32"/>
                          </a:solidFill>
                          <a:latin typeface="Calibri"/>
                        </a:rPr>
                        <a:t>▲ 12.4%</a:t>
                      </a:r>
                    </a:p>
                  </a:txBody>
                  <a:tcPr marL="85725" marR="38100" marT="19050" marB="19050" anchor="ctr">
                    <a:solidFill>
                      <a:srgbClr val="F5F8FA"/>
                    </a:solidFill>
                  </a:tcPr>
                </a:tc>
                <a:tc>
                  <a:txBody>
                    <a:bodyPr wrap="none"/>
                    <a:lstStyle/>
                    <a:p>
                      <a:pPr algn="l"/>
                      <a:r>
                        <a:rPr sz="800" b="1">
                          <a:solidFill>
                            <a:srgbClr val="2E7D32"/>
                          </a:solidFill>
                          <a:latin typeface="Calibri"/>
                        </a:rPr>
                        <a:t>▲ 11.5%</a:t>
                      </a:r>
                    </a:p>
                  </a:txBody>
                  <a:tcPr marL="85725" marR="38100" marT="19050" marB="19050" anchor="ctr">
                    <a:solidFill>
                      <a:srgbClr val="F5F8FA"/>
                    </a:solidFill>
                  </a:tcPr>
                </a:tc>
                <a:tc>
                  <a:txBody>
                    <a:bodyPr wrap="none"/>
                    <a:lstStyle/>
                    <a:p>
                      <a:pPr algn="l"/>
                      <a:r>
                        <a:rPr sz="800" b="1">
                          <a:solidFill>
                            <a:srgbClr val="2E7D32"/>
                          </a:solidFill>
                          <a:latin typeface="Calibri"/>
                        </a:rPr>
                        <a:t>▲ 10.9%</a:t>
                      </a:r>
                    </a:p>
                  </a:txBody>
                  <a:tcPr marL="85725" marR="38100" marT="19050" marB="19050" anchor="ctr">
                    <a:solidFill>
                      <a:srgbClr val="F5F8FA"/>
                    </a:solidFill>
                  </a:tcPr>
                </a:tc>
                <a:tc>
                  <a:txBody>
                    <a:bodyPr wrap="none"/>
                    <a:lstStyle/>
                    <a:p>
                      <a:pPr algn="l"/>
                      <a:r>
                        <a:rPr sz="800" b="1">
                          <a:solidFill>
                            <a:srgbClr val="2E7D32"/>
                          </a:solidFill>
                          <a:latin typeface="Calibri"/>
                        </a:rPr>
                        <a:t>▲ 10.3%</a:t>
                      </a:r>
                    </a:p>
                  </a:txBody>
                  <a:tcPr marL="85725" marR="38100" marT="19050" marB="19050" anchor="ctr">
                    <a:solidFill>
                      <a:srgbClr val="F5F8FA"/>
                    </a:solidFill>
                  </a:tcPr>
                </a:tc>
                <a:tc>
                  <a:txBody>
                    <a:bodyPr wrap="none"/>
                    <a:lstStyle/>
                    <a:p>
                      <a:pPr algn="l"/>
                      <a:r>
                        <a:rPr sz="800" b="1">
                          <a:solidFill>
                            <a:srgbClr val="2E7D32"/>
                          </a:solidFill>
                          <a:latin typeface="Calibri"/>
                        </a:rPr>
                        <a:t>▲ 9.9%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800" b="1">
                          <a:solidFill>
                            <a:srgbClr val="2E7D32"/>
                          </a:solidFill>
                          <a:latin typeface="Calibri"/>
                        </a:rPr>
                        <a:t>▲ 16.9%</a:t>
                      </a:r>
                    </a:p>
                  </a:txBody>
                  <a:tcPr marL="85725" marR="38100" marT="19050" marB="19050" anchor="ctr">
                    <a:solidFill>
                      <a:srgbClr val="FFFFFF"/>
                    </a:solidFill>
                  </a:tcPr>
                </a:tc>
                <a:tc>
                  <a:txBody>
                    <a:bodyPr wrap="none"/>
                    <a:lstStyle/>
                    <a:p>
                      <a:pPr algn="l"/>
                      <a:r>
                        <a:rPr sz="800" b="1">
                          <a:solidFill>
                            <a:srgbClr val="2E7D32"/>
                          </a:solidFill>
                          <a:latin typeface="Calibri"/>
                        </a:rPr>
                        <a:t>▲ 23.9%</a:t>
                      </a:r>
                    </a:p>
                  </a:txBody>
                  <a:tcPr marL="85725" marR="38100" marT="19050" marB="19050" anchor="ctr">
                    <a:solidFill>
                      <a:srgbClr val="FFFFFF"/>
                    </a:solidFill>
                  </a:tcPr>
                </a:tc>
                <a:tc>
                  <a:txBody>
                    <a:bodyPr wrap="none"/>
                    <a:lstStyle/>
                    <a:p>
                      <a:pPr algn="l"/>
                      <a:r>
                        <a:rPr sz="800" b="1">
                          <a:solidFill>
                            <a:srgbClr val="2E7D32"/>
                          </a:solidFill>
                          <a:latin typeface="Calibri"/>
                        </a:rPr>
                        <a:t>▲ 27.9%</a:t>
                      </a:r>
                    </a:p>
                  </a:txBody>
                  <a:tcPr marL="85725" marR="38100" marT="19050" marB="19050" anchor="ctr">
                    <a:solidFill>
                      <a:srgbClr val="FFFFFF"/>
                    </a:solidFill>
                  </a:tcPr>
                </a:tc>
                <a:tc>
                  <a:txBody>
                    <a:bodyPr wrap="none"/>
                    <a:lstStyle/>
                    <a:p>
                      <a:pPr algn="l"/>
                      <a:r>
                        <a:rPr sz="800" b="1">
                          <a:solidFill>
                            <a:srgbClr val="2E7D32"/>
                          </a:solidFill>
                          <a:latin typeface="Calibri"/>
                        </a:rPr>
                        <a:t>▲ 25.1%</a:t>
                      </a:r>
                    </a:p>
                  </a:txBody>
                  <a:tcPr marL="85725" marR="38100" marT="19050" marB="19050" anchor="ctr">
                    <a:solidFill>
                      <a:srgbClr val="FFFFFF"/>
                    </a:solidFill>
                  </a:tcPr>
                </a:tc>
                <a:tc>
                  <a:txBody>
                    <a:bodyPr wrap="none"/>
                    <a:lstStyle/>
                    <a:p>
                      <a:pPr algn="l"/>
                      <a:r>
                        <a:rPr sz="800" b="1">
                          <a:solidFill>
                            <a:srgbClr val="2E7D32"/>
                          </a:solidFill>
                          <a:latin typeface="Calibri"/>
                        </a:rPr>
                        <a:t>▲ 21.4%</a:t>
                      </a:r>
                    </a:p>
                  </a:txBody>
                  <a:tcPr marL="85725" marR="38100" marT="19050" marB="19050" anchor="ctr">
                    <a:solidFill>
                      <a:srgbClr val="FFFFFF"/>
                    </a:solidFill>
                  </a:tcPr>
                </a:tc>
                <a:tc>
                  <a:txBody>
                    <a:bodyPr wrap="none"/>
                    <a:lstStyle/>
                    <a:p>
                      <a:pPr algn="l"/>
                      <a:r>
                        <a:rPr sz="800" b="1">
                          <a:solidFill>
                            <a:srgbClr val="2E7D32"/>
                          </a:solidFill>
                          <a:latin typeface="Calibri"/>
                        </a:rPr>
                        <a:t>▲ 19.1%</a:t>
                      </a:r>
                    </a:p>
                  </a:txBody>
                  <a:tcPr marL="85725" marR="38100" marT="19050" marB="19050" anchor="ctr">
                    <a:solidFill>
                      <a:srgbClr val="FFFFFF"/>
                    </a:solidFill>
                  </a:tcPr>
                </a:tc>
                <a:tc>
                  <a:txBody>
                    <a:bodyPr wrap="none"/>
                    <a:lstStyle/>
                    <a:p>
                      <a:pPr algn="l"/>
                      <a:r>
                        <a:rPr sz="800" b="1">
                          <a:solidFill>
                            <a:srgbClr val="2E7D32"/>
                          </a:solidFill>
                          <a:latin typeface="Calibri"/>
                        </a:rPr>
                        <a:t>▲ 16.7%</a:t>
                      </a:r>
                    </a:p>
                  </a:txBody>
                  <a:tcPr marL="85725" marR="38100" marT="19050" marB="19050" anchor="ctr">
                    <a:solidFill>
                      <a:srgbClr val="FFFFFF"/>
                    </a:solidFill>
                  </a:tcPr>
                </a:tc>
                <a:tc>
                  <a:txBody>
                    <a:bodyPr wrap="none"/>
                    <a:lstStyle/>
                    <a:p>
                      <a:pPr algn="l"/>
                      <a:r>
                        <a:rPr sz="800" b="1">
                          <a:solidFill>
                            <a:srgbClr val="2E7D32"/>
                          </a:solidFill>
                          <a:latin typeface="Calibri"/>
                        </a:rPr>
                        <a:t>▲ 15.0%</a:t>
                      </a:r>
                    </a:p>
                  </a:txBody>
                  <a:tcPr marL="85725" marR="38100" marT="19050" marB="19050" anchor="ctr">
                    <a:solidFill>
                      <a:srgbClr val="FFFFFF"/>
                    </a:solidFill>
                  </a:tcPr>
                </a:tc>
                <a:tc>
                  <a:txBody>
                    <a:bodyPr wrap="none"/>
                    <a:lstStyle/>
                    <a:p>
                      <a:pPr algn="l"/>
                      <a:r>
                        <a:rPr sz="800" b="1">
                          <a:solidFill>
                            <a:srgbClr val="A86F00"/>
                          </a:solidFill>
                          <a:latin typeface="Calibri"/>
                        </a:rPr>
                        <a:t>▶ 13.6%</a:t>
                      </a:r>
                    </a:p>
                  </a:txBody>
                  <a:tcPr marL="85725" marR="38100" marT="19050" marB="19050" anchor="ctr">
                    <a:solidFill>
                      <a:srgbClr val="FFFFFF"/>
                    </a:solidFill>
                  </a:tcPr>
                </a:tc>
                <a:tc>
                  <a:txBody>
                    <a:bodyPr wrap="none"/>
                    <a:lstStyle/>
                    <a:p>
                      <a:pPr algn="l"/>
                      <a:r>
                        <a:rPr sz="800" b="1">
                          <a:solidFill>
                            <a:srgbClr val="A86F00"/>
                          </a:solidFill>
                          <a:latin typeface="Calibri"/>
                        </a:rPr>
                        <a:t>▶ 12.5%</a:t>
                      </a:r>
                    </a:p>
                  </a:txBody>
                  <a:tcPr marL="85725" marR="38100" marT="19050" marB="19050" anchor="ctr">
                    <a:solidFill>
                      <a:srgbClr val="FFFFFF"/>
                    </a:solidFill>
                  </a:tcPr>
                </a:tc>
                <a:tc>
                  <a:txBody>
                    <a:bodyPr wrap="none"/>
                    <a:lstStyle/>
                    <a:p>
                      <a:pPr algn="l"/>
                      <a:r>
                        <a:rPr sz="800" b="1">
                          <a:solidFill>
                            <a:srgbClr val="A86F00"/>
                          </a:solidFill>
                          <a:latin typeface="Calibri"/>
                        </a:rPr>
                        <a:t>▶ 11.5%</a:t>
                      </a:r>
                    </a:p>
                  </a:txBody>
                  <a:tcPr marL="85725" marR="38100" marT="19050" marB="19050" anchor="ctr">
                    <a:solidFill>
                      <a:srgbClr val="FFFFFF"/>
                    </a:solidFill>
                  </a:tcPr>
                </a:tc>
                <a:tc>
                  <a:txBody>
                    <a:bodyPr wrap="none"/>
                    <a:lstStyle/>
                    <a:p>
                      <a:pPr algn="l"/>
                      <a:r>
                        <a:rPr sz="800" b="1">
                          <a:solidFill>
                            <a:srgbClr val="A86F00"/>
                          </a:solidFill>
                          <a:latin typeface="Calibri"/>
                        </a:rPr>
                        <a:t>▶ 10.7%</a:t>
                      </a:r>
                    </a:p>
                  </a:txBody>
                  <a:tcPr marL="85725" marR="38100" marT="19050" marB="19050" anchor="ctr">
                    <a:solidFill>
                      <a:srgbClr val="FFFFFF"/>
                    </a:solidFill>
                  </a:tcPr>
                </a:tc>
                <a:tc>
                  <a:txBody>
                    <a:bodyPr wrap="none"/>
                    <a:lstStyle/>
                    <a:p>
                      <a:pPr algn="l"/>
                      <a:r>
                        <a:rPr sz="800" b="1">
                          <a:solidFill>
                            <a:srgbClr val="A86F00"/>
                          </a:solidFill>
                          <a:latin typeface="Calibri"/>
                        </a:rPr>
                        <a:t>▶ 10.0%</a:t>
                      </a:r>
                    </a:p>
                  </a:txBody>
                  <a:tcPr marL="85725" marR="38100" marT="19050" marB="19050" anchor="ctr">
                    <a:solidFill>
                      <a:srgbClr val="FFFFFF"/>
                    </a:solidFill>
                  </a:tcPr>
                </a:tc>
                <a:tc>
                  <a:txBody>
                    <a:bodyPr wrap="none"/>
                    <a:lstStyle/>
                    <a:p>
                      <a:pPr algn="l"/>
                      <a:r>
                        <a:rPr sz="800" b="1">
                          <a:solidFill>
                            <a:srgbClr val="A86F00"/>
                          </a:solidFill>
                          <a:latin typeface="Calibri"/>
                        </a:rPr>
                        <a:t>▶ 9.5%</a:t>
                      </a:r>
                    </a:p>
                  </a:txBody>
                  <a:tcPr marL="85725" marR="38100" marT="19050" marB="19050" anchor="ctr">
                    <a:solidFill>
                      <a:srgbClr val="FFFFFF"/>
                    </a:solidFill>
                  </a:tcPr>
                </a:tc>
                <a:tc>
                  <a:txBody>
                    <a:bodyPr wrap="none"/>
                    <a:lstStyle/>
                    <a:p>
                      <a:pPr algn="l"/>
                      <a:r>
                        <a:rPr sz="800" b="1">
                          <a:solidFill>
                            <a:srgbClr val="A86F00"/>
                          </a:solidFill>
                          <a:latin typeface="Calibri"/>
                        </a:rPr>
                        <a:t>▶ 9.0%</a:t>
                      </a:r>
                    </a:p>
                  </a:txBody>
                  <a:tcPr marL="85725" marR="38100" marT="19050" marB="19050" anchor="ctr">
                    <a:solidFill>
                      <a:srgbClr val="FFFFFF"/>
                    </a:solidFill>
                  </a:tcPr>
                </a:tc>
              </a:tr>
            </a:tbl>
          </a:graphicData>
        </a:graphic>
      </p:graphicFrame>
      <p:sp>
        <p:nvSpPr>
          <p:cNvPr id="14" name="TextBox 13"/>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ectangle 1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7" name="Rounded Rectangle 1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9" name="Rounded Rectangle 1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YoY Analysis Product Type   ·   (continued 2/2)</a:t>
            </a:r>
          </a:p>
        </p:txBody>
      </p:sp>
      <p:sp>
        <p:nvSpPr>
          <p:cNvPr id="10" name="Rounded Rectangle 9"/>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Value YoY, By Product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2" name="Table 11"/>
          <p:cNvGraphicFramePr>
            <a:graphicFrameLocks noGrp="1"/>
          </p:cNvGraphicFramePr>
          <p:nvPr/>
        </p:nvGraphicFramePr>
        <p:xfrm>
          <a:off x="238125" y="1143000"/>
          <a:ext cx="11715750" cy="2171700"/>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Product Type</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800" b="1">
                          <a:solidFill>
                            <a:srgbClr val="A86F00"/>
                          </a:solidFill>
                          <a:latin typeface="Calibri"/>
                        </a:rPr>
                        <a:t>▶ 12.7%</a:t>
                      </a:r>
                    </a:p>
                  </a:txBody>
                  <a:tcPr marL="85725" marR="38100" marT="19050" marB="19050" anchor="ctr">
                    <a:solidFill>
                      <a:srgbClr val="FFFFFF"/>
                    </a:solidFill>
                  </a:tcPr>
                </a:tc>
                <a:tc>
                  <a:txBody>
                    <a:bodyPr wrap="none"/>
                    <a:lstStyle/>
                    <a:p>
                      <a:pPr algn="l"/>
                      <a:r>
                        <a:rPr sz="800" b="1">
                          <a:solidFill>
                            <a:srgbClr val="A86F00"/>
                          </a:solidFill>
                          <a:latin typeface="Calibri"/>
                        </a:rPr>
                        <a:t>▶ 19.6%</a:t>
                      </a:r>
                    </a:p>
                  </a:txBody>
                  <a:tcPr marL="85725" marR="38100" marT="19050" marB="19050" anchor="ctr">
                    <a:solidFill>
                      <a:srgbClr val="FFFFFF"/>
                    </a:solidFill>
                  </a:tcPr>
                </a:tc>
                <a:tc>
                  <a:txBody>
                    <a:bodyPr wrap="none"/>
                    <a:lstStyle/>
                    <a:p>
                      <a:pPr algn="l"/>
                      <a:r>
                        <a:rPr sz="800" b="1">
                          <a:solidFill>
                            <a:srgbClr val="A86F00"/>
                          </a:solidFill>
                          <a:latin typeface="Calibri"/>
                        </a:rPr>
                        <a:t>▶ 23.4%</a:t>
                      </a:r>
                    </a:p>
                  </a:txBody>
                  <a:tcPr marL="85725" marR="38100" marT="19050" marB="19050" anchor="ctr">
                    <a:solidFill>
                      <a:srgbClr val="FFFFFF"/>
                    </a:solidFill>
                  </a:tcPr>
                </a:tc>
                <a:tc>
                  <a:txBody>
                    <a:bodyPr wrap="none"/>
                    <a:lstStyle/>
                    <a:p>
                      <a:pPr algn="l"/>
                      <a:r>
                        <a:rPr sz="800" b="1">
                          <a:solidFill>
                            <a:srgbClr val="A86F00"/>
                          </a:solidFill>
                          <a:latin typeface="Calibri"/>
                        </a:rPr>
                        <a:t>▶ 20.7%</a:t>
                      </a:r>
                    </a:p>
                  </a:txBody>
                  <a:tcPr marL="85725" marR="38100" marT="19050" marB="19050" anchor="ctr">
                    <a:solidFill>
                      <a:srgbClr val="FFFFFF"/>
                    </a:solidFill>
                  </a:tcPr>
                </a:tc>
                <a:tc>
                  <a:txBody>
                    <a:bodyPr wrap="none"/>
                    <a:lstStyle/>
                    <a:p>
                      <a:pPr algn="l"/>
                      <a:r>
                        <a:rPr sz="800" b="1">
                          <a:solidFill>
                            <a:srgbClr val="A86F00"/>
                          </a:solidFill>
                          <a:latin typeface="Calibri"/>
                        </a:rPr>
                        <a:t>▶ 17.1%</a:t>
                      </a:r>
                    </a:p>
                  </a:txBody>
                  <a:tcPr marL="85725" marR="38100" marT="19050" marB="19050" anchor="ctr">
                    <a:solidFill>
                      <a:srgbClr val="FFFFFF"/>
                    </a:solidFill>
                  </a:tcPr>
                </a:tc>
                <a:tc>
                  <a:txBody>
                    <a:bodyPr wrap="none"/>
                    <a:lstStyle/>
                    <a:p>
                      <a:pPr algn="l"/>
                      <a:r>
                        <a:rPr sz="800" b="1">
                          <a:solidFill>
                            <a:srgbClr val="A86F00"/>
                          </a:solidFill>
                          <a:latin typeface="Calibri"/>
                        </a:rPr>
                        <a:t>▶ 14.9%</a:t>
                      </a:r>
                    </a:p>
                  </a:txBody>
                  <a:tcPr marL="85725" marR="38100" marT="19050" marB="19050" anchor="ctr">
                    <a:solidFill>
                      <a:srgbClr val="FFFFFF"/>
                    </a:solidFill>
                  </a:tcPr>
                </a:tc>
                <a:tc>
                  <a:txBody>
                    <a:bodyPr wrap="none"/>
                    <a:lstStyle/>
                    <a:p>
                      <a:pPr algn="l"/>
                      <a:r>
                        <a:rPr sz="800" b="1">
                          <a:solidFill>
                            <a:srgbClr val="A86F00"/>
                          </a:solidFill>
                          <a:latin typeface="Calibri"/>
                        </a:rPr>
                        <a:t>▶ 12.6%</a:t>
                      </a:r>
                    </a:p>
                  </a:txBody>
                  <a:tcPr marL="85725" marR="38100" marT="19050" marB="19050" anchor="ctr">
                    <a:solidFill>
                      <a:srgbClr val="FFFFFF"/>
                    </a:solidFill>
                  </a:tcPr>
                </a:tc>
                <a:tc>
                  <a:txBody>
                    <a:bodyPr wrap="none"/>
                    <a:lstStyle/>
                    <a:p>
                      <a:pPr algn="l"/>
                      <a:r>
                        <a:rPr sz="800" b="1">
                          <a:solidFill>
                            <a:srgbClr val="A86F00"/>
                          </a:solidFill>
                          <a:latin typeface="Calibri"/>
                        </a:rPr>
                        <a:t>▶ 10.9%</a:t>
                      </a:r>
                    </a:p>
                  </a:txBody>
                  <a:tcPr marL="85725" marR="38100" marT="19050" marB="19050" anchor="ctr">
                    <a:solidFill>
                      <a:srgbClr val="FFFFFF"/>
                    </a:solidFill>
                  </a:tcPr>
                </a:tc>
                <a:tc>
                  <a:txBody>
                    <a:bodyPr wrap="none"/>
                    <a:lstStyle/>
                    <a:p>
                      <a:pPr algn="l"/>
                      <a:r>
                        <a:rPr sz="800" b="1">
                          <a:solidFill>
                            <a:srgbClr val="A86F00"/>
                          </a:solidFill>
                          <a:latin typeface="Calibri"/>
                        </a:rPr>
                        <a:t>▶ 9.6%</a:t>
                      </a:r>
                    </a:p>
                  </a:txBody>
                  <a:tcPr marL="85725" marR="38100" marT="19050" marB="19050" anchor="ctr">
                    <a:solidFill>
                      <a:srgbClr val="FFFFFF"/>
                    </a:solidFill>
                  </a:tcPr>
                </a:tc>
                <a:tc>
                  <a:txBody>
                    <a:bodyPr wrap="none"/>
                    <a:lstStyle/>
                    <a:p>
                      <a:pPr algn="l"/>
                      <a:r>
                        <a:rPr sz="800" b="1">
                          <a:solidFill>
                            <a:srgbClr val="A86F00"/>
                          </a:solidFill>
                          <a:latin typeface="Calibri"/>
                        </a:rPr>
                        <a:t>▶ 8.5%</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6.1%</a:t>
                      </a:r>
                    </a:p>
                  </a:txBody>
                  <a:tcPr marL="85725" marR="38100" marT="19050" marB="19050" anchor="ctr">
                    <a:solidFill>
                      <a:srgbClr val="FFFFFF"/>
                    </a:solidFill>
                  </a:tcPr>
                </a:tc>
                <a:tc>
                  <a:txBody>
                    <a:bodyPr wrap="none"/>
                    <a:lstStyle/>
                    <a:p>
                      <a:pPr algn="l"/>
                      <a:r>
                        <a:rPr sz="800" b="1">
                          <a:solidFill>
                            <a:srgbClr val="A86F00"/>
                          </a:solidFill>
                          <a:latin typeface="Calibri"/>
                        </a:rPr>
                        <a:t>▶ 5.6%</a:t>
                      </a:r>
                    </a:p>
                  </a:txBody>
                  <a:tcPr marL="85725" marR="38100" marT="19050" marB="19050" anchor="ctr">
                    <a:solidFill>
                      <a:srgbClr val="FFFFFF"/>
                    </a:solidFill>
                  </a:tcPr>
                </a:tc>
                <a:tc>
                  <a:txBody>
                    <a:bodyPr wrap="none"/>
                    <a:lstStyle/>
                    <a:p>
                      <a:pPr algn="l"/>
                      <a:r>
                        <a:rPr sz="800" b="1">
                          <a:solidFill>
                            <a:srgbClr val="A86F00"/>
                          </a:solidFill>
                          <a:latin typeface="Calibri"/>
                        </a:rPr>
                        <a:t>▶ 5.1%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Cyltezo</a:t>
                      </a:r>
                    </a:p>
                  </a:txBody>
                  <a:tcPr marL="85725" marR="38100" marT="19050" marB="19050" anchor="ctr">
                    <a:solidFill>
                      <a:srgbClr val="F5F8FA"/>
                    </a:solidFill>
                  </a:tcPr>
                </a:tc>
                <a:tc>
                  <a:txBody>
                    <a:bodyPr wrap="none"/>
                    <a:lstStyle/>
                    <a:p>
                      <a:pPr algn="l"/>
                      <a:r>
                        <a:rPr sz="800" b="1">
                          <a:solidFill>
                            <a:srgbClr val="A86F00"/>
                          </a:solidFill>
                          <a:latin typeface="Calibri"/>
                        </a:rPr>
                        <a:t>▶ 12.6%</a:t>
                      </a:r>
                    </a:p>
                  </a:txBody>
                  <a:tcPr marL="85725" marR="38100" marT="19050" marB="19050" anchor="ctr">
                    <a:solidFill>
                      <a:srgbClr val="F5F8FA"/>
                    </a:solidFill>
                  </a:tcPr>
                </a:tc>
                <a:tc>
                  <a:txBody>
                    <a:bodyPr wrap="none"/>
                    <a:lstStyle/>
                    <a:p>
                      <a:pPr algn="l"/>
                      <a:r>
                        <a:rPr sz="800" b="1">
                          <a:solidFill>
                            <a:srgbClr val="A86F00"/>
                          </a:solidFill>
                          <a:latin typeface="Calibri"/>
                        </a:rPr>
                        <a:t>▶ 19.4%</a:t>
                      </a:r>
                    </a:p>
                  </a:txBody>
                  <a:tcPr marL="85725" marR="38100" marT="19050" marB="19050" anchor="ctr">
                    <a:solidFill>
                      <a:srgbClr val="F5F8FA"/>
                    </a:solidFill>
                  </a:tcPr>
                </a:tc>
                <a:tc>
                  <a:txBody>
                    <a:bodyPr wrap="none"/>
                    <a:lstStyle/>
                    <a:p>
                      <a:pPr algn="l"/>
                      <a:r>
                        <a:rPr sz="800" b="1">
                          <a:solidFill>
                            <a:srgbClr val="A86F00"/>
                          </a:solidFill>
                          <a:latin typeface="Calibri"/>
                        </a:rPr>
                        <a:t>▶ 23.2%</a:t>
                      </a:r>
                    </a:p>
                  </a:txBody>
                  <a:tcPr marL="85725" marR="38100" marT="19050" marB="19050" anchor="ctr">
                    <a:solidFill>
                      <a:srgbClr val="F5F8FA"/>
                    </a:solidFill>
                  </a:tcPr>
                </a:tc>
                <a:tc>
                  <a:txBody>
                    <a:bodyPr wrap="none"/>
                    <a:lstStyle/>
                    <a:p>
                      <a:pPr algn="l"/>
                      <a:r>
                        <a:rPr sz="800" b="1">
                          <a:solidFill>
                            <a:srgbClr val="A86F00"/>
                          </a:solidFill>
                          <a:latin typeface="Calibri"/>
                        </a:rPr>
                        <a:t>▶ 20.6%</a:t>
                      </a:r>
                    </a:p>
                  </a:txBody>
                  <a:tcPr marL="85725" marR="38100" marT="19050" marB="19050" anchor="ctr">
                    <a:solidFill>
                      <a:srgbClr val="F5F8FA"/>
                    </a:solidFill>
                  </a:tcPr>
                </a:tc>
                <a:tc>
                  <a:txBody>
                    <a:bodyPr wrap="none"/>
                    <a:lstStyle/>
                    <a:p>
                      <a:pPr algn="l"/>
                      <a:r>
                        <a:rPr sz="800" b="1">
                          <a:solidFill>
                            <a:srgbClr val="A86F00"/>
                          </a:solidFill>
                          <a:latin typeface="Calibri"/>
                        </a:rPr>
                        <a:t>▶ 16.9%</a:t>
                      </a:r>
                    </a:p>
                  </a:txBody>
                  <a:tcPr marL="85725" marR="38100" marT="19050" marB="19050" anchor="ctr">
                    <a:solidFill>
                      <a:srgbClr val="F5F8FA"/>
                    </a:solidFill>
                  </a:tcPr>
                </a:tc>
                <a:tc>
                  <a:txBody>
                    <a:bodyPr wrap="none"/>
                    <a:lstStyle/>
                    <a:p>
                      <a:pPr algn="l"/>
                      <a:r>
                        <a:rPr sz="800" b="1">
                          <a:solidFill>
                            <a:srgbClr val="A86F00"/>
                          </a:solidFill>
                          <a:latin typeface="Calibri"/>
                        </a:rPr>
                        <a:t>▶ 14.8%</a:t>
                      </a:r>
                    </a:p>
                  </a:txBody>
                  <a:tcPr marL="85725" marR="38100" marT="19050" marB="19050" anchor="ctr">
                    <a:solidFill>
                      <a:srgbClr val="F5F8FA"/>
                    </a:solidFill>
                  </a:tcPr>
                </a:tc>
                <a:tc>
                  <a:txBody>
                    <a:bodyPr wrap="none"/>
                    <a:lstStyle/>
                    <a:p>
                      <a:pPr algn="l"/>
                      <a:r>
                        <a:rPr sz="800" b="1">
                          <a:solidFill>
                            <a:srgbClr val="A86F00"/>
                          </a:solidFill>
                          <a:latin typeface="Calibri"/>
                        </a:rPr>
                        <a:t>▶ 12.4%</a:t>
                      </a:r>
                    </a:p>
                  </a:txBody>
                  <a:tcPr marL="85725" marR="38100" marT="19050" marB="19050" anchor="ctr">
                    <a:solidFill>
                      <a:srgbClr val="F5F8FA"/>
                    </a:solidFill>
                  </a:tcPr>
                </a:tc>
                <a:tc>
                  <a:txBody>
                    <a:bodyPr wrap="none"/>
                    <a:lstStyle/>
                    <a:p>
                      <a:pPr algn="l"/>
                      <a:r>
                        <a:rPr sz="800" b="1">
                          <a:solidFill>
                            <a:srgbClr val="A86F00"/>
                          </a:solidFill>
                          <a:latin typeface="Calibri"/>
                        </a:rPr>
                        <a:t>▶ 10.8%</a:t>
                      </a:r>
                    </a:p>
                  </a:txBody>
                  <a:tcPr marL="85725" marR="38100" marT="19050" marB="19050" anchor="ctr">
                    <a:solidFill>
                      <a:srgbClr val="F5F8FA"/>
                    </a:solidFill>
                  </a:tcPr>
                </a:tc>
                <a:tc>
                  <a:txBody>
                    <a:bodyPr wrap="none"/>
                    <a:lstStyle/>
                    <a:p>
                      <a:pPr algn="l"/>
                      <a:r>
                        <a:rPr sz="800" b="1">
                          <a:solidFill>
                            <a:srgbClr val="A86F00"/>
                          </a:solidFill>
                          <a:latin typeface="Calibri"/>
                        </a:rPr>
                        <a:t>▶ 9.5%</a:t>
                      </a:r>
                    </a:p>
                  </a:txBody>
                  <a:tcPr marL="85725" marR="38100" marT="19050" marB="19050" anchor="ctr">
                    <a:solidFill>
                      <a:srgbClr val="F5F8FA"/>
                    </a:solidFill>
                  </a:tcPr>
                </a:tc>
                <a:tc>
                  <a:txBody>
                    <a:bodyPr wrap="none"/>
                    <a:lstStyle/>
                    <a:p>
                      <a:pPr algn="l"/>
                      <a:r>
                        <a:rPr sz="800" b="1">
                          <a:solidFill>
                            <a:srgbClr val="A86F00"/>
                          </a:solidFill>
                          <a:latin typeface="Calibri"/>
                        </a:rPr>
                        <a:t>▶ 8.3%</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6.6%</a:t>
                      </a:r>
                    </a:p>
                  </a:txBody>
                  <a:tcPr marL="85725" marR="38100" marT="19050" marB="19050" anchor="ctr">
                    <a:solidFill>
                      <a:srgbClr val="F5F8FA"/>
                    </a:solidFill>
                  </a:tcPr>
                </a:tc>
                <a:tc>
                  <a:txBody>
                    <a:bodyPr wrap="none"/>
                    <a:lstStyle/>
                    <a:p>
                      <a:pPr algn="l"/>
                      <a:r>
                        <a:rPr sz="800" b="1">
                          <a:solidFill>
                            <a:srgbClr val="A86F00"/>
                          </a:solidFill>
                          <a:latin typeface="Calibri"/>
                        </a:rPr>
                        <a:t>▶ 5.9%</a:t>
                      </a:r>
                    </a:p>
                  </a:txBody>
                  <a:tcPr marL="85725" marR="38100" marT="19050" marB="19050" anchor="ctr">
                    <a:solidFill>
                      <a:srgbClr val="F5F8FA"/>
                    </a:solidFill>
                  </a:tcPr>
                </a:tc>
                <a:tc>
                  <a:txBody>
                    <a:bodyPr wrap="none"/>
                    <a:lstStyle/>
                    <a:p>
                      <a:pPr algn="l"/>
                      <a:r>
                        <a:rPr sz="800" b="1">
                          <a:solidFill>
                            <a:srgbClr val="A86F00"/>
                          </a:solidFill>
                          <a:latin typeface="Calibri"/>
                        </a:rPr>
                        <a:t>▶ 5.4%</a:t>
                      </a:r>
                    </a:p>
                  </a:txBody>
                  <a:tcPr marL="85725" marR="38100" marT="19050" marB="19050" anchor="ctr">
                    <a:solidFill>
                      <a:srgbClr val="F5F8FA"/>
                    </a:solidFill>
                  </a:tcPr>
                </a:tc>
                <a:tc>
                  <a:txBody>
                    <a:bodyPr wrap="none"/>
                    <a:lstStyle/>
                    <a:p>
                      <a:pPr algn="l"/>
                      <a:r>
                        <a:rPr sz="800" b="1">
                          <a:solidFill>
                            <a:srgbClr val="A86F00"/>
                          </a:solidFill>
                          <a:latin typeface="Calibri"/>
                        </a:rPr>
                        <a:t>▶ 5.0%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800" b="1">
                          <a:solidFill>
                            <a:srgbClr val="2E7D32"/>
                          </a:solidFill>
                          <a:latin typeface="Calibri"/>
                        </a:rPr>
                        <a:t>▲ 13.0%</a:t>
                      </a:r>
                    </a:p>
                  </a:txBody>
                  <a:tcPr marL="85725" marR="38100" marT="19050" marB="19050" anchor="ctr">
                    <a:solidFill>
                      <a:srgbClr val="FFFFFF"/>
                    </a:solidFill>
                  </a:tcPr>
                </a:tc>
                <a:tc>
                  <a:txBody>
                    <a:bodyPr wrap="none"/>
                    <a:lstStyle/>
                    <a:p>
                      <a:pPr algn="l"/>
                      <a:r>
                        <a:rPr sz="800" b="1">
                          <a:solidFill>
                            <a:srgbClr val="2E7D32"/>
                          </a:solidFill>
                          <a:latin typeface="Calibri"/>
                        </a:rPr>
                        <a:t>▲ 19.9%</a:t>
                      </a:r>
                    </a:p>
                  </a:txBody>
                  <a:tcPr marL="85725" marR="38100" marT="19050" marB="19050" anchor="ctr">
                    <a:solidFill>
                      <a:srgbClr val="FFFFFF"/>
                    </a:solidFill>
                  </a:tcPr>
                </a:tc>
                <a:tc>
                  <a:txBody>
                    <a:bodyPr wrap="none"/>
                    <a:lstStyle/>
                    <a:p>
                      <a:pPr algn="l"/>
                      <a:r>
                        <a:rPr sz="800" b="1">
                          <a:solidFill>
                            <a:srgbClr val="2E7D32"/>
                          </a:solidFill>
                          <a:latin typeface="Calibri"/>
                        </a:rPr>
                        <a:t>▲ 23.7%</a:t>
                      </a:r>
                    </a:p>
                  </a:txBody>
                  <a:tcPr marL="85725" marR="38100" marT="19050" marB="19050" anchor="ctr">
                    <a:solidFill>
                      <a:srgbClr val="FFFFFF"/>
                    </a:solidFill>
                  </a:tcPr>
                </a:tc>
                <a:tc>
                  <a:txBody>
                    <a:bodyPr wrap="none"/>
                    <a:lstStyle/>
                    <a:p>
                      <a:pPr algn="l"/>
                      <a:r>
                        <a:rPr sz="800" b="1">
                          <a:solidFill>
                            <a:srgbClr val="2E7D32"/>
                          </a:solidFill>
                          <a:latin typeface="Calibri"/>
                        </a:rPr>
                        <a:t>▲ 21.0%</a:t>
                      </a:r>
                    </a:p>
                  </a:txBody>
                  <a:tcPr marL="85725" marR="38100" marT="19050" marB="19050" anchor="ctr">
                    <a:solidFill>
                      <a:srgbClr val="FFFFFF"/>
                    </a:solidFill>
                  </a:tcPr>
                </a:tc>
                <a:tc>
                  <a:txBody>
                    <a:bodyPr wrap="none"/>
                    <a:lstStyle/>
                    <a:p>
                      <a:pPr algn="l"/>
                      <a:r>
                        <a:rPr sz="800" b="1">
                          <a:solidFill>
                            <a:srgbClr val="2E7D32"/>
                          </a:solidFill>
                          <a:latin typeface="Calibri"/>
                        </a:rPr>
                        <a:t>▲ 17.4%</a:t>
                      </a:r>
                    </a:p>
                  </a:txBody>
                  <a:tcPr marL="85725" marR="38100" marT="19050" marB="19050" anchor="ctr">
                    <a:solidFill>
                      <a:srgbClr val="FFFFFF"/>
                    </a:solidFill>
                  </a:tcPr>
                </a:tc>
                <a:tc>
                  <a:txBody>
                    <a:bodyPr wrap="none"/>
                    <a:lstStyle/>
                    <a:p>
                      <a:pPr algn="l"/>
                      <a:r>
                        <a:rPr sz="800" b="1">
                          <a:solidFill>
                            <a:srgbClr val="2E7D32"/>
                          </a:solidFill>
                          <a:latin typeface="Calibri"/>
                        </a:rPr>
                        <a:t>▲ 15.2%</a:t>
                      </a:r>
                    </a:p>
                  </a:txBody>
                  <a:tcPr marL="85725" marR="38100" marT="19050" marB="19050" anchor="ctr">
                    <a:solidFill>
                      <a:srgbClr val="FFFFFF"/>
                    </a:solidFill>
                  </a:tcPr>
                </a:tc>
                <a:tc>
                  <a:txBody>
                    <a:bodyPr wrap="none"/>
                    <a:lstStyle/>
                    <a:p>
                      <a:pPr algn="l"/>
                      <a:r>
                        <a:rPr sz="800" b="1">
                          <a:solidFill>
                            <a:srgbClr val="A86F00"/>
                          </a:solidFill>
                          <a:latin typeface="Calibri"/>
                        </a:rPr>
                        <a:t>▶ 12.9%</a:t>
                      </a:r>
                    </a:p>
                  </a:txBody>
                  <a:tcPr marL="85725" marR="38100" marT="19050" marB="19050" anchor="ctr">
                    <a:solidFill>
                      <a:srgbClr val="FFFFFF"/>
                    </a:solidFill>
                  </a:tcPr>
                </a:tc>
                <a:tc>
                  <a:txBody>
                    <a:bodyPr wrap="none"/>
                    <a:lstStyle/>
                    <a:p>
                      <a:pPr algn="l"/>
                      <a:r>
                        <a:rPr sz="800" b="1">
                          <a:solidFill>
                            <a:srgbClr val="A86F00"/>
                          </a:solidFill>
                          <a:latin typeface="Calibri"/>
                        </a:rPr>
                        <a:t>▶ 11.2%</a:t>
                      </a:r>
                    </a:p>
                  </a:txBody>
                  <a:tcPr marL="85725" marR="38100" marT="19050" marB="19050" anchor="ctr">
                    <a:solidFill>
                      <a:srgbClr val="FFFFFF"/>
                    </a:solidFill>
                  </a:tcPr>
                </a:tc>
                <a:tc>
                  <a:txBody>
                    <a:bodyPr wrap="none"/>
                    <a:lstStyle/>
                    <a:p>
                      <a:pPr algn="l"/>
                      <a:r>
                        <a:rPr sz="800" b="1">
                          <a:solidFill>
                            <a:srgbClr val="A86F00"/>
                          </a:solidFill>
                          <a:latin typeface="Calibri"/>
                        </a:rPr>
                        <a:t>▶ 9.9%</a:t>
                      </a:r>
                    </a:p>
                  </a:txBody>
                  <a:tcPr marL="85725" marR="38100" marT="19050" marB="19050" anchor="ctr">
                    <a:solidFill>
                      <a:srgbClr val="FFFFFF"/>
                    </a:solidFill>
                  </a:tcPr>
                </a:tc>
                <a:tc>
                  <a:txBody>
                    <a:bodyPr wrap="none"/>
                    <a:lstStyle/>
                    <a:p>
                      <a:pPr algn="l"/>
                      <a:r>
                        <a:rPr sz="800" b="1">
                          <a:solidFill>
                            <a:srgbClr val="A86F00"/>
                          </a:solidFill>
                          <a:latin typeface="Calibri"/>
                        </a:rPr>
                        <a:t>▶ 8.7%</a:t>
                      </a:r>
                    </a:p>
                  </a:txBody>
                  <a:tcPr marL="85725" marR="38100" marT="19050" marB="19050" anchor="ctr">
                    <a:solidFill>
                      <a:srgbClr val="FFFFFF"/>
                    </a:solidFill>
                  </a:tcPr>
                </a:tc>
                <a:tc>
                  <a:txBody>
                    <a:bodyPr wrap="none"/>
                    <a:lstStyle/>
                    <a:p>
                      <a:pPr algn="l"/>
                      <a:r>
                        <a:rPr sz="800" b="1">
                          <a:solidFill>
                            <a:srgbClr val="A86F00"/>
                          </a:solidFill>
                          <a:latin typeface="Calibri"/>
                        </a:rPr>
                        <a:t>▶ 7.8%</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c>
                  <a:txBody>
                    <a:bodyPr wrap="none"/>
                    <a:lstStyle/>
                    <a:p>
                      <a:pPr algn="l"/>
                      <a:r>
                        <a:rPr sz="800" b="1">
                          <a:solidFill>
                            <a:srgbClr val="A86F00"/>
                          </a:solidFill>
                          <a:latin typeface="Calibri"/>
                        </a:rPr>
                        <a:t>▶ 5.4%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800" b="1">
                          <a:solidFill>
                            <a:srgbClr val="A86F00"/>
                          </a:solidFill>
                          <a:latin typeface="Calibri"/>
                        </a:rPr>
                        <a:t>▶ 11.5%</a:t>
                      </a:r>
                    </a:p>
                  </a:txBody>
                  <a:tcPr marL="85725" marR="38100" marT="19050" marB="19050" anchor="ctr">
                    <a:solidFill>
                      <a:srgbClr val="F5F8FA"/>
                    </a:solidFill>
                  </a:tcPr>
                </a:tc>
                <a:tc>
                  <a:txBody>
                    <a:bodyPr wrap="none"/>
                    <a:lstStyle/>
                    <a:p>
                      <a:pPr algn="l"/>
                      <a:r>
                        <a:rPr sz="800" b="1">
                          <a:solidFill>
                            <a:srgbClr val="A86F00"/>
                          </a:solidFill>
                          <a:latin typeface="Calibri"/>
                        </a:rPr>
                        <a:t>▶ 18.2%</a:t>
                      </a:r>
                    </a:p>
                  </a:txBody>
                  <a:tcPr marL="85725" marR="38100" marT="19050" marB="19050" anchor="ctr">
                    <a:solidFill>
                      <a:srgbClr val="F5F8FA"/>
                    </a:solidFill>
                  </a:tcPr>
                </a:tc>
                <a:tc>
                  <a:txBody>
                    <a:bodyPr wrap="none"/>
                    <a:lstStyle/>
                    <a:p>
                      <a:pPr algn="l"/>
                      <a:r>
                        <a:rPr sz="800" b="1">
                          <a:solidFill>
                            <a:srgbClr val="A86F00"/>
                          </a:solidFill>
                          <a:latin typeface="Calibri"/>
                        </a:rPr>
                        <a:t>▶ 22.0%</a:t>
                      </a:r>
                    </a:p>
                  </a:txBody>
                  <a:tcPr marL="85725" marR="38100" marT="19050" marB="19050" anchor="ctr">
                    <a:solidFill>
                      <a:srgbClr val="F5F8FA"/>
                    </a:solidFill>
                  </a:tcPr>
                </a:tc>
                <a:tc>
                  <a:txBody>
                    <a:bodyPr wrap="none"/>
                    <a:lstStyle/>
                    <a:p>
                      <a:pPr algn="l"/>
                      <a:r>
                        <a:rPr sz="800" b="1">
                          <a:solidFill>
                            <a:srgbClr val="A86F00"/>
                          </a:solidFill>
                          <a:latin typeface="Calibri"/>
                        </a:rPr>
                        <a:t>▶ 19.4%</a:t>
                      </a:r>
                    </a:p>
                  </a:txBody>
                  <a:tcPr marL="85725" marR="38100" marT="19050" marB="19050" anchor="ctr">
                    <a:solidFill>
                      <a:srgbClr val="F5F8FA"/>
                    </a:solidFill>
                  </a:tcPr>
                </a:tc>
                <a:tc>
                  <a:txBody>
                    <a:bodyPr wrap="none"/>
                    <a:lstStyle/>
                    <a:p>
                      <a:pPr algn="l"/>
                      <a:r>
                        <a:rPr sz="800" b="1">
                          <a:solidFill>
                            <a:srgbClr val="A86F00"/>
                          </a:solidFill>
                          <a:latin typeface="Calibri"/>
                        </a:rPr>
                        <a:t>▶ 15.8%</a:t>
                      </a:r>
                    </a:p>
                  </a:txBody>
                  <a:tcPr marL="85725" marR="38100" marT="19050" marB="19050" anchor="ctr">
                    <a:solidFill>
                      <a:srgbClr val="F5F8FA"/>
                    </a:solidFill>
                  </a:tcPr>
                </a:tc>
                <a:tc>
                  <a:txBody>
                    <a:bodyPr wrap="none"/>
                    <a:lstStyle/>
                    <a:p>
                      <a:pPr algn="l"/>
                      <a:r>
                        <a:rPr sz="800" b="1">
                          <a:solidFill>
                            <a:srgbClr val="A86F00"/>
                          </a:solidFill>
                          <a:latin typeface="Calibri"/>
                        </a:rPr>
                        <a:t>▶ 13.6%</a:t>
                      </a:r>
                    </a:p>
                  </a:txBody>
                  <a:tcPr marL="85725" marR="38100" marT="19050" marB="19050" anchor="ctr">
                    <a:solidFill>
                      <a:srgbClr val="F5F8FA"/>
                    </a:solidFill>
                  </a:tcPr>
                </a:tc>
                <a:tc>
                  <a:txBody>
                    <a:bodyPr wrap="none"/>
                    <a:lstStyle/>
                    <a:p>
                      <a:pPr algn="l"/>
                      <a:r>
                        <a:rPr sz="800" b="1">
                          <a:solidFill>
                            <a:srgbClr val="A86F00"/>
                          </a:solidFill>
                          <a:latin typeface="Calibri"/>
                        </a:rPr>
                        <a:t>▶ 11.3%</a:t>
                      </a:r>
                    </a:p>
                  </a:txBody>
                  <a:tcPr marL="85725" marR="38100" marT="19050" marB="19050" anchor="ctr">
                    <a:solidFill>
                      <a:srgbClr val="F5F8FA"/>
                    </a:solidFill>
                  </a:tcPr>
                </a:tc>
                <a:tc>
                  <a:txBody>
                    <a:bodyPr wrap="none"/>
                    <a:lstStyle/>
                    <a:p>
                      <a:pPr algn="l"/>
                      <a:r>
                        <a:rPr sz="800" b="1">
                          <a:solidFill>
                            <a:srgbClr val="A86F00"/>
                          </a:solidFill>
                          <a:latin typeface="Calibri"/>
                        </a:rPr>
                        <a:t>▶ 9.7%</a:t>
                      </a:r>
                    </a:p>
                  </a:txBody>
                  <a:tcPr marL="85725" marR="38100" marT="19050" marB="19050" anchor="ctr">
                    <a:solidFill>
                      <a:srgbClr val="F5F8FA"/>
                    </a:solidFill>
                  </a:tcPr>
                </a:tc>
                <a:tc>
                  <a:txBody>
                    <a:bodyPr wrap="none"/>
                    <a:lstStyle/>
                    <a:p>
                      <a:pPr algn="l"/>
                      <a:r>
                        <a:rPr sz="800" b="1">
                          <a:solidFill>
                            <a:srgbClr val="A86F00"/>
                          </a:solidFill>
                          <a:latin typeface="Calibri"/>
                        </a:rPr>
                        <a:t>▶ 8.4%</a:t>
                      </a:r>
                    </a:p>
                  </a:txBody>
                  <a:tcPr marL="85725" marR="38100" marT="19050" marB="19050" anchor="ctr">
                    <a:solidFill>
                      <a:srgbClr val="F5F8FA"/>
                    </a:solidFill>
                  </a:tcPr>
                </a:tc>
                <a:tc>
                  <a:txBody>
                    <a:bodyPr wrap="none"/>
                    <a:lstStyle/>
                    <a:p>
                      <a:pPr algn="l"/>
                      <a:r>
                        <a:rPr sz="800" b="1">
                          <a:solidFill>
                            <a:srgbClr val="A86F00"/>
                          </a:solidFill>
                          <a:latin typeface="Calibri"/>
                        </a:rPr>
                        <a:t>▶ 7.3%</a:t>
                      </a:r>
                    </a:p>
                  </a:txBody>
                  <a:tcPr marL="85725" marR="38100" marT="19050" marB="19050" anchor="ctr">
                    <a:solidFill>
                      <a:srgbClr val="F5F8FA"/>
                    </a:solidFill>
                  </a:tcPr>
                </a:tc>
                <a:tc>
                  <a:txBody>
                    <a:bodyPr wrap="none"/>
                    <a:lstStyle/>
                    <a:p>
                      <a:pPr algn="l"/>
                      <a:r>
                        <a:rPr sz="800" b="1">
                          <a:solidFill>
                            <a:srgbClr val="A86F00"/>
                          </a:solidFill>
                          <a:latin typeface="Calibri"/>
                        </a:rPr>
                        <a:t>▶ 6.3%</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4.9%</a:t>
                      </a:r>
                    </a:p>
                  </a:txBody>
                  <a:tcPr marL="85725" marR="38100" marT="19050" marB="19050" anchor="ctr">
                    <a:solidFill>
                      <a:srgbClr val="F5F8FA"/>
                    </a:solidFill>
                  </a:tcPr>
                </a:tc>
                <a:tc>
                  <a:txBody>
                    <a:bodyPr wrap="none"/>
                    <a:lstStyle/>
                    <a:p>
                      <a:pPr algn="l"/>
                      <a:r>
                        <a:rPr sz="800" b="1">
                          <a:solidFill>
                            <a:srgbClr val="A86F00"/>
                          </a:solidFill>
                          <a:latin typeface="Calibri"/>
                        </a:rPr>
                        <a:t>▶ 4.4%</a:t>
                      </a:r>
                    </a:p>
                  </a:txBody>
                  <a:tcPr marL="85725" marR="38100" marT="19050" marB="19050" anchor="ctr">
                    <a:solidFill>
                      <a:srgbClr val="F5F8FA"/>
                    </a:solidFill>
                  </a:tcPr>
                </a:tc>
                <a:tc>
                  <a:txBody>
                    <a:bodyPr wrap="none"/>
                    <a:lstStyle/>
                    <a:p>
                      <a:pPr algn="l"/>
                      <a:r>
                        <a:rPr sz="800" b="1">
                          <a:solidFill>
                            <a:srgbClr val="A86F00"/>
                          </a:solidFill>
                          <a:latin typeface="Calibri"/>
                        </a:rPr>
                        <a:t>▶ 4.0%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Idacio</a:t>
                      </a:r>
                    </a:p>
                  </a:txBody>
                  <a:tcPr marL="85725" marR="38100" marT="19050" marB="19050" anchor="ctr">
                    <a:solidFill>
                      <a:srgbClr val="FFFFFF"/>
                    </a:solidFill>
                  </a:tcPr>
                </a:tc>
                <a:tc>
                  <a:txBody>
                    <a:bodyPr wrap="none"/>
                    <a:lstStyle/>
                    <a:p>
                      <a:pPr algn="l"/>
                      <a:r>
                        <a:rPr sz="800" b="1">
                          <a:solidFill>
                            <a:srgbClr val="A86F00"/>
                          </a:solidFill>
                          <a:latin typeface="Calibri"/>
                        </a:rPr>
                        <a:t>▶ 12.5%</a:t>
                      </a:r>
                    </a:p>
                  </a:txBody>
                  <a:tcPr marL="85725" marR="38100" marT="19050" marB="19050" anchor="ctr">
                    <a:solidFill>
                      <a:srgbClr val="FFFFFF"/>
                    </a:solidFill>
                  </a:tcPr>
                </a:tc>
                <a:tc>
                  <a:txBody>
                    <a:bodyPr wrap="none"/>
                    <a:lstStyle/>
                    <a:p>
                      <a:pPr algn="l"/>
                      <a:r>
                        <a:rPr sz="800" b="1">
                          <a:solidFill>
                            <a:srgbClr val="A86F00"/>
                          </a:solidFill>
                          <a:latin typeface="Calibri"/>
                        </a:rPr>
                        <a:t>▶ 19.3%</a:t>
                      </a:r>
                    </a:p>
                  </a:txBody>
                  <a:tcPr marL="85725" marR="38100" marT="19050" marB="19050" anchor="ctr">
                    <a:solidFill>
                      <a:srgbClr val="FFFFFF"/>
                    </a:solidFill>
                  </a:tcPr>
                </a:tc>
                <a:tc>
                  <a:txBody>
                    <a:bodyPr wrap="none"/>
                    <a:lstStyle/>
                    <a:p>
                      <a:pPr algn="l"/>
                      <a:r>
                        <a:rPr sz="800" b="1">
                          <a:solidFill>
                            <a:srgbClr val="A86F00"/>
                          </a:solidFill>
                          <a:latin typeface="Calibri"/>
                        </a:rPr>
                        <a:t>▶ 23.1%</a:t>
                      </a:r>
                    </a:p>
                  </a:txBody>
                  <a:tcPr marL="85725" marR="38100" marT="19050" marB="19050" anchor="ctr">
                    <a:solidFill>
                      <a:srgbClr val="FFFFFF"/>
                    </a:solidFill>
                  </a:tcPr>
                </a:tc>
                <a:tc>
                  <a:txBody>
                    <a:bodyPr wrap="none"/>
                    <a:lstStyle/>
                    <a:p>
                      <a:pPr algn="l"/>
                      <a:r>
                        <a:rPr sz="800" b="1">
                          <a:solidFill>
                            <a:srgbClr val="A86F00"/>
                          </a:solidFill>
                          <a:latin typeface="Calibri"/>
                        </a:rPr>
                        <a:t>▶ 20.5%</a:t>
                      </a:r>
                    </a:p>
                  </a:txBody>
                  <a:tcPr marL="85725" marR="38100" marT="19050" marB="19050" anchor="ctr">
                    <a:solidFill>
                      <a:srgbClr val="FFFFFF"/>
                    </a:solidFill>
                  </a:tcPr>
                </a:tc>
                <a:tc>
                  <a:txBody>
                    <a:bodyPr wrap="none"/>
                    <a:lstStyle/>
                    <a:p>
                      <a:pPr algn="l"/>
                      <a:r>
                        <a:rPr sz="800" b="1">
                          <a:solidFill>
                            <a:srgbClr val="A86F00"/>
                          </a:solidFill>
                          <a:latin typeface="Calibri"/>
                        </a:rPr>
                        <a:t>▶ 16.8%</a:t>
                      </a:r>
                    </a:p>
                  </a:txBody>
                  <a:tcPr marL="85725" marR="38100" marT="19050" marB="19050" anchor="ctr">
                    <a:solidFill>
                      <a:srgbClr val="FFFFFF"/>
                    </a:solidFill>
                  </a:tcPr>
                </a:tc>
                <a:tc>
                  <a:txBody>
                    <a:bodyPr wrap="none"/>
                    <a:lstStyle/>
                    <a:p>
                      <a:pPr algn="l"/>
                      <a:r>
                        <a:rPr sz="800" b="1">
                          <a:solidFill>
                            <a:srgbClr val="A86F00"/>
                          </a:solidFill>
                          <a:latin typeface="Calibri"/>
                        </a:rPr>
                        <a:t>▶ 14.7%</a:t>
                      </a:r>
                    </a:p>
                  </a:txBody>
                  <a:tcPr marL="85725" marR="38100" marT="19050" marB="19050" anchor="ctr">
                    <a:solidFill>
                      <a:srgbClr val="FFFFFF"/>
                    </a:solidFill>
                  </a:tcPr>
                </a:tc>
                <a:tc>
                  <a:txBody>
                    <a:bodyPr wrap="none"/>
                    <a:lstStyle/>
                    <a:p>
                      <a:pPr algn="l"/>
                      <a:r>
                        <a:rPr sz="800" b="1">
                          <a:solidFill>
                            <a:srgbClr val="A86F00"/>
                          </a:solidFill>
                          <a:latin typeface="Calibri"/>
                        </a:rPr>
                        <a:t>▶ 12.4%</a:t>
                      </a:r>
                    </a:p>
                  </a:txBody>
                  <a:tcPr marL="85725" marR="38100" marT="19050" marB="19050" anchor="ctr">
                    <a:solidFill>
                      <a:srgbClr val="FFFFFF"/>
                    </a:solidFill>
                  </a:tcPr>
                </a:tc>
                <a:tc>
                  <a:txBody>
                    <a:bodyPr wrap="none"/>
                    <a:lstStyle/>
                    <a:p>
                      <a:pPr algn="l"/>
                      <a:r>
                        <a:rPr sz="800" b="1">
                          <a:solidFill>
                            <a:srgbClr val="A86F00"/>
                          </a:solidFill>
                          <a:latin typeface="Calibri"/>
                        </a:rPr>
                        <a:t>▶ 10.7%</a:t>
                      </a:r>
                    </a:p>
                  </a:txBody>
                  <a:tcPr marL="85725" marR="38100" marT="19050" marB="19050" anchor="ctr">
                    <a:solidFill>
                      <a:srgbClr val="FFFFFF"/>
                    </a:solidFill>
                  </a:tcPr>
                </a:tc>
                <a:tc>
                  <a:txBody>
                    <a:bodyPr wrap="none"/>
                    <a:lstStyle/>
                    <a:p>
                      <a:pPr algn="l"/>
                      <a:r>
                        <a:rPr sz="800" b="1">
                          <a:solidFill>
                            <a:srgbClr val="A86F00"/>
                          </a:solidFill>
                          <a:latin typeface="Calibri"/>
                        </a:rPr>
                        <a:t>▶ 9.4%</a:t>
                      </a:r>
                    </a:p>
                  </a:txBody>
                  <a:tcPr marL="85725" marR="38100" marT="19050" marB="19050" anchor="ctr">
                    <a:solidFill>
                      <a:srgbClr val="FFFFFF"/>
                    </a:solidFill>
                  </a:tcPr>
                </a:tc>
                <a:tc>
                  <a:txBody>
                    <a:bodyPr wrap="none"/>
                    <a:lstStyle/>
                    <a:p>
                      <a:pPr algn="l"/>
                      <a:r>
                        <a:rPr sz="800" b="1">
                          <a:solidFill>
                            <a:srgbClr val="A86F00"/>
                          </a:solidFill>
                          <a:latin typeface="Calibri"/>
                        </a:rPr>
                        <a:t>▶ 8.3%</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5.9%</a:t>
                      </a:r>
                    </a:p>
                  </a:txBody>
                  <a:tcPr marL="85725" marR="38100" marT="19050" marB="19050" anchor="ctr">
                    <a:solidFill>
                      <a:srgbClr val="FFFFFF"/>
                    </a:solidFill>
                  </a:tcPr>
                </a:tc>
                <a:tc>
                  <a:txBody>
                    <a:bodyPr wrap="none"/>
                    <a:lstStyle/>
                    <a:p>
                      <a:pPr algn="l"/>
                      <a:r>
                        <a:rPr sz="800" b="1">
                          <a:solidFill>
                            <a:srgbClr val="A86F00"/>
                          </a:solidFill>
                          <a:latin typeface="Calibri"/>
                        </a:rPr>
                        <a:t>▶ 5.4%</a:t>
                      </a:r>
                    </a:p>
                  </a:txBody>
                  <a:tcPr marL="85725" marR="38100" marT="19050" marB="19050" anchor="ctr">
                    <a:solidFill>
                      <a:srgbClr val="FFFFFF"/>
                    </a:solidFill>
                  </a:tcPr>
                </a:tc>
                <a:tc>
                  <a:txBody>
                    <a:bodyPr wrap="none"/>
                    <a:lstStyle/>
                    <a:p>
                      <a:pPr algn="l"/>
                      <a:r>
                        <a:rPr sz="800" b="1">
                          <a:solidFill>
                            <a:srgbClr val="A86F00"/>
                          </a:solidFill>
                          <a:latin typeface="Calibri"/>
                        </a:rPr>
                        <a:t>▶ 4.9%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Hulio</a:t>
                      </a:r>
                    </a:p>
                  </a:txBody>
                  <a:tcPr marL="85725" marR="38100" marT="19050" marB="19050" anchor="ctr">
                    <a:solidFill>
                      <a:srgbClr val="F5F8FA"/>
                    </a:solidFill>
                  </a:tcPr>
                </a:tc>
                <a:tc>
                  <a:txBody>
                    <a:bodyPr wrap="none"/>
                    <a:lstStyle/>
                    <a:p>
                      <a:pPr algn="l"/>
                      <a:r>
                        <a:rPr sz="800" b="1">
                          <a:solidFill>
                            <a:srgbClr val="2E7D32"/>
                          </a:solidFill>
                          <a:latin typeface="Calibri"/>
                        </a:rPr>
                        <a:t>▲ 15.5%</a:t>
                      </a:r>
                    </a:p>
                  </a:txBody>
                  <a:tcPr marL="85725" marR="38100" marT="19050" marB="19050" anchor="ctr">
                    <a:solidFill>
                      <a:srgbClr val="F5F8FA"/>
                    </a:solidFill>
                  </a:tcPr>
                </a:tc>
                <a:tc>
                  <a:txBody>
                    <a:bodyPr wrap="none"/>
                    <a:lstStyle/>
                    <a:p>
                      <a:pPr algn="l"/>
                      <a:r>
                        <a:rPr sz="800" b="1">
                          <a:solidFill>
                            <a:srgbClr val="2E7D32"/>
                          </a:solidFill>
                          <a:latin typeface="Calibri"/>
                        </a:rPr>
                        <a:t>▲ 22.5%</a:t>
                      </a:r>
                    </a:p>
                  </a:txBody>
                  <a:tcPr marL="85725" marR="38100" marT="19050" marB="19050" anchor="ctr">
                    <a:solidFill>
                      <a:srgbClr val="F5F8FA"/>
                    </a:solidFill>
                  </a:tcPr>
                </a:tc>
                <a:tc>
                  <a:txBody>
                    <a:bodyPr wrap="none"/>
                    <a:lstStyle/>
                    <a:p>
                      <a:pPr algn="l"/>
                      <a:r>
                        <a:rPr sz="800" b="1">
                          <a:solidFill>
                            <a:srgbClr val="2E7D32"/>
                          </a:solidFill>
                          <a:latin typeface="Calibri"/>
                        </a:rPr>
                        <a:t>▲ 26.4%</a:t>
                      </a:r>
                    </a:p>
                  </a:txBody>
                  <a:tcPr marL="85725" marR="38100" marT="19050" marB="19050" anchor="ctr">
                    <a:solidFill>
                      <a:srgbClr val="F5F8FA"/>
                    </a:solidFill>
                  </a:tcPr>
                </a:tc>
                <a:tc>
                  <a:txBody>
                    <a:bodyPr wrap="none"/>
                    <a:lstStyle/>
                    <a:p>
                      <a:pPr algn="l"/>
                      <a:r>
                        <a:rPr sz="800" b="1">
                          <a:solidFill>
                            <a:srgbClr val="2E7D32"/>
                          </a:solidFill>
                          <a:latin typeface="Calibri"/>
                        </a:rPr>
                        <a:t>▲ 23.7%</a:t>
                      </a:r>
                    </a:p>
                  </a:txBody>
                  <a:tcPr marL="85725" marR="38100" marT="19050" marB="19050" anchor="ctr">
                    <a:solidFill>
                      <a:srgbClr val="F5F8FA"/>
                    </a:solidFill>
                  </a:tcPr>
                </a:tc>
                <a:tc>
                  <a:txBody>
                    <a:bodyPr wrap="none"/>
                    <a:lstStyle/>
                    <a:p>
                      <a:pPr algn="l"/>
                      <a:r>
                        <a:rPr sz="800" b="1">
                          <a:solidFill>
                            <a:srgbClr val="2E7D32"/>
                          </a:solidFill>
                          <a:latin typeface="Calibri"/>
                        </a:rPr>
                        <a:t>▲ 19.9%</a:t>
                      </a:r>
                    </a:p>
                  </a:txBody>
                  <a:tcPr marL="85725" marR="38100" marT="19050" marB="19050" anchor="ctr">
                    <a:solidFill>
                      <a:srgbClr val="F5F8FA"/>
                    </a:solidFill>
                  </a:tcPr>
                </a:tc>
                <a:tc>
                  <a:txBody>
                    <a:bodyPr wrap="none"/>
                    <a:lstStyle/>
                    <a:p>
                      <a:pPr algn="l"/>
                      <a:r>
                        <a:rPr sz="800" b="1">
                          <a:solidFill>
                            <a:srgbClr val="2E7D32"/>
                          </a:solidFill>
                          <a:latin typeface="Calibri"/>
                        </a:rPr>
                        <a:t>▲ 17.7%</a:t>
                      </a:r>
                    </a:p>
                  </a:txBody>
                  <a:tcPr marL="85725" marR="38100" marT="19050" marB="19050" anchor="ctr">
                    <a:solidFill>
                      <a:srgbClr val="F5F8FA"/>
                    </a:solidFill>
                  </a:tcPr>
                </a:tc>
                <a:tc>
                  <a:txBody>
                    <a:bodyPr wrap="none"/>
                    <a:lstStyle/>
                    <a:p>
                      <a:pPr algn="l"/>
                      <a:r>
                        <a:rPr sz="800" b="1">
                          <a:solidFill>
                            <a:srgbClr val="2E7D32"/>
                          </a:solidFill>
                          <a:latin typeface="Calibri"/>
                        </a:rPr>
                        <a:t>▲ 15.3%</a:t>
                      </a:r>
                    </a:p>
                  </a:txBody>
                  <a:tcPr marL="85725" marR="38100" marT="19050" marB="19050" anchor="ctr">
                    <a:solidFill>
                      <a:srgbClr val="F5F8FA"/>
                    </a:solidFill>
                  </a:tcPr>
                </a:tc>
                <a:tc>
                  <a:txBody>
                    <a:bodyPr wrap="none"/>
                    <a:lstStyle/>
                    <a:p>
                      <a:pPr algn="l"/>
                      <a:r>
                        <a:rPr sz="800" b="1">
                          <a:solidFill>
                            <a:srgbClr val="2E7D32"/>
                          </a:solidFill>
                          <a:latin typeface="Calibri"/>
                        </a:rPr>
                        <a:t>▲ 13.7%</a:t>
                      </a:r>
                    </a:p>
                  </a:txBody>
                  <a:tcPr marL="85725" marR="38100" marT="19050" marB="19050" anchor="ctr">
                    <a:solidFill>
                      <a:srgbClr val="F5F8FA"/>
                    </a:solidFill>
                  </a:tcPr>
                </a:tc>
                <a:tc>
                  <a:txBody>
                    <a:bodyPr wrap="none"/>
                    <a:lstStyle/>
                    <a:p>
                      <a:pPr algn="l"/>
                      <a:r>
                        <a:rPr sz="800" b="1">
                          <a:solidFill>
                            <a:srgbClr val="2E7D32"/>
                          </a:solidFill>
                          <a:latin typeface="Calibri"/>
                        </a:rPr>
                        <a:t>▲ 12.3%</a:t>
                      </a:r>
                    </a:p>
                  </a:txBody>
                  <a:tcPr marL="85725" marR="38100" marT="19050" marB="19050" anchor="ctr">
                    <a:solidFill>
                      <a:srgbClr val="F5F8FA"/>
                    </a:solidFill>
                  </a:tcPr>
                </a:tc>
                <a:tc>
                  <a:txBody>
                    <a:bodyPr wrap="none"/>
                    <a:lstStyle/>
                    <a:p>
                      <a:pPr algn="l"/>
                      <a:r>
                        <a:rPr sz="800" b="1">
                          <a:solidFill>
                            <a:srgbClr val="2E7D32"/>
                          </a:solidFill>
                          <a:latin typeface="Calibri"/>
                        </a:rPr>
                        <a:t>▲ 11.1%</a:t>
                      </a:r>
                    </a:p>
                  </a:txBody>
                  <a:tcPr marL="85725" marR="38100" marT="19050" marB="19050" anchor="ctr">
                    <a:solidFill>
                      <a:srgbClr val="F5F8FA"/>
                    </a:solidFill>
                  </a:tcPr>
                </a:tc>
                <a:tc>
                  <a:txBody>
                    <a:bodyPr wrap="none"/>
                    <a:lstStyle/>
                    <a:p>
                      <a:pPr algn="l"/>
                      <a:r>
                        <a:rPr sz="800" b="1">
                          <a:solidFill>
                            <a:srgbClr val="2E7D32"/>
                          </a:solidFill>
                          <a:latin typeface="Calibri"/>
                        </a:rPr>
                        <a:t>▲ 10.2%</a:t>
                      </a:r>
                    </a:p>
                  </a:txBody>
                  <a:tcPr marL="85725" marR="38100" marT="19050" marB="19050" anchor="ctr">
                    <a:solidFill>
                      <a:srgbClr val="F5F8FA"/>
                    </a:solidFill>
                  </a:tcPr>
                </a:tc>
                <a:tc>
                  <a:txBody>
                    <a:bodyPr wrap="none"/>
                    <a:lstStyle/>
                    <a:p>
                      <a:pPr algn="l"/>
                      <a:r>
                        <a:rPr sz="800" b="1">
                          <a:solidFill>
                            <a:srgbClr val="2E7D32"/>
                          </a:solidFill>
                          <a:latin typeface="Calibri"/>
                        </a:rPr>
                        <a:t>▲ 9.3%</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8.1%</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800" b="1">
                          <a:solidFill>
                            <a:srgbClr val="2E7D32"/>
                          </a:solidFill>
                          <a:latin typeface="Calibri"/>
                        </a:rPr>
                        <a:t>▲ 13.6%</a:t>
                      </a:r>
                    </a:p>
                  </a:txBody>
                  <a:tcPr marL="85725" marR="38100" marT="19050" marB="19050" anchor="ctr">
                    <a:solidFill>
                      <a:srgbClr val="FFFFFF"/>
                    </a:solidFill>
                  </a:tcPr>
                </a:tc>
                <a:tc>
                  <a:txBody>
                    <a:bodyPr wrap="none"/>
                    <a:lstStyle/>
                    <a:p>
                      <a:pPr algn="l"/>
                      <a:r>
                        <a:rPr sz="800" b="1">
                          <a:solidFill>
                            <a:srgbClr val="2E7D32"/>
                          </a:solidFill>
                          <a:latin typeface="Calibri"/>
                        </a:rPr>
                        <a:t>▲ 20.5%</a:t>
                      </a:r>
                    </a:p>
                  </a:txBody>
                  <a:tcPr marL="85725" marR="38100" marT="19050" marB="19050" anchor="ctr">
                    <a:solidFill>
                      <a:srgbClr val="FFFFFF"/>
                    </a:solidFill>
                  </a:tcPr>
                </a:tc>
                <a:tc>
                  <a:txBody>
                    <a:bodyPr wrap="none"/>
                    <a:lstStyle/>
                    <a:p>
                      <a:pPr algn="l"/>
                      <a:r>
                        <a:rPr sz="800" b="1">
                          <a:solidFill>
                            <a:srgbClr val="2E7D32"/>
                          </a:solidFill>
                          <a:latin typeface="Calibri"/>
                        </a:rPr>
                        <a:t>▲ 24.4%</a:t>
                      </a:r>
                    </a:p>
                  </a:txBody>
                  <a:tcPr marL="85725" marR="38100" marT="19050" marB="19050" anchor="ctr">
                    <a:solidFill>
                      <a:srgbClr val="FFFFFF"/>
                    </a:solidFill>
                  </a:tcPr>
                </a:tc>
                <a:tc>
                  <a:txBody>
                    <a:bodyPr wrap="none"/>
                    <a:lstStyle/>
                    <a:p>
                      <a:pPr algn="l"/>
                      <a:r>
                        <a:rPr sz="800" b="1">
                          <a:solidFill>
                            <a:srgbClr val="2E7D32"/>
                          </a:solidFill>
                          <a:latin typeface="Calibri"/>
                        </a:rPr>
                        <a:t>▲ 21.7%</a:t>
                      </a:r>
                    </a:p>
                  </a:txBody>
                  <a:tcPr marL="85725" marR="38100" marT="19050" marB="19050" anchor="ctr">
                    <a:solidFill>
                      <a:srgbClr val="FFFFFF"/>
                    </a:solidFill>
                  </a:tcPr>
                </a:tc>
                <a:tc>
                  <a:txBody>
                    <a:bodyPr wrap="none"/>
                    <a:lstStyle/>
                    <a:p>
                      <a:pPr algn="l"/>
                      <a:r>
                        <a:rPr sz="800" b="1">
                          <a:solidFill>
                            <a:srgbClr val="2E7D32"/>
                          </a:solidFill>
                          <a:latin typeface="Calibri"/>
                        </a:rPr>
                        <a:t>▲ 18.0%</a:t>
                      </a:r>
                    </a:p>
                  </a:txBody>
                  <a:tcPr marL="85725" marR="38100" marT="19050" marB="19050" anchor="ctr">
                    <a:solidFill>
                      <a:srgbClr val="FFFFFF"/>
                    </a:solidFill>
                  </a:tcPr>
                </a:tc>
                <a:tc>
                  <a:txBody>
                    <a:bodyPr wrap="none"/>
                    <a:lstStyle/>
                    <a:p>
                      <a:pPr algn="l"/>
                      <a:r>
                        <a:rPr sz="800" b="1">
                          <a:solidFill>
                            <a:srgbClr val="2E7D32"/>
                          </a:solidFill>
                          <a:latin typeface="Calibri"/>
                        </a:rPr>
                        <a:t>▲ 15.8%</a:t>
                      </a:r>
                    </a:p>
                  </a:txBody>
                  <a:tcPr marL="85725" marR="38100" marT="19050" marB="19050" anchor="ctr">
                    <a:solidFill>
                      <a:srgbClr val="FFFFFF"/>
                    </a:solidFill>
                  </a:tcPr>
                </a:tc>
                <a:tc>
                  <a:txBody>
                    <a:bodyPr wrap="none"/>
                    <a:lstStyle/>
                    <a:p>
                      <a:pPr algn="l"/>
                      <a:r>
                        <a:rPr sz="800" b="1">
                          <a:solidFill>
                            <a:srgbClr val="2E7D32"/>
                          </a:solidFill>
                          <a:latin typeface="Calibri"/>
                        </a:rPr>
                        <a:t>▲ 13.5%</a:t>
                      </a:r>
                    </a:p>
                  </a:txBody>
                  <a:tcPr marL="85725" marR="38100" marT="19050" marB="19050" anchor="ctr">
                    <a:solidFill>
                      <a:srgbClr val="FFFFFF"/>
                    </a:solidFill>
                  </a:tcPr>
                </a:tc>
                <a:tc>
                  <a:txBody>
                    <a:bodyPr wrap="none"/>
                    <a:lstStyle/>
                    <a:p>
                      <a:pPr algn="l"/>
                      <a:r>
                        <a:rPr sz="800" b="1">
                          <a:solidFill>
                            <a:srgbClr val="2E7D32"/>
                          </a:solidFill>
                          <a:latin typeface="Calibri"/>
                        </a:rPr>
                        <a:t>▲ 11.8%</a:t>
                      </a:r>
                    </a:p>
                  </a:txBody>
                  <a:tcPr marL="85725" marR="38100" marT="19050" marB="19050" anchor="ctr">
                    <a:solidFill>
                      <a:srgbClr val="FFFFFF"/>
                    </a:solidFill>
                  </a:tcPr>
                </a:tc>
                <a:tc>
                  <a:txBody>
                    <a:bodyPr wrap="none"/>
                    <a:lstStyle/>
                    <a:p>
                      <a:pPr algn="l"/>
                      <a:r>
                        <a:rPr sz="800" b="1">
                          <a:solidFill>
                            <a:srgbClr val="2E7D32"/>
                          </a:solidFill>
                          <a:latin typeface="Calibri"/>
                        </a:rPr>
                        <a:t>▲ 10.5%</a:t>
                      </a:r>
                    </a:p>
                  </a:txBody>
                  <a:tcPr marL="85725" marR="38100" marT="19050" marB="19050" anchor="ctr">
                    <a:solidFill>
                      <a:srgbClr val="FFFFFF"/>
                    </a:solidFill>
                  </a:tcPr>
                </a:tc>
                <a:tc>
                  <a:txBody>
                    <a:bodyPr wrap="none"/>
                    <a:lstStyle/>
                    <a:p>
                      <a:pPr algn="l"/>
                      <a:r>
                        <a:rPr sz="800" b="1">
                          <a:solidFill>
                            <a:srgbClr val="2E7D32"/>
                          </a:solidFill>
                          <a:latin typeface="Calibri"/>
                        </a:rPr>
                        <a:t>▲ 9.3%</a:t>
                      </a:r>
                    </a:p>
                  </a:txBody>
                  <a:tcPr marL="85725" marR="38100" marT="19050" marB="19050" anchor="ctr">
                    <a:solidFill>
                      <a:srgbClr val="FFFFFF"/>
                    </a:solidFill>
                  </a:tcPr>
                </a:tc>
                <a:tc>
                  <a:txBody>
                    <a:bodyPr wrap="none"/>
                    <a:lstStyle/>
                    <a:p>
                      <a:pPr algn="l"/>
                      <a:r>
                        <a:rPr sz="800" b="1">
                          <a:solidFill>
                            <a:srgbClr val="2E7D32"/>
                          </a:solidFill>
                          <a:latin typeface="Calibri"/>
                        </a:rPr>
                        <a:t>▲ 8.4%</a:t>
                      </a:r>
                    </a:p>
                  </a:txBody>
                  <a:tcPr marL="85725" marR="38100" marT="19050" marB="19050" anchor="ctr">
                    <a:solidFill>
                      <a:srgbClr val="FFFFFF"/>
                    </a:solidFill>
                  </a:tcPr>
                </a:tc>
                <a:tc>
                  <a:txBody>
                    <a:bodyPr wrap="none"/>
                    <a:lstStyle/>
                    <a:p>
                      <a:pPr algn="l"/>
                      <a:r>
                        <a:rPr sz="800" b="1">
                          <a:solidFill>
                            <a:srgbClr val="2E7D32"/>
                          </a:solidFill>
                          <a:latin typeface="Calibri"/>
                        </a:rPr>
                        <a:t>▲ 7.6%</a:t>
                      </a:r>
                    </a:p>
                  </a:txBody>
                  <a:tcPr marL="85725" marR="38100" marT="19050" marB="19050" anchor="ctr">
                    <a:solidFill>
                      <a:srgbClr val="FFFFFF"/>
                    </a:solidFill>
                  </a:tcPr>
                </a:tc>
                <a:tc>
                  <a:txBody>
                    <a:bodyPr wrap="none"/>
                    <a:lstStyle/>
                    <a:p>
                      <a:pPr algn="l"/>
                      <a:r>
                        <a:rPr sz="800" b="1">
                          <a:solidFill>
                            <a:srgbClr val="2E7D32"/>
                          </a:solidFill>
                          <a:latin typeface="Calibri"/>
                        </a:rPr>
                        <a:t>▲ 6.9%</a:t>
                      </a:r>
                    </a:p>
                  </a:txBody>
                  <a:tcPr marL="85725" marR="38100" marT="19050" marB="19050" anchor="ctr">
                    <a:solidFill>
                      <a:srgbClr val="FFFFFF"/>
                    </a:solidFill>
                  </a:tcPr>
                </a:tc>
                <a:tc>
                  <a:txBody>
                    <a:bodyPr wrap="none"/>
                    <a:lstStyle/>
                    <a:p>
                      <a:pPr algn="l"/>
                      <a:r>
                        <a:rPr sz="800" b="1">
                          <a:solidFill>
                            <a:srgbClr val="2E7D32"/>
                          </a:solidFill>
                          <a:latin typeface="Calibri"/>
                        </a:rPr>
                        <a:t>▲ 6.4%</a:t>
                      </a:r>
                    </a:p>
                  </a:txBody>
                  <a:tcPr marL="85725" marR="38100" marT="19050" marB="19050" anchor="ctr">
                    <a:solidFill>
                      <a:srgbClr val="FFFFFF"/>
                    </a:solidFill>
                  </a:tcPr>
                </a:tc>
                <a:tc>
                  <a:txBody>
                    <a:bodyPr wrap="none"/>
                    <a:lstStyle/>
                    <a:p>
                      <a:pPr algn="l"/>
                      <a:r>
                        <a:rPr sz="800" b="1">
                          <a:solidFill>
                            <a:srgbClr val="2E7D32"/>
                          </a:solidFill>
                          <a:latin typeface="Calibri"/>
                        </a:rPr>
                        <a:t>▲ 6.0%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Yusimry</a:t>
                      </a:r>
                    </a:p>
                  </a:txBody>
                  <a:tcPr marL="85725" marR="38100" marT="19050" marB="19050" anchor="ctr">
                    <a:solidFill>
                      <a:srgbClr val="F5F8FA"/>
                    </a:solidFill>
                  </a:tcPr>
                </a:tc>
                <a:tc>
                  <a:txBody>
                    <a:bodyPr wrap="none"/>
                    <a:lstStyle/>
                    <a:p>
                      <a:pPr algn="l"/>
                      <a:r>
                        <a:rPr sz="800" b="1">
                          <a:solidFill>
                            <a:srgbClr val="A86F00"/>
                          </a:solidFill>
                          <a:latin typeface="Calibri"/>
                        </a:rPr>
                        <a:t>▶ 12.5%</a:t>
                      </a:r>
                    </a:p>
                  </a:txBody>
                  <a:tcPr marL="85725" marR="38100" marT="19050" marB="19050" anchor="ctr">
                    <a:solidFill>
                      <a:srgbClr val="F5F8FA"/>
                    </a:solidFill>
                  </a:tcPr>
                </a:tc>
                <a:tc>
                  <a:txBody>
                    <a:bodyPr wrap="none"/>
                    <a:lstStyle/>
                    <a:p>
                      <a:pPr algn="l"/>
                      <a:r>
                        <a:rPr sz="800" b="1">
                          <a:solidFill>
                            <a:srgbClr val="A86F00"/>
                          </a:solidFill>
                          <a:latin typeface="Calibri"/>
                        </a:rPr>
                        <a:t>▶ 19.4%</a:t>
                      </a:r>
                    </a:p>
                  </a:txBody>
                  <a:tcPr marL="85725" marR="38100" marT="19050" marB="19050" anchor="ctr">
                    <a:solidFill>
                      <a:srgbClr val="F5F8FA"/>
                    </a:solidFill>
                  </a:tcPr>
                </a:tc>
                <a:tc>
                  <a:txBody>
                    <a:bodyPr wrap="none"/>
                    <a:lstStyle/>
                    <a:p>
                      <a:pPr algn="l"/>
                      <a:r>
                        <a:rPr sz="800" b="1">
                          <a:solidFill>
                            <a:srgbClr val="A86F00"/>
                          </a:solidFill>
                          <a:latin typeface="Calibri"/>
                        </a:rPr>
                        <a:t>▶ 23.2%</a:t>
                      </a:r>
                    </a:p>
                  </a:txBody>
                  <a:tcPr marL="85725" marR="38100" marT="19050" marB="19050" anchor="ctr">
                    <a:solidFill>
                      <a:srgbClr val="F5F8FA"/>
                    </a:solidFill>
                  </a:tcPr>
                </a:tc>
                <a:tc>
                  <a:txBody>
                    <a:bodyPr wrap="none"/>
                    <a:lstStyle/>
                    <a:p>
                      <a:pPr algn="l"/>
                      <a:r>
                        <a:rPr sz="800" b="1">
                          <a:solidFill>
                            <a:srgbClr val="A86F00"/>
                          </a:solidFill>
                          <a:latin typeface="Calibri"/>
                        </a:rPr>
                        <a:t>▶ 20.5%</a:t>
                      </a:r>
                    </a:p>
                  </a:txBody>
                  <a:tcPr marL="85725" marR="38100" marT="19050" marB="19050" anchor="ctr">
                    <a:solidFill>
                      <a:srgbClr val="F5F8FA"/>
                    </a:solidFill>
                  </a:tcPr>
                </a:tc>
                <a:tc>
                  <a:txBody>
                    <a:bodyPr wrap="none"/>
                    <a:lstStyle/>
                    <a:p>
                      <a:pPr algn="l"/>
                      <a:r>
                        <a:rPr sz="800" b="1">
                          <a:solidFill>
                            <a:srgbClr val="A86F00"/>
                          </a:solidFill>
                          <a:latin typeface="Calibri"/>
                        </a:rPr>
                        <a:t>▶ 16.9%</a:t>
                      </a:r>
                    </a:p>
                  </a:txBody>
                  <a:tcPr marL="85725" marR="38100" marT="19050" marB="19050" anchor="ctr">
                    <a:solidFill>
                      <a:srgbClr val="F5F8FA"/>
                    </a:solidFill>
                  </a:tcPr>
                </a:tc>
                <a:tc>
                  <a:txBody>
                    <a:bodyPr wrap="none"/>
                    <a:lstStyle/>
                    <a:p>
                      <a:pPr algn="l"/>
                      <a:r>
                        <a:rPr sz="800" b="1">
                          <a:solidFill>
                            <a:srgbClr val="A86F00"/>
                          </a:solidFill>
                          <a:latin typeface="Calibri"/>
                        </a:rPr>
                        <a:t>▶ 14.7%</a:t>
                      </a:r>
                    </a:p>
                  </a:txBody>
                  <a:tcPr marL="85725" marR="38100" marT="19050" marB="19050" anchor="ctr">
                    <a:solidFill>
                      <a:srgbClr val="F5F8FA"/>
                    </a:solidFill>
                  </a:tcPr>
                </a:tc>
                <a:tc>
                  <a:txBody>
                    <a:bodyPr wrap="none"/>
                    <a:lstStyle/>
                    <a:p>
                      <a:pPr algn="l"/>
                      <a:r>
                        <a:rPr sz="800" b="1">
                          <a:solidFill>
                            <a:srgbClr val="A86F00"/>
                          </a:solidFill>
                          <a:latin typeface="Calibri"/>
                        </a:rPr>
                        <a:t>▶ 12.4%</a:t>
                      </a:r>
                    </a:p>
                  </a:txBody>
                  <a:tcPr marL="85725" marR="38100" marT="19050" marB="19050" anchor="ctr">
                    <a:solidFill>
                      <a:srgbClr val="F5F8FA"/>
                    </a:solidFill>
                  </a:tcPr>
                </a:tc>
                <a:tc>
                  <a:txBody>
                    <a:bodyPr wrap="none"/>
                    <a:lstStyle/>
                    <a:p>
                      <a:pPr algn="l"/>
                      <a:r>
                        <a:rPr sz="800" b="1">
                          <a:solidFill>
                            <a:srgbClr val="A86F00"/>
                          </a:solidFill>
                          <a:latin typeface="Calibri"/>
                        </a:rPr>
                        <a:t>▶ 10.8%</a:t>
                      </a:r>
                    </a:p>
                  </a:txBody>
                  <a:tcPr marL="85725" marR="38100" marT="19050" marB="19050" anchor="ctr">
                    <a:solidFill>
                      <a:srgbClr val="F5F8FA"/>
                    </a:solidFill>
                  </a:tcPr>
                </a:tc>
                <a:tc>
                  <a:txBody>
                    <a:bodyPr wrap="none"/>
                    <a:lstStyle/>
                    <a:p>
                      <a:pPr algn="l"/>
                      <a:r>
                        <a:rPr sz="800" b="1">
                          <a:solidFill>
                            <a:srgbClr val="A86F00"/>
                          </a:solidFill>
                          <a:latin typeface="Calibri"/>
                        </a:rPr>
                        <a:t>▶ 9.4%</a:t>
                      </a:r>
                    </a:p>
                  </a:txBody>
                  <a:tcPr marL="85725" marR="38100" marT="19050" marB="19050" anchor="ctr">
                    <a:solidFill>
                      <a:srgbClr val="F5F8FA"/>
                    </a:solidFill>
                  </a:tcPr>
                </a:tc>
                <a:tc>
                  <a:txBody>
                    <a:bodyPr wrap="none"/>
                    <a:lstStyle/>
                    <a:p>
                      <a:pPr algn="l"/>
                      <a:r>
                        <a:rPr sz="800" b="1">
                          <a:solidFill>
                            <a:srgbClr val="A86F00"/>
                          </a:solidFill>
                          <a:latin typeface="Calibri"/>
                        </a:rPr>
                        <a:t>▶ 8.3%</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c>
                  <a:txBody>
                    <a:bodyPr wrap="none"/>
                    <a:lstStyle/>
                    <a:p>
                      <a:pPr algn="l"/>
                      <a:r>
                        <a:rPr sz="800" b="1">
                          <a:solidFill>
                            <a:srgbClr val="A86F00"/>
                          </a:solidFill>
                          <a:latin typeface="Calibri"/>
                        </a:rPr>
                        <a:t>▶ 5.9%</a:t>
                      </a:r>
                    </a:p>
                  </a:txBody>
                  <a:tcPr marL="85725" marR="38100" marT="19050" marB="19050" anchor="ctr">
                    <a:solidFill>
                      <a:srgbClr val="F5F8FA"/>
                    </a:solidFill>
                  </a:tcPr>
                </a:tc>
                <a:tc>
                  <a:txBody>
                    <a:bodyPr wrap="none"/>
                    <a:lstStyle/>
                    <a:p>
                      <a:pPr algn="l"/>
                      <a:r>
                        <a:rPr sz="800" b="1">
                          <a:solidFill>
                            <a:srgbClr val="A86F00"/>
                          </a:solidFill>
                          <a:latin typeface="Calibri"/>
                        </a:rPr>
                        <a:t>▶ 5.4%</a:t>
                      </a:r>
                    </a:p>
                  </a:txBody>
                  <a:tcPr marL="85725" marR="38100" marT="19050" marB="19050" anchor="ctr">
                    <a:solidFill>
                      <a:srgbClr val="F5F8FA"/>
                    </a:solidFill>
                  </a:tcPr>
                </a:tc>
                <a:tc>
                  <a:txBody>
                    <a:bodyPr wrap="none"/>
                    <a:lstStyle/>
                    <a:p>
                      <a:pPr algn="l"/>
                      <a:r>
                        <a:rPr sz="800" b="1">
                          <a:solidFill>
                            <a:srgbClr val="A86F00"/>
                          </a:solidFill>
                          <a:latin typeface="Calibri"/>
                        </a:rPr>
                        <a:t>▶ 4.9%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Yuflyma</a:t>
                      </a:r>
                    </a:p>
                  </a:txBody>
                  <a:tcPr marL="85725" marR="38100" marT="19050" marB="19050" anchor="ctr">
                    <a:solidFill>
                      <a:srgbClr val="FFFFFF"/>
                    </a:solidFill>
                  </a:tcPr>
                </a:tc>
                <a:tc>
                  <a:txBody>
                    <a:bodyPr wrap="none"/>
                    <a:lstStyle/>
                    <a:p>
                      <a:pPr algn="l"/>
                      <a:r>
                        <a:rPr sz="800" b="1">
                          <a:solidFill>
                            <a:srgbClr val="2E7D32"/>
                          </a:solidFill>
                          <a:latin typeface="Calibri"/>
                        </a:rPr>
                        <a:t>▲ 14.6%</a:t>
                      </a:r>
                    </a:p>
                  </a:txBody>
                  <a:tcPr marL="85725" marR="38100" marT="19050" marB="19050" anchor="ctr">
                    <a:solidFill>
                      <a:srgbClr val="FFFFFF"/>
                    </a:solidFill>
                  </a:tcPr>
                </a:tc>
                <a:tc>
                  <a:txBody>
                    <a:bodyPr wrap="none"/>
                    <a:lstStyle/>
                    <a:p>
                      <a:pPr algn="l"/>
                      <a:r>
                        <a:rPr sz="800" b="1">
                          <a:solidFill>
                            <a:srgbClr val="2E7D32"/>
                          </a:solidFill>
                          <a:latin typeface="Calibri"/>
                        </a:rPr>
                        <a:t>▲ 21.5%</a:t>
                      </a:r>
                    </a:p>
                  </a:txBody>
                  <a:tcPr marL="85725" marR="38100" marT="19050" marB="19050" anchor="ctr">
                    <a:solidFill>
                      <a:srgbClr val="FFFFFF"/>
                    </a:solidFill>
                  </a:tcPr>
                </a:tc>
                <a:tc>
                  <a:txBody>
                    <a:bodyPr wrap="none"/>
                    <a:lstStyle/>
                    <a:p>
                      <a:pPr algn="l"/>
                      <a:r>
                        <a:rPr sz="800" b="1">
                          <a:solidFill>
                            <a:srgbClr val="2E7D32"/>
                          </a:solidFill>
                          <a:latin typeface="Calibri"/>
                        </a:rPr>
                        <a:t>▲ 25.4%</a:t>
                      </a:r>
                    </a:p>
                  </a:txBody>
                  <a:tcPr marL="85725" marR="38100" marT="19050" marB="19050" anchor="ctr">
                    <a:solidFill>
                      <a:srgbClr val="FFFFFF"/>
                    </a:solidFill>
                  </a:tcPr>
                </a:tc>
                <a:tc>
                  <a:txBody>
                    <a:bodyPr wrap="none"/>
                    <a:lstStyle/>
                    <a:p>
                      <a:pPr algn="l"/>
                      <a:r>
                        <a:rPr sz="800" b="1">
                          <a:solidFill>
                            <a:srgbClr val="2E7D32"/>
                          </a:solidFill>
                          <a:latin typeface="Calibri"/>
                        </a:rPr>
                        <a:t>▲ 22.7%</a:t>
                      </a:r>
                    </a:p>
                  </a:txBody>
                  <a:tcPr marL="85725" marR="38100" marT="19050" marB="19050" anchor="ctr">
                    <a:solidFill>
                      <a:srgbClr val="FFFFFF"/>
                    </a:solidFill>
                  </a:tcPr>
                </a:tc>
                <a:tc>
                  <a:txBody>
                    <a:bodyPr wrap="none"/>
                    <a:lstStyle/>
                    <a:p>
                      <a:pPr algn="l"/>
                      <a:r>
                        <a:rPr sz="800" b="1">
                          <a:solidFill>
                            <a:srgbClr val="2E7D32"/>
                          </a:solidFill>
                          <a:latin typeface="Calibri"/>
                        </a:rPr>
                        <a:t>▲ 19.0%</a:t>
                      </a:r>
                    </a:p>
                  </a:txBody>
                  <a:tcPr marL="85725" marR="38100" marT="19050" marB="19050" anchor="ctr">
                    <a:solidFill>
                      <a:srgbClr val="FFFFFF"/>
                    </a:solidFill>
                  </a:tcPr>
                </a:tc>
                <a:tc>
                  <a:txBody>
                    <a:bodyPr wrap="none"/>
                    <a:lstStyle/>
                    <a:p>
                      <a:pPr algn="l"/>
                      <a:r>
                        <a:rPr sz="800" b="1">
                          <a:solidFill>
                            <a:srgbClr val="2E7D32"/>
                          </a:solidFill>
                          <a:latin typeface="Calibri"/>
                        </a:rPr>
                        <a:t>▲ 16.8%</a:t>
                      </a:r>
                    </a:p>
                  </a:txBody>
                  <a:tcPr marL="85725" marR="38100" marT="19050" marB="19050" anchor="ctr">
                    <a:solidFill>
                      <a:srgbClr val="FFFFFF"/>
                    </a:solidFill>
                  </a:tcPr>
                </a:tc>
                <a:tc>
                  <a:txBody>
                    <a:bodyPr wrap="none"/>
                    <a:lstStyle/>
                    <a:p>
                      <a:pPr algn="l"/>
                      <a:r>
                        <a:rPr sz="800" b="1">
                          <a:solidFill>
                            <a:srgbClr val="2E7D32"/>
                          </a:solidFill>
                          <a:latin typeface="Calibri"/>
                        </a:rPr>
                        <a:t>▲ 14.4%</a:t>
                      </a:r>
                    </a:p>
                  </a:txBody>
                  <a:tcPr marL="85725" marR="38100" marT="19050" marB="19050" anchor="ctr">
                    <a:solidFill>
                      <a:srgbClr val="FFFFFF"/>
                    </a:solidFill>
                  </a:tcPr>
                </a:tc>
                <a:tc>
                  <a:txBody>
                    <a:bodyPr wrap="none"/>
                    <a:lstStyle/>
                    <a:p>
                      <a:pPr algn="l"/>
                      <a:r>
                        <a:rPr sz="800" b="1">
                          <a:solidFill>
                            <a:srgbClr val="2E7D32"/>
                          </a:solidFill>
                          <a:latin typeface="Calibri"/>
                        </a:rPr>
                        <a:t>▲ 12.7%</a:t>
                      </a:r>
                    </a:p>
                  </a:txBody>
                  <a:tcPr marL="85725" marR="38100" marT="19050" marB="19050" anchor="ctr">
                    <a:solidFill>
                      <a:srgbClr val="FFFFFF"/>
                    </a:solidFill>
                  </a:tcPr>
                </a:tc>
                <a:tc>
                  <a:txBody>
                    <a:bodyPr wrap="none"/>
                    <a:lstStyle/>
                    <a:p>
                      <a:pPr algn="l"/>
                      <a:r>
                        <a:rPr sz="800" b="1">
                          <a:solidFill>
                            <a:srgbClr val="2E7D32"/>
                          </a:solidFill>
                          <a:latin typeface="Calibri"/>
                        </a:rPr>
                        <a:t>▲ 11.4%</a:t>
                      </a:r>
                    </a:p>
                  </a:txBody>
                  <a:tcPr marL="85725" marR="38100" marT="19050" marB="19050" anchor="ctr">
                    <a:solidFill>
                      <a:srgbClr val="FFFFFF"/>
                    </a:solidFill>
                  </a:tcPr>
                </a:tc>
                <a:tc>
                  <a:txBody>
                    <a:bodyPr wrap="none"/>
                    <a:lstStyle/>
                    <a:p>
                      <a:pPr algn="l"/>
                      <a:r>
                        <a:rPr sz="800" b="1">
                          <a:solidFill>
                            <a:srgbClr val="2E7D32"/>
                          </a:solidFill>
                          <a:latin typeface="Calibri"/>
                        </a:rPr>
                        <a:t>▲ 10.2%</a:t>
                      </a:r>
                    </a:p>
                  </a:txBody>
                  <a:tcPr marL="85725" marR="38100" marT="19050" marB="19050" anchor="ctr">
                    <a:solidFill>
                      <a:srgbClr val="FFFFFF"/>
                    </a:solidFill>
                  </a:tcPr>
                </a:tc>
                <a:tc>
                  <a:txBody>
                    <a:bodyPr wrap="none"/>
                    <a:lstStyle/>
                    <a:p>
                      <a:pPr algn="l"/>
                      <a:r>
                        <a:rPr sz="800" b="1">
                          <a:solidFill>
                            <a:srgbClr val="2E7D32"/>
                          </a:solidFill>
                          <a:latin typeface="Calibri"/>
                        </a:rPr>
                        <a:t>▲ 9.3%</a:t>
                      </a:r>
                    </a:p>
                  </a:txBody>
                  <a:tcPr marL="85725" marR="38100" marT="19050" marB="19050" anchor="ctr">
                    <a:solidFill>
                      <a:srgbClr val="FFFFFF"/>
                    </a:solidFill>
                  </a:tcPr>
                </a:tc>
                <a:tc>
                  <a:txBody>
                    <a:bodyPr wrap="none"/>
                    <a:lstStyle/>
                    <a:p>
                      <a:pPr algn="l"/>
                      <a:r>
                        <a:rPr sz="800" b="1">
                          <a:solidFill>
                            <a:srgbClr val="2E7D32"/>
                          </a:solidFill>
                          <a:latin typeface="Calibri"/>
                        </a:rPr>
                        <a:t>▲ 8.5%</a:t>
                      </a:r>
                    </a:p>
                  </a:txBody>
                  <a:tcPr marL="85725" marR="38100" marT="19050" marB="19050" anchor="ctr">
                    <a:solidFill>
                      <a:srgbClr val="FFFFFF"/>
                    </a:solidFill>
                  </a:tcPr>
                </a:tc>
                <a:tc>
                  <a:txBody>
                    <a:bodyPr wrap="none"/>
                    <a:lstStyle/>
                    <a:p>
                      <a:pPr algn="l"/>
                      <a:r>
                        <a:rPr sz="800" b="1">
                          <a:solidFill>
                            <a:srgbClr val="2E7D32"/>
                          </a:solidFill>
                          <a:latin typeface="Calibri"/>
                        </a:rPr>
                        <a:t>▲ 7.8%</a:t>
                      </a:r>
                    </a:p>
                  </a:txBody>
                  <a:tcPr marL="85725" marR="38100" marT="19050" marB="19050" anchor="ctr">
                    <a:solidFill>
                      <a:srgbClr val="FFFFFF"/>
                    </a:solidFill>
                  </a:tcPr>
                </a:tc>
                <a:tc>
                  <a:txBody>
                    <a:bodyPr wrap="none"/>
                    <a:lstStyle/>
                    <a:p>
                      <a:pPr algn="l"/>
                      <a:r>
                        <a:rPr sz="800" b="1">
                          <a:solidFill>
                            <a:srgbClr val="2E7D32"/>
                          </a:solidFill>
                          <a:latin typeface="Calibri"/>
                        </a:rPr>
                        <a:t>▲ 7.3%</a:t>
                      </a:r>
                    </a:p>
                  </a:txBody>
                  <a:tcPr marL="85725" marR="38100" marT="19050" marB="19050" anchor="ctr">
                    <a:solidFill>
                      <a:srgbClr val="FFFFFF"/>
                    </a:solidFill>
                  </a:tcPr>
                </a:tc>
                <a:tc>
                  <a:txBody>
                    <a:bodyPr wrap="none"/>
                    <a:lstStyle/>
                    <a:p>
                      <a:pPr algn="l"/>
                      <a:r>
                        <a:rPr sz="800" b="1">
                          <a:solidFill>
                            <a:srgbClr val="2E7D32"/>
                          </a:solidFill>
                          <a:latin typeface="Calibri"/>
                        </a:rPr>
                        <a:t>▲ 6.8%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Simlandi</a:t>
                      </a:r>
                    </a:p>
                  </a:txBody>
                  <a:tcPr marL="85725" marR="38100" marT="19050" marB="19050" anchor="ctr">
                    <a:solidFill>
                      <a:srgbClr val="F5F8FA"/>
                    </a:solidFill>
                  </a:tcPr>
                </a:tc>
                <a:tc>
                  <a:txBody>
                    <a:bodyPr wrap="none"/>
                    <a:lstStyle/>
                    <a:p>
                      <a:pPr algn="l"/>
                      <a:r>
                        <a:rPr sz="800" b="1">
                          <a:solidFill>
                            <a:srgbClr val="A86F00"/>
                          </a:solidFill>
                          <a:latin typeface="Calibri"/>
                        </a:rPr>
                        <a:t>▶ 11.2%</a:t>
                      </a:r>
                    </a:p>
                  </a:txBody>
                  <a:tcPr marL="85725" marR="38100" marT="19050" marB="19050" anchor="ctr">
                    <a:solidFill>
                      <a:srgbClr val="F5F8FA"/>
                    </a:solidFill>
                  </a:tcPr>
                </a:tc>
                <a:tc>
                  <a:txBody>
                    <a:bodyPr wrap="none"/>
                    <a:lstStyle/>
                    <a:p>
                      <a:pPr algn="l"/>
                      <a:r>
                        <a:rPr sz="800" b="1">
                          <a:solidFill>
                            <a:srgbClr val="A86F00"/>
                          </a:solidFill>
                          <a:latin typeface="Calibri"/>
                        </a:rPr>
                        <a:t>▶ 17.9%</a:t>
                      </a:r>
                    </a:p>
                  </a:txBody>
                  <a:tcPr marL="85725" marR="38100" marT="19050" marB="19050" anchor="ctr">
                    <a:solidFill>
                      <a:srgbClr val="F5F8FA"/>
                    </a:solidFill>
                  </a:tcPr>
                </a:tc>
                <a:tc>
                  <a:txBody>
                    <a:bodyPr wrap="none"/>
                    <a:lstStyle/>
                    <a:p>
                      <a:pPr algn="l"/>
                      <a:r>
                        <a:rPr sz="800" b="1">
                          <a:solidFill>
                            <a:srgbClr val="A86F00"/>
                          </a:solidFill>
                          <a:latin typeface="Calibri"/>
                        </a:rPr>
                        <a:t>▶ 21.7%</a:t>
                      </a:r>
                    </a:p>
                  </a:txBody>
                  <a:tcPr marL="85725" marR="38100" marT="19050" marB="19050" anchor="ctr">
                    <a:solidFill>
                      <a:srgbClr val="F5F8FA"/>
                    </a:solidFill>
                  </a:tcPr>
                </a:tc>
                <a:tc>
                  <a:txBody>
                    <a:bodyPr wrap="none"/>
                    <a:lstStyle/>
                    <a:p>
                      <a:pPr algn="l"/>
                      <a:r>
                        <a:rPr sz="800" b="1">
                          <a:solidFill>
                            <a:srgbClr val="A86F00"/>
                          </a:solidFill>
                          <a:latin typeface="Calibri"/>
                        </a:rPr>
                        <a:t>▶ 19.1%</a:t>
                      </a:r>
                    </a:p>
                  </a:txBody>
                  <a:tcPr marL="85725" marR="38100" marT="19050" marB="19050" anchor="ctr">
                    <a:solidFill>
                      <a:srgbClr val="F5F8FA"/>
                    </a:solidFill>
                  </a:tcPr>
                </a:tc>
                <a:tc>
                  <a:txBody>
                    <a:bodyPr wrap="none"/>
                    <a:lstStyle/>
                    <a:p>
                      <a:pPr algn="l"/>
                      <a:r>
                        <a:rPr sz="800" b="1">
                          <a:solidFill>
                            <a:srgbClr val="A86F00"/>
                          </a:solidFill>
                          <a:latin typeface="Calibri"/>
                        </a:rPr>
                        <a:t>▶ 15.5%</a:t>
                      </a:r>
                    </a:p>
                  </a:txBody>
                  <a:tcPr marL="85725" marR="38100" marT="19050" marB="19050" anchor="ctr">
                    <a:solidFill>
                      <a:srgbClr val="F5F8FA"/>
                    </a:solidFill>
                  </a:tcPr>
                </a:tc>
                <a:tc>
                  <a:txBody>
                    <a:bodyPr wrap="none"/>
                    <a:lstStyle/>
                    <a:p>
                      <a:pPr algn="l"/>
                      <a:r>
                        <a:rPr sz="800" b="1">
                          <a:solidFill>
                            <a:srgbClr val="A86F00"/>
                          </a:solidFill>
                          <a:latin typeface="Calibri"/>
                        </a:rPr>
                        <a:t>▶ 13.4%</a:t>
                      </a:r>
                    </a:p>
                  </a:txBody>
                  <a:tcPr marL="85725" marR="38100" marT="19050" marB="19050" anchor="ctr">
                    <a:solidFill>
                      <a:srgbClr val="F5F8FA"/>
                    </a:solidFill>
                  </a:tcPr>
                </a:tc>
                <a:tc>
                  <a:txBody>
                    <a:bodyPr wrap="none"/>
                    <a:lstStyle/>
                    <a:p>
                      <a:pPr algn="l"/>
                      <a:r>
                        <a:rPr sz="800" b="1">
                          <a:solidFill>
                            <a:srgbClr val="A86F00"/>
                          </a:solidFill>
                          <a:latin typeface="Calibri"/>
                        </a:rPr>
                        <a:t>▶ 11.0%</a:t>
                      </a:r>
                    </a:p>
                  </a:txBody>
                  <a:tcPr marL="85725" marR="38100" marT="19050" marB="19050" anchor="ctr">
                    <a:solidFill>
                      <a:srgbClr val="F5F8FA"/>
                    </a:solidFill>
                  </a:tcPr>
                </a:tc>
                <a:tc>
                  <a:txBody>
                    <a:bodyPr wrap="none"/>
                    <a:lstStyle/>
                    <a:p>
                      <a:pPr algn="l"/>
                      <a:r>
                        <a:rPr sz="800" b="1">
                          <a:solidFill>
                            <a:srgbClr val="A86F00"/>
                          </a:solidFill>
                          <a:latin typeface="Calibri"/>
                        </a:rPr>
                        <a:t>▶ 9.4%</a:t>
                      </a:r>
                    </a:p>
                  </a:txBody>
                  <a:tcPr marL="85725" marR="38100" marT="19050" marB="19050" anchor="ctr">
                    <a:solidFill>
                      <a:srgbClr val="F5F8FA"/>
                    </a:solidFill>
                  </a:tcPr>
                </a:tc>
                <a:tc>
                  <a:txBody>
                    <a:bodyPr wrap="none"/>
                    <a:lstStyle/>
                    <a:p>
                      <a:pPr algn="l"/>
                      <a:r>
                        <a:rPr sz="800" b="1">
                          <a:solidFill>
                            <a:srgbClr val="A86F00"/>
                          </a:solidFill>
                          <a:latin typeface="Calibri"/>
                        </a:rPr>
                        <a:t>▶ 8.1%</a:t>
                      </a:r>
                    </a:p>
                  </a:txBody>
                  <a:tcPr marL="85725" marR="38100" marT="19050" marB="19050" anchor="ctr">
                    <a:solidFill>
                      <a:srgbClr val="F5F8FA"/>
                    </a:solidFill>
                  </a:tcPr>
                </a:tc>
                <a:tc>
                  <a:txBody>
                    <a:bodyPr wrap="none"/>
                    <a:lstStyle/>
                    <a:p>
                      <a:pPr algn="l"/>
                      <a:r>
                        <a:rPr sz="800" b="1">
                          <a:solidFill>
                            <a:srgbClr val="A86F00"/>
                          </a:solidFill>
                          <a:latin typeface="Calibri"/>
                        </a:rPr>
                        <a:t>▶ 7.0%</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5.3%</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c>
                  <a:txBody>
                    <a:bodyPr wrap="none"/>
                    <a:lstStyle/>
                    <a:p>
                      <a:pPr algn="l"/>
                      <a:r>
                        <a:rPr sz="800" b="1">
                          <a:solidFill>
                            <a:srgbClr val="A86F00"/>
                          </a:solidFill>
                          <a:latin typeface="Calibri"/>
                        </a:rPr>
                        <a:t>▶ 4.1%</a:t>
                      </a:r>
                    </a:p>
                  </a:txBody>
                  <a:tcPr marL="85725" marR="38100" marT="19050" marB="19050" anchor="ctr">
                    <a:solidFill>
                      <a:srgbClr val="F5F8FA"/>
                    </a:solidFill>
                  </a:tcPr>
                </a:tc>
                <a:tc>
                  <a:txBody>
                    <a:bodyPr wrap="none"/>
                    <a:lstStyle/>
                    <a:p>
                      <a:pPr algn="l"/>
                      <a:r>
                        <a:rPr sz="800" b="1">
                          <a:solidFill>
                            <a:srgbClr val="A86F00"/>
                          </a:solidFill>
                          <a:latin typeface="Calibri"/>
                        </a:rPr>
                        <a:t>▶ 3.7%</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800" b="1">
                          <a:solidFill>
                            <a:srgbClr val="2E7D32"/>
                          </a:solidFill>
                          <a:latin typeface="Calibri"/>
                        </a:rPr>
                        <a:t>▲ 13.2%</a:t>
                      </a:r>
                    </a:p>
                  </a:txBody>
                  <a:tcPr marL="85725" marR="38100" marT="19050" marB="19050" anchor="ctr">
                    <a:solidFill>
                      <a:srgbClr val="FFFFFF"/>
                    </a:solidFill>
                  </a:tcPr>
                </a:tc>
                <a:tc>
                  <a:txBody>
                    <a:bodyPr wrap="none"/>
                    <a:lstStyle/>
                    <a:p>
                      <a:pPr algn="l"/>
                      <a:r>
                        <a:rPr sz="800" b="1">
                          <a:solidFill>
                            <a:srgbClr val="2E7D32"/>
                          </a:solidFill>
                          <a:latin typeface="Calibri"/>
                        </a:rPr>
                        <a:t>▲ 20.0%</a:t>
                      </a:r>
                    </a:p>
                  </a:txBody>
                  <a:tcPr marL="85725" marR="38100" marT="19050" marB="19050" anchor="ctr">
                    <a:solidFill>
                      <a:srgbClr val="FFFFFF"/>
                    </a:solidFill>
                  </a:tcPr>
                </a:tc>
                <a:tc>
                  <a:txBody>
                    <a:bodyPr wrap="none"/>
                    <a:lstStyle/>
                    <a:p>
                      <a:pPr algn="l"/>
                      <a:r>
                        <a:rPr sz="800" b="1">
                          <a:solidFill>
                            <a:srgbClr val="2E7D32"/>
                          </a:solidFill>
                          <a:latin typeface="Calibri"/>
                        </a:rPr>
                        <a:t>▲ 23.8%</a:t>
                      </a:r>
                    </a:p>
                  </a:txBody>
                  <a:tcPr marL="85725" marR="38100" marT="19050" marB="19050" anchor="ctr">
                    <a:solidFill>
                      <a:srgbClr val="FFFFFF"/>
                    </a:solidFill>
                  </a:tcPr>
                </a:tc>
                <a:tc>
                  <a:txBody>
                    <a:bodyPr wrap="none"/>
                    <a:lstStyle/>
                    <a:p>
                      <a:pPr algn="l"/>
                      <a:r>
                        <a:rPr sz="800" b="1">
                          <a:solidFill>
                            <a:srgbClr val="2E7D32"/>
                          </a:solidFill>
                          <a:latin typeface="Calibri"/>
                        </a:rPr>
                        <a:t>▲ 21.2%</a:t>
                      </a:r>
                    </a:p>
                  </a:txBody>
                  <a:tcPr marL="85725" marR="38100" marT="19050" marB="19050" anchor="ctr">
                    <a:solidFill>
                      <a:srgbClr val="FFFFFF"/>
                    </a:solidFill>
                  </a:tcPr>
                </a:tc>
                <a:tc>
                  <a:txBody>
                    <a:bodyPr wrap="none"/>
                    <a:lstStyle/>
                    <a:p>
                      <a:pPr algn="l"/>
                      <a:r>
                        <a:rPr sz="800" b="1">
                          <a:solidFill>
                            <a:srgbClr val="2E7D32"/>
                          </a:solidFill>
                          <a:latin typeface="Calibri"/>
                        </a:rPr>
                        <a:t>▲ 17.5%</a:t>
                      </a:r>
                    </a:p>
                  </a:txBody>
                  <a:tcPr marL="85725" marR="38100" marT="19050" marB="19050" anchor="ctr">
                    <a:solidFill>
                      <a:srgbClr val="FFFFFF"/>
                    </a:solidFill>
                  </a:tcPr>
                </a:tc>
                <a:tc>
                  <a:txBody>
                    <a:bodyPr wrap="none"/>
                    <a:lstStyle/>
                    <a:p>
                      <a:pPr algn="l"/>
                      <a:r>
                        <a:rPr sz="800" b="1">
                          <a:solidFill>
                            <a:srgbClr val="2E7D32"/>
                          </a:solidFill>
                          <a:latin typeface="Calibri"/>
                        </a:rPr>
                        <a:t>▲ 15.4%</a:t>
                      </a:r>
                    </a:p>
                  </a:txBody>
                  <a:tcPr marL="85725" marR="38100" marT="19050" marB="19050" anchor="ctr">
                    <a:solidFill>
                      <a:srgbClr val="FFFFFF"/>
                    </a:solidFill>
                  </a:tcPr>
                </a:tc>
                <a:tc>
                  <a:txBody>
                    <a:bodyPr wrap="none"/>
                    <a:lstStyle/>
                    <a:p>
                      <a:pPr algn="l"/>
                      <a:r>
                        <a:rPr sz="800" b="1">
                          <a:solidFill>
                            <a:srgbClr val="2E7D32"/>
                          </a:solidFill>
                          <a:latin typeface="Calibri"/>
                        </a:rPr>
                        <a:t>▲ 13.0%</a:t>
                      </a:r>
                    </a:p>
                  </a:txBody>
                  <a:tcPr marL="85725" marR="38100" marT="19050" marB="19050" anchor="ctr">
                    <a:solidFill>
                      <a:srgbClr val="FFFFFF"/>
                    </a:solidFill>
                  </a:tcPr>
                </a:tc>
                <a:tc>
                  <a:txBody>
                    <a:bodyPr wrap="none"/>
                    <a:lstStyle/>
                    <a:p>
                      <a:pPr algn="l"/>
                      <a:r>
                        <a:rPr sz="800" b="1">
                          <a:solidFill>
                            <a:srgbClr val="2E7D32"/>
                          </a:solidFill>
                          <a:latin typeface="Calibri"/>
                        </a:rPr>
                        <a:t>▲ 11.4%</a:t>
                      </a:r>
                    </a:p>
                  </a:txBody>
                  <a:tcPr marL="85725" marR="38100" marT="19050" marB="19050" anchor="ctr">
                    <a:solidFill>
                      <a:srgbClr val="FFFFFF"/>
                    </a:solidFill>
                  </a:tcPr>
                </a:tc>
                <a:tc>
                  <a:txBody>
                    <a:bodyPr wrap="none"/>
                    <a:lstStyle/>
                    <a:p>
                      <a:pPr algn="l"/>
                      <a:r>
                        <a:rPr sz="800" b="1">
                          <a:solidFill>
                            <a:srgbClr val="2E7D32"/>
                          </a:solidFill>
                          <a:latin typeface="Calibri"/>
                        </a:rPr>
                        <a:t>▲ 10.0%</a:t>
                      </a:r>
                    </a:p>
                  </a:txBody>
                  <a:tcPr marL="85725" marR="38100" marT="19050" marB="19050" anchor="ctr">
                    <a:solidFill>
                      <a:srgbClr val="FFFFFF"/>
                    </a:solidFill>
                  </a:tcPr>
                </a:tc>
                <a:tc>
                  <a:txBody>
                    <a:bodyPr wrap="none"/>
                    <a:lstStyle/>
                    <a:p>
                      <a:pPr algn="l"/>
                      <a:r>
                        <a:rPr sz="800" b="1">
                          <a:solidFill>
                            <a:srgbClr val="2E7D32"/>
                          </a:solidFill>
                          <a:latin typeface="Calibri"/>
                        </a:rPr>
                        <a:t>▲ 8.9%</a:t>
                      </a:r>
                    </a:p>
                  </a:txBody>
                  <a:tcPr marL="85725" marR="38100" marT="19050" marB="19050" anchor="ctr">
                    <a:solidFill>
                      <a:srgbClr val="FFFFFF"/>
                    </a:solidFill>
                  </a:tcPr>
                </a:tc>
                <a:tc>
                  <a:txBody>
                    <a:bodyPr wrap="none"/>
                    <a:lstStyle/>
                    <a:p>
                      <a:pPr algn="l"/>
                      <a:r>
                        <a:rPr sz="800" b="1">
                          <a:solidFill>
                            <a:srgbClr val="2E7D32"/>
                          </a:solidFill>
                          <a:latin typeface="Calibri"/>
                        </a:rPr>
                        <a:t>▲ 8.0%</a:t>
                      </a:r>
                    </a:p>
                  </a:txBody>
                  <a:tcPr marL="85725" marR="38100" marT="19050" marB="19050" anchor="ctr">
                    <a:solidFill>
                      <a:srgbClr val="FFFFFF"/>
                    </a:solidFill>
                  </a:tcPr>
                </a:tc>
                <a:tc>
                  <a:txBody>
                    <a:bodyPr wrap="none"/>
                    <a:lstStyle/>
                    <a:p>
                      <a:pPr algn="l"/>
                      <a:r>
                        <a:rPr sz="800" b="1">
                          <a:solidFill>
                            <a:srgbClr val="2E7D32"/>
                          </a:solidFill>
                          <a:latin typeface="Calibri"/>
                        </a:rPr>
                        <a:t>▲ 7.1%</a:t>
                      </a:r>
                    </a:p>
                  </a:txBody>
                  <a:tcPr marL="85725" marR="38100" marT="19050" marB="19050" anchor="ctr">
                    <a:solidFill>
                      <a:srgbClr val="FFFFFF"/>
                    </a:solidFill>
                  </a:tcPr>
                </a:tc>
                <a:tc>
                  <a:txBody>
                    <a:bodyPr wrap="none"/>
                    <a:lstStyle/>
                    <a:p>
                      <a:pPr algn="l"/>
                      <a:r>
                        <a:rPr sz="800" b="1">
                          <a:solidFill>
                            <a:srgbClr val="2E7D32"/>
                          </a:solidFill>
                          <a:latin typeface="Calibri"/>
                        </a:rPr>
                        <a:t>▲ 6.5%</a:t>
                      </a:r>
                    </a:p>
                  </a:txBody>
                  <a:tcPr marL="85725" marR="38100" marT="19050" marB="19050" anchor="ctr">
                    <a:solidFill>
                      <a:srgbClr val="FFFFFF"/>
                    </a:solidFill>
                  </a:tcPr>
                </a:tc>
                <a:tc>
                  <a:txBody>
                    <a:bodyPr wrap="none"/>
                    <a:lstStyle/>
                    <a:p>
                      <a:pPr algn="l"/>
                      <a:r>
                        <a:rPr sz="800" b="1">
                          <a:solidFill>
                            <a:srgbClr val="2E7D32"/>
                          </a:solidFill>
                          <a:latin typeface="Calibri"/>
                        </a:rPr>
                        <a:t>▲ 6.0%</a:t>
                      </a:r>
                    </a:p>
                  </a:txBody>
                  <a:tcPr marL="85725" marR="38100" marT="19050" marB="19050" anchor="ctr">
                    <a:solidFill>
                      <a:srgbClr val="FFFFFF"/>
                    </a:solidFill>
                  </a:tcPr>
                </a:tc>
                <a:tc>
                  <a:txBody>
                    <a:bodyPr wrap="none"/>
                    <a:lstStyle/>
                    <a:p>
                      <a:pPr algn="l"/>
                      <a:r>
                        <a:rPr sz="800" b="1">
                          <a:solidFill>
                            <a:srgbClr val="2E7D32"/>
                          </a:solidFill>
                          <a:latin typeface="Calibri"/>
                        </a:rPr>
                        <a:t>▲ 5.5%</a:t>
                      </a:r>
                    </a:p>
                  </a:txBody>
                  <a:tcPr marL="85725" marR="38100" marT="19050" marB="19050" anchor="ctr">
                    <a:solidFill>
                      <a:srgbClr val="FFFFFF"/>
                    </a:solidFill>
                  </a:tcPr>
                </a:tc>
              </a:tr>
            </a:tbl>
          </a:graphicData>
        </a:graphic>
      </p:graphicFrame>
      <p:sp>
        <p:nvSpPr>
          <p:cNvPr id="13" name="TextBox 12"/>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4" name="Rectangle 1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6" name="Rounded Rectangle 1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7" name="Rounded Rectangle 1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 Country</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Form Type</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Segmental</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Table (Volume &amp; Value)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YoY</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16</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Segmental Analysis Form Type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Form Type (US$ Mn)</a:t>
            </a:r>
          </a:p>
        </p:txBody>
      </p:sp>
      <p:graphicFrame>
        <p:nvGraphicFramePr>
          <p:cNvPr id="13" name="Chart 12"/>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Form Type</a:t>
            </a:r>
          </a:p>
        </p:txBody>
      </p:sp>
      <p:graphicFrame>
        <p:nvGraphicFramePr>
          <p:cNvPr id="16" name="Table 15"/>
          <p:cNvGraphicFramePr>
            <a:graphicFrameLocks noGrp="1"/>
          </p:cNvGraphicFramePr>
          <p:nvPr/>
        </p:nvGraphicFramePr>
        <p:xfrm>
          <a:off x="6267450" y="1143000"/>
          <a:ext cx="5686424" cy="54292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Form Type</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Prefilled Syringe</a:t>
                      </a:r>
                    </a:p>
                  </a:txBody>
                  <a:tcPr marL="85725" marR="38100" marT="19050" marB="19050" anchor="ctr">
                    <a:solidFill>
                      <a:srgbClr val="FFFFFF"/>
                    </a:solidFill>
                  </a:tcPr>
                </a:tc>
                <a:tc>
                  <a:txBody>
                    <a:bodyPr wrap="none"/>
                    <a:lstStyle/>
                    <a:p>
                      <a:pPr algn="l"/>
                      <a:r>
                        <a:rPr sz="900" b="0">
                          <a:solidFill>
                            <a:srgbClr val="2E2E2E"/>
                          </a:solidFill>
                          <a:latin typeface="Calibri"/>
                        </a:rPr>
                        <a:t>48.3%</a:t>
                      </a:r>
                    </a:p>
                  </a:txBody>
                  <a:tcPr marL="85725" marR="38100" marT="19050" marB="19050" anchor="ctr">
                    <a:solidFill>
                      <a:srgbClr val="FFFFFF"/>
                    </a:solidFill>
                  </a:tcPr>
                </a:tc>
                <a:tc>
                  <a:txBody>
                    <a:bodyPr wrap="none"/>
                    <a:lstStyle/>
                    <a:p>
                      <a:pPr algn="l"/>
                      <a:r>
                        <a:rPr sz="900" b="0">
                          <a:solidFill>
                            <a:srgbClr val="2E2E2E"/>
                          </a:solidFill>
                          <a:latin typeface="Calibri"/>
                        </a:rPr>
                        <a:t>48.2%</a:t>
                      </a:r>
                    </a:p>
                  </a:txBody>
                  <a:tcPr marL="85725" marR="38100" marT="19050" marB="19050" anchor="ctr">
                    <a:solidFill>
                      <a:srgbClr val="FFFFFF"/>
                    </a:solidFill>
                  </a:tcPr>
                </a:tc>
                <a:tc>
                  <a:txBody>
                    <a:bodyPr wrap="none"/>
                    <a:lstStyle/>
                    <a:p>
                      <a:pPr algn="l"/>
                      <a:r>
                        <a:rPr sz="900" b="1">
                          <a:solidFill>
                            <a:srgbClr val="E44D3A"/>
                          </a:solidFill>
                          <a:latin typeface="Calibri"/>
                        </a:rPr>
                        <a:t>-7</a:t>
                      </a:r>
                    </a:p>
                  </a:txBody>
                  <a:tcPr marL="85725" marR="38100" marT="19050" marB="19050" anchor="ctr">
                    <a:solidFill>
                      <a:srgbClr val="FFFFFF"/>
                    </a:solidFill>
                  </a:tcPr>
                </a:tc>
                <a:tc>
                  <a:txBody>
                    <a:bodyPr wrap="none"/>
                    <a:lstStyle/>
                    <a:p>
                      <a:pPr algn="l"/>
                      <a:r>
                        <a:rPr sz="900" b="0">
                          <a:solidFill>
                            <a:srgbClr val="2E2E2E"/>
                          </a:solidFill>
                          <a:latin typeface="Calibri"/>
                        </a:rPr>
                        <a:t>9.0%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Autoinjector / Pen</a:t>
                      </a:r>
                    </a:p>
                  </a:txBody>
                  <a:tcPr marL="85725" marR="38100" marT="19050" marB="19050" anchor="ctr">
                    <a:solidFill>
                      <a:srgbClr val="F5F8FA"/>
                    </a:solidFill>
                  </a:tcPr>
                </a:tc>
                <a:tc>
                  <a:txBody>
                    <a:bodyPr wrap="none"/>
                    <a:lstStyle/>
                    <a:p>
                      <a:pPr algn="l"/>
                      <a:r>
                        <a:rPr sz="900" b="0">
                          <a:solidFill>
                            <a:srgbClr val="2E2E2E"/>
                          </a:solidFill>
                          <a:latin typeface="Calibri"/>
                        </a:rPr>
                        <a:t>51.7%</a:t>
                      </a:r>
                    </a:p>
                  </a:txBody>
                  <a:tcPr marL="85725" marR="38100" marT="19050" marB="19050" anchor="ctr">
                    <a:solidFill>
                      <a:srgbClr val="F5F8FA"/>
                    </a:solidFill>
                  </a:tcPr>
                </a:tc>
                <a:tc>
                  <a:txBody>
                    <a:bodyPr wrap="none"/>
                    <a:lstStyle/>
                    <a:p>
                      <a:pPr algn="l"/>
                      <a:r>
                        <a:rPr sz="900" b="0">
                          <a:solidFill>
                            <a:srgbClr val="2E2E2E"/>
                          </a:solidFill>
                          <a:latin typeface="Calibri"/>
                        </a:rPr>
                        <a:t>51.8%</a:t>
                      </a:r>
                    </a:p>
                  </a:txBody>
                  <a:tcPr marL="85725" marR="38100" marT="19050" marB="19050" anchor="ctr">
                    <a:solidFill>
                      <a:srgbClr val="F5F8FA"/>
                    </a:solidFill>
                  </a:tcPr>
                </a:tc>
                <a:tc>
                  <a:txBody>
                    <a:bodyPr wrap="none"/>
                    <a:lstStyle/>
                    <a:p>
                      <a:pPr algn="l"/>
                      <a:r>
                        <a:rPr sz="900" b="1">
                          <a:solidFill>
                            <a:srgbClr val="008189"/>
                          </a:solidFill>
                          <a:latin typeface="Calibri"/>
                        </a:rPr>
                        <a:t>+7</a:t>
                      </a:r>
                    </a:p>
                  </a:txBody>
                  <a:tcPr marL="85725" marR="38100" marT="19050" marB="19050" anchor="ctr">
                    <a:solidFill>
                      <a:srgbClr val="F5F8FA"/>
                    </a:solidFill>
                  </a:tcPr>
                </a:tc>
                <a:tc>
                  <a:txBody>
                    <a:bodyPr wrap="none"/>
                    <a:lstStyle/>
                    <a:p>
                      <a:pPr algn="l"/>
                      <a:r>
                        <a:rPr sz="900" b="0">
                          <a:solidFill>
                            <a:srgbClr val="2E2E2E"/>
                          </a:solidFill>
                          <a:latin typeface="Calibri"/>
                        </a:rPr>
                        <a:t>9.0%</a:t>
                      </a:r>
                    </a:p>
                  </a:txBody>
                  <a:tcPr marL="85725" marR="38100" marT="19050" marB="19050" anchor="ctr">
                    <a:solidFill>
                      <a:srgbClr val="F5F8FA"/>
                    </a:solidFill>
                  </a:tcPr>
                </a:tc>
              </a:tr>
            </a:tbl>
          </a:graphicData>
        </a:graphic>
      </p:graphicFrame>
      <p:sp>
        <p:nvSpPr>
          <p:cNvPr id="17" name="TextBox 16"/>
          <p:cNvSpPr txBox="1"/>
          <p:nvPr/>
        </p:nvSpPr>
        <p:spPr>
          <a:xfrm>
            <a:off x="6248400" y="3581400"/>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8" name="Rounded Rectangle 17"/>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Form Type (US$ Mn)</a:t>
            </a:r>
          </a:p>
        </p:txBody>
      </p:sp>
      <p:graphicFrame>
        <p:nvGraphicFramePr>
          <p:cNvPr id="20" name="Chart 19"/>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4"/>
          </a:graphicData>
        </a:graphic>
      </p:graphicFrame>
      <p:sp>
        <p:nvSpPr>
          <p:cNvPr id="21" name="Rounded Rectangle 20"/>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Volume Shares &amp; Variance, By Form Type</a:t>
            </a:r>
          </a:p>
        </p:txBody>
      </p:sp>
      <p:graphicFrame>
        <p:nvGraphicFramePr>
          <p:cNvPr id="23" name="Table 22"/>
          <p:cNvGraphicFramePr>
            <a:graphicFrameLocks noGrp="1"/>
          </p:cNvGraphicFramePr>
          <p:nvPr/>
        </p:nvGraphicFramePr>
        <p:xfrm>
          <a:off x="6267450" y="4143375"/>
          <a:ext cx="5686424" cy="54292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Form Type</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Prefilled Syringe</a:t>
                      </a:r>
                    </a:p>
                  </a:txBody>
                  <a:tcPr marL="85725" marR="38100" marT="19050" marB="19050" anchor="ctr">
                    <a:solidFill>
                      <a:srgbClr val="FFFFFF"/>
                    </a:solidFill>
                  </a:tcPr>
                </a:tc>
                <a:tc>
                  <a:txBody>
                    <a:bodyPr wrap="none"/>
                    <a:lstStyle/>
                    <a:p>
                      <a:pPr algn="l"/>
                      <a:r>
                        <a:rPr sz="900" b="0">
                          <a:solidFill>
                            <a:srgbClr val="2E2E2E"/>
                          </a:solidFill>
                          <a:latin typeface="Calibri"/>
                        </a:rPr>
                        <a:t>59.1%</a:t>
                      </a:r>
                    </a:p>
                  </a:txBody>
                  <a:tcPr marL="85725" marR="38100" marT="19050" marB="19050" anchor="ctr">
                    <a:solidFill>
                      <a:srgbClr val="FFFFFF"/>
                    </a:solidFill>
                  </a:tcPr>
                </a:tc>
                <a:tc>
                  <a:txBody>
                    <a:bodyPr wrap="none"/>
                    <a:lstStyle/>
                    <a:p>
                      <a:pPr algn="l"/>
                      <a:r>
                        <a:rPr sz="900" b="0">
                          <a:solidFill>
                            <a:srgbClr val="2E2E2E"/>
                          </a:solidFill>
                          <a:latin typeface="Calibri"/>
                        </a:rPr>
                        <a:t>63.3%</a:t>
                      </a:r>
                    </a:p>
                  </a:txBody>
                  <a:tcPr marL="85725" marR="38100" marT="19050" marB="19050" anchor="ctr">
                    <a:solidFill>
                      <a:srgbClr val="FFFFFF"/>
                    </a:solidFill>
                  </a:tcPr>
                </a:tc>
                <a:tc>
                  <a:txBody>
                    <a:bodyPr wrap="none"/>
                    <a:lstStyle/>
                    <a:p>
                      <a:pPr algn="l"/>
                      <a:r>
                        <a:rPr sz="900" b="1">
                          <a:solidFill>
                            <a:srgbClr val="008189"/>
                          </a:solidFill>
                          <a:latin typeface="Calibri"/>
                        </a:rPr>
                        <a:t>+419</a:t>
                      </a:r>
                    </a:p>
                  </a:txBody>
                  <a:tcPr marL="85725" marR="38100" marT="19050" marB="19050" anchor="ctr">
                    <a:solidFill>
                      <a:srgbClr val="FFFFFF"/>
                    </a:solidFill>
                  </a:tcPr>
                </a:tc>
                <a:tc>
                  <a:txBody>
                    <a:bodyPr wrap="none"/>
                    <a:lstStyle/>
                    <a:p>
                      <a:pPr algn="l"/>
                      <a:r>
                        <a:rPr sz="900" b="0">
                          <a:solidFill>
                            <a:srgbClr val="2E2E2E"/>
                          </a:solidFill>
                          <a:latin typeface="Calibri"/>
                        </a:rPr>
                        <a:t>13.5%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Autoinjector / Pen</a:t>
                      </a:r>
                    </a:p>
                  </a:txBody>
                  <a:tcPr marL="85725" marR="38100" marT="19050" marB="19050" anchor="ctr">
                    <a:solidFill>
                      <a:srgbClr val="F5F8FA"/>
                    </a:solidFill>
                  </a:tcPr>
                </a:tc>
                <a:tc>
                  <a:txBody>
                    <a:bodyPr wrap="none"/>
                    <a:lstStyle/>
                    <a:p>
                      <a:pPr algn="l"/>
                      <a:r>
                        <a:rPr sz="900" b="0">
                          <a:solidFill>
                            <a:srgbClr val="2E2E2E"/>
                          </a:solidFill>
                          <a:latin typeface="Calibri"/>
                        </a:rPr>
                        <a:t>40.9%</a:t>
                      </a:r>
                    </a:p>
                  </a:txBody>
                  <a:tcPr marL="85725" marR="38100" marT="19050" marB="19050" anchor="ctr">
                    <a:solidFill>
                      <a:srgbClr val="F5F8FA"/>
                    </a:solidFill>
                  </a:tcPr>
                </a:tc>
                <a:tc>
                  <a:txBody>
                    <a:bodyPr wrap="none"/>
                    <a:lstStyle/>
                    <a:p>
                      <a:pPr algn="l"/>
                      <a:r>
                        <a:rPr sz="900" b="0">
                          <a:solidFill>
                            <a:srgbClr val="2E2E2E"/>
                          </a:solidFill>
                          <a:latin typeface="Calibri"/>
                        </a:rPr>
                        <a:t>36.7%</a:t>
                      </a:r>
                    </a:p>
                  </a:txBody>
                  <a:tcPr marL="85725" marR="38100" marT="19050" marB="19050" anchor="ctr">
                    <a:solidFill>
                      <a:srgbClr val="F5F8FA"/>
                    </a:solidFill>
                  </a:tcPr>
                </a:tc>
                <a:tc>
                  <a:txBody>
                    <a:bodyPr wrap="none"/>
                    <a:lstStyle/>
                    <a:p>
                      <a:pPr algn="l"/>
                      <a:r>
                        <a:rPr sz="900" b="1">
                          <a:solidFill>
                            <a:srgbClr val="E44D3A"/>
                          </a:solidFill>
                          <a:latin typeface="Calibri"/>
                        </a:rPr>
                        <a:t>-419</a:t>
                      </a:r>
                    </a:p>
                  </a:txBody>
                  <a:tcPr marL="85725" marR="38100" marT="19050" marB="19050" anchor="ctr">
                    <a:solidFill>
                      <a:srgbClr val="F5F8FA"/>
                    </a:solidFill>
                  </a:tcPr>
                </a:tc>
                <a:tc>
                  <a:txBody>
                    <a:bodyPr wrap="none"/>
                    <a:lstStyle/>
                    <a:p>
                      <a:pPr algn="l"/>
                      <a:r>
                        <a:rPr sz="900" b="0">
                          <a:solidFill>
                            <a:srgbClr val="2E2E2E"/>
                          </a:solidFill>
                          <a:latin typeface="Calibri"/>
                        </a:rPr>
                        <a:t>11.5%</a:t>
                      </a:r>
                    </a:p>
                  </a:txBody>
                  <a:tcPr marL="85725" marR="38100" marT="19050" marB="19050" anchor="ctr">
                    <a:solidFill>
                      <a:srgbClr val="F5F8FA"/>
                    </a:solidFill>
                  </a:tcPr>
                </a:tc>
              </a:tr>
            </a:tbl>
          </a:graphicData>
        </a:graphic>
      </p:graphicFrame>
      <p:sp>
        <p:nvSpPr>
          <p:cNvPr id="24" name="TextBox 23"/>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Tables Form Type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Volume, By Form Type (Mn Doses)</a:t>
            </a:r>
          </a:p>
        </p:txBody>
      </p:sp>
      <p:graphicFrame>
        <p:nvGraphicFramePr>
          <p:cNvPr id="13" name="Table 12"/>
          <p:cNvGraphicFramePr>
            <a:graphicFrameLocks noGrp="1"/>
          </p:cNvGraphicFramePr>
          <p:nvPr/>
        </p:nvGraphicFramePr>
        <p:xfrm>
          <a:off x="238125" y="1143000"/>
          <a:ext cx="11715752" cy="72390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Form Type</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Prefilled Syringe</a:t>
                      </a:r>
                    </a:p>
                  </a:txBody>
                  <a:tcPr marL="85725" marR="38100" marT="19050" marB="19050" anchor="ctr">
                    <a:solidFill>
                      <a:srgbClr val="FFFFFF"/>
                    </a:solidFill>
                  </a:tcPr>
                </a:tc>
                <a:tc>
                  <a:txBody>
                    <a:bodyPr wrap="none"/>
                    <a:lstStyle/>
                    <a:p>
                      <a:pPr algn="l"/>
                      <a:r>
                        <a:rPr sz="800" b="0">
                          <a:solidFill>
                            <a:srgbClr val="2E2E2E"/>
                          </a:solidFill>
                          <a:latin typeface="Calibri"/>
                        </a:rPr>
                        <a:t>0.61</a:t>
                      </a:r>
                    </a:p>
                  </a:txBody>
                  <a:tcPr marL="85725" marR="38100" marT="19050" marB="19050" anchor="ctr">
                    <a:solidFill>
                      <a:srgbClr val="FFFFFF"/>
                    </a:solidFill>
                  </a:tcPr>
                </a:tc>
                <a:tc>
                  <a:txBody>
                    <a:bodyPr wrap="none"/>
                    <a:lstStyle/>
                    <a:p>
                      <a:pPr algn="l"/>
                      <a:r>
                        <a:rPr sz="800" b="0">
                          <a:solidFill>
                            <a:srgbClr val="2E2E2E"/>
                          </a:solidFill>
                          <a:latin typeface="Calibri"/>
                        </a:rPr>
                        <a:t>0.71</a:t>
                      </a:r>
                    </a:p>
                  </a:txBody>
                  <a:tcPr marL="85725" marR="38100" marT="19050" marB="19050" anchor="ctr">
                    <a:solidFill>
                      <a:srgbClr val="FFFFFF"/>
                    </a:solidFill>
                  </a:tcPr>
                </a:tc>
                <a:tc>
                  <a:txBody>
                    <a:bodyPr wrap="none"/>
                    <a:lstStyle/>
                    <a:p>
                      <a:pPr algn="l"/>
                      <a:r>
                        <a:rPr sz="800" b="0">
                          <a:solidFill>
                            <a:srgbClr val="2E2E2E"/>
                          </a:solidFill>
                          <a:latin typeface="Calibri"/>
                        </a:rPr>
                        <a:t>0.89</a:t>
                      </a:r>
                    </a:p>
                  </a:txBody>
                  <a:tcPr marL="85725" marR="38100" marT="19050" marB="19050" anchor="ctr">
                    <a:solidFill>
                      <a:srgbClr val="FFFFFF"/>
                    </a:solidFill>
                  </a:tcPr>
                </a:tc>
                <a:tc>
                  <a:txBody>
                    <a:bodyPr wrap="none"/>
                    <a:lstStyle/>
                    <a:p>
                      <a:pPr algn="l"/>
                      <a:r>
                        <a:rPr sz="800" b="0">
                          <a:solidFill>
                            <a:srgbClr val="2E2E2E"/>
                          </a:solidFill>
                          <a:latin typeface="Calibri"/>
                        </a:rPr>
                        <a:t>1.15</a:t>
                      </a:r>
                    </a:p>
                  </a:txBody>
                  <a:tcPr marL="85725" marR="38100" marT="19050" marB="19050" anchor="ctr">
                    <a:solidFill>
                      <a:srgbClr val="FFFFFF"/>
                    </a:solidFill>
                  </a:tcPr>
                </a:tc>
                <a:tc>
                  <a:txBody>
                    <a:bodyPr wrap="none"/>
                    <a:lstStyle/>
                    <a:p>
                      <a:pPr algn="l"/>
                      <a:r>
                        <a:rPr sz="800" b="0">
                          <a:solidFill>
                            <a:srgbClr val="2E2E2E"/>
                          </a:solidFill>
                          <a:latin typeface="Calibri"/>
                        </a:rPr>
                        <a:t>1.45</a:t>
                      </a:r>
                    </a:p>
                  </a:txBody>
                  <a:tcPr marL="85725" marR="38100" marT="19050" marB="19050" anchor="ctr">
                    <a:solidFill>
                      <a:srgbClr val="FFFFFF"/>
                    </a:solidFill>
                  </a:tcPr>
                </a:tc>
                <a:tc>
                  <a:txBody>
                    <a:bodyPr wrap="none"/>
                    <a:lstStyle/>
                    <a:p>
                      <a:pPr algn="l"/>
                      <a:r>
                        <a:rPr sz="800" b="0">
                          <a:solidFill>
                            <a:srgbClr val="2E2E2E"/>
                          </a:solidFill>
                          <a:latin typeface="Calibri"/>
                        </a:rPr>
                        <a:t>1.77</a:t>
                      </a:r>
                    </a:p>
                  </a:txBody>
                  <a:tcPr marL="85725" marR="38100" marT="19050" marB="19050" anchor="ctr">
                    <a:solidFill>
                      <a:srgbClr val="FFFFFF"/>
                    </a:solidFill>
                  </a:tcPr>
                </a:tc>
                <a:tc>
                  <a:txBody>
                    <a:bodyPr wrap="none"/>
                    <a:lstStyle/>
                    <a:p>
                      <a:pPr algn="l"/>
                      <a:r>
                        <a:rPr sz="800" b="0">
                          <a:solidFill>
                            <a:srgbClr val="2E2E2E"/>
                          </a:solidFill>
                          <a:latin typeface="Calibri"/>
                        </a:rPr>
                        <a:t>2.12</a:t>
                      </a:r>
                    </a:p>
                  </a:txBody>
                  <a:tcPr marL="85725" marR="38100" marT="19050" marB="19050" anchor="ctr">
                    <a:solidFill>
                      <a:srgbClr val="FFFFFF"/>
                    </a:solidFill>
                  </a:tcPr>
                </a:tc>
                <a:tc>
                  <a:txBody>
                    <a:bodyPr wrap="none"/>
                    <a:lstStyle/>
                    <a:p>
                      <a:pPr algn="l"/>
                      <a:r>
                        <a:rPr sz="800" b="0">
                          <a:solidFill>
                            <a:srgbClr val="2E2E2E"/>
                          </a:solidFill>
                          <a:latin typeface="Calibri"/>
                        </a:rPr>
                        <a:t>2.49</a:t>
                      </a:r>
                    </a:p>
                  </a:txBody>
                  <a:tcPr marL="85725" marR="38100" marT="19050" marB="19050" anchor="ctr">
                    <a:solidFill>
                      <a:srgbClr val="FFFFFF"/>
                    </a:solidFill>
                  </a:tcPr>
                </a:tc>
                <a:tc>
                  <a:txBody>
                    <a:bodyPr wrap="none"/>
                    <a:lstStyle/>
                    <a:p>
                      <a:pPr algn="l"/>
                      <a:r>
                        <a:rPr sz="800" b="0">
                          <a:solidFill>
                            <a:srgbClr val="2E2E2E"/>
                          </a:solidFill>
                          <a:latin typeface="Calibri"/>
                        </a:rPr>
                        <a:t>2.88</a:t>
                      </a:r>
                    </a:p>
                  </a:txBody>
                  <a:tcPr marL="85725" marR="38100" marT="19050" marB="19050" anchor="ctr">
                    <a:solidFill>
                      <a:srgbClr val="FFFFFF"/>
                    </a:solidFill>
                  </a:tcPr>
                </a:tc>
                <a:tc>
                  <a:txBody>
                    <a:bodyPr wrap="none"/>
                    <a:lstStyle/>
                    <a:p>
                      <a:pPr algn="l"/>
                      <a:r>
                        <a:rPr sz="800" b="0">
                          <a:solidFill>
                            <a:srgbClr val="2E2E2E"/>
                          </a:solidFill>
                          <a:latin typeface="Calibri"/>
                        </a:rPr>
                        <a:t>3.30</a:t>
                      </a:r>
                    </a:p>
                  </a:txBody>
                  <a:tcPr marL="85725" marR="38100" marT="19050" marB="19050" anchor="ctr">
                    <a:solidFill>
                      <a:srgbClr val="FFFFFF"/>
                    </a:solidFill>
                  </a:tcPr>
                </a:tc>
                <a:tc>
                  <a:txBody>
                    <a:bodyPr wrap="none"/>
                    <a:lstStyle/>
                    <a:p>
                      <a:pPr algn="l"/>
                      <a:r>
                        <a:rPr sz="800" b="0">
                          <a:solidFill>
                            <a:srgbClr val="2E2E2E"/>
                          </a:solidFill>
                          <a:latin typeface="Calibri"/>
                        </a:rPr>
                        <a:t>3.74</a:t>
                      </a:r>
                    </a:p>
                  </a:txBody>
                  <a:tcPr marL="85725" marR="38100" marT="19050" marB="19050" anchor="ctr">
                    <a:solidFill>
                      <a:srgbClr val="FFFFFF"/>
                    </a:solidFill>
                  </a:tcPr>
                </a:tc>
                <a:tc>
                  <a:txBody>
                    <a:bodyPr wrap="none"/>
                    <a:lstStyle/>
                    <a:p>
                      <a:pPr algn="l"/>
                      <a:r>
                        <a:rPr sz="800" b="0">
                          <a:solidFill>
                            <a:srgbClr val="2E2E2E"/>
                          </a:solidFill>
                          <a:latin typeface="Calibri"/>
                        </a:rPr>
                        <a:t>4.19</a:t>
                      </a:r>
                    </a:p>
                  </a:txBody>
                  <a:tcPr marL="85725" marR="38100" marT="19050" marB="19050" anchor="ctr">
                    <a:solidFill>
                      <a:srgbClr val="FFFFFF"/>
                    </a:solidFill>
                  </a:tcPr>
                </a:tc>
                <a:tc>
                  <a:txBody>
                    <a:bodyPr wrap="none"/>
                    <a:lstStyle/>
                    <a:p>
                      <a:pPr algn="l"/>
                      <a:r>
                        <a:rPr sz="800" b="0">
                          <a:solidFill>
                            <a:srgbClr val="2E2E2E"/>
                          </a:solidFill>
                          <a:latin typeface="Calibri"/>
                        </a:rPr>
                        <a:t>4.68</a:t>
                      </a:r>
                    </a:p>
                  </a:txBody>
                  <a:tcPr marL="85725" marR="38100" marT="19050" marB="19050" anchor="ctr">
                    <a:solidFill>
                      <a:srgbClr val="FFFFFF"/>
                    </a:solidFill>
                  </a:tcPr>
                </a:tc>
                <a:tc>
                  <a:txBody>
                    <a:bodyPr wrap="none"/>
                    <a:lstStyle/>
                    <a:p>
                      <a:pPr algn="l"/>
                      <a:r>
                        <a:rPr sz="800" b="0">
                          <a:solidFill>
                            <a:srgbClr val="2E2E2E"/>
                          </a:solidFill>
                          <a:latin typeface="Calibri"/>
                        </a:rPr>
                        <a:t>5.18</a:t>
                      </a:r>
                    </a:p>
                  </a:txBody>
                  <a:tcPr marL="85725" marR="38100" marT="19050" marB="19050" anchor="ctr">
                    <a:solidFill>
                      <a:srgbClr val="FFFFFF"/>
                    </a:solidFill>
                  </a:tcPr>
                </a:tc>
                <a:tc>
                  <a:txBody>
                    <a:bodyPr wrap="none"/>
                    <a:lstStyle/>
                    <a:p>
                      <a:pPr algn="l"/>
                      <a:r>
                        <a:rPr sz="800" b="0">
                          <a:solidFill>
                            <a:srgbClr val="2E2E2E"/>
                          </a:solidFill>
                          <a:latin typeface="Calibri"/>
                        </a:rPr>
                        <a:t>5.71</a:t>
                      </a:r>
                    </a:p>
                  </a:txBody>
                  <a:tcPr marL="85725" marR="38100" marT="19050" marB="19050" anchor="ctr">
                    <a:solidFill>
                      <a:srgbClr val="FFFFFF"/>
                    </a:solidFill>
                  </a:tcPr>
                </a:tc>
                <a:tc>
                  <a:txBody>
                    <a:bodyPr wrap="none"/>
                    <a:lstStyle/>
                    <a:p>
                      <a:pPr algn="l"/>
                      <a:r>
                        <a:rPr sz="800" b="0">
                          <a:solidFill>
                            <a:srgbClr val="2E2E2E"/>
                          </a:solidFill>
                          <a:latin typeface="Calibri"/>
                        </a:rPr>
                        <a:t>6.28</a:t>
                      </a:r>
                    </a:p>
                  </a:txBody>
                  <a:tcPr marL="85725" marR="38100" marT="19050" marB="19050" anchor="ctr">
                    <a:solidFill>
                      <a:srgbClr val="FFFFFF"/>
                    </a:solidFill>
                  </a:tcPr>
                </a:tc>
                <a:tc>
                  <a:txBody>
                    <a:bodyPr wrap="none"/>
                    <a:lstStyle/>
                    <a:p>
                      <a:pPr algn="l"/>
                      <a:r>
                        <a:rPr sz="800" b="0">
                          <a:solidFill>
                            <a:srgbClr val="2E2E2E"/>
                          </a:solidFill>
                          <a:latin typeface="Calibri"/>
                        </a:rPr>
                        <a:t>13.5%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Autoinjector / Pen</a:t>
                      </a:r>
                    </a:p>
                  </a:txBody>
                  <a:tcPr marL="85725" marR="38100" marT="19050" marB="19050" anchor="ctr">
                    <a:solidFill>
                      <a:srgbClr val="F5F8FA"/>
                    </a:solidFill>
                  </a:tcPr>
                </a:tc>
                <a:tc>
                  <a:txBody>
                    <a:bodyPr wrap="none"/>
                    <a:lstStyle/>
                    <a:p>
                      <a:pPr algn="l"/>
                      <a:r>
                        <a:rPr sz="800" b="0">
                          <a:solidFill>
                            <a:srgbClr val="2E2E2E"/>
                          </a:solidFill>
                          <a:latin typeface="Calibri"/>
                        </a:rPr>
                        <a:t>0.46</a:t>
                      </a:r>
                    </a:p>
                  </a:txBody>
                  <a:tcPr marL="85725" marR="38100" marT="19050" marB="19050" anchor="ctr">
                    <a:solidFill>
                      <a:srgbClr val="F5F8FA"/>
                    </a:solidFill>
                  </a:tcPr>
                </a:tc>
                <a:tc>
                  <a:txBody>
                    <a:bodyPr wrap="none"/>
                    <a:lstStyle/>
                    <a:p>
                      <a:pPr algn="l"/>
                      <a:r>
                        <a:rPr sz="800" b="0">
                          <a:solidFill>
                            <a:srgbClr val="2E2E2E"/>
                          </a:solidFill>
                          <a:latin typeface="Calibri"/>
                        </a:rPr>
                        <a:t>0.53</a:t>
                      </a:r>
                    </a:p>
                  </a:txBody>
                  <a:tcPr marL="85725" marR="38100" marT="19050" marB="19050" anchor="ctr">
                    <a:solidFill>
                      <a:srgbClr val="F5F8FA"/>
                    </a:solidFill>
                  </a:tcPr>
                </a:tc>
                <a:tc>
                  <a:txBody>
                    <a:bodyPr wrap="none"/>
                    <a:lstStyle/>
                    <a:p>
                      <a:pPr algn="l"/>
                      <a:r>
                        <a:rPr sz="800" b="0">
                          <a:solidFill>
                            <a:srgbClr val="2E2E2E"/>
                          </a:solidFill>
                          <a:latin typeface="Calibri"/>
                        </a:rPr>
                        <a:t>0.65</a:t>
                      </a:r>
                    </a:p>
                  </a:txBody>
                  <a:tcPr marL="85725" marR="38100" marT="19050" marB="19050" anchor="ctr">
                    <a:solidFill>
                      <a:srgbClr val="F5F8FA"/>
                    </a:solidFill>
                  </a:tcPr>
                </a:tc>
                <a:tc>
                  <a:txBody>
                    <a:bodyPr wrap="none"/>
                    <a:lstStyle/>
                    <a:p>
                      <a:pPr algn="l"/>
                      <a:r>
                        <a:rPr sz="800" b="0">
                          <a:solidFill>
                            <a:srgbClr val="2E2E2E"/>
                          </a:solidFill>
                          <a:latin typeface="Calibri"/>
                        </a:rPr>
                        <a:t>0.82</a:t>
                      </a:r>
                    </a:p>
                  </a:txBody>
                  <a:tcPr marL="85725" marR="38100" marT="19050" marB="19050" anchor="ctr">
                    <a:solidFill>
                      <a:srgbClr val="F5F8FA"/>
                    </a:solidFill>
                  </a:tcPr>
                </a:tc>
                <a:tc>
                  <a:txBody>
                    <a:bodyPr wrap="none"/>
                    <a:lstStyle/>
                    <a:p>
                      <a:pPr algn="l"/>
                      <a:r>
                        <a:rPr sz="800" b="0">
                          <a:solidFill>
                            <a:srgbClr val="2E2E2E"/>
                          </a:solidFill>
                          <a:latin typeface="Calibri"/>
                        </a:rPr>
                        <a:t>1.02</a:t>
                      </a:r>
                    </a:p>
                  </a:txBody>
                  <a:tcPr marL="85725" marR="38100" marT="19050" marB="19050" anchor="ctr">
                    <a:solidFill>
                      <a:srgbClr val="F5F8FA"/>
                    </a:solidFill>
                  </a:tcPr>
                </a:tc>
                <a:tc>
                  <a:txBody>
                    <a:bodyPr wrap="none"/>
                    <a:lstStyle/>
                    <a:p>
                      <a:pPr algn="l"/>
                      <a:r>
                        <a:rPr sz="800" b="0">
                          <a:solidFill>
                            <a:srgbClr val="2E2E2E"/>
                          </a:solidFill>
                          <a:latin typeface="Calibri"/>
                        </a:rPr>
                        <a:t>1.22</a:t>
                      </a:r>
                    </a:p>
                  </a:txBody>
                  <a:tcPr marL="85725" marR="38100" marT="19050" marB="19050" anchor="ctr">
                    <a:solidFill>
                      <a:srgbClr val="F5F8FA"/>
                    </a:solidFill>
                  </a:tcPr>
                </a:tc>
                <a:tc>
                  <a:txBody>
                    <a:bodyPr wrap="none"/>
                    <a:lstStyle/>
                    <a:p>
                      <a:pPr algn="l"/>
                      <a:r>
                        <a:rPr sz="800" b="0">
                          <a:solidFill>
                            <a:srgbClr val="2E2E2E"/>
                          </a:solidFill>
                          <a:latin typeface="Calibri"/>
                        </a:rPr>
                        <a:t>1.44</a:t>
                      </a:r>
                    </a:p>
                  </a:txBody>
                  <a:tcPr marL="85725" marR="38100" marT="19050" marB="19050" anchor="ctr">
                    <a:solidFill>
                      <a:srgbClr val="F5F8FA"/>
                    </a:solidFill>
                  </a:tcPr>
                </a:tc>
                <a:tc>
                  <a:txBody>
                    <a:bodyPr wrap="none"/>
                    <a:lstStyle/>
                    <a:p>
                      <a:pPr algn="l"/>
                      <a:r>
                        <a:rPr sz="800" b="0">
                          <a:solidFill>
                            <a:srgbClr val="2E2E2E"/>
                          </a:solidFill>
                          <a:latin typeface="Calibri"/>
                        </a:rPr>
                        <a:t>1.66</a:t>
                      </a:r>
                    </a:p>
                  </a:txBody>
                  <a:tcPr marL="85725" marR="38100" marT="19050" marB="19050" anchor="ctr">
                    <a:solidFill>
                      <a:srgbClr val="F5F8FA"/>
                    </a:solidFill>
                  </a:tcPr>
                </a:tc>
                <a:tc>
                  <a:txBody>
                    <a:bodyPr wrap="none"/>
                    <a:lstStyle/>
                    <a:p>
                      <a:pPr algn="l"/>
                      <a:r>
                        <a:rPr sz="800" b="0">
                          <a:solidFill>
                            <a:srgbClr val="2E2E2E"/>
                          </a:solidFill>
                          <a:latin typeface="Calibri"/>
                        </a:rPr>
                        <a:t>1.89</a:t>
                      </a:r>
                    </a:p>
                  </a:txBody>
                  <a:tcPr marL="85725" marR="38100" marT="19050" marB="19050" anchor="ctr">
                    <a:solidFill>
                      <a:srgbClr val="F5F8FA"/>
                    </a:solidFill>
                  </a:tcPr>
                </a:tc>
                <a:tc>
                  <a:txBody>
                    <a:bodyPr wrap="none"/>
                    <a:lstStyle/>
                    <a:p>
                      <a:pPr algn="l"/>
                      <a:r>
                        <a:rPr sz="800" b="0">
                          <a:solidFill>
                            <a:srgbClr val="2E2E2E"/>
                          </a:solidFill>
                          <a:latin typeface="Calibri"/>
                        </a:rPr>
                        <a:t>2.13</a:t>
                      </a:r>
                    </a:p>
                  </a:txBody>
                  <a:tcPr marL="85725" marR="38100" marT="19050" marB="19050" anchor="ctr">
                    <a:solidFill>
                      <a:srgbClr val="F5F8FA"/>
                    </a:solidFill>
                  </a:tcPr>
                </a:tc>
                <a:tc>
                  <a:txBody>
                    <a:bodyPr wrap="none"/>
                    <a:lstStyle/>
                    <a:p>
                      <a:pPr algn="l"/>
                      <a:r>
                        <a:rPr sz="800" b="0">
                          <a:solidFill>
                            <a:srgbClr val="2E2E2E"/>
                          </a:solidFill>
                          <a:latin typeface="Calibri"/>
                        </a:rPr>
                        <a:t>2.37</a:t>
                      </a:r>
                    </a:p>
                  </a:txBody>
                  <a:tcPr marL="85725" marR="38100" marT="19050" marB="19050" anchor="ctr">
                    <a:solidFill>
                      <a:srgbClr val="F5F8FA"/>
                    </a:solidFill>
                  </a:tcPr>
                </a:tc>
                <a:tc>
                  <a:txBody>
                    <a:bodyPr wrap="none"/>
                    <a:lstStyle/>
                    <a:p>
                      <a:pPr algn="l"/>
                      <a:r>
                        <a:rPr sz="800" b="0">
                          <a:solidFill>
                            <a:srgbClr val="2E2E2E"/>
                          </a:solidFill>
                          <a:latin typeface="Calibri"/>
                        </a:rPr>
                        <a:t>2.61</a:t>
                      </a:r>
                    </a:p>
                  </a:txBody>
                  <a:tcPr marL="85725" marR="38100" marT="19050" marB="19050" anchor="ctr">
                    <a:solidFill>
                      <a:srgbClr val="F5F8FA"/>
                    </a:solidFill>
                  </a:tcPr>
                </a:tc>
                <a:tc>
                  <a:txBody>
                    <a:bodyPr wrap="none"/>
                    <a:lstStyle/>
                    <a:p>
                      <a:pPr algn="l"/>
                      <a:r>
                        <a:rPr sz="800" b="0">
                          <a:solidFill>
                            <a:srgbClr val="2E2E2E"/>
                          </a:solidFill>
                          <a:latin typeface="Calibri"/>
                        </a:rPr>
                        <a:t>2.86</a:t>
                      </a:r>
                    </a:p>
                  </a:txBody>
                  <a:tcPr marL="85725" marR="38100" marT="19050" marB="19050" anchor="ctr">
                    <a:solidFill>
                      <a:srgbClr val="F5F8FA"/>
                    </a:solidFill>
                  </a:tcPr>
                </a:tc>
                <a:tc>
                  <a:txBody>
                    <a:bodyPr wrap="none"/>
                    <a:lstStyle/>
                    <a:p>
                      <a:pPr algn="l"/>
                      <a:r>
                        <a:rPr sz="800" b="0">
                          <a:solidFill>
                            <a:srgbClr val="2E2E2E"/>
                          </a:solidFill>
                          <a:latin typeface="Calibri"/>
                        </a:rPr>
                        <a:t>3.11</a:t>
                      </a:r>
                    </a:p>
                  </a:txBody>
                  <a:tcPr marL="85725" marR="38100" marT="19050" marB="19050" anchor="ctr">
                    <a:solidFill>
                      <a:srgbClr val="F5F8FA"/>
                    </a:solidFill>
                  </a:tcPr>
                </a:tc>
                <a:tc>
                  <a:txBody>
                    <a:bodyPr wrap="none"/>
                    <a:lstStyle/>
                    <a:p>
                      <a:pPr algn="l"/>
                      <a:r>
                        <a:rPr sz="800" b="0">
                          <a:solidFill>
                            <a:srgbClr val="2E2E2E"/>
                          </a:solidFill>
                          <a:latin typeface="Calibri"/>
                        </a:rPr>
                        <a:t>3.37</a:t>
                      </a:r>
                    </a:p>
                  </a:txBody>
                  <a:tcPr marL="85725" marR="38100" marT="19050" marB="19050" anchor="ctr">
                    <a:solidFill>
                      <a:srgbClr val="F5F8FA"/>
                    </a:solidFill>
                  </a:tcPr>
                </a:tc>
                <a:tc>
                  <a:txBody>
                    <a:bodyPr wrap="none"/>
                    <a:lstStyle/>
                    <a:p>
                      <a:pPr algn="l"/>
                      <a:r>
                        <a:rPr sz="800" b="0">
                          <a:solidFill>
                            <a:srgbClr val="2E2E2E"/>
                          </a:solidFill>
                          <a:latin typeface="Calibri"/>
                        </a:rPr>
                        <a:t>3.63</a:t>
                      </a:r>
                    </a:p>
                  </a:txBody>
                  <a:tcPr marL="85725" marR="38100" marT="19050" marB="19050" anchor="ctr">
                    <a:solidFill>
                      <a:srgbClr val="F5F8FA"/>
                    </a:solidFill>
                  </a:tcPr>
                </a:tc>
                <a:tc>
                  <a:txBody>
                    <a:bodyPr wrap="none"/>
                    <a:lstStyle/>
                    <a:p>
                      <a:pPr algn="l"/>
                      <a:r>
                        <a:rPr sz="800" b="0">
                          <a:solidFill>
                            <a:srgbClr val="2E2E2E"/>
                          </a:solidFill>
                          <a:latin typeface="Calibri"/>
                        </a:rPr>
                        <a:t>11.5%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1.06</a:t>
                      </a:r>
                    </a:p>
                  </a:txBody>
                  <a:tcPr marL="85725" marR="38100" marT="19050" marB="19050" anchor="ctr">
                    <a:solidFill>
                      <a:srgbClr val="E0E8EF"/>
                    </a:solidFill>
                  </a:tcPr>
                </a:tc>
                <a:tc>
                  <a:txBody>
                    <a:bodyPr wrap="none"/>
                    <a:lstStyle/>
                    <a:p>
                      <a:pPr algn="l"/>
                      <a:r>
                        <a:rPr sz="800" b="1">
                          <a:solidFill>
                            <a:srgbClr val="2E2E2E"/>
                          </a:solidFill>
                          <a:latin typeface="Calibri"/>
                        </a:rPr>
                        <a:t>1.24</a:t>
                      </a:r>
                    </a:p>
                  </a:txBody>
                  <a:tcPr marL="85725" marR="38100" marT="19050" marB="19050" anchor="ctr">
                    <a:solidFill>
                      <a:srgbClr val="E0E8EF"/>
                    </a:solidFill>
                  </a:tcPr>
                </a:tc>
                <a:tc>
                  <a:txBody>
                    <a:bodyPr wrap="none"/>
                    <a:lstStyle/>
                    <a:p>
                      <a:pPr algn="l"/>
                      <a:r>
                        <a:rPr sz="800" b="1">
                          <a:solidFill>
                            <a:srgbClr val="2E2E2E"/>
                          </a:solidFill>
                          <a:latin typeface="Calibri"/>
                        </a:rPr>
                        <a:t>1.54</a:t>
                      </a:r>
                    </a:p>
                  </a:txBody>
                  <a:tcPr marL="85725" marR="38100" marT="19050" marB="19050" anchor="ctr">
                    <a:solidFill>
                      <a:srgbClr val="E0E8EF"/>
                    </a:solidFill>
                  </a:tcPr>
                </a:tc>
                <a:tc>
                  <a:txBody>
                    <a:bodyPr wrap="none"/>
                    <a:lstStyle/>
                    <a:p>
                      <a:pPr algn="l"/>
                      <a:r>
                        <a:rPr sz="800" b="1">
                          <a:solidFill>
                            <a:srgbClr val="2E2E2E"/>
                          </a:solidFill>
                          <a:latin typeface="Calibri"/>
                        </a:rPr>
                        <a:t>1.97</a:t>
                      </a:r>
                    </a:p>
                  </a:txBody>
                  <a:tcPr marL="85725" marR="38100" marT="19050" marB="19050" anchor="ctr">
                    <a:solidFill>
                      <a:srgbClr val="E0E8EF"/>
                    </a:solidFill>
                  </a:tcPr>
                </a:tc>
                <a:tc>
                  <a:txBody>
                    <a:bodyPr wrap="none"/>
                    <a:lstStyle/>
                    <a:p>
                      <a:pPr algn="l"/>
                      <a:r>
                        <a:rPr sz="800" b="1">
                          <a:solidFill>
                            <a:srgbClr val="2E2E2E"/>
                          </a:solidFill>
                          <a:latin typeface="Calibri"/>
                        </a:rPr>
                        <a:t>2.46</a:t>
                      </a:r>
                    </a:p>
                  </a:txBody>
                  <a:tcPr marL="85725" marR="38100" marT="19050" marB="19050" anchor="ctr">
                    <a:solidFill>
                      <a:srgbClr val="E0E8EF"/>
                    </a:solidFill>
                  </a:tcPr>
                </a:tc>
                <a:tc>
                  <a:txBody>
                    <a:bodyPr wrap="none"/>
                    <a:lstStyle/>
                    <a:p>
                      <a:pPr algn="l"/>
                      <a:r>
                        <a:rPr sz="800" b="1">
                          <a:solidFill>
                            <a:srgbClr val="2E2E2E"/>
                          </a:solidFill>
                          <a:latin typeface="Calibri"/>
                        </a:rPr>
                        <a:t>2.98</a:t>
                      </a:r>
                    </a:p>
                  </a:txBody>
                  <a:tcPr marL="85725" marR="38100" marT="19050" marB="19050" anchor="ctr">
                    <a:solidFill>
                      <a:srgbClr val="E0E8EF"/>
                    </a:solidFill>
                  </a:tcPr>
                </a:tc>
                <a:tc>
                  <a:txBody>
                    <a:bodyPr wrap="none"/>
                    <a:lstStyle/>
                    <a:p>
                      <a:pPr algn="l"/>
                      <a:r>
                        <a:rPr sz="800" b="1">
                          <a:solidFill>
                            <a:srgbClr val="2E2E2E"/>
                          </a:solidFill>
                          <a:latin typeface="Calibri"/>
                        </a:rPr>
                        <a:t>3.56</a:t>
                      </a:r>
                    </a:p>
                  </a:txBody>
                  <a:tcPr marL="85725" marR="38100" marT="19050" marB="19050" anchor="ctr">
                    <a:solidFill>
                      <a:srgbClr val="E0E8EF"/>
                    </a:solidFill>
                  </a:tcPr>
                </a:tc>
                <a:tc>
                  <a:txBody>
                    <a:bodyPr wrap="none"/>
                    <a:lstStyle/>
                    <a:p>
                      <a:pPr algn="l"/>
                      <a:r>
                        <a:rPr sz="800" b="1">
                          <a:solidFill>
                            <a:srgbClr val="2E2E2E"/>
                          </a:solidFill>
                          <a:latin typeface="Calibri"/>
                        </a:rPr>
                        <a:t>4.15</a:t>
                      </a:r>
                    </a:p>
                  </a:txBody>
                  <a:tcPr marL="85725" marR="38100" marT="19050" marB="19050" anchor="ctr">
                    <a:solidFill>
                      <a:srgbClr val="E0E8EF"/>
                    </a:solidFill>
                  </a:tcPr>
                </a:tc>
                <a:tc>
                  <a:txBody>
                    <a:bodyPr wrap="none"/>
                    <a:lstStyle/>
                    <a:p>
                      <a:pPr algn="l"/>
                      <a:r>
                        <a:rPr sz="800" b="1">
                          <a:solidFill>
                            <a:srgbClr val="2E2E2E"/>
                          </a:solidFill>
                          <a:latin typeface="Calibri"/>
                        </a:rPr>
                        <a:t>4.77</a:t>
                      </a:r>
                    </a:p>
                  </a:txBody>
                  <a:tcPr marL="85725" marR="38100" marT="19050" marB="19050" anchor="ctr">
                    <a:solidFill>
                      <a:srgbClr val="E0E8EF"/>
                    </a:solidFill>
                  </a:tcPr>
                </a:tc>
                <a:tc>
                  <a:txBody>
                    <a:bodyPr wrap="none"/>
                    <a:lstStyle/>
                    <a:p>
                      <a:pPr algn="l"/>
                      <a:r>
                        <a:rPr sz="800" b="1">
                          <a:solidFill>
                            <a:srgbClr val="2E2E2E"/>
                          </a:solidFill>
                          <a:latin typeface="Calibri"/>
                        </a:rPr>
                        <a:t>5.42</a:t>
                      </a:r>
                    </a:p>
                  </a:txBody>
                  <a:tcPr marL="85725" marR="38100" marT="19050" marB="19050" anchor="ctr">
                    <a:solidFill>
                      <a:srgbClr val="E0E8EF"/>
                    </a:solidFill>
                  </a:tcPr>
                </a:tc>
                <a:tc>
                  <a:txBody>
                    <a:bodyPr wrap="none"/>
                    <a:lstStyle/>
                    <a:p>
                      <a:pPr algn="l"/>
                      <a:r>
                        <a:rPr sz="800" b="1">
                          <a:solidFill>
                            <a:srgbClr val="2E2E2E"/>
                          </a:solidFill>
                          <a:latin typeface="Calibri"/>
                        </a:rPr>
                        <a:t>6.10</a:t>
                      </a:r>
                    </a:p>
                  </a:txBody>
                  <a:tcPr marL="85725" marR="38100" marT="19050" marB="19050" anchor="ctr">
                    <a:solidFill>
                      <a:srgbClr val="E0E8EF"/>
                    </a:solidFill>
                  </a:tcPr>
                </a:tc>
                <a:tc>
                  <a:txBody>
                    <a:bodyPr wrap="none"/>
                    <a:lstStyle/>
                    <a:p>
                      <a:pPr algn="l"/>
                      <a:r>
                        <a:rPr sz="800" b="1">
                          <a:solidFill>
                            <a:srgbClr val="2E2E2E"/>
                          </a:solidFill>
                          <a:latin typeface="Calibri"/>
                        </a:rPr>
                        <a:t>6.81</a:t>
                      </a:r>
                    </a:p>
                  </a:txBody>
                  <a:tcPr marL="85725" marR="38100" marT="19050" marB="19050" anchor="ctr">
                    <a:solidFill>
                      <a:srgbClr val="E0E8EF"/>
                    </a:solidFill>
                  </a:tcPr>
                </a:tc>
                <a:tc>
                  <a:txBody>
                    <a:bodyPr wrap="none"/>
                    <a:lstStyle/>
                    <a:p>
                      <a:pPr algn="l"/>
                      <a:r>
                        <a:rPr sz="800" b="1">
                          <a:solidFill>
                            <a:srgbClr val="2E2E2E"/>
                          </a:solidFill>
                          <a:latin typeface="Calibri"/>
                        </a:rPr>
                        <a:t>7.53</a:t>
                      </a:r>
                    </a:p>
                  </a:txBody>
                  <a:tcPr marL="85725" marR="38100" marT="19050" marB="19050" anchor="ctr">
                    <a:solidFill>
                      <a:srgbClr val="E0E8EF"/>
                    </a:solidFill>
                  </a:tcPr>
                </a:tc>
                <a:tc>
                  <a:txBody>
                    <a:bodyPr wrap="none"/>
                    <a:lstStyle/>
                    <a:p>
                      <a:pPr algn="l"/>
                      <a:r>
                        <a:rPr sz="800" b="1">
                          <a:solidFill>
                            <a:srgbClr val="2E2E2E"/>
                          </a:solidFill>
                          <a:latin typeface="Calibri"/>
                        </a:rPr>
                        <a:t>8.29</a:t>
                      </a:r>
                    </a:p>
                  </a:txBody>
                  <a:tcPr marL="85725" marR="38100" marT="19050" marB="19050" anchor="ctr">
                    <a:solidFill>
                      <a:srgbClr val="E0E8EF"/>
                    </a:solidFill>
                  </a:tcPr>
                </a:tc>
                <a:tc>
                  <a:txBody>
                    <a:bodyPr wrap="none"/>
                    <a:lstStyle/>
                    <a:p>
                      <a:pPr algn="l"/>
                      <a:r>
                        <a:rPr sz="800" b="1">
                          <a:solidFill>
                            <a:srgbClr val="2E2E2E"/>
                          </a:solidFill>
                          <a:latin typeface="Calibri"/>
                        </a:rPr>
                        <a:t>9.08</a:t>
                      </a:r>
                    </a:p>
                  </a:txBody>
                  <a:tcPr marL="85725" marR="38100" marT="19050" marB="19050" anchor="ctr">
                    <a:solidFill>
                      <a:srgbClr val="E0E8EF"/>
                    </a:solidFill>
                  </a:tcPr>
                </a:tc>
                <a:tc>
                  <a:txBody>
                    <a:bodyPr wrap="none"/>
                    <a:lstStyle/>
                    <a:p>
                      <a:pPr algn="l"/>
                      <a:r>
                        <a:rPr sz="800" b="1">
                          <a:solidFill>
                            <a:srgbClr val="2E2E2E"/>
                          </a:solidFill>
                          <a:latin typeface="Calibri"/>
                        </a:rPr>
                        <a:t>9.91</a:t>
                      </a:r>
                    </a:p>
                  </a:txBody>
                  <a:tcPr marL="85725" marR="38100" marT="19050" marB="19050" anchor="ctr">
                    <a:solidFill>
                      <a:srgbClr val="E0E8EF"/>
                    </a:solidFill>
                  </a:tcPr>
                </a:tc>
                <a:tc>
                  <a:txBody>
                    <a:bodyPr wrap="none"/>
                    <a:lstStyle/>
                    <a:p>
                      <a:pPr algn="l"/>
                      <a:r>
                        <a:rPr sz="800" b="1">
                          <a:solidFill>
                            <a:srgbClr val="2E2E2E"/>
                          </a:solidFill>
                          <a:latin typeface="Calibri"/>
                        </a:rPr>
                        <a:t>12.7%</a:t>
                      </a:r>
                    </a:p>
                  </a:txBody>
                  <a:tcPr marL="85725" marR="38100" marT="19050" marB="19050" anchor="ctr">
                    <a:solidFill>
                      <a:srgbClr val="E0E8EF"/>
                    </a:solidFill>
                  </a:tcPr>
                </a:tc>
              </a:tr>
            </a:tbl>
          </a:graphicData>
        </a:graphic>
      </p:graphicFrame>
      <p:sp>
        <p:nvSpPr>
          <p:cNvPr id="14" name="TextBox 13"/>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Value, By Form Type (US$ Mn)</a:t>
            </a:r>
          </a:p>
        </p:txBody>
      </p:sp>
      <p:graphicFrame>
        <p:nvGraphicFramePr>
          <p:cNvPr id="17" name="Table 16"/>
          <p:cNvGraphicFramePr>
            <a:graphicFrameLocks noGrp="1"/>
          </p:cNvGraphicFramePr>
          <p:nvPr/>
        </p:nvGraphicFramePr>
        <p:xfrm>
          <a:off x="238125" y="4143375"/>
          <a:ext cx="11715752" cy="72390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Form Type</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Prefilled Syringe</a:t>
                      </a:r>
                    </a:p>
                  </a:txBody>
                  <a:tcPr marL="85725" marR="38100" marT="19050" marB="19050" anchor="ctr">
                    <a:solidFill>
                      <a:srgbClr val="FFFFFF"/>
                    </a:solidFill>
                  </a:tcPr>
                </a:tc>
                <a:tc>
                  <a:txBody>
                    <a:bodyPr wrap="none"/>
                    <a:lstStyle/>
                    <a:p>
                      <a:pPr algn="l"/>
                      <a:r>
                        <a:rPr sz="800" b="0">
                          <a:solidFill>
                            <a:srgbClr val="2E2E2E"/>
                          </a:solidFill>
                          <a:latin typeface="Calibri"/>
                        </a:rPr>
                        <a:t>295.8</a:t>
                      </a:r>
                    </a:p>
                  </a:txBody>
                  <a:tcPr marL="85725" marR="38100" marT="19050" marB="19050" anchor="ctr">
                    <a:solidFill>
                      <a:srgbClr val="FFFFFF"/>
                    </a:solidFill>
                  </a:tcPr>
                </a:tc>
                <a:tc>
                  <a:txBody>
                    <a:bodyPr wrap="none"/>
                    <a:lstStyle/>
                    <a:p>
                      <a:pPr algn="l"/>
                      <a:r>
                        <a:rPr sz="800" b="0">
                          <a:solidFill>
                            <a:srgbClr val="2E2E2E"/>
                          </a:solidFill>
                          <a:latin typeface="Calibri"/>
                        </a:rPr>
                        <a:t>334.0</a:t>
                      </a:r>
                    </a:p>
                  </a:txBody>
                  <a:tcPr marL="85725" marR="38100" marT="19050" marB="19050" anchor="ctr">
                    <a:solidFill>
                      <a:srgbClr val="FFFFFF"/>
                    </a:solidFill>
                  </a:tcPr>
                </a:tc>
                <a:tc>
                  <a:txBody>
                    <a:bodyPr wrap="none"/>
                    <a:lstStyle/>
                    <a:p>
                      <a:pPr algn="l"/>
                      <a:r>
                        <a:rPr sz="800" b="0">
                          <a:solidFill>
                            <a:srgbClr val="2E2E2E"/>
                          </a:solidFill>
                          <a:latin typeface="Calibri"/>
                        </a:rPr>
                        <a:t>400.1</a:t>
                      </a:r>
                    </a:p>
                  </a:txBody>
                  <a:tcPr marL="85725" marR="38100" marT="19050" marB="19050" anchor="ctr">
                    <a:solidFill>
                      <a:srgbClr val="FFFFFF"/>
                    </a:solidFill>
                  </a:tcPr>
                </a:tc>
                <a:tc>
                  <a:txBody>
                    <a:bodyPr wrap="none"/>
                    <a:lstStyle/>
                    <a:p>
                      <a:pPr algn="l"/>
                      <a:r>
                        <a:rPr sz="800" b="0">
                          <a:solidFill>
                            <a:srgbClr val="2E2E2E"/>
                          </a:solidFill>
                          <a:latin typeface="Calibri"/>
                        </a:rPr>
                        <a:t>494.4</a:t>
                      </a:r>
                    </a:p>
                  </a:txBody>
                  <a:tcPr marL="85725" marR="38100" marT="19050" marB="19050" anchor="ctr">
                    <a:solidFill>
                      <a:srgbClr val="FFFFFF"/>
                    </a:solidFill>
                  </a:tcPr>
                </a:tc>
                <a:tc>
                  <a:txBody>
                    <a:bodyPr wrap="none"/>
                    <a:lstStyle/>
                    <a:p>
                      <a:pPr algn="l"/>
                      <a:r>
                        <a:rPr sz="800" b="0">
                          <a:solidFill>
                            <a:srgbClr val="2E2E2E"/>
                          </a:solidFill>
                          <a:latin typeface="Calibri"/>
                        </a:rPr>
                        <a:t>598.0</a:t>
                      </a:r>
                    </a:p>
                  </a:txBody>
                  <a:tcPr marL="85725" marR="38100" marT="19050" marB="19050" anchor="ctr">
                    <a:solidFill>
                      <a:srgbClr val="FFFFFF"/>
                    </a:solidFill>
                  </a:tcPr>
                </a:tc>
                <a:tc>
                  <a:txBody>
                    <a:bodyPr wrap="none"/>
                    <a:lstStyle/>
                    <a:p>
                      <a:pPr algn="l"/>
                      <a:r>
                        <a:rPr sz="800" b="0">
                          <a:solidFill>
                            <a:srgbClr val="2E2E2E"/>
                          </a:solidFill>
                          <a:latin typeface="Calibri"/>
                        </a:rPr>
                        <a:t>701.5</a:t>
                      </a:r>
                    </a:p>
                  </a:txBody>
                  <a:tcPr marL="85725" marR="38100" marT="19050" marB="19050" anchor="ctr">
                    <a:solidFill>
                      <a:srgbClr val="FFFFFF"/>
                    </a:solidFill>
                  </a:tcPr>
                </a:tc>
                <a:tc>
                  <a:txBody>
                    <a:bodyPr wrap="none"/>
                    <a:lstStyle/>
                    <a:p>
                      <a:pPr algn="l"/>
                      <a:r>
                        <a:rPr sz="800" b="0">
                          <a:solidFill>
                            <a:srgbClr val="2E2E2E"/>
                          </a:solidFill>
                          <a:latin typeface="Calibri"/>
                        </a:rPr>
                        <a:t>807.9</a:t>
                      </a:r>
                    </a:p>
                  </a:txBody>
                  <a:tcPr marL="85725" marR="38100" marT="19050" marB="19050" anchor="ctr">
                    <a:solidFill>
                      <a:srgbClr val="FFFFFF"/>
                    </a:solidFill>
                  </a:tcPr>
                </a:tc>
                <a:tc>
                  <a:txBody>
                    <a:bodyPr wrap="none"/>
                    <a:lstStyle/>
                    <a:p>
                      <a:pPr algn="l"/>
                      <a:r>
                        <a:rPr sz="800" b="0">
                          <a:solidFill>
                            <a:srgbClr val="2E2E2E"/>
                          </a:solidFill>
                          <a:latin typeface="Calibri"/>
                        </a:rPr>
                        <a:t>911.5</a:t>
                      </a:r>
                    </a:p>
                  </a:txBody>
                  <a:tcPr marL="85725" marR="38100" marT="19050" marB="19050" anchor="ctr">
                    <a:solidFill>
                      <a:srgbClr val="FFFFFF"/>
                    </a:solidFill>
                  </a:tcPr>
                </a:tc>
                <a:tc>
                  <a:txBody>
                    <a:bodyPr wrap="none"/>
                    <a:lstStyle/>
                    <a:p>
                      <a:pPr algn="l"/>
                      <a:r>
                        <a:rPr sz="800" b="0">
                          <a:solidFill>
                            <a:srgbClr val="2E2E2E"/>
                          </a:solidFill>
                          <a:latin typeface="Calibri"/>
                        </a:rPr>
                        <a:t>1,014</a:t>
                      </a:r>
                    </a:p>
                  </a:txBody>
                  <a:tcPr marL="85725" marR="38100" marT="19050" marB="19050" anchor="ctr">
                    <a:solidFill>
                      <a:srgbClr val="FFFFFF"/>
                    </a:solidFill>
                  </a:tcPr>
                </a:tc>
                <a:tc>
                  <a:txBody>
                    <a:bodyPr wrap="none"/>
                    <a:lstStyle/>
                    <a:p>
                      <a:pPr algn="l"/>
                      <a:r>
                        <a:rPr sz="800" b="0">
                          <a:solidFill>
                            <a:srgbClr val="2E2E2E"/>
                          </a:solidFill>
                          <a:latin typeface="Calibri"/>
                        </a:rPr>
                        <a:t>1,114</a:t>
                      </a:r>
                    </a:p>
                  </a:txBody>
                  <a:tcPr marL="85725" marR="38100" marT="19050" marB="19050" anchor="ctr">
                    <a:solidFill>
                      <a:srgbClr val="FFFFFF"/>
                    </a:solidFill>
                  </a:tcPr>
                </a:tc>
                <a:tc>
                  <a:txBody>
                    <a:bodyPr wrap="none"/>
                    <a:lstStyle/>
                    <a:p>
                      <a:pPr algn="l"/>
                      <a:r>
                        <a:rPr sz="800" b="0">
                          <a:solidFill>
                            <a:srgbClr val="2E2E2E"/>
                          </a:solidFill>
                          <a:latin typeface="Calibri"/>
                        </a:rPr>
                        <a:t>1,211</a:t>
                      </a:r>
                    </a:p>
                  </a:txBody>
                  <a:tcPr marL="85725" marR="38100" marT="19050" marB="19050" anchor="ctr">
                    <a:solidFill>
                      <a:srgbClr val="FFFFFF"/>
                    </a:solidFill>
                  </a:tcPr>
                </a:tc>
                <a:tc>
                  <a:txBody>
                    <a:bodyPr wrap="none"/>
                    <a:lstStyle/>
                    <a:p>
                      <a:pPr algn="l"/>
                      <a:r>
                        <a:rPr sz="800" b="0">
                          <a:solidFill>
                            <a:srgbClr val="2E2E2E"/>
                          </a:solidFill>
                          <a:latin typeface="Calibri"/>
                        </a:rPr>
                        <a:t>1,307</a:t>
                      </a:r>
                    </a:p>
                  </a:txBody>
                  <a:tcPr marL="85725" marR="38100" marT="19050" marB="19050" anchor="ctr">
                    <a:solidFill>
                      <a:srgbClr val="FFFFFF"/>
                    </a:solidFill>
                  </a:tcPr>
                </a:tc>
                <a:tc>
                  <a:txBody>
                    <a:bodyPr wrap="none"/>
                    <a:lstStyle/>
                    <a:p>
                      <a:pPr algn="l"/>
                      <a:r>
                        <a:rPr sz="800" b="0">
                          <a:solidFill>
                            <a:srgbClr val="2E2E2E"/>
                          </a:solidFill>
                          <a:latin typeface="Calibri"/>
                        </a:rPr>
                        <a:t>1,398</a:t>
                      </a:r>
                    </a:p>
                  </a:txBody>
                  <a:tcPr marL="85725" marR="38100" marT="19050" marB="19050" anchor="ctr">
                    <a:solidFill>
                      <a:srgbClr val="FFFFFF"/>
                    </a:solidFill>
                  </a:tcPr>
                </a:tc>
                <a:tc>
                  <a:txBody>
                    <a:bodyPr wrap="none"/>
                    <a:lstStyle/>
                    <a:p>
                      <a:pPr algn="l"/>
                      <a:r>
                        <a:rPr sz="800" b="0">
                          <a:solidFill>
                            <a:srgbClr val="2E2E2E"/>
                          </a:solidFill>
                          <a:latin typeface="Calibri"/>
                        </a:rPr>
                        <a:t>1,488</a:t>
                      </a:r>
                    </a:p>
                  </a:txBody>
                  <a:tcPr marL="85725" marR="38100" marT="19050" marB="19050" anchor="ctr">
                    <a:solidFill>
                      <a:srgbClr val="FFFFFF"/>
                    </a:solidFill>
                  </a:tcPr>
                </a:tc>
                <a:tc>
                  <a:txBody>
                    <a:bodyPr wrap="none"/>
                    <a:lstStyle/>
                    <a:p>
                      <a:pPr algn="l"/>
                      <a:r>
                        <a:rPr sz="800" b="0">
                          <a:solidFill>
                            <a:srgbClr val="2E2E2E"/>
                          </a:solidFill>
                          <a:latin typeface="Calibri"/>
                        </a:rPr>
                        <a:t>1,576</a:t>
                      </a:r>
                    </a:p>
                  </a:txBody>
                  <a:tcPr marL="85725" marR="38100" marT="19050" marB="19050" anchor="ctr">
                    <a:solidFill>
                      <a:srgbClr val="FFFFFF"/>
                    </a:solidFill>
                  </a:tcPr>
                </a:tc>
                <a:tc>
                  <a:txBody>
                    <a:bodyPr wrap="none"/>
                    <a:lstStyle/>
                    <a:p>
                      <a:pPr algn="l"/>
                      <a:r>
                        <a:rPr sz="800" b="0">
                          <a:solidFill>
                            <a:srgbClr val="2E2E2E"/>
                          </a:solidFill>
                          <a:latin typeface="Calibri"/>
                        </a:rPr>
                        <a:t>1,662</a:t>
                      </a:r>
                    </a:p>
                  </a:txBody>
                  <a:tcPr marL="85725" marR="38100" marT="19050" marB="19050" anchor="ctr">
                    <a:solidFill>
                      <a:srgbClr val="FFFFFF"/>
                    </a:solidFill>
                  </a:tcPr>
                </a:tc>
                <a:tc>
                  <a:txBody>
                    <a:bodyPr wrap="none"/>
                    <a:lstStyle/>
                    <a:p>
                      <a:pPr algn="l"/>
                      <a:r>
                        <a:rPr sz="800" b="0">
                          <a:solidFill>
                            <a:srgbClr val="2E2E2E"/>
                          </a:solidFill>
                          <a:latin typeface="Calibri"/>
                        </a:rPr>
                        <a:t>9.0%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Autoinjector / Pen</a:t>
                      </a:r>
                    </a:p>
                  </a:txBody>
                  <a:tcPr marL="85725" marR="38100" marT="19050" marB="19050" anchor="ctr">
                    <a:solidFill>
                      <a:srgbClr val="F5F8FA"/>
                    </a:solidFill>
                  </a:tcPr>
                </a:tc>
                <a:tc>
                  <a:txBody>
                    <a:bodyPr wrap="none"/>
                    <a:lstStyle/>
                    <a:p>
                      <a:pPr algn="l"/>
                      <a:r>
                        <a:rPr sz="800" b="0">
                          <a:solidFill>
                            <a:srgbClr val="2E2E2E"/>
                          </a:solidFill>
                          <a:latin typeface="Calibri"/>
                        </a:rPr>
                        <a:t>315.9</a:t>
                      </a:r>
                    </a:p>
                  </a:txBody>
                  <a:tcPr marL="85725" marR="38100" marT="19050" marB="19050" anchor="ctr">
                    <a:solidFill>
                      <a:srgbClr val="F5F8FA"/>
                    </a:solidFill>
                  </a:tcPr>
                </a:tc>
                <a:tc>
                  <a:txBody>
                    <a:bodyPr wrap="none"/>
                    <a:lstStyle/>
                    <a:p>
                      <a:pPr algn="l"/>
                      <a:r>
                        <a:rPr sz="800" b="0">
                          <a:solidFill>
                            <a:srgbClr val="2E2E2E"/>
                          </a:solidFill>
                          <a:latin typeface="Calibri"/>
                        </a:rPr>
                        <a:t>356.9</a:t>
                      </a:r>
                    </a:p>
                  </a:txBody>
                  <a:tcPr marL="85725" marR="38100" marT="19050" marB="19050" anchor="ctr">
                    <a:solidFill>
                      <a:srgbClr val="F5F8FA"/>
                    </a:solidFill>
                  </a:tcPr>
                </a:tc>
                <a:tc>
                  <a:txBody>
                    <a:bodyPr wrap="none"/>
                    <a:lstStyle/>
                    <a:p>
                      <a:pPr algn="l"/>
                      <a:r>
                        <a:rPr sz="800" b="0">
                          <a:solidFill>
                            <a:srgbClr val="2E2E2E"/>
                          </a:solidFill>
                          <a:latin typeface="Calibri"/>
                        </a:rPr>
                        <a:t>427.7</a:t>
                      </a:r>
                    </a:p>
                  </a:txBody>
                  <a:tcPr marL="85725" marR="38100" marT="19050" marB="19050" anchor="ctr">
                    <a:solidFill>
                      <a:srgbClr val="F5F8FA"/>
                    </a:solidFill>
                  </a:tcPr>
                </a:tc>
                <a:tc>
                  <a:txBody>
                    <a:bodyPr wrap="none"/>
                    <a:lstStyle/>
                    <a:p>
                      <a:pPr algn="l"/>
                      <a:r>
                        <a:rPr sz="800" b="0">
                          <a:solidFill>
                            <a:srgbClr val="2E2E2E"/>
                          </a:solidFill>
                          <a:latin typeface="Calibri"/>
                        </a:rPr>
                        <a:t>529.0</a:t>
                      </a:r>
                    </a:p>
                  </a:txBody>
                  <a:tcPr marL="85725" marR="38100" marT="19050" marB="19050" anchor="ctr">
                    <a:solidFill>
                      <a:srgbClr val="F5F8FA"/>
                    </a:solidFill>
                  </a:tcPr>
                </a:tc>
                <a:tc>
                  <a:txBody>
                    <a:bodyPr wrap="none"/>
                    <a:lstStyle/>
                    <a:p>
                      <a:pPr algn="l"/>
                      <a:r>
                        <a:rPr sz="800" b="0">
                          <a:solidFill>
                            <a:srgbClr val="2E2E2E"/>
                          </a:solidFill>
                          <a:latin typeface="Calibri"/>
                        </a:rPr>
                        <a:t>640.2</a:t>
                      </a:r>
                    </a:p>
                  </a:txBody>
                  <a:tcPr marL="85725" marR="38100" marT="19050" marB="19050" anchor="ctr">
                    <a:solidFill>
                      <a:srgbClr val="F5F8FA"/>
                    </a:solidFill>
                  </a:tcPr>
                </a:tc>
                <a:tc>
                  <a:txBody>
                    <a:bodyPr wrap="none"/>
                    <a:lstStyle/>
                    <a:p>
                      <a:pPr algn="l"/>
                      <a:r>
                        <a:rPr sz="800" b="0">
                          <a:solidFill>
                            <a:srgbClr val="2E2E2E"/>
                          </a:solidFill>
                          <a:latin typeface="Calibri"/>
                        </a:rPr>
                        <a:t>751.3</a:t>
                      </a:r>
                    </a:p>
                  </a:txBody>
                  <a:tcPr marL="85725" marR="38100" marT="19050" marB="19050" anchor="ctr">
                    <a:solidFill>
                      <a:srgbClr val="F5F8FA"/>
                    </a:solidFill>
                  </a:tcPr>
                </a:tc>
                <a:tc>
                  <a:txBody>
                    <a:bodyPr wrap="none"/>
                    <a:lstStyle/>
                    <a:p>
                      <a:pPr algn="l"/>
                      <a:r>
                        <a:rPr sz="800" b="0">
                          <a:solidFill>
                            <a:srgbClr val="2E2E2E"/>
                          </a:solidFill>
                          <a:latin typeface="Calibri"/>
                        </a:rPr>
                        <a:t>865.7</a:t>
                      </a:r>
                    </a:p>
                  </a:txBody>
                  <a:tcPr marL="85725" marR="38100" marT="19050" marB="19050" anchor="ctr">
                    <a:solidFill>
                      <a:srgbClr val="F5F8FA"/>
                    </a:solidFill>
                  </a:tcPr>
                </a:tc>
                <a:tc>
                  <a:txBody>
                    <a:bodyPr wrap="none"/>
                    <a:lstStyle/>
                    <a:p>
                      <a:pPr algn="l"/>
                      <a:r>
                        <a:rPr sz="800" b="0">
                          <a:solidFill>
                            <a:srgbClr val="2E2E2E"/>
                          </a:solidFill>
                          <a:latin typeface="Calibri"/>
                        </a:rPr>
                        <a:t>977.3</a:t>
                      </a:r>
                    </a:p>
                  </a:txBody>
                  <a:tcPr marL="85725" marR="38100" marT="19050" marB="19050" anchor="ctr">
                    <a:solidFill>
                      <a:srgbClr val="F5F8FA"/>
                    </a:solidFill>
                  </a:tcPr>
                </a:tc>
                <a:tc>
                  <a:txBody>
                    <a:bodyPr wrap="none"/>
                    <a:lstStyle/>
                    <a:p>
                      <a:pPr algn="l"/>
                      <a:r>
                        <a:rPr sz="800" b="0">
                          <a:solidFill>
                            <a:srgbClr val="2E2E2E"/>
                          </a:solidFill>
                          <a:latin typeface="Calibri"/>
                        </a:rPr>
                        <a:t>1,087</a:t>
                      </a:r>
                    </a:p>
                  </a:txBody>
                  <a:tcPr marL="85725" marR="38100" marT="19050" marB="19050" anchor="ctr">
                    <a:solidFill>
                      <a:srgbClr val="F5F8FA"/>
                    </a:solidFill>
                  </a:tcPr>
                </a:tc>
                <a:tc>
                  <a:txBody>
                    <a:bodyPr wrap="none"/>
                    <a:lstStyle/>
                    <a:p>
                      <a:pPr algn="l"/>
                      <a:r>
                        <a:rPr sz="800" b="0">
                          <a:solidFill>
                            <a:srgbClr val="2E2E2E"/>
                          </a:solidFill>
                          <a:latin typeface="Calibri"/>
                        </a:rPr>
                        <a:t>1,195</a:t>
                      </a:r>
                    </a:p>
                  </a:txBody>
                  <a:tcPr marL="85725" marR="38100" marT="19050" marB="19050" anchor="ctr">
                    <a:solidFill>
                      <a:srgbClr val="F5F8FA"/>
                    </a:solidFill>
                  </a:tcPr>
                </a:tc>
                <a:tc>
                  <a:txBody>
                    <a:bodyPr wrap="none"/>
                    <a:lstStyle/>
                    <a:p>
                      <a:pPr algn="l"/>
                      <a:r>
                        <a:rPr sz="800" b="0">
                          <a:solidFill>
                            <a:srgbClr val="2E2E2E"/>
                          </a:solidFill>
                          <a:latin typeface="Calibri"/>
                        </a:rPr>
                        <a:t>1,300</a:t>
                      </a:r>
                    </a:p>
                  </a:txBody>
                  <a:tcPr marL="85725" marR="38100" marT="19050" marB="19050" anchor="ctr">
                    <a:solidFill>
                      <a:srgbClr val="F5F8FA"/>
                    </a:solidFill>
                  </a:tcPr>
                </a:tc>
                <a:tc>
                  <a:txBody>
                    <a:bodyPr wrap="none"/>
                    <a:lstStyle/>
                    <a:p>
                      <a:pPr algn="l"/>
                      <a:r>
                        <a:rPr sz="800" b="0">
                          <a:solidFill>
                            <a:srgbClr val="2E2E2E"/>
                          </a:solidFill>
                          <a:latin typeface="Calibri"/>
                        </a:rPr>
                        <a:t>1,403</a:t>
                      </a:r>
                    </a:p>
                  </a:txBody>
                  <a:tcPr marL="85725" marR="38100" marT="19050" marB="19050" anchor="ctr">
                    <a:solidFill>
                      <a:srgbClr val="F5F8FA"/>
                    </a:solidFill>
                  </a:tcPr>
                </a:tc>
                <a:tc>
                  <a:txBody>
                    <a:bodyPr wrap="none"/>
                    <a:lstStyle/>
                    <a:p>
                      <a:pPr algn="l"/>
                      <a:r>
                        <a:rPr sz="800" b="0">
                          <a:solidFill>
                            <a:srgbClr val="2E2E2E"/>
                          </a:solidFill>
                          <a:latin typeface="Calibri"/>
                        </a:rPr>
                        <a:t>1,501</a:t>
                      </a:r>
                    </a:p>
                  </a:txBody>
                  <a:tcPr marL="85725" marR="38100" marT="19050" marB="19050" anchor="ctr">
                    <a:solidFill>
                      <a:srgbClr val="F5F8FA"/>
                    </a:solidFill>
                  </a:tcPr>
                </a:tc>
                <a:tc>
                  <a:txBody>
                    <a:bodyPr wrap="none"/>
                    <a:lstStyle/>
                    <a:p>
                      <a:pPr algn="l"/>
                      <a:r>
                        <a:rPr sz="800" b="0">
                          <a:solidFill>
                            <a:srgbClr val="2E2E2E"/>
                          </a:solidFill>
                          <a:latin typeface="Calibri"/>
                        </a:rPr>
                        <a:t>1,598</a:t>
                      </a:r>
                    </a:p>
                  </a:txBody>
                  <a:tcPr marL="85725" marR="38100" marT="19050" marB="19050" anchor="ctr">
                    <a:solidFill>
                      <a:srgbClr val="F5F8FA"/>
                    </a:solidFill>
                  </a:tcPr>
                </a:tc>
                <a:tc>
                  <a:txBody>
                    <a:bodyPr wrap="none"/>
                    <a:lstStyle/>
                    <a:p>
                      <a:pPr algn="l"/>
                      <a:r>
                        <a:rPr sz="800" b="0">
                          <a:solidFill>
                            <a:srgbClr val="2E2E2E"/>
                          </a:solidFill>
                          <a:latin typeface="Calibri"/>
                        </a:rPr>
                        <a:t>1,692</a:t>
                      </a:r>
                    </a:p>
                  </a:txBody>
                  <a:tcPr marL="85725" marR="38100" marT="19050" marB="19050" anchor="ctr">
                    <a:solidFill>
                      <a:srgbClr val="F5F8FA"/>
                    </a:solidFill>
                  </a:tcPr>
                </a:tc>
                <a:tc>
                  <a:txBody>
                    <a:bodyPr wrap="none"/>
                    <a:lstStyle/>
                    <a:p>
                      <a:pPr algn="l"/>
                      <a:r>
                        <a:rPr sz="800" b="0">
                          <a:solidFill>
                            <a:srgbClr val="2E2E2E"/>
                          </a:solidFill>
                          <a:latin typeface="Calibri"/>
                        </a:rPr>
                        <a:t>1,785</a:t>
                      </a:r>
                    </a:p>
                  </a:txBody>
                  <a:tcPr marL="85725" marR="38100" marT="19050" marB="19050" anchor="ctr">
                    <a:solidFill>
                      <a:srgbClr val="F5F8FA"/>
                    </a:solidFill>
                  </a:tcPr>
                </a:tc>
                <a:tc>
                  <a:txBody>
                    <a:bodyPr wrap="none"/>
                    <a:lstStyle/>
                    <a:p>
                      <a:pPr algn="l"/>
                      <a:r>
                        <a:rPr sz="800" b="0">
                          <a:solidFill>
                            <a:srgbClr val="2E2E2E"/>
                          </a:solidFill>
                          <a:latin typeface="Calibri"/>
                        </a:rPr>
                        <a:t>9.0%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611.7</a:t>
                      </a:r>
                    </a:p>
                  </a:txBody>
                  <a:tcPr marL="85725" marR="38100" marT="19050" marB="19050" anchor="ctr">
                    <a:solidFill>
                      <a:srgbClr val="E0E8EF"/>
                    </a:solidFill>
                  </a:tcPr>
                </a:tc>
                <a:tc>
                  <a:txBody>
                    <a:bodyPr wrap="none"/>
                    <a:lstStyle/>
                    <a:p>
                      <a:pPr algn="l"/>
                      <a:r>
                        <a:rPr sz="800" b="1">
                          <a:solidFill>
                            <a:srgbClr val="2E2E2E"/>
                          </a:solidFill>
                          <a:latin typeface="Calibri"/>
                        </a:rPr>
                        <a:t>690.9</a:t>
                      </a:r>
                    </a:p>
                  </a:txBody>
                  <a:tcPr marL="85725" marR="38100" marT="19050" marB="19050" anchor="ctr">
                    <a:solidFill>
                      <a:srgbClr val="E0E8EF"/>
                    </a:solidFill>
                  </a:tcPr>
                </a:tc>
                <a:tc>
                  <a:txBody>
                    <a:bodyPr wrap="none"/>
                    <a:lstStyle/>
                    <a:p>
                      <a:pPr algn="l"/>
                      <a:r>
                        <a:rPr sz="800" b="1">
                          <a:solidFill>
                            <a:srgbClr val="2E2E2E"/>
                          </a:solidFill>
                          <a:latin typeface="Calibri"/>
                        </a:rPr>
                        <a:t>827.8</a:t>
                      </a:r>
                    </a:p>
                  </a:txBody>
                  <a:tcPr marL="85725" marR="38100" marT="19050" marB="19050" anchor="ctr">
                    <a:solidFill>
                      <a:srgbClr val="E0E8EF"/>
                    </a:solidFill>
                  </a:tcPr>
                </a:tc>
                <a:tc>
                  <a:txBody>
                    <a:bodyPr wrap="none"/>
                    <a:lstStyle/>
                    <a:p>
                      <a:pPr algn="l"/>
                      <a:r>
                        <a:rPr sz="800" b="1">
                          <a:solidFill>
                            <a:srgbClr val="2E2E2E"/>
                          </a:solidFill>
                          <a:latin typeface="Calibri"/>
                        </a:rPr>
                        <a:t>1,023</a:t>
                      </a:r>
                    </a:p>
                  </a:txBody>
                  <a:tcPr marL="85725" marR="38100" marT="19050" marB="19050" anchor="ctr">
                    <a:solidFill>
                      <a:srgbClr val="E0E8EF"/>
                    </a:solidFill>
                  </a:tcPr>
                </a:tc>
                <a:tc>
                  <a:txBody>
                    <a:bodyPr wrap="none"/>
                    <a:lstStyle/>
                    <a:p>
                      <a:pPr algn="l"/>
                      <a:r>
                        <a:rPr sz="800" b="1">
                          <a:solidFill>
                            <a:srgbClr val="2E2E2E"/>
                          </a:solidFill>
                          <a:latin typeface="Calibri"/>
                        </a:rPr>
                        <a:t>1,238</a:t>
                      </a:r>
                    </a:p>
                  </a:txBody>
                  <a:tcPr marL="85725" marR="38100" marT="19050" marB="19050" anchor="ctr">
                    <a:solidFill>
                      <a:srgbClr val="E0E8EF"/>
                    </a:solidFill>
                  </a:tcPr>
                </a:tc>
                <a:tc>
                  <a:txBody>
                    <a:bodyPr wrap="none"/>
                    <a:lstStyle/>
                    <a:p>
                      <a:pPr algn="l"/>
                      <a:r>
                        <a:rPr sz="800" b="1">
                          <a:solidFill>
                            <a:srgbClr val="2E2E2E"/>
                          </a:solidFill>
                          <a:latin typeface="Calibri"/>
                        </a:rPr>
                        <a:t>1,453</a:t>
                      </a:r>
                    </a:p>
                  </a:txBody>
                  <a:tcPr marL="85725" marR="38100" marT="19050" marB="19050" anchor="ctr">
                    <a:solidFill>
                      <a:srgbClr val="E0E8EF"/>
                    </a:solidFill>
                  </a:tcPr>
                </a:tc>
                <a:tc>
                  <a:txBody>
                    <a:bodyPr wrap="none"/>
                    <a:lstStyle/>
                    <a:p>
                      <a:pPr algn="l"/>
                      <a:r>
                        <a:rPr sz="800" b="1">
                          <a:solidFill>
                            <a:srgbClr val="2E2E2E"/>
                          </a:solidFill>
                          <a:latin typeface="Calibri"/>
                        </a:rPr>
                        <a:t>1,674</a:t>
                      </a:r>
                    </a:p>
                  </a:txBody>
                  <a:tcPr marL="85725" marR="38100" marT="19050" marB="19050" anchor="ctr">
                    <a:solidFill>
                      <a:srgbClr val="E0E8EF"/>
                    </a:solidFill>
                  </a:tcPr>
                </a:tc>
                <a:tc>
                  <a:txBody>
                    <a:bodyPr wrap="none"/>
                    <a:lstStyle/>
                    <a:p>
                      <a:pPr algn="l"/>
                      <a:r>
                        <a:rPr sz="800" b="1">
                          <a:solidFill>
                            <a:srgbClr val="2E2E2E"/>
                          </a:solidFill>
                          <a:latin typeface="Calibri"/>
                        </a:rPr>
                        <a:t>1,889</a:t>
                      </a:r>
                    </a:p>
                  </a:txBody>
                  <a:tcPr marL="85725" marR="38100" marT="19050" marB="19050" anchor="ctr">
                    <a:solidFill>
                      <a:srgbClr val="E0E8EF"/>
                    </a:solidFill>
                  </a:tcPr>
                </a:tc>
                <a:tc>
                  <a:txBody>
                    <a:bodyPr wrap="none"/>
                    <a:lstStyle/>
                    <a:p>
                      <a:pPr algn="l"/>
                      <a:r>
                        <a:rPr sz="800" b="1">
                          <a:solidFill>
                            <a:srgbClr val="2E2E2E"/>
                          </a:solidFill>
                          <a:latin typeface="Calibri"/>
                        </a:rPr>
                        <a:t>2,101</a:t>
                      </a:r>
                    </a:p>
                  </a:txBody>
                  <a:tcPr marL="85725" marR="38100" marT="19050" marB="19050" anchor="ctr">
                    <a:solidFill>
                      <a:srgbClr val="E0E8EF"/>
                    </a:solidFill>
                  </a:tcPr>
                </a:tc>
                <a:tc>
                  <a:txBody>
                    <a:bodyPr wrap="none"/>
                    <a:lstStyle/>
                    <a:p>
                      <a:pPr algn="l"/>
                      <a:r>
                        <a:rPr sz="800" b="1">
                          <a:solidFill>
                            <a:srgbClr val="2E2E2E"/>
                          </a:solidFill>
                          <a:latin typeface="Calibri"/>
                        </a:rPr>
                        <a:t>2,309</a:t>
                      </a:r>
                    </a:p>
                  </a:txBody>
                  <a:tcPr marL="85725" marR="38100" marT="19050" marB="19050" anchor="ctr">
                    <a:solidFill>
                      <a:srgbClr val="E0E8EF"/>
                    </a:solidFill>
                  </a:tcPr>
                </a:tc>
                <a:tc>
                  <a:txBody>
                    <a:bodyPr wrap="none"/>
                    <a:lstStyle/>
                    <a:p>
                      <a:pPr algn="l"/>
                      <a:r>
                        <a:rPr sz="800" b="1">
                          <a:solidFill>
                            <a:srgbClr val="2E2E2E"/>
                          </a:solidFill>
                          <a:latin typeface="Calibri"/>
                        </a:rPr>
                        <a:t>2,512</a:t>
                      </a:r>
                    </a:p>
                  </a:txBody>
                  <a:tcPr marL="85725" marR="38100" marT="19050" marB="19050" anchor="ctr">
                    <a:solidFill>
                      <a:srgbClr val="E0E8EF"/>
                    </a:solidFill>
                  </a:tcPr>
                </a:tc>
                <a:tc>
                  <a:txBody>
                    <a:bodyPr wrap="none"/>
                    <a:lstStyle/>
                    <a:p>
                      <a:pPr algn="l"/>
                      <a:r>
                        <a:rPr sz="800" b="1">
                          <a:solidFill>
                            <a:srgbClr val="2E2E2E"/>
                          </a:solidFill>
                          <a:latin typeface="Calibri"/>
                        </a:rPr>
                        <a:t>2,709</a:t>
                      </a:r>
                    </a:p>
                  </a:txBody>
                  <a:tcPr marL="85725" marR="38100" marT="19050" marB="19050" anchor="ctr">
                    <a:solidFill>
                      <a:srgbClr val="E0E8EF"/>
                    </a:solidFill>
                  </a:tcPr>
                </a:tc>
                <a:tc>
                  <a:txBody>
                    <a:bodyPr wrap="none"/>
                    <a:lstStyle/>
                    <a:p>
                      <a:pPr algn="l"/>
                      <a:r>
                        <a:rPr sz="800" b="1">
                          <a:solidFill>
                            <a:srgbClr val="2E2E2E"/>
                          </a:solidFill>
                          <a:latin typeface="Calibri"/>
                        </a:rPr>
                        <a:t>2,900</a:t>
                      </a:r>
                    </a:p>
                  </a:txBody>
                  <a:tcPr marL="85725" marR="38100" marT="19050" marB="19050" anchor="ctr">
                    <a:solidFill>
                      <a:srgbClr val="E0E8EF"/>
                    </a:solidFill>
                  </a:tcPr>
                </a:tc>
                <a:tc>
                  <a:txBody>
                    <a:bodyPr wrap="none"/>
                    <a:lstStyle/>
                    <a:p>
                      <a:pPr algn="l"/>
                      <a:r>
                        <a:rPr sz="800" b="1">
                          <a:solidFill>
                            <a:srgbClr val="2E2E2E"/>
                          </a:solidFill>
                          <a:latin typeface="Calibri"/>
                        </a:rPr>
                        <a:t>3,086</a:t>
                      </a:r>
                    </a:p>
                  </a:txBody>
                  <a:tcPr marL="85725" marR="38100" marT="19050" marB="19050" anchor="ctr">
                    <a:solidFill>
                      <a:srgbClr val="E0E8EF"/>
                    </a:solidFill>
                  </a:tcPr>
                </a:tc>
                <a:tc>
                  <a:txBody>
                    <a:bodyPr wrap="none"/>
                    <a:lstStyle/>
                    <a:p>
                      <a:pPr algn="l"/>
                      <a:r>
                        <a:rPr sz="800" b="1">
                          <a:solidFill>
                            <a:srgbClr val="2E2E2E"/>
                          </a:solidFill>
                          <a:latin typeface="Calibri"/>
                        </a:rPr>
                        <a:t>3,268</a:t>
                      </a:r>
                    </a:p>
                  </a:txBody>
                  <a:tcPr marL="85725" marR="38100" marT="19050" marB="19050" anchor="ctr">
                    <a:solidFill>
                      <a:srgbClr val="E0E8EF"/>
                    </a:solidFill>
                  </a:tcPr>
                </a:tc>
                <a:tc>
                  <a:txBody>
                    <a:bodyPr wrap="none"/>
                    <a:lstStyle/>
                    <a:p>
                      <a:pPr algn="l"/>
                      <a:r>
                        <a:rPr sz="800" b="1">
                          <a:solidFill>
                            <a:srgbClr val="2E2E2E"/>
                          </a:solidFill>
                          <a:latin typeface="Calibri"/>
                        </a:rPr>
                        <a:t>3,447</a:t>
                      </a:r>
                    </a:p>
                  </a:txBody>
                  <a:tcPr marL="85725" marR="38100" marT="19050" marB="19050" anchor="ctr">
                    <a:solidFill>
                      <a:srgbClr val="E0E8EF"/>
                    </a:solidFill>
                  </a:tcPr>
                </a:tc>
                <a:tc>
                  <a:txBody>
                    <a:bodyPr wrap="none"/>
                    <a:lstStyle/>
                    <a:p>
                      <a:pPr algn="l"/>
                      <a:r>
                        <a:rPr sz="800" b="1">
                          <a:solidFill>
                            <a:srgbClr val="2E2E2E"/>
                          </a:solidFill>
                          <a:latin typeface="Calibri"/>
                        </a:rPr>
                        <a:t>9.0%</a:t>
                      </a:r>
                    </a:p>
                  </a:txBody>
                  <a:tcPr marL="85725" marR="38100" marT="19050" marB="19050" anchor="ctr">
                    <a:solidFill>
                      <a:srgbClr val="E0E8EF"/>
                    </a:solidFill>
                  </a:tcPr>
                </a:tc>
              </a:tr>
            </a:tbl>
          </a:graphicData>
        </a:graphic>
      </p:graphicFrame>
      <p:sp>
        <p:nvSpPr>
          <p:cNvPr id="18" name="TextBox 17"/>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YoY Analysis Form Type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Volume YoY, By Form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54292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Form Type</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Prefilled Syringe</a:t>
                      </a:r>
                    </a:p>
                  </a:txBody>
                  <a:tcPr marL="85725" marR="38100" marT="19050" marB="19050" anchor="ctr">
                    <a:solidFill>
                      <a:srgbClr val="FFFFFF"/>
                    </a:solidFill>
                  </a:tcPr>
                </a:tc>
                <a:tc>
                  <a:txBody>
                    <a:bodyPr wrap="none"/>
                    <a:lstStyle/>
                    <a:p>
                      <a:pPr algn="l"/>
                      <a:r>
                        <a:rPr sz="800" b="1">
                          <a:solidFill>
                            <a:srgbClr val="2E7D32"/>
                          </a:solidFill>
                          <a:latin typeface="Calibri"/>
                        </a:rPr>
                        <a:t>▲ 17.6%</a:t>
                      </a:r>
                    </a:p>
                  </a:txBody>
                  <a:tcPr marL="85725" marR="38100" marT="19050" marB="19050" anchor="ctr">
                    <a:solidFill>
                      <a:srgbClr val="FFFFFF"/>
                    </a:solidFill>
                  </a:tcPr>
                </a:tc>
                <a:tc>
                  <a:txBody>
                    <a:bodyPr wrap="none"/>
                    <a:lstStyle/>
                    <a:p>
                      <a:pPr algn="l"/>
                      <a:r>
                        <a:rPr sz="800" b="1">
                          <a:solidFill>
                            <a:srgbClr val="2E7D32"/>
                          </a:solidFill>
                          <a:latin typeface="Calibri"/>
                        </a:rPr>
                        <a:t>▲ 24.7%</a:t>
                      </a:r>
                    </a:p>
                  </a:txBody>
                  <a:tcPr marL="85725" marR="38100" marT="19050" marB="19050" anchor="ctr">
                    <a:solidFill>
                      <a:srgbClr val="FFFFFF"/>
                    </a:solidFill>
                  </a:tcPr>
                </a:tc>
                <a:tc>
                  <a:txBody>
                    <a:bodyPr wrap="none"/>
                    <a:lstStyle/>
                    <a:p>
                      <a:pPr algn="l"/>
                      <a:r>
                        <a:rPr sz="800" b="1">
                          <a:solidFill>
                            <a:srgbClr val="2E7D32"/>
                          </a:solidFill>
                          <a:latin typeface="Calibri"/>
                        </a:rPr>
                        <a:t>▲ 28.7%</a:t>
                      </a:r>
                    </a:p>
                  </a:txBody>
                  <a:tcPr marL="85725" marR="38100" marT="19050" marB="19050" anchor="ctr">
                    <a:solidFill>
                      <a:srgbClr val="FFFFFF"/>
                    </a:solidFill>
                  </a:tcPr>
                </a:tc>
                <a:tc>
                  <a:txBody>
                    <a:bodyPr wrap="none"/>
                    <a:lstStyle/>
                    <a:p>
                      <a:pPr algn="l"/>
                      <a:r>
                        <a:rPr sz="800" b="1">
                          <a:solidFill>
                            <a:srgbClr val="2E7D32"/>
                          </a:solidFill>
                          <a:latin typeface="Calibri"/>
                        </a:rPr>
                        <a:t>▲ 26.0%</a:t>
                      </a:r>
                    </a:p>
                  </a:txBody>
                  <a:tcPr marL="85725" marR="38100" marT="19050" marB="19050" anchor="ctr">
                    <a:solidFill>
                      <a:srgbClr val="FFFFFF"/>
                    </a:solidFill>
                  </a:tcPr>
                </a:tc>
                <a:tc>
                  <a:txBody>
                    <a:bodyPr wrap="none"/>
                    <a:lstStyle/>
                    <a:p>
                      <a:pPr algn="l"/>
                      <a:r>
                        <a:rPr sz="800" b="1">
                          <a:solidFill>
                            <a:srgbClr val="2E7D32"/>
                          </a:solidFill>
                          <a:latin typeface="Calibri"/>
                        </a:rPr>
                        <a:t>▲ 22.2%</a:t>
                      </a:r>
                    </a:p>
                  </a:txBody>
                  <a:tcPr marL="85725" marR="38100" marT="19050" marB="19050" anchor="ctr">
                    <a:solidFill>
                      <a:srgbClr val="FFFFFF"/>
                    </a:solidFill>
                  </a:tcPr>
                </a:tc>
                <a:tc>
                  <a:txBody>
                    <a:bodyPr wrap="none"/>
                    <a:lstStyle/>
                    <a:p>
                      <a:pPr algn="l"/>
                      <a:r>
                        <a:rPr sz="800" b="1">
                          <a:solidFill>
                            <a:srgbClr val="2E7D32"/>
                          </a:solidFill>
                          <a:latin typeface="Calibri"/>
                        </a:rPr>
                        <a:t>▲ 19.9%</a:t>
                      </a:r>
                    </a:p>
                  </a:txBody>
                  <a:tcPr marL="85725" marR="38100" marT="19050" marB="19050" anchor="ctr">
                    <a:solidFill>
                      <a:srgbClr val="FFFFFF"/>
                    </a:solidFill>
                  </a:tcPr>
                </a:tc>
                <a:tc>
                  <a:txBody>
                    <a:bodyPr wrap="none"/>
                    <a:lstStyle/>
                    <a:p>
                      <a:pPr algn="l"/>
                      <a:r>
                        <a:rPr sz="800" b="1">
                          <a:solidFill>
                            <a:srgbClr val="2E7D32"/>
                          </a:solidFill>
                          <a:latin typeface="Calibri"/>
                        </a:rPr>
                        <a:t>▲ 17.5%</a:t>
                      </a:r>
                    </a:p>
                  </a:txBody>
                  <a:tcPr marL="85725" marR="38100" marT="19050" marB="19050" anchor="ctr">
                    <a:solidFill>
                      <a:srgbClr val="FFFFFF"/>
                    </a:solidFill>
                  </a:tcPr>
                </a:tc>
                <a:tc>
                  <a:txBody>
                    <a:bodyPr wrap="none"/>
                    <a:lstStyle/>
                    <a:p>
                      <a:pPr algn="l"/>
                      <a:r>
                        <a:rPr sz="800" b="1">
                          <a:solidFill>
                            <a:srgbClr val="2E7D32"/>
                          </a:solidFill>
                          <a:latin typeface="Calibri"/>
                        </a:rPr>
                        <a:t>▲ 15.8%</a:t>
                      </a:r>
                    </a:p>
                  </a:txBody>
                  <a:tcPr marL="85725" marR="38100" marT="19050" marB="19050" anchor="ctr">
                    <a:solidFill>
                      <a:srgbClr val="FFFFFF"/>
                    </a:solidFill>
                  </a:tcPr>
                </a:tc>
                <a:tc>
                  <a:txBody>
                    <a:bodyPr wrap="none"/>
                    <a:lstStyle/>
                    <a:p>
                      <a:pPr algn="l"/>
                      <a:r>
                        <a:rPr sz="800" b="1">
                          <a:solidFill>
                            <a:srgbClr val="2E7D32"/>
                          </a:solidFill>
                          <a:latin typeface="Calibri"/>
                        </a:rPr>
                        <a:t>▲ 14.4%</a:t>
                      </a:r>
                    </a:p>
                  </a:txBody>
                  <a:tcPr marL="85725" marR="38100" marT="19050" marB="19050" anchor="ctr">
                    <a:solidFill>
                      <a:srgbClr val="FFFFFF"/>
                    </a:solidFill>
                  </a:tcPr>
                </a:tc>
                <a:tc>
                  <a:txBody>
                    <a:bodyPr wrap="none"/>
                    <a:lstStyle/>
                    <a:p>
                      <a:pPr algn="l"/>
                      <a:r>
                        <a:rPr sz="800" b="1">
                          <a:solidFill>
                            <a:srgbClr val="2E7D32"/>
                          </a:solidFill>
                          <a:latin typeface="Calibri"/>
                        </a:rPr>
                        <a:t>▲ 13.3%</a:t>
                      </a:r>
                    </a:p>
                  </a:txBody>
                  <a:tcPr marL="85725" marR="38100" marT="19050" marB="19050" anchor="ctr">
                    <a:solidFill>
                      <a:srgbClr val="FFFFFF"/>
                    </a:solidFill>
                  </a:tcPr>
                </a:tc>
                <a:tc>
                  <a:txBody>
                    <a:bodyPr wrap="none"/>
                    <a:lstStyle/>
                    <a:p>
                      <a:pPr algn="l"/>
                      <a:r>
                        <a:rPr sz="800" b="1">
                          <a:solidFill>
                            <a:srgbClr val="2E7D32"/>
                          </a:solidFill>
                          <a:latin typeface="Calibri"/>
                        </a:rPr>
                        <a:t>▲ 12.3%</a:t>
                      </a:r>
                    </a:p>
                  </a:txBody>
                  <a:tcPr marL="85725" marR="38100" marT="19050" marB="19050" anchor="ctr">
                    <a:solidFill>
                      <a:srgbClr val="FFFFFF"/>
                    </a:solidFill>
                  </a:tcPr>
                </a:tc>
                <a:tc>
                  <a:txBody>
                    <a:bodyPr wrap="none"/>
                    <a:lstStyle/>
                    <a:p>
                      <a:pPr algn="l"/>
                      <a:r>
                        <a:rPr sz="800" b="1">
                          <a:solidFill>
                            <a:srgbClr val="2E7D32"/>
                          </a:solidFill>
                          <a:latin typeface="Calibri"/>
                        </a:rPr>
                        <a:t>▲ 11.5%</a:t>
                      </a:r>
                    </a:p>
                  </a:txBody>
                  <a:tcPr marL="85725" marR="38100" marT="19050" marB="19050" anchor="ctr">
                    <a:solidFill>
                      <a:srgbClr val="FFFFFF"/>
                    </a:solidFill>
                  </a:tcPr>
                </a:tc>
                <a:tc>
                  <a:txBody>
                    <a:bodyPr wrap="none"/>
                    <a:lstStyle/>
                    <a:p>
                      <a:pPr algn="l"/>
                      <a:r>
                        <a:rPr sz="800" b="1">
                          <a:solidFill>
                            <a:srgbClr val="2E7D32"/>
                          </a:solidFill>
                          <a:latin typeface="Calibri"/>
                        </a:rPr>
                        <a:t>▲ 10.8%</a:t>
                      </a:r>
                    </a:p>
                  </a:txBody>
                  <a:tcPr marL="85725" marR="38100" marT="19050" marB="19050" anchor="ctr">
                    <a:solidFill>
                      <a:srgbClr val="FFFFFF"/>
                    </a:solidFill>
                  </a:tcPr>
                </a:tc>
                <a:tc>
                  <a:txBody>
                    <a:bodyPr wrap="none"/>
                    <a:lstStyle/>
                    <a:p>
                      <a:pPr algn="l"/>
                      <a:r>
                        <a:rPr sz="800" b="1">
                          <a:solidFill>
                            <a:srgbClr val="2E7D32"/>
                          </a:solidFill>
                          <a:latin typeface="Calibri"/>
                        </a:rPr>
                        <a:t>▲ 10.3%</a:t>
                      </a:r>
                    </a:p>
                  </a:txBody>
                  <a:tcPr marL="85725" marR="38100" marT="19050" marB="19050" anchor="ctr">
                    <a:solidFill>
                      <a:srgbClr val="FFFFFF"/>
                    </a:solidFill>
                  </a:tcPr>
                </a:tc>
                <a:tc>
                  <a:txBody>
                    <a:bodyPr wrap="none"/>
                    <a:lstStyle/>
                    <a:p>
                      <a:pPr algn="l"/>
                      <a:r>
                        <a:rPr sz="800" b="1">
                          <a:solidFill>
                            <a:srgbClr val="2E7D32"/>
                          </a:solidFill>
                          <a:latin typeface="Calibri"/>
                        </a:rPr>
                        <a:t>▲ 9.8%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Autoinjector / Pen</a:t>
                      </a:r>
                    </a:p>
                  </a:txBody>
                  <a:tcPr marL="85725" marR="38100" marT="19050" marB="19050" anchor="ctr">
                    <a:solidFill>
                      <a:srgbClr val="F5F8FA"/>
                    </a:solidFill>
                  </a:tcPr>
                </a:tc>
                <a:tc>
                  <a:txBody>
                    <a:bodyPr wrap="none"/>
                    <a:lstStyle/>
                    <a:p>
                      <a:pPr algn="l"/>
                      <a:r>
                        <a:rPr sz="800" b="1">
                          <a:solidFill>
                            <a:srgbClr val="A86F00"/>
                          </a:solidFill>
                          <a:latin typeface="Calibri"/>
                        </a:rPr>
                        <a:t>▶ 15.7%</a:t>
                      </a:r>
                    </a:p>
                  </a:txBody>
                  <a:tcPr marL="85725" marR="38100" marT="19050" marB="19050" anchor="ctr">
                    <a:solidFill>
                      <a:srgbClr val="F5F8FA"/>
                    </a:solidFill>
                  </a:tcPr>
                </a:tc>
                <a:tc>
                  <a:txBody>
                    <a:bodyPr wrap="none"/>
                    <a:lstStyle/>
                    <a:p>
                      <a:pPr algn="l"/>
                      <a:r>
                        <a:rPr sz="800" b="1">
                          <a:solidFill>
                            <a:srgbClr val="A86F00"/>
                          </a:solidFill>
                          <a:latin typeface="Calibri"/>
                        </a:rPr>
                        <a:t>▶ 22.7%</a:t>
                      </a:r>
                    </a:p>
                  </a:txBody>
                  <a:tcPr marL="85725" marR="38100" marT="19050" marB="19050" anchor="ctr">
                    <a:solidFill>
                      <a:srgbClr val="F5F8FA"/>
                    </a:solidFill>
                  </a:tcPr>
                </a:tc>
                <a:tc>
                  <a:txBody>
                    <a:bodyPr wrap="none"/>
                    <a:lstStyle/>
                    <a:p>
                      <a:pPr algn="l"/>
                      <a:r>
                        <a:rPr sz="800" b="1">
                          <a:solidFill>
                            <a:srgbClr val="A86F00"/>
                          </a:solidFill>
                          <a:latin typeface="Calibri"/>
                        </a:rPr>
                        <a:t>▶ 26.6%</a:t>
                      </a:r>
                    </a:p>
                  </a:txBody>
                  <a:tcPr marL="85725" marR="38100" marT="19050" marB="19050" anchor="ctr">
                    <a:solidFill>
                      <a:srgbClr val="F5F8FA"/>
                    </a:solidFill>
                  </a:tcPr>
                </a:tc>
                <a:tc>
                  <a:txBody>
                    <a:bodyPr wrap="none"/>
                    <a:lstStyle/>
                    <a:p>
                      <a:pPr algn="l"/>
                      <a:r>
                        <a:rPr sz="800" b="1">
                          <a:solidFill>
                            <a:srgbClr val="A86F00"/>
                          </a:solidFill>
                          <a:latin typeface="Calibri"/>
                        </a:rPr>
                        <a:t>▶ 23.9%</a:t>
                      </a:r>
                    </a:p>
                  </a:txBody>
                  <a:tcPr marL="85725" marR="38100" marT="19050" marB="19050" anchor="ctr">
                    <a:solidFill>
                      <a:srgbClr val="F5F8FA"/>
                    </a:solidFill>
                  </a:tcPr>
                </a:tc>
                <a:tc>
                  <a:txBody>
                    <a:bodyPr wrap="none"/>
                    <a:lstStyle/>
                    <a:p>
                      <a:pPr algn="l"/>
                      <a:r>
                        <a:rPr sz="800" b="1">
                          <a:solidFill>
                            <a:srgbClr val="A86F00"/>
                          </a:solidFill>
                          <a:latin typeface="Calibri"/>
                        </a:rPr>
                        <a:t>▶ 20.1%</a:t>
                      </a:r>
                    </a:p>
                  </a:txBody>
                  <a:tcPr marL="85725" marR="38100" marT="19050" marB="19050" anchor="ctr">
                    <a:solidFill>
                      <a:srgbClr val="F5F8FA"/>
                    </a:solidFill>
                  </a:tcPr>
                </a:tc>
                <a:tc>
                  <a:txBody>
                    <a:bodyPr wrap="none"/>
                    <a:lstStyle/>
                    <a:p>
                      <a:pPr algn="l"/>
                      <a:r>
                        <a:rPr sz="800" b="1">
                          <a:solidFill>
                            <a:srgbClr val="A86F00"/>
                          </a:solidFill>
                          <a:latin typeface="Calibri"/>
                        </a:rPr>
                        <a:t>▶ 17.9%</a:t>
                      </a:r>
                    </a:p>
                  </a:txBody>
                  <a:tcPr marL="85725" marR="38100" marT="19050" marB="19050" anchor="ctr">
                    <a:solidFill>
                      <a:srgbClr val="F5F8FA"/>
                    </a:solidFill>
                  </a:tcPr>
                </a:tc>
                <a:tc>
                  <a:txBody>
                    <a:bodyPr wrap="none"/>
                    <a:lstStyle/>
                    <a:p>
                      <a:pPr algn="l"/>
                      <a:r>
                        <a:rPr sz="800" b="1">
                          <a:solidFill>
                            <a:srgbClr val="A86F00"/>
                          </a:solidFill>
                          <a:latin typeface="Calibri"/>
                        </a:rPr>
                        <a:t>▶ 15.5%</a:t>
                      </a:r>
                    </a:p>
                  </a:txBody>
                  <a:tcPr marL="85725" marR="38100" marT="19050" marB="19050" anchor="ctr">
                    <a:solidFill>
                      <a:srgbClr val="F5F8FA"/>
                    </a:solidFill>
                  </a:tcPr>
                </a:tc>
                <a:tc>
                  <a:txBody>
                    <a:bodyPr wrap="none"/>
                    <a:lstStyle/>
                    <a:p>
                      <a:pPr algn="l"/>
                      <a:r>
                        <a:rPr sz="800" b="1">
                          <a:solidFill>
                            <a:srgbClr val="A86F00"/>
                          </a:solidFill>
                          <a:latin typeface="Calibri"/>
                        </a:rPr>
                        <a:t>▶ 13.8%</a:t>
                      </a:r>
                    </a:p>
                  </a:txBody>
                  <a:tcPr marL="85725" marR="38100" marT="19050" marB="19050" anchor="ctr">
                    <a:solidFill>
                      <a:srgbClr val="F5F8FA"/>
                    </a:solidFill>
                  </a:tcPr>
                </a:tc>
                <a:tc>
                  <a:txBody>
                    <a:bodyPr wrap="none"/>
                    <a:lstStyle/>
                    <a:p>
                      <a:pPr algn="l"/>
                      <a:r>
                        <a:rPr sz="800" b="1">
                          <a:solidFill>
                            <a:srgbClr val="A86F00"/>
                          </a:solidFill>
                          <a:latin typeface="Calibri"/>
                        </a:rPr>
                        <a:t>▶ 12.5%</a:t>
                      </a:r>
                    </a:p>
                  </a:txBody>
                  <a:tcPr marL="85725" marR="38100" marT="19050" marB="19050" anchor="ctr">
                    <a:solidFill>
                      <a:srgbClr val="F5F8FA"/>
                    </a:solidFill>
                  </a:tcPr>
                </a:tc>
                <a:tc>
                  <a:txBody>
                    <a:bodyPr wrap="none"/>
                    <a:lstStyle/>
                    <a:p>
                      <a:pPr algn="l"/>
                      <a:r>
                        <a:rPr sz="800" b="1">
                          <a:solidFill>
                            <a:srgbClr val="A86F00"/>
                          </a:solidFill>
                          <a:latin typeface="Calibri"/>
                        </a:rPr>
                        <a:t>▶ 11.3%</a:t>
                      </a:r>
                    </a:p>
                  </a:txBody>
                  <a:tcPr marL="85725" marR="38100" marT="19050" marB="19050" anchor="ctr">
                    <a:solidFill>
                      <a:srgbClr val="F5F8FA"/>
                    </a:solidFill>
                  </a:tcPr>
                </a:tc>
                <a:tc>
                  <a:txBody>
                    <a:bodyPr wrap="none"/>
                    <a:lstStyle/>
                    <a:p>
                      <a:pPr algn="l"/>
                      <a:r>
                        <a:rPr sz="800" b="1">
                          <a:solidFill>
                            <a:srgbClr val="A86F00"/>
                          </a:solidFill>
                          <a:latin typeface="Calibri"/>
                        </a:rPr>
                        <a:t>▶ 10.3%</a:t>
                      </a:r>
                    </a:p>
                  </a:txBody>
                  <a:tcPr marL="85725" marR="38100" marT="19050" marB="19050" anchor="ctr">
                    <a:solidFill>
                      <a:srgbClr val="F5F8FA"/>
                    </a:solidFill>
                  </a:tcPr>
                </a:tc>
                <a:tc>
                  <a:txBody>
                    <a:bodyPr wrap="none"/>
                    <a:lstStyle/>
                    <a:p>
                      <a:pPr algn="l"/>
                      <a:r>
                        <a:rPr sz="800" b="1">
                          <a:solidFill>
                            <a:srgbClr val="A86F00"/>
                          </a:solidFill>
                          <a:latin typeface="Calibri"/>
                        </a:rPr>
                        <a:t>▶ 9.5%</a:t>
                      </a:r>
                    </a:p>
                  </a:txBody>
                  <a:tcPr marL="85725" marR="38100" marT="19050" marB="19050" anchor="ctr">
                    <a:solidFill>
                      <a:srgbClr val="F5F8FA"/>
                    </a:solidFill>
                  </a:tcPr>
                </a:tc>
                <a:tc>
                  <a:txBody>
                    <a:bodyPr wrap="none"/>
                    <a:lstStyle/>
                    <a:p>
                      <a:pPr algn="l"/>
                      <a:r>
                        <a:rPr sz="800" b="1">
                          <a:solidFill>
                            <a:srgbClr val="A86F00"/>
                          </a:solidFill>
                          <a:latin typeface="Calibri"/>
                        </a:rPr>
                        <a:t>▶ 8.8%</a:t>
                      </a:r>
                    </a:p>
                  </a:txBody>
                  <a:tcPr marL="85725" marR="38100" marT="19050" marB="19050" anchor="ctr">
                    <a:solidFill>
                      <a:srgbClr val="F5F8FA"/>
                    </a:solidFill>
                  </a:tcPr>
                </a:tc>
                <a:tc>
                  <a:txBody>
                    <a:bodyPr wrap="none"/>
                    <a:lstStyle/>
                    <a:p>
                      <a:pPr algn="l"/>
                      <a:r>
                        <a:rPr sz="800" b="1">
                          <a:solidFill>
                            <a:srgbClr val="A86F00"/>
                          </a:solidFill>
                          <a:latin typeface="Calibri"/>
                        </a:rPr>
                        <a:t>▶ 8.3%</a:t>
                      </a:r>
                    </a:p>
                  </a:txBody>
                  <a:tcPr marL="85725" marR="38100" marT="19050" marB="19050" anchor="ctr">
                    <a:solidFill>
                      <a:srgbClr val="F5F8FA"/>
                    </a:solidFill>
                  </a:tcPr>
                </a:tc>
                <a:tc>
                  <a:txBody>
                    <a:bodyPr wrap="none"/>
                    <a:lstStyle/>
                    <a:p>
                      <a:pPr algn="l"/>
                      <a:r>
                        <a:rPr sz="800" b="1">
                          <a:solidFill>
                            <a:srgbClr val="A86F00"/>
                          </a:solidFill>
                          <a:latin typeface="Calibri"/>
                        </a:rPr>
                        <a:t>▶ 7.8%</a:t>
                      </a:r>
                    </a:p>
                  </a:txBody>
                  <a:tcPr marL="85725" marR="38100" marT="19050" marB="19050" anchor="ctr">
                    <a:solidFill>
                      <a:srgbClr val="F5F8FA"/>
                    </a:solidFill>
                  </a:tcPr>
                </a:tc>
              </a:tr>
            </a:tbl>
          </a:graphicData>
        </a:graphic>
      </p:graphicFrame>
      <p:sp>
        <p:nvSpPr>
          <p:cNvPr id="14" name="TextBox 13"/>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Value YoY, By Form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7" name="Table 16"/>
          <p:cNvGraphicFramePr>
            <a:graphicFrameLocks noGrp="1"/>
          </p:cNvGraphicFramePr>
          <p:nvPr/>
        </p:nvGraphicFramePr>
        <p:xfrm>
          <a:off x="238125" y="4143375"/>
          <a:ext cx="11715750" cy="54292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Form Type</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Prefilled Syringe</a:t>
                      </a:r>
                    </a:p>
                  </a:txBody>
                  <a:tcPr marL="85725" marR="38100" marT="19050" marB="19050" anchor="ctr">
                    <a:solidFill>
                      <a:srgbClr val="FFFFFF"/>
                    </a:solidFill>
                  </a:tcPr>
                </a:tc>
                <a:tc>
                  <a:txBody>
                    <a:bodyPr wrap="none"/>
                    <a:lstStyle/>
                    <a:p>
                      <a:pPr algn="l"/>
                      <a:r>
                        <a:rPr sz="800" b="1">
                          <a:solidFill>
                            <a:srgbClr val="A86F00"/>
                          </a:solidFill>
                          <a:latin typeface="Calibri"/>
                        </a:rPr>
                        <a:t>▶ 12.9%</a:t>
                      </a:r>
                    </a:p>
                  </a:txBody>
                  <a:tcPr marL="85725" marR="38100" marT="19050" marB="19050" anchor="ctr">
                    <a:solidFill>
                      <a:srgbClr val="FFFFFF"/>
                    </a:solidFill>
                  </a:tcPr>
                </a:tc>
                <a:tc>
                  <a:txBody>
                    <a:bodyPr wrap="none"/>
                    <a:lstStyle/>
                    <a:p>
                      <a:pPr algn="l"/>
                      <a:r>
                        <a:rPr sz="800" b="1">
                          <a:solidFill>
                            <a:srgbClr val="A86F00"/>
                          </a:solidFill>
                          <a:latin typeface="Calibri"/>
                        </a:rPr>
                        <a:t>▶ 19.8%</a:t>
                      </a:r>
                    </a:p>
                  </a:txBody>
                  <a:tcPr marL="85725" marR="38100" marT="19050" marB="19050" anchor="ctr">
                    <a:solidFill>
                      <a:srgbClr val="FFFFFF"/>
                    </a:solidFill>
                  </a:tcPr>
                </a:tc>
                <a:tc>
                  <a:txBody>
                    <a:bodyPr wrap="none"/>
                    <a:lstStyle/>
                    <a:p>
                      <a:pPr algn="l"/>
                      <a:r>
                        <a:rPr sz="800" b="1">
                          <a:solidFill>
                            <a:srgbClr val="A86F00"/>
                          </a:solidFill>
                          <a:latin typeface="Calibri"/>
                        </a:rPr>
                        <a:t>▶ 23.6%</a:t>
                      </a:r>
                    </a:p>
                  </a:txBody>
                  <a:tcPr marL="85725" marR="38100" marT="19050" marB="19050" anchor="ctr">
                    <a:solidFill>
                      <a:srgbClr val="FFFFFF"/>
                    </a:solidFill>
                  </a:tcPr>
                </a:tc>
                <a:tc>
                  <a:txBody>
                    <a:bodyPr wrap="none"/>
                    <a:lstStyle/>
                    <a:p>
                      <a:pPr algn="l"/>
                      <a:r>
                        <a:rPr sz="800" b="1">
                          <a:solidFill>
                            <a:srgbClr val="A86F00"/>
                          </a:solidFill>
                          <a:latin typeface="Calibri"/>
                        </a:rPr>
                        <a:t>▶ 20.9%</a:t>
                      </a:r>
                    </a:p>
                  </a:txBody>
                  <a:tcPr marL="85725" marR="38100" marT="19050" marB="19050" anchor="ctr">
                    <a:solidFill>
                      <a:srgbClr val="FFFFFF"/>
                    </a:solidFill>
                  </a:tcPr>
                </a:tc>
                <a:tc>
                  <a:txBody>
                    <a:bodyPr wrap="none"/>
                    <a:lstStyle/>
                    <a:p>
                      <a:pPr algn="l"/>
                      <a:r>
                        <a:rPr sz="800" b="1">
                          <a:solidFill>
                            <a:srgbClr val="A86F00"/>
                          </a:solidFill>
                          <a:latin typeface="Calibri"/>
                        </a:rPr>
                        <a:t>▶ 17.3%</a:t>
                      </a:r>
                    </a:p>
                  </a:txBody>
                  <a:tcPr marL="85725" marR="38100" marT="19050" marB="19050" anchor="ctr">
                    <a:solidFill>
                      <a:srgbClr val="FFFFFF"/>
                    </a:solidFill>
                  </a:tcPr>
                </a:tc>
                <a:tc>
                  <a:txBody>
                    <a:bodyPr wrap="none"/>
                    <a:lstStyle/>
                    <a:p>
                      <a:pPr algn="l"/>
                      <a:r>
                        <a:rPr sz="800" b="1">
                          <a:solidFill>
                            <a:srgbClr val="A86F00"/>
                          </a:solidFill>
                          <a:latin typeface="Calibri"/>
                        </a:rPr>
                        <a:t>▶ 15.2%</a:t>
                      </a:r>
                    </a:p>
                  </a:txBody>
                  <a:tcPr marL="85725" marR="38100" marT="19050" marB="19050" anchor="ctr">
                    <a:solidFill>
                      <a:srgbClr val="FFFFFF"/>
                    </a:solidFill>
                  </a:tcPr>
                </a:tc>
                <a:tc>
                  <a:txBody>
                    <a:bodyPr wrap="none"/>
                    <a:lstStyle/>
                    <a:p>
                      <a:pPr algn="l"/>
                      <a:r>
                        <a:rPr sz="800" b="1">
                          <a:solidFill>
                            <a:srgbClr val="A86F00"/>
                          </a:solidFill>
                          <a:latin typeface="Calibri"/>
                        </a:rPr>
                        <a:t>▶ 12.8%</a:t>
                      </a:r>
                    </a:p>
                  </a:txBody>
                  <a:tcPr marL="85725" marR="38100" marT="19050" marB="19050" anchor="ctr">
                    <a:solidFill>
                      <a:srgbClr val="FFFFFF"/>
                    </a:solidFill>
                  </a:tcPr>
                </a:tc>
                <a:tc>
                  <a:txBody>
                    <a:bodyPr wrap="none"/>
                    <a:lstStyle/>
                    <a:p>
                      <a:pPr algn="l"/>
                      <a:r>
                        <a:rPr sz="800" b="1">
                          <a:solidFill>
                            <a:srgbClr val="A86F00"/>
                          </a:solidFill>
                          <a:latin typeface="Calibri"/>
                        </a:rPr>
                        <a:t>▶ 11.2%</a:t>
                      </a:r>
                    </a:p>
                  </a:txBody>
                  <a:tcPr marL="85725" marR="38100" marT="19050" marB="19050" anchor="ctr">
                    <a:solidFill>
                      <a:srgbClr val="FFFFFF"/>
                    </a:solidFill>
                  </a:tcPr>
                </a:tc>
                <a:tc>
                  <a:txBody>
                    <a:bodyPr wrap="none"/>
                    <a:lstStyle/>
                    <a:p>
                      <a:pPr algn="l"/>
                      <a:r>
                        <a:rPr sz="800" b="1">
                          <a:solidFill>
                            <a:srgbClr val="A86F00"/>
                          </a:solidFill>
                          <a:latin typeface="Calibri"/>
                        </a:rPr>
                        <a:t>▶ 9.9%</a:t>
                      </a:r>
                    </a:p>
                  </a:txBody>
                  <a:tcPr marL="85725" marR="38100" marT="19050" marB="19050" anchor="ctr">
                    <a:solidFill>
                      <a:srgbClr val="FFFFFF"/>
                    </a:solidFill>
                  </a:tcPr>
                </a:tc>
                <a:tc>
                  <a:txBody>
                    <a:bodyPr wrap="none"/>
                    <a:lstStyle/>
                    <a:p>
                      <a:pPr algn="l"/>
                      <a:r>
                        <a:rPr sz="800" b="1">
                          <a:solidFill>
                            <a:srgbClr val="A86F00"/>
                          </a:solidFill>
                          <a:latin typeface="Calibri"/>
                        </a:rPr>
                        <a:t>▶ 8.8%</a:t>
                      </a:r>
                    </a:p>
                  </a:txBody>
                  <a:tcPr marL="85725" marR="38100" marT="19050" marB="19050" anchor="ctr">
                    <a:solidFill>
                      <a:srgbClr val="FFFFFF"/>
                    </a:solidFill>
                  </a:tcPr>
                </a:tc>
                <a:tc>
                  <a:txBody>
                    <a:bodyPr wrap="none"/>
                    <a:lstStyle/>
                    <a:p>
                      <a:pPr algn="l"/>
                      <a:r>
                        <a:rPr sz="800" b="1">
                          <a:solidFill>
                            <a:srgbClr val="A86F00"/>
                          </a:solidFill>
                          <a:latin typeface="Calibri"/>
                        </a:rPr>
                        <a:t>▶ 7.8%</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5.9%</a:t>
                      </a:r>
                    </a:p>
                  </a:txBody>
                  <a:tcPr marL="85725" marR="38100" marT="19050" marB="19050" anchor="ctr">
                    <a:solidFill>
                      <a:srgbClr val="FFFFFF"/>
                    </a:solidFill>
                  </a:tcPr>
                </a:tc>
                <a:tc>
                  <a:txBody>
                    <a:bodyPr wrap="none"/>
                    <a:lstStyle/>
                    <a:p>
                      <a:pPr algn="l"/>
                      <a:r>
                        <a:rPr sz="800" b="1">
                          <a:solidFill>
                            <a:srgbClr val="A86F00"/>
                          </a:solidFill>
                          <a:latin typeface="Calibri"/>
                        </a:rPr>
                        <a:t>▶ 5.5%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Autoinjector / Pen</a:t>
                      </a:r>
                    </a:p>
                  </a:txBody>
                  <a:tcPr marL="85725" marR="38100" marT="19050" marB="19050" anchor="ctr">
                    <a:solidFill>
                      <a:srgbClr val="F5F8FA"/>
                    </a:solidFill>
                  </a:tcPr>
                </a:tc>
                <a:tc>
                  <a:txBody>
                    <a:bodyPr wrap="none"/>
                    <a:lstStyle/>
                    <a:p>
                      <a:pPr algn="l"/>
                      <a:r>
                        <a:rPr sz="800" b="1">
                          <a:solidFill>
                            <a:srgbClr val="2E7D32"/>
                          </a:solidFill>
                          <a:latin typeface="Calibri"/>
                        </a:rPr>
                        <a:t>▲ 13.0%</a:t>
                      </a:r>
                    </a:p>
                  </a:txBody>
                  <a:tcPr marL="85725" marR="38100" marT="19050" marB="19050" anchor="ctr">
                    <a:solidFill>
                      <a:srgbClr val="F5F8FA"/>
                    </a:solidFill>
                  </a:tcPr>
                </a:tc>
                <a:tc>
                  <a:txBody>
                    <a:bodyPr wrap="none"/>
                    <a:lstStyle/>
                    <a:p>
                      <a:pPr algn="l"/>
                      <a:r>
                        <a:rPr sz="800" b="1">
                          <a:solidFill>
                            <a:srgbClr val="2E7D32"/>
                          </a:solidFill>
                          <a:latin typeface="Calibri"/>
                        </a:rPr>
                        <a:t>▲ 19.8%</a:t>
                      </a:r>
                    </a:p>
                  </a:txBody>
                  <a:tcPr marL="85725" marR="38100" marT="19050" marB="19050" anchor="ctr">
                    <a:solidFill>
                      <a:srgbClr val="F5F8FA"/>
                    </a:solidFill>
                  </a:tcPr>
                </a:tc>
                <a:tc>
                  <a:txBody>
                    <a:bodyPr wrap="none"/>
                    <a:lstStyle/>
                    <a:p>
                      <a:pPr algn="l"/>
                      <a:r>
                        <a:rPr sz="800" b="1">
                          <a:solidFill>
                            <a:srgbClr val="2E7D32"/>
                          </a:solidFill>
                          <a:latin typeface="Calibri"/>
                        </a:rPr>
                        <a:t>▲ 23.7%</a:t>
                      </a:r>
                    </a:p>
                  </a:txBody>
                  <a:tcPr marL="85725" marR="38100" marT="19050" marB="19050" anchor="ctr">
                    <a:solidFill>
                      <a:srgbClr val="F5F8FA"/>
                    </a:solidFill>
                  </a:tcPr>
                </a:tc>
                <a:tc>
                  <a:txBody>
                    <a:bodyPr wrap="none"/>
                    <a:lstStyle/>
                    <a:p>
                      <a:pPr algn="l"/>
                      <a:r>
                        <a:rPr sz="800" b="1">
                          <a:solidFill>
                            <a:srgbClr val="2E7D32"/>
                          </a:solidFill>
                          <a:latin typeface="Calibri"/>
                        </a:rPr>
                        <a:t>▲ 21.0%</a:t>
                      </a:r>
                    </a:p>
                  </a:txBody>
                  <a:tcPr marL="85725" marR="38100" marT="19050" marB="19050" anchor="ctr">
                    <a:solidFill>
                      <a:srgbClr val="F5F8FA"/>
                    </a:solidFill>
                  </a:tcPr>
                </a:tc>
                <a:tc>
                  <a:txBody>
                    <a:bodyPr wrap="none"/>
                    <a:lstStyle/>
                    <a:p>
                      <a:pPr algn="l"/>
                      <a:r>
                        <a:rPr sz="800" b="1">
                          <a:solidFill>
                            <a:srgbClr val="2E7D32"/>
                          </a:solidFill>
                          <a:latin typeface="Calibri"/>
                        </a:rPr>
                        <a:t>▲ 17.4%</a:t>
                      </a:r>
                    </a:p>
                  </a:txBody>
                  <a:tcPr marL="85725" marR="38100" marT="19050" marB="19050" anchor="ctr">
                    <a:solidFill>
                      <a:srgbClr val="F5F8FA"/>
                    </a:solidFill>
                  </a:tcPr>
                </a:tc>
                <a:tc>
                  <a:txBody>
                    <a:bodyPr wrap="none"/>
                    <a:lstStyle/>
                    <a:p>
                      <a:pPr algn="l"/>
                      <a:r>
                        <a:rPr sz="800" b="1">
                          <a:solidFill>
                            <a:srgbClr val="2E7D32"/>
                          </a:solidFill>
                          <a:latin typeface="Calibri"/>
                        </a:rPr>
                        <a:t>▲ 15.2%</a:t>
                      </a:r>
                    </a:p>
                  </a:txBody>
                  <a:tcPr marL="85725" marR="38100" marT="19050" marB="19050" anchor="ctr">
                    <a:solidFill>
                      <a:srgbClr val="F5F8FA"/>
                    </a:solidFill>
                  </a:tcPr>
                </a:tc>
                <a:tc>
                  <a:txBody>
                    <a:bodyPr wrap="none"/>
                    <a:lstStyle/>
                    <a:p>
                      <a:pPr algn="l"/>
                      <a:r>
                        <a:rPr sz="800" b="1">
                          <a:solidFill>
                            <a:srgbClr val="2E7D32"/>
                          </a:solidFill>
                          <a:latin typeface="Calibri"/>
                        </a:rPr>
                        <a:t>▲ 12.9%</a:t>
                      </a:r>
                    </a:p>
                  </a:txBody>
                  <a:tcPr marL="85725" marR="38100" marT="19050" marB="19050" anchor="ctr">
                    <a:solidFill>
                      <a:srgbClr val="F5F8FA"/>
                    </a:solidFill>
                  </a:tcPr>
                </a:tc>
                <a:tc>
                  <a:txBody>
                    <a:bodyPr wrap="none"/>
                    <a:lstStyle/>
                    <a:p>
                      <a:pPr algn="l"/>
                      <a:r>
                        <a:rPr sz="800" b="1">
                          <a:solidFill>
                            <a:srgbClr val="2E7D32"/>
                          </a:solidFill>
                          <a:latin typeface="Calibri"/>
                        </a:rPr>
                        <a:t>▲ 11.3%</a:t>
                      </a:r>
                    </a:p>
                  </a:txBody>
                  <a:tcPr marL="85725" marR="38100" marT="19050" marB="19050" anchor="ctr">
                    <a:solidFill>
                      <a:srgbClr val="F5F8FA"/>
                    </a:solidFill>
                  </a:tcPr>
                </a:tc>
                <a:tc>
                  <a:txBody>
                    <a:bodyPr wrap="none"/>
                    <a:lstStyle/>
                    <a:p>
                      <a:pPr algn="l"/>
                      <a:r>
                        <a:rPr sz="800" b="1">
                          <a:solidFill>
                            <a:srgbClr val="2E7D32"/>
                          </a:solidFill>
                          <a:latin typeface="Calibri"/>
                        </a:rPr>
                        <a:t>▲ 9.9%</a:t>
                      </a:r>
                    </a:p>
                  </a:txBody>
                  <a:tcPr marL="85725" marR="38100" marT="19050" marB="19050" anchor="ctr">
                    <a:solidFill>
                      <a:srgbClr val="F5F8FA"/>
                    </a:solidFill>
                  </a:tcPr>
                </a:tc>
                <a:tc>
                  <a:txBody>
                    <a:bodyPr wrap="none"/>
                    <a:lstStyle/>
                    <a:p>
                      <a:pPr algn="l"/>
                      <a:r>
                        <a:rPr sz="800" b="1">
                          <a:solidFill>
                            <a:srgbClr val="2E7D32"/>
                          </a:solidFill>
                          <a:latin typeface="Calibri"/>
                        </a:rPr>
                        <a:t>▲ 8.8%</a:t>
                      </a:r>
                    </a:p>
                  </a:txBody>
                  <a:tcPr marL="85725" marR="38100" marT="19050" marB="19050" anchor="ctr">
                    <a:solidFill>
                      <a:srgbClr val="F5F8FA"/>
                    </a:solidFill>
                  </a:tcPr>
                </a:tc>
                <a:tc>
                  <a:txBody>
                    <a:bodyPr wrap="none"/>
                    <a:lstStyle/>
                    <a:p>
                      <a:pPr algn="l"/>
                      <a:r>
                        <a:rPr sz="800" b="1">
                          <a:solidFill>
                            <a:srgbClr val="2E7D32"/>
                          </a:solidFill>
                          <a:latin typeface="Calibri"/>
                        </a:rPr>
                        <a:t>▲ 7.9%</a:t>
                      </a:r>
                    </a:p>
                  </a:txBody>
                  <a:tcPr marL="85725" marR="38100" marT="19050" marB="19050" anchor="ctr">
                    <a:solidFill>
                      <a:srgbClr val="F5F8FA"/>
                    </a:solidFill>
                  </a:tcPr>
                </a:tc>
                <a:tc>
                  <a:txBody>
                    <a:bodyPr wrap="none"/>
                    <a:lstStyle/>
                    <a:p>
                      <a:pPr algn="l"/>
                      <a:r>
                        <a:rPr sz="800" b="1">
                          <a:solidFill>
                            <a:srgbClr val="2E7D32"/>
                          </a:solidFill>
                          <a:latin typeface="Calibri"/>
                        </a:rPr>
                        <a:t>▲ 7.0%</a:t>
                      </a:r>
                    </a:p>
                  </a:txBody>
                  <a:tcPr marL="85725" marR="38100" marT="19050" marB="19050" anchor="ctr">
                    <a:solidFill>
                      <a:srgbClr val="F5F8FA"/>
                    </a:solidFill>
                  </a:tcPr>
                </a:tc>
                <a:tc>
                  <a:txBody>
                    <a:bodyPr wrap="none"/>
                    <a:lstStyle/>
                    <a:p>
                      <a:pPr algn="l"/>
                      <a:r>
                        <a:rPr sz="800" b="1">
                          <a:solidFill>
                            <a:srgbClr val="2E7D32"/>
                          </a:solidFill>
                          <a:latin typeface="Calibri"/>
                        </a:rPr>
                        <a:t>▲ 6.4%</a:t>
                      </a:r>
                    </a:p>
                  </a:txBody>
                  <a:tcPr marL="85725" marR="38100" marT="19050" marB="19050" anchor="ctr">
                    <a:solidFill>
                      <a:srgbClr val="F5F8FA"/>
                    </a:solidFill>
                  </a:tcPr>
                </a:tc>
                <a:tc>
                  <a:txBody>
                    <a:bodyPr wrap="none"/>
                    <a:lstStyle/>
                    <a:p>
                      <a:pPr algn="l"/>
                      <a:r>
                        <a:rPr sz="800" b="1">
                          <a:solidFill>
                            <a:srgbClr val="2E7D32"/>
                          </a:solidFill>
                          <a:latin typeface="Calibri"/>
                        </a:rPr>
                        <a:t>▲ 5.9%</a:t>
                      </a:r>
                    </a:p>
                  </a:txBody>
                  <a:tcPr marL="85725" marR="38100" marT="19050" marB="19050" anchor="ctr">
                    <a:solidFill>
                      <a:srgbClr val="F5F8FA"/>
                    </a:solidFill>
                  </a:tcPr>
                </a:tc>
                <a:tc>
                  <a:txBody>
                    <a:bodyPr wrap="none"/>
                    <a:lstStyle/>
                    <a:p>
                      <a:pPr algn="l"/>
                      <a:r>
                        <a:rPr sz="800" b="1">
                          <a:solidFill>
                            <a:srgbClr val="2E7D32"/>
                          </a:solidFill>
                          <a:latin typeface="Calibri"/>
                        </a:rPr>
                        <a:t>▲ 5.5%</a:t>
                      </a:r>
                    </a:p>
                  </a:txBody>
                  <a:tcPr marL="85725" marR="38100" marT="19050" marB="19050" anchor="ctr">
                    <a:solidFill>
                      <a:srgbClr val="F5F8FA"/>
                    </a:solidFill>
                  </a:tcPr>
                </a:tc>
              </a:tr>
            </a:tbl>
          </a:graphicData>
        </a:graphic>
      </p:graphicFrame>
      <p:sp>
        <p:nvSpPr>
          <p:cNvPr id="18" name="TextBox 17"/>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 Country</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Dosage / Concentration</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Segmental</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Table (Volume &amp; Value)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YoY</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17</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Segmental Analysis Dosage / Concentration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Dosage / Concentration (US$ Mn)</a:t>
            </a:r>
          </a:p>
        </p:txBody>
      </p:sp>
      <p:graphicFrame>
        <p:nvGraphicFramePr>
          <p:cNvPr id="13" name="Chart 12"/>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Dosage / Concentration</a:t>
            </a:r>
          </a:p>
        </p:txBody>
      </p:sp>
      <p:graphicFrame>
        <p:nvGraphicFramePr>
          <p:cNvPr id="16" name="Table 15"/>
          <p:cNvGraphicFramePr>
            <a:graphicFrameLocks noGrp="1"/>
          </p:cNvGraphicFramePr>
          <p:nvPr/>
        </p:nvGraphicFramePr>
        <p:xfrm>
          <a:off x="6267450" y="1143000"/>
          <a:ext cx="5686424" cy="9048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Dosage / Concentration</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20 mg</a:t>
                      </a:r>
                    </a:p>
                  </a:txBody>
                  <a:tcPr marL="85725" marR="38100" marT="19050" marB="19050" anchor="ctr">
                    <a:solidFill>
                      <a:srgbClr val="FFFFFF"/>
                    </a:solidFill>
                  </a:tcPr>
                </a:tc>
                <a:tc>
                  <a:txBody>
                    <a:bodyPr wrap="none"/>
                    <a:lstStyle/>
                    <a:p>
                      <a:pPr algn="l"/>
                      <a:r>
                        <a:rPr sz="900" b="0">
                          <a:solidFill>
                            <a:srgbClr val="2E2E2E"/>
                          </a:solidFill>
                          <a:latin typeface="Calibri"/>
                        </a:rPr>
                        <a:t>27.6%</a:t>
                      </a:r>
                    </a:p>
                  </a:txBody>
                  <a:tcPr marL="85725" marR="38100" marT="19050" marB="19050" anchor="ctr">
                    <a:solidFill>
                      <a:srgbClr val="FFFFFF"/>
                    </a:solidFill>
                  </a:tcPr>
                </a:tc>
                <a:tc>
                  <a:txBody>
                    <a:bodyPr wrap="none"/>
                    <a:lstStyle/>
                    <a:p>
                      <a:pPr algn="l"/>
                      <a:r>
                        <a:rPr sz="900" b="0">
                          <a:solidFill>
                            <a:srgbClr val="2E2E2E"/>
                          </a:solidFill>
                          <a:latin typeface="Calibri"/>
                        </a:rPr>
                        <a:t>23.5%</a:t>
                      </a:r>
                    </a:p>
                  </a:txBody>
                  <a:tcPr marL="85725" marR="38100" marT="19050" marB="19050" anchor="ctr">
                    <a:solidFill>
                      <a:srgbClr val="FFFFFF"/>
                    </a:solidFill>
                  </a:tcPr>
                </a:tc>
                <a:tc>
                  <a:txBody>
                    <a:bodyPr wrap="none"/>
                    <a:lstStyle/>
                    <a:p>
                      <a:pPr algn="l"/>
                      <a:r>
                        <a:rPr sz="900" b="1">
                          <a:solidFill>
                            <a:srgbClr val="E44D3A"/>
                          </a:solidFill>
                          <a:latin typeface="Calibri"/>
                        </a:rPr>
                        <a:t>-402</a:t>
                      </a:r>
                    </a:p>
                  </a:txBody>
                  <a:tcPr marL="85725" marR="38100" marT="19050" marB="19050" anchor="ctr">
                    <a:solidFill>
                      <a:srgbClr val="FFFFFF"/>
                    </a:solidFill>
                  </a:tcPr>
                </a:tc>
                <a:tc>
                  <a:txBody>
                    <a:bodyPr wrap="none"/>
                    <a:lstStyle/>
                    <a:p>
                      <a:pPr algn="l"/>
                      <a:r>
                        <a:rPr sz="900" b="0">
                          <a:solidFill>
                            <a:srgbClr val="2E2E2E"/>
                          </a:solidFill>
                          <a:latin typeface="Calibri"/>
                        </a:rPr>
                        <a:t>7.3%</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40 mg</a:t>
                      </a:r>
                    </a:p>
                  </a:txBody>
                  <a:tcPr marL="85725" marR="38100" marT="19050" marB="19050" anchor="ctr">
                    <a:solidFill>
                      <a:srgbClr val="F5F8FA"/>
                    </a:solidFill>
                  </a:tcPr>
                </a:tc>
                <a:tc>
                  <a:txBody>
                    <a:bodyPr wrap="none"/>
                    <a:lstStyle/>
                    <a:p>
                      <a:pPr algn="l"/>
                      <a:r>
                        <a:rPr sz="900" b="0">
                          <a:solidFill>
                            <a:srgbClr val="2E2E2E"/>
                          </a:solidFill>
                          <a:latin typeface="Calibri"/>
                        </a:rPr>
                        <a:t>31.7%</a:t>
                      </a:r>
                    </a:p>
                  </a:txBody>
                  <a:tcPr marL="85725" marR="38100" marT="19050" marB="19050" anchor="ctr">
                    <a:solidFill>
                      <a:srgbClr val="F5F8FA"/>
                    </a:solidFill>
                  </a:tcPr>
                </a:tc>
                <a:tc>
                  <a:txBody>
                    <a:bodyPr wrap="none"/>
                    <a:lstStyle/>
                    <a:p>
                      <a:pPr algn="l"/>
                      <a:r>
                        <a:rPr sz="900" b="0">
                          <a:solidFill>
                            <a:srgbClr val="2E2E2E"/>
                          </a:solidFill>
                          <a:latin typeface="Calibri"/>
                        </a:rPr>
                        <a:t>29.3%</a:t>
                      </a:r>
                    </a:p>
                  </a:txBody>
                  <a:tcPr marL="85725" marR="38100" marT="19050" marB="19050" anchor="ctr">
                    <a:solidFill>
                      <a:srgbClr val="F5F8FA"/>
                    </a:solidFill>
                  </a:tcPr>
                </a:tc>
                <a:tc>
                  <a:txBody>
                    <a:bodyPr wrap="none"/>
                    <a:lstStyle/>
                    <a:p>
                      <a:pPr algn="l"/>
                      <a:r>
                        <a:rPr sz="900" b="1">
                          <a:solidFill>
                            <a:srgbClr val="E44D3A"/>
                          </a:solidFill>
                          <a:latin typeface="Calibri"/>
                        </a:rPr>
                        <a:t>-238</a:t>
                      </a:r>
                    </a:p>
                  </a:txBody>
                  <a:tcPr marL="85725" marR="38100" marT="19050" marB="19050" anchor="ctr">
                    <a:solidFill>
                      <a:srgbClr val="F5F8FA"/>
                    </a:solidFill>
                  </a:tcPr>
                </a:tc>
                <a:tc>
                  <a:txBody>
                    <a:bodyPr wrap="none"/>
                    <a:lstStyle/>
                    <a:p>
                      <a:pPr algn="l"/>
                      <a:r>
                        <a:rPr sz="900" b="0">
                          <a:solidFill>
                            <a:srgbClr val="2E2E2E"/>
                          </a:solidFill>
                          <a:latin typeface="Calibri"/>
                        </a:rPr>
                        <a:t>8.2%</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80 mg</a:t>
                      </a:r>
                    </a:p>
                  </a:txBody>
                  <a:tcPr marL="85725" marR="38100" marT="19050" marB="19050" anchor="ctr">
                    <a:solidFill>
                      <a:srgbClr val="FFFFFF"/>
                    </a:solidFill>
                  </a:tcPr>
                </a:tc>
                <a:tc>
                  <a:txBody>
                    <a:bodyPr wrap="none"/>
                    <a:lstStyle/>
                    <a:p>
                      <a:pPr algn="l"/>
                      <a:r>
                        <a:rPr sz="900" b="0">
                          <a:solidFill>
                            <a:srgbClr val="2E2E2E"/>
                          </a:solidFill>
                          <a:latin typeface="Calibri"/>
                        </a:rPr>
                        <a:t>19.7%</a:t>
                      </a:r>
                    </a:p>
                  </a:txBody>
                  <a:tcPr marL="85725" marR="38100" marT="19050" marB="19050" anchor="ctr">
                    <a:solidFill>
                      <a:srgbClr val="FFFFFF"/>
                    </a:solidFill>
                  </a:tcPr>
                </a:tc>
                <a:tc>
                  <a:txBody>
                    <a:bodyPr wrap="none"/>
                    <a:lstStyle/>
                    <a:p>
                      <a:pPr algn="l"/>
                      <a:r>
                        <a:rPr sz="900" b="0">
                          <a:solidFill>
                            <a:srgbClr val="2E2E2E"/>
                          </a:solidFill>
                          <a:latin typeface="Calibri"/>
                        </a:rPr>
                        <a:t>20.9%</a:t>
                      </a:r>
                    </a:p>
                  </a:txBody>
                  <a:tcPr marL="85725" marR="38100" marT="19050" marB="19050" anchor="ctr">
                    <a:solidFill>
                      <a:srgbClr val="FFFFFF"/>
                    </a:solidFill>
                  </a:tcPr>
                </a:tc>
                <a:tc>
                  <a:txBody>
                    <a:bodyPr wrap="none"/>
                    <a:lstStyle/>
                    <a:p>
                      <a:pPr algn="l"/>
                      <a:r>
                        <a:rPr sz="900" b="1">
                          <a:solidFill>
                            <a:srgbClr val="008189"/>
                          </a:solidFill>
                          <a:latin typeface="Calibri"/>
                        </a:rPr>
                        <a:t>+116</a:t>
                      </a:r>
                    </a:p>
                  </a:txBody>
                  <a:tcPr marL="85725" marR="38100" marT="19050" marB="19050" anchor="ctr">
                    <a:solidFill>
                      <a:srgbClr val="FFFFFF"/>
                    </a:solidFill>
                  </a:tcPr>
                </a:tc>
                <a:tc>
                  <a:txBody>
                    <a:bodyPr wrap="none"/>
                    <a:lstStyle/>
                    <a:p>
                      <a:pPr algn="l"/>
                      <a:r>
                        <a:rPr sz="900" b="0">
                          <a:solidFill>
                            <a:srgbClr val="2E2E2E"/>
                          </a:solidFill>
                          <a:latin typeface="Calibri"/>
                        </a:rPr>
                        <a:t>9.6%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100 mg/mL</a:t>
                      </a:r>
                    </a:p>
                  </a:txBody>
                  <a:tcPr marL="85725" marR="38100" marT="19050" marB="19050" anchor="ctr">
                    <a:solidFill>
                      <a:srgbClr val="F5F8FA"/>
                    </a:solidFill>
                  </a:tcPr>
                </a:tc>
                <a:tc>
                  <a:txBody>
                    <a:bodyPr wrap="none"/>
                    <a:lstStyle/>
                    <a:p>
                      <a:pPr algn="l"/>
                      <a:r>
                        <a:rPr sz="900" b="0">
                          <a:solidFill>
                            <a:srgbClr val="2E2E2E"/>
                          </a:solidFill>
                          <a:latin typeface="Calibri"/>
                        </a:rPr>
                        <a:t>21.0%</a:t>
                      </a:r>
                    </a:p>
                  </a:txBody>
                  <a:tcPr marL="85725" marR="38100" marT="19050" marB="19050" anchor="ctr">
                    <a:solidFill>
                      <a:srgbClr val="F5F8FA"/>
                    </a:solidFill>
                  </a:tcPr>
                </a:tc>
                <a:tc>
                  <a:txBody>
                    <a:bodyPr wrap="none"/>
                    <a:lstStyle/>
                    <a:p>
                      <a:pPr algn="l"/>
                      <a:r>
                        <a:rPr sz="900" b="0">
                          <a:solidFill>
                            <a:srgbClr val="2E2E2E"/>
                          </a:solidFill>
                          <a:latin typeface="Calibri"/>
                        </a:rPr>
                        <a:t>26.2%</a:t>
                      </a:r>
                    </a:p>
                  </a:txBody>
                  <a:tcPr marL="85725" marR="38100" marT="19050" marB="19050" anchor="ctr">
                    <a:solidFill>
                      <a:srgbClr val="F5F8FA"/>
                    </a:solidFill>
                  </a:tcPr>
                </a:tc>
                <a:tc>
                  <a:txBody>
                    <a:bodyPr wrap="none"/>
                    <a:lstStyle/>
                    <a:p>
                      <a:pPr algn="l"/>
                      <a:r>
                        <a:rPr sz="900" b="1">
                          <a:solidFill>
                            <a:srgbClr val="008189"/>
                          </a:solidFill>
                          <a:latin typeface="Calibri"/>
                        </a:rPr>
                        <a:t>+523</a:t>
                      </a:r>
                    </a:p>
                  </a:txBody>
                  <a:tcPr marL="85725" marR="38100" marT="19050" marB="19050" anchor="ctr">
                    <a:solidFill>
                      <a:srgbClr val="F5F8FA"/>
                    </a:solidFill>
                  </a:tcPr>
                </a:tc>
                <a:tc>
                  <a:txBody>
                    <a:bodyPr wrap="none"/>
                    <a:lstStyle/>
                    <a:p>
                      <a:pPr algn="l"/>
                      <a:r>
                        <a:rPr sz="900" b="0">
                          <a:solidFill>
                            <a:srgbClr val="2E2E2E"/>
                          </a:solidFill>
                          <a:latin typeface="Calibri"/>
                        </a:rPr>
                        <a:t>11.5%</a:t>
                      </a:r>
                    </a:p>
                  </a:txBody>
                  <a:tcPr marL="85725" marR="38100" marT="19050" marB="19050" anchor="ctr">
                    <a:solidFill>
                      <a:srgbClr val="F5F8FA"/>
                    </a:solidFill>
                  </a:tcPr>
                </a:tc>
              </a:tr>
            </a:tbl>
          </a:graphicData>
        </a:graphic>
      </p:graphicFrame>
      <p:sp>
        <p:nvSpPr>
          <p:cNvPr id="17" name="TextBox 16"/>
          <p:cNvSpPr txBox="1"/>
          <p:nvPr/>
        </p:nvSpPr>
        <p:spPr>
          <a:xfrm>
            <a:off x="6248400" y="3581400"/>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8" name="Rounded Rectangle 17"/>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Dosage / Concentration (US$ Mn)</a:t>
            </a:r>
          </a:p>
        </p:txBody>
      </p:sp>
      <p:graphicFrame>
        <p:nvGraphicFramePr>
          <p:cNvPr id="20" name="Chart 19"/>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4"/>
          </a:graphicData>
        </a:graphic>
      </p:graphicFrame>
      <p:sp>
        <p:nvSpPr>
          <p:cNvPr id="21" name="Rounded Rectangle 20"/>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Volume Shares &amp; Variance, By Dosage / Concentration</a:t>
            </a:r>
          </a:p>
        </p:txBody>
      </p:sp>
      <p:graphicFrame>
        <p:nvGraphicFramePr>
          <p:cNvPr id="23" name="Table 22"/>
          <p:cNvGraphicFramePr>
            <a:graphicFrameLocks noGrp="1"/>
          </p:cNvGraphicFramePr>
          <p:nvPr/>
        </p:nvGraphicFramePr>
        <p:xfrm>
          <a:off x="6267450" y="4143375"/>
          <a:ext cx="5686424" cy="9048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Dosage / Concentration</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20 mg</a:t>
                      </a:r>
                    </a:p>
                  </a:txBody>
                  <a:tcPr marL="85725" marR="38100" marT="19050" marB="19050" anchor="ctr">
                    <a:solidFill>
                      <a:srgbClr val="FFFFFF"/>
                    </a:solidFill>
                  </a:tcPr>
                </a:tc>
                <a:tc>
                  <a:txBody>
                    <a:bodyPr wrap="none"/>
                    <a:lstStyle/>
                    <a:p>
                      <a:pPr algn="l"/>
                      <a:r>
                        <a:rPr sz="900" b="0">
                          <a:solidFill>
                            <a:srgbClr val="2E2E2E"/>
                          </a:solidFill>
                          <a:latin typeface="Calibri"/>
                        </a:rPr>
                        <a:t>34.1%</a:t>
                      </a:r>
                    </a:p>
                  </a:txBody>
                  <a:tcPr marL="85725" marR="38100" marT="19050" marB="19050" anchor="ctr">
                    <a:solidFill>
                      <a:srgbClr val="FFFFFF"/>
                    </a:solidFill>
                  </a:tcPr>
                </a:tc>
                <a:tc>
                  <a:txBody>
                    <a:bodyPr wrap="none"/>
                    <a:lstStyle/>
                    <a:p>
                      <a:pPr algn="l"/>
                      <a:r>
                        <a:rPr sz="900" b="0">
                          <a:solidFill>
                            <a:srgbClr val="2E2E2E"/>
                          </a:solidFill>
                          <a:latin typeface="Calibri"/>
                        </a:rPr>
                        <a:t>34.4%</a:t>
                      </a:r>
                    </a:p>
                  </a:txBody>
                  <a:tcPr marL="85725" marR="38100" marT="19050" marB="19050" anchor="ctr">
                    <a:solidFill>
                      <a:srgbClr val="FFFFFF"/>
                    </a:solidFill>
                  </a:tcPr>
                </a:tc>
                <a:tc>
                  <a:txBody>
                    <a:bodyPr wrap="none"/>
                    <a:lstStyle/>
                    <a:p>
                      <a:pPr algn="l"/>
                      <a:r>
                        <a:rPr sz="900" b="1">
                          <a:solidFill>
                            <a:srgbClr val="008189"/>
                          </a:solidFill>
                          <a:latin typeface="Calibri"/>
                        </a:rPr>
                        <a:t>+32</a:t>
                      </a:r>
                    </a:p>
                  </a:txBody>
                  <a:tcPr marL="85725" marR="38100" marT="19050" marB="19050" anchor="ctr">
                    <a:solidFill>
                      <a:srgbClr val="FFFFFF"/>
                    </a:solidFill>
                  </a:tcPr>
                </a:tc>
                <a:tc>
                  <a:txBody>
                    <a:bodyPr wrap="none"/>
                    <a:lstStyle/>
                    <a:p>
                      <a:pPr algn="l"/>
                      <a:r>
                        <a:rPr sz="900" b="0">
                          <a:solidFill>
                            <a:srgbClr val="2E2E2E"/>
                          </a:solidFill>
                          <a:latin typeface="Calibri"/>
                        </a:rPr>
                        <a:t>12.9%</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40 mg</a:t>
                      </a:r>
                    </a:p>
                  </a:txBody>
                  <a:tcPr marL="85725" marR="38100" marT="19050" marB="19050" anchor="ctr">
                    <a:solidFill>
                      <a:srgbClr val="F5F8FA"/>
                    </a:solidFill>
                  </a:tcPr>
                </a:tc>
                <a:tc>
                  <a:txBody>
                    <a:bodyPr wrap="none"/>
                    <a:lstStyle/>
                    <a:p>
                      <a:pPr algn="l"/>
                      <a:r>
                        <a:rPr sz="900" b="0">
                          <a:solidFill>
                            <a:srgbClr val="2E2E2E"/>
                          </a:solidFill>
                          <a:latin typeface="Calibri"/>
                        </a:rPr>
                        <a:t>24.1%</a:t>
                      </a:r>
                    </a:p>
                  </a:txBody>
                  <a:tcPr marL="85725" marR="38100" marT="19050" marB="19050" anchor="ctr">
                    <a:solidFill>
                      <a:srgbClr val="F5F8FA"/>
                    </a:solidFill>
                  </a:tcPr>
                </a:tc>
                <a:tc>
                  <a:txBody>
                    <a:bodyPr wrap="none"/>
                    <a:lstStyle/>
                    <a:p>
                      <a:pPr algn="l"/>
                      <a:r>
                        <a:rPr sz="900" b="0">
                          <a:solidFill>
                            <a:srgbClr val="2E2E2E"/>
                          </a:solidFill>
                          <a:latin typeface="Calibri"/>
                        </a:rPr>
                        <a:t>24.6%</a:t>
                      </a:r>
                    </a:p>
                  </a:txBody>
                  <a:tcPr marL="85725" marR="38100" marT="19050" marB="19050" anchor="ctr">
                    <a:solidFill>
                      <a:srgbClr val="F5F8FA"/>
                    </a:solidFill>
                  </a:tcPr>
                </a:tc>
                <a:tc>
                  <a:txBody>
                    <a:bodyPr wrap="none"/>
                    <a:lstStyle/>
                    <a:p>
                      <a:pPr algn="l"/>
                      <a:r>
                        <a:rPr sz="900" b="1">
                          <a:solidFill>
                            <a:srgbClr val="008189"/>
                          </a:solidFill>
                          <a:latin typeface="Calibri"/>
                        </a:rPr>
                        <a:t>+47</a:t>
                      </a:r>
                    </a:p>
                  </a:txBody>
                  <a:tcPr marL="85725" marR="38100" marT="19050" marB="19050" anchor="ctr">
                    <a:solidFill>
                      <a:srgbClr val="F5F8FA"/>
                    </a:solidFill>
                  </a:tcPr>
                </a:tc>
                <a:tc>
                  <a:txBody>
                    <a:bodyPr wrap="none"/>
                    <a:lstStyle/>
                    <a:p>
                      <a:pPr algn="l"/>
                      <a:r>
                        <a:rPr sz="900" b="0">
                          <a:solidFill>
                            <a:srgbClr val="2E2E2E"/>
                          </a:solidFill>
                          <a:latin typeface="Calibri"/>
                        </a:rPr>
                        <a:t>13.0%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80 mg</a:t>
                      </a:r>
                    </a:p>
                  </a:txBody>
                  <a:tcPr marL="85725" marR="38100" marT="19050" marB="19050" anchor="ctr">
                    <a:solidFill>
                      <a:srgbClr val="FFFFFF"/>
                    </a:solidFill>
                  </a:tcPr>
                </a:tc>
                <a:tc>
                  <a:txBody>
                    <a:bodyPr wrap="none"/>
                    <a:lstStyle/>
                    <a:p>
                      <a:pPr algn="l"/>
                      <a:r>
                        <a:rPr sz="900" b="0">
                          <a:solidFill>
                            <a:srgbClr val="2E2E2E"/>
                          </a:solidFill>
                          <a:latin typeface="Calibri"/>
                        </a:rPr>
                        <a:t>31.7%</a:t>
                      </a:r>
                    </a:p>
                  </a:txBody>
                  <a:tcPr marL="85725" marR="38100" marT="19050" marB="19050" anchor="ctr">
                    <a:solidFill>
                      <a:srgbClr val="FFFFFF"/>
                    </a:solidFill>
                  </a:tcPr>
                </a:tc>
                <a:tc>
                  <a:txBody>
                    <a:bodyPr wrap="none"/>
                    <a:lstStyle/>
                    <a:p>
                      <a:pPr algn="l"/>
                      <a:r>
                        <a:rPr sz="900" b="0">
                          <a:solidFill>
                            <a:srgbClr val="2E2E2E"/>
                          </a:solidFill>
                          <a:latin typeface="Calibri"/>
                        </a:rPr>
                        <a:t>32.1%</a:t>
                      </a:r>
                    </a:p>
                  </a:txBody>
                  <a:tcPr marL="85725" marR="38100" marT="19050" marB="19050" anchor="ctr">
                    <a:solidFill>
                      <a:srgbClr val="FFFFFF"/>
                    </a:solidFill>
                  </a:tcPr>
                </a:tc>
                <a:tc>
                  <a:txBody>
                    <a:bodyPr wrap="none"/>
                    <a:lstStyle/>
                    <a:p>
                      <a:pPr algn="l"/>
                      <a:r>
                        <a:rPr sz="900" b="1">
                          <a:solidFill>
                            <a:srgbClr val="008189"/>
                          </a:solidFill>
                          <a:latin typeface="Calibri"/>
                        </a:rPr>
                        <a:t>+38</a:t>
                      </a:r>
                    </a:p>
                  </a:txBody>
                  <a:tcPr marL="85725" marR="38100" marT="19050" marB="19050" anchor="ctr">
                    <a:solidFill>
                      <a:srgbClr val="FFFFFF"/>
                    </a:solidFill>
                  </a:tcPr>
                </a:tc>
                <a:tc>
                  <a:txBody>
                    <a:bodyPr wrap="none"/>
                    <a:lstStyle/>
                    <a:p>
                      <a:pPr algn="l"/>
                      <a:r>
                        <a:rPr sz="900" b="0">
                          <a:solidFill>
                            <a:srgbClr val="2E2E2E"/>
                          </a:solidFill>
                          <a:latin typeface="Calibri"/>
                        </a:rPr>
                        <a:t>12.9%</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100 mg/mL</a:t>
                      </a:r>
                    </a:p>
                  </a:txBody>
                  <a:tcPr marL="85725" marR="38100" marT="19050" marB="19050" anchor="ctr">
                    <a:solidFill>
                      <a:srgbClr val="F5F8FA"/>
                    </a:solidFill>
                  </a:tcPr>
                </a:tc>
                <a:tc>
                  <a:txBody>
                    <a:bodyPr wrap="none"/>
                    <a:lstStyle/>
                    <a:p>
                      <a:pPr algn="l"/>
                      <a:r>
                        <a:rPr sz="900" b="0">
                          <a:solidFill>
                            <a:srgbClr val="2E2E2E"/>
                          </a:solidFill>
                          <a:latin typeface="Calibri"/>
                        </a:rPr>
                        <a:t>10.1%</a:t>
                      </a:r>
                    </a:p>
                  </a:txBody>
                  <a:tcPr marL="85725" marR="38100" marT="19050" marB="19050" anchor="ctr">
                    <a:solidFill>
                      <a:srgbClr val="F5F8FA"/>
                    </a:solidFill>
                  </a:tcPr>
                </a:tc>
                <a:tc>
                  <a:txBody>
                    <a:bodyPr wrap="none"/>
                    <a:lstStyle/>
                    <a:p>
                      <a:pPr algn="l"/>
                      <a:r>
                        <a:rPr sz="900" b="0">
                          <a:solidFill>
                            <a:srgbClr val="2E2E2E"/>
                          </a:solidFill>
                          <a:latin typeface="Calibri"/>
                        </a:rPr>
                        <a:t>8.9%</a:t>
                      </a:r>
                    </a:p>
                  </a:txBody>
                  <a:tcPr marL="85725" marR="38100" marT="19050" marB="19050" anchor="ctr">
                    <a:solidFill>
                      <a:srgbClr val="F5F8FA"/>
                    </a:solidFill>
                  </a:tcPr>
                </a:tc>
                <a:tc>
                  <a:txBody>
                    <a:bodyPr wrap="none"/>
                    <a:lstStyle/>
                    <a:p>
                      <a:pPr algn="l"/>
                      <a:r>
                        <a:rPr sz="900" b="1">
                          <a:solidFill>
                            <a:srgbClr val="E44D3A"/>
                          </a:solidFill>
                          <a:latin typeface="Calibri"/>
                        </a:rPr>
                        <a:t>-117</a:t>
                      </a:r>
                    </a:p>
                  </a:txBody>
                  <a:tcPr marL="85725" marR="38100" marT="19050" marB="19050" anchor="ctr">
                    <a:solidFill>
                      <a:srgbClr val="F5F8FA"/>
                    </a:solidFill>
                  </a:tcPr>
                </a:tc>
                <a:tc>
                  <a:txBody>
                    <a:bodyPr wrap="none"/>
                    <a:lstStyle/>
                    <a:p>
                      <a:pPr algn="l"/>
                      <a:r>
                        <a:rPr sz="900" b="0">
                          <a:solidFill>
                            <a:srgbClr val="2E2E2E"/>
                          </a:solidFill>
                          <a:latin typeface="Calibri"/>
                        </a:rPr>
                        <a:t>11.4%</a:t>
                      </a:r>
                    </a:p>
                  </a:txBody>
                  <a:tcPr marL="85725" marR="38100" marT="19050" marB="19050" anchor="ctr">
                    <a:solidFill>
                      <a:srgbClr val="F5F8FA"/>
                    </a:solidFill>
                  </a:tcPr>
                </a:tc>
              </a:tr>
            </a:tbl>
          </a:graphicData>
        </a:graphic>
      </p:graphicFrame>
      <p:sp>
        <p:nvSpPr>
          <p:cNvPr id="24" name="TextBox 23"/>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Tables Dosage / Concentration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Volume, By Dosage / Concentration (Mn Doses)</a:t>
            </a:r>
          </a:p>
        </p:txBody>
      </p:sp>
      <p:graphicFrame>
        <p:nvGraphicFramePr>
          <p:cNvPr id="13" name="Table 12"/>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Dosage / Concentration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20 mg</a:t>
                      </a:r>
                    </a:p>
                  </a:txBody>
                  <a:tcPr marL="85725" marR="38100" marT="19050" marB="19050" anchor="ctr">
                    <a:solidFill>
                      <a:srgbClr val="FFFFFF"/>
                    </a:solidFill>
                  </a:tcPr>
                </a:tc>
                <a:tc>
                  <a:txBody>
                    <a:bodyPr wrap="none"/>
                    <a:lstStyle/>
                    <a:p>
                      <a:pPr algn="l"/>
                      <a:r>
                        <a:rPr sz="800" b="0">
                          <a:solidFill>
                            <a:srgbClr val="2E2E2E"/>
                          </a:solidFill>
                          <a:latin typeface="Calibri"/>
                        </a:rPr>
                        <a:t>0.36</a:t>
                      </a:r>
                    </a:p>
                  </a:txBody>
                  <a:tcPr marL="85725" marR="38100" marT="19050" marB="19050" anchor="ctr">
                    <a:solidFill>
                      <a:srgbClr val="FFFFFF"/>
                    </a:solidFill>
                  </a:tcPr>
                </a:tc>
                <a:tc>
                  <a:txBody>
                    <a:bodyPr wrap="none"/>
                    <a:lstStyle/>
                    <a:p>
                      <a:pPr algn="l"/>
                      <a:r>
                        <a:rPr sz="800" b="0">
                          <a:solidFill>
                            <a:srgbClr val="2E2E2E"/>
                          </a:solidFill>
                          <a:latin typeface="Calibri"/>
                        </a:rPr>
                        <a:t>0.42</a:t>
                      </a:r>
                    </a:p>
                  </a:txBody>
                  <a:tcPr marL="85725" marR="38100" marT="19050" marB="19050" anchor="ctr">
                    <a:solidFill>
                      <a:srgbClr val="FFFFFF"/>
                    </a:solidFill>
                  </a:tcPr>
                </a:tc>
                <a:tc>
                  <a:txBody>
                    <a:bodyPr wrap="none"/>
                    <a:lstStyle/>
                    <a:p>
                      <a:pPr algn="l"/>
                      <a:r>
                        <a:rPr sz="800" b="0">
                          <a:solidFill>
                            <a:srgbClr val="2E2E2E"/>
                          </a:solidFill>
                          <a:latin typeface="Calibri"/>
                        </a:rPr>
                        <a:t>0.52</a:t>
                      </a:r>
                    </a:p>
                  </a:txBody>
                  <a:tcPr marL="85725" marR="38100" marT="19050" marB="19050" anchor="ctr">
                    <a:solidFill>
                      <a:srgbClr val="FFFFFF"/>
                    </a:solidFill>
                  </a:tcPr>
                </a:tc>
                <a:tc>
                  <a:txBody>
                    <a:bodyPr wrap="none"/>
                    <a:lstStyle/>
                    <a:p>
                      <a:pPr algn="l"/>
                      <a:r>
                        <a:rPr sz="800" b="0">
                          <a:solidFill>
                            <a:srgbClr val="2E2E2E"/>
                          </a:solidFill>
                          <a:latin typeface="Calibri"/>
                        </a:rPr>
                        <a:t>0.67</a:t>
                      </a:r>
                    </a:p>
                  </a:txBody>
                  <a:tcPr marL="85725" marR="38100" marT="19050" marB="19050" anchor="ctr">
                    <a:solidFill>
                      <a:srgbClr val="FFFFFF"/>
                    </a:solidFill>
                  </a:tcPr>
                </a:tc>
                <a:tc>
                  <a:txBody>
                    <a:bodyPr wrap="none"/>
                    <a:lstStyle/>
                    <a:p>
                      <a:pPr algn="l"/>
                      <a:r>
                        <a:rPr sz="800" b="0">
                          <a:solidFill>
                            <a:srgbClr val="2E2E2E"/>
                          </a:solidFill>
                          <a:latin typeface="Calibri"/>
                        </a:rPr>
                        <a:t>0.84</a:t>
                      </a:r>
                    </a:p>
                  </a:txBody>
                  <a:tcPr marL="85725" marR="38100" marT="19050" marB="19050" anchor="ctr">
                    <a:solidFill>
                      <a:srgbClr val="FFFFFF"/>
                    </a:solidFill>
                  </a:tcPr>
                </a:tc>
                <a:tc>
                  <a:txBody>
                    <a:bodyPr wrap="none"/>
                    <a:lstStyle/>
                    <a:p>
                      <a:pPr algn="l"/>
                      <a:r>
                        <a:rPr sz="800" b="0">
                          <a:solidFill>
                            <a:srgbClr val="2E2E2E"/>
                          </a:solidFill>
                          <a:latin typeface="Calibri"/>
                        </a:rPr>
                        <a:t>1.02</a:t>
                      </a:r>
                    </a:p>
                  </a:txBody>
                  <a:tcPr marL="85725" marR="38100" marT="19050" marB="19050" anchor="ctr">
                    <a:solidFill>
                      <a:srgbClr val="FFFFFF"/>
                    </a:solidFill>
                  </a:tcPr>
                </a:tc>
                <a:tc>
                  <a:txBody>
                    <a:bodyPr wrap="none"/>
                    <a:lstStyle/>
                    <a:p>
                      <a:pPr algn="l"/>
                      <a:r>
                        <a:rPr sz="800" b="0">
                          <a:solidFill>
                            <a:srgbClr val="2E2E2E"/>
                          </a:solidFill>
                          <a:latin typeface="Calibri"/>
                        </a:rPr>
                        <a:t>1.21</a:t>
                      </a:r>
                    </a:p>
                  </a:txBody>
                  <a:tcPr marL="85725" marR="38100" marT="19050" marB="19050" anchor="ctr">
                    <a:solidFill>
                      <a:srgbClr val="FFFFFF"/>
                    </a:solidFill>
                  </a:tcPr>
                </a:tc>
                <a:tc>
                  <a:txBody>
                    <a:bodyPr wrap="none"/>
                    <a:lstStyle/>
                    <a:p>
                      <a:pPr algn="l"/>
                      <a:r>
                        <a:rPr sz="800" b="0">
                          <a:solidFill>
                            <a:srgbClr val="2E2E2E"/>
                          </a:solidFill>
                          <a:latin typeface="Calibri"/>
                        </a:rPr>
                        <a:t>1.42</a:t>
                      </a:r>
                    </a:p>
                  </a:txBody>
                  <a:tcPr marL="85725" marR="38100" marT="19050" marB="19050" anchor="ctr">
                    <a:solidFill>
                      <a:srgbClr val="FFFFFF"/>
                    </a:solidFill>
                  </a:tcPr>
                </a:tc>
                <a:tc>
                  <a:txBody>
                    <a:bodyPr wrap="none"/>
                    <a:lstStyle/>
                    <a:p>
                      <a:pPr algn="l"/>
                      <a:r>
                        <a:rPr sz="800" b="0">
                          <a:solidFill>
                            <a:srgbClr val="2E2E2E"/>
                          </a:solidFill>
                          <a:latin typeface="Calibri"/>
                        </a:rPr>
                        <a:t>1.63</a:t>
                      </a:r>
                    </a:p>
                  </a:txBody>
                  <a:tcPr marL="85725" marR="38100" marT="19050" marB="19050" anchor="ctr">
                    <a:solidFill>
                      <a:srgbClr val="FFFFFF"/>
                    </a:solidFill>
                  </a:tcPr>
                </a:tc>
                <a:tc>
                  <a:txBody>
                    <a:bodyPr wrap="none"/>
                    <a:lstStyle/>
                    <a:p>
                      <a:pPr algn="l"/>
                      <a:r>
                        <a:rPr sz="800" b="0">
                          <a:solidFill>
                            <a:srgbClr val="2E2E2E"/>
                          </a:solidFill>
                          <a:latin typeface="Calibri"/>
                        </a:rPr>
                        <a:t>1.86</a:t>
                      </a:r>
                    </a:p>
                  </a:txBody>
                  <a:tcPr marL="85725" marR="38100" marT="19050" marB="19050" anchor="ctr">
                    <a:solidFill>
                      <a:srgbClr val="FFFFFF"/>
                    </a:solidFill>
                  </a:tcPr>
                </a:tc>
                <a:tc>
                  <a:txBody>
                    <a:bodyPr wrap="none"/>
                    <a:lstStyle/>
                    <a:p>
                      <a:pPr algn="l"/>
                      <a:r>
                        <a:rPr sz="800" b="0">
                          <a:solidFill>
                            <a:srgbClr val="2E2E2E"/>
                          </a:solidFill>
                          <a:latin typeface="Calibri"/>
                        </a:rPr>
                        <a:t>2.09</a:t>
                      </a:r>
                    </a:p>
                  </a:txBody>
                  <a:tcPr marL="85725" marR="38100" marT="19050" marB="19050" anchor="ctr">
                    <a:solidFill>
                      <a:srgbClr val="FFFFFF"/>
                    </a:solidFill>
                  </a:tcPr>
                </a:tc>
                <a:tc>
                  <a:txBody>
                    <a:bodyPr wrap="none"/>
                    <a:lstStyle/>
                    <a:p>
                      <a:pPr algn="l"/>
                      <a:r>
                        <a:rPr sz="800" b="0">
                          <a:solidFill>
                            <a:srgbClr val="2E2E2E"/>
                          </a:solidFill>
                          <a:latin typeface="Calibri"/>
                        </a:rPr>
                        <a:t>2.33</a:t>
                      </a:r>
                    </a:p>
                  </a:txBody>
                  <a:tcPr marL="85725" marR="38100" marT="19050" marB="19050" anchor="ctr">
                    <a:solidFill>
                      <a:srgbClr val="FFFFFF"/>
                    </a:solidFill>
                  </a:tcPr>
                </a:tc>
                <a:tc>
                  <a:txBody>
                    <a:bodyPr wrap="none"/>
                    <a:lstStyle/>
                    <a:p>
                      <a:pPr algn="l"/>
                      <a:r>
                        <a:rPr sz="800" b="0">
                          <a:solidFill>
                            <a:srgbClr val="2E2E2E"/>
                          </a:solidFill>
                          <a:latin typeface="Calibri"/>
                        </a:rPr>
                        <a:t>2.59</a:t>
                      </a:r>
                    </a:p>
                  </a:txBody>
                  <a:tcPr marL="85725" marR="38100" marT="19050" marB="19050" anchor="ctr">
                    <a:solidFill>
                      <a:srgbClr val="FFFFFF"/>
                    </a:solidFill>
                  </a:tcPr>
                </a:tc>
                <a:tc>
                  <a:txBody>
                    <a:bodyPr wrap="none"/>
                    <a:lstStyle/>
                    <a:p>
                      <a:pPr algn="l"/>
                      <a:r>
                        <a:rPr sz="800" b="0">
                          <a:solidFill>
                            <a:srgbClr val="2E2E2E"/>
                          </a:solidFill>
                          <a:latin typeface="Calibri"/>
                        </a:rPr>
                        <a:t>2.85</a:t>
                      </a:r>
                    </a:p>
                  </a:txBody>
                  <a:tcPr marL="85725" marR="38100" marT="19050" marB="19050" anchor="ctr">
                    <a:solidFill>
                      <a:srgbClr val="FFFFFF"/>
                    </a:solidFill>
                  </a:tcPr>
                </a:tc>
                <a:tc>
                  <a:txBody>
                    <a:bodyPr wrap="none"/>
                    <a:lstStyle/>
                    <a:p>
                      <a:pPr algn="l"/>
                      <a:r>
                        <a:rPr sz="800" b="0">
                          <a:solidFill>
                            <a:srgbClr val="2E2E2E"/>
                          </a:solidFill>
                          <a:latin typeface="Calibri"/>
                        </a:rPr>
                        <a:t>3.12</a:t>
                      </a:r>
                    </a:p>
                  </a:txBody>
                  <a:tcPr marL="85725" marR="38100" marT="19050" marB="19050" anchor="ctr">
                    <a:solidFill>
                      <a:srgbClr val="FFFFFF"/>
                    </a:solidFill>
                  </a:tcPr>
                </a:tc>
                <a:tc>
                  <a:txBody>
                    <a:bodyPr wrap="none"/>
                    <a:lstStyle/>
                    <a:p>
                      <a:pPr algn="l"/>
                      <a:r>
                        <a:rPr sz="800" b="0">
                          <a:solidFill>
                            <a:srgbClr val="2E2E2E"/>
                          </a:solidFill>
                          <a:latin typeface="Calibri"/>
                        </a:rPr>
                        <a:t>3.41</a:t>
                      </a:r>
                    </a:p>
                  </a:txBody>
                  <a:tcPr marL="85725" marR="38100" marT="19050" marB="19050" anchor="ctr">
                    <a:solidFill>
                      <a:srgbClr val="FFFFFF"/>
                    </a:solidFill>
                  </a:tcPr>
                </a:tc>
                <a:tc>
                  <a:txBody>
                    <a:bodyPr wrap="none"/>
                    <a:lstStyle/>
                    <a:p>
                      <a:pPr algn="l"/>
                      <a:r>
                        <a:rPr sz="800" b="0">
                          <a:solidFill>
                            <a:srgbClr val="2E2E2E"/>
                          </a:solidFill>
                          <a:latin typeface="Calibri"/>
                        </a:rPr>
                        <a:t>12.9%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40 mg</a:t>
                      </a:r>
                    </a:p>
                  </a:txBody>
                  <a:tcPr marL="85725" marR="38100" marT="19050" marB="19050" anchor="ctr">
                    <a:solidFill>
                      <a:srgbClr val="F5F8FA"/>
                    </a:solidFill>
                  </a:tcPr>
                </a:tc>
                <a:tc>
                  <a:txBody>
                    <a:bodyPr wrap="none"/>
                    <a:lstStyle/>
                    <a:p>
                      <a:pPr algn="l"/>
                      <a:r>
                        <a:rPr sz="800" b="0">
                          <a:solidFill>
                            <a:srgbClr val="2E2E2E"/>
                          </a:solidFill>
                          <a:latin typeface="Calibri"/>
                        </a:rPr>
                        <a:t>0.25</a:t>
                      </a:r>
                    </a:p>
                  </a:txBody>
                  <a:tcPr marL="85725" marR="38100" marT="19050" marB="19050" anchor="ctr">
                    <a:solidFill>
                      <a:srgbClr val="F5F8FA"/>
                    </a:solidFill>
                  </a:tcPr>
                </a:tc>
                <a:tc>
                  <a:txBody>
                    <a:bodyPr wrap="none"/>
                    <a:lstStyle/>
                    <a:p>
                      <a:pPr algn="l"/>
                      <a:r>
                        <a:rPr sz="800" b="0">
                          <a:solidFill>
                            <a:srgbClr val="2E2E2E"/>
                          </a:solidFill>
                          <a:latin typeface="Calibri"/>
                        </a:rPr>
                        <a:t>0.30</a:t>
                      </a:r>
                    </a:p>
                  </a:txBody>
                  <a:tcPr marL="85725" marR="38100" marT="19050" marB="19050" anchor="ctr">
                    <a:solidFill>
                      <a:srgbClr val="F5F8FA"/>
                    </a:solidFill>
                  </a:tcPr>
                </a:tc>
                <a:tc>
                  <a:txBody>
                    <a:bodyPr wrap="none"/>
                    <a:lstStyle/>
                    <a:p>
                      <a:pPr algn="l"/>
                      <a:r>
                        <a:rPr sz="800" b="0">
                          <a:solidFill>
                            <a:srgbClr val="2E2E2E"/>
                          </a:solidFill>
                          <a:latin typeface="Calibri"/>
                        </a:rPr>
                        <a:t>0.37</a:t>
                      </a:r>
                    </a:p>
                  </a:txBody>
                  <a:tcPr marL="85725" marR="38100" marT="19050" marB="19050" anchor="ctr">
                    <a:solidFill>
                      <a:srgbClr val="F5F8FA"/>
                    </a:solidFill>
                  </a:tcPr>
                </a:tc>
                <a:tc>
                  <a:txBody>
                    <a:bodyPr wrap="none"/>
                    <a:lstStyle/>
                    <a:p>
                      <a:pPr algn="l"/>
                      <a:r>
                        <a:rPr sz="800" b="0">
                          <a:solidFill>
                            <a:srgbClr val="2E2E2E"/>
                          </a:solidFill>
                          <a:latin typeface="Calibri"/>
                        </a:rPr>
                        <a:t>0.47</a:t>
                      </a:r>
                    </a:p>
                  </a:txBody>
                  <a:tcPr marL="85725" marR="38100" marT="19050" marB="19050" anchor="ctr">
                    <a:solidFill>
                      <a:srgbClr val="F5F8FA"/>
                    </a:solidFill>
                  </a:tcPr>
                </a:tc>
                <a:tc>
                  <a:txBody>
                    <a:bodyPr wrap="none"/>
                    <a:lstStyle/>
                    <a:p>
                      <a:pPr algn="l"/>
                      <a:r>
                        <a:rPr sz="800" b="0">
                          <a:solidFill>
                            <a:srgbClr val="2E2E2E"/>
                          </a:solidFill>
                          <a:latin typeface="Calibri"/>
                        </a:rPr>
                        <a:t>0.59</a:t>
                      </a:r>
                    </a:p>
                  </a:txBody>
                  <a:tcPr marL="85725" marR="38100" marT="19050" marB="19050" anchor="ctr">
                    <a:solidFill>
                      <a:srgbClr val="F5F8FA"/>
                    </a:solidFill>
                  </a:tcPr>
                </a:tc>
                <a:tc>
                  <a:txBody>
                    <a:bodyPr wrap="none"/>
                    <a:lstStyle/>
                    <a:p>
                      <a:pPr algn="l"/>
                      <a:r>
                        <a:rPr sz="800" b="0">
                          <a:solidFill>
                            <a:srgbClr val="2E2E2E"/>
                          </a:solidFill>
                          <a:latin typeface="Calibri"/>
                        </a:rPr>
                        <a:t>0.72</a:t>
                      </a:r>
                    </a:p>
                  </a:txBody>
                  <a:tcPr marL="85725" marR="38100" marT="19050" marB="19050" anchor="ctr">
                    <a:solidFill>
                      <a:srgbClr val="F5F8FA"/>
                    </a:solidFill>
                  </a:tcPr>
                </a:tc>
                <a:tc>
                  <a:txBody>
                    <a:bodyPr wrap="none"/>
                    <a:lstStyle/>
                    <a:p>
                      <a:pPr algn="l"/>
                      <a:r>
                        <a:rPr sz="800" b="0">
                          <a:solidFill>
                            <a:srgbClr val="2E2E2E"/>
                          </a:solidFill>
                          <a:latin typeface="Calibri"/>
                        </a:rPr>
                        <a:t>0.86</a:t>
                      </a:r>
                    </a:p>
                  </a:txBody>
                  <a:tcPr marL="85725" marR="38100" marT="19050" marB="19050" anchor="ctr">
                    <a:solidFill>
                      <a:srgbClr val="F5F8FA"/>
                    </a:solidFill>
                  </a:tcPr>
                </a:tc>
                <a:tc>
                  <a:txBody>
                    <a:bodyPr wrap="none"/>
                    <a:lstStyle/>
                    <a:p>
                      <a:pPr algn="l"/>
                      <a:r>
                        <a:rPr sz="800" b="0">
                          <a:solidFill>
                            <a:srgbClr val="2E2E2E"/>
                          </a:solidFill>
                          <a:latin typeface="Calibri"/>
                        </a:rPr>
                        <a:t>1.01</a:t>
                      </a:r>
                    </a:p>
                  </a:txBody>
                  <a:tcPr marL="85725" marR="38100" marT="19050" marB="19050" anchor="ctr">
                    <a:solidFill>
                      <a:srgbClr val="F5F8FA"/>
                    </a:solidFill>
                  </a:tcPr>
                </a:tc>
                <a:tc>
                  <a:txBody>
                    <a:bodyPr wrap="none"/>
                    <a:lstStyle/>
                    <a:p>
                      <a:pPr algn="l"/>
                      <a:r>
                        <a:rPr sz="800" b="0">
                          <a:solidFill>
                            <a:srgbClr val="2E2E2E"/>
                          </a:solidFill>
                          <a:latin typeface="Calibri"/>
                        </a:rPr>
                        <a:t>1.16</a:t>
                      </a:r>
                    </a:p>
                  </a:txBody>
                  <a:tcPr marL="85725" marR="38100" marT="19050" marB="19050" anchor="ctr">
                    <a:solidFill>
                      <a:srgbClr val="F5F8FA"/>
                    </a:solidFill>
                  </a:tcPr>
                </a:tc>
                <a:tc>
                  <a:txBody>
                    <a:bodyPr wrap="none"/>
                    <a:lstStyle/>
                    <a:p>
                      <a:pPr algn="l"/>
                      <a:r>
                        <a:rPr sz="800" b="0">
                          <a:solidFill>
                            <a:srgbClr val="2E2E2E"/>
                          </a:solidFill>
                          <a:latin typeface="Calibri"/>
                        </a:rPr>
                        <a:t>1.32</a:t>
                      </a:r>
                    </a:p>
                  </a:txBody>
                  <a:tcPr marL="85725" marR="38100" marT="19050" marB="19050" anchor="ctr">
                    <a:solidFill>
                      <a:srgbClr val="F5F8FA"/>
                    </a:solidFill>
                  </a:tcPr>
                </a:tc>
                <a:tc>
                  <a:txBody>
                    <a:bodyPr wrap="none"/>
                    <a:lstStyle/>
                    <a:p>
                      <a:pPr algn="l"/>
                      <a:r>
                        <a:rPr sz="800" b="0">
                          <a:solidFill>
                            <a:srgbClr val="2E2E2E"/>
                          </a:solidFill>
                          <a:latin typeface="Calibri"/>
                        </a:rPr>
                        <a:t>1.49</a:t>
                      </a:r>
                    </a:p>
                  </a:txBody>
                  <a:tcPr marL="85725" marR="38100" marT="19050" marB="19050" anchor="ctr">
                    <a:solidFill>
                      <a:srgbClr val="F5F8FA"/>
                    </a:solidFill>
                  </a:tcPr>
                </a:tc>
                <a:tc>
                  <a:txBody>
                    <a:bodyPr wrap="none"/>
                    <a:lstStyle/>
                    <a:p>
                      <a:pPr algn="l"/>
                      <a:r>
                        <a:rPr sz="800" b="0">
                          <a:solidFill>
                            <a:srgbClr val="2E2E2E"/>
                          </a:solidFill>
                          <a:latin typeface="Calibri"/>
                        </a:rPr>
                        <a:t>1.66</a:t>
                      </a:r>
                    </a:p>
                  </a:txBody>
                  <a:tcPr marL="85725" marR="38100" marT="19050" marB="19050" anchor="ctr">
                    <a:solidFill>
                      <a:srgbClr val="F5F8FA"/>
                    </a:solidFill>
                  </a:tcPr>
                </a:tc>
                <a:tc>
                  <a:txBody>
                    <a:bodyPr wrap="none"/>
                    <a:lstStyle/>
                    <a:p>
                      <a:pPr algn="l"/>
                      <a:r>
                        <a:rPr sz="800" b="0">
                          <a:solidFill>
                            <a:srgbClr val="2E2E2E"/>
                          </a:solidFill>
                          <a:latin typeface="Calibri"/>
                        </a:rPr>
                        <a:t>1.84</a:t>
                      </a:r>
                    </a:p>
                  </a:txBody>
                  <a:tcPr marL="85725" marR="38100" marT="19050" marB="19050" anchor="ctr">
                    <a:solidFill>
                      <a:srgbClr val="F5F8FA"/>
                    </a:solidFill>
                  </a:tcPr>
                </a:tc>
                <a:tc>
                  <a:txBody>
                    <a:bodyPr wrap="none"/>
                    <a:lstStyle/>
                    <a:p>
                      <a:pPr algn="l"/>
                      <a:r>
                        <a:rPr sz="800" b="0">
                          <a:solidFill>
                            <a:srgbClr val="2E2E2E"/>
                          </a:solidFill>
                          <a:latin typeface="Calibri"/>
                        </a:rPr>
                        <a:t>2.03</a:t>
                      </a:r>
                    </a:p>
                  </a:txBody>
                  <a:tcPr marL="85725" marR="38100" marT="19050" marB="19050" anchor="ctr">
                    <a:solidFill>
                      <a:srgbClr val="F5F8FA"/>
                    </a:solidFill>
                  </a:tcPr>
                </a:tc>
                <a:tc>
                  <a:txBody>
                    <a:bodyPr wrap="none"/>
                    <a:lstStyle/>
                    <a:p>
                      <a:pPr algn="l"/>
                      <a:r>
                        <a:rPr sz="800" b="0">
                          <a:solidFill>
                            <a:srgbClr val="2E2E2E"/>
                          </a:solidFill>
                          <a:latin typeface="Calibri"/>
                        </a:rPr>
                        <a:t>2.23</a:t>
                      </a:r>
                    </a:p>
                  </a:txBody>
                  <a:tcPr marL="85725" marR="38100" marT="19050" marB="19050" anchor="ctr">
                    <a:solidFill>
                      <a:srgbClr val="F5F8FA"/>
                    </a:solidFill>
                  </a:tcPr>
                </a:tc>
                <a:tc>
                  <a:txBody>
                    <a:bodyPr wrap="none"/>
                    <a:lstStyle/>
                    <a:p>
                      <a:pPr algn="l"/>
                      <a:r>
                        <a:rPr sz="800" b="0">
                          <a:solidFill>
                            <a:srgbClr val="2E2E2E"/>
                          </a:solidFill>
                          <a:latin typeface="Calibri"/>
                        </a:rPr>
                        <a:t>2.44</a:t>
                      </a:r>
                    </a:p>
                  </a:txBody>
                  <a:tcPr marL="85725" marR="38100" marT="19050" marB="19050" anchor="ctr">
                    <a:solidFill>
                      <a:srgbClr val="F5F8FA"/>
                    </a:solidFill>
                  </a:tcPr>
                </a:tc>
                <a:tc>
                  <a:txBody>
                    <a:bodyPr wrap="none"/>
                    <a:lstStyle/>
                    <a:p>
                      <a:pPr algn="l"/>
                      <a:r>
                        <a:rPr sz="800" b="0">
                          <a:solidFill>
                            <a:srgbClr val="2E2E2E"/>
                          </a:solidFill>
                          <a:latin typeface="Calibri"/>
                        </a:rPr>
                        <a:t>13.0%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80 mg</a:t>
                      </a:r>
                    </a:p>
                  </a:txBody>
                  <a:tcPr marL="85725" marR="38100" marT="19050" marB="19050" anchor="ctr">
                    <a:solidFill>
                      <a:srgbClr val="FFFFFF"/>
                    </a:solidFill>
                  </a:tcPr>
                </a:tc>
                <a:tc>
                  <a:txBody>
                    <a:bodyPr wrap="none"/>
                    <a:lstStyle/>
                    <a:p>
                      <a:pPr algn="l"/>
                      <a:r>
                        <a:rPr sz="800" b="0">
                          <a:solidFill>
                            <a:srgbClr val="2E2E2E"/>
                          </a:solidFill>
                          <a:latin typeface="Calibri"/>
                        </a:rPr>
                        <a:t>0.34</a:t>
                      </a:r>
                    </a:p>
                  </a:txBody>
                  <a:tcPr marL="85725" marR="38100" marT="19050" marB="19050" anchor="ctr">
                    <a:solidFill>
                      <a:srgbClr val="FFFFFF"/>
                    </a:solidFill>
                  </a:tcPr>
                </a:tc>
                <a:tc>
                  <a:txBody>
                    <a:bodyPr wrap="none"/>
                    <a:lstStyle/>
                    <a:p>
                      <a:pPr algn="l"/>
                      <a:r>
                        <a:rPr sz="800" b="0">
                          <a:solidFill>
                            <a:srgbClr val="2E2E2E"/>
                          </a:solidFill>
                          <a:latin typeface="Calibri"/>
                        </a:rPr>
                        <a:t>0.39</a:t>
                      </a:r>
                    </a:p>
                  </a:txBody>
                  <a:tcPr marL="85725" marR="38100" marT="19050" marB="19050" anchor="ctr">
                    <a:solidFill>
                      <a:srgbClr val="FFFFFF"/>
                    </a:solidFill>
                  </a:tcPr>
                </a:tc>
                <a:tc>
                  <a:txBody>
                    <a:bodyPr wrap="none"/>
                    <a:lstStyle/>
                    <a:p>
                      <a:pPr algn="l"/>
                      <a:r>
                        <a:rPr sz="800" b="0">
                          <a:solidFill>
                            <a:srgbClr val="2E2E2E"/>
                          </a:solidFill>
                          <a:latin typeface="Calibri"/>
                        </a:rPr>
                        <a:t>0.49</a:t>
                      </a:r>
                    </a:p>
                  </a:txBody>
                  <a:tcPr marL="85725" marR="38100" marT="19050" marB="19050" anchor="ctr">
                    <a:solidFill>
                      <a:srgbClr val="FFFFFF"/>
                    </a:solidFill>
                  </a:tcPr>
                </a:tc>
                <a:tc>
                  <a:txBody>
                    <a:bodyPr wrap="none"/>
                    <a:lstStyle/>
                    <a:p>
                      <a:pPr algn="l"/>
                      <a:r>
                        <a:rPr sz="800" b="0">
                          <a:solidFill>
                            <a:srgbClr val="2E2E2E"/>
                          </a:solidFill>
                          <a:latin typeface="Calibri"/>
                        </a:rPr>
                        <a:t>0.62</a:t>
                      </a:r>
                    </a:p>
                  </a:txBody>
                  <a:tcPr marL="85725" marR="38100" marT="19050" marB="19050" anchor="ctr">
                    <a:solidFill>
                      <a:srgbClr val="FFFFFF"/>
                    </a:solidFill>
                  </a:tcPr>
                </a:tc>
                <a:tc>
                  <a:txBody>
                    <a:bodyPr wrap="none"/>
                    <a:lstStyle/>
                    <a:p>
                      <a:pPr algn="l"/>
                      <a:r>
                        <a:rPr sz="800" b="0">
                          <a:solidFill>
                            <a:srgbClr val="2E2E2E"/>
                          </a:solidFill>
                          <a:latin typeface="Calibri"/>
                        </a:rPr>
                        <a:t>0.78</a:t>
                      </a:r>
                    </a:p>
                  </a:txBody>
                  <a:tcPr marL="85725" marR="38100" marT="19050" marB="19050" anchor="ctr">
                    <a:solidFill>
                      <a:srgbClr val="FFFFFF"/>
                    </a:solidFill>
                  </a:tcPr>
                </a:tc>
                <a:tc>
                  <a:txBody>
                    <a:bodyPr wrap="none"/>
                    <a:lstStyle/>
                    <a:p>
                      <a:pPr algn="l"/>
                      <a:r>
                        <a:rPr sz="800" b="0">
                          <a:solidFill>
                            <a:srgbClr val="2E2E2E"/>
                          </a:solidFill>
                          <a:latin typeface="Calibri"/>
                        </a:rPr>
                        <a:t>0.95</a:t>
                      </a:r>
                    </a:p>
                  </a:txBody>
                  <a:tcPr marL="85725" marR="38100" marT="19050" marB="19050" anchor="ctr">
                    <a:solidFill>
                      <a:srgbClr val="FFFFFF"/>
                    </a:solidFill>
                  </a:tcPr>
                </a:tc>
                <a:tc>
                  <a:txBody>
                    <a:bodyPr wrap="none"/>
                    <a:lstStyle/>
                    <a:p>
                      <a:pPr algn="l"/>
                      <a:r>
                        <a:rPr sz="800" b="0">
                          <a:solidFill>
                            <a:srgbClr val="2E2E2E"/>
                          </a:solidFill>
                          <a:latin typeface="Calibri"/>
                        </a:rPr>
                        <a:t>1.13</a:t>
                      </a:r>
                    </a:p>
                  </a:txBody>
                  <a:tcPr marL="85725" marR="38100" marT="19050" marB="19050" anchor="ctr">
                    <a:solidFill>
                      <a:srgbClr val="FFFFFF"/>
                    </a:solidFill>
                  </a:tcPr>
                </a:tc>
                <a:tc>
                  <a:txBody>
                    <a:bodyPr wrap="none"/>
                    <a:lstStyle/>
                    <a:p>
                      <a:pPr algn="l"/>
                      <a:r>
                        <a:rPr sz="800" b="0">
                          <a:solidFill>
                            <a:srgbClr val="2E2E2E"/>
                          </a:solidFill>
                          <a:latin typeface="Calibri"/>
                        </a:rPr>
                        <a:t>1.32</a:t>
                      </a:r>
                    </a:p>
                  </a:txBody>
                  <a:tcPr marL="85725" marR="38100" marT="19050" marB="19050" anchor="ctr">
                    <a:solidFill>
                      <a:srgbClr val="FFFFFF"/>
                    </a:solidFill>
                  </a:tcPr>
                </a:tc>
                <a:tc>
                  <a:txBody>
                    <a:bodyPr wrap="none"/>
                    <a:lstStyle/>
                    <a:p>
                      <a:pPr algn="l"/>
                      <a:r>
                        <a:rPr sz="800" b="0">
                          <a:solidFill>
                            <a:srgbClr val="2E2E2E"/>
                          </a:solidFill>
                          <a:latin typeface="Calibri"/>
                        </a:rPr>
                        <a:t>1.52</a:t>
                      </a:r>
                    </a:p>
                  </a:txBody>
                  <a:tcPr marL="85725" marR="38100" marT="19050" marB="19050" anchor="ctr">
                    <a:solidFill>
                      <a:srgbClr val="FFFFFF"/>
                    </a:solidFill>
                  </a:tcPr>
                </a:tc>
                <a:tc>
                  <a:txBody>
                    <a:bodyPr wrap="none"/>
                    <a:lstStyle/>
                    <a:p>
                      <a:pPr algn="l"/>
                      <a:r>
                        <a:rPr sz="800" b="0">
                          <a:solidFill>
                            <a:srgbClr val="2E2E2E"/>
                          </a:solidFill>
                          <a:latin typeface="Calibri"/>
                        </a:rPr>
                        <a:t>1.73</a:t>
                      </a:r>
                    </a:p>
                  </a:txBody>
                  <a:tcPr marL="85725" marR="38100" marT="19050" marB="19050" anchor="ctr">
                    <a:solidFill>
                      <a:srgbClr val="FFFFFF"/>
                    </a:solidFill>
                  </a:tcPr>
                </a:tc>
                <a:tc>
                  <a:txBody>
                    <a:bodyPr wrap="none"/>
                    <a:lstStyle/>
                    <a:p>
                      <a:pPr algn="l"/>
                      <a:r>
                        <a:rPr sz="800" b="0">
                          <a:solidFill>
                            <a:srgbClr val="2E2E2E"/>
                          </a:solidFill>
                          <a:latin typeface="Calibri"/>
                        </a:rPr>
                        <a:t>1.95</a:t>
                      </a:r>
                    </a:p>
                  </a:txBody>
                  <a:tcPr marL="85725" marR="38100" marT="19050" marB="19050" anchor="ctr">
                    <a:solidFill>
                      <a:srgbClr val="FFFFFF"/>
                    </a:solidFill>
                  </a:tcPr>
                </a:tc>
                <a:tc>
                  <a:txBody>
                    <a:bodyPr wrap="none"/>
                    <a:lstStyle/>
                    <a:p>
                      <a:pPr algn="l"/>
                      <a:r>
                        <a:rPr sz="800" b="0">
                          <a:solidFill>
                            <a:srgbClr val="2E2E2E"/>
                          </a:solidFill>
                          <a:latin typeface="Calibri"/>
                        </a:rPr>
                        <a:t>2.17</a:t>
                      </a:r>
                    </a:p>
                  </a:txBody>
                  <a:tcPr marL="85725" marR="38100" marT="19050" marB="19050" anchor="ctr">
                    <a:solidFill>
                      <a:srgbClr val="FFFFFF"/>
                    </a:solidFill>
                  </a:tcPr>
                </a:tc>
                <a:tc>
                  <a:txBody>
                    <a:bodyPr wrap="none"/>
                    <a:lstStyle/>
                    <a:p>
                      <a:pPr algn="l"/>
                      <a:r>
                        <a:rPr sz="800" b="0">
                          <a:solidFill>
                            <a:srgbClr val="2E2E2E"/>
                          </a:solidFill>
                          <a:latin typeface="Calibri"/>
                        </a:rPr>
                        <a:t>2.41</a:t>
                      </a:r>
                    </a:p>
                  </a:txBody>
                  <a:tcPr marL="85725" marR="38100" marT="19050" marB="19050" anchor="ctr">
                    <a:solidFill>
                      <a:srgbClr val="FFFFFF"/>
                    </a:solidFill>
                  </a:tcPr>
                </a:tc>
                <a:tc>
                  <a:txBody>
                    <a:bodyPr wrap="none"/>
                    <a:lstStyle/>
                    <a:p>
                      <a:pPr algn="l"/>
                      <a:r>
                        <a:rPr sz="800" b="0">
                          <a:solidFill>
                            <a:srgbClr val="2E2E2E"/>
                          </a:solidFill>
                          <a:latin typeface="Calibri"/>
                        </a:rPr>
                        <a:t>2.65</a:t>
                      </a:r>
                    </a:p>
                  </a:txBody>
                  <a:tcPr marL="85725" marR="38100" marT="19050" marB="19050" anchor="ctr">
                    <a:solidFill>
                      <a:srgbClr val="FFFFFF"/>
                    </a:solidFill>
                  </a:tcPr>
                </a:tc>
                <a:tc>
                  <a:txBody>
                    <a:bodyPr wrap="none"/>
                    <a:lstStyle/>
                    <a:p>
                      <a:pPr algn="l"/>
                      <a:r>
                        <a:rPr sz="800" b="0">
                          <a:solidFill>
                            <a:srgbClr val="2E2E2E"/>
                          </a:solidFill>
                          <a:latin typeface="Calibri"/>
                        </a:rPr>
                        <a:t>2.91</a:t>
                      </a:r>
                    </a:p>
                  </a:txBody>
                  <a:tcPr marL="85725" marR="38100" marT="19050" marB="19050" anchor="ctr">
                    <a:solidFill>
                      <a:srgbClr val="FFFFFF"/>
                    </a:solidFill>
                  </a:tcPr>
                </a:tc>
                <a:tc>
                  <a:txBody>
                    <a:bodyPr wrap="none"/>
                    <a:lstStyle/>
                    <a:p>
                      <a:pPr algn="l"/>
                      <a:r>
                        <a:rPr sz="800" b="0">
                          <a:solidFill>
                            <a:srgbClr val="2E2E2E"/>
                          </a:solidFill>
                          <a:latin typeface="Calibri"/>
                        </a:rPr>
                        <a:t>3.18</a:t>
                      </a:r>
                    </a:p>
                  </a:txBody>
                  <a:tcPr marL="85725" marR="38100" marT="19050" marB="19050" anchor="ctr">
                    <a:solidFill>
                      <a:srgbClr val="FFFFFF"/>
                    </a:solidFill>
                  </a:tcPr>
                </a:tc>
                <a:tc>
                  <a:txBody>
                    <a:bodyPr wrap="none"/>
                    <a:lstStyle/>
                    <a:p>
                      <a:pPr algn="l"/>
                      <a:r>
                        <a:rPr sz="800" b="0">
                          <a:solidFill>
                            <a:srgbClr val="2E2E2E"/>
                          </a:solidFill>
                          <a:latin typeface="Calibri"/>
                        </a:rPr>
                        <a:t>12.9%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100 mg/mL</a:t>
                      </a:r>
                    </a:p>
                  </a:txBody>
                  <a:tcPr marL="85725" marR="38100" marT="19050" marB="19050" anchor="ctr">
                    <a:solidFill>
                      <a:srgbClr val="F5F8FA"/>
                    </a:solidFill>
                  </a:tcPr>
                </a:tc>
                <a:tc>
                  <a:txBody>
                    <a:bodyPr wrap="none"/>
                    <a:lstStyle/>
                    <a:p>
                      <a:pPr algn="l"/>
                      <a:r>
                        <a:rPr sz="800" b="0">
                          <a:solidFill>
                            <a:srgbClr val="2E2E2E"/>
                          </a:solidFill>
                          <a:latin typeface="Calibri"/>
                        </a:rPr>
                        <a:t>0.11</a:t>
                      </a:r>
                    </a:p>
                  </a:txBody>
                  <a:tcPr marL="85725" marR="38100" marT="19050" marB="19050" anchor="ctr">
                    <a:solidFill>
                      <a:srgbClr val="F5F8FA"/>
                    </a:solidFill>
                  </a:tcPr>
                </a:tc>
                <a:tc>
                  <a:txBody>
                    <a:bodyPr wrap="none"/>
                    <a:lstStyle/>
                    <a:p>
                      <a:pPr algn="l"/>
                      <a:r>
                        <a:rPr sz="800" b="0">
                          <a:solidFill>
                            <a:srgbClr val="2E2E2E"/>
                          </a:solidFill>
                          <a:latin typeface="Calibri"/>
                        </a:rPr>
                        <a:t>0.13</a:t>
                      </a:r>
                    </a:p>
                  </a:txBody>
                  <a:tcPr marL="85725" marR="38100" marT="19050" marB="19050" anchor="ctr">
                    <a:solidFill>
                      <a:srgbClr val="F5F8FA"/>
                    </a:solidFill>
                  </a:tcPr>
                </a:tc>
                <a:tc>
                  <a:txBody>
                    <a:bodyPr wrap="none"/>
                    <a:lstStyle/>
                    <a:p>
                      <a:pPr algn="l"/>
                      <a:r>
                        <a:rPr sz="800" b="0">
                          <a:solidFill>
                            <a:srgbClr val="2E2E2E"/>
                          </a:solidFill>
                          <a:latin typeface="Calibri"/>
                        </a:rPr>
                        <a:t>0.16</a:t>
                      </a:r>
                    </a:p>
                  </a:txBody>
                  <a:tcPr marL="85725" marR="38100" marT="19050" marB="19050" anchor="ctr">
                    <a:solidFill>
                      <a:srgbClr val="F5F8FA"/>
                    </a:solidFill>
                  </a:tcPr>
                </a:tc>
                <a:tc>
                  <a:txBody>
                    <a:bodyPr wrap="none"/>
                    <a:lstStyle/>
                    <a:p>
                      <a:pPr algn="l"/>
                      <a:r>
                        <a:rPr sz="800" b="0">
                          <a:solidFill>
                            <a:srgbClr val="2E2E2E"/>
                          </a:solidFill>
                          <a:latin typeface="Calibri"/>
                        </a:rPr>
                        <a:t>0.20</a:t>
                      </a:r>
                    </a:p>
                  </a:txBody>
                  <a:tcPr marL="85725" marR="38100" marT="19050" marB="19050" anchor="ctr">
                    <a:solidFill>
                      <a:srgbClr val="F5F8FA"/>
                    </a:solidFill>
                  </a:tcPr>
                </a:tc>
                <a:tc>
                  <a:txBody>
                    <a:bodyPr wrap="none"/>
                    <a:lstStyle/>
                    <a:p>
                      <a:pPr algn="l"/>
                      <a:r>
                        <a:rPr sz="800" b="0">
                          <a:solidFill>
                            <a:srgbClr val="2E2E2E"/>
                          </a:solidFill>
                          <a:latin typeface="Calibri"/>
                        </a:rPr>
                        <a:t>0.25</a:t>
                      </a:r>
                    </a:p>
                  </a:txBody>
                  <a:tcPr marL="85725" marR="38100" marT="19050" marB="19050" anchor="ctr">
                    <a:solidFill>
                      <a:srgbClr val="F5F8FA"/>
                    </a:solidFill>
                  </a:tcPr>
                </a:tc>
                <a:tc>
                  <a:txBody>
                    <a:bodyPr wrap="none"/>
                    <a:lstStyle/>
                    <a:p>
                      <a:pPr algn="l"/>
                      <a:r>
                        <a:rPr sz="800" b="0">
                          <a:solidFill>
                            <a:srgbClr val="2E2E2E"/>
                          </a:solidFill>
                          <a:latin typeface="Calibri"/>
                        </a:rPr>
                        <a:t>0.30</a:t>
                      </a:r>
                    </a:p>
                  </a:txBody>
                  <a:tcPr marL="85725" marR="38100" marT="19050" marB="19050" anchor="ctr">
                    <a:solidFill>
                      <a:srgbClr val="F5F8FA"/>
                    </a:solidFill>
                  </a:tcPr>
                </a:tc>
                <a:tc>
                  <a:txBody>
                    <a:bodyPr wrap="none"/>
                    <a:lstStyle/>
                    <a:p>
                      <a:pPr algn="l"/>
                      <a:r>
                        <a:rPr sz="800" b="0">
                          <a:solidFill>
                            <a:srgbClr val="2E2E2E"/>
                          </a:solidFill>
                          <a:latin typeface="Calibri"/>
                        </a:rPr>
                        <a:t>0.35</a:t>
                      </a:r>
                    </a:p>
                  </a:txBody>
                  <a:tcPr marL="85725" marR="38100" marT="19050" marB="19050" anchor="ctr">
                    <a:solidFill>
                      <a:srgbClr val="F5F8FA"/>
                    </a:solidFill>
                  </a:tcPr>
                </a:tc>
                <a:tc>
                  <a:txBody>
                    <a:bodyPr wrap="none"/>
                    <a:lstStyle/>
                    <a:p>
                      <a:pPr algn="l"/>
                      <a:r>
                        <a:rPr sz="800" b="0">
                          <a:solidFill>
                            <a:srgbClr val="2E2E2E"/>
                          </a:solidFill>
                          <a:latin typeface="Calibri"/>
                        </a:rPr>
                        <a:t>0.41</a:t>
                      </a:r>
                    </a:p>
                  </a:txBody>
                  <a:tcPr marL="85725" marR="38100" marT="19050" marB="19050" anchor="ctr">
                    <a:solidFill>
                      <a:srgbClr val="F5F8FA"/>
                    </a:solidFill>
                  </a:tcPr>
                </a:tc>
                <a:tc>
                  <a:txBody>
                    <a:bodyPr wrap="none"/>
                    <a:lstStyle/>
                    <a:p>
                      <a:pPr algn="l"/>
                      <a:r>
                        <a:rPr sz="800" b="0">
                          <a:solidFill>
                            <a:srgbClr val="2E2E2E"/>
                          </a:solidFill>
                          <a:latin typeface="Calibri"/>
                        </a:rPr>
                        <a:t>0.46</a:t>
                      </a:r>
                    </a:p>
                  </a:txBody>
                  <a:tcPr marL="85725" marR="38100" marT="19050" marB="19050" anchor="ctr">
                    <a:solidFill>
                      <a:srgbClr val="F5F8FA"/>
                    </a:solidFill>
                  </a:tcPr>
                </a:tc>
                <a:tc>
                  <a:txBody>
                    <a:bodyPr wrap="none"/>
                    <a:lstStyle/>
                    <a:p>
                      <a:pPr algn="l"/>
                      <a:r>
                        <a:rPr sz="800" b="0">
                          <a:solidFill>
                            <a:srgbClr val="2E2E2E"/>
                          </a:solidFill>
                          <a:latin typeface="Calibri"/>
                        </a:rPr>
                        <a:t>0.52</a:t>
                      </a:r>
                    </a:p>
                  </a:txBody>
                  <a:tcPr marL="85725" marR="38100" marT="19050" marB="19050" anchor="ctr">
                    <a:solidFill>
                      <a:srgbClr val="F5F8FA"/>
                    </a:solidFill>
                  </a:tcPr>
                </a:tc>
                <a:tc>
                  <a:txBody>
                    <a:bodyPr wrap="none"/>
                    <a:lstStyle/>
                    <a:p>
                      <a:pPr algn="l"/>
                      <a:r>
                        <a:rPr sz="800" b="0">
                          <a:solidFill>
                            <a:srgbClr val="2E2E2E"/>
                          </a:solidFill>
                          <a:latin typeface="Calibri"/>
                        </a:rPr>
                        <a:t>0.58</a:t>
                      </a:r>
                    </a:p>
                  </a:txBody>
                  <a:tcPr marL="85725" marR="38100" marT="19050" marB="19050" anchor="ctr">
                    <a:solidFill>
                      <a:srgbClr val="F5F8FA"/>
                    </a:solidFill>
                  </a:tcPr>
                </a:tc>
                <a:tc>
                  <a:txBody>
                    <a:bodyPr wrap="none"/>
                    <a:lstStyle/>
                    <a:p>
                      <a:pPr algn="l"/>
                      <a:r>
                        <a:rPr sz="800" b="0">
                          <a:solidFill>
                            <a:srgbClr val="2E2E2E"/>
                          </a:solidFill>
                          <a:latin typeface="Calibri"/>
                        </a:rPr>
                        <a:t>0.64</a:t>
                      </a:r>
                    </a:p>
                  </a:txBody>
                  <a:tcPr marL="85725" marR="38100" marT="19050" marB="19050" anchor="ctr">
                    <a:solidFill>
                      <a:srgbClr val="F5F8FA"/>
                    </a:solidFill>
                  </a:tcPr>
                </a:tc>
                <a:tc>
                  <a:txBody>
                    <a:bodyPr wrap="none"/>
                    <a:lstStyle/>
                    <a:p>
                      <a:pPr algn="l"/>
                      <a:r>
                        <a:rPr sz="800" b="0">
                          <a:solidFill>
                            <a:srgbClr val="2E2E2E"/>
                          </a:solidFill>
                          <a:latin typeface="Calibri"/>
                        </a:rPr>
                        <a:t>0.70</a:t>
                      </a:r>
                    </a:p>
                  </a:txBody>
                  <a:tcPr marL="85725" marR="38100" marT="19050" marB="19050" anchor="ctr">
                    <a:solidFill>
                      <a:srgbClr val="F5F8FA"/>
                    </a:solidFill>
                  </a:tcPr>
                </a:tc>
                <a:tc>
                  <a:txBody>
                    <a:bodyPr wrap="none"/>
                    <a:lstStyle/>
                    <a:p>
                      <a:pPr algn="l"/>
                      <a:r>
                        <a:rPr sz="800" b="0">
                          <a:solidFill>
                            <a:srgbClr val="2E2E2E"/>
                          </a:solidFill>
                          <a:latin typeface="Calibri"/>
                        </a:rPr>
                        <a:t>0.76</a:t>
                      </a:r>
                    </a:p>
                  </a:txBody>
                  <a:tcPr marL="85725" marR="38100" marT="19050" marB="19050" anchor="ctr">
                    <a:solidFill>
                      <a:srgbClr val="F5F8FA"/>
                    </a:solidFill>
                  </a:tcPr>
                </a:tc>
                <a:tc>
                  <a:txBody>
                    <a:bodyPr wrap="none"/>
                    <a:lstStyle/>
                    <a:p>
                      <a:pPr algn="l"/>
                      <a:r>
                        <a:rPr sz="800" b="0">
                          <a:solidFill>
                            <a:srgbClr val="2E2E2E"/>
                          </a:solidFill>
                          <a:latin typeface="Calibri"/>
                        </a:rPr>
                        <a:t>0.82</a:t>
                      </a:r>
                    </a:p>
                  </a:txBody>
                  <a:tcPr marL="85725" marR="38100" marT="19050" marB="19050" anchor="ctr">
                    <a:solidFill>
                      <a:srgbClr val="F5F8FA"/>
                    </a:solidFill>
                  </a:tcPr>
                </a:tc>
                <a:tc>
                  <a:txBody>
                    <a:bodyPr wrap="none"/>
                    <a:lstStyle/>
                    <a:p>
                      <a:pPr algn="l"/>
                      <a:r>
                        <a:rPr sz="800" b="0">
                          <a:solidFill>
                            <a:srgbClr val="2E2E2E"/>
                          </a:solidFill>
                          <a:latin typeface="Calibri"/>
                        </a:rPr>
                        <a:t>0.88</a:t>
                      </a:r>
                    </a:p>
                  </a:txBody>
                  <a:tcPr marL="85725" marR="38100" marT="19050" marB="19050" anchor="ctr">
                    <a:solidFill>
                      <a:srgbClr val="F5F8FA"/>
                    </a:solidFill>
                  </a:tcPr>
                </a:tc>
                <a:tc>
                  <a:txBody>
                    <a:bodyPr wrap="none"/>
                    <a:lstStyle/>
                    <a:p>
                      <a:pPr algn="l"/>
                      <a:r>
                        <a:rPr sz="800" b="0">
                          <a:solidFill>
                            <a:srgbClr val="2E2E2E"/>
                          </a:solidFill>
                          <a:latin typeface="Calibri"/>
                        </a:rPr>
                        <a:t>11.4%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1.06</a:t>
                      </a:r>
                    </a:p>
                  </a:txBody>
                  <a:tcPr marL="85725" marR="38100" marT="19050" marB="19050" anchor="ctr">
                    <a:solidFill>
                      <a:srgbClr val="E0E8EF"/>
                    </a:solidFill>
                  </a:tcPr>
                </a:tc>
                <a:tc>
                  <a:txBody>
                    <a:bodyPr wrap="none"/>
                    <a:lstStyle/>
                    <a:p>
                      <a:pPr algn="l"/>
                      <a:r>
                        <a:rPr sz="800" b="1">
                          <a:solidFill>
                            <a:srgbClr val="2E2E2E"/>
                          </a:solidFill>
                          <a:latin typeface="Calibri"/>
                        </a:rPr>
                        <a:t>1.24</a:t>
                      </a:r>
                    </a:p>
                  </a:txBody>
                  <a:tcPr marL="85725" marR="38100" marT="19050" marB="19050" anchor="ctr">
                    <a:solidFill>
                      <a:srgbClr val="E0E8EF"/>
                    </a:solidFill>
                  </a:tcPr>
                </a:tc>
                <a:tc>
                  <a:txBody>
                    <a:bodyPr wrap="none"/>
                    <a:lstStyle/>
                    <a:p>
                      <a:pPr algn="l"/>
                      <a:r>
                        <a:rPr sz="800" b="1">
                          <a:solidFill>
                            <a:srgbClr val="2E2E2E"/>
                          </a:solidFill>
                          <a:latin typeface="Calibri"/>
                        </a:rPr>
                        <a:t>1.54</a:t>
                      </a:r>
                    </a:p>
                  </a:txBody>
                  <a:tcPr marL="85725" marR="38100" marT="19050" marB="19050" anchor="ctr">
                    <a:solidFill>
                      <a:srgbClr val="E0E8EF"/>
                    </a:solidFill>
                  </a:tcPr>
                </a:tc>
                <a:tc>
                  <a:txBody>
                    <a:bodyPr wrap="none"/>
                    <a:lstStyle/>
                    <a:p>
                      <a:pPr algn="l"/>
                      <a:r>
                        <a:rPr sz="800" b="1">
                          <a:solidFill>
                            <a:srgbClr val="2E2E2E"/>
                          </a:solidFill>
                          <a:latin typeface="Calibri"/>
                        </a:rPr>
                        <a:t>1.97</a:t>
                      </a:r>
                    </a:p>
                  </a:txBody>
                  <a:tcPr marL="85725" marR="38100" marT="19050" marB="19050" anchor="ctr">
                    <a:solidFill>
                      <a:srgbClr val="E0E8EF"/>
                    </a:solidFill>
                  </a:tcPr>
                </a:tc>
                <a:tc>
                  <a:txBody>
                    <a:bodyPr wrap="none"/>
                    <a:lstStyle/>
                    <a:p>
                      <a:pPr algn="l"/>
                      <a:r>
                        <a:rPr sz="800" b="1">
                          <a:solidFill>
                            <a:srgbClr val="2E2E2E"/>
                          </a:solidFill>
                          <a:latin typeface="Calibri"/>
                        </a:rPr>
                        <a:t>2.46</a:t>
                      </a:r>
                    </a:p>
                  </a:txBody>
                  <a:tcPr marL="85725" marR="38100" marT="19050" marB="19050" anchor="ctr">
                    <a:solidFill>
                      <a:srgbClr val="E0E8EF"/>
                    </a:solidFill>
                  </a:tcPr>
                </a:tc>
                <a:tc>
                  <a:txBody>
                    <a:bodyPr wrap="none"/>
                    <a:lstStyle/>
                    <a:p>
                      <a:pPr algn="l"/>
                      <a:r>
                        <a:rPr sz="800" b="1">
                          <a:solidFill>
                            <a:srgbClr val="2E2E2E"/>
                          </a:solidFill>
                          <a:latin typeface="Calibri"/>
                        </a:rPr>
                        <a:t>2.98</a:t>
                      </a:r>
                    </a:p>
                  </a:txBody>
                  <a:tcPr marL="85725" marR="38100" marT="19050" marB="19050" anchor="ctr">
                    <a:solidFill>
                      <a:srgbClr val="E0E8EF"/>
                    </a:solidFill>
                  </a:tcPr>
                </a:tc>
                <a:tc>
                  <a:txBody>
                    <a:bodyPr wrap="none"/>
                    <a:lstStyle/>
                    <a:p>
                      <a:pPr algn="l"/>
                      <a:r>
                        <a:rPr sz="800" b="1">
                          <a:solidFill>
                            <a:srgbClr val="2E2E2E"/>
                          </a:solidFill>
                          <a:latin typeface="Calibri"/>
                        </a:rPr>
                        <a:t>3.56</a:t>
                      </a:r>
                    </a:p>
                  </a:txBody>
                  <a:tcPr marL="85725" marR="38100" marT="19050" marB="19050" anchor="ctr">
                    <a:solidFill>
                      <a:srgbClr val="E0E8EF"/>
                    </a:solidFill>
                  </a:tcPr>
                </a:tc>
                <a:tc>
                  <a:txBody>
                    <a:bodyPr wrap="none"/>
                    <a:lstStyle/>
                    <a:p>
                      <a:pPr algn="l"/>
                      <a:r>
                        <a:rPr sz="800" b="1">
                          <a:solidFill>
                            <a:srgbClr val="2E2E2E"/>
                          </a:solidFill>
                          <a:latin typeface="Calibri"/>
                        </a:rPr>
                        <a:t>4.15</a:t>
                      </a:r>
                    </a:p>
                  </a:txBody>
                  <a:tcPr marL="85725" marR="38100" marT="19050" marB="19050" anchor="ctr">
                    <a:solidFill>
                      <a:srgbClr val="E0E8EF"/>
                    </a:solidFill>
                  </a:tcPr>
                </a:tc>
                <a:tc>
                  <a:txBody>
                    <a:bodyPr wrap="none"/>
                    <a:lstStyle/>
                    <a:p>
                      <a:pPr algn="l"/>
                      <a:r>
                        <a:rPr sz="800" b="1">
                          <a:solidFill>
                            <a:srgbClr val="2E2E2E"/>
                          </a:solidFill>
                          <a:latin typeface="Calibri"/>
                        </a:rPr>
                        <a:t>4.77</a:t>
                      </a:r>
                    </a:p>
                  </a:txBody>
                  <a:tcPr marL="85725" marR="38100" marT="19050" marB="19050" anchor="ctr">
                    <a:solidFill>
                      <a:srgbClr val="E0E8EF"/>
                    </a:solidFill>
                  </a:tcPr>
                </a:tc>
                <a:tc>
                  <a:txBody>
                    <a:bodyPr wrap="none"/>
                    <a:lstStyle/>
                    <a:p>
                      <a:pPr algn="l"/>
                      <a:r>
                        <a:rPr sz="800" b="1">
                          <a:solidFill>
                            <a:srgbClr val="2E2E2E"/>
                          </a:solidFill>
                          <a:latin typeface="Calibri"/>
                        </a:rPr>
                        <a:t>5.42</a:t>
                      </a:r>
                    </a:p>
                  </a:txBody>
                  <a:tcPr marL="85725" marR="38100" marT="19050" marB="19050" anchor="ctr">
                    <a:solidFill>
                      <a:srgbClr val="E0E8EF"/>
                    </a:solidFill>
                  </a:tcPr>
                </a:tc>
                <a:tc>
                  <a:txBody>
                    <a:bodyPr wrap="none"/>
                    <a:lstStyle/>
                    <a:p>
                      <a:pPr algn="l"/>
                      <a:r>
                        <a:rPr sz="800" b="1">
                          <a:solidFill>
                            <a:srgbClr val="2E2E2E"/>
                          </a:solidFill>
                          <a:latin typeface="Calibri"/>
                        </a:rPr>
                        <a:t>6.10</a:t>
                      </a:r>
                    </a:p>
                  </a:txBody>
                  <a:tcPr marL="85725" marR="38100" marT="19050" marB="19050" anchor="ctr">
                    <a:solidFill>
                      <a:srgbClr val="E0E8EF"/>
                    </a:solidFill>
                  </a:tcPr>
                </a:tc>
                <a:tc>
                  <a:txBody>
                    <a:bodyPr wrap="none"/>
                    <a:lstStyle/>
                    <a:p>
                      <a:pPr algn="l"/>
                      <a:r>
                        <a:rPr sz="800" b="1">
                          <a:solidFill>
                            <a:srgbClr val="2E2E2E"/>
                          </a:solidFill>
                          <a:latin typeface="Calibri"/>
                        </a:rPr>
                        <a:t>6.81</a:t>
                      </a:r>
                    </a:p>
                  </a:txBody>
                  <a:tcPr marL="85725" marR="38100" marT="19050" marB="19050" anchor="ctr">
                    <a:solidFill>
                      <a:srgbClr val="E0E8EF"/>
                    </a:solidFill>
                  </a:tcPr>
                </a:tc>
                <a:tc>
                  <a:txBody>
                    <a:bodyPr wrap="none"/>
                    <a:lstStyle/>
                    <a:p>
                      <a:pPr algn="l"/>
                      <a:r>
                        <a:rPr sz="800" b="1">
                          <a:solidFill>
                            <a:srgbClr val="2E2E2E"/>
                          </a:solidFill>
                          <a:latin typeface="Calibri"/>
                        </a:rPr>
                        <a:t>7.53</a:t>
                      </a:r>
                    </a:p>
                  </a:txBody>
                  <a:tcPr marL="85725" marR="38100" marT="19050" marB="19050" anchor="ctr">
                    <a:solidFill>
                      <a:srgbClr val="E0E8EF"/>
                    </a:solidFill>
                  </a:tcPr>
                </a:tc>
                <a:tc>
                  <a:txBody>
                    <a:bodyPr wrap="none"/>
                    <a:lstStyle/>
                    <a:p>
                      <a:pPr algn="l"/>
                      <a:r>
                        <a:rPr sz="800" b="1">
                          <a:solidFill>
                            <a:srgbClr val="2E2E2E"/>
                          </a:solidFill>
                          <a:latin typeface="Calibri"/>
                        </a:rPr>
                        <a:t>8.29</a:t>
                      </a:r>
                    </a:p>
                  </a:txBody>
                  <a:tcPr marL="85725" marR="38100" marT="19050" marB="19050" anchor="ctr">
                    <a:solidFill>
                      <a:srgbClr val="E0E8EF"/>
                    </a:solidFill>
                  </a:tcPr>
                </a:tc>
                <a:tc>
                  <a:txBody>
                    <a:bodyPr wrap="none"/>
                    <a:lstStyle/>
                    <a:p>
                      <a:pPr algn="l"/>
                      <a:r>
                        <a:rPr sz="800" b="1">
                          <a:solidFill>
                            <a:srgbClr val="2E2E2E"/>
                          </a:solidFill>
                          <a:latin typeface="Calibri"/>
                        </a:rPr>
                        <a:t>9.08</a:t>
                      </a:r>
                    </a:p>
                  </a:txBody>
                  <a:tcPr marL="85725" marR="38100" marT="19050" marB="19050" anchor="ctr">
                    <a:solidFill>
                      <a:srgbClr val="E0E8EF"/>
                    </a:solidFill>
                  </a:tcPr>
                </a:tc>
                <a:tc>
                  <a:txBody>
                    <a:bodyPr wrap="none"/>
                    <a:lstStyle/>
                    <a:p>
                      <a:pPr algn="l"/>
                      <a:r>
                        <a:rPr sz="800" b="1">
                          <a:solidFill>
                            <a:srgbClr val="2E2E2E"/>
                          </a:solidFill>
                          <a:latin typeface="Calibri"/>
                        </a:rPr>
                        <a:t>9.91</a:t>
                      </a:r>
                    </a:p>
                  </a:txBody>
                  <a:tcPr marL="85725" marR="38100" marT="19050" marB="19050" anchor="ctr">
                    <a:solidFill>
                      <a:srgbClr val="E0E8EF"/>
                    </a:solidFill>
                  </a:tcPr>
                </a:tc>
                <a:tc>
                  <a:txBody>
                    <a:bodyPr wrap="none"/>
                    <a:lstStyle/>
                    <a:p>
                      <a:pPr algn="l"/>
                      <a:r>
                        <a:rPr sz="800" b="1">
                          <a:solidFill>
                            <a:srgbClr val="2E2E2E"/>
                          </a:solidFill>
                          <a:latin typeface="Calibri"/>
                        </a:rPr>
                        <a:t>12.7%</a:t>
                      </a:r>
                    </a:p>
                  </a:txBody>
                  <a:tcPr marL="85725" marR="38100" marT="19050" marB="19050" anchor="ctr">
                    <a:solidFill>
                      <a:srgbClr val="E0E8EF"/>
                    </a:solidFill>
                  </a:tcPr>
                </a:tc>
              </a:tr>
            </a:tbl>
          </a:graphicData>
        </a:graphic>
      </p:graphicFrame>
      <p:sp>
        <p:nvSpPr>
          <p:cNvPr id="14" name="TextBox 13"/>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Value, By Dosage / Concentration (US$ Mn)</a:t>
            </a:r>
          </a:p>
        </p:txBody>
      </p:sp>
      <p:graphicFrame>
        <p:nvGraphicFramePr>
          <p:cNvPr id="17" name="Table 16"/>
          <p:cNvGraphicFramePr>
            <a:graphicFrameLocks noGrp="1"/>
          </p:cNvGraphicFramePr>
          <p:nvPr/>
        </p:nvGraphicFramePr>
        <p:xfrm>
          <a:off x="238125" y="4143375"/>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Dosage / Concentration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20 mg</a:t>
                      </a:r>
                    </a:p>
                  </a:txBody>
                  <a:tcPr marL="85725" marR="38100" marT="19050" marB="19050" anchor="ctr">
                    <a:solidFill>
                      <a:srgbClr val="FFFFFF"/>
                    </a:solidFill>
                  </a:tcPr>
                </a:tc>
                <a:tc>
                  <a:txBody>
                    <a:bodyPr wrap="none"/>
                    <a:lstStyle/>
                    <a:p>
                      <a:pPr algn="l"/>
                      <a:r>
                        <a:rPr sz="800" b="0">
                          <a:solidFill>
                            <a:srgbClr val="2E2E2E"/>
                          </a:solidFill>
                          <a:latin typeface="Calibri"/>
                        </a:rPr>
                        <a:t>180.5</a:t>
                      </a:r>
                    </a:p>
                  </a:txBody>
                  <a:tcPr marL="85725" marR="38100" marT="19050" marB="19050" anchor="ctr">
                    <a:solidFill>
                      <a:srgbClr val="FFFFFF"/>
                    </a:solidFill>
                  </a:tcPr>
                </a:tc>
                <a:tc>
                  <a:txBody>
                    <a:bodyPr wrap="none"/>
                    <a:lstStyle/>
                    <a:p>
                      <a:pPr algn="l"/>
                      <a:r>
                        <a:rPr sz="800" b="0">
                          <a:solidFill>
                            <a:srgbClr val="2E2E2E"/>
                          </a:solidFill>
                          <a:latin typeface="Calibri"/>
                        </a:rPr>
                        <a:t>201.2</a:t>
                      </a:r>
                    </a:p>
                  </a:txBody>
                  <a:tcPr marL="85725" marR="38100" marT="19050" marB="19050" anchor="ctr">
                    <a:solidFill>
                      <a:srgbClr val="FFFFFF"/>
                    </a:solidFill>
                  </a:tcPr>
                </a:tc>
                <a:tc>
                  <a:txBody>
                    <a:bodyPr wrap="none"/>
                    <a:lstStyle/>
                    <a:p>
                      <a:pPr algn="l"/>
                      <a:r>
                        <a:rPr sz="800" b="0">
                          <a:solidFill>
                            <a:srgbClr val="2E2E2E"/>
                          </a:solidFill>
                          <a:latin typeface="Calibri"/>
                        </a:rPr>
                        <a:t>237.9</a:t>
                      </a:r>
                    </a:p>
                  </a:txBody>
                  <a:tcPr marL="85725" marR="38100" marT="19050" marB="19050" anchor="ctr">
                    <a:solidFill>
                      <a:srgbClr val="FFFFFF"/>
                    </a:solidFill>
                  </a:tcPr>
                </a:tc>
                <a:tc>
                  <a:txBody>
                    <a:bodyPr wrap="none"/>
                    <a:lstStyle/>
                    <a:p>
                      <a:pPr algn="l"/>
                      <a:r>
                        <a:rPr sz="800" b="0">
                          <a:solidFill>
                            <a:srgbClr val="2E2E2E"/>
                          </a:solidFill>
                          <a:latin typeface="Calibri"/>
                        </a:rPr>
                        <a:t>290.1</a:t>
                      </a:r>
                    </a:p>
                  </a:txBody>
                  <a:tcPr marL="85725" marR="38100" marT="19050" marB="19050" anchor="ctr">
                    <a:solidFill>
                      <a:srgbClr val="FFFFFF"/>
                    </a:solidFill>
                  </a:tcPr>
                </a:tc>
                <a:tc>
                  <a:txBody>
                    <a:bodyPr wrap="none"/>
                    <a:lstStyle/>
                    <a:p>
                      <a:pPr algn="l"/>
                      <a:r>
                        <a:rPr sz="800" b="0">
                          <a:solidFill>
                            <a:srgbClr val="2E2E2E"/>
                          </a:solidFill>
                          <a:latin typeface="Calibri"/>
                        </a:rPr>
                        <a:t>346.0</a:t>
                      </a:r>
                    </a:p>
                  </a:txBody>
                  <a:tcPr marL="85725" marR="38100" marT="19050" marB="19050" anchor="ctr">
                    <a:solidFill>
                      <a:srgbClr val="FFFFFF"/>
                    </a:solidFill>
                  </a:tcPr>
                </a:tc>
                <a:tc>
                  <a:txBody>
                    <a:bodyPr wrap="none"/>
                    <a:lstStyle/>
                    <a:p>
                      <a:pPr algn="l"/>
                      <a:r>
                        <a:rPr sz="800" b="0">
                          <a:solidFill>
                            <a:srgbClr val="2E2E2E"/>
                          </a:solidFill>
                          <a:latin typeface="Calibri"/>
                        </a:rPr>
                        <a:t>400.3</a:t>
                      </a:r>
                    </a:p>
                  </a:txBody>
                  <a:tcPr marL="85725" marR="38100" marT="19050" marB="19050" anchor="ctr">
                    <a:solidFill>
                      <a:srgbClr val="FFFFFF"/>
                    </a:solidFill>
                  </a:tcPr>
                </a:tc>
                <a:tc>
                  <a:txBody>
                    <a:bodyPr wrap="none"/>
                    <a:lstStyle/>
                    <a:p>
                      <a:pPr algn="l"/>
                      <a:r>
                        <a:rPr sz="800" b="0">
                          <a:solidFill>
                            <a:srgbClr val="2E2E2E"/>
                          </a:solidFill>
                          <a:latin typeface="Calibri"/>
                        </a:rPr>
                        <a:t>454.4</a:t>
                      </a:r>
                    </a:p>
                  </a:txBody>
                  <a:tcPr marL="85725" marR="38100" marT="19050" marB="19050" anchor="ctr">
                    <a:solidFill>
                      <a:srgbClr val="FFFFFF"/>
                    </a:solidFill>
                  </a:tcPr>
                </a:tc>
                <a:tc>
                  <a:txBody>
                    <a:bodyPr wrap="none"/>
                    <a:lstStyle/>
                    <a:p>
                      <a:pPr algn="l"/>
                      <a:r>
                        <a:rPr sz="800" b="0">
                          <a:solidFill>
                            <a:srgbClr val="2E2E2E"/>
                          </a:solidFill>
                          <a:latin typeface="Calibri"/>
                        </a:rPr>
                        <a:t>505.3</a:t>
                      </a:r>
                    </a:p>
                  </a:txBody>
                  <a:tcPr marL="85725" marR="38100" marT="19050" marB="19050" anchor="ctr">
                    <a:solidFill>
                      <a:srgbClr val="FFFFFF"/>
                    </a:solidFill>
                  </a:tcPr>
                </a:tc>
                <a:tc>
                  <a:txBody>
                    <a:bodyPr wrap="none"/>
                    <a:lstStyle/>
                    <a:p>
                      <a:pPr algn="l"/>
                      <a:r>
                        <a:rPr sz="800" b="0">
                          <a:solidFill>
                            <a:srgbClr val="2E2E2E"/>
                          </a:solidFill>
                          <a:latin typeface="Calibri"/>
                        </a:rPr>
                        <a:t>553.7</a:t>
                      </a:r>
                    </a:p>
                  </a:txBody>
                  <a:tcPr marL="85725" marR="38100" marT="19050" marB="19050" anchor="ctr">
                    <a:solidFill>
                      <a:srgbClr val="FFFFFF"/>
                    </a:solidFill>
                  </a:tcPr>
                </a:tc>
                <a:tc>
                  <a:txBody>
                    <a:bodyPr wrap="none"/>
                    <a:lstStyle/>
                    <a:p>
                      <a:pPr algn="l"/>
                      <a:r>
                        <a:rPr sz="800" b="0">
                          <a:solidFill>
                            <a:srgbClr val="2E2E2E"/>
                          </a:solidFill>
                          <a:latin typeface="Calibri"/>
                        </a:rPr>
                        <a:t>599.2</a:t>
                      </a:r>
                    </a:p>
                  </a:txBody>
                  <a:tcPr marL="85725" marR="38100" marT="19050" marB="19050" anchor="ctr">
                    <a:solidFill>
                      <a:srgbClr val="FFFFFF"/>
                    </a:solidFill>
                  </a:tcPr>
                </a:tc>
                <a:tc>
                  <a:txBody>
                    <a:bodyPr wrap="none"/>
                    <a:lstStyle/>
                    <a:p>
                      <a:pPr algn="l"/>
                      <a:r>
                        <a:rPr sz="800" b="0">
                          <a:solidFill>
                            <a:srgbClr val="2E2E2E"/>
                          </a:solidFill>
                          <a:latin typeface="Calibri"/>
                        </a:rPr>
                        <a:t>641.7</a:t>
                      </a:r>
                    </a:p>
                  </a:txBody>
                  <a:tcPr marL="85725" marR="38100" marT="19050" marB="19050" anchor="ctr">
                    <a:solidFill>
                      <a:srgbClr val="FFFFFF"/>
                    </a:solidFill>
                  </a:tcPr>
                </a:tc>
                <a:tc>
                  <a:txBody>
                    <a:bodyPr wrap="none"/>
                    <a:lstStyle/>
                    <a:p>
                      <a:pPr algn="l"/>
                      <a:r>
                        <a:rPr sz="800" b="0">
                          <a:solidFill>
                            <a:srgbClr val="2E2E2E"/>
                          </a:solidFill>
                          <a:latin typeface="Calibri"/>
                        </a:rPr>
                        <a:t>681.3</a:t>
                      </a:r>
                    </a:p>
                  </a:txBody>
                  <a:tcPr marL="85725" marR="38100" marT="19050" marB="19050" anchor="ctr">
                    <a:solidFill>
                      <a:srgbClr val="FFFFFF"/>
                    </a:solidFill>
                  </a:tcPr>
                </a:tc>
                <a:tc>
                  <a:txBody>
                    <a:bodyPr wrap="none"/>
                    <a:lstStyle/>
                    <a:p>
                      <a:pPr algn="l"/>
                      <a:r>
                        <a:rPr sz="800" b="0">
                          <a:solidFill>
                            <a:srgbClr val="2E2E2E"/>
                          </a:solidFill>
                          <a:latin typeface="Calibri"/>
                        </a:rPr>
                        <a:t>717.5</a:t>
                      </a:r>
                    </a:p>
                  </a:txBody>
                  <a:tcPr marL="85725" marR="38100" marT="19050" marB="19050" anchor="ctr">
                    <a:solidFill>
                      <a:srgbClr val="FFFFFF"/>
                    </a:solidFill>
                  </a:tcPr>
                </a:tc>
                <a:tc>
                  <a:txBody>
                    <a:bodyPr wrap="none"/>
                    <a:lstStyle/>
                    <a:p>
                      <a:pPr algn="l"/>
                      <a:r>
                        <a:rPr sz="800" b="0">
                          <a:solidFill>
                            <a:srgbClr val="2E2E2E"/>
                          </a:solidFill>
                          <a:latin typeface="Calibri"/>
                        </a:rPr>
                        <a:t>751.1</a:t>
                      </a:r>
                    </a:p>
                  </a:txBody>
                  <a:tcPr marL="85725" marR="38100" marT="19050" marB="19050" anchor="ctr">
                    <a:solidFill>
                      <a:srgbClr val="FFFFFF"/>
                    </a:solidFill>
                  </a:tcPr>
                </a:tc>
                <a:tc>
                  <a:txBody>
                    <a:bodyPr wrap="none"/>
                    <a:lstStyle/>
                    <a:p>
                      <a:pPr algn="l"/>
                      <a:r>
                        <a:rPr sz="800" b="0">
                          <a:solidFill>
                            <a:srgbClr val="2E2E2E"/>
                          </a:solidFill>
                          <a:latin typeface="Calibri"/>
                        </a:rPr>
                        <a:t>782.2</a:t>
                      </a:r>
                    </a:p>
                  </a:txBody>
                  <a:tcPr marL="85725" marR="38100" marT="19050" marB="19050" anchor="ctr">
                    <a:solidFill>
                      <a:srgbClr val="FFFFFF"/>
                    </a:solidFill>
                  </a:tcPr>
                </a:tc>
                <a:tc>
                  <a:txBody>
                    <a:bodyPr wrap="none"/>
                    <a:lstStyle/>
                    <a:p>
                      <a:pPr algn="l"/>
                      <a:r>
                        <a:rPr sz="800" b="0">
                          <a:solidFill>
                            <a:srgbClr val="2E2E2E"/>
                          </a:solidFill>
                          <a:latin typeface="Calibri"/>
                        </a:rPr>
                        <a:t>811.2</a:t>
                      </a:r>
                    </a:p>
                  </a:txBody>
                  <a:tcPr marL="85725" marR="38100" marT="19050" marB="19050" anchor="ctr">
                    <a:solidFill>
                      <a:srgbClr val="FFFFFF"/>
                    </a:solidFill>
                  </a:tcPr>
                </a:tc>
                <a:tc>
                  <a:txBody>
                    <a:bodyPr wrap="none"/>
                    <a:lstStyle/>
                    <a:p>
                      <a:pPr algn="l"/>
                      <a:r>
                        <a:rPr sz="800" b="0">
                          <a:solidFill>
                            <a:srgbClr val="2E2E2E"/>
                          </a:solidFill>
                          <a:latin typeface="Calibri"/>
                        </a:rPr>
                        <a:t>7.3%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40 mg</a:t>
                      </a:r>
                    </a:p>
                  </a:txBody>
                  <a:tcPr marL="85725" marR="38100" marT="19050" marB="19050" anchor="ctr">
                    <a:solidFill>
                      <a:srgbClr val="F5F8FA"/>
                    </a:solidFill>
                  </a:tcPr>
                </a:tc>
                <a:tc>
                  <a:txBody>
                    <a:bodyPr wrap="none"/>
                    <a:lstStyle/>
                    <a:p>
                      <a:pPr algn="l"/>
                      <a:r>
                        <a:rPr sz="800" b="0">
                          <a:solidFill>
                            <a:srgbClr val="2E2E2E"/>
                          </a:solidFill>
                          <a:latin typeface="Calibri"/>
                        </a:rPr>
                        <a:t>200.5</a:t>
                      </a:r>
                    </a:p>
                  </a:txBody>
                  <a:tcPr marL="85725" marR="38100" marT="19050" marB="19050" anchor="ctr">
                    <a:solidFill>
                      <a:srgbClr val="F5F8FA"/>
                    </a:solidFill>
                  </a:tcPr>
                </a:tc>
                <a:tc>
                  <a:txBody>
                    <a:bodyPr wrap="none"/>
                    <a:lstStyle/>
                    <a:p>
                      <a:pPr algn="l"/>
                      <a:r>
                        <a:rPr sz="800" b="0">
                          <a:solidFill>
                            <a:srgbClr val="2E2E2E"/>
                          </a:solidFill>
                          <a:latin typeface="Calibri"/>
                        </a:rPr>
                        <a:t>225.1</a:t>
                      </a:r>
                    </a:p>
                  </a:txBody>
                  <a:tcPr marL="85725" marR="38100" marT="19050" marB="19050" anchor="ctr">
                    <a:solidFill>
                      <a:srgbClr val="F5F8FA"/>
                    </a:solidFill>
                  </a:tcPr>
                </a:tc>
                <a:tc>
                  <a:txBody>
                    <a:bodyPr wrap="none"/>
                    <a:lstStyle/>
                    <a:p>
                      <a:pPr algn="l"/>
                      <a:r>
                        <a:rPr sz="800" b="0">
                          <a:solidFill>
                            <a:srgbClr val="2E2E2E"/>
                          </a:solidFill>
                          <a:latin typeface="Calibri"/>
                        </a:rPr>
                        <a:t>267.9</a:t>
                      </a:r>
                    </a:p>
                  </a:txBody>
                  <a:tcPr marL="85725" marR="38100" marT="19050" marB="19050" anchor="ctr">
                    <a:solidFill>
                      <a:srgbClr val="F5F8FA"/>
                    </a:solidFill>
                  </a:tcPr>
                </a:tc>
                <a:tc>
                  <a:txBody>
                    <a:bodyPr wrap="none"/>
                    <a:lstStyle/>
                    <a:p>
                      <a:pPr algn="l"/>
                      <a:r>
                        <a:rPr sz="800" b="0">
                          <a:solidFill>
                            <a:srgbClr val="2E2E2E"/>
                          </a:solidFill>
                          <a:latin typeface="Calibri"/>
                        </a:rPr>
                        <a:t>329.0</a:t>
                      </a:r>
                    </a:p>
                  </a:txBody>
                  <a:tcPr marL="85725" marR="38100" marT="19050" marB="19050" anchor="ctr">
                    <a:solidFill>
                      <a:srgbClr val="F5F8FA"/>
                    </a:solidFill>
                  </a:tcPr>
                </a:tc>
                <a:tc>
                  <a:txBody>
                    <a:bodyPr wrap="none"/>
                    <a:lstStyle/>
                    <a:p>
                      <a:pPr algn="l"/>
                      <a:r>
                        <a:rPr sz="800" b="0">
                          <a:solidFill>
                            <a:srgbClr val="2E2E2E"/>
                          </a:solidFill>
                          <a:latin typeface="Calibri"/>
                        </a:rPr>
                        <a:t>395.4</a:t>
                      </a:r>
                    </a:p>
                  </a:txBody>
                  <a:tcPr marL="85725" marR="38100" marT="19050" marB="19050" anchor="ctr">
                    <a:solidFill>
                      <a:srgbClr val="F5F8FA"/>
                    </a:solidFill>
                  </a:tcPr>
                </a:tc>
                <a:tc>
                  <a:txBody>
                    <a:bodyPr wrap="none"/>
                    <a:lstStyle/>
                    <a:p>
                      <a:pPr algn="l"/>
                      <a:r>
                        <a:rPr sz="800" b="0">
                          <a:solidFill>
                            <a:srgbClr val="2E2E2E"/>
                          </a:solidFill>
                          <a:latin typeface="Calibri"/>
                        </a:rPr>
                        <a:t>460.7</a:t>
                      </a:r>
                    </a:p>
                  </a:txBody>
                  <a:tcPr marL="85725" marR="38100" marT="19050" marB="19050" anchor="ctr">
                    <a:solidFill>
                      <a:srgbClr val="F5F8FA"/>
                    </a:solidFill>
                  </a:tcPr>
                </a:tc>
                <a:tc>
                  <a:txBody>
                    <a:bodyPr wrap="none"/>
                    <a:lstStyle/>
                    <a:p>
                      <a:pPr algn="l"/>
                      <a:r>
                        <a:rPr sz="800" b="0">
                          <a:solidFill>
                            <a:srgbClr val="2E2E2E"/>
                          </a:solidFill>
                          <a:latin typeface="Calibri"/>
                        </a:rPr>
                        <a:t>527.0</a:t>
                      </a:r>
                    </a:p>
                  </a:txBody>
                  <a:tcPr marL="85725" marR="38100" marT="19050" marB="19050" anchor="ctr">
                    <a:solidFill>
                      <a:srgbClr val="F5F8FA"/>
                    </a:solidFill>
                  </a:tcPr>
                </a:tc>
                <a:tc>
                  <a:txBody>
                    <a:bodyPr wrap="none"/>
                    <a:lstStyle/>
                    <a:p>
                      <a:pPr algn="l"/>
                      <a:r>
                        <a:rPr sz="800" b="0">
                          <a:solidFill>
                            <a:srgbClr val="2E2E2E"/>
                          </a:solidFill>
                          <a:latin typeface="Calibri"/>
                        </a:rPr>
                        <a:t>590.5</a:t>
                      </a:r>
                    </a:p>
                  </a:txBody>
                  <a:tcPr marL="85725" marR="38100" marT="19050" marB="19050" anchor="ctr">
                    <a:solidFill>
                      <a:srgbClr val="F5F8FA"/>
                    </a:solidFill>
                  </a:tcPr>
                </a:tc>
                <a:tc>
                  <a:txBody>
                    <a:bodyPr wrap="none"/>
                    <a:lstStyle/>
                    <a:p>
                      <a:pPr algn="l"/>
                      <a:r>
                        <a:rPr sz="800" b="0">
                          <a:solidFill>
                            <a:srgbClr val="2E2E2E"/>
                          </a:solidFill>
                          <a:latin typeface="Calibri"/>
                        </a:rPr>
                        <a:t>652.0</a:t>
                      </a:r>
                    </a:p>
                  </a:txBody>
                  <a:tcPr marL="85725" marR="38100" marT="19050" marB="19050" anchor="ctr">
                    <a:solidFill>
                      <a:srgbClr val="F5F8FA"/>
                    </a:solidFill>
                  </a:tcPr>
                </a:tc>
                <a:tc>
                  <a:txBody>
                    <a:bodyPr wrap="none"/>
                    <a:lstStyle/>
                    <a:p>
                      <a:pPr algn="l"/>
                      <a:r>
                        <a:rPr sz="800" b="0">
                          <a:solidFill>
                            <a:srgbClr val="2E2E2E"/>
                          </a:solidFill>
                          <a:latin typeface="Calibri"/>
                        </a:rPr>
                        <a:t>711.2</a:t>
                      </a:r>
                    </a:p>
                  </a:txBody>
                  <a:tcPr marL="85725" marR="38100" marT="19050" marB="19050" anchor="ctr">
                    <a:solidFill>
                      <a:srgbClr val="F5F8FA"/>
                    </a:solidFill>
                  </a:tcPr>
                </a:tc>
                <a:tc>
                  <a:txBody>
                    <a:bodyPr wrap="none"/>
                    <a:lstStyle/>
                    <a:p>
                      <a:pPr algn="l"/>
                      <a:r>
                        <a:rPr sz="800" b="0">
                          <a:solidFill>
                            <a:srgbClr val="2E2E2E"/>
                          </a:solidFill>
                          <a:latin typeface="Calibri"/>
                        </a:rPr>
                        <a:t>767.7</a:t>
                      </a:r>
                    </a:p>
                  </a:txBody>
                  <a:tcPr marL="85725" marR="38100" marT="19050" marB="19050" anchor="ctr">
                    <a:solidFill>
                      <a:srgbClr val="F5F8FA"/>
                    </a:solidFill>
                  </a:tcPr>
                </a:tc>
                <a:tc>
                  <a:txBody>
                    <a:bodyPr wrap="none"/>
                    <a:lstStyle/>
                    <a:p>
                      <a:pPr algn="l"/>
                      <a:r>
                        <a:rPr sz="800" b="0">
                          <a:solidFill>
                            <a:srgbClr val="2E2E2E"/>
                          </a:solidFill>
                          <a:latin typeface="Calibri"/>
                        </a:rPr>
                        <a:t>821.5</a:t>
                      </a:r>
                    </a:p>
                  </a:txBody>
                  <a:tcPr marL="85725" marR="38100" marT="19050" marB="19050" anchor="ctr">
                    <a:solidFill>
                      <a:srgbClr val="F5F8FA"/>
                    </a:solidFill>
                  </a:tcPr>
                </a:tc>
                <a:tc>
                  <a:txBody>
                    <a:bodyPr wrap="none"/>
                    <a:lstStyle/>
                    <a:p>
                      <a:pPr algn="l"/>
                      <a:r>
                        <a:rPr sz="800" b="0">
                          <a:solidFill>
                            <a:srgbClr val="2E2E2E"/>
                          </a:solidFill>
                          <a:latin typeface="Calibri"/>
                        </a:rPr>
                        <a:t>872.3</a:t>
                      </a:r>
                    </a:p>
                  </a:txBody>
                  <a:tcPr marL="85725" marR="38100" marT="19050" marB="19050" anchor="ctr">
                    <a:solidFill>
                      <a:srgbClr val="F5F8FA"/>
                    </a:solidFill>
                  </a:tcPr>
                </a:tc>
                <a:tc>
                  <a:txBody>
                    <a:bodyPr wrap="none"/>
                    <a:lstStyle/>
                    <a:p>
                      <a:pPr algn="l"/>
                      <a:r>
                        <a:rPr sz="800" b="0">
                          <a:solidFill>
                            <a:srgbClr val="2E2E2E"/>
                          </a:solidFill>
                          <a:latin typeface="Calibri"/>
                        </a:rPr>
                        <a:t>920.7</a:t>
                      </a:r>
                    </a:p>
                  </a:txBody>
                  <a:tcPr marL="85725" marR="38100" marT="19050" marB="19050" anchor="ctr">
                    <a:solidFill>
                      <a:srgbClr val="F5F8FA"/>
                    </a:solidFill>
                  </a:tcPr>
                </a:tc>
                <a:tc>
                  <a:txBody>
                    <a:bodyPr wrap="none"/>
                    <a:lstStyle/>
                    <a:p>
                      <a:pPr algn="l"/>
                      <a:r>
                        <a:rPr sz="800" b="0">
                          <a:solidFill>
                            <a:srgbClr val="2E2E2E"/>
                          </a:solidFill>
                          <a:latin typeface="Calibri"/>
                        </a:rPr>
                        <a:t>966.9</a:t>
                      </a:r>
                    </a:p>
                  </a:txBody>
                  <a:tcPr marL="85725" marR="38100" marT="19050" marB="19050" anchor="ctr">
                    <a:solidFill>
                      <a:srgbClr val="F5F8FA"/>
                    </a:solidFill>
                  </a:tcPr>
                </a:tc>
                <a:tc>
                  <a:txBody>
                    <a:bodyPr wrap="none"/>
                    <a:lstStyle/>
                    <a:p>
                      <a:pPr algn="l"/>
                      <a:r>
                        <a:rPr sz="800" b="0">
                          <a:solidFill>
                            <a:srgbClr val="2E2E2E"/>
                          </a:solidFill>
                          <a:latin typeface="Calibri"/>
                        </a:rPr>
                        <a:t>1,011</a:t>
                      </a:r>
                    </a:p>
                  </a:txBody>
                  <a:tcPr marL="85725" marR="38100" marT="19050" marB="19050" anchor="ctr">
                    <a:solidFill>
                      <a:srgbClr val="F5F8FA"/>
                    </a:solidFill>
                  </a:tcPr>
                </a:tc>
                <a:tc>
                  <a:txBody>
                    <a:bodyPr wrap="none"/>
                    <a:lstStyle/>
                    <a:p>
                      <a:pPr algn="l"/>
                      <a:r>
                        <a:rPr sz="800" b="0">
                          <a:solidFill>
                            <a:srgbClr val="2E2E2E"/>
                          </a:solidFill>
                          <a:latin typeface="Calibri"/>
                        </a:rPr>
                        <a:t>8.2%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80 mg</a:t>
                      </a:r>
                    </a:p>
                  </a:txBody>
                  <a:tcPr marL="85725" marR="38100" marT="19050" marB="19050" anchor="ctr">
                    <a:solidFill>
                      <a:srgbClr val="FFFFFF"/>
                    </a:solidFill>
                  </a:tcPr>
                </a:tc>
                <a:tc>
                  <a:txBody>
                    <a:bodyPr wrap="none"/>
                    <a:lstStyle/>
                    <a:p>
                      <a:pPr algn="l"/>
                      <a:r>
                        <a:rPr sz="800" b="0">
                          <a:solidFill>
                            <a:srgbClr val="2E2E2E"/>
                          </a:solidFill>
                          <a:latin typeface="Calibri"/>
                        </a:rPr>
                        <a:t>117.1</a:t>
                      </a:r>
                    </a:p>
                  </a:txBody>
                  <a:tcPr marL="85725" marR="38100" marT="19050" marB="19050" anchor="ctr">
                    <a:solidFill>
                      <a:srgbClr val="FFFFFF"/>
                    </a:solidFill>
                  </a:tcPr>
                </a:tc>
                <a:tc>
                  <a:txBody>
                    <a:bodyPr wrap="none"/>
                    <a:lstStyle/>
                    <a:p>
                      <a:pPr algn="l"/>
                      <a:r>
                        <a:rPr sz="800" b="0">
                          <a:solidFill>
                            <a:srgbClr val="2E2E2E"/>
                          </a:solidFill>
                          <a:latin typeface="Calibri"/>
                        </a:rPr>
                        <a:t>133.1</a:t>
                      </a:r>
                    </a:p>
                  </a:txBody>
                  <a:tcPr marL="85725" marR="38100" marT="19050" marB="19050" anchor="ctr">
                    <a:solidFill>
                      <a:srgbClr val="FFFFFF"/>
                    </a:solidFill>
                  </a:tcPr>
                </a:tc>
                <a:tc>
                  <a:txBody>
                    <a:bodyPr wrap="none"/>
                    <a:lstStyle/>
                    <a:p>
                      <a:pPr algn="l"/>
                      <a:r>
                        <a:rPr sz="800" b="0">
                          <a:solidFill>
                            <a:srgbClr val="2E2E2E"/>
                          </a:solidFill>
                          <a:latin typeface="Calibri"/>
                        </a:rPr>
                        <a:t>160.4</a:t>
                      </a:r>
                    </a:p>
                  </a:txBody>
                  <a:tcPr marL="85725" marR="38100" marT="19050" marB="19050" anchor="ctr">
                    <a:solidFill>
                      <a:srgbClr val="FFFFFF"/>
                    </a:solidFill>
                  </a:tcPr>
                </a:tc>
                <a:tc>
                  <a:txBody>
                    <a:bodyPr wrap="none"/>
                    <a:lstStyle/>
                    <a:p>
                      <a:pPr algn="l"/>
                      <a:r>
                        <a:rPr sz="800" b="0">
                          <a:solidFill>
                            <a:srgbClr val="2E2E2E"/>
                          </a:solidFill>
                          <a:latin typeface="Calibri"/>
                        </a:rPr>
                        <a:t>199.6</a:t>
                      </a:r>
                    </a:p>
                  </a:txBody>
                  <a:tcPr marL="85725" marR="38100" marT="19050" marB="19050" anchor="ctr">
                    <a:solidFill>
                      <a:srgbClr val="FFFFFF"/>
                    </a:solidFill>
                  </a:tcPr>
                </a:tc>
                <a:tc>
                  <a:txBody>
                    <a:bodyPr wrap="none"/>
                    <a:lstStyle/>
                    <a:p>
                      <a:pPr algn="l"/>
                      <a:r>
                        <a:rPr sz="800" b="0">
                          <a:solidFill>
                            <a:srgbClr val="2E2E2E"/>
                          </a:solidFill>
                          <a:latin typeface="Calibri"/>
                        </a:rPr>
                        <a:t>242.9</a:t>
                      </a:r>
                    </a:p>
                  </a:txBody>
                  <a:tcPr marL="85725" marR="38100" marT="19050" marB="19050" anchor="ctr">
                    <a:solidFill>
                      <a:srgbClr val="FFFFFF"/>
                    </a:solidFill>
                  </a:tcPr>
                </a:tc>
                <a:tc>
                  <a:txBody>
                    <a:bodyPr wrap="none"/>
                    <a:lstStyle/>
                    <a:p>
                      <a:pPr algn="l"/>
                      <a:r>
                        <a:rPr sz="800" b="0">
                          <a:solidFill>
                            <a:srgbClr val="2E2E2E"/>
                          </a:solidFill>
                          <a:latin typeface="Calibri"/>
                        </a:rPr>
                        <a:t>286.8</a:t>
                      </a:r>
                    </a:p>
                  </a:txBody>
                  <a:tcPr marL="85725" marR="38100" marT="19050" marB="19050" anchor="ctr">
                    <a:solidFill>
                      <a:srgbClr val="FFFFFF"/>
                    </a:solidFill>
                  </a:tcPr>
                </a:tc>
                <a:tc>
                  <a:txBody>
                    <a:bodyPr wrap="none"/>
                    <a:lstStyle/>
                    <a:p>
                      <a:pPr algn="l"/>
                      <a:r>
                        <a:rPr sz="800" b="0">
                          <a:solidFill>
                            <a:srgbClr val="2E2E2E"/>
                          </a:solidFill>
                          <a:latin typeface="Calibri"/>
                        </a:rPr>
                        <a:t>332.3</a:t>
                      </a:r>
                    </a:p>
                  </a:txBody>
                  <a:tcPr marL="85725" marR="38100" marT="19050" marB="19050" anchor="ctr">
                    <a:solidFill>
                      <a:srgbClr val="FFFFFF"/>
                    </a:solidFill>
                  </a:tcPr>
                </a:tc>
                <a:tc>
                  <a:txBody>
                    <a:bodyPr wrap="none"/>
                    <a:lstStyle/>
                    <a:p>
                      <a:pPr algn="l"/>
                      <a:r>
                        <a:rPr sz="800" b="0">
                          <a:solidFill>
                            <a:srgbClr val="2E2E2E"/>
                          </a:solidFill>
                          <a:latin typeface="Calibri"/>
                        </a:rPr>
                        <a:t>377.3</a:t>
                      </a:r>
                    </a:p>
                  </a:txBody>
                  <a:tcPr marL="85725" marR="38100" marT="19050" marB="19050" anchor="ctr">
                    <a:solidFill>
                      <a:srgbClr val="FFFFFF"/>
                    </a:solidFill>
                  </a:tcPr>
                </a:tc>
                <a:tc>
                  <a:txBody>
                    <a:bodyPr wrap="none"/>
                    <a:lstStyle/>
                    <a:p>
                      <a:pPr algn="l"/>
                      <a:r>
                        <a:rPr sz="800" b="0">
                          <a:solidFill>
                            <a:srgbClr val="2E2E2E"/>
                          </a:solidFill>
                          <a:latin typeface="Calibri"/>
                        </a:rPr>
                        <a:t>422.2</a:t>
                      </a:r>
                    </a:p>
                  </a:txBody>
                  <a:tcPr marL="85725" marR="38100" marT="19050" marB="19050" anchor="ctr">
                    <a:solidFill>
                      <a:srgbClr val="FFFFFF"/>
                    </a:solidFill>
                  </a:tcPr>
                </a:tc>
                <a:tc>
                  <a:txBody>
                    <a:bodyPr wrap="none"/>
                    <a:lstStyle/>
                    <a:p>
                      <a:pPr algn="l"/>
                      <a:r>
                        <a:rPr sz="800" b="0">
                          <a:solidFill>
                            <a:srgbClr val="2E2E2E"/>
                          </a:solidFill>
                          <a:latin typeface="Calibri"/>
                        </a:rPr>
                        <a:t>466.7</a:t>
                      </a:r>
                    </a:p>
                  </a:txBody>
                  <a:tcPr marL="85725" marR="38100" marT="19050" marB="19050" anchor="ctr">
                    <a:solidFill>
                      <a:srgbClr val="FFFFFF"/>
                    </a:solidFill>
                  </a:tcPr>
                </a:tc>
                <a:tc>
                  <a:txBody>
                    <a:bodyPr wrap="none"/>
                    <a:lstStyle/>
                    <a:p>
                      <a:pPr algn="l"/>
                      <a:r>
                        <a:rPr sz="800" b="0">
                          <a:solidFill>
                            <a:srgbClr val="2E2E2E"/>
                          </a:solidFill>
                          <a:latin typeface="Calibri"/>
                        </a:rPr>
                        <a:t>510.6</a:t>
                      </a:r>
                    </a:p>
                  </a:txBody>
                  <a:tcPr marL="85725" marR="38100" marT="19050" marB="19050" anchor="ctr">
                    <a:solidFill>
                      <a:srgbClr val="FFFFFF"/>
                    </a:solidFill>
                  </a:tcPr>
                </a:tc>
                <a:tc>
                  <a:txBody>
                    <a:bodyPr wrap="none"/>
                    <a:lstStyle/>
                    <a:p>
                      <a:pPr algn="l"/>
                      <a:r>
                        <a:rPr sz="800" b="0">
                          <a:solidFill>
                            <a:srgbClr val="2E2E2E"/>
                          </a:solidFill>
                          <a:latin typeface="Calibri"/>
                        </a:rPr>
                        <a:t>553.9</a:t>
                      </a:r>
                    </a:p>
                  </a:txBody>
                  <a:tcPr marL="85725" marR="38100" marT="19050" marB="19050" anchor="ctr">
                    <a:solidFill>
                      <a:srgbClr val="FFFFFF"/>
                    </a:solidFill>
                  </a:tcPr>
                </a:tc>
                <a:tc>
                  <a:txBody>
                    <a:bodyPr wrap="none"/>
                    <a:lstStyle/>
                    <a:p>
                      <a:pPr algn="l"/>
                      <a:r>
                        <a:rPr sz="800" b="0">
                          <a:solidFill>
                            <a:srgbClr val="2E2E2E"/>
                          </a:solidFill>
                          <a:latin typeface="Calibri"/>
                        </a:rPr>
                        <a:t>596.2</a:t>
                      </a:r>
                    </a:p>
                  </a:txBody>
                  <a:tcPr marL="85725" marR="38100" marT="19050" marB="19050" anchor="ctr">
                    <a:solidFill>
                      <a:srgbClr val="FFFFFF"/>
                    </a:solidFill>
                  </a:tcPr>
                </a:tc>
                <a:tc>
                  <a:txBody>
                    <a:bodyPr wrap="none"/>
                    <a:lstStyle/>
                    <a:p>
                      <a:pPr algn="l"/>
                      <a:r>
                        <a:rPr sz="800" b="0">
                          <a:solidFill>
                            <a:srgbClr val="2E2E2E"/>
                          </a:solidFill>
                          <a:latin typeface="Calibri"/>
                        </a:rPr>
                        <a:t>638.0</a:t>
                      </a:r>
                    </a:p>
                  </a:txBody>
                  <a:tcPr marL="85725" marR="38100" marT="19050" marB="19050" anchor="ctr">
                    <a:solidFill>
                      <a:srgbClr val="FFFFFF"/>
                    </a:solidFill>
                  </a:tcPr>
                </a:tc>
                <a:tc>
                  <a:txBody>
                    <a:bodyPr wrap="none"/>
                    <a:lstStyle/>
                    <a:p>
                      <a:pPr algn="l"/>
                      <a:r>
                        <a:rPr sz="800" b="0">
                          <a:solidFill>
                            <a:srgbClr val="2E2E2E"/>
                          </a:solidFill>
                          <a:latin typeface="Calibri"/>
                        </a:rPr>
                        <a:t>679.3</a:t>
                      </a:r>
                    </a:p>
                  </a:txBody>
                  <a:tcPr marL="85725" marR="38100" marT="19050" marB="19050" anchor="ctr">
                    <a:solidFill>
                      <a:srgbClr val="FFFFFF"/>
                    </a:solidFill>
                  </a:tcPr>
                </a:tc>
                <a:tc>
                  <a:txBody>
                    <a:bodyPr wrap="none"/>
                    <a:lstStyle/>
                    <a:p>
                      <a:pPr algn="l"/>
                      <a:r>
                        <a:rPr sz="800" b="0">
                          <a:solidFill>
                            <a:srgbClr val="2E2E2E"/>
                          </a:solidFill>
                          <a:latin typeface="Calibri"/>
                        </a:rPr>
                        <a:t>720.5</a:t>
                      </a:r>
                    </a:p>
                  </a:txBody>
                  <a:tcPr marL="85725" marR="38100" marT="19050" marB="19050" anchor="ctr">
                    <a:solidFill>
                      <a:srgbClr val="FFFFFF"/>
                    </a:solidFill>
                  </a:tcPr>
                </a:tc>
                <a:tc>
                  <a:txBody>
                    <a:bodyPr wrap="none"/>
                    <a:lstStyle/>
                    <a:p>
                      <a:pPr algn="l"/>
                      <a:r>
                        <a:rPr sz="800" b="0">
                          <a:solidFill>
                            <a:srgbClr val="2E2E2E"/>
                          </a:solidFill>
                          <a:latin typeface="Calibri"/>
                        </a:rPr>
                        <a:t>9.6%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100 mg/mL</a:t>
                      </a:r>
                    </a:p>
                  </a:txBody>
                  <a:tcPr marL="85725" marR="38100" marT="19050" marB="19050" anchor="ctr">
                    <a:solidFill>
                      <a:srgbClr val="F5F8FA"/>
                    </a:solidFill>
                  </a:tcPr>
                </a:tc>
                <a:tc>
                  <a:txBody>
                    <a:bodyPr wrap="none"/>
                    <a:lstStyle/>
                    <a:p>
                      <a:pPr algn="l"/>
                      <a:r>
                        <a:rPr sz="800" b="0">
                          <a:solidFill>
                            <a:srgbClr val="2E2E2E"/>
                          </a:solidFill>
                          <a:latin typeface="Calibri"/>
                        </a:rPr>
                        <a:t>113.6</a:t>
                      </a:r>
                    </a:p>
                  </a:txBody>
                  <a:tcPr marL="85725" marR="38100" marT="19050" marB="19050" anchor="ctr">
                    <a:solidFill>
                      <a:srgbClr val="F5F8FA"/>
                    </a:solidFill>
                  </a:tcPr>
                </a:tc>
                <a:tc>
                  <a:txBody>
                    <a:bodyPr wrap="none"/>
                    <a:lstStyle/>
                    <a:p>
                      <a:pPr algn="l"/>
                      <a:r>
                        <a:rPr sz="800" b="0">
                          <a:solidFill>
                            <a:srgbClr val="2E2E2E"/>
                          </a:solidFill>
                          <a:latin typeface="Calibri"/>
                        </a:rPr>
                        <a:t>131.5</a:t>
                      </a:r>
                    </a:p>
                  </a:txBody>
                  <a:tcPr marL="85725" marR="38100" marT="19050" marB="19050" anchor="ctr">
                    <a:solidFill>
                      <a:srgbClr val="F5F8FA"/>
                    </a:solidFill>
                  </a:tcPr>
                </a:tc>
                <a:tc>
                  <a:txBody>
                    <a:bodyPr wrap="none"/>
                    <a:lstStyle/>
                    <a:p>
                      <a:pPr algn="l"/>
                      <a:r>
                        <a:rPr sz="800" b="0">
                          <a:solidFill>
                            <a:srgbClr val="2E2E2E"/>
                          </a:solidFill>
                          <a:latin typeface="Calibri"/>
                        </a:rPr>
                        <a:t>161.6</a:t>
                      </a:r>
                    </a:p>
                  </a:txBody>
                  <a:tcPr marL="85725" marR="38100" marT="19050" marB="19050" anchor="ctr">
                    <a:solidFill>
                      <a:srgbClr val="F5F8FA"/>
                    </a:solidFill>
                  </a:tcPr>
                </a:tc>
                <a:tc>
                  <a:txBody>
                    <a:bodyPr wrap="none"/>
                    <a:lstStyle/>
                    <a:p>
                      <a:pPr algn="l"/>
                      <a:r>
                        <a:rPr sz="800" b="0">
                          <a:solidFill>
                            <a:srgbClr val="2E2E2E"/>
                          </a:solidFill>
                          <a:latin typeface="Calibri"/>
                        </a:rPr>
                        <a:t>204.7</a:t>
                      </a:r>
                    </a:p>
                  </a:txBody>
                  <a:tcPr marL="85725" marR="38100" marT="19050" marB="19050" anchor="ctr">
                    <a:solidFill>
                      <a:srgbClr val="F5F8FA"/>
                    </a:solidFill>
                  </a:tcPr>
                </a:tc>
                <a:tc>
                  <a:txBody>
                    <a:bodyPr wrap="none"/>
                    <a:lstStyle/>
                    <a:p>
                      <a:pPr algn="l"/>
                      <a:r>
                        <a:rPr sz="800" b="0">
                          <a:solidFill>
                            <a:srgbClr val="2E2E2E"/>
                          </a:solidFill>
                          <a:latin typeface="Calibri"/>
                        </a:rPr>
                        <a:t>253.8</a:t>
                      </a:r>
                    </a:p>
                  </a:txBody>
                  <a:tcPr marL="85725" marR="38100" marT="19050" marB="19050" anchor="ctr">
                    <a:solidFill>
                      <a:srgbClr val="F5F8FA"/>
                    </a:solidFill>
                  </a:tcPr>
                </a:tc>
                <a:tc>
                  <a:txBody>
                    <a:bodyPr wrap="none"/>
                    <a:lstStyle/>
                    <a:p>
                      <a:pPr algn="l"/>
                      <a:r>
                        <a:rPr sz="800" b="0">
                          <a:solidFill>
                            <a:srgbClr val="2E2E2E"/>
                          </a:solidFill>
                          <a:latin typeface="Calibri"/>
                        </a:rPr>
                        <a:t>305.0</a:t>
                      </a:r>
                    </a:p>
                  </a:txBody>
                  <a:tcPr marL="85725" marR="38100" marT="19050" marB="19050" anchor="ctr">
                    <a:solidFill>
                      <a:srgbClr val="F5F8FA"/>
                    </a:solidFill>
                  </a:tcPr>
                </a:tc>
                <a:tc>
                  <a:txBody>
                    <a:bodyPr wrap="none"/>
                    <a:lstStyle/>
                    <a:p>
                      <a:pPr algn="l"/>
                      <a:r>
                        <a:rPr sz="800" b="0">
                          <a:solidFill>
                            <a:srgbClr val="2E2E2E"/>
                          </a:solidFill>
                          <a:latin typeface="Calibri"/>
                        </a:rPr>
                        <a:t>359.8</a:t>
                      </a:r>
                    </a:p>
                  </a:txBody>
                  <a:tcPr marL="85725" marR="38100" marT="19050" marB="19050" anchor="ctr">
                    <a:solidFill>
                      <a:srgbClr val="F5F8FA"/>
                    </a:solidFill>
                  </a:tcPr>
                </a:tc>
                <a:tc>
                  <a:txBody>
                    <a:bodyPr wrap="none"/>
                    <a:lstStyle/>
                    <a:p>
                      <a:pPr algn="l"/>
                      <a:r>
                        <a:rPr sz="800" b="0">
                          <a:solidFill>
                            <a:srgbClr val="2E2E2E"/>
                          </a:solidFill>
                          <a:latin typeface="Calibri"/>
                        </a:rPr>
                        <a:t>415.6</a:t>
                      </a:r>
                    </a:p>
                  </a:txBody>
                  <a:tcPr marL="85725" marR="38100" marT="19050" marB="19050" anchor="ctr">
                    <a:solidFill>
                      <a:srgbClr val="F5F8FA"/>
                    </a:solidFill>
                  </a:tcPr>
                </a:tc>
                <a:tc>
                  <a:txBody>
                    <a:bodyPr wrap="none"/>
                    <a:lstStyle/>
                    <a:p>
                      <a:pPr algn="l"/>
                      <a:r>
                        <a:rPr sz="800" b="0">
                          <a:solidFill>
                            <a:srgbClr val="2E2E2E"/>
                          </a:solidFill>
                          <a:latin typeface="Calibri"/>
                        </a:rPr>
                        <a:t>473.1</a:t>
                      </a:r>
                    </a:p>
                  </a:txBody>
                  <a:tcPr marL="85725" marR="38100" marT="19050" marB="19050" anchor="ctr">
                    <a:solidFill>
                      <a:srgbClr val="F5F8FA"/>
                    </a:solidFill>
                  </a:tcPr>
                </a:tc>
                <a:tc>
                  <a:txBody>
                    <a:bodyPr wrap="none"/>
                    <a:lstStyle/>
                    <a:p>
                      <a:pPr algn="l"/>
                      <a:r>
                        <a:rPr sz="800" b="0">
                          <a:solidFill>
                            <a:srgbClr val="2E2E2E"/>
                          </a:solidFill>
                          <a:latin typeface="Calibri"/>
                        </a:rPr>
                        <a:t>531.9</a:t>
                      </a:r>
                    </a:p>
                  </a:txBody>
                  <a:tcPr marL="85725" marR="38100" marT="19050" marB="19050" anchor="ctr">
                    <a:solidFill>
                      <a:srgbClr val="F5F8FA"/>
                    </a:solidFill>
                  </a:tcPr>
                </a:tc>
                <a:tc>
                  <a:txBody>
                    <a:bodyPr wrap="none"/>
                    <a:lstStyle/>
                    <a:p>
                      <a:pPr algn="l"/>
                      <a:r>
                        <a:rPr sz="800" b="0">
                          <a:solidFill>
                            <a:srgbClr val="2E2E2E"/>
                          </a:solidFill>
                          <a:latin typeface="Calibri"/>
                        </a:rPr>
                        <a:t>591.7</a:t>
                      </a:r>
                    </a:p>
                  </a:txBody>
                  <a:tcPr marL="85725" marR="38100" marT="19050" marB="19050" anchor="ctr">
                    <a:solidFill>
                      <a:srgbClr val="F5F8FA"/>
                    </a:solidFill>
                  </a:tcPr>
                </a:tc>
                <a:tc>
                  <a:txBody>
                    <a:bodyPr wrap="none"/>
                    <a:lstStyle/>
                    <a:p>
                      <a:pPr algn="l"/>
                      <a:r>
                        <a:rPr sz="800" b="0">
                          <a:solidFill>
                            <a:srgbClr val="2E2E2E"/>
                          </a:solidFill>
                          <a:latin typeface="Calibri"/>
                        </a:rPr>
                        <a:t>652.4</a:t>
                      </a:r>
                    </a:p>
                  </a:txBody>
                  <a:tcPr marL="85725" marR="38100" marT="19050" marB="19050" anchor="ctr">
                    <a:solidFill>
                      <a:srgbClr val="F5F8FA"/>
                    </a:solidFill>
                  </a:tcPr>
                </a:tc>
                <a:tc>
                  <a:txBody>
                    <a:bodyPr wrap="none"/>
                    <a:lstStyle/>
                    <a:p>
                      <a:pPr algn="l"/>
                      <a:r>
                        <a:rPr sz="800" b="0">
                          <a:solidFill>
                            <a:srgbClr val="2E2E2E"/>
                          </a:solidFill>
                          <a:latin typeface="Calibri"/>
                        </a:rPr>
                        <a:t>713.7</a:t>
                      </a:r>
                    </a:p>
                  </a:txBody>
                  <a:tcPr marL="85725" marR="38100" marT="19050" marB="19050" anchor="ctr">
                    <a:solidFill>
                      <a:srgbClr val="F5F8FA"/>
                    </a:solidFill>
                  </a:tcPr>
                </a:tc>
                <a:tc>
                  <a:txBody>
                    <a:bodyPr wrap="none"/>
                    <a:lstStyle/>
                    <a:p>
                      <a:pPr algn="l"/>
                      <a:r>
                        <a:rPr sz="800" b="0">
                          <a:solidFill>
                            <a:srgbClr val="2E2E2E"/>
                          </a:solidFill>
                          <a:latin typeface="Calibri"/>
                        </a:rPr>
                        <a:t>775.9</a:t>
                      </a:r>
                    </a:p>
                  </a:txBody>
                  <a:tcPr marL="85725" marR="38100" marT="19050" marB="19050" anchor="ctr">
                    <a:solidFill>
                      <a:srgbClr val="F5F8FA"/>
                    </a:solidFill>
                  </a:tcPr>
                </a:tc>
                <a:tc>
                  <a:txBody>
                    <a:bodyPr wrap="none"/>
                    <a:lstStyle/>
                    <a:p>
                      <a:pPr algn="l"/>
                      <a:r>
                        <a:rPr sz="800" b="0">
                          <a:solidFill>
                            <a:srgbClr val="2E2E2E"/>
                          </a:solidFill>
                          <a:latin typeface="Calibri"/>
                        </a:rPr>
                        <a:t>839.2</a:t>
                      </a:r>
                    </a:p>
                  </a:txBody>
                  <a:tcPr marL="85725" marR="38100" marT="19050" marB="19050" anchor="ctr">
                    <a:solidFill>
                      <a:srgbClr val="F5F8FA"/>
                    </a:solidFill>
                  </a:tcPr>
                </a:tc>
                <a:tc>
                  <a:txBody>
                    <a:bodyPr wrap="none"/>
                    <a:lstStyle/>
                    <a:p>
                      <a:pPr algn="l"/>
                      <a:r>
                        <a:rPr sz="800" b="0">
                          <a:solidFill>
                            <a:srgbClr val="2E2E2E"/>
                          </a:solidFill>
                          <a:latin typeface="Calibri"/>
                        </a:rPr>
                        <a:t>903.9</a:t>
                      </a:r>
                    </a:p>
                  </a:txBody>
                  <a:tcPr marL="85725" marR="38100" marT="19050" marB="19050" anchor="ctr">
                    <a:solidFill>
                      <a:srgbClr val="F5F8FA"/>
                    </a:solidFill>
                  </a:tcPr>
                </a:tc>
                <a:tc>
                  <a:txBody>
                    <a:bodyPr wrap="none"/>
                    <a:lstStyle/>
                    <a:p>
                      <a:pPr algn="l"/>
                      <a:r>
                        <a:rPr sz="800" b="0">
                          <a:solidFill>
                            <a:srgbClr val="2E2E2E"/>
                          </a:solidFill>
                          <a:latin typeface="Calibri"/>
                        </a:rPr>
                        <a:t>11.5%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611.7</a:t>
                      </a:r>
                    </a:p>
                  </a:txBody>
                  <a:tcPr marL="85725" marR="38100" marT="19050" marB="19050" anchor="ctr">
                    <a:solidFill>
                      <a:srgbClr val="E0E8EF"/>
                    </a:solidFill>
                  </a:tcPr>
                </a:tc>
                <a:tc>
                  <a:txBody>
                    <a:bodyPr wrap="none"/>
                    <a:lstStyle/>
                    <a:p>
                      <a:pPr algn="l"/>
                      <a:r>
                        <a:rPr sz="800" b="1">
                          <a:solidFill>
                            <a:srgbClr val="2E2E2E"/>
                          </a:solidFill>
                          <a:latin typeface="Calibri"/>
                        </a:rPr>
                        <a:t>690.9</a:t>
                      </a:r>
                    </a:p>
                  </a:txBody>
                  <a:tcPr marL="85725" marR="38100" marT="19050" marB="19050" anchor="ctr">
                    <a:solidFill>
                      <a:srgbClr val="E0E8EF"/>
                    </a:solidFill>
                  </a:tcPr>
                </a:tc>
                <a:tc>
                  <a:txBody>
                    <a:bodyPr wrap="none"/>
                    <a:lstStyle/>
                    <a:p>
                      <a:pPr algn="l"/>
                      <a:r>
                        <a:rPr sz="800" b="1">
                          <a:solidFill>
                            <a:srgbClr val="2E2E2E"/>
                          </a:solidFill>
                          <a:latin typeface="Calibri"/>
                        </a:rPr>
                        <a:t>827.8</a:t>
                      </a:r>
                    </a:p>
                  </a:txBody>
                  <a:tcPr marL="85725" marR="38100" marT="19050" marB="19050" anchor="ctr">
                    <a:solidFill>
                      <a:srgbClr val="E0E8EF"/>
                    </a:solidFill>
                  </a:tcPr>
                </a:tc>
                <a:tc>
                  <a:txBody>
                    <a:bodyPr wrap="none"/>
                    <a:lstStyle/>
                    <a:p>
                      <a:pPr algn="l"/>
                      <a:r>
                        <a:rPr sz="800" b="1">
                          <a:solidFill>
                            <a:srgbClr val="2E2E2E"/>
                          </a:solidFill>
                          <a:latin typeface="Calibri"/>
                        </a:rPr>
                        <a:t>1,023</a:t>
                      </a:r>
                    </a:p>
                  </a:txBody>
                  <a:tcPr marL="85725" marR="38100" marT="19050" marB="19050" anchor="ctr">
                    <a:solidFill>
                      <a:srgbClr val="E0E8EF"/>
                    </a:solidFill>
                  </a:tcPr>
                </a:tc>
                <a:tc>
                  <a:txBody>
                    <a:bodyPr wrap="none"/>
                    <a:lstStyle/>
                    <a:p>
                      <a:pPr algn="l"/>
                      <a:r>
                        <a:rPr sz="800" b="1">
                          <a:solidFill>
                            <a:srgbClr val="2E2E2E"/>
                          </a:solidFill>
                          <a:latin typeface="Calibri"/>
                        </a:rPr>
                        <a:t>1,238</a:t>
                      </a:r>
                    </a:p>
                  </a:txBody>
                  <a:tcPr marL="85725" marR="38100" marT="19050" marB="19050" anchor="ctr">
                    <a:solidFill>
                      <a:srgbClr val="E0E8EF"/>
                    </a:solidFill>
                  </a:tcPr>
                </a:tc>
                <a:tc>
                  <a:txBody>
                    <a:bodyPr wrap="none"/>
                    <a:lstStyle/>
                    <a:p>
                      <a:pPr algn="l"/>
                      <a:r>
                        <a:rPr sz="800" b="1">
                          <a:solidFill>
                            <a:srgbClr val="2E2E2E"/>
                          </a:solidFill>
                          <a:latin typeface="Calibri"/>
                        </a:rPr>
                        <a:t>1,453</a:t>
                      </a:r>
                    </a:p>
                  </a:txBody>
                  <a:tcPr marL="85725" marR="38100" marT="19050" marB="19050" anchor="ctr">
                    <a:solidFill>
                      <a:srgbClr val="E0E8EF"/>
                    </a:solidFill>
                  </a:tcPr>
                </a:tc>
                <a:tc>
                  <a:txBody>
                    <a:bodyPr wrap="none"/>
                    <a:lstStyle/>
                    <a:p>
                      <a:pPr algn="l"/>
                      <a:r>
                        <a:rPr sz="800" b="1">
                          <a:solidFill>
                            <a:srgbClr val="2E2E2E"/>
                          </a:solidFill>
                          <a:latin typeface="Calibri"/>
                        </a:rPr>
                        <a:t>1,674</a:t>
                      </a:r>
                    </a:p>
                  </a:txBody>
                  <a:tcPr marL="85725" marR="38100" marT="19050" marB="19050" anchor="ctr">
                    <a:solidFill>
                      <a:srgbClr val="E0E8EF"/>
                    </a:solidFill>
                  </a:tcPr>
                </a:tc>
                <a:tc>
                  <a:txBody>
                    <a:bodyPr wrap="none"/>
                    <a:lstStyle/>
                    <a:p>
                      <a:pPr algn="l"/>
                      <a:r>
                        <a:rPr sz="800" b="1">
                          <a:solidFill>
                            <a:srgbClr val="2E2E2E"/>
                          </a:solidFill>
                          <a:latin typeface="Calibri"/>
                        </a:rPr>
                        <a:t>1,889</a:t>
                      </a:r>
                    </a:p>
                  </a:txBody>
                  <a:tcPr marL="85725" marR="38100" marT="19050" marB="19050" anchor="ctr">
                    <a:solidFill>
                      <a:srgbClr val="E0E8EF"/>
                    </a:solidFill>
                  </a:tcPr>
                </a:tc>
                <a:tc>
                  <a:txBody>
                    <a:bodyPr wrap="none"/>
                    <a:lstStyle/>
                    <a:p>
                      <a:pPr algn="l"/>
                      <a:r>
                        <a:rPr sz="800" b="1">
                          <a:solidFill>
                            <a:srgbClr val="2E2E2E"/>
                          </a:solidFill>
                          <a:latin typeface="Calibri"/>
                        </a:rPr>
                        <a:t>2,101</a:t>
                      </a:r>
                    </a:p>
                  </a:txBody>
                  <a:tcPr marL="85725" marR="38100" marT="19050" marB="19050" anchor="ctr">
                    <a:solidFill>
                      <a:srgbClr val="E0E8EF"/>
                    </a:solidFill>
                  </a:tcPr>
                </a:tc>
                <a:tc>
                  <a:txBody>
                    <a:bodyPr wrap="none"/>
                    <a:lstStyle/>
                    <a:p>
                      <a:pPr algn="l"/>
                      <a:r>
                        <a:rPr sz="800" b="1">
                          <a:solidFill>
                            <a:srgbClr val="2E2E2E"/>
                          </a:solidFill>
                          <a:latin typeface="Calibri"/>
                        </a:rPr>
                        <a:t>2,309</a:t>
                      </a:r>
                    </a:p>
                  </a:txBody>
                  <a:tcPr marL="85725" marR="38100" marT="19050" marB="19050" anchor="ctr">
                    <a:solidFill>
                      <a:srgbClr val="E0E8EF"/>
                    </a:solidFill>
                  </a:tcPr>
                </a:tc>
                <a:tc>
                  <a:txBody>
                    <a:bodyPr wrap="none"/>
                    <a:lstStyle/>
                    <a:p>
                      <a:pPr algn="l"/>
                      <a:r>
                        <a:rPr sz="800" b="1">
                          <a:solidFill>
                            <a:srgbClr val="2E2E2E"/>
                          </a:solidFill>
                          <a:latin typeface="Calibri"/>
                        </a:rPr>
                        <a:t>2,512</a:t>
                      </a:r>
                    </a:p>
                  </a:txBody>
                  <a:tcPr marL="85725" marR="38100" marT="19050" marB="19050" anchor="ctr">
                    <a:solidFill>
                      <a:srgbClr val="E0E8EF"/>
                    </a:solidFill>
                  </a:tcPr>
                </a:tc>
                <a:tc>
                  <a:txBody>
                    <a:bodyPr wrap="none"/>
                    <a:lstStyle/>
                    <a:p>
                      <a:pPr algn="l"/>
                      <a:r>
                        <a:rPr sz="800" b="1">
                          <a:solidFill>
                            <a:srgbClr val="2E2E2E"/>
                          </a:solidFill>
                          <a:latin typeface="Calibri"/>
                        </a:rPr>
                        <a:t>2,709</a:t>
                      </a:r>
                    </a:p>
                  </a:txBody>
                  <a:tcPr marL="85725" marR="38100" marT="19050" marB="19050" anchor="ctr">
                    <a:solidFill>
                      <a:srgbClr val="E0E8EF"/>
                    </a:solidFill>
                  </a:tcPr>
                </a:tc>
                <a:tc>
                  <a:txBody>
                    <a:bodyPr wrap="none"/>
                    <a:lstStyle/>
                    <a:p>
                      <a:pPr algn="l"/>
                      <a:r>
                        <a:rPr sz="800" b="1">
                          <a:solidFill>
                            <a:srgbClr val="2E2E2E"/>
                          </a:solidFill>
                          <a:latin typeface="Calibri"/>
                        </a:rPr>
                        <a:t>2,900</a:t>
                      </a:r>
                    </a:p>
                  </a:txBody>
                  <a:tcPr marL="85725" marR="38100" marT="19050" marB="19050" anchor="ctr">
                    <a:solidFill>
                      <a:srgbClr val="E0E8EF"/>
                    </a:solidFill>
                  </a:tcPr>
                </a:tc>
                <a:tc>
                  <a:txBody>
                    <a:bodyPr wrap="none"/>
                    <a:lstStyle/>
                    <a:p>
                      <a:pPr algn="l"/>
                      <a:r>
                        <a:rPr sz="800" b="1">
                          <a:solidFill>
                            <a:srgbClr val="2E2E2E"/>
                          </a:solidFill>
                          <a:latin typeface="Calibri"/>
                        </a:rPr>
                        <a:t>3,086</a:t>
                      </a:r>
                    </a:p>
                  </a:txBody>
                  <a:tcPr marL="85725" marR="38100" marT="19050" marB="19050" anchor="ctr">
                    <a:solidFill>
                      <a:srgbClr val="E0E8EF"/>
                    </a:solidFill>
                  </a:tcPr>
                </a:tc>
                <a:tc>
                  <a:txBody>
                    <a:bodyPr wrap="none"/>
                    <a:lstStyle/>
                    <a:p>
                      <a:pPr algn="l"/>
                      <a:r>
                        <a:rPr sz="800" b="1">
                          <a:solidFill>
                            <a:srgbClr val="2E2E2E"/>
                          </a:solidFill>
                          <a:latin typeface="Calibri"/>
                        </a:rPr>
                        <a:t>3,268</a:t>
                      </a:r>
                    </a:p>
                  </a:txBody>
                  <a:tcPr marL="85725" marR="38100" marT="19050" marB="19050" anchor="ctr">
                    <a:solidFill>
                      <a:srgbClr val="E0E8EF"/>
                    </a:solidFill>
                  </a:tcPr>
                </a:tc>
                <a:tc>
                  <a:txBody>
                    <a:bodyPr wrap="none"/>
                    <a:lstStyle/>
                    <a:p>
                      <a:pPr algn="l"/>
                      <a:r>
                        <a:rPr sz="800" b="1">
                          <a:solidFill>
                            <a:srgbClr val="2E2E2E"/>
                          </a:solidFill>
                          <a:latin typeface="Calibri"/>
                        </a:rPr>
                        <a:t>3,447</a:t>
                      </a:r>
                    </a:p>
                  </a:txBody>
                  <a:tcPr marL="85725" marR="38100" marT="19050" marB="19050" anchor="ctr">
                    <a:solidFill>
                      <a:srgbClr val="E0E8EF"/>
                    </a:solidFill>
                  </a:tcPr>
                </a:tc>
                <a:tc>
                  <a:txBody>
                    <a:bodyPr wrap="none"/>
                    <a:lstStyle/>
                    <a:p>
                      <a:pPr algn="l"/>
                      <a:r>
                        <a:rPr sz="800" b="1">
                          <a:solidFill>
                            <a:srgbClr val="2E2E2E"/>
                          </a:solidFill>
                          <a:latin typeface="Calibri"/>
                        </a:rPr>
                        <a:t>9.0%</a:t>
                      </a:r>
                    </a:p>
                  </a:txBody>
                  <a:tcPr marL="85725" marR="38100" marT="19050" marB="19050" anchor="ctr">
                    <a:solidFill>
                      <a:srgbClr val="E0E8EF"/>
                    </a:solidFill>
                  </a:tcPr>
                </a:tc>
              </a:tr>
            </a:tbl>
          </a:graphicData>
        </a:graphic>
      </p:graphicFrame>
      <p:sp>
        <p:nvSpPr>
          <p:cNvPr id="18" name="TextBox 17"/>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YoY Analysis Dosage / Concentration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Volume YoY, By Dosage / Concentration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Dosage / Concentration</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20 mg</a:t>
                      </a:r>
                    </a:p>
                  </a:txBody>
                  <a:tcPr marL="85725" marR="38100" marT="19050" marB="19050" anchor="ctr">
                    <a:solidFill>
                      <a:srgbClr val="FFFFFF"/>
                    </a:solidFill>
                  </a:tcPr>
                </a:tc>
                <a:tc>
                  <a:txBody>
                    <a:bodyPr wrap="none"/>
                    <a:lstStyle/>
                    <a:p>
                      <a:pPr algn="l"/>
                      <a:r>
                        <a:rPr sz="800" b="1">
                          <a:solidFill>
                            <a:srgbClr val="2E7D32"/>
                          </a:solidFill>
                          <a:latin typeface="Calibri"/>
                        </a:rPr>
                        <a:t>▲ 17.0%</a:t>
                      </a:r>
                    </a:p>
                  </a:txBody>
                  <a:tcPr marL="85725" marR="38100" marT="19050" marB="19050" anchor="ctr">
                    <a:solidFill>
                      <a:srgbClr val="FFFFFF"/>
                    </a:solidFill>
                  </a:tcPr>
                </a:tc>
                <a:tc>
                  <a:txBody>
                    <a:bodyPr wrap="none"/>
                    <a:lstStyle/>
                    <a:p>
                      <a:pPr algn="l"/>
                      <a:r>
                        <a:rPr sz="800" b="1">
                          <a:solidFill>
                            <a:srgbClr val="2E7D32"/>
                          </a:solidFill>
                          <a:latin typeface="Calibri"/>
                        </a:rPr>
                        <a:t>▲ 24.1%</a:t>
                      </a:r>
                    </a:p>
                  </a:txBody>
                  <a:tcPr marL="85725" marR="38100" marT="19050" marB="19050" anchor="ctr">
                    <a:solidFill>
                      <a:srgbClr val="FFFFFF"/>
                    </a:solidFill>
                  </a:tcPr>
                </a:tc>
                <a:tc>
                  <a:txBody>
                    <a:bodyPr wrap="none"/>
                    <a:lstStyle/>
                    <a:p>
                      <a:pPr algn="l"/>
                      <a:r>
                        <a:rPr sz="800" b="1">
                          <a:solidFill>
                            <a:srgbClr val="2E7D32"/>
                          </a:solidFill>
                          <a:latin typeface="Calibri"/>
                        </a:rPr>
                        <a:t>▲ 28.0%</a:t>
                      </a:r>
                    </a:p>
                  </a:txBody>
                  <a:tcPr marL="85725" marR="38100" marT="19050" marB="19050" anchor="ctr">
                    <a:solidFill>
                      <a:srgbClr val="FFFFFF"/>
                    </a:solidFill>
                  </a:tcPr>
                </a:tc>
                <a:tc>
                  <a:txBody>
                    <a:bodyPr wrap="none"/>
                    <a:lstStyle/>
                    <a:p>
                      <a:pPr algn="l"/>
                      <a:r>
                        <a:rPr sz="800" b="1">
                          <a:solidFill>
                            <a:srgbClr val="2E7D32"/>
                          </a:solidFill>
                          <a:latin typeface="Calibri"/>
                        </a:rPr>
                        <a:t>▲ 25.3%</a:t>
                      </a:r>
                    </a:p>
                  </a:txBody>
                  <a:tcPr marL="85725" marR="38100" marT="19050" marB="19050" anchor="ctr">
                    <a:solidFill>
                      <a:srgbClr val="FFFFFF"/>
                    </a:solidFill>
                  </a:tcPr>
                </a:tc>
                <a:tc>
                  <a:txBody>
                    <a:bodyPr wrap="none"/>
                    <a:lstStyle/>
                    <a:p>
                      <a:pPr algn="l"/>
                      <a:r>
                        <a:rPr sz="800" b="1">
                          <a:solidFill>
                            <a:srgbClr val="2E7D32"/>
                          </a:solidFill>
                          <a:latin typeface="Calibri"/>
                        </a:rPr>
                        <a:t>▲ 21.5%</a:t>
                      </a:r>
                    </a:p>
                  </a:txBody>
                  <a:tcPr marL="85725" marR="38100" marT="19050" marB="19050" anchor="ctr">
                    <a:solidFill>
                      <a:srgbClr val="FFFFFF"/>
                    </a:solidFill>
                  </a:tcPr>
                </a:tc>
                <a:tc>
                  <a:txBody>
                    <a:bodyPr wrap="none"/>
                    <a:lstStyle/>
                    <a:p>
                      <a:pPr algn="l"/>
                      <a:r>
                        <a:rPr sz="800" b="1">
                          <a:solidFill>
                            <a:srgbClr val="2E7D32"/>
                          </a:solidFill>
                          <a:latin typeface="Calibri"/>
                        </a:rPr>
                        <a:t>▲ 19.3%</a:t>
                      </a:r>
                    </a:p>
                  </a:txBody>
                  <a:tcPr marL="85725" marR="38100" marT="19050" marB="19050" anchor="ctr">
                    <a:solidFill>
                      <a:srgbClr val="FFFFFF"/>
                    </a:solidFill>
                  </a:tcPr>
                </a:tc>
                <a:tc>
                  <a:txBody>
                    <a:bodyPr wrap="none"/>
                    <a:lstStyle/>
                    <a:p>
                      <a:pPr algn="l"/>
                      <a:r>
                        <a:rPr sz="800" b="1">
                          <a:solidFill>
                            <a:srgbClr val="2E7D32"/>
                          </a:solidFill>
                          <a:latin typeface="Calibri"/>
                        </a:rPr>
                        <a:t>▲ 16.8%</a:t>
                      </a:r>
                    </a:p>
                  </a:txBody>
                  <a:tcPr marL="85725" marR="38100" marT="19050" marB="19050" anchor="ctr">
                    <a:solidFill>
                      <a:srgbClr val="FFFFFF"/>
                    </a:solidFill>
                  </a:tcPr>
                </a:tc>
                <a:tc>
                  <a:txBody>
                    <a:bodyPr wrap="none"/>
                    <a:lstStyle/>
                    <a:p>
                      <a:pPr algn="l"/>
                      <a:r>
                        <a:rPr sz="800" b="1">
                          <a:solidFill>
                            <a:srgbClr val="2E7D32"/>
                          </a:solidFill>
                          <a:latin typeface="Calibri"/>
                        </a:rPr>
                        <a:t>▲ 15.2%</a:t>
                      </a:r>
                    </a:p>
                  </a:txBody>
                  <a:tcPr marL="85725" marR="38100" marT="19050" marB="19050" anchor="ctr">
                    <a:solidFill>
                      <a:srgbClr val="FFFFFF"/>
                    </a:solidFill>
                  </a:tcPr>
                </a:tc>
                <a:tc>
                  <a:txBody>
                    <a:bodyPr wrap="none"/>
                    <a:lstStyle/>
                    <a:p>
                      <a:pPr algn="l"/>
                      <a:r>
                        <a:rPr sz="800" b="1">
                          <a:solidFill>
                            <a:srgbClr val="2E7D32"/>
                          </a:solidFill>
                          <a:latin typeface="Calibri"/>
                        </a:rPr>
                        <a:t>▲ 13.8%</a:t>
                      </a:r>
                    </a:p>
                  </a:txBody>
                  <a:tcPr marL="85725" marR="38100" marT="19050" marB="19050" anchor="ctr">
                    <a:solidFill>
                      <a:srgbClr val="FFFFFF"/>
                    </a:solidFill>
                  </a:tcPr>
                </a:tc>
                <a:tc>
                  <a:txBody>
                    <a:bodyPr wrap="none"/>
                    <a:lstStyle/>
                    <a:p>
                      <a:pPr algn="l"/>
                      <a:r>
                        <a:rPr sz="800" b="1">
                          <a:solidFill>
                            <a:srgbClr val="2E7D32"/>
                          </a:solidFill>
                          <a:latin typeface="Calibri"/>
                        </a:rPr>
                        <a:t>▲ 12.6%</a:t>
                      </a:r>
                    </a:p>
                  </a:txBody>
                  <a:tcPr marL="85725" marR="38100" marT="19050" marB="19050" anchor="ctr">
                    <a:solidFill>
                      <a:srgbClr val="FFFFFF"/>
                    </a:solidFill>
                  </a:tcPr>
                </a:tc>
                <a:tc>
                  <a:txBody>
                    <a:bodyPr wrap="none"/>
                    <a:lstStyle/>
                    <a:p>
                      <a:pPr algn="l"/>
                      <a:r>
                        <a:rPr sz="800" b="1">
                          <a:solidFill>
                            <a:srgbClr val="2E7D32"/>
                          </a:solidFill>
                          <a:latin typeface="Calibri"/>
                        </a:rPr>
                        <a:t>▲ 11.6%</a:t>
                      </a:r>
                    </a:p>
                  </a:txBody>
                  <a:tcPr marL="85725" marR="38100" marT="19050" marB="19050" anchor="ctr">
                    <a:solidFill>
                      <a:srgbClr val="FFFFFF"/>
                    </a:solidFill>
                  </a:tcPr>
                </a:tc>
                <a:tc>
                  <a:txBody>
                    <a:bodyPr wrap="none"/>
                    <a:lstStyle/>
                    <a:p>
                      <a:pPr algn="l"/>
                      <a:r>
                        <a:rPr sz="800" b="1">
                          <a:solidFill>
                            <a:srgbClr val="2E7D32"/>
                          </a:solidFill>
                          <a:latin typeface="Calibri"/>
                        </a:rPr>
                        <a:t>▲ 10.8%</a:t>
                      </a:r>
                    </a:p>
                  </a:txBody>
                  <a:tcPr marL="85725" marR="38100" marT="19050" marB="19050" anchor="ctr">
                    <a:solidFill>
                      <a:srgbClr val="FFFFFF"/>
                    </a:solidFill>
                  </a:tcPr>
                </a:tc>
                <a:tc>
                  <a:txBody>
                    <a:bodyPr wrap="none"/>
                    <a:lstStyle/>
                    <a:p>
                      <a:pPr algn="l"/>
                      <a:r>
                        <a:rPr sz="800" b="1">
                          <a:solidFill>
                            <a:srgbClr val="2E7D32"/>
                          </a:solidFill>
                          <a:latin typeface="Calibri"/>
                        </a:rPr>
                        <a:t>▲ 10.1%</a:t>
                      </a:r>
                    </a:p>
                  </a:txBody>
                  <a:tcPr marL="85725" marR="38100" marT="19050" marB="19050" anchor="ctr">
                    <a:solidFill>
                      <a:srgbClr val="FFFFFF"/>
                    </a:solidFill>
                  </a:tcPr>
                </a:tc>
                <a:tc>
                  <a:txBody>
                    <a:bodyPr wrap="none"/>
                    <a:lstStyle/>
                    <a:p>
                      <a:pPr algn="l"/>
                      <a:r>
                        <a:rPr sz="800" b="1">
                          <a:solidFill>
                            <a:srgbClr val="2E7D32"/>
                          </a:solidFill>
                          <a:latin typeface="Calibri"/>
                        </a:rPr>
                        <a:t>▲ 9.6%</a:t>
                      </a:r>
                    </a:p>
                  </a:txBody>
                  <a:tcPr marL="85725" marR="38100" marT="19050" marB="19050" anchor="ctr">
                    <a:solidFill>
                      <a:srgbClr val="FFFFFF"/>
                    </a:solidFill>
                  </a:tcPr>
                </a:tc>
                <a:tc>
                  <a:txBody>
                    <a:bodyPr wrap="none"/>
                    <a:lstStyle/>
                    <a:p>
                      <a:pPr algn="l"/>
                      <a:r>
                        <a:rPr sz="800" b="1">
                          <a:solidFill>
                            <a:srgbClr val="2E7D32"/>
                          </a:solidFill>
                          <a:latin typeface="Calibri"/>
                        </a:rPr>
                        <a:t>▲ 9.2%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40 mg</a:t>
                      </a:r>
                    </a:p>
                  </a:txBody>
                  <a:tcPr marL="85725" marR="38100" marT="19050" marB="19050" anchor="ctr">
                    <a:solidFill>
                      <a:srgbClr val="F5F8FA"/>
                    </a:solidFill>
                  </a:tcPr>
                </a:tc>
                <a:tc>
                  <a:txBody>
                    <a:bodyPr wrap="none"/>
                    <a:lstStyle/>
                    <a:p>
                      <a:pPr algn="l"/>
                      <a:r>
                        <a:rPr sz="800" b="1">
                          <a:solidFill>
                            <a:srgbClr val="2E7D32"/>
                          </a:solidFill>
                          <a:latin typeface="Calibri"/>
                        </a:rPr>
                        <a:t>▲ 17.0%</a:t>
                      </a:r>
                    </a:p>
                  </a:txBody>
                  <a:tcPr marL="85725" marR="38100" marT="19050" marB="19050" anchor="ctr">
                    <a:solidFill>
                      <a:srgbClr val="F5F8FA"/>
                    </a:solidFill>
                  </a:tcPr>
                </a:tc>
                <a:tc>
                  <a:txBody>
                    <a:bodyPr wrap="none"/>
                    <a:lstStyle/>
                    <a:p>
                      <a:pPr algn="l"/>
                      <a:r>
                        <a:rPr sz="800" b="1">
                          <a:solidFill>
                            <a:srgbClr val="2E7D32"/>
                          </a:solidFill>
                          <a:latin typeface="Calibri"/>
                        </a:rPr>
                        <a:t>▲ 24.1%</a:t>
                      </a:r>
                    </a:p>
                  </a:txBody>
                  <a:tcPr marL="85725" marR="38100" marT="19050" marB="19050" anchor="ctr">
                    <a:solidFill>
                      <a:srgbClr val="F5F8FA"/>
                    </a:solidFill>
                  </a:tcPr>
                </a:tc>
                <a:tc>
                  <a:txBody>
                    <a:bodyPr wrap="none"/>
                    <a:lstStyle/>
                    <a:p>
                      <a:pPr algn="l"/>
                      <a:r>
                        <a:rPr sz="800" b="1">
                          <a:solidFill>
                            <a:srgbClr val="2E7D32"/>
                          </a:solidFill>
                          <a:latin typeface="Calibri"/>
                        </a:rPr>
                        <a:t>▲ 28.1%</a:t>
                      </a:r>
                    </a:p>
                  </a:txBody>
                  <a:tcPr marL="85725" marR="38100" marT="19050" marB="19050" anchor="ctr">
                    <a:solidFill>
                      <a:srgbClr val="F5F8FA"/>
                    </a:solidFill>
                  </a:tcPr>
                </a:tc>
                <a:tc>
                  <a:txBody>
                    <a:bodyPr wrap="none"/>
                    <a:lstStyle/>
                    <a:p>
                      <a:pPr algn="l"/>
                      <a:r>
                        <a:rPr sz="800" b="1">
                          <a:solidFill>
                            <a:srgbClr val="2E7D32"/>
                          </a:solidFill>
                          <a:latin typeface="Calibri"/>
                        </a:rPr>
                        <a:t>▲ 25.4%</a:t>
                      </a:r>
                    </a:p>
                  </a:txBody>
                  <a:tcPr marL="85725" marR="38100" marT="19050" marB="19050" anchor="ctr">
                    <a:solidFill>
                      <a:srgbClr val="F5F8FA"/>
                    </a:solidFill>
                  </a:tcPr>
                </a:tc>
                <a:tc>
                  <a:txBody>
                    <a:bodyPr wrap="none"/>
                    <a:lstStyle/>
                    <a:p>
                      <a:pPr algn="l"/>
                      <a:r>
                        <a:rPr sz="800" b="1">
                          <a:solidFill>
                            <a:srgbClr val="2E7D32"/>
                          </a:solidFill>
                          <a:latin typeface="Calibri"/>
                        </a:rPr>
                        <a:t>▲ 21.6%</a:t>
                      </a:r>
                    </a:p>
                  </a:txBody>
                  <a:tcPr marL="85725" marR="38100" marT="19050" marB="19050" anchor="ctr">
                    <a:solidFill>
                      <a:srgbClr val="F5F8FA"/>
                    </a:solidFill>
                  </a:tcPr>
                </a:tc>
                <a:tc>
                  <a:txBody>
                    <a:bodyPr wrap="none"/>
                    <a:lstStyle/>
                    <a:p>
                      <a:pPr algn="l"/>
                      <a:r>
                        <a:rPr sz="800" b="1">
                          <a:solidFill>
                            <a:srgbClr val="2E7D32"/>
                          </a:solidFill>
                          <a:latin typeface="Calibri"/>
                        </a:rPr>
                        <a:t>▲ 19.4%</a:t>
                      </a:r>
                    </a:p>
                  </a:txBody>
                  <a:tcPr marL="85725" marR="38100" marT="19050" marB="19050" anchor="ctr">
                    <a:solidFill>
                      <a:srgbClr val="F5F8FA"/>
                    </a:solidFill>
                  </a:tcPr>
                </a:tc>
                <a:tc>
                  <a:txBody>
                    <a:bodyPr wrap="none"/>
                    <a:lstStyle/>
                    <a:p>
                      <a:pPr algn="l"/>
                      <a:r>
                        <a:rPr sz="800" b="1">
                          <a:solidFill>
                            <a:srgbClr val="2E7D32"/>
                          </a:solidFill>
                          <a:latin typeface="Calibri"/>
                        </a:rPr>
                        <a:t>▲ 16.9%</a:t>
                      </a:r>
                    </a:p>
                  </a:txBody>
                  <a:tcPr marL="85725" marR="38100" marT="19050" marB="19050" anchor="ctr">
                    <a:solidFill>
                      <a:srgbClr val="F5F8FA"/>
                    </a:solidFill>
                  </a:tcPr>
                </a:tc>
                <a:tc>
                  <a:txBody>
                    <a:bodyPr wrap="none"/>
                    <a:lstStyle/>
                    <a:p>
                      <a:pPr algn="l"/>
                      <a:r>
                        <a:rPr sz="800" b="1">
                          <a:solidFill>
                            <a:srgbClr val="2E7D32"/>
                          </a:solidFill>
                          <a:latin typeface="Calibri"/>
                        </a:rPr>
                        <a:t>▲ 15.3%</a:t>
                      </a:r>
                    </a:p>
                  </a:txBody>
                  <a:tcPr marL="85725" marR="38100" marT="19050" marB="19050" anchor="ctr">
                    <a:solidFill>
                      <a:srgbClr val="F5F8FA"/>
                    </a:solidFill>
                  </a:tcPr>
                </a:tc>
                <a:tc>
                  <a:txBody>
                    <a:bodyPr wrap="none"/>
                    <a:lstStyle/>
                    <a:p>
                      <a:pPr algn="l"/>
                      <a:r>
                        <a:rPr sz="800" b="1">
                          <a:solidFill>
                            <a:srgbClr val="2E7D32"/>
                          </a:solidFill>
                          <a:latin typeface="Calibri"/>
                        </a:rPr>
                        <a:t>▲ 13.9%</a:t>
                      </a:r>
                    </a:p>
                  </a:txBody>
                  <a:tcPr marL="85725" marR="38100" marT="19050" marB="19050" anchor="ctr">
                    <a:solidFill>
                      <a:srgbClr val="F5F8FA"/>
                    </a:solidFill>
                  </a:tcPr>
                </a:tc>
                <a:tc>
                  <a:txBody>
                    <a:bodyPr wrap="none"/>
                    <a:lstStyle/>
                    <a:p>
                      <a:pPr algn="l"/>
                      <a:r>
                        <a:rPr sz="800" b="1">
                          <a:solidFill>
                            <a:srgbClr val="2E7D32"/>
                          </a:solidFill>
                          <a:latin typeface="Calibri"/>
                        </a:rPr>
                        <a:t>▲ 12.7%</a:t>
                      </a:r>
                    </a:p>
                  </a:txBody>
                  <a:tcPr marL="85725" marR="38100" marT="19050" marB="19050" anchor="ctr">
                    <a:solidFill>
                      <a:srgbClr val="F5F8FA"/>
                    </a:solidFill>
                  </a:tcPr>
                </a:tc>
                <a:tc>
                  <a:txBody>
                    <a:bodyPr wrap="none"/>
                    <a:lstStyle/>
                    <a:p>
                      <a:pPr algn="l"/>
                      <a:r>
                        <a:rPr sz="800" b="1">
                          <a:solidFill>
                            <a:srgbClr val="2E7D32"/>
                          </a:solidFill>
                          <a:latin typeface="Calibri"/>
                        </a:rPr>
                        <a:t>▲ 11.8%</a:t>
                      </a:r>
                    </a:p>
                  </a:txBody>
                  <a:tcPr marL="85725" marR="38100" marT="19050" marB="19050" anchor="ctr">
                    <a:solidFill>
                      <a:srgbClr val="F5F8FA"/>
                    </a:solidFill>
                  </a:tcPr>
                </a:tc>
                <a:tc>
                  <a:txBody>
                    <a:bodyPr wrap="none"/>
                    <a:lstStyle/>
                    <a:p>
                      <a:pPr algn="l"/>
                      <a:r>
                        <a:rPr sz="800" b="1">
                          <a:solidFill>
                            <a:srgbClr val="2E7D32"/>
                          </a:solidFill>
                          <a:latin typeface="Calibri"/>
                        </a:rPr>
                        <a:t>▲ 10.9%</a:t>
                      </a:r>
                    </a:p>
                  </a:txBody>
                  <a:tcPr marL="85725" marR="38100" marT="19050" marB="19050" anchor="ctr">
                    <a:solidFill>
                      <a:srgbClr val="F5F8FA"/>
                    </a:solidFill>
                  </a:tcPr>
                </a:tc>
                <a:tc>
                  <a:txBody>
                    <a:bodyPr wrap="none"/>
                    <a:lstStyle/>
                    <a:p>
                      <a:pPr algn="l"/>
                      <a:r>
                        <a:rPr sz="800" b="1">
                          <a:solidFill>
                            <a:srgbClr val="2E7D32"/>
                          </a:solidFill>
                          <a:latin typeface="Calibri"/>
                        </a:rPr>
                        <a:t>▲ 10.3%</a:t>
                      </a:r>
                    </a:p>
                  </a:txBody>
                  <a:tcPr marL="85725" marR="38100" marT="19050" marB="19050" anchor="ctr">
                    <a:solidFill>
                      <a:srgbClr val="F5F8FA"/>
                    </a:solidFill>
                  </a:tcPr>
                </a:tc>
                <a:tc>
                  <a:txBody>
                    <a:bodyPr wrap="none"/>
                    <a:lstStyle/>
                    <a:p>
                      <a:pPr algn="l"/>
                      <a:r>
                        <a:rPr sz="800" b="1">
                          <a:solidFill>
                            <a:srgbClr val="2E7D32"/>
                          </a:solidFill>
                          <a:latin typeface="Calibri"/>
                        </a:rPr>
                        <a:t>▲ 9.7%</a:t>
                      </a:r>
                    </a:p>
                  </a:txBody>
                  <a:tcPr marL="85725" marR="38100" marT="19050" marB="19050" anchor="ctr">
                    <a:solidFill>
                      <a:srgbClr val="F5F8FA"/>
                    </a:solidFill>
                  </a:tcPr>
                </a:tc>
                <a:tc>
                  <a:txBody>
                    <a:bodyPr wrap="none"/>
                    <a:lstStyle/>
                    <a:p>
                      <a:pPr algn="l"/>
                      <a:r>
                        <a:rPr sz="800" b="1">
                          <a:solidFill>
                            <a:srgbClr val="2E7D32"/>
                          </a:solidFill>
                          <a:latin typeface="Calibri"/>
                        </a:rPr>
                        <a:t>▲ 9.3%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80 mg</a:t>
                      </a:r>
                    </a:p>
                  </a:txBody>
                  <a:tcPr marL="85725" marR="38100" marT="19050" marB="19050" anchor="ctr">
                    <a:solidFill>
                      <a:srgbClr val="FFFFFF"/>
                    </a:solidFill>
                  </a:tcPr>
                </a:tc>
                <a:tc>
                  <a:txBody>
                    <a:bodyPr wrap="none"/>
                    <a:lstStyle/>
                    <a:p>
                      <a:pPr algn="l"/>
                      <a:r>
                        <a:rPr sz="800" b="1">
                          <a:solidFill>
                            <a:srgbClr val="2E7D32"/>
                          </a:solidFill>
                          <a:latin typeface="Calibri"/>
                        </a:rPr>
                        <a:t>▲ 16.8%</a:t>
                      </a:r>
                    </a:p>
                  </a:txBody>
                  <a:tcPr marL="85725" marR="38100" marT="19050" marB="19050" anchor="ctr">
                    <a:solidFill>
                      <a:srgbClr val="FFFFFF"/>
                    </a:solidFill>
                  </a:tcPr>
                </a:tc>
                <a:tc>
                  <a:txBody>
                    <a:bodyPr wrap="none"/>
                    <a:lstStyle/>
                    <a:p>
                      <a:pPr algn="l"/>
                      <a:r>
                        <a:rPr sz="800" b="1">
                          <a:solidFill>
                            <a:srgbClr val="2E7D32"/>
                          </a:solidFill>
                          <a:latin typeface="Calibri"/>
                        </a:rPr>
                        <a:t>▲ 23.9%</a:t>
                      </a:r>
                    </a:p>
                  </a:txBody>
                  <a:tcPr marL="85725" marR="38100" marT="19050" marB="19050" anchor="ctr">
                    <a:solidFill>
                      <a:srgbClr val="FFFFFF"/>
                    </a:solidFill>
                  </a:tcPr>
                </a:tc>
                <a:tc>
                  <a:txBody>
                    <a:bodyPr wrap="none"/>
                    <a:lstStyle/>
                    <a:p>
                      <a:pPr algn="l"/>
                      <a:r>
                        <a:rPr sz="800" b="1">
                          <a:solidFill>
                            <a:srgbClr val="2E7D32"/>
                          </a:solidFill>
                          <a:latin typeface="Calibri"/>
                        </a:rPr>
                        <a:t>▲ 27.9%</a:t>
                      </a:r>
                    </a:p>
                  </a:txBody>
                  <a:tcPr marL="85725" marR="38100" marT="19050" marB="19050" anchor="ctr">
                    <a:solidFill>
                      <a:srgbClr val="FFFFFF"/>
                    </a:solidFill>
                  </a:tcPr>
                </a:tc>
                <a:tc>
                  <a:txBody>
                    <a:bodyPr wrap="none"/>
                    <a:lstStyle/>
                    <a:p>
                      <a:pPr algn="l"/>
                      <a:r>
                        <a:rPr sz="800" b="1">
                          <a:solidFill>
                            <a:srgbClr val="2E7D32"/>
                          </a:solidFill>
                          <a:latin typeface="Calibri"/>
                        </a:rPr>
                        <a:t>▲ 25.1%</a:t>
                      </a:r>
                    </a:p>
                  </a:txBody>
                  <a:tcPr marL="85725" marR="38100" marT="19050" marB="19050" anchor="ctr">
                    <a:solidFill>
                      <a:srgbClr val="FFFFFF"/>
                    </a:solidFill>
                  </a:tcPr>
                </a:tc>
                <a:tc>
                  <a:txBody>
                    <a:bodyPr wrap="none"/>
                    <a:lstStyle/>
                    <a:p>
                      <a:pPr algn="l"/>
                      <a:r>
                        <a:rPr sz="800" b="1">
                          <a:solidFill>
                            <a:srgbClr val="2E7D32"/>
                          </a:solidFill>
                          <a:latin typeface="Calibri"/>
                        </a:rPr>
                        <a:t>▲ 21.4%</a:t>
                      </a:r>
                    </a:p>
                  </a:txBody>
                  <a:tcPr marL="85725" marR="38100" marT="19050" marB="19050" anchor="ctr">
                    <a:solidFill>
                      <a:srgbClr val="FFFFFF"/>
                    </a:solidFill>
                  </a:tcPr>
                </a:tc>
                <a:tc>
                  <a:txBody>
                    <a:bodyPr wrap="none"/>
                    <a:lstStyle/>
                    <a:p>
                      <a:pPr algn="l"/>
                      <a:r>
                        <a:rPr sz="800" b="1">
                          <a:solidFill>
                            <a:srgbClr val="2E7D32"/>
                          </a:solidFill>
                          <a:latin typeface="Calibri"/>
                        </a:rPr>
                        <a:t>▲ 19.2%</a:t>
                      </a:r>
                    </a:p>
                  </a:txBody>
                  <a:tcPr marL="85725" marR="38100" marT="19050" marB="19050" anchor="ctr">
                    <a:solidFill>
                      <a:srgbClr val="FFFFFF"/>
                    </a:solidFill>
                  </a:tcPr>
                </a:tc>
                <a:tc>
                  <a:txBody>
                    <a:bodyPr wrap="none"/>
                    <a:lstStyle/>
                    <a:p>
                      <a:pPr algn="l"/>
                      <a:r>
                        <a:rPr sz="800" b="1">
                          <a:solidFill>
                            <a:srgbClr val="2E7D32"/>
                          </a:solidFill>
                          <a:latin typeface="Calibri"/>
                        </a:rPr>
                        <a:t>▲ 16.8%</a:t>
                      </a:r>
                    </a:p>
                  </a:txBody>
                  <a:tcPr marL="85725" marR="38100" marT="19050" marB="19050" anchor="ctr">
                    <a:solidFill>
                      <a:srgbClr val="FFFFFF"/>
                    </a:solidFill>
                  </a:tcPr>
                </a:tc>
                <a:tc>
                  <a:txBody>
                    <a:bodyPr wrap="none"/>
                    <a:lstStyle/>
                    <a:p>
                      <a:pPr algn="l"/>
                      <a:r>
                        <a:rPr sz="800" b="1">
                          <a:solidFill>
                            <a:srgbClr val="2E7D32"/>
                          </a:solidFill>
                          <a:latin typeface="Calibri"/>
                        </a:rPr>
                        <a:t>▲ 15.1%</a:t>
                      </a:r>
                    </a:p>
                  </a:txBody>
                  <a:tcPr marL="85725" marR="38100" marT="19050" marB="19050" anchor="ctr">
                    <a:solidFill>
                      <a:srgbClr val="FFFFFF"/>
                    </a:solidFill>
                  </a:tcPr>
                </a:tc>
                <a:tc>
                  <a:txBody>
                    <a:bodyPr wrap="none"/>
                    <a:lstStyle/>
                    <a:p>
                      <a:pPr algn="l"/>
                      <a:r>
                        <a:rPr sz="800" b="1">
                          <a:solidFill>
                            <a:srgbClr val="2E7D32"/>
                          </a:solidFill>
                          <a:latin typeface="Calibri"/>
                        </a:rPr>
                        <a:t>▲ 13.8%</a:t>
                      </a:r>
                    </a:p>
                  </a:txBody>
                  <a:tcPr marL="85725" marR="38100" marT="19050" marB="19050" anchor="ctr">
                    <a:solidFill>
                      <a:srgbClr val="FFFFFF"/>
                    </a:solidFill>
                  </a:tcPr>
                </a:tc>
                <a:tc>
                  <a:txBody>
                    <a:bodyPr wrap="none"/>
                    <a:lstStyle/>
                    <a:p>
                      <a:pPr algn="l"/>
                      <a:r>
                        <a:rPr sz="800" b="1">
                          <a:solidFill>
                            <a:srgbClr val="2E7D32"/>
                          </a:solidFill>
                          <a:latin typeface="Calibri"/>
                        </a:rPr>
                        <a:t>▲ 12.6%</a:t>
                      </a:r>
                    </a:p>
                  </a:txBody>
                  <a:tcPr marL="85725" marR="38100" marT="19050" marB="19050" anchor="ctr">
                    <a:solidFill>
                      <a:srgbClr val="FFFFFF"/>
                    </a:solidFill>
                  </a:tcPr>
                </a:tc>
                <a:tc>
                  <a:txBody>
                    <a:bodyPr wrap="none"/>
                    <a:lstStyle/>
                    <a:p>
                      <a:pPr algn="l"/>
                      <a:r>
                        <a:rPr sz="800" b="1">
                          <a:solidFill>
                            <a:srgbClr val="2E7D32"/>
                          </a:solidFill>
                          <a:latin typeface="Calibri"/>
                        </a:rPr>
                        <a:t>▲ 11.7%</a:t>
                      </a:r>
                    </a:p>
                  </a:txBody>
                  <a:tcPr marL="85725" marR="38100" marT="19050" marB="19050" anchor="ctr">
                    <a:solidFill>
                      <a:srgbClr val="FFFFFF"/>
                    </a:solidFill>
                  </a:tcPr>
                </a:tc>
                <a:tc>
                  <a:txBody>
                    <a:bodyPr wrap="none"/>
                    <a:lstStyle/>
                    <a:p>
                      <a:pPr algn="l"/>
                      <a:r>
                        <a:rPr sz="800" b="1">
                          <a:solidFill>
                            <a:srgbClr val="2E7D32"/>
                          </a:solidFill>
                          <a:latin typeface="Calibri"/>
                        </a:rPr>
                        <a:t>▲ 10.8%</a:t>
                      </a:r>
                    </a:p>
                  </a:txBody>
                  <a:tcPr marL="85725" marR="38100" marT="19050" marB="19050" anchor="ctr">
                    <a:solidFill>
                      <a:srgbClr val="FFFFFF"/>
                    </a:solidFill>
                  </a:tcPr>
                </a:tc>
                <a:tc>
                  <a:txBody>
                    <a:bodyPr wrap="none"/>
                    <a:lstStyle/>
                    <a:p>
                      <a:pPr algn="l"/>
                      <a:r>
                        <a:rPr sz="800" b="1">
                          <a:solidFill>
                            <a:srgbClr val="2E7D32"/>
                          </a:solidFill>
                          <a:latin typeface="Calibri"/>
                        </a:rPr>
                        <a:t>▲ 10.2%</a:t>
                      </a:r>
                    </a:p>
                  </a:txBody>
                  <a:tcPr marL="85725" marR="38100" marT="19050" marB="19050" anchor="ctr">
                    <a:solidFill>
                      <a:srgbClr val="FFFFFF"/>
                    </a:solidFill>
                  </a:tcPr>
                </a:tc>
                <a:tc>
                  <a:txBody>
                    <a:bodyPr wrap="none"/>
                    <a:lstStyle/>
                    <a:p>
                      <a:pPr algn="l"/>
                      <a:r>
                        <a:rPr sz="800" b="1">
                          <a:solidFill>
                            <a:srgbClr val="2E7D32"/>
                          </a:solidFill>
                          <a:latin typeface="Calibri"/>
                        </a:rPr>
                        <a:t>▲ 9.7%</a:t>
                      </a:r>
                    </a:p>
                  </a:txBody>
                  <a:tcPr marL="85725" marR="38100" marT="19050" marB="19050" anchor="ctr">
                    <a:solidFill>
                      <a:srgbClr val="FFFFFF"/>
                    </a:solidFill>
                  </a:tcPr>
                </a:tc>
                <a:tc>
                  <a:txBody>
                    <a:bodyPr wrap="none"/>
                    <a:lstStyle/>
                    <a:p>
                      <a:pPr algn="l"/>
                      <a:r>
                        <a:rPr sz="800" b="1">
                          <a:solidFill>
                            <a:srgbClr val="2E7D32"/>
                          </a:solidFill>
                          <a:latin typeface="Calibri"/>
                        </a:rPr>
                        <a:t>▲ 9.3%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100 mg/mL</a:t>
                      </a:r>
                    </a:p>
                  </a:txBody>
                  <a:tcPr marL="85725" marR="38100" marT="19050" marB="19050" anchor="ctr">
                    <a:solidFill>
                      <a:srgbClr val="F5F8FA"/>
                    </a:solidFill>
                  </a:tcPr>
                </a:tc>
                <a:tc>
                  <a:txBody>
                    <a:bodyPr wrap="none"/>
                    <a:lstStyle/>
                    <a:p>
                      <a:pPr algn="l"/>
                      <a:r>
                        <a:rPr sz="800" b="1">
                          <a:solidFill>
                            <a:srgbClr val="A86F00"/>
                          </a:solidFill>
                          <a:latin typeface="Calibri"/>
                        </a:rPr>
                        <a:t>▶ 15.4%</a:t>
                      </a:r>
                    </a:p>
                  </a:txBody>
                  <a:tcPr marL="85725" marR="38100" marT="19050" marB="19050" anchor="ctr">
                    <a:solidFill>
                      <a:srgbClr val="F5F8FA"/>
                    </a:solidFill>
                  </a:tcPr>
                </a:tc>
                <a:tc>
                  <a:txBody>
                    <a:bodyPr wrap="none"/>
                    <a:lstStyle/>
                    <a:p>
                      <a:pPr algn="l"/>
                      <a:r>
                        <a:rPr sz="800" b="1">
                          <a:solidFill>
                            <a:srgbClr val="A86F00"/>
                          </a:solidFill>
                          <a:latin typeface="Calibri"/>
                        </a:rPr>
                        <a:t>▶ 22.4%</a:t>
                      </a:r>
                    </a:p>
                  </a:txBody>
                  <a:tcPr marL="85725" marR="38100" marT="19050" marB="19050" anchor="ctr">
                    <a:solidFill>
                      <a:srgbClr val="F5F8FA"/>
                    </a:solidFill>
                  </a:tcPr>
                </a:tc>
                <a:tc>
                  <a:txBody>
                    <a:bodyPr wrap="none"/>
                    <a:lstStyle/>
                    <a:p>
                      <a:pPr algn="l"/>
                      <a:r>
                        <a:rPr sz="800" b="1">
                          <a:solidFill>
                            <a:srgbClr val="A86F00"/>
                          </a:solidFill>
                          <a:latin typeface="Calibri"/>
                        </a:rPr>
                        <a:t>▶ 26.3%</a:t>
                      </a:r>
                    </a:p>
                  </a:txBody>
                  <a:tcPr marL="85725" marR="38100" marT="19050" marB="19050" anchor="ctr">
                    <a:solidFill>
                      <a:srgbClr val="F5F8FA"/>
                    </a:solidFill>
                  </a:tcPr>
                </a:tc>
                <a:tc>
                  <a:txBody>
                    <a:bodyPr wrap="none"/>
                    <a:lstStyle/>
                    <a:p>
                      <a:pPr algn="l"/>
                      <a:r>
                        <a:rPr sz="800" b="1">
                          <a:solidFill>
                            <a:srgbClr val="A86F00"/>
                          </a:solidFill>
                          <a:latin typeface="Calibri"/>
                        </a:rPr>
                        <a:t>▶ 23.6%</a:t>
                      </a:r>
                    </a:p>
                  </a:txBody>
                  <a:tcPr marL="85725" marR="38100" marT="19050" marB="19050" anchor="ctr">
                    <a:solidFill>
                      <a:srgbClr val="F5F8FA"/>
                    </a:solidFill>
                  </a:tcPr>
                </a:tc>
                <a:tc>
                  <a:txBody>
                    <a:bodyPr wrap="none"/>
                    <a:lstStyle/>
                    <a:p>
                      <a:pPr algn="l"/>
                      <a:r>
                        <a:rPr sz="800" b="1">
                          <a:solidFill>
                            <a:srgbClr val="A86F00"/>
                          </a:solidFill>
                          <a:latin typeface="Calibri"/>
                        </a:rPr>
                        <a:t>▶ 19.9%</a:t>
                      </a:r>
                    </a:p>
                  </a:txBody>
                  <a:tcPr marL="85725" marR="38100" marT="19050" marB="19050" anchor="ctr">
                    <a:solidFill>
                      <a:srgbClr val="F5F8FA"/>
                    </a:solidFill>
                  </a:tcPr>
                </a:tc>
                <a:tc>
                  <a:txBody>
                    <a:bodyPr wrap="none"/>
                    <a:lstStyle/>
                    <a:p>
                      <a:pPr algn="l"/>
                      <a:r>
                        <a:rPr sz="800" b="1">
                          <a:solidFill>
                            <a:srgbClr val="A86F00"/>
                          </a:solidFill>
                          <a:latin typeface="Calibri"/>
                        </a:rPr>
                        <a:t>▶ 17.7%</a:t>
                      </a:r>
                    </a:p>
                  </a:txBody>
                  <a:tcPr marL="85725" marR="38100" marT="19050" marB="19050" anchor="ctr">
                    <a:solidFill>
                      <a:srgbClr val="F5F8FA"/>
                    </a:solidFill>
                  </a:tcPr>
                </a:tc>
                <a:tc>
                  <a:txBody>
                    <a:bodyPr wrap="none"/>
                    <a:lstStyle/>
                    <a:p>
                      <a:pPr algn="l"/>
                      <a:r>
                        <a:rPr sz="800" b="1">
                          <a:solidFill>
                            <a:srgbClr val="A86F00"/>
                          </a:solidFill>
                          <a:latin typeface="Calibri"/>
                        </a:rPr>
                        <a:t>▶ 15.3%</a:t>
                      </a:r>
                    </a:p>
                  </a:txBody>
                  <a:tcPr marL="85725" marR="38100" marT="19050" marB="19050" anchor="ctr">
                    <a:solidFill>
                      <a:srgbClr val="F5F8FA"/>
                    </a:solidFill>
                  </a:tcPr>
                </a:tc>
                <a:tc>
                  <a:txBody>
                    <a:bodyPr wrap="none"/>
                    <a:lstStyle/>
                    <a:p>
                      <a:pPr algn="l"/>
                      <a:r>
                        <a:rPr sz="800" b="1">
                          <a:solidFill>
                            <a:srgbClr val="A86F00"/>
                          </a:solidFill>
                          <a:latin typeface="Calibri"/>
                        </a:rPr>
                        <a:t>▶ 13.6%</a:t>
                      </a:r>
                    </a:p>
                  </a:txBody>
                  <a:tcPr marL="85725" marR="38100" marT="19050" marB="19050" anchor="ctr">
                    <a:solidFill>
                      <a:srgbClr val="F5F8FA"/>
                    </a:solidFill>
                  </a:tcPr>
                </a:tc>
                <a:tc>
                  <a:txBody>
                    <a:bodyPr wrap="none"/>
                    <a:lstStyle/>
                    <a:p>
                      <a:pPr algn="l"/>
                      <a:r>
                        <a:rPr sz="800" b="1">
                          <a:solidFill>
                            <a:srgbClr val="A86F00"/>
                          </a:solidFill>
                          <a:latin typeface="Calibri"/>
                        </a:rPr>
                        <a:t>▶ 12.3%</a:t>
                      </a:r>
                    </a:p>
                  </a:txBody>
                  <a:tcPr marL="85725" marR="38100" marT="19050" marB="19050" anchor="ctr">
                    <a:solidFill>
                      <a:srgbClr val="F5F8FA"/>
                    </a:solidFill>
                  </a:tcPr>
                </a:tc>
                <a:tc>
                  <a:txBody>
                    <a:bodyPr wrap="none"/>
                    <a:lstStyle/>
                    <a:p>
                      <a:pPr algn="l"/>
                      <a:r>
                        <a:rPr sz="800" b="1">
                          <a:solidFill>
                            <a:srgbClr val="A86F00"/>
                          </a:solidFill>
                          <a:latin typeface="Calibri"/>
                        </a:rPr>
                        <a:t>▶ 11.1%</a:t>
                      </a:r>
                    </a:p>
                  </a:txBody>
                  <a:tcPr marL="85725" marR="38100" marT="19050" marB="19050" anchor="ctr">
                    <a:solidFill>
                      <a:srgbClr val="F5F8FA"/>
                    </a:solidFill>
                  </a:tcPr>
                </a:tc>
                <a:tc>
                  <a:txBody>
                    <a:bodyPr wrap="none"/>
                    <a:lstStyle/>
                    <a:p>
                      <a:pPr algn="l"/>
                      <a:r>
                        <a:rPr sz="800" b="1">
                          <a:solidFill>
                            <a:srgbClr val="A86F00"/>
                          </a:solidFill>
                          <a:latin typeface="Calibri"/>
                        </a:rPr>
                        <a:t>▶ 10.2%</a:t>
                      </a:r>
                    </a:p>
                  </a:txBody>
                  <a:tcPr marL="85725" marR="38100" marT="19050" marB="19050" anchor="ctr">
                    <a:solidFill>
                      <a:srgbClr val="F5F8FA"/>
                    </a:solidFill>
                  </a:tcPr>
                </a:tc>
                <a:tc>
                  <a:txBody>
                    <a:bodyPr wrap="none"/>
                    <a:lstStyle/>
                    <a:p>
                      <a:pPr algn="l"/>
                      <a:r>
                        <a:rPr sz="800" b="1">
                          <a:solidFill>
                            <a:srgbClr val="A86F00"/>
                          </a:solidFill>
                          <a:latin typeface="Calibri"/>
                        </a:rPr>
                        <a:t>▶ 9.3%</a:t>
                      </a:r>
                    </a:p>
                  </a:txBody>
                  <a:tcPr marL="85725" marR="38100" marT="19050" marB="19050" anchor="ctr">
                    <a:solidFill>
                      <a:srgbClr val="F5F8FA"/>
                    </a:solidFill>
                  </a:tcPr>
                </a:tc>
                <a:tc>
                  <a:txBody>
                    <a:bodyPr wrap="none"/>
                    <a:lstStyle/>
                    <a:p>
                      <a:pPr algn="l"/>
                      <a:r>
                        <a:rPr sz="800" b="1">
                          <a:solidFill>
                            <a:srgbClr val="A86F00"/>
                          </a:solidFill>
                          <a:latin typeface="Calibri"/>
                        </a:rPr>
                        <a:t>▶ 8.7%</a:t>
                      </a:r>
                    </a:p>
                  </a:txBody>
                  <a:tcPr marL="85725" marR="38100" marT="19050" marB="19050" anchor="ctr">
                    <a:solidFill>
                      <a:srgbClr val="F5F8FA"/>
                    </a:solidFill>
                  </a:tcPr>
                </a:tc>
                <a:tc>
                  <a:txBody>
                    <a:bodyPr wrap="none"/>
                    <a:lstStyle/>
                    <a:p>
                      <a:pPr algn="l"/>
                      <a:r>
                        <a:rPr sz="800" b="1">
                          <a:solidFill>
                            <a:srgbClr val="A86F00"/>
                          </a:solidFill>
                          <a:latin typeface="Calibri"/>
                        </a:rPr>
                        <a:t>▶ 8.1%</a:t>
                      </a:r>
                    </a:p>
                  </a:txBody>
                  <a:tcPr marL="85725" marR="38100" marT="19050" marB="19050" anchor="ctr">
                    <a:solidFill>
                      <a:srgbClr val="F5F8FA"/>
                    </a:solidFill>
                  </a:tcPr>
                </a:tc>
                <a:tc>
                  <a:txBody>
                    <a:bodyPr wrap="none"/>
                    <a:lstStyle/>
                    <a:p>
                      <a:pPr algn="l"/>
                      <a:r>
                        <a:rPr sz="800" b="1">
                          <a:solidFill>
                            <a:srgbClr val="A86F00"/>
                          </a:solidFill>
                          <a:latin typeface="Calibri"/>
                        </a:rPr>
                        <a:t>▶ 7.7%</a:t>
                      </a:r>
                    </a:p>
                  </a:txBody>
                  <a:tcPr marL="85725" marR="38100" marT="19050" marB="19050" anchor="ctr">
                    <a:solidFill>
                      <a:srgbClr val="F5F8FA"/>
                    </a:solidFill>
                  </a:tcPr>
                </a:tc>
              </a:tr>
            </a:tbl>
          </a:graphicData>
        </a:graphic>
      </p:graphicFrame>
      <p:sp>
        <p:nvSpPr>
          <p:cNvPr id="14" name="TextBox 13"/>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Value YoY, By Dosage / Concentration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7" name="Table 16"/>
          <p:cNvGraphicFramePr>
            <a:graphicFrameLocks noGrp="1"/>
          </p:cNvGraphicFramePr>
          <p:nvPr/>
        </p:nvGraphicFramePr>
        <p:xfrm>
          <a:off x="238125" y="4143375"/>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Dosage / Concentration</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20 mg</a:t>
                      </a:r>
                    </a:p>
                  </a:txBody>
                  <a:tcPr marL="85725" marR="38100" marT="19050" marB="19050" anchor="ctr">
                    <a:solidFill>
                      <a:srgbClr val="FFFFFF"/>
                    </a:solidFill>
                  </a:tcPr>
                </a:tc>
                <a:tc>
                  <a:txBody>
                    <a:bodyPr wrap="none"/>
                    <a:lstStyle/>
                    <a:p>
                      <a:pPr algn="l"/>
                      <a:r>
                        <a:rPr sz="800" b="1">
                          <a:solidFill>
                            <a:srgbClr val="A86F00"/>
                          </a:solidFill>
                          <a:latin typeface="Calibri"/>
                        </a:rPr>
                        <a:t>▶ 11.5%</a:t>
                      </a:r>
                    </a:p>
                  </a:txBody>
                  <a:tcPr marL="85725" marR="38100" marT="19050" marB="19050" anchor="ctr">
                    <a:solidFill>
                      <a:srgbClr val="FFFFFF"/>
                    </a:solidFill>
                  </a:tcPr>
                </a:tc>
                <a:tc>
                  <a:txBody>
                    <a:bodyPr wrap="none"/>
                    <a:lstStyle/>
                    <a:p>
                      <a:pPr algn="l"/>
                      <a:r>
                        <a:rPr sz="800" b="1">
                          <a:solidFill>
                            <a:srgbClr val="A86F00"/>
                          </a:solidFill>
                          <a:latin typeface="Calibri"/>
                        </a:rPr>
                        <a:t>▶ 18.2%</a:t>
                      </a:r>
                    </a:p>
                  </a:txBody>
                  <a:tcPr marL="85725" marR="38100" marT="19050" marB="19050" anchor="ctr">
                    <a:solidFill>
                      <a:srgbClr val="FFFFFF"/>
                    </a:solidFill>
                  </a:tcPr>
                </a:tc>
                <a:tc>
                  <a:txBody>
                    <a:bodyPr wrap="none"/>
                    <a:lstStyle/>
                    <a:p>
                      <a:pPr algn="l"/>
                      <a:r>
                        <a:rPr sz="800" b="1">
                          <a:solidFill>
                            <a:srgbClr val="A86F00"/>
                          </a:solidFill>
                          <a:latin typeface="Calibri"/>
                        </a:rPr>
                        <a:t>▶ 21.9%</a:t>
                      </a:r>
                    </a:p>
                  </a:txBody>
                  <a:tcPr marL="85725" marR="38100" marT="19050" marB="19050" anchor="ctr">
                    <a:solidFill>
                      <a:srgbClr val="FFFFFF"/>
                    </a:solidFill>
                  </a:tcPr>
                </a:tc>
                <a:tc>
                  <a:txBody>
                    <a:bodyPr wrap="none"/>
                    <a:lstStyle/>
                    <a:p>
                      <a:pPr algn="l"/>
                      <a:r>
                        <a:rPr sz="800" b="1">
                          <a:solidFill>
                            <a:srgbClr val="A86F00"/>
                          </a:solidFill>
                          <a:latin typeface="Calibri"/>
                        </a:rPr>
                        <a:t>▶ 19.3%</a:t>
                      </a:r>
                    </a:p>
                  </a:txBody>
                  <a:tcPr marL="85725" marR="38100" marT="19050" marB="19050" anchor="ctr">
                    <a:solidFill>
                      <a:srgbClr val="FFFFFF"/>
                    </a:solidFill>
                  </a:tcPr>
                </a:tc>
                <a:tc>
                  <a:txBody>
                    <a:bodyPr wrap="none"/>
                    <a:lstStyle/>
                    <a:p>
                      <a:pPr algn="l"/>
                      <a:r>
                        <a:rPr sz="800" b="1">
                          <a:solidFill>
                            <a:srgbClr val="A86F00"/>
                          </a:solidFill>
                          <a:latin typeface="Calibri"/>
                        </a:rPr>
                        <a:t>▶ 15.7%</a:t>
                      </a:r>
                    </a:p>
                  </a:txBody>
                  <a:tcPr marL="85725" marR="38100" marT="19050" marB="19050" anchor="ctr">
                    <a:solidFill>
                      <a:srgbClr val="FFFFFF"/>
                    </a:solidFill>
                  </a:tcPr>
                </a:tc>
                <a:tc>
                  <a:txBody>
                    <a:bodyPr wrap="none"/>
                    <a:lstStyle/>
                    <a:p>
                      <a:pPr algn="l"/>
                      <a:r>
                        <a:rPr sz="800" b="1">
                          <a:solidFill>
                            <a:srgbClr val="A86F00"/>
                          </a:solidFill>
                          <a:latin typeface="Calibri"/>
                        </a:rPr>
                        <a:t>▶ 13.5%</a:t>
                      </a:r>
                    </a:p>
                  </a:txBody>
                  <a:tcPr marL="85725" marR="38100" marT="19050" marB="19050" anchor="ctr">
                    <a:solidFill>
                      <a:srgbClr val="FFFFFF"/>
                    </a:solidFill>
                  </a:tcPr>
                </a:tc>
                <a:tc>
                  <a:txBody>
                    <a:bodyPr wrap="none"/>
                    <a:lstStyle/>
                    <a:p>
                      <a:pPr algn="l"/>
                      <a:r>
                        <a:rPr sz="800" b="1">
                          <a:solidFill>
                            <a:srgbClr val="A86F00"/>
                          </a:solidFill>
                          <a:latin typeface="Calibri"/>
                        </a:rPr>
                        <a:t>▶ 11.2%</a:t>
                      </a:r>
                    </a:p>
                  </a:txBody>
                  <a:tcPr marL="85725" marR="38100" marT="19050" marB="19050" anchor="ctr">
                    <a:solidFill>
                      <a:srgbClr val="FFFFFF"/>
                    </a:solidFill>
                  </a:tcPr>
                </a:tc>
                <a:tc>
                  <a:txBody>
                    <a:bodyPr wrap="none"/>
                    <a:lstStyle/>
                    <a:p>
                      <a:pPr algn="l"/>
                      <a:r>
                        <a:rPr sz="800" b="1">
                          <a:solidFill>
                            <a:srgbClr val="A86F00"/>
                          </a:solidFill>
                          <a:latin typeface="Calibri"/>
                        </a:rPr>
                        <a:t>▶ 9.6%</a:t>
                      </a:r>
                    </a:p>
                  </a:txBody>
                  <a:tcPr marL="85725" marR="38100" marT="19050" marB="19050" anchor="ctr">
                    <a:solidFill>
                      <a:srgbClr val="FFFFFF"/>
                    </a:solidFill>
                  </a:tcPr>
                </a:tc>
                <a:tc>
                  <a:txBody>
                    <a:bodyPr wrap="none"/>
                    <a:lstStyle/>
                    <a:p>
                      <a:pPr algn="l"/>
                      <a:r>
                        <a:rPr sz="800" b="1">
                          <a:solidFill>
                            <a:srgbClr val="A86F00"/>
                          </a:solidFill>
                          <a:latin typeface="Calibri"/>
                        </a:rPr>
                        <a:t>▶ 8.2%</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5.3%</a:t>
                      </a:r>
                    </a:p>
                  </a:txBody>
                  <a:tcPr marL="85725" marR="38100" marT="19050" marB="19050" anchor="ctr">
                    <a:solidFill>
                      <a:srgbClr val="FFFFFF"/>
                    </a:solidFill>
                  </a:tcPr>
                </a:tc>
                <a:tc>
                  <a:txBody>
                    <a:bodyPr wrap="none"/>
                    <a:lstStyle/>
                    <a:p>
                      <a:pPr algn="l"/>
                      <a:r>
                        <a:rPr sz="800" b="1">
                          <a:solidFill>
                            <a:srgbClr val="A86F00"/>
                          </a:solidFill>
                          <a:latin typeface="Calibri"/>
                        </a:rPr>
                        <a:t>▶ 4.7%</a:t>
                      </a:r>
                    </a:p>
                  </a:txBody>
                  <a:tcPr marL="85725" marR="38100" marT="19050" marB="19050" anchor="ctr">
                    <a:solidFill>
                      <a:srgbClr val="FFFFFF"/>
                    </a:solidFill>
                  </a:tcPr>
                </a:tc>
                <a:tc>
                  <a:txBody>
                    <a:bodyPr wrap="none"/>
                    <a:lstStyle/>
                    <a:p>
                      <a:pPr algn="l"/>
                      <a:r>
                        <a:rPr sz="800" b="1">
                          <a:solidFill>
                            <a:srgbClr val="A86F00"/>
                          </a:solidFill>
                          <a:latin typeface="Calibri"/>
                        </a:rPr>
                        <a:t>▶ 4.1%</a:t>
                      </a:r>
                    </a:p>
                  </a:txBody>
                  <a:tcPr marL="85725" marR="38100" marT="19050" marB="19050" anchor="ctr">
                    <a:solidFill>
                      <a:srgbClr val="FFFFFF"/>
                    </a:solidFill>
                  </a:tcPr>
                </a:tc>
                <a:tc>
                  <a:txBody>
                    <a:bodyPr wrap="none"/>
                    <a:lstStyle/>
                    <a:p>
                      <a:pPr algn="l"/>
                      <a:r>
                        <a:rPr sz="800" b="1">
                          <a:solidFill>
                            <a:srgbClr val="A86F00"/>
                          </a:solidFill>
                          <a:latin typeface="Calibri"/>
                        </a:rPr>
                        <a:t>▶ 3.7%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40 mg</a:t>
                      </a:r>
                    </a:p>
                  </a:txBody>
                  <a:tcPr marL="85725" marR="38100" marT="19050" marB="19050" anchor="ctr">
                    <a:solidFill>
                      <a:srgbClr val="F5F8FA"/>
                    </a:solidFill>
                  </a:tcPr>
                </a:tc>
                <a:tc>
                  <a:txBody>
                    <a:bodyPr wrap="none"/>
                    <a:lstStyle/>
                    <a:p>
                      <a:pPr algn="l"/>
                      <a:r>
                        <a:rPr sz="800" b="1">
                          <a:solidFill>
                            <a:srgbClr val="A86F00"/>
                          </a:solidFill>
                          <a:latin typeface="Calibri"/>
                        </a:rPr>
                        <a:t>▶ 12.2%</a:t>
                      </a:r>
                    </a:p>
                  </a:txBody>
                  <a:tcPr marL="85725" marR="38100" marT="19050" marB="19050" anchor="ctr">
                    <a:solidFill>
                      <a:srgbClr val="F5F8FA"/>
                    </a:solidFill>
                  </a:tcPr>
                </a:tc>
                <a:tc>
                  <a:txBody>
                    <a:bodyPr wrap="none"/>
                    <a:lstStyle/>
                    <a:p>
                      <a:pPr algn="l"/>
                      <a:r>
                        <a:rPr sz="800" b="1">
                          <a:solidFill>
                            <a:srgbClr val="A86F00"/>
                          </a:solidFill>
                          <a:latin typeface="Calibri"/>
                        </a:rPr>
                        <a:t>▶ 19.0%</a:t>
                      </a:r>
                    </a:p>
                  </a:txBody>
                  <a:tcPr marL="85725" marR="38100" marT="19050" marB="19050" anchor="ctr">
                    <a:solidFill>
                      <a:srgbClr val="F5F8FA"/>
                    </a:solidFill>
                  </a:tcPr>
                </a:tc>
                <a:tc>
                  <a:txBody>
                    <a:bodyPr wrap="none"/>
                    <a:lstStyle/>
                    <a:p>
                      <a:pPr algn="l"/>
                      <a:r>
                        <a:rPr sz="800" b="1">
                          <a:solidFill>
                            <a:srgbClr val="A86F00"/>
                          </a:solidFill>
                          <a:latin typeface="Calibri"/>
                        </a:rPr>
                        <a:t>▶ 22.8%</a:t>
                      </a:r>
                    </a:p>
                  </a:txBody>
                  <a:tcPr marL="85725" marR="38100" marT="19050" marB="19050" anchor="ctr">
                    <a:solidFill>
                      <a:srgbClr val="F5F8FA"/>
                    </a:solidFill>
                  </a:tcPr>
                </a:tc>
                <a:tc>
                  <a:txBody>
                    <a:bodyPr wrap="none"/>
                    <a:lstStyle/>
                    <a:p>
                      <a:pPr algn="l"/>
                      <a:r>
                        <a:rPr sz="800" b="1">
                          <a:solidFill>
                            <a:srgbClr val="A86F00"/>
                          </a:solidFill>
                          <a:latin typeface="Calibri"/>
                        </a:rPr>
                        <a:t>▶ 20.2%</a:t>
                      </a:r>
                    </a:p>
                  </a:txBody>
                  <a:tcPr marL="85725" marR="38100" marT="19050" marB="19050" anchor="ctr">
                    <a:solidFill>
                      <a:srgbClr val="F5F8FA"/>
                    </a:solidFill>
                  </a:tcPr>
                </a:tc>
                <a:tc>
                  <a:txBody>
                    <a:bodyPr wrap="none"/>
                    <a:lstStyle/>
                    <a:p>
                      <a:pPr algn="l"/>
                      <a:r>
                        <a:rPr sz="800" b="1">
                          <a:solidFill>
                            <a:srgbClr val="A86F00"/>
                          </a:solidFill>
                          <a:latin typeface="Calibri"/>
                        </a:rPr>
                        <a:t>▶ 16.5%</a:t>
                      </a:r>
                    </a:p>
                  </a:txBody>
                  <a:tcPr marL="85725" marR="38100" marT="19050" marB="19050" anchor="ctr">
                    <a:solidFill>
                      <a:srgbClr val="F5F8FA"/>
                    </a:solidFill>
                  </a:tcPr>
                </a:tc>
                <a:tc>
                  <a:txBody>
                    <a:bodyPr wrap="none"/>
                    <a:lstStyle/>
                    <a:p>
                      <a:pPr algn="l"/>
                      <a:r>
                        <a:rPr sz="800" b="1">
                          <a:solidFill>
                            <a:srgbClr val="A86F00"/>
                          </a:solidFill>
                          <a:latin typeface="Calibri"/>
                        </a:rPr>
                        <a:t>▶ 14.4%</a:t>
                      </a:r>
                    </a:p>
                  </a:txBody>
                  <a:tcPr marL="85725" marR="38100" marT="19050" marB="19050" anchor="ctr">
                    <a:solidFill>
                      <a:srgbClr val="F5F8FA"/>
                    </a:solidFill>
                  </a:tcPr>
                </a:tc>
                <a:tc>
                  <a:txBody>
                    <a:bodyPr wrap="none"/>
                    <a:lstStyle/>
                    <a:p>
                      <a:pPr algn="l"/>
                      <a:r>
                        <a:rPr sz="800" b="1">
                          <a:solidFill>
                            <a:srgbClr val="A86F00"/>
                          </a:solidFill>
                          <a:latin typeface="Calibri"/>
                        </a:rPr>
                        <a:t>▶ 12.0%</a:t>
                      </a:r>
                    </a:p>
                  </a:txBody>
                  <a:tcPr marL="85725" marR="38100" marT="19050" marB="19050" anchor="ctr">
                    <a:solidFill>
                      <a:srgbClr val="F5F8FA"/>
                    </a:solidFill>
                  </a:tcPr>
                </a:tc>
                <a:tc>
                  <a:txBody>
                    <a:bodyPr wrap="none"/>
                    <a:lstStyle/>
                    <a:p>
                      <a:pPr algn="l"/>
                      <a:r>
                        <a:rPr sz="800" b="1">
                          <a:solidFill>
                            <a:srgbClr val="A86F00"/>
                          </a:solidFill>
                          <a:latin typeface="Calibri"/>
                        </a:rPr>
                        <a:t>▶ 10.4%</a:t>
                      </a:r>
                    </a:p>
                  </a:txBody>
                  <a:tcPr marL="85725" marR="38100" marT="19050" marB="19050" anchor="ctr">
                    <a:solidFill>
                      <a:srgbClr val="F5F8FA"/>
                    </a:solidFill>
                  </a:tcPr>
                </a:tc>
                <a:tc>
                  <a:txBody>
                    <a:bodyPr wrap="none"/>
                    <a:lstStyle/>
                    <a:p>
                      <a:pPr algn="l"/>
                      <a:r>
                        <a:rPr sz="800" b="1">
                          <a:solidFill>
                            <a:srgbClr val="A86F00"/>
                          </a:solidFill>
                          <a:latin typeface="Calibri"/>
                        </a:rPr>
                        <a:t>▶ 9.1%</a:t>
                      </a:r>
                    </a:p>
                  </a:txBody>
                  <a:tcPr marL="85725" marR="38100" marT="19050" marB="19050" anchor="ctr">
                    <a:solidFill>
                      <a:srgbClr val="F5F8FA"/>
                    </a:solidFill>
                  </a:tcPr>
                </a:tc>
                <a:tc>
                  <a:txBody>
                    <a:bodyPr wrap="none"/>
                    <a:lstStyle/>
                    <a:p>
                      <a:pPr algn="l"/>
                      <a:r>
                        <a:rPr sz="800" b="1">
                          <a:solidFill>
                            <a:srgbClr val="A86F00"/>
                          </a:solidFill>
                          <a:latin typeface="Calibri"/>
                        </a:rPr>
                        <a:t>▶ 7.9%</a:t>
                      </a:r>
                    </a:p>
                  </a:txBody>
                  <a:tcPr marL="85725" marR="38100" marT="19050" marB="19050" anchor="ctr">
                    <a:solidFill>
                      <a:srgbClr val="F5F8FA"/>
                    </a:solidFill>
                  </a:tcPr>
                </a:tc>
                <a:tc>
                  <a:txBody>
                    <a:bodyPr wrap="none"/>
                    <a:lstStyle/>
                    <a:p>
                      <a:pPr algn="l"/>
                      <a:r>
                        <a:rPr sz="800" b="1">
                          <a:solidFill>
                            <a:srgbClr val="A86F00"/>
                          </a:solidFill>
                          <a:latin typeface="Calibri"/>
                        </a:rPr>
                        <a:t>▶ 7.0%</a:t>
                      </a:r>
                    </a:p>
                  </a:txBody>
                  <a:tcPr marL="85725" marR="38100" marT="19050" marB="19050" anchor="ctr">
                    <a:solidFill>
                      <a:srgbClr val="F5F8FA"/>
                    </a:solidFill>
                  </a:tcPr>
                </a:tc>
                <a:tc>
                  <a:txBody>
                    <a:bodyPr wrap="none"/>
                    <a:lstStyle/>
                    <a:p>
                      <a:pPr algn="l"/>
                      <a:r>
                        <a:rPr sz="800" b="1">
                          <a:solidFill>
                            <a:srgbClr val="A86F00"/>
                          </a:solidFill>
                          <a:latin typeface="Calibri"/>
                        </a:rPr>
                        <a:t>▶ 6.2%</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5.0%</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80 mg</a:t>
                      </a:r>
                    </a:p>
                  </a:txBody>
                  <a:tcPr marL="85725" marR="38100" marT="19050" marB="19050" anchor="ctr">
                    <a:solidFill>
                      <a:srgbClr val="FFFFFF"/>
                    </a:solidFill>
                  </a:tcPr>
                </a:tc>
                <a:tc>
                  <a:txBody>
                    <a:bodyPr wrap="none"/>
                    <a:lstStyle/>
                    <a:p>
                      <a:pPr algn="l"/>
                      <a:r>
                        <a:rPr sz="800" b="1">
                          <a:solidFill>
                            <a:srgbClr val="2E7D32"/>
                          </a:solidFill>
                          <a:latin typeface="Calibri"/>
                        </a:rPr>
                        <a:t>▲ 13.7%</a:t>
                      </a:r>
                    </a:p>
                  </a:txBody>
                  <a:tcPr marL="85725" marR="38100" marT="19050" marB="19050" anchor="ctr">
                    <a:solidFill>
                      <a:srgbClr val="FFFFFF"/>
                    </a:solidFill>
                  </a:tcPr>
                </a:tc>
                <a:tc>
                  <a:txBody>
                    <a:bodyPr wrap="none"/>
                    <a:lstStyle/>
                    <a:p>
                      <a:pPr algn="l"/>
                      <a:r>
                        <a:rPr sz="800" b="1">
                          <a:solidFill>
                            <a:srgbClr val="2E7D32"/>
                          </a:solidFill>
                          <a:latin typeface="Calibri"/>
                        </a:rPr>
                        <a:t>▲ 20.6%</a:t>
                      </a:r>
                    </a:p>
                  </a:txBody>
                  <a:tcPr marL="85725" marR="38100" marT="19050" marB="19050" anchor="ctr">
                    <a:solidFill>
                      <a:srgbClr val="FFFFFF"/>
                    </a:solidFill>
                  </a:tcPr>
                </a:tc>
                <a:tc>
                  <a:txBody>
                    <a:bodyPr wrap="none"/>
                    <a:lstStyle/>
                    <a:p>
                      <a:pPr algn="l"/>
                      <a:r>
                        <a:rPr sz="800" b="1">
                          <a:solidFill>
                            <a:srgbClr val="2E7D32"/>
                          </a:solidFill>
                          <a:latin typeface="Calibri"/>
                        </a:rPr>
                        <a:t>▲ 24.4%</a:t>
                      </a:r>
                    </a:p>
                  </a:txBody>
                  <a:tcPr marL="85725" marR="38100" marT="19050" marB="19050" anchor="ctr">
                    <a:solidFill>
                      <a:srgbClr val="FFFFFF"/>
                    </a:solidFill>
                  </a:tcPr>
                </a:tc>
                <a:tc>
                  <a:txBody>
                    <a:bodyPr wrap="none"/>
                    <a:lstStyle/>
                    <a:p>
                      <a:pPr algn="l"/>
                      <a:r>
                        <a:rPr sz="800" b="1">
                          <a:solidFill>
                            <a:srgbClr val="2E7D32"/>
                          </a:solidFill>
                          <a:latin typeface="Calibri"/>
                        </a:rPr>
                        <a:t>▲ 21.7%</a:t>
                      </a:r>
                    </a:p>
                  </a:txBody>
                  <a:tcPr marL="85725" marR="38100" marT="19050" marB="19050" anchor="ctr">
                    <a:solidFill>
                      <a:srgbClr val="FFFFFF"/>
                    </a:solidFill>
                  </a:tcPr>
                </a:tc>
                <a:tc>
                  <a:txBody>
                    <a:bodyPr wrap="none"/>
                    <a:lstStyle/>
                    <a:p>
                      <a:pPr algn="l"/>
                      <a:r>
                        <a:rPr sz="800" b="1">
                          <a:solidFill>
                            <a:srgbClr val="2E7D32"/>
                          </a:solidFill>
                          <a:latin typeface="Calibri"/>
                        </a:rPr>
                        <a:t>▲ 18.0%</a:t>
                      </a:r>
                    </a:p>
                  </a:txBody>
                  <a:tcPr marL="85725" marR="38100" marT="19050" marB="19050" anchor="ctr">
                    <a:solidFill>
                      <a:srgbClr val="FFFFFF"/>
                    </a:solidFill>
                  </a:tcPr>
                </a:tc>
                <a:tc>
                  <a:txBody>
                    <a:bodyPr wrap="none"/>
                    <a:lstStyle/>
                    <a:p>
                      <a:pPr algn="l"/>
                      <a:r>
                        <a:rPr sz="800" b="1">
                          <a:solidFill>
                            <a:srgbClr val="2E7D32"/>
                          </a:solidFill>
                          <a:latin typeface="Calibri"/>
                        </a:rPr>
                        <a:t>▲ 15.9%</a:t>
                      </a:r>
                    </a:p>
                  </a:txBody>
                  <a:tcPr marL="85725" marR="38100" marT="19050" marB="19050" anchor="ctr">
                    <a:solidFill>
                      <a:srgbClr val="FFFFFF"/>
                    </a:solidFill>
                  </a:tcPr>
                </a:tc>
                <a:tc>
                  <a:txBody>
                    <a:bodyPr wrap="none"/>
                    <a:lstStyle/>
                    <a:p>
                      <a:pPr algn="l"/>
                      <a:r>
                        <a:rPr sz="800" b="1">
                          <a:solidFill>
                            <a:srgbClr val="2E7D32"/>
                          </a:solidFill>
                          <a:latin typeface="Calibri"/>
                        </a:rPr>
                        <a:t>▲ 13.5%</a:t>
                      </a:r>
                    </a:p>
                  </a:txBody>
                  <a:tcPr marL="85725" marR="38100" marT="19050" marB="19050" anchor="ctr">
                    <a:solidFill>
                      <a:srgbClr val="FFFFFF"/>
                    </a:solidFill>
                  </a:tcPr>
                </a:tc>
                <a:tc>
                  <a:txBody>
                    <a:bodyPr wrap="none"/>
                    <a:lstStyle/>
                    <a:p>
                      <a:pPr algn="l"/>
                      <a:r>
                        <a:rPr sz="800" b="1">
                          <a:solidFill>
                            <a:srgbClr val="2E7D32"/>
                          </a:solidFill>
                          <a:latin typeface="Calibri"/>
                        </a:rPr>
                        <a:t>▲ 11.9%</a:t>
                      </a:r>
                    </a:p>
                  </a:txBody>
                  <a:tcPr marL="85725" marR="38100" marT="19050" marB="19050" anchor="ctr">
                    <a:solidFill>
                      <a:srgbClr val="FFFFFF"/>
                    </a:solidFill>
                  </a:tcPr>
                </a:tc>
                <a:tc>
                  <a:txBody>
                    <a:bodyPr wrap="none"/>
                    <a:lstStyle/>
                    <a:p>
                      <a:pPr algn="l"/>
                      <a:r>
                        <a:rPr sz="800" b="1">
                          <a:solidFill>
                            <a:srgbClr val="2E7D32"/>
                          </a:solidFill>
                          <a:latin typeface="Calibri"/>
                        </a:rPr>
                        <a:t>▲ 10.5%</a:t>
                      </a:r>
                    </a:p>
                  </a:txBody>
                  <a:tcPr marL="85725" marR="38100" marT="19050" marB="19050" anchor="ctr">
                    <a:solidFill>
                      <a:srgbClr val="FFFFFF"/>
                    </a:solidFill>
                  </a:tcPr>
                </a:tc>
                <a:tc>
                  <a:txBody>
                    <a:bodyPr wrap="none"/>
                    <a:lstStyle/>
                    <a:p>
                      <a:pPr algn="l"/>
                      <a:r>
                        <a:rPr sz="800" b="1">
                          <a:solidFill>
                            <a:srgbClr val="2E7D32"/>
                          </a:solidFill>
                          <a:latin typeface="Calibri"/>
                        </a:rPr>
                        <a:t>▲ 9.4%</a:t>
                      </a:r>
                    </a:p>
                  </a:txBody>
                  <a:tcPr marL="85725" marR="38100" marT="19050" marB="19050" anchor="ctr">
                    <a:solidFill>
                      <a:srgbClr val="FFFFFF"/>
                    </a:solidFill>
                  </a:tcPr>
                </a:tc>
                <a:tc>
                  <a:txBody>
                    <a:bodyPr wrap="none"/>
                    <a:lstStyle/>
                    <a:p>
                      <a:pPr algn="l"/>
                      <a:r>
                        <a:rPr sz="800" b="1">
                          <a:solidFill>
                            <a:srgbClr val="2E7D32"/>
                          </a:solidFill>
                          <a:latin typeface="Calibri"/>
                        </a:rPr>
                        <a:t>▲ 8.5%</a:t>
                      </a:r>
                    </a:p>
                  </a:txBody>
                  <a:tcPr marL="85725" marR="38100" marT="19050" marB="19050" anchor="ctr">
                    <a:solidFill>
                      <a:srgbClr val="FFFFFF"/>
                    </a:solidFill>
                  </a:tcPr>
                </a:tc>
                <a:tc>
                  <a:txBody>
                    <a:bodyPr wrap="none"/>
                    <a:lstStyle/>
                    <a:p>
                      <a:pPr algn="l"/>
                      <a:r>
                        <a:rPr sz="800" b="1">
                          <a:solidFill>
                            <a:srgbClr val="2E7D32"/>
                          </a:solidFill>
                          <a:latin typeface="Calibri"/>
                        </a:rPr>
                        <a:t>▲ 7.6%</a:t>
                      </a:r>
                    </a:p>
                  </a:txBody>
                  <a:tcPr marL="85725" marR="38100" marT="19050" marB="19050" anchor="ctr">
                    <a:solidFill>
                      <a:srgbClr val="FFFFFF"/>
                    </a:solidFill>
                  </a:tcPr>
                </a:tc>
                <a:tc>
                  <a:txBody>
                    <a:bodyPr wrap="none"/>
                    <a:lstStyle/>
                    <a:p>
                      <a:pPr algn="l"/>
                      <a:r>
                        <a:rPr sz="800" b="1">
                          <a:solidFill>
                            <a:srgbClr val="2E7D32"/>
                          </a:solidFill>
                          <a:latin typeface="Calibri"/>
                        </a:rPr>
                        <a:t>▲ 7.0%</a:t>
                      </a:r>
                    </a:p>
                  </a:txBody>
                  <a:tcPr marL="85725" marR="38100" marT="19050" marB="19050" anchor="ctr">
                    <a:solidFill>
                      <a:srgbClr val="FFFFFF"/>
                    </a:solidFill>
                  </a:tcPr>
                </a:tc>
                <a:tc>
                  <a:txBody>
                    <a:bodyPr wrap="none"/>
                    <a:lstStyle/>
                    <a:p>
                      <a:pPr algn="l"/>
                      <a:r>
                        <a:rPr sz="800" b="1">
                          <a:solidFill>
                            <a:srgbClr val="2E7D32"/>
                          </a:solidFill>
                          <a:latin typeface="Calibri"/>
                        </a:rPr>
                        <a:t>▲ 6.5%</a:t>
                      </a:r>
                    </a:p>
                  </a:txBody>
                  <a:tcPr marL="85725" marR="38100" marT="19050" marB="19050" anchor="ctr">
                    <a:solidFill>
                      <a:srgbClr val="FFFFFF"/>
                    </a:solidFill>
                  </a:tcPr>
                </a:tc>
                <a:tc>
                  <a:txBody>
                    <a:bodyPr wrap="none"/>
                    <a:lstStyle/>
                    <a:p>
                      <a:pPr algn="l"/>
                      <a:r>
                        <a:rPr sz="800" b="1">
                          <a:solidFill>
                            <a:srgbClr val="2E7D32"/>
                          </a:solidFill>
                          <a:latin typeface="Calibri"/>
                        </a:rPr>
                        <a:t>▲ 6.1%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100 mg/mL</a:t>
                      </a:r>
                    </a:p>
                  </a:txBody>
                  <a:tcPr marL="85725" marR="38100" marT="19050" marB="19050" anchor="ctr">
                    <a:solidFill>
                      <a:srgbClr val="F5F8FA"/>
                    </a:solidFill>
                  </a:tcPr>
                </a:tc>
                <a:tc>
                  <a:txBody>
                    <a:bodyPr wrap="none"/>
                    <a:lstStyle/>
                    <a:p>
                      <a:pPr algn="l"/>
                      <a:r>
                        <a:rPr sz="800" b="1">
                          <a:solidFill>
                            <a:srgbClr val="2E7D32"/>
                          </a:solidFill>
                          <a:latin typeface="Calibri"/>
                        </a:rPr>
                        <a:t>▲ 15.8%</a:t>
                      </a:r>
                    </a:p>
                  </a:txBody>
                  <a:tcPr marL="85725" marR="38100" marT="19050" marB="19050" anchor="ctr">
                    <a:solidFill>
                      <a:srgbClr val="F5F8FA"/>
                    </a:solidFill>
                  </a:tcPr>
                </a:tc>
                <a:tc>
                  <a:txBody>
                    <a:bodyPr wrap="none"/>
                    <a:lstStyle/>
                    <a:p>
                      <a:pPr algn="l"/>
                      <a:r>
                        <a:rPr sz="800" b="1">
                          <a:solidFill>
                            <a:srgbClr val="2E7D32"/>
                          </a:solidFill>
                          <a:latin typeface="Calibri"/>
                        </a:rPr>
                        <a:t>▲ 22.8%</a:t>
                      </a:r>
                    </a:p>
                  </a:txBody>
                  <a:tcPr marL="85725" marR="38100" marT="19050" marB="19050" anchor="ctr">
                    <a:solidFill>
                      <a:srgbClr val="F5F8FA"/>
                    </a:solidFill>
                  </a:tcPr>
                </a:tc>
                <a:tc>
                  <a:txBody>
                    <a:bodyPr wrap="none"/>
                    <a:lstStyle/>
                    <a:p>
                      <a:pPr algn="l"/>
                      <a:r>
                        <a:rPr sz="800" b="1">
                          <a:solidFill>
                            <a:srgbClr val="2E7D32"/>
                          </a:solidFill>
                          <a:latin typeface="Calibri"/>
                        </a:rPr>
                        <a:t>▲ 26.7%</a:t>
                      </a:r>
                    </a:p>
                  </a:txBody>
                  <a:tcPr marL="85725" marR="38100" marT="19050" marB="19050" anchor="ctr">
                    <a:solidFill>
                      <a:srgbClr val="F5F8FA"/>
                    </a:solidFill>
                  </a:tcPr>
                </a:tc>
                <a:tc>
                  <a:txBody>
                    <a:bodyPr wrap="none"/>
                    <a:lstStyle/>
                    <a:p>
                      <a:pPr algn="l"/>
                      <a:r>
                        <a:rPr sz="800" b="1">
                          <a:solidFill>
                            <a:srgbClr val="2E7D32"/>
                          </a:solidFill>
                          <a:latin typeface="Calibri"/>
                        </a:rPr>
                        <a:t>▲ 24.0%</a:t>
                      </a:r>
                    </a:p>
                  </a:txBody>
                  <a:tcPr marL="85725" marR="38100" marT="19050" marB="19050" anchor="ctr">
                    <a:solidFill>
                      <a:srgbClr val="F5F8FA"/>
                    </a:solidFill>
                  </a:tcPr>
                </a:tc>
                <a:tc>
                  <a:txBody>
                    <a:bodyPr wrap="none"/>
                    <a:lstStyle/>
                    <a:p>
                      <a:pPr algn="l"/>
                      <a:r>
                        <a:rPr sz="800" b="1">
                          <a:solidFill>
                            <a:srgbClr val="2E7D32"/>
                          </a:solidFill>
                          <a:latin typeface="Calibri"/>
                        </a:rPr>
                        <a:t>▲ 20.2%</a:t>
                      </a:r>
                    </a:p>
                  </a:txBody>
                  <a:tcPr marL="85725" marR="38100" marT="19050" marB="19050" anchor="ctr">
                    <a:solidFill>
                      <a:srgbClr val="F5F8FA"/>
                    </a:solidFill>
                  </a:tcPr>
                </a:tc>
                <a:tc>
                  <a:txBody>
                    <a:bodyPr wrap="none"/>
                    <a:lstStyle/>
                    <a:p>
                      <a:pPr algn="l"/>
                      <a:r>
                        <a:rPr sz="800" b="1">
                          <a:solidFill>
                            <a:srgbClr val="2E7D32"/>
                          </a:solidFill>
                          <a:latin typeface="Calibri"/>
                        </a:rPr>
                        <a:t>▲ 18.0%</a:t>
                      </a:r>
                    </a:p>
                  </a:txBody>
                  <a:tcPr marL="85725" marR="38100" marT="19050" marB="19050" anchor="ctr">
                    <a:solidFill>
                      <a:srgbClr val="F5F8FA"/>
                    </a:solidFill>
                  </a:tcPr>
                </a:tc>
                <a:tc>
                  <a:txBody>
                    <a:bodyPr wrap="none"/>
                    <a:lstStyle/>
                    <a:p>
                      <a:pPr algn="l"/>
                      <a:r>
                        <a:rPr sz="800" b="1">
                          <a:solidFill>
                            <a:srgbClr val="2E7D32"/>
                          </a:solidFill>
                          <a:latin typeface="Calibri"/>
                        </a:rPr>
                        <a:t>▲ 15.5%</a:t>
                      </a:r>
                    </a:p>
                  </a:txBody>
                  <a:tcPr marL="85725" marR="38100" marT="19050" marB="19050" anchor="ctr">
                    <a:solidFill>
                      <a:srgbClr val="F5F8FA"/>
                    </a:solidFill>
                  </a:tcPr>
                </a:tc>
                <a:tc>
                  <a:txBody>
                    <a:bodyPr wrap="none"/>
                    <a:lstStyle/>
                    <a:p>
                      <a:pPr algn="l"/>
                      <a:r>
                        <a:rPr sz="800" b="1">
                          <a:solidFill>
                            <a:srgbClr val="2E7D32"/>
                          </a:solidFill>
                          <a:latin typeface="Calibri"/>
                        </a:rPr>
                        <a:t>▲ 13.8%</a:t>
                      </a:r>
                    </a:p>
                  </a:txBody>
                  <a:tcPr marL="85725" marR="38100" marT="19050" marB="19050" anchor="ctr">
                    <a:solidFill>
                      <a:srgbClr val="F5F8FA"/>
                    </a:solidFill>
                  </a:tcPr>
                </a:tc>
                <a:tc>
                  <a:txBody>
                    <a:bodyPr wrap="none"/>
                    <a:lstStyle/>
                    <a:p>
                      <a:pPr algn="l"/>
                      <a:r>
                        <a:rPr sz="800" b="1">
                          <a:solidFill>
                            <a:srgbClr val="2E7D32"/>
                          </a:solidFill>
                          <a:latin typeface="Calibri"/>
                        </a:rPr>
                        <a:t>▲ 12.4%</a:t>
                      </a:r>
                    </a:p>
                  </a:txBody>
                  <a:tcPr marL="85725" marR="38100" marT="19050" marB="19050" anchor="ctr">
                    <a:solidFill>
                      <a:srgbClr val="F5F8FA"/>
                    </a:solidFill>
                  </a:tcPr>
                </a:tc>
                <a:tc>
                  <a:txBody>
                    <a:bodyPr wrap="none"/>
                    <a:lstStyle/>
                    <a:p>
                      <a:pPr algn="l"/>
                      <a:r>
                        <a:rPr sz="800" b="1">
                          <a:solidFill>
                            <a:srgbClr val="2E7D32"/>
                          </a:solidFill>
                          <a:latin typeface="Calibri"/>
                        </a:rPr>
                        <a:t>▲ 11.2%</a:t>
                      </a:r>
                    </a:p>
                  </a:txBody>
                  <a:tcPr marL="85725" marR="38100" marT="19050" marB="19050" anchor="ctr">
                    <a:solidFill>
                      <a:srgbClr val="F5F8FA"/>
                    </a:solidFill>
                  </a:tcPr>
                </a:tc>
                <a:tc>
                  <a:txBody>
                    <a:bodyPr wrap="none"/>
                    <a:lstStyle/>
                    <a:p>
                      <a:pPr algn="l"/>
                      <a:r>
                        <a:rPr sz="800" b="1">
                          <a:solidFill>
                            <a:srgbClr val="2E7D32"/>
                          </a:solidFill>
                          <a:latin typeface="Calibri"/>
                        </a:rPr>
                        <a:t>▲ 10.3%</a:t>
                      </a:r>
                    </a:p>
                  </a:txBody>
                  <a:tcPr marL="85725" marR="38100" marT="19050" marB="19050" anchor="ctr">
                    <a:solidFill>
                      <a:srgbClr val="F5F8FA"/>
                    </a:solidFill>
                  </a:tcPr>
                </a:tc>
                <a:tc>
                  <a:txBody>
                    <a:bodyPr wrap="none"/>
                    <a:lstStyle/>
                    <a:p>
                      <a:pPr algn="l"/>
                      <a:r>
                        <a:rPr sz="800" b="1">
                          <a:solidFill>
                            <a:srgbClr val="2E7D32"/>
                          </a:solidFill>
                          <a:latin typeface="Calibri"/>
                        </a:rPr>
                        <a:t>▲ 9.4%</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8.2%</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r>
            </a:tbl>
          </a:graphicData>
        </a:graphic>
      </p:graphicFrame>
      <p:sp>
        <p:nvSpPr>
          <p:cNvPr id="18" name="TextBox 17"/>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 Country</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Therapeutic Application</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Segmental</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Table (Volume &amp; Value)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YoY</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18</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Segmental Analysis Therapeutic Application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Therapeutic Application (US$ Mn)</a:t>
            </a:r>
          </a:p>
        </p:txBody>
      </p:sp>
      <p:graphicFrame>
        <p:nvGraphicFramePr>
          <p:cNvPr id="13" name="Chart 12"/>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Therapeutic Application</a:t>
            </a:r>
          </a:p>
        </p:txBody>
      </p:sp>
      <p:graphicFrame>
        <p:nvGraphicFramePr>
          <p:cNvPr id="16" name="Table 15"/>
          <p:cNvGraphicFramePr>
            <a:graphicFrameLocks noGrp="1"/>
          </p:cNvGraphicFramePr>
          <p:nvPr/>
        </p:nvGraphicFramePr>
        <p:xfrm>
          <a:off x="6267450" y="1143000"/>
          <a:ext cx="5686424" cy="9048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Therapeutic Application</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Rheumatology</a:t>
                      </a:r>
                    </a:p>
                  </a:txBody>
                  <a:tcPr marL="85725" marR="38100" marT="19050" marB="19050" anchor="ctr">
                    <a:solidFill>
                      <a:srgbClr val="FFFFFF"/>
                    </a:solidFill>
                  </a:tcPr>
                </a:tc>
                <a:tc>
                  <a:txBody>
                    <a:bodyPr wrap="none"/>
                    <a:lstStyle/>
                    <a:p>
                      <a:pPr algn="l"/>
                      <a:r>
                        <a:rPr sz="900" b="0">
                          <a:solidFill>
                            <a:srgbClr val="2E2E2E"/>
                          </a:solidFill>
                          <a:latin typeface="Calibri"/>
                        </a:rPr>
                        <a:t>51.9%</a:t>
                      </a:r>
                    </a:p>
                  </a:txBody>
                  <a:tcPr marL="85725" marR="38100" marT="19050" marB="19050" anchor="ctr">
                    <a:solidFill>
                      <a:srgbClr val="FFFFFF"/>
                    </a:solidFill>
                  </a:tcPr>
                </a:tc>
                <a:tc>
                  <a:txBody>
                    <a:bodyPr wrap="none"/>
                    <a:lstStyle/>
                    <a:p>
                      <a:pPr algn="l"/>
                      <a:r>
                        <a:rPr sz="900" b="0">
                          <a:solidFill>
                            <a:srgbClr val="2E2E2E"/>
                          </a:solidFill>
                          <a:latin typeface="Calibri"/>
                        </a:rPr>
                        <a:t>52.9%</a:t>
                      </a:r>
                    </a:p>
                  </a:txBody>
                  <a:tcPr marL="85725" marR="38100" marT="19050" marB="19050" anchor="ctr">
                    <a:solidFill>
                      <a:srgbClr val="FFFFFF"/>
                    </a:solidFill>
                  </a:tcPr>
                </a:tc>
                <a:tc>
                  <a:txBody>
                    <a:bodyPr wrap="none"/>
                    <a:lstStyle/>
                    <a:p>
                      <a:pPr algn="l"/>
                      <a:r>
                        <a:rPr sz="900" b="1">
                          <a:solidFill>
                            <a:srgbClr val="008189"/>
                          </a:solidFill>
                          <a:latin typeface="Calibri"/>
                        </a:rPr>
                        <a:t>+107</a:t>
                      </a:r>
                    </a:p>
                  </a:txBody>
                  <a:tcPr marL="85725" marR="38100" marT="19050" marB="19050" anchor="ctr">
                    <a:solidFill>
                      <a:srgbClr val="FFFFFF"/>
                    </a:solidFill>
                  </a:tcPr>
                </a:tc>
                <a:tc>
                  <a:txBody>
                    <a:bodyPr wrap="none"/>
                    <a:lstStyle/>
                    <a:p>
                      <a:pPr algn="l"/>
                      <a:r>
                        <a:rPr sz="900" b="0">
                          <a:solidFill>
                            <a:srgbClr val="2E2E2E"/>
                          </a:solidFill>
                          <a:latin typeface="Calibri"/>
                        </a:rPr>
                        <a:t>9.2%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Dermatology</a:t>
                      </a:r>
                    </a:p>
                  </a:txBody>
                  <a:tcPr marL="85725" marR="38100" marT="19050" marB="19050" anchor="ctr">
                    <a:solidFill>
                      <a:srgbClr val="F5F8FA"/>
                    </a:solidFill>
                  </a:tcPr>
                </a:tc>
                <a:tc>
                  <a:txBody>
                    <a:bodyPr wrap="none"/>
                    <a:lstStyle/>
                    <a:p>
                      <a:pPr algn="l"/>
                      <a:r>
                        <a:rPr sz="900" b="0">
                          <a:solidFill>
                            <a:srgbClr val="2E2E2E"/>
                          </a:solidFill>
                          <a:latin typeface="Calibri"/>
                        </a:rPr>
                        <a:t>21.6%</a:t>
                      </a:r>
                    </a:p>
                  </a:txBody>
                  <a:tcPr marL="85725" marR="38100" marT="19050" marB="19050" anchor="ctr">
                    <a:solidFill>
                      <a:srgbClr val="F5F8FA"/>
                    </a:solidFill>
                  </a:tcPr>
                </a:tc>
                <a:tc>
                  <a:txBody>
                    <a:bodyPr wrap="none"/>
                    <a:lstStyle/>
                    <a:p>
                      <a:pPr algn="l"/>
                      <a:r>
                        <a:rPr sz="900" b="0">
                          <a:solidFill>
                            <a:srgbClr val="2E2E2E"/>
                          </a:solidFill>
                          <a:latin typeface="Calibri"/>
                        </a:rPr>
                        <a:t>22.9%</a:t>
                      </a:r>
                    </a:p>
                  </a:txBody>
                  <a:tcPr marL="85725" marR="38100" marT="19050" marB="19050" anchor="ctr">
                    <a:solidFill>
                      <a:srgbClr val="F5F8FA"/>
                    </a:solidFill>
                  </a:tcPr>
                </a:tc>
                <a:tc>
                  <a:txBody>
                    <a:bodyPr wrap="none"/>
                    <a:lstStyle/>
                    <a:p>
                      <a:pPr algn="l"/>
                      <a:r>
                        <a:rPr sz="900" b="1">
                          <a:solidFill>
                            <a:srgbClr val="008189"/>
                          </a:solidFill>
                          <a:latin typeface="Calibri"/>
                        </a:rPr>
                        <a:t>+128</a:t>
                      </a:r>
                    </a:p>
                  </a:txBody>
                  <a:tcPr marL="85725" marR="38100" marT="19050" marB="19050" anchor="ctr">
                    <a:solidFill>
                      <a:srgbClr val="F5F8FA"/>
                    </a:solidFill>
                  </a:tcPr>
                </a:tc>
                <a:tc>
                  <a:txBody>
                    <a:bodyPr wrap="none"/>
                    <a:lstStyle/>
                    <a:p>
                      <a:pPr algn="l"/>
                      <a:r>
                        <a:rPr sz="900" b="0">
                          <a:solidFill>
                            <a:srgbClr val="2E2E2E"/>
                          </a:solidFill>
                          <a:latin typeface="Calibri"/>
                        </a:rPr>
                        <a:t>9.7%</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Gastroenterology</a:t>
                      </a:r>
                    </a:p>
                  </a:txBody>
                  <a:tcPr marL="85725" marR="38100" marT="19050" marB="19050" anchor="ctr">
                    <a:solidFill>
                      <a:srgbClr val="FFFFFF"/>
                    </a:solidFill>
                  </a:tcPr>
                </a:tc>
                <a:tc>
                  <a:txBody>
                    <a:bodyPr wrap="none"/>
                    <a:lstStyle/>
                    <a:p>
                      <a:pPr algn="l"/>
                      <a:r>
                        <a:rPr sz="900" b="0">
                          <a:solidFill>
                            <a:srgbClr val="2E2E2E"/>
                          </a:solidFill>
                          <a:latin typeface="Calibri"/>
                        </a:rPr>
                        <a:t>21.3%</a:t>
                      </a:r>
                    </a:p>
                  </a:txBody>
                  <a:tcPr marL="85725" marR="38100" marT="19050" marB="19050" anchor="ctr">
                    <a:solidFill>
                      <a:srgbClr val="FFFFFF"/>
                    </a:solidFill>
                  </a:tcPr>
                </a:tc>
                <a:tc>
                  <a:txBody>
                    <a:bodyPr wrap="none"/>
                    <a:lstStyle/>
                    <a:p>
                      <a:pPr algn="l"/>
                      <a:r>
                        <a:rPr sz="900" b="0">
                          <a:solidFill>
                            <a:srgbClr val="2E2E2E"/>
                          </a:solidFill>
                          <a:latin typeface="Calibri"/>
                        </a:rPr>
                        <a:t>20.0%</a:t>
                      </a:r>
                    </a:p>
                  </a:txBody>
                  <a:tcPr marL="85725" marR="38100" marT="19050" marB="19050" anchor="ctr">
                    <a:solidFill>
                      <a:srgbClr val="FFFFFF"/>
                    </a:solidFill>
                  </a:tcPr>
                </a:tc>
                <a:tc>
                  <a:txBody>
                    <a:bodyPr wrap="none"/>
                    <a:lstStyle/>
                    <a:p>
                      <a:pPr algn="l"/>
                      <a:r>
                        <a:rPr sz="900" b="1">
                          <a:solidFill>
                            <a:srgbClr val="E44D3A"/>
                          </a:solidFill>
                          <a:latin typeface="Calibri"/>
                        </a:rPr>
                        <a:t>-129</a:t>
                      </a:r>
                    </a:p>
                  </a:txBody>
                  <a:tcPr marL="85725" marR="38100" marT="19050" marB="19050" anchor="ctr">
                    <a:solidFill>
                      <a:srgbClr val="FFFFFF"/>
                    </a:solidFill>
                  </a:tcPr>
                </a:tc>
                <a:tc>
                  <a:txBody>
                    <a:bodyPr wrap="none"/>
                    <a:lstStyle/>
                    <a:p>
                      <a:pPr algn="l"/>
                      <a:r>
                        <a:rPr sz="900" b="0">
                          <a:solidFill>
                            <a:srgbClr val="2E2E2E"/>
                          </a:solidFill>
                          <a:latin typeface="Calibri"/>
                        </a:rPr>
                        <a:t>8.3%</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Ophthalmology</a:t>
                      </a:r>
                    </a:p>
                  </a:txBody>
                  <a:tcPr marL="85725" marR="38100" marT="19050" marB="19050" anchor="ctr">
                    <a:solidFill>
                      <a:srgbClr val="F5F8FA"/>
                    </a:solidFill>
                  </a:tcPr>
                </a:tc>
                <a:tc>
                  <a:txBody>
                    <a:bodyPr wrap="none"/>
                    <a:lstStyle/>
                    <a:p>
                      <a:pPr algn="l"/>
                      <a:r>
                        <a:rPr sz="900" b="0">
                          <a:solidFill>
                            <a:srgbClr val="2E2E2E"/>
                          </a:solidFill>
                          <a:latin typeface="Calibri"/>
                        </a:rPr>
                        <a:t>5.3%</a:t>
                      </a:r>
                    </a:p>
                  </a:txBody>
                  <a:tcPr marL="85725" marR="38100" marT="19050" marB="19050" anchor="ctr">
                    <a:solidFill>
                      <a:srgbClr val="F5F8FA"/>
                    </a:solidFill>
                  </a:tcPr>
                </a:tc>
                <a:tc>
                  <a:txBody>
                    <a:bodyPr wrap="none"/>
                    <a:lstStyle/>
                    <a:p>
                      <a:pPr algn="l"/>
                      <a:r>
                        <a:rPr sz="900" b="0">
                          <a:solidFill>
                            <a:srgbClr val="2E2E2E"/>
                          </a:solidFill>
                          <a:latin typeface="Calibri"/>
                        </a:rPr>
                        <a:t>4.2%</a:t>
                      </a:r>
                    </a:p>
                  </a:txBody>
                  <a:tcPr marL="85725" marR="38100" marT="19050" marB="19050" anchor="ctr">
                    <a:solidFill>
                      <a:srgbClr val="F5F8FA"/>
                    </a:solidFill>
                  </a:tcPr>
                </a:tc>
                <a:tc>
                  <a:txBody>
                    <a:bodyPr wrap="none"/>
                    <a:lstStyle/>
                    <a:p>
                      <a:pPr algn="l"/>
                      <a:r>
                        <a:rPr sz="900" b="1">
                          <a:solidFill>
                            <a:srgbClr val="E44D3A"/>
                          </a:solidFill>
                          <a:latin typeface="Calibri"/>
                        </a:rPr>
                        <a:t>-106</a:t>
                      </a:r>
                    </a:p>
                  </a:txBody>
                  <a:tcPr marL="85725" marR="38100" marT="19050" marB="19050" anchor="ctr">
                    <a:solidFill>
                      <a:srgbClr val="F5F8FA"/>
                    </a:solidFill>
                  </a:tcPr>
                </a:tc>
                <a:tc>
                  <a:txBody>
                    <a:bodyPr wrap="none"/>
                    <a:lstStyle/>
                    <a:p>
                      <a:pPr algn="l"/>
                      <a:r>
                        <a:rPr sz="900" b="0">
                          <a:solidFill>
                            <a:srgbClr val="2E2E2E"/>
                          </a:solidFill>
                          <a:latin typeface="Calibri"/>
                        </a:rPr>
                        <a:t>6.6%</a:t>
                      </a:r>
                    </a:p>
                  </a:txBody>
                  <a:tcPr marL="85725" marR="38100" marT="19050" marB="19050" anchor="ctr">
                    <a:solidFill>
                      <a:srgbClr val="F5F8FA"/>
                    </a:solidFill>
                  </a:tcPr>
                </a:tc>
              </a:tr>
            </a:tbl>
          </a:graphicData>
        </a:graphic>
      </p:graphicFrame>
      <p:sp>
        <p:nvSpPr>
          <p:cNvPr id="17" name="TextBox 16"/>
          <p:cNvSpPr txBox="1"/>
          <p:nvPr/>
        </p:nvSpPr>
        <p:spPr>
          <a:xfrm>
            <a:off x="6248400" y="3581400"/>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8" name="Rounded Rectangle 17"/>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Therapeutic Application (US$ Mn)</a:t>
            </a:r>
          </a:p>
        </p:txBody>
      </p:sp>
      <p:graphicFrame>
        <p:nvGraphicFramePr>
          <p:cNvPr id="20" name="Chart 19"/>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4"/>
          </a:graphicData>
        </a:graphic>
      </p:graphicFrame>
      <p:sp>
        <p:nvSpPr>
          <p:cNvPr id="21" name="Rounded Rectangle 20"/>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Volume Shares &amp; Variance, By Therapeutic Application</a:t>
            </a:r>
          </a:p>
        </p:txBody>
      </p:sp>
      <p:graphicFrame>
        <p:nvGraphicFramePr>
          <p:cNvPr id="23" name="Table 22"/>
          <p:cNvGraphicFramePr>
            <a:graphicFrameLocks noGrp="1"/>
          </p:cNvGraphicFramePr>
          <p:nvPr/>
        </p:nvGraphicFramePr>
        <p:xfrm>
          <a:off x="6267450" y="4143375"/>
          <a:ext cx="5686424" cy="9048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Therapeutic Application</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Rheumatology</a:t>
                      </a:r>
                    </a:p>
                  </a:txBody>
                  <a:tcPr marL="85725" marR="38100" marT="19050" marB="19050" anchor="ctr">
                    <a:solidFill>
                      <a:srgbClr val="FFFFFF"/>
                    </a:solidFill>
                  </a:tcPr>
                </a:tc>
                <a:tc>
                  <a:txBody>
                    <a:bodyPr wrap="none"/>
                    <a:lstStyle/>
                    <a:p>
                      <a:pPr algn="l"/>
                      <a:r>
                        <a:rPr sz="900" b="0">
                          <a:solidFill>
                            <a:srgbClr val="2E2E2E"/>
                          </a:solidFill>
                          <a:latin typeface="Calibri"/>
                        </a:rPr>
                        <a:t>36.5%</a:t>
                      </a:r>
                    </a:p>
                  </a:txBody>
                  <a:tcPr marL="85725" marR="38100" marT="19050" marB="19050" anchor="ctr">
                    <a:solidFill>
                      <a:srgbClr val="FFFFFF"/>
                    </a:solidFill>
                  </a:tcPr>
                </a:tc>
                <a:tc>
                  <a:txBody>
                    <a:bodyPr wrap="none"/>
                    <a:lstStyle/>
                    <a:p>
                      <a:pPr algn="l"/>
                      <a:r>
                        <a:rPr sz="900" b="0">
                          <a:solidFill>
                            <a:srgbClr val="2E2E2E"/>
                          </a:solidFill>
                          <a:latin typeface="Calibri"/>
                        </a:rPr>
                        <a:t>35.4%</a:t>
                      </a:r>
                    </a:p>
                  </a:txBody>
                  <a:tcPr marL="85725" marR="38100" marT="19050" marB="19050" anchor="ctr">
                    <a:solidFill>
                      <a:srgbClr val="FFFFFF"/>
                    </a:solidFill>
                  </a:tcPr>
                </a:tc>
                <a:tc>
                  <a:txBody>
                    <a:bodyPr wrap="none"/>
                    <a:lstStyle/>
                    <a:p>
                      <a:pPr algn="l"/>
                      <a:r>
                        <a:rPr sz="900" b="1">
                          <a:solidFill>
                            <a:srgbClr val="E44D3A"/>
                          </a:solidFill>
                          <a:latin typeface="Calibri"/>
                        </a:rPr>
                        <a:t>-102</a:t>
                      </a:r>
                    </a:p>
                  </a:txBody>
                  <a:tcPr marL="85725" marR="38100" marT="19050" marB="19050" anchor="ctr">
                    <a:solidFill>
                      <a:srgbClr val="FFFFFF"/>
                    </a:solidFill>
                  </a:tcPr>
                </a:tc>
                <a:tc>
                  <a:txBody>
                    <a:bodyPr wrap="none"/>
                    <a:lstStyle/>
                    <a:p>
                      <a:pPr algn="l"/>
                      <a:r>
                        <a:rPr sz="900" b="0">
                          <a:solidFill>
                            <a:srgbClr val="2E2E2E"/>
                          </a:solidFill>
                          <a:latin typeface="Calibri"/>
                        </a:rPr>
                        <a:t>12.4%</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Dermatology</a:t>
                      </a:r>
                    </a:p>
                  </a:txBody>
                  <a:tcPr marL="85725" marR="38100" marT="19050" marB="19050" anchor="ctr">
                    <a:solidFill>
                      <a:srgbClr val="F5F8FA"/>
                    </a:solidFill>
                  </a:tcPr>
                </a:tc>
                <a:tc>
                  <a:txBody>
                    <a:bodyPr wrap="none"/>
                    <a:lstStyle/>
                    <a:p>
                      <a:pPr algn="l"/>
                      <a:r>
                        <a:rPr sz="900" b="0">
                          <a:solidFill>
                            <a:srgbClr val="2E2E2E"/>
                          </a:solidFill>
                          <a:latin typeface="Calibri"/>
                        </a:rPr>
                        <a:t>23.7%</a:t>
                      </a:r>
                    </a:p>
                  </a:txBody>
                  <a:tcPr marL="85725" marR="38100" marT="19050" marB="19050" anchor="ctr">
                    <a:solidFill>
                      <a:srgbClr val="F5F8FA"/>
                    </a:solidFill>
                  </a:tcPr>
                </a:tc>
                <a:tc>
                  <a:txBody>
                    <a:bodyPr wrap="none"/>
                    <a:lstStyle/>
                    <a:p>
                      <a:pPr algn="l"/>
                      <a:r>
                        <a:rPr sz="900" b="0">
                          <a:solidFill>
                            <a:srgbClr val="2E2E2E"/>
                          </a:solidFill>
                          <a:latin typeface="Calibri"/>
                        </a:rPr>
                        <a:t>20.9%</a:t>
                      </a:r>
                    </a:p>
                  </a:txBody>
                  <a:tcPr marL="85725" marR="38100" marT="19050" marB="19050" anchor="ctr">
                    <a:solidFill>
                      <a:srgbClr val="F5F8FA"/>
                    </a:solidFill>
                  </a:tcPr>
                </a:tc>
                <a:tc>
                  <a:txBody>
                    <a:bodyPr wrap="none"/>
                    <a:lstStyle/>
                    <a:p>
                      <a:pPr algn="l"/>
                      <a:r>
                        <a:rPr sz="900" b="1">
                          <a:solidFill>
                            <a:srgbClr val="E44D3A"/>
                          </a:solidFill>
                          <a:latin typeface="Calibri"/>
                        </a:rPr>
                        <a:t>-284</a:t>
                      </a:r>
                    </a:p>
                  </a:txBody>
                  <a:tcPr marL="85725" marR="38100" marT="19050" marB="19050" anchor="ctr">
                    <a:solidFill>
                      <a:srgbClr val="F5F8FA"/>
                    </a:solidFill>
                  </a:tcPr>
                </a:tc>
                <a:tc>
                  <a:txBody>
                    <a:bodyPr wrap="none"/>
                    <a:lstStyle/>
                    <a:p>
                      <a:pPr algn="l"/>
                      <a:r>
                        <a:rPr sz="900" b="0">
                          <a:solidFill>
                            <a:srgbClr val="2E2E2E"/>
                          </a:solidFill>
                          <a:latin typeface="Calibri"/>
                        </a:rPr>
                        <a:t>11.3%</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Gastroenterology</a:t>
                      </a:r>
                    </a:p>
                  </a:txBody>
                  <a:tcPr marL="85725" marR="38100" marT="19050" marB="19050" anchor="ctr">
                    <a:solidFill>
                      <a:srgbClr val="FFFFFF"/>
                    </a:solidFill>
                  </a:tcPr>
                </a:tc>
                <a:tc>
                  <a:txBody>
                    <a:bodyPr wrap="none"/>
                    <a:lstStyle/>
                    <a:p>
                      <a:pPr algn="l"/>
                      <a:r>
                        <a:rPr sz="900" b="0">
                          <a:solidFill>
                            <a:srgbClr val="2E2E2E"/>
                          </a:solidFill>
                          <a:latin typeface="Calibri"/>
                        </a:rPr>
                        <a:t>25.6%</a:t>
                      </a:r>
                    </a:p>
                  </a:txBody>
                  <a:tcPr marL="85725" marR="38100" marT="19050" marB="19050" anchor="ctr">
                    <a:solidFill>
                      <a:srgbClr val="FFFFFF"/>
                    </a:solidFill>
                  </a:tcPr>
                </a:tc>
                <a:tc>
                  <a:txBody>
                    <a:bodyPr wrap="none"/>
                    <a:lstStyle/>
                    <a:p>
                      <a:pPr algn="l"/>
                      <a:r>
                        <a:rPr sz="900" b="0">
                          <a:solidFill>
                            <a:srgbClr val="2E2E2E"/>
                          </a:solidFill>
                          <a:latin typeface="Calibri"/>
                        </a:rPr>
                        <a:t>31.5%</a:t>
                      </a:r>
                    </a:p>
                  </a:txBody>
                  <a:tcPr marL="85725" marR="38100" marT="19050" marB="19050" anchor="ctr">
                    <a:solidFill>
                      <a:srgbClr val="FFFFFF"/>
                    </a:solidFill>
                  </a:tcPr>
                </a:tc>
                <a:tc>
                  <a:txBody>
                    <a:bodyPr wrap="none"/>
                    <a:lstStyle/>
                    <a:p>
                      <a:pPr algn="l"/>
                      <a:r>
                        <a:rPr sz="900" b="1">
                          <a:solidFill>
                            <a:srgbClr val="008189"/>
                          </a:solidFill>
                          <a:latin typeface="Calibri"/>
                        </a:rPr>
                        <a:t>+587</a:t>
                      </a:r>
                    </a:p>
                  </a:txBody>
                  <a:tcPr marL="85725" marR="38100" marT="19050" marB="19050" anchor="ctr">
                    <a:solidFill>
                      <a:srgbClr val="FFFFFF"/>
                    </a:solidFill>
                  </a:tcPr>
                </a:tc>
                <a:tc>
                  <a:txBody>
                    <a:bodyPr wrap="none"/>
                    <a:lstStyle/>
                    <a:p>
                      <a:pPr algn="l"/>
                      <a:r>
                        <a:rPr sz="900" b="0">
                          <a:solidFill>
                            <a:srgbClr val="2E2E2E"/>
                          </a:solidFill>
                          <a:latin typeface="Calibri"/>
                        </a:rPr>
                        <a:t>15.1%</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Ophthalmology</a:t>
                      </a:r>
                    </a:p>
                  </a:txBody>
                  <a:tcPr marL="85725" marR="38100" marT="19050" marB="19050" anchor="ctr">
                    <a:solidFill>
                      <a:srgbClr val="F5F8FA"/>
                    </a:solidFill>
                  </a:tcPr>
                </a:tc>
                <a:tc>
                  <a:txBody>
                    <a:bodyPr wrap="none"/>
                    <a:lstStyle/>
                    <a:p>
                      <a:pPr algn="l"/>
                      <a:r>
                        <a:rPr sz="900" b="0">
                          <a:solidFill>
                            <a:srgbClr val="2E2E2E"/>
                          </a:solidFill>
                          <a:latin typeface="Calibri"/>
                        </a:rPr>
                        <a:t>14.2%</a:t>
                      </a:r>
                    </a:p>
                  </a:txBody>
                  <a:tcPr marL="85725" marR="38100" marT="19050" marB="19050" anchor="ctr">
                    <a:solidFill>
                      <a:srgbClr val="F5F8FA"/>
                    </a:solidFill>
                  </a:tcPr>
                </a:tc>
                <a:tc>
                  <a:txBody>
                    <a:bodyPr wrap="none"/>
                    <a:lstStyle/>
                    <a:p>
                      <a:pPr algn="l"/>
                      <a:r>
                        <a:rPr sz="900" b="0">
                          <a:solidFill>
                            <a:srgbClr val="2E2E2E"/>
                          </a:solidFill>
                          <a:latin typeface="Calibri"/>
                        </a:rPr>
                        <a:t>12.2%</a:t>
                      </a:r>
                    </a:p>
                  </a:txBody>
                  <a:tcPr marL="85725" marR="38100" marT="19050" marB="19050" anchor="ctr">
                    <a:solidFill>
                      <a:srgbClr val="F5F8FA"/>
                    </a:solidFill>
                  </a:tcPr>
                </a:tc>
                <a:tc>
                  <a:txBody>
                    <a:bodyPr wrap="none"/>
                    <a:lstStyle/>
                    <a:p>
                      <a:pPr algn="l"/>
                      <a:r>
                        <a:rPr sz="900" b="1">
                          <a:solidFill>
                            <a:srgbClr val="E44D3A"/>
                          </a:solidFill>
                          <a:latin typeface="Calibri"/>
                        </a:rPr>
                        <a:t>-202</a:t>
                      </a:r>
                    </a:p>
                  </a:txBody>
                  <a:tcPr marL="85725" marR="38100" marT="19050" marB="19050" anchor="ctr">
                    <a:solidFill>
                      <a:srgbClr val="F5F8FA"/>
                    </a:solidFill>
                  </a:tcPr>
                </a:tc>
                <a:tc>
                  <a:txBody>
                    <a:bodyPr wrap="none"/>
                    <a:lstStyle/>
                    <a:p>
                      <a:pPr algn="l"/>
                      <a:r>
                        <a:rPr sz="900" b="0">
                          <a:solidFill>
                            <a:srgbClr val="2E2E2E"/>
                          </a:solidFill>
                          <a:latin typeface="Calibri"/>
                        </a:rPr>
                        <a:t>11.0%</a:t>
                      </a:r>
                    </a:p>
                  </a:txBody>
                  <a:tcPr marL="85725" marR="38100" marT="19050" marB="19050" anchor="ctr">
                    <a:solidFill>
                      <a:srgbClr val="F5F8FA"/>
                    </a:solidFill>
                  </a:tcPr>
                </a:tc>
              </a:tr>
            </a:tbl>
          </a:graphicData>
        </a:graphic>
      </p:graphicFrame>
      <p:sp>
        <p:nvSpPr>
          <p:cNvPr id="24" name="TextBox 23"/>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Tables Therapeutic Application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Volume, By Therapeutic Application (Mn Doses)</a:t>
            </a:r>
          </a:p>
        </p:txBody>
      </p:sp>
      <p:graphicFrame>
        <p:nvGraphicFramePr>
          <p:cNvPr id="13" name="Table 12"/>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Therapeutic Application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Rheumatology</a:t>
                      </a:r>
                    </a:p>
                  </a:txBody>
                  <a:tcPr marL="85725" marR="38100" marT="19050" marB="19050" anchor="ctr">
                    <a:solidFill>
                      <a:srgbClr val="FFFFFF"/>
                    </a:solidFill>
                  </a:tcPr>
                </a:tc>
                <a:tc>
                  <a:txBody>
                    <a:bodyPr wrap="none"/>
                    <a:lstStyle/>
                    <a:p>
                      <a:pPr algn="l"/>
                      <a:r>
                        <a:rPr sz="800" b="0">
                          <a:solidFill>
                            <a:srgbClr val="2E2E2E"/>
                          </a:solidFill>
                          <a:latin typeface="Calibri"/>
                        </a:rPr>
                        <a:t>0.39</a:t>
                      </a:r>
                    </a:p>
                  </a:txBody>
                  <a:tcPr marL="85725" marR="38100" marT="19050" marB="19050" anchor="ctr">
                    <a:solidFill>
                      <a:srgbClr val="FFFFFF"/>
                    </a:solidFill>
                  </a:tcPr>
                </a:tc>
                <a:tc>
                  <a:txBody>
                    <a:bodyPr wrap="none"/>
                    <a:lstStyle/>
                    <a:p>
                      <a:pPr algn="l"/>
                      <a:r>
                        <a:rPr sz="800" b="0">
                          <a:solidFill>
                            <a:srgbClr val="2E2E2E"/>
                          </a:solidFill>
                          <a:latin typeface="Calibri"/>
                        </a:rPr>
                        <a:t>0.46</a:t>
                      </a:r>
                    </a:p>
                  </a:txBody>
                  <a:tcPr marL="85725" marR="38100" marT="19050" marB="19050" anchor="ctr">
                    <a:solidFill>
                      <a:srgbClr val="FFFFFF"/>
                    </a:solidFill>
                  </a:tcPr>
                </a:tc>
                <a:tc>
                  <a:txBody>
                    <a:bodyPr wrap="none"/>
                    <a:lstStyle/>
                    <a:p>
                      <a:pPr algn="l"/>
                      <a:r>
                        <a:rPr sz="800" b="0">
                          <a:solidFill>
                            <a:srgbClr val="2E2E2E"/>
                          </a:solidFill>
                          <a:latin typeface="Calibri"/>
                        </a:rPr>
                        <a:t>0.56</a:t>
                      </a:r>
                    </a:p>
                  </a:txBody>
                  <a:tcPr marL="85725" marR="38100" marT="19050" marB="19050" anchor="ctr">
                    <a:solidFill>
                      <a:srgbClr val="FFFFFF"/>
                    </a:solidFill>
                  </a:tcPr>
                </a:tc>
                <a:tc>
                  <a:txBody>
                    <a:bodyPr wrap="none"/>
                    <a:lstStyle/>
                    <a:p>
                      <a:pPr algn="l"/>
                      <a:r>
                        <a:rPr sz="800" b="0">
                          <a:solidFill>
                            <a:srgbClr val="2E2E2E"/>
                          </a:solidFill>
                          <a:latin typeface="Calibri"/>
                        </a:rPr>
                        <a:t>0.72</a:t>
                      </a:r>
                    </a:p>
                  </a:txBody>
                  <a:tcPr marL="85725" marR="38100" marT="19050" marB="19050" anchor="ctr">
                    <a:solidFill>
                      <a:srgbClr val="FFFFFF"/>
                    </a:solidFill>
                  </a:tcPr>
                </a:tc>
                <a:tc>
                  <a:txBody>
                    <a:bodyPr wrap="none"/>
                    <a:lstStyle/>
                    <a:p>
                      <a:pPr algn="l"/>
                      <a:r>
                        <a:rPr sz="800" b="0">
                          <a:solidFill>
                            <a:srgbClr val="2E2E2E"/>
                          </a:solidFill>
                          <a:latin typeface="Calibri"/>
                        </a:rPr>
                        <a:t>0.90</a:t>
                      </a:r>
                    </a:p>
                  </a:txBody>
                  <a:tcPr marL="85725" marR="38100" marT="19050" marB="19050" anchor="ctr">
                    <a:solidFill>
                      <a:srgbClr val="FFFFFF"/>
                    </a:solidFill>
                  </a:tcPr>
                </a:tc>
                <a:tc>
                  <a:txBody>
                    <a:bodyPr wrap="none"/>
                    <a:lstStyle/>
                    <a:p>
                      <a:pPr algn="l"/>
                      <a:r>
                        <a:rPr sz="800" b="0">
                          <a:solidFill>
                            <a:srgbClr val="2E2E2E"/>
                          </a:solidFill>
                          <a:latin typeface="Calibri"/>
                        </a:rPr>
                        <a:t>1.09</a:t>
                      </a:r>
                    </a:p>
                  </a:txBody>
                  <a:tcPr marL="85725" marR="38100" marT="19050" marB="19050" anchor="ctr">
                    <a:solidFill>
                      <a:srgbClr val="FFFFFF"/>
                    </a:solidFill>
                  </a:tcPr>
                </a:tc>
                <a:tc>
                  <a:txBody>
                    <a:bodyPr wrap="none"/>
                    <a:lstStyle/>
                    <a:p>
                      <a:pPr algn="l"/>
                      <a:r>
                        <a:rPr sz="800" b="0">
                          <a:solidFill>
                            <a:srgbClr val="2E2E2E"/>
                          </a:solidFill>
                          <a:latin typeface="Calibri"/>
                        </a:rPr>
                        <a:t>1.29</a:t>
                      </a:r>
                    </a:p>
                  </a:txBody>
                  <a:tcPr marL="85725" marR="38100" marT="19050" marB="19050" anchor="ctr">
                    <a:solidFill>
                      <a:srgbClr val="FFFFFF"/>
                    </a:solidFill>
                  </a:tcPr>
                </a:tc>
                <a:tc>
                  <a:txBody>
                    <a:bodyPr wrap="none"/>
                    <a:lstStyle/>
                    <a:p>
                      <a:pPr algn="l"/>
                      <a:r>
                        <a:rPr sz="800" b="0">
                          <a:solidFill>
                            <a:srgbClr val="2E2E2E"/>
                          </a:solidFill>
                          <a:latin typeface="Calibri"/>
                        </a:rPr>
                        <a:t>1.50</a:t>
                      </a:r>
                    </a:p>
                  </a:txBody>
                  <a:tcPr marL="85725" marR="38100" marT="19050" marB="19050" anchor="ctr">
                    <a:solidFill>
                      <a:srgbClr val="FFFFFF"/>
                    </a:solidFill>
                  </a:tcPr>
                </a:tc>
                <a:tc>
                  <a:txBody>
                    <a:bodyPr wrap="none"/>
                    <a:lstStyle/>
                    <a:p>
                      <a:pPr algn="l"/>
                      <a:r>
                        <a:rPr sz="800" b="0">
                          <a:solidFill>
                            <a:srgbClr val="2E2E2E"/>
                          </a:solidFill>
                          <a:latin typeface="Calibri"/>
                        </a:rPr>
                        <a:t>1.73</a:t>
                      </a:r>
                    </a:p>
                  </a:txBody>
                  <a:tcPr marL="85725" marR="38100" marT="19050" marB="19050" anchor="ctr">
                    <a:solidFill>
                      <a:srgbClr val="FFFFFF"/>
                    </a:solidFill>
                  </a:tcPr>
                </a:tc>
                <a:tc>
                  <a:txBody>
                    <a:bodyPr wrap="none"/>
                    <a:lstStyle/>
                    <a:p>
                      <a:pPr algn="l"/>
                      <a:r>
                        <a:rPr sz="800" b="0">
                          <a:solidFill>
                            <a:srgbClr val="2E2E2E"/>
                          </a:solidFill>
                          <a:latin typeface="Calibri"/>
                        </a:rPr>
                        <a:t>1.96</a:t>
                      </a:r>
                    </a:p>
                  </a:txBody>
                  <a:tcPr marL="85725" marR="38100" marT="19050" marB="19050" anchor="ctr">
                    <a:solidFill>
                      <a:srgbClr val="FFFFFF"/>
                    </a:solidFill>
                  </a:tcPr>
                </a:tc>
                <a:tc>
                  <a:txBody>
                    <a:bodyPr wrap="none"/>
                    <a:lstStyle/>
                    <a:p>
                      <a:pPr algn="l"/>
                      <a:r>
                        <a:rPr sz="800" b="0">
                          <a:solidFill>
                            <a:srgbClr val="2E2E2E"/>
                          </a:solidFill>
                          <a:latin typeface="Calibri"/>
                        </a:rPr>
                        <a:t>2.20</a:t>
                      </a:r>
                    </a:p>
                  </a:txBody>
                  <a:tcPr marL="85725" marR="38100" marT="19050" marB="19050" anchor="ctr">
                    <a:solidFill>
                      <a:srgbClr val="FFFFFF"/>
                    </a:solidFill>
                  </a:tcPr>
                </a:tc>
                <a:tc>
                  <a:txBody>
                    <a:bodyPr wrap="none"/>
                    <a:lstStyle/>
                    <a:p>
                      <a:pPr algn="l"/>
                      <a:r>
                        <a:rPr sz="800" b="0">
                          <a:solidFill>
                            <a:srgbClr val="2E2E2E"/>
                          </a:solidFill>
                          <a:latin typeface="Calibri"/>
                        </a:rPr>
                        <a:t>2.44</a:t>
                      </a:r>
                    </a:p>
                  </a:txBody>
                  <a:tcPr marL="85725" marR="38100" marT="19050" marB="19050" anchor="ctr">
                    <a:solidFill>
                      <a:srgbClr val="FFFFFF"/>
                    </a:solidFill>
                  </a:tcPr>
                </a:tc>
                <a:tc>
                  <a:txBody>
                    <a:bodyPr wrap="none"/>
                    <a:lstStyle/>
                    <a:p>
                      <a:pPr algn="l"/>
                      <a:r>
                        <a:rPr sz="800" b="0">
                          <a:solidFill>
                            <a:srgbClr val="2E2E2E"/>
                          </a:solidFill>
                          <a:latin typeface="Calibri"/>
                        </a:rPr>
                        <a:t>2.69</a:t>
                      </a:r>
                    </a:p>
                  </a:txBody>
                  <a:tcPr marL="85725" marR="38100" marT="19050" marB="19050" anchor="ctr">
                    <a:solidFill>
                      <a:srgbClr val="FFFFFF"/>
                    </a:solidFill>
                  </a:tcPr>
                </a:tc>
                <a:tc>
                  <a:txBody>
                    <a:bodyPr wrap="none"/>
                    <a:lstStyle/>
                    <a:p>
                      <a:pPr algn="l"/>
                      <a:r>
                        <a:rPr sz="800" b="0">
                          <a:solidFill>
                            <a:srgbClr val="2E2E2E"/>
                          </a:solidFill>
                          <a:latin typeface="Calibri"/>
                        </a:rPr>
                        <a:t>2.96</a:t>
                      </a:r>
                    </a:p>
                  </a:txBody>
                  <a:tcPr marL="85725" marR="38100" marT="19050" marB="19050" anchor="ctr">
                    <a:solidFill>
                      <a:srgbClr val="FFFFFF"/>
                    </a:solidFill>
                  </a:tcPr>
                </a:tc>
                <a:tc>
                  <a:txBody>
                    <a:bodyPr wrap="none"/>
                    <a:lstStyle/>
                    <a:p>
                      <a:pPr algn="l"/>
                      <a:r>
                        <a:rPr sz="800" b="0">
                          <a:solidFill>
                            <a:srgbClr val="2E2E2E"/>
                          </a:solidFill>
                          <a:latin typeface="Calibri"/>
                        </a:rPr>
                        <a:t>3.23</a:t>
                      </a:r>
                    </a:p>
                  </a:txBody>
                  <a:tcPr marL="85725" marR="38100" marT="19050" marB="19050" anchor="ctr">
                    <a:solidFill>
                      <a:srgbClr val="FFFFFF"/>
                    </a:solidFill>
                  </a:tcPr>
                </a:tc>
                <a:tc>
                  <a:txBody>
                    <a:bodyPr wrap="none"/>
                    <a:lstStyle/>
                    <a:p>
                      <a:pPr algn="l"/>
                      <a:r>
                        <a:rPr sz="800" b="0">
                          <a:solidFill>
                            <a:srgbClr val="2E2E2E"/>
                          </a:solidFill>
                          <a:latin typeface="Calibri"/>
                        </a:rPr>
                        <a:t>3.51</a:t>
                      </a:r>
                    </a:p>
                  </a:txBody>
                  <a:tcPr marL="85725" marR="38100" marT="19050" marB="19050" anchor="ctr">
                    <a:solidFill>
                      <a:srgbClr val="FFFFFF"/>
                    </a:solidFill>
                  </a:tcPr>
                </a:tc>
                <a:tc>
                  <a:txBody>
                    <a:bodyPr wrap="none"/>
                    <a:lstStyle/>
                    <a:p>
                      <a:pPr algn="l"/>
                      <a:r>
                        <a:rPr sz="800" b="0">
                          <a:solidFill>
                            <a:srgbClr val="2E2E2E"/>
                          </a:solidFill>
                          <a:latin typeface="Calibri"/>
                        </a:rPr>
                        <a:t>12.4%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Dermatology</a:t>
                      </a:r>
                    </a:p>
                  </a:txBody>
                  <a:tcPr marL="85725" marR="38100" marT="19050" marB="19050" anchor="ctr">
                    <a:solidFill>
                      <a:srgbClr val="F5F8FA"/>
                    </a:solidFill>
                  </a:tcPr>
                </a:tc>
                <a:tc>
                  <a:txBody>
                    <a:bodyPr wrap="none"/>
                    <a:lstStyle/>
                    <a:p>
                      <a:pPr algn="l"/>
                      <a:r>
                        <a:rPr sz="800" b="0">
                          <a:solidFill>
                            <a:srgbClr val="2E2E2E"/>
                          </a:solidFill>
                          <a:latin typeface="Calibri"/>
                        </a:rPr>
                        <a:t>0.27</a:t>
                      </a:r>
                    </a:p>
                  </a:txBody>
                  <a:tcPr marL="85725" marR="38100" marT="19050" marB="19050" anchor="ctr">
                    <a:solidFill>
                      <a:srgbClr val="F5F8FA"/>
                    </a:solidFill>
                  </a:tcPr>
                </a:tc>
                <a:tc>
                  <a:txBody>
                    <a:bodyPr wrap="none"/>
                    <a:lstStyle/>
                    <a:p>
                      <a:pPr algn="l"/>
                      <a:r>
                        <a:rPr sz="800" b="0">
                          <a:solidFill>
                            <a:srgbClr val="2E2E2E"/>
                          </a:solidFill>
                          <a:latin typeface="Calibri"/>
                        </a:rPr>
                        <a:t>0.31</a:t>
                      </a:r>
                    </a:p>
                  </a:txBody>
                  <a:tcPr marL="85725" marR="38100" marT="19050" marB="19050" anchor="ctr">
                    <a:solidFill>
                      <a:srgbClr val="F5F8FA"/>
                    </a:solidFill>
                  </a:tcPr>
                </a:tc>
                <a:tc>
                  <a:txBody>
                    <a:bodyPr wrap="none"/>
                    <a:lstStyle/>
                    <a:p>
                      <a:pPr algn="l"/>
                      <a:r>
                        <a:rPr sz="800" b="0">
                          <a:solidFill>
                            <a:srgbClr val="2E2E2E"/>
                          </a:solidFill>
                          <a:latin typeface="Calibri"/>
                        </a:rPr>
                        <a:t>0.38</a:t>
                      </a:r>
                    </a:p>
                  </a:txBody>
                  <a:tcPr marL="85725" marR="38100" marT="19050" marB="19050" anchor="ctr">
                    <a:solidFill>
                      <a:srgbClr val="F5F8FA"/>
                    </a:solidFill>
                  </a:tcPr>
                </a:tc>
                <a:tc>
                  <a:txBody>
                    <a:bodyPr wrap="none"/>
                    <a:lstStyle/>
                    <a:p>
                      <a:pPr algn="l"/>
                      <a:r>
                        <a:rPr sz="800" b="0">
                          <a:solidFill>
                            <a:srgbClr val="2E2E2E"/>
                          </a:solidFill>
                          <a:latin typeface="Calibri"/>
                        </a:rPr>
                        <a:t>0.48</a:t>
                      </a:r>
                    </a:p>
                  </a:txBody>
                  <a:tcPr marL="85725" marR="38100" marT="19050" marB="19050" anchor="ctr">
                    <a:solidFill>
                      <a:srgbClr val="F5F8FA"/>
                    </a:solidFill>
                  </a:tcPr>
                </a:tc>
                <a:tc>
                  <a:txBody>
                    <a:bodyPr wrap="none"/>
                    <a:lstStyle/>
                    <a:p>
                      <a:pPr algn="l"/>
                      <a:r>
                        <a:rPr sz="800" b="0">
                          <a:solidFill>
                            <a:srgbClr val="2E2E2E"/>
                          </a:solidFill>
                          <a:latin typeface="Calibri"/>
                        </a:rPr>
                        <a:t>0.59</a:t>
                      </a:r>
                    </a:p>
                  </a:txBody>
                  <a:tcPr marL="85725" marR="38100" marT="19050" marB="19050" anchor="ctr">
                    <a:solidFill>
                      <a:srgbClr val="F5F8FA"/>
                    </a:solidFill>
                  </a:tcPr>
                </a:tc>
                <a:tc>
                  <a:txBody>
                    <a:bodyPr wrap="none"/>
                    <a:lstStyle/>
                    <a:p>
                      <a:pPr algn="l"/>
                      <a:r>
                        <a:rPr sz="800" b="0">
                          <a:solidFill>
                            <a:srgbClr val="2E2E2E"/>
                          </a:solidFill>
                          <a:latin typeface="Calibri"/>
                        </a:rPr>
                        <a:t>0.71</a:t>
                      </a:r>
                    </a:p>
                  </a:txBody>
                  <a:tcPr marL="85725" marR="38100" marT="19050" marB="19050" anchor="ctr">
                    <a:solidFill>
                      <a:srgbClr val="F5F8FA"/>
                    </a:solidFill>
                  </a:tcPr>
                </a:tc>
                <a:tc>
                  <a:txBody>
                    <a:bodyPr wrap="none"/>
                    <a:lstStyle/>
                    <a:p>
                      <a:pPr algn="l"/>
                      <a:r>
                        <a:rPr sz="800" b="0">
                          <a:solidFill>
                            <a:srgbClr val="2E2E2E"/>
                          </a:solidFill>
                          <a:latin typeface="Calibri"/>
                        </a:rPr>
                        <a:t>0.83</a:t>
                      </a:r>
                    </a:p>
                  </a:txBody>
                  <a:tcPr marL="85725" marR="38100" marT="19050" marB="19050" anchor="ctr">
                    <a:solidFill>
                      <a:srgbClr val="F5F8FA"/>
                    </a:solidFill>
                  </a:tcPr>
                </a:tc>
                <a:tc>
                  <a:txBody>
                    <a:bodyPr wrap="none"/>
                    <a:lstStyle/>
                    <a:p>
                      <a:pPr algn="l"/>
                      <a:r>
                        <a:rPr sz="800" b="0">
                          <a:solidFill>
                            <a:srgbClr val="2E2E2E"/>
                          </a:solidFill>
                          <a:latin typeface="Calibri"/>
                        </a:rPr>
                        <a:t>0.96</a:t>
                      </a:r>
                    </a:p>
                  </a:txBody>
                  <a:tcPr marL="85725" marR="38100" marT="19050" marB="19050" anchor="ctr">
                    <a:solidFill>
                      <a:srgbClr val="F5F8FA"/>
                    </a:solidFill>
                  </a:tcPr>
                </a:tc>
                <a:tc>
                  <a:txBody>
                    <a:bodyPr wrap="none"/>
                    <a:lstStyle/>
                    <a:p>
                      <a:pPr algn="l"/>
                      <a:r>
                        <a:rPr sz="800" b="0">
                          <a:solidFill>
                            <a:srgbClr val="2E2E2E"/>
                          </a:solidFill>
                          <a:latin typeface="Calibri"/>
                        </a:rPr>
                        <a:t>1.09</a:t>
                      </a:r>
                    </a:p>
                  </a:txBody>
                  <a:tcPr marL="85725" marR="38100" marT="19050" marB="19050" anchor="ctr">
                    <a:solidFill>
                      <a:srgbClr val="F5F8FA"/>
                    </a:solidFill>
                  </a:tcPr>
                </a:tc>
                <a:tc>
                  <a:txBody>
                    <a:bodyPr wrap="none"/>
                    <a:lstStyle/>
                    <a:p>
                      <a:pPr algn="l"/>
                      <a:r>
                        <a:rPr sz="800" b="0">
                          <a:solidFill>
                            <a:srgbClr val="2E2E2E"/>
                          </a:solidFill>
                          <a:latin typeface="Calibri"/>
                        </a:rPr>
                        <a:t>1.22</a:t>
                      </a:r>
                    </a:p>
                  </a:txBody>
                  <a:tcPr marL="85725" marR="38100" marT="19050" marB="19050" anchor="ctr">
                    <a:solidFill>
                      <a:srgbClr val="F5F8FA"/>
                    </a:solidFill>
                  </a:tcPr>
                </a:tc>
                <a:tc>
                  <a:txBody>
                    <a:bodyPr wrap="none"/>
                    <a:lstStyle/>
                    <a:p>
                      <a:pPr algn="l"/>
                      <a:r>
                        <a:rPr sz="800" b="0">
                          <a:solidFill>
                            <a:srgbClr val="2E2E2E"/>
                          </a:solidFill>
                          <a:latin typeface="Calibri"/>
                        </a:rPr>
                        <a:t>1.36</a:t>
                      </a:r>
                    </a:p>
                  </a:txBody>
                  <a:tcPr marL="85725" marR="38100" marT="19050" marB="19050" anchor="ctr">
                    <a:solidFill>
                      <a:srgbClr val="F5F8FA"/>
                    </a:solidFill>
                  </a:tcPr>
                </a:tc>
                <a:tc>
                  <a:txBody>
                    <a:bodyPr wrap="none"/>
                    <a:lstStyle/>
                    <a:p>
                      <a:pPr algn="l"/>
                      <a:r>
                        <a:rPr sz="800" b="0">
                          <a:solidFill>
                            <a:srgbClr val="2E2E2E"/>
                          </a:solidFill>
                          <a:latin typeface="Calibri"/>
                        </a:rPr>
                        <a:t>1.50</a:t>
                      </a:r>
                    </a:p>
                  </a:txBody>
                  <a:tcPr marL="85725" marR="38100" marT="19050" marB="19050" anchor="ctr">
                    <a:solidFill>
                      <a:srgbClr val="F5F8FA"/>
                    </a:solidFill>
                  </a:tcPr>
                </a:tc>
                <a:tc>
                  <a:txBody>
                    <a:bodyPr wrap="none"/>
                    <a:lstStyle/>
                    <a:p>
                      <a:pPr algn="l"/>
                      <a:r>
                        <a:rPr sz="800" b="0">
                          <a:solidFill>
                            <a:srgbClr val="2E2E2E"/>
                          </a:solidFill>
                          <a:latin typeface="Calibri"/>
                        </a:rPr>
                        <a:t>1.64</a:t>
                      </a:r>
                    </a:p>
                  </a:txBody>
                  <a:tcPr marL="85725" marR="38100" marT="19050" marB="19050" anchor="ctr">
                    <a:solidFill>
                      <a:srgbClr val="F5F8FA"/>
                    </a:solidFill>
                  </a:tcPr>
                </a:tc>
                <a:tc>
                  <a:txBody>
                    <a:bodyPr wrap="none"/>
                    <a:lstStyle/>
                    <a:p>
                      <a:pPr algn="l"/>
                      <a:r>
                        <a:rPr sz="800" b="0">
                          <a:solidFill>
                            <a:srgbClr val="2E2E2E"/>
                          </a:solidFill>
                          <a:latin typeface="Calibri"/>
                        </a:rPr>
                        <a:t>1.78</a:t>
                      </a:r>
                    </a:p>
                  </a:txBody>
                  <a:tcPr marL="85725" marR="38100" marT="19050" marB="19050" anchor="ctr">
                    <a:solidFill>
                      <a:srgbClr val="F5F8FA"/>
                    </a:solidFill>
                  </a:tcPr>
                </a:tc>
                <a:tc>
                  <a:txBody>
                    <a:bodyPr wrap="none"/>
                    <a:lstStyle/>
                    <a:p>
                      <a:pPr algn="l"/>
                      <a:r>
                        <a:rPr sz="800" b="0">
                          <a:solidFill>
                            <a:srgbClr val="2E2E2E"/>
                          </a:solidFill>
                          <a:latin typeface="Calibri"/>
                        </a:rPr>
                        <a:t>1.92</a:t>
                      </a:r>
                    </a:p>
                  </a:txBody>
                  <a:tcPr marL="85725" marR="38100" marT="19050" marB="19050" anchor="ctr">
                    <a:solidFill>
                      <a:srgbClr val="F5F8FA"/>
                    </a:solidFill>
                  </a:tcPr>
                </a:tc>
                <a:tc>
                  <a:txBody>
                    <a:bodyPr wrap="none"/>
                    <a:lstStyle/>
                    <a:p>
                      <a:pPr algn="l"/>
                      <a:r>
                        <a:rPr sz="800" b="0">
                          <a:solidFill>
                            <a:srgbClr val="2E2E2E"/>
                          </a:solidFill>
                          <a:latin typeface="Calibri"/>
                        </a:rPr>
                        <a:t>2.07</a:t>
                      </a:r>
                    </a:p>
                  </a:txBody>
                  <a:tcPr marL="85725" marR="38100" marT="19050" marB="19050" anchor="ctr">
                    <a:solidFill>
                      <a:srgbClr val="F5F8FA"/>
                    </a:solidFill>
                  </a:tcPr>
                </a:tc>
                <a:tc>
                  <a:txBody>
                    <a:bodyPr wrap="none"/>
                    <a:lstStyle/>
                    <a:p>
                      <a:pPr algn="l"/>
                      <a:r>
                        <a:rPr sz="800" b="0">
                          <a:solidFill>
                            <a:srgbClr val="2E2E2E"/>
                          </a:solidFill>
                          <a:latin typeface="Calibri"/>
                        </a:rPr>
                        <a:t>11.3%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Gastroenterology</a:t>
                      </a:r>
                    </a:p>
                  </a:txBody>
                  <a:tcPr marL="85725" marR="38100" marT="19050" marB="19050" anchor="ctr">
                    <a:solidFill>
                      <a:srgbClr val="FFFFFF"/>
                    </a:solidFill>
                  </a:tcPr>
                </a:tc>
                <a:tc>
                  <a:txBody>
                    <a:bodyPr wrap="none"/>
                    <a:lstStyle/>
                    <a:p>
                      <a:pPr algn="l"/>
                      <a:r>
                        <a:rPr sz="800" b="0">
                          <a:solidFill>
                            <a:srgbClr val="2E2E2E"/>
                          </a:solidFill>
                          <a:latin typeface="Calibri"/>
                        </a:rPr>
                        <a:t>0.24</a:t>
                      </a:r>
                    </a:p>
                  </a:txBody>
                  <a:tcPr marL="85725" marR="38100" marT="19050" marB="19050" anchor="ctr">
                    <a:solidFill>
                      <a:srgbClr val="FFFFFF"/>
                    </a:solidFill>
                  </a:tcPr>
                </a:tc>
                <a:tc>
                  <a:txBody>
                    <a:bodyPr wrap="none"/>
                    <a:lstStyle/>
                    <a:p>
                      <a:pPr algn="l"/>
                      <a:r>
                        <a:rPr sz="800" b="0">
                          <a:solidFill>
                            <a:srgbClr val="2E2E2E"/>
                          </a:solidFill>
                          <a:latin typeface="Calibri"/>
                        </a:rPr>
                        <a:t>0.29</a:t>
                      </a:r>
                    </a:p>
                  </a:txBody>
                  <a:tcPr marL="85725" marR="38100" marT="19050" marB="19050" anchor="ctr">
                    <a:solidFill>
                      <a:srgbClr val="FFFFFF"/>
                    </a:solidFill>
                  </a:tcPr>
                </a:tc>
                <a:tc>
                  <a:txBody>
                    <a:bodyPr wrap="none"/>
                    <a:lstStyle/>
                    <a:p>
                      <a:pPr algn="l"/>
                      <a:r>
                        <a:rPr sz="800" b="0">
                          <a:solidFill>
                            <a:srgbClr val="2E2E2E"/>
                          </a:solidFill>
                          <a:latin typeface="Calibri"/>
                        </a:rPr>
                        <a:t>0.37</a:t>
                      </a:r>
                    </a:p>
                  </a:txBody>
                  <a:tcPr marL="85725" marR="38100" marT="19050" marB="19050" anchor="ctr">
                    <a:solidFill>
                      <a:srgbClr val="FFFFFF"/>
                    </a:solidFill>
                  </a:tcPr>
                </a:tc>
                <a:tc>
                  <a:txBody>
                    <a:bodyPr wrap="none"/>
                    <a:lstStyle/>
                    <a:p>
                      <a:pPr algn="l"/>
                      <a:r>
                        <a:rPr sz="800" b="0">
                          <a:solidFill>
                            <a:srgbClr val="2E2E2E"/>
                          </a:solidFill>
                          <a:latin typeface="Calibri"/>
                        </a:rPr>
                        <a:t>0.48</a:t>
                      </a:r>
                    </a:p>
                  </a:txBody>
                  <a:tcPr marL="85725" marR="38100" marT="19050" marB="19050" anchor="ctr">
                    <a:solidFill>
                      <a:srgbClr val="FFFFFF"/>
                    </a:solidFill>
                  </a:tcPr>
                </a:tc>
                <a:tc>
                  <a:txBody>
                    <a:bodyPr wrap="none"/>
                    <a:lstStyle/>
                    <a:p>
                      <a:pPr algn="l"/>
                      <a:r>
                        <a:rPr sz="800" b="0">
                          <a:solidFill>
                            <a:srgbClr val="2E2E2E"/>
                          </a:solidFill>
                          <a:latin typeface="Calibri"/>
                        </a:rPr>
                        <a:t>0.62</a:t>
                      </a:r>
                    </a:p>
                  </a:txBody>
                  <a:tcPr marL="85725" marR="38100" marT="19050" marB="19050" anchor="ctr">
                    <a:solidFill>
                      <a:srgbClr val="FFFFFF"/>
                    </a:solidFill>
                  </a:tcPr>
                </a:tc>
                <a:tc>
                  <a:txBody>
                    <a:bodyPr wrap="none"/>
                    <a:lstStyle/>
                    <a:p>
                      <a:pPr algn="l"/>
                      <a:r>
                        <a:rPr sz="800" b="0">
                          <a:solidFill>
                            <a:srgbClr val="2E2E2E"/>
                          </a:solidFill>
                          <a:latin typeface="Calibri"/>
                        </a:rPr>
                        <a:t>0.76</a:t>
                      </a:r>
                    </a:p>
                  </a:txBody>
                  <a:tcPr marL="85725" marR="38100" marT="19050" marB="19050" anchor="ctr">
                    <a:solidFill>
                      <a:srgbClr val="FFFFFF"/>
                    </a:solidFill>
                  </a:tcPr>
                </a:tc>
                <a:tc>
                  <a:txBody>
                    <a:bodyPr wrap="none"/>
                    <a:lstStyle/>
                    <a:p>
                      <a:pPr algn="l"/>
                      <a:r>
                        <a:rPr sz="800" b="0">
                          <a:solidFill>
                            <a:srgbClr val="2E2E2E"/>
                          </a:solidFill>
                          <a:latin typeface="Calibri"/>
                        </a:rPr>
                        <a:t>0.93</a:t>
                      </a:r>
                    </a:p>
                  </a:txBody>
                  <a:tcPr marL="85725" marR="38100" marT="19050" marB="19050" anchor="ctr">
                    <a:solidFill>
                      <a:srgbClr val="FFFFFF"/>
                    </a:solidFill>
                  </a:tcPr>
                </a:tc>
                <a:tc>
                  <a:txBody>
                    <a:bodyPr wrap="none"/>
                    <a:lstStyle/>
                    <a:p>
                      <a:pPr algn="l"/>
                      <a:r>
                        <a:rPr sz="800" b="0">
                          <a:solidFill>
                            <a:srgbClr val="2E2E2E"/>
                          </a:solidFill>
                          <a:latin typeface="Calibri"/>
                        </a:rPr>
                        <a:t>1.11</a:t>
                      </a:r>
                    </a:p>
                  </a:txBody>
                  <a:tcPr marL="85725" marR="38100" marT="19050" marB="19050" anchor="ctr">
                    <a:solidFill>
                      <a:srgbClr val="FFFFFF"/>
                    </a:solidFill>
                  </a:tcPr>
                </a:tc>
                <a:tc>
                  <a:txBody>
                    <a:bodyPr wrap="none"/>
                    <a:lstStyle/>
                    <a:p>
                      <a:pPr algn="l"/>
                      <a:r>
                        <a:rPr sz="800" b="0">
                          <a:solidFill>
                            <a:srgbClr val="2E2E2E"/>
                          </a:solidFill>
                          <a:latin typeface="Calibri"/>
                        </a:rPr>
                        <a:t>1.30</a:t>
                      </a:r>
                    </a:p>
                  </a:txBody>
                  <a:tcPr marL="85725" marR="38100" marT="19050" marB="19050" anchor="ctr">
                    <a:solidFill>
                      <a:srgbClr val="FFFFFF"/>
                    </a:solidFill>
                  </a:tcPr>
                </a:tc>
                <a:tc>
                  <a:txBody>
                    <a:bodyPr wrap="none"/>
                    <a:lstStyle/>
                    <a:p>
                      <a:pPr algn="l"/>
                      <a:r>
                        <a:rPr sz="800" b="0">
                          <a:solidFill>
                            <a:srgbClr val="2E2E2E"/>
                          </a:solidFill>
                          <a:latin typeface="Calibri"/>
                        </a:rPr>
                        <a:t>1.51</a:t>
                      </a:r>
                    </a:p>
                  </a:txBody>
                  <a:tcPr marL="85725" marR="38100" marT="19050" marB="19050" anchor="ctr">
                    <a:solidFill>
                      <a:srgbClr val="FFFFFF"/>
                    </a:solidFill>
                  </a:tcPr>
                </a:tc>
                <a:tc>
                  <a:txBody>
                    <a:bodyPr wrap="none"/>
                    <a:lstStyle/>
                    <a:p>
                      <a:pPr algn="l"/>
                      <a:r>
                        <a:rPr sz="800" b="0">
                          <a:solidFill>
                            <a:srgbClr val="2E2E2E"/>
                          </a:solidFill>
                          <a:latin typeface="Calibri"/>
                        </a:rPr>
                        <a:t>1.74</a:t>
                      </a:r>
                    </a:p>
                  </a:txBody>
                  <a:tcPr marL="85725" marR="38100" marT="19050" marB="19050" anchor="ctr">
                    <a:solidFill>
                      <a:srgbClr val="FFFFFF"/>
                    </a:solidFill>
                  </a:tcPr>
                </a:tc>
                <a:tc>
                  <a:txBody>
                    <a:bodyPr wrap="none"/>
                    <a:lstStyle/>
                    <a:p>
                      <a:pPr algn="l"/>
                      <a:r>
                        <a:rPr sz="800" b="0">
                          <a:solidFill>
                            <a:srgbClr val="2E2E2E"/>
                          </a:solidFill>
                          <a:latin typeface="Calibri"/>
                        </a:rPr>
                        <a:t>1.98</a:t>
                      </a:r>
                    </a:p>
                  </a:txBody>
                  <a:tcPr marL="85725" marR="38100" marT="19050" marB="19050" anchor="ctr">
                    <a:solidFill>
                      <a:srgbClr val="FFFFFF"/>
                    </a:solidFill>
                  </a:tcPr>
                </a:tc>
                <a:tc>
                  <a:txBody>
                    <a:bodyPr wrap="none"/>
                    <a:lstStyle/>
                    <a:p>
                      <a:pPr algn="l"/>
                      <a:r>
                        <a:rPr sz="800" b="0">
                          <a:solidFill>
                            <a:srgbClr val="2E2E2E"/>
                          </a:solidFill>
                          <a:latin typeface="Calibri"/>
                        </a:rPr>
                        <a:t>2.24</a:t>
                      </a:r>
                    </a:p>
                  </a:txBody>
                  <a:tcPr marL="85725" marR="38100" marT="19050" marB="19050" anchor="ctr">
                    <a:solidFill>
                      <a:srgbClr val="FFFFFF"/>
                    </a:solidFill>
                  </a:tcPr>
                </a:tc>
                <a:tc>
                  <a:txBody>
                    <a:bodyPr wrap="none"/>
                    <a:lstStyle/>
                    <a:p>
                      <a:pPr algn="l"/>
                      <a:r>
                        <a:rPr sz="800" b="0">
                          <a:solidFill>
                            <a:srgbClr val="2E2E2E"/>
                          </a:solidFill>
                          <a:latin typeface="Calibri"/>
                        </a:rPr>
                        <a:t>2.51</a:t>
                      </a:r>
                    </a:p>
                  </a:txBody>
                  <a:tcPr marL="85725" marR="38100" marT="19050" marB="19050" anchor="ctr">
                    <a:solidFill>
                      <a:srgbClr val="FFFFFF"/>
                    </a:solidFill>
                  </a:tcPr>
                </a:tc>
                <a:tc>
                  <a:txBody>
                    <a:bodyPr wrap="none"/>
                    <a:lstStyle/>
                    <a:p>
                      <a:pPr algn="l"/>
                      <a:r>
                        <a:rPr sz="800" b="0">
                          <a:solidFill>
                            <a:srgbClr val="2E2E2E"/>
                          </a:solidFill>
                          <a:latin typeface="Calibri"/>
                        </a:rPr>
                        <a:t>2.80</a:t>
                      </a:r>
                    </a:p>
                  </a:txBody>
                  <a:tcPr marL="85725" marR="38100" marT="19050" marB="19050" anchor="ctr">
                    <a:solidFill>
                      <a:srgbClr val="FFFFFF"/>
                    </a:solidFill>
                  </a:tcPr>
                </a:tc>
                <a:tc>
                  <a:txBody>
                    <a:bodyPr wrap="none"/>
                    <a:lstStyle/>
                    <a:p>
                      <a:pPr algn="l"/>
                      <a:r>
                        <a:rPr sz="800" b="0">
                          <a:solidFill>
                            <a:srgbClr val="2E2E2E"/>
                          </a:solidFill>
                          <a:latin typeface="Calibri"/>
                        </a:rPr>
                        <a:t>3.12</a:t>
                      </a:r>
                    </a:p>
                  </a:txBody>
                  <a:tcPr marL="85725" marR="38100" marT="19050" marB="19050" anchor="ctr">
                    <a:solidFill>
                      <a:srgbClr val="FFFFFF"/>
                    </a:solidFill>
                  </a:tcPr>
                </a:tc>
                <a:tc>
                  <a:txBody>
                    <a:bodyPr wrap="none"/>
                    <a:lstStyle/>
                    <a:p>
                      <a:pPr algn="l"/>
                      <a:r>
                        <a:rPr sz="800" b="0">
                          <a:solidFill>
                            <a:srgbClr val="2E2E2E"/>
                          </a:solidFill>
                          <a:latin typeface="Calibri"/>
                        </a:rPr>
                        <a:t>15.1%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Ophthalmology</a:t>
                      </a:r>
                    </a:p>
                  </a:txBody>
                  <a:tcPr marL="85725" marR="38100" marT="19050" marB="19050" anchor="ctr">
                    <a:solidFill>
                      <a:srgbClr val="F5F8FA"/>
                    </a:solidFill>
                  </a:tcPr>
                </a:tc>
                <a:tc>
                  <a:txBody>
                    <a:bodyPr wrap="none"/>
                    <a:lstStyle/>
                    <a:p>
                      <a:pPr algn="l"/>
                      <a:r>
                        <a:rPr sz="800" b="0">
                          <a:solidFill>
                            <a:srgbClr val="2E2E2E"/>
                          </a:solidFill>
                          <a:latin typeface="Calibri"/>
                        </a:rPr>
                        <a:t>0.16</a:t>
                      </a:r>
                    </a:p>
                  </a:txBody>
                  <a:tcPr marL="85725" marR="38100" marT="19050" marB="19050" anchor="ctr">
                    <a:solidFill>
                      <a:srgbClr val="F5F8FA"/>
                    </a:solidFill>
                  </a:tcPr>
                </a:tc>
                <a:tc>
                  <a:txBody>
                    <a:bodyPr wrap="none"/>
                    <a:lstStyle/>
                    <a:p>
                      <a:pPr algn="l"/>
                      <a:r>
                        <a:rPr sz="800" b="0">
                          <a:solidFill>
                            <a:srgbClr val="2E2E2E"/>
                          </a:solidFill>
                          <a:latin typeface="Calibri"/>
                        </a:rPr>
                        <a:t>0.19</a:t>
                      </a:r>
                    </a:p>
                  </a:txBody>
                  <a:tcPr marL="85725" marR="38100" marT="19050" marB="19050" anchor="ctr">
                    <a:solidFill>
                      <a:srgbClr val="F5F8FA"/>
                    </a:solidFill>
                  </a:tcPr>
                </a:tc>
                <a:tc>
                  <a:txBody>
                    <a:bodyPr wrap="none"/>
                    <a:lstStyle/>
                    <a:p>
                      <a:pPr algn="l"/>
                      <a:r>
                        <a:rPr sz="800" b="0">
                          <a:solidFill>
                            <a:srgbClr val="2E2E2E"/>
                          </a:solidFill>
                          <a:latin typeface="Calibri"/>
                        </a:rPr>
                        <a:t>0.23</a:t>
                      </a:r>
                    </a:p>
                  </a:txBody>
                  <a:tcPr marL="85725" marR="38100" marT="19050" marB="19050" anchor="ctr">
                    <a:solidFill>
                      <a:srgbClr val="F5F8FA"/>
                    </a:solidFill>
                  </a:tcPr>
                </a:tc>
                <a:tc>
                  <a:txBody>
                    <a:bodyPr wrap="none"/>
                    <a:lstStyle/>
                    <a:p>
                      <a:pPr algn="l"/>
                      <a:r>
                        <a:rPr sz="800" b="0">
                          <a:solidFill>
                            <a:srgbClr val="2E2E2E"/>
                          </a:solidFill>
                          <a:latin typeface="Calibri"/>
                        </a:rPr>
                        <a:t>0.29</a:t>
                      </a:r>
                    </a:p>
                  </a:txBody>
                  <a:tcPr marL="85725" marR="38100" marT="19050" marB="19050" anchor="ctr">
                    <a:solidFill>
                      <a:srgbClr val="F5F8FA"/>
                    </a:solidFill>
                  </a:tcPr>
                </a:tc>
                <a:tc>
                  <a:txBody>
                    <a:bodyPr wrap="none"/>
                    <a:lstStyle/>
                    <a:p>
                      <a:pPr algn="l"/>
                      <a:r>
                        <a:rPr sz="800" b="0">
                          <a:solidFill>
                            <a:srgbClr val="2E2E2E"/>
                          </a:solidFill>
                          <a:latin typeface="Calibri"/>
                        </a:rPr>
                        <a:t>0.36</a:t>
                      </a:r>
                    </a:p>
                  </a:txBody>
                  <a:tcPr marL="85725" marR="38100" marT="19050" marB="19050" anchor="ctr">
                    <a:solidFill>
                      <a:srgbClr val="F5F8FA"/>
                    </a:solidFill>
                  </a:tcPr>
                </a:tc>
                <a:tc>
                  <a:txBody>
                    <a:bodyPr wrap="none"/>
                    <a:lstStyle/>
                    <a:p>
                      <a:pPr algn="l"/>
                      <a:r>
                        <a:rPr sz="800" b="0">
                          <a:solidFill>
                            <a:srgbClr val="2E2E2E"/>
                          </a:solidFill>
                          <a:latin typeface="Calibri"/>
                        </a:rPr>
                        <a:t>0.42</a:t>
                      </a:r>
                    </a:p>
                  </a:txBody>
                  <a:tcPr marL="85725" marR="38100" marT="19050" marB="19050" anchor="ctr">
                    <a:solidFill>
                      <a:srgbClr val="F5F8FA"/>
                    </a:solidFill>
                  </a:tcPr>
                </a:tc>
                <a:tc>
                  <a:txBody>
                    <a:bodyPr wrap="none"/>
                    <a:lstStyle/>
                    <a:p>
                      <a:pPr algn="l"/>
                      <a:r>
                        <a:rPr sz="800" b="0">
                          <a:solidFill>
                            <a:srgbClr val="2E2E2E"/>
                          </a:solidFill>
                          <a:latin typeface="Calibri"/>
                        </a:rPr>
                        <a:t>0.50</a:t>
                      </a:r>
                    </a:p>
                  </a:txBody>
                  <a:tcPr marL="85725" marR="38100" marT="19050" marB="19050" anchor="ctr">
                    <a:solidFill>
                      <a:srgbClr val="F5F8FA"/>
                    </a:solidFill>
                  </a:tcPr>
                </a:tc>
                <a:tc>
                  <a:txBody>
                    <a:bodyPr wrap="none"/>
                    <a:lstStyle/>
                    <a:p>
                      <a:pPr algn="l"/>
                      <a:r>
                        <a:rPr sz="800" b="0">
                          <a:solidFill>
                            <a:srgbClr val="2E2E2E"/>
                          </a:solidFill>
                          <a:latin typeface="Calibri"/>
                        </a:rPr>
                        <a:t>0.57</a:t>
                      </a:r>
                    </a:p>
                  </a:txBody>
                  <a:tcPr marL="85725" marR="38100" marT="19050" marB="19050" anchor="ctr">
                    <a:solidFill>
                      <a:srgbClr val="F5F8FA"/>
                    </a:solidFill>
                  </a:tcPr>
                </a:tc>
                <a:tc>
                  <a:txBody>
                    <a:bodyPr wrap="none"/>
                    <a:lstStyle/>
                    <a:p>
                      <a:pPr algn="l"/>
                      <a:r>
                        <a:rPr sz="800" b="0">
                          <a:solidFill>
                            <a:srgbClr val="2E2E2E"/>
                          </a:solidFill>
                          <a:latin typeface="Calibri"/>
                        </a:rPr>
                        <a:t>0.65</a:t>
                      </a:r>
                    </a:p>
                  </a:txBody>
                  <a:tcPr marL="85725" marR="38100" marT="19050" marB="19050" anchor="ctr">
                    <a:solidFill>
                      <a:srgbClr val="F5F8FA"/>
                    </a:solidFill>
                  </a:tcPr>
                </a:tc>
                <a:tc>
                  <a:txBody>
                    <a:bodyPr wrap="none"/>
                    <a:lstStyle/>
                    <a:p>
                      <a:pPr algn="l"/>
                      <a:r>
                        <a:rPr sz="800" b="0">
                          <a:solidFill>
                            <a:srgbClr val="2E2E2E"/>
                          </a:solidFill>
                          <a:latin typeface="Calibri"/>
                        </a:rPr>
                        <a:t>0.73</a:t>
                      </a:r>
                    </a:p>
                  </a:txBody>
                  <a:tcPr marL="85725" marR="38100" marT="19050" marB="19050" anchor="ctr">
                    <a:solidFill>
                      <a:srgbClr val="F5F8FA"/>
                    </a:solidFill>
                  </a:tcPr>
                </a:tc>
                <a:tc>
                  <a:txBody>
                    <a:bodyPr wrap="none"/>
                    <a:lstStyle/>
                    <a:p>
                      <a:pPr algn="l"/>
                      <a:r>
                        <a:rPr sz="800" b="0">
                          <a:solidFill>
                            <a:srgbClr val="2E2E2E"/>
                          </a:solidFill>
                          <a:latin typeface="Calibri"/>
                        </a:rPr>
                        <a:t>0.81</a:t>
                      </a:r>
                    </a:p>
                  </a:txBody>
                  <a:tcPr marL="85725" marR="38100" marT="19050" marB="19050" anchor="ctr">
                    <a:solidFill>
                      <a:srgbClr val="F5F8FA"/>
                    </a:solidFill>
                  </a:tcPr>
                </a:tc>
                <a:tc>
                  <a:txBody>
                    <a:bodyPr wrap="none"/>
                    <a:lstStyle/>
                    <a:p>
                      <a:pPr algn="l"/>
                      <a:r>
                        <a:rPr sz="800" b="0">
                          <a:solidFill>
                            <a:srgbClr val="2E2E2E"/>
                          </a:solidFill>
                          <a:latin typeface="Calibri"/>
                        </a:rPr>
                        <a:t>0.89</a:t>
                      </a:r>
                    </a:p>
                  </a:txBody>
                  <a:tcPr marL="85725" marR="38100" marT="19050" marB="19050" anchor="ctr">
                    <a:solidFill>
                      <a:srgbClr val="F5F8FA"/>
                    </a:solidFill>
                  </a:tcPr>
                </a:tc>
                <a:tc>
                  <a:txBody>
                    <a:bodyPr wrap="none"/>
                    <a:lstStyle/>
                    <a:p>
                      <a:pPr algn="l"/>
                      <a:r>
                        <a:rPr sz="800" b="0">
                          <a:solidFill>
                            <a:srgbClr val="2E2E2E"/>
                          </a:solidFill>
                          <a:latin typeface="Calibri"/>
                        </a:rPr>
                        <a:t>0.97</a:t>
                      </a:r>
                    </a:p>
                  </a:txBody>
                  <a:tcPr marL="85725" marR="38100" marT="19050" marB="19050" anchor="ctr">
                    <a:solidFill>
                      <a:srgbClr val="F5F8FA"/>
                    </a:solidFill>
                  </a:tcPr>
                </a:tc>
                <a:tc>
                  <a:txBody>
                    <a:bodyPr wrap="none"/>
                    <a:lstStyle/>
                    <a:p>
                      <a:pPr algn="l"/>
                      <a:r>
                        <a:rPr sz="800" b="0">
                          <a:solidFill>
                            <a:srgbClr val="2E2E2E"/>
                          </a:solidFill>
                          <a:latin typeface="Calibri"/>
                        </a:rPr>
                        <a:t>1.05</a:t>
                      </a:r>
                    </a:p>
                  </a:txBody>
                  <a:tcPr marL="85725" marR="38100" marT="19050" marB="19050" anchor="ctr">
                    <a:solidFill>
                      <a:srgbClr val="F5F8FA"/>
                    </a:solidFill>
                  </a:tcPr>
                </a:tc>
                <a:tc>
                  <a:txBody>
                    <a:bodyPr wrap="none"/>
                    <a:lstStyle/>
                    <a:p>
                      <a:pPr algn="l"/>
                      <a:r>
                        <a:rPr sz="800" b="0">
                          <a:solidFill>
                            <a:srgbClr val="2E2E2E"/>
                          </a:solidFill>
                          <a:latin typeface="Calibri"/>
                        </a:rPr>
                        <a:t>1.13</a:t>
                      </a:r>
                    </a:p>
                  </a:txBody>
                  <a:tcPr marL="85725" marR="38100" marT="19050" marB="19050" anchor="ctr">
                    <a:solidFill>
                      <a:srgbClr val="F5F8FA"/>
                    </a:solidFill>
                  </a:tcPr>
                </a:tc>
                <a:tc>
                  <a:txBody>
                    <a:bodyPr wrap="none"/>
                    <a:lstStyle/>
                    <a:p>
                      <a:pPr algn="l"/>
                      <a:r>
                        <a:rPr sz="800" b="0">
                          <a:solidFill>
                            <a:srgbClr val="2E2E2E"/>
                          </a:solidFill>
                          <a:latin typeface="Calibri"/>
                        </a:rPr>
                        <a:t>1.21</a:t>
                      </a:r>
                    </a:p>
                  </a:txBody>
                  <a:tcPr marL="85725" marR="38100" marT="19050" marB="19050" anchor="ctr">
                    <a:solidFill>
                      <a:srgbClr val="F5F8FA"/>
                    </a:solidFill>
                  </a:tcPr>
                </a:tc>
                <a:tc>
                  <a:txBody>
                    <a:bodyPr wrap="none"/>
                    <a:lstStyle/>
                    <a:p>
                      <a:pPr algn="l"/>
                      <a:r>
                        <a:rPr sz="800" b="0">
                          <a:solidFill>
                            <a:srgbClr val="2E2E2E"/>
                          </a:solidFill>
                          <a:latin typeface="Calibri"/>
                        </a:rPr>
                        <a:t>11.0%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1.06</a:t>
                      </a:r>
                    </a:p>
                  </a:txBody>
                  <a:tcPr marL="85725" marR="38100" marT="19050" marB="19050" anchor="ctr">
                    <a:solidFill>
                      <a:srgbClr val="E0E8EF"/>
                    </a:solidFill>
                  </a:tcPr>
                </a:tc>
                <a:tc>
                  <a:txBody>
                    <a:bodyPr wrap="none"/>
                    <a:lstStyle/>
                    <a:p>
                      <a:pPr algn="l"/>
                      <a:r>
                        <a:rPr sz="800" b="1">
                          <a:solidFill>
                            <a:srgbClr val="2E2E2E"/>
                          </a:solidFill>
                          <a:latin typeface="Calibri"/>
                        </a:rPr>
                        <a:t>1.24</a:t>
                      </a:r>
                    </a:p>
                  </a:txBody>
                  <a:tcPr marL="85725" marR="38100" marT="19050" marB="19050" anchor="ctr">
                    <a:solidFill>
                      <a:srgbClr val="E0E8EF"/>
                    </a:solidFill>
                  </a:tcPr>
                </a:tc>
                <a:tc>
                  <a:txBody>
                    <a:bodyPr wrap="none"/>
                    <a:lstStyle/>
                    <a:p>
                      <a:pPr algn="l"/>
                      <a:r>
                        <a:rPr sz="800" b="1">
                          <a:solidFill>
                            <a:srgbClr val="2E2E2E"/>
                          </a:solidFill>
                          <a:latin typeface="Calibri"/>
                        </a:rPr>
                        <a:t>1.54</a:t>
                      </a:r>
                    </a:p>
                  </a:txBody>
                  <a:tcPr marL="85725" marR="38100" marT="19050" marB="19050" anchor="ctr">
                    <a:solidFill>
                      <a:srgbClr val="E0E8EF"/>
                    </a:solidFill>
                  </a:tcPr>
                </a:tc>
                <a:tc>
                  <a:txBody>
                    <a:bodyPr wrap="none"/>
                    <a:lstStyle/>
                    <a:p>
                      <a:pPr algn="l"/>
                      <a:r>
                        <a:rPr sz="800" b="1">
                          <a:solidFill>
                            <a:srgbClr val="2E2E2E"/>
                          </a:solidFill>
                          <a:latin typeface="Calibri"/>
                        </a:rPr>
                        <a:t>1.97</a:t>
                      </a:r>
                    </a:p>
                  </a:txBody>
                  <a:tcPr marL="85725" marR="38100" marT="19050" marB="19050" anchor="ctr">
                    <a:solidFill>
                      <a:srgbClr val="E0E8EF"/>
                    </a:solidFill>
                  </a:tcPr>
                </a:tc>
                <a:tc>
                  <a:txBody>
                    <a:bodyPr wrap="none"/>
                    <a:lstStyle/>
                    <a:p>
                      <a:pPr algn="l"/>
                      <a:r>
                        <a:rPr sz="800" b="1">
                          <a:solidFill>
                            <a:srgbClr val="2E2E2E"/>
                          </a:solidFill>
                          <a:latin typeface="Calibri"/>
                        </a:rPr>
                        <a:t>2.46</a:t>
                      </a:r>
                    </a:p>
                  </a:txBody>
                  <a:tcPr marL="85725" marR="38100" marT="19050" marB="19050" anchor="ctr">
                    <a:solidFill>
                      <a:srgbClr val="E0E8EF"/>
                    </a:solidFill>
                  </a:tcPr>
                </a:tc>
                <a:tc>
                  <a:txBody>
                    <a:bodyPr wrap="none"/>
                    <a:lstStyle/>
                    <a:p>
                      <a:pPr algn="l"/>
                      <a:r>
                        <a:rPr sz="800" b="1">
                          <a:solidFill>
                            <a:srgbClr val="2E2E2E"/>
                          </a:solidFill>
                          <a:latin typeface="Calibri"/>
                        </a:rPr>
                        <a:t>2.98</a:t>
                      </a:r>
                    </a:p>
                  </a:txBody>
                  <a:tcPr marL="85725" marR="38100" marT="19050" marB="19050" anchor="ctr">
                    <a:solidFill>
                      <a:srgbClr val="E0E8EF"/>
                    </a:solidFill>
                  </a:tcPr>
                </a:tc>
                <a:tc>
                  <a:txBody>
                    <a:bodyPr wrap="none"/>
                    <a:lstStyle/>
                    <a:p>
                      <a:pPr algn="l"/>
                      <a:r>
                        <a:rPr sz="800" b="1">
                          <a:solidFill>
                            <a:srgbClr val="2E2E2E"/>
                          </a:solidFill>
                          <a:latin typeface="Calibri"/>
                        </a:rPr>
                        <a:t>3.56</a:t>
                      </a:r>
                    </a:p>
                  </a:txBody>
                  <a:tcPr marL="85725" marR="38100" marT="19050" marB="19050" anchor="ctr">
                    <a:solidFill>
                      <a:srgbClr val="E0E8EF"/>
                    </a:solidFill>
                  </a:tcPr>
                </a:tc>
                <a:tc>
                  <a:txBody>
                    <a:bodyPr wrap="none"/>
                    <a:lstStyle/>
                    <a:p>
                      <a:pPr algn="l"/>
                      <a:r>
                        <a:rPr sz="800" b="1">
                          <a:solidFill>
                            <a:srgbClr val="2E2E2E"/>
                          </a:solidFill>
                          <a:latin typeface="Calibri"/>
                        </a:rPr>
                        <a:t>4.15</a:t>
                      </a:r>
                    </a:p>
                  </a:txBody>
                  <a:tcPr marL="85725" marR="38100" marT="19050" marB="19050" anchor="ctr">
                    <a:solidFill>
                      <a:srgbClr val="E0E8EF"/>
                    </a:solidFill>
                  </a:tcPr>
                </a:tc>
                <a:tc>
                  <a:txBody>
                    <a:bodyPr wrap="none"/>
                    <a:lstStyle/>
                    <a:p>
                      <a:pPr algn="l"/>
                      <a:r>
                        <a:rPr sz="800" b="1">
                          <a:solidFill>
                            <a:srgbClr val="2E2E2E"/>
                          </a:solidFill>
                          <a:latin typeface="Calibri"/>
                        </a:rPr>
                        <a:t>4.77</a:t>
                      </a:r>
                    </a:p>
                  </a:txBody>
                  <a:tcPr marL="85725" marR="38100" marT="19050" marB="19050" anchor="ctr">
                    <a:solidFill>
                      <a:srgbClr val="E0E8EF"/>
                    </a:solidFill>
                  </a:tcPr>
                </a:tc>
                <a:tc>
                  <a:txBody>
                    <a:bodyPr wrap="none"/>
                    <a:lstStyle/>
                    <a:p>
                      <a:pPr algn="l"/>
                      <a:r>
                        <a:rPr sz="800" b="1">
                          <a:solidFill>
                            <a:srgbClr val="2E2E2E"/>
                          </a:solidFill>
                          <a:latin typeface="Calibri"/>
                        </a:rPr>
                        <a:t>5.42</a:t>
                      </a:r>
                    </a:p>
                  </a:txBody>
                  <a:tcPr marL="85725" marR="38100" marT="19050" marB="19050" anchor="ctr">
                    <a:solidFill>
                      <a:srgbClr val="E0E8EF"/>
                    </a:solidFill>
                  </a:tcPr>
                </a:tc>
                <a:tc>
                  <a:txBody>
                    <a:bodyPr wrap="none"/>
                    <a:lstStyle/>
                    <a:p>
                      <a:pPr algn="l"/>
                      <a:r>
                        <a:rPr sz="800" b="1">
                          <a:solidFill>
                            <a:srgbClr val="2E2E2E"/>
                          </a:solidFill>
                          <a:latin typeface="Calibri"/>
                        </a:rPr>
                        <a:t>6.10</a:t>
                      </a:r>
                    </a:p>
                  </a:txBody>
                  <a:tcPr marL="85725" marR="38100" marT="19050" marB="19050" anchor="ctr">
                    <a:solidFill>
                      <a:srgbClr val="E0E8EF"/>
                    </a:solidFill>
                  </a:tcPr>
                </a:tc>
                <a:tc>
                  <a:txBody>
                    <a:bodyPr wrap="none"/>
                    <a:lstStyle/>
                    <a:p>
                      <a:pPr algn="l"/>
                      <a:r>
                        <a:rPr sz="800" b="1">
                          <a:solidFill>
                            <a:srgbClr val="2E2E2E"/>
                          </a:solidFill>
                          <a:latin typeface="Calibri"/>
                        </a:rPr>
                        <a:t>6.81</a:t>
                      </a:r>
                    </a:p>
                  </a:txBody>
                  <a:tcPr marL="85725" marR="38100" marT="19050" marB="19050" anchor="ctr">
                    <a:solidFill>
                      <a:srgbClr val="E0E8EF"/>
                    </a:solidFill>
                  </a:tcPr>
                </a:tc>
                <a:tc>
                  <a:txBody>
                    <a:bodyPr wrap="none"/>
                    <a:lstStyle/>
                    <a:p>
                      <a:pPr algn="l"/>
                      <a:r>
                        <a:rPr sz="800" b="1">
                          <a:solidFill>
                            <a:srgbClr val="2E2E2E"/>
                          </a:solidFill>
                          <a:latin typeface="Calibri"/>
                        </a:rPr>
                        <a:t>7.53</a:t>
                      </a:r>
                    </a:p>
                  </a:txBody>
                  <a:tcPr marL="85725" marR="38100" marT="19050" marB="19050" anchor="ctr">
                    <a:solidFill>
                      <a:srgbClr val="E0E8EF"/>
                    </a:solidFill>
                  </a:tcPr>
                </a:tc>
                <a:tc>
                  <a:txBody>
                    <a:bodyPr wrap="none"/>
                    <a:lstStyle/>
                    <a:p>
                      <a:pPr algn="l"/>
                      <a:r>
                        <a:rPr sz="800" b="1">
                          <a:solidFill>
                            <a:srgbClr val="2E2E2E"/>
                          </a:solidFill>
                          <a:latin typeface="Calibri"/>
                        </a:rPr>
                        <a:t>8.29</a:t>
                      </a:r>
                    </a:p>
                  </a:txBody>
                  <a:tcPr marL="85725" marR="38100" marT="19050" marB="19050" anchor="ctr">
                    <a:solidFill>
                      <a:srgbClr val="E0E8EF"/>
                    </a:solidFill>
                  </a:tcPr>
                </a:tc>
                <a:tc>
                  <a:txBody>
                    <a:bodyPr wrap="none"/>
                    <a:lstStyle/>
                    <a:p>
                      <a:pPr algn="l"/>
                      <a:r>
                        <a:rPr sz="800" b="1">
                          <a:solidFill>
                            <a:srgbClr val="2E2E2E"/>
                          </a:solidFill>
                          <a:latin typeface="Calibri"/>
                        </a:rPr>
                        <a:t>9.08</a:t>
                      </a:r>
                    </a:p>
                  </a:txBody>
                  <a:tcPr marL="85725" marR="38100" marT="19050" marB="19050" anchor="ctr">
                    <a:solidFill>
                      <a:srgbClr val="E0E8EF"/>
                    </a:solidFill>
                  </a:tcPr>
                </a:tc>
                <a:tc>
                  <a:txBody>
                    <a:bodyPr wrap="none"/>
                    <a:lstStyle/>
                    <a:p>
                      <a:pPr algn="l"/>
                      <a:r>
                        <a:rPr sz="800" b="1">
                          <a:solidFill>
                            <a:srgbClr val="2E2E2E"/>
                          </a:solidFill>
                          <a:latin typeface="Calibri"/>
                        </a:rPr>
                        <a:t>9.91</a:t>
                      </a:r>
                    </a:p>
                  </a:txBody>
                  <a:tcPr marL="85725" marR="38100" marT="19050" marB="19050" anchor="ctr">
                    <a:solidFill>
                      <a:srgbClr val="E0E8EF"/>
                    </a:solidFill>
                  </a:tcPr>
                </a:tc>
                <a:tc>
                  <a:txBody>
                    <a:bodyPr wrap="none"/>
                    <a:lstStyle/>
                    <a:p>
                      <a:pPr algn="l"/>
                      <a:r>
                        <a:rPr sz="800" b="1">
                          <a:solidFill>
                            <a:srgbClr val="2E2E2E"/>
                          </a:solidFill>
                          <a:latin typeface="Calibri"/>
                        </a:rPr>
                        <a:t>12.7%</a:t>
                      </a:r>
                    </a:p>
                  </a:txBody>
                  <a:tcPr marL="85725" marR="38100" marT="19050" marB="19050" anchor="ctr">
                    <a:solidFill>
                      <a:srgbClr val="E0E8EF"/>
                    </a:solidFill>
                  </a:tcPr>
                </a:tc>
              </a:tr>
            </a:tbl>
          </a:graphicData>
        </a:graphic>
      </p:graphicFrame>
      <p:sp>
        <p:nvSpPr>
          <p:cNvPr id="14" name="TextBox 13"/>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Value, By Therapeutic Application (US$ Mn)</a:t>
            </a:r>
          </a:p>
        </p:txBody>
      </p:sp>
      <p:graphicFrame>
        <p:nvGraphicFramePr>
          <p:cNvPr id="17" name="Table 16"/>
          <p:cNvGraphicFramePr>
            <a:graphicFrameLocks noGrp="1"/>
          </p:cNvGraphicFramePr>
          <p:nvPr/>
        </p:nvGraphicFramePr>
        <p:xfrm>
          <a:off x="238125" y="4143375"/>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Therapeutic Application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Rheumatology</a:t>
                      </a:r>
                    </a:p>
                  </a:txBody>
                  <a:tcPr marL="85725" marR="38100" marT="19050" marB="19050" anchor="ctr">
                    <a:solidFill>
                      <a:srgbClr val="FFFFFF"/>
                    </a:solidFill>
                  </a:tcPr>
                </a:tc>
                <a:tc>
                  <a:txBody>
                    <a:bodyPr wrap="none"/>
                    <a:lstStyle/>
                    <a:p>
                      <a:pPr algn="l"/>
                      <a:r>
                        <a:rPr sz="800" b="0">
                          <a:solidFill>
                            <a:srgbClr val="2E2E2E"/>
                          </a:solidFill>
                          <a:latin typeface="Calibri"/>
                        </a:rPr>
                        <a:t>314.6</a:t>
                      </a:r>
                    </a:p>
                  </a:txBody>
                  <a:tcPr marL="85725" marR="38100" marT="19050" marB="19050" anchor="ctr">
                    <a:solidFill>
                      <a:srgbClr val="FFFFFF"/>
                    </a:solidFill>
                  </a:tcPr>
                </a:tc>
                <a:tc>
                  <a:txBody>
                    <a:bodyPr wrap="none"/>
                    <a:lstStyle/>
                    <a:p>
                      <a:pPr algn="l"/>
                      <a:r>
                        <a:rPr sz="800" b="0">
                          <a:solidFill>
                            <a:srgbClr val="2E2E2E"/>
                          </a:solidFill>
                          <a:latin typeface="Calibri"/>
                        </a:rPr>
                        <a:t>355.9</a:t>
                      </a:r>
                    </a:p>
                  </a:txBody>
                  <a:tcPr marL="85725" marR="38100" marT="19050" marB="19050" anchor="ctr">
                    <a:solidFill>
                      <a:srgbClr val="FFFFFF"/>
                    </a:solidFill>
                  </a:tcPr>
                </a:tc>
                <a:tc>
                  <a:txBody>
                    <a:bodyPr wrap="none"/>
                    <a:lstStyle/>
                    <a:p>
                      <a:pPr algn="l"/>
                      <a:r>
                        <a:rPr sz="800" b="0">
                          <a:solidFill>
                            <a:srgbClr val="2E2E2E"/>
                          </a:solidFill>
                          <a:latin typeface="Calibri"/>
                        </a:rPr>
                        <a:t>427.0</a:t>
                      </a:r>
                    </a:p>
                  </a:txBody>
                  <a:tcPr marL="85725" marR="38100" marT="19050" marB="19050" anchor="ctr">
                    <a:solidFill>
                      <a:srgbClr val="FFFFFF"/>
                    </a:solidFill>
                  </a:tcPr>
                </a:tc>
                <a:tc>
                  <a:txBody>
                    <a:bodyPr wrap="none"/>
                    <a:lstStyle/>
                    <a:p>
                      <a:pPr algn="l"/>
                      <a:r>
                        <a:rPr sz="800" b="0">
                          <a:solidFill>
                            <a:srgbClr val="2E2E2E"/>
                          </a:solidFill>
                          <a:latin typeface="Calibri"/>
                        </a:rPr>
                        <a:t>528.8</a:t>
                      </a:r>
                    </a:p>
                  </a:txBody>
                  <a:tcPr marL="85725" marR="38100" marT="19050" marB="19050" anchor="ctr">
                    <a:solidFill>
                      <a:srgbClr val="FFFFFF"/>
                    </a:solidFill>
                  </a:tcPr>
                </a:tc>
                <a:tc>
                  <a:txBody>
                    <a:bodyPr wrap="none"/>
                    <a:lstStyle/>
                    <a:p>
                      <a:pPr algn="l"/>
                      <a:r>
                        <a:rPr sz="800" b="0">
                          <a:solidFill>
                            <a:srgbClr val="2E2E2E"/>
                          </a:solidFill>
                          <a:latin typeface="Calibri"/>
                        </a:rPr>
                        <a:t>640.9</a:t>
                      </a:r>
                    </a:p>
                  </a:txBody>
                  <a:tcPr marL="85725" marR="38100" marT="19050" marB="19050" anchor="ctr">
                    <a:solidFill>
                      <a:srgbClr val="FFFFFF"/>
                    </a:solidFill>
                  </a:tcPr>
                </a:tc>
                <a:tc>
                  <a:txBody>
                    <a:bodyPr wrap="none"/>
                    <a:lstStyle/>
                    <a:p>
                      <a:pPr algn="l"/>
                      <a:r>
                        <a:rPr sz="800" b="0">
                          <a:solidFill>
                            <a:srgbClr val="2E2E2E"/>
                          </a:solidFill>
                          <a:latin typeface="Calibri"/>
                        </a:rPr>
                        <a:t>753.3</a:t>
                      </a:r>
                    </a:p>
                  </a:txBody>
                  <a:tcPr marL="85725" marR="38100" marT="19050" marB="19050" anchor="ctr">
                    <a:solidFill>
                      <a:srgbClr val="FFFFFF"/>
                    </a:solidFill>
                  </a:tcPr>
                </a:tc>
                <a:tc>
                  <a:txBody>
                    <a:bodyPr wrap="none"/>
                    <a:lstStyle/>
                    <a:p>
                      <a:pPr algn="l"/>
                      <a:r>
                        <a:rPr sz="800" b="0">
                          <a:solidFill>
                            <a:srgbClr val="2E2E2E"/>
                          </a:solidFill>
                          <a:latin typeface="Calibri"/>
                        </a:rPr>
                        <a:t>869.4</a:t>
                      </a:r>
                    </a:p>
                  </a:txBody>
                  <a:tcPr marL="85725" marR="38100" marT="19050" marB="19050" anchor="ctr">
                    <a:solidFill>
                      <a:srgbClr val="FFFFFF"/>
                    </a:solidFill>
                  </a:tcPr>
                </a:tc>
                <a:tc>
                  <a:txBody>
                    <a:bodyPr wrap="none"/>
                    <a:lstStyle/>
                    <a:p>
                      <a:pPr algn="l"/>
                      <a:r>
                        <a:rPr sz="800" b="0">
                          <a:solidFill>
                            <a:srgbClr val="2E2E2E"/>
                          </a:solidFill>
                          <a:latin typeface="Calibri"/>
                        </a:rPr>
                        <a:t>983.1</a:t>
                      </a:r>
                    </a:p>
                  </a:txBody>
                  <a:tcPr marL="85725" marR="38100" marT="19050" marB="19050" anchor="ctr">
                    <a:solidFill>
                      <a:srgbClr val="FFFFFF"/>
                    </a:solidFill>
                  </a:tcPr>
                </a:tc>
                <a:tc>
                  <a:txBody>
                    <a:bodyPr wrap="none"/>
                    <a:lstStyle/>
                    <a:p>
                      <a:pPr algn="l"/>
                      <a:r>
                        <a:rPr sz="800" b="0">
                          <a:solidFill>
                            <a:srgbClr val="2E2E2E"/>
                          </a:solidFill>
                          <a:latin typeface="Calibri"/>
                        </a:rPr>
                        <a:t>1,096</a:t>
                      </a:r>
                    </a:p>
                  </a:txBody>
                  <a:tcPr marL="85725" marR="38100" marT="19050" marB="19050" anchor="ctr">
                    <a:solidFill>
                      <a:srgbClr val="FFFFFF"/>
                    </a:solidFill>
                  </a:tcPr>
                </a:tc>
                <a:tc>
                  <a:txBody>
                    <a:bodyPr wrap="none"/>
                    <a:lstStyle/>
                    <a:p>
                      <a:pPr algn="l"/>
                      <a:r>
                        <a:rPr sz="800" b="0">
                          <a:solidFill>
                            <a:srgbClr val="2E2E2E"/>
                          </a:solidFill>
                          <a:latin typeface="Calibri"/>
                        </a:rPr>
                        <a:t>1,206</a:t>
                      </a:r>
                    </a:p>
                  </a:txBody>
                  <a:tcPr marL="85725" marR="38100" marT="19050" marB="19050" anchor="ctr">
                    <a:solidFill>
                      <a:srgbClr val="FFFFFF"/>
                    </a:solidFill>
                  </a:tcPr>
                </a:tc>
                <a:tc>
                  <a:txBody>
                    <a:bodyPr wrap="none"/>
                    <a:lstStyle/>
                    <a:p>
                      <a:pPr algn="l"/>
                      <a:r>
                        <a:rPr sz="800" b="0">
                          <a:solidFill>
                            <a:srgbClr val="2E2E2E"/>
                          </a:solidFill>
                          <a:latin typeface="Calibri"/>
                        </a:rPr>
                        <a:t>1,315</a:t>
                      </a:r>
                    </a:p>
                  </a:txBody>
                  <a:tcPr marL="85725" marR="38100" marT="19050" marB="19050" anchor="ctr">
                    <a:solidFill>
                      <a:srgbClr val="FFFFFF"/>
                    </a:solidFill>
                  </a:tcPr>
                </a:tc>
                <a:tc>
                  <a:txBody>
                    <a:bodyPr wrap="none"/>
                    <a:lstStyle/>
                    <a:p>
                      <a:pPr algn="l"/>
                      <a:r>
                        <a:rPr sz="800" b="0">
                          <a:solidFill>
                            <a:srgbClr val="2E2E2E"/>
                          </a:solidFill>
                          <a:latin typeface="Calibri"/>
                        </a:rPr>
                        <a:t>1,421</a:t>
                      </a:r>
                    </a:p>
                  </a:txBody>
                  <a:tcPr marL="85725" marR="38100" marT="19050" marB="19050" anchor="ctr">
                    <a:solidFill>
                      <a:srgbClr val="FFFFFF"/>
                    </a:solidFill>
                  </a:tcPr>
                </a:tc>
                <a:tc>
                  <a:txBody>
                    <a:bodyPr wrap="none"/>
                    <a:lstStyle/>
                    <a:p>
                      <a:pPr algn="l"/>
                      <a:r>
                        <a:rPr sz="800" b="0">
                          <a:solidFill>
                            <a:srgbClr val="2E2E2E"/>
                          </a:solidFill>
                          <a:latin typeface="Calibri"/>
                        </a:rPr>
                        <a:t>1,524</a:t>
                      </a:r>
                    </a:p>
                  </a:txBody>
                  <a:tcPr marL="85725" marR="38100" marT="19050" marB="19050" anchor="ctr">
                    <a:solidFill>
                      <a:srgbClr val="FFFFFF"/>
                    </a:solidFill>
                  </a:tcPr>
                </a:tc>
                <a:tc>
                  <a:txBody>
                    <a:bodyPr wrap="none"/>
                    <a:lstStyle/>
                    <a:p>
                      <a:pPr algn="l"/>
                      <a:r>
                        <a:rPr sz="800" b="0">
                          <a:solidFill>
                            <a:srgbClr val="2E2E2E"/>
                          </a:solidFill>
                          <a:latin typeface="Calibri"/>
                        </a:rPr>
                        <a:t>1,626</a:t>
                      </a:r>
                    </a:p>
                  </a:txBody>
                  <a:tcPr marL="85725" marR="38100" marT="19050" marB="19050" anchor="ctr">
                    <a:solidFill>
                      <a:srgbClr val="FFFFFF"/>
                    </a:solidFill>
                  </a:tcPr>
                </a:tc>
                <a:tc>
                  <a:txBody>
                    <a:bodyPr wrap="none"/>
                    <a:lstStyle/>
                    <a:p>
                      <a:pPr algn="l"/>
                      <a:r>
                        <a:rPr sz="800" b="0">
                          <a:solidFill>
                            <a:srgbClr val="2E2E2E"/>
                          </a:solidFill>
                          <a:latin typeface="Calibri"/>
                        </a:rPr>
                        <a:t>1,725</a:t>
                      </a:r>
                    </a:p>
                  </a:txBody>
                  <a:tcPr marL="85725" marR="38100" marT="19050" marB="19050" anchor="ctr">
                    <a:solidFill>
                      <a:srgbClr val="FFFFFF"/>
                    </a:solidFill>
                  </a:tcPr>
                </a:tc>
                <a:tc>
                  <a:txBody>
                    <a:bodyPr wrap="none"/>
                    <a:lstStyle/>
                    <a:p>
                      <a:pPr algn="l"/>
                      <a:r>
                        <a:rPr sz="800" b="0">
                          <a:solidFill>
                            <a:srgbClr val="2E2E2E"/>
                          </a:solidFill>
                          <a:latin typeface="Calibri"/>
                        </a:rPr>
                        <a:t>1,824</a:t>
                      </a:r>
                    </a:p>
                  </a:txBody>
                  <a:tcPr marL="85725" marR="38100" marT="19050" marB="19050" anchor="ctr">
                    <a:solidFill>
                      <a:srgbClr val="FFFFFF"/>
                    </a:solidFill>
                  </a:tcPr>
                </a:tc>
                <a:tc>
                  <a:txBody>
                    <a:bodyPr wrap="none"/>
                    <a:lstStyle/>
                    <a:p>
                      <a:pPr algn="l"/>
                      <a:r>
                        <a:rPr sz="800" b="0">
                          <a:solidFill>
                            <a:srgbClr val="2E2E2E"/>
                          </a:solidFill>
                          <a:latin typeface="Calibri"/>
                        </a:rPr>
                        <a:t>9.2%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Dermatology</a:t>
                      </a:r>
                    </a:p>
                  </a:txBody>
                  <a:tcPr marL="85725" marR="38100" marT="19050" marB="19050" anchor="ctr">
                    <a:solidFill>
                      <a:srgbClr val="F5F8FA"/>
                    </a:solidFill>
                  </a:tcPr>
                </a:tc>
                <a:tc>
                  <a:txBody>
                    <a:bodyPr wrap="none"/>
                    <a:lstStyle/>
                    <a:p>
                      <a:pPr algn="l"/>
                      <a:r>
                        <a:rPr sz="800" b="0">
                          <a:solidFill>
                            <a:srgbClr val="2E2E2E"/>
                          </a:solidFill>
                          <a:latin typeface="Calibri"/>
                        </a:rPr>
                        <a:t>127.9</a:t>
                      </a:r>
                    </a:p>
                  </a:txBody>
                  <a:tcPr marL="85725" marR="38100" marT="19050" marB="19050" anchor="ctr">
                    <a:solidFill>
                      <a:srgbClr val="F5F8FA"/>
                    </a:solidFill>
                  </a:tcPr>
                </a:tc>
                <a:tc>
                  <a:txBody>
                    <a:bodyPr wrap="none"/>
                    <a:lstStyle/>
                    <a:p>
                      <a:pPr algn="l"/>
                      <a:r>
                        <a:rPr sz="800" b="0">
                          <a:solidFill>
                            <a:srgbClr val="2E2E2E"/>
                          </a:solidFill>
                          <a:latin typeface="Calibri"/>
                        </a:rPr>
                        <a:t>145.5</a:t>
                      </a:r>
                    </a:p>
                  </a:txBody>
                  <a:tcPr marL="85725" marR="38100" marT="19050" marB="19050" anchor="ctr">
                    <a:solidFill>
                      <a:srgbClr val="F5F8FA"/>
                    </a:solidFill>
                  </a:tcPr>
                </a:tc>
                <a:tc>
                  <a:txBody>
                    <a:bodyPr wrap="none"/>
                    <a:lstStyle/>
                    <a:p>
                      <a:pPr algn="l"/>
                      <a:r>
                        <a:rPr sz="800" b="0">
                          <a:solidFill>
                            <a:srgbClr val="2E2E2E"/>
                          </a:solidFill>
                          <a:latin typeface="Calibri"/>
                        </a:rPr>
                        <a:t>175.5</a:t>
                      </a:r>
                    </a:p>
                  </a:txBody>
                  <a:tcPr marL="85725" marR="38100" marT="19050" marB="19050" anchor="ctr">
                    <a:solidFill>
                      <a:srgbClr val="F5F8FA"/>
                    </a:solidFill>
                  </a:tcPr>
                </a:tc>
                <a:tc>
                  <a:txBody>
                    <a:bodyPr wrap="none"/>
                    <a:lstStyle/>
                    <a:p>
                      <a:pPr algn="l"/>
                      <a:r>
                        <a:rPr sz="800" b="0">
                          <a:solidFill>
                            <a:srgbClr val="2E2E2E"/>
                          </a:solidFill>
                          <a:latin typeface="Calibri"/>
                        </a:rPr>
                        <a:t>218.4</a:t>
                      </a:r>
                    </a:p>
                  </a:txBody>
                  <a:tcPr marL="85725" marR="38100" marT="19050" marB="19050" anchor="ctr">
                    <a:solidFill>
                      <a:srgbClr val="F5F8FA"/>
                    </a:solidFill>
                  </a:tcPr>
                </a:tc>
                <a:tc>
                  <a:txBody>
                    <a:bodyPr wrap="none"/>
                    <a:lstStyle/>
                    <a:p>
                      <a:pPr algn="l"/>
                      <a:r>
                        <a:rPr sz="800" b="0">
                          <a:solidFill>
                            <a:srgbClr val="2E2E2E"/>
                          </a:solidFill>
                          <a:latin typeface="Calibri"/>
                        </a:rPr>
                        <a:t>265.9</a:t>
                      </a:r>
                    </a:p>
                  </a:txBody>
                  <a:tcPr marL="85725" marR="38100" marT="19050" marB="19050" anchor="ctr">
                    <a:solidFill>
                      <a:srgbClr val="F5F8FA"/>
                    </a:solidFill>
                  </a:tcPr>
                </a:tc>
                <a:tc>
                  <a:txBody>
                    <a:bodyPr wrap="none"/>
                    <a:lstStyle/>
                    <a:p>
                      <a:pPr algn="l"/>
                      <a:r>
                        <a:rPr sz="800" b="0">
                          <a:solidFill>
                            <a:srgbClr val="2E2E2E"/>
                          </a:solidFill>
                          <a:latin typeface="Calibri"/>
                        </a:rPr>
                        <a:t>314.0</a:t>
                      </a:r>
                    </a:p>
                  </a:txBody>
                  <a:tcPr marL="85725" marR="38100" marT="19050" marB="19050" anchor="ctr">
                    <a:solidFill>
                      <a:srgbClr val="F5F8FA"/>
                    </a:solidFill>
                  </a:tcPr>
                </a:tc>
                <a:tc>
                  <a:txBody>
                    <a:bodyPr wrap="none"/>
                    <a:lstStyle/>
                    <a:p>
                      <a:pPr algn="l"/>
                      <a:r>
                        <a:rPr sz="800" b="0">
                          <a:solidFill>
                            <a:srgbClr val="2E2E2E"/>
                          </a:solidFill>
                          <a:latin typeface="Calibri"/>
                        </a:rPr>
                        <a:t>364.0</a:t>
                      </a:r>
                    </a:p>
                  </a:txBody>
                  <a:tcPr marL="85725" marR="38100" marT="19050" marB="19050" anchor="ctr">
                    <a:solidFill>
                      <a:srgbClr val="F5F8FA"/>
                    </a:solidFill>
                  </a:tcPr>
                </a:tc>
                <a:tc>
                  <a:txBody>
                    <a:bodyPr wrap="none"/>
                    <a:lstStyle/>
                    <a:p>
                      <a:pPr algn="l"/>
                      <a:r>
                        <a:rPr sz="800" b="0">
                          <a:solidFill>
                            <a:srgbClr val="2E2E2E"/>
                          </a:solidFill>
                          <a:latin typeface="Calibri"/>
                        </a:rPr>
                        <a:t>413.3</a:t>
                      </a:r>
                    </a:p>
                  </a:txBody>
                  <a:tcPr marL="85725" marR="38100" marT="19050" marB="19050" anchor="ctr">
                    <a:solidFill>
                      <a:srgbClr val="F5F8FA"/>
                    </a:solidFill>
                  </a:tcPr>
                </a:tc>
                <a:tc>
                  <a:txBody>
                    <a:bodyPr wrap="none"/>
                    <a:lstStyle/>
                    <a:p>
                      <a:pPr algn="l"/>
                      <a:r>
                        <a:rPr sz="800" b="0">
                          <a:solidFill>
                            <a:srgbClr val="2E2E2E"/>
                          </a:solidFill>
                          <a:latin typeface="Calibri"/>
                        </a:rPr>
                        <a:t>462.5</a:t>
                      </a:r>
                    </a:p>
                  </a:txBody>
                  <a:tcPr marL="85725" marR="38100" marT="19050" marB="19050" anchor="ctr">
                    <a:solidFill>
                      <a:srgbClr val="F5F8FA"/>
                    </a:solidFill>
                  </a:tcPr>
                </a:tc>
                <a:tc>
                  <a:txBody>
                    <a:bodyPr wrap="none"/>
                    <a:lstStyle/>
                    <a:p>
                      <a:pPr algn="l"/>
                      <a:r>
                        <a:rPr sz="800" b="0">
                          <a:solidFill>
                            <a:srgbClr val="2E2E2E"/>
                          </a:solidFill>
                          <a:latin typeface="Calibri"/>
                        </a:rPr>
                        <a:t>511.3</a:t>
                      </a:r>
                    </a:p>
                  </a:txBody>
                  <a:tcPr marL="85725" marR="38100" marT="19050" marB="19050" anchor="ctr">
                    <a:solidFill>
                      <a:srgbClr val="F5F8FA"/>
                    </a:solidFill>
                  </a:tcPr>
                </a:tc>
                <a:tc>
                  <a:txBody>
                    <a:bodyPr wrap="none"/>
                    <a:lstStyle/>
                    <a:p>
                      <a:pPr algn="l"/>
                      <a:r>
                        <a:rPr sz="800" b="0">
                          <a:solidFill>
                            <a:srgbClr val="2E2E2E"/>
                          </a:solidFill>
                          <a:latin typeface="Calibri"/>
                        </a:rPr>
                        <a:t>559.5</a:t>
                      </a:r>
                    </a:p>
                  </a:txBody>
                  <a:tcPr marL="85725" marR="38100" marT="19050" marB="19050" anchor="ctr">
                    <a:solidFill>
                      <a:srgbClr val="F5F8FA"/>
                    </a:solidFill>
                  </a:tcPr>
                </a:tc>
                <a:tc>
                  <a:txBody>
                    <a:bodyPr wrap="none"/>
                    <a:lstStyle/>
                    <a:p>
                      <a:pPr algn="l"/>
                      <a:r>
                        <a:rPr sz="800" b="0">
                          <a:solidFill>
                            <a:srgbClr val="2E2E2E"/>
                          </a:solidFill>
                          <a:latin typeface="Calibri"/>
                        </a:rPr>
                        <a:t>606.9</a:t>
                      </a:r>
                    </a:p>
                  </a:txBody>
                  <a:tcPr marL="85725" marR="38100" marT="19050" marB="19050" anchor="ctr">
                    <a:solidFill>
                      <a:srgbClr val="F5F8FA"/>
                    </a:solidFill>
                  </a:tcPr>
                </a:tc>
                <a:tc>
                  <a:txBody>
                    <a:bodyPr wrap="none"/>
                    <a:lstStyle/>
                    <a:p>
                      <a:pPr algn="l"/>
                      <a:r>
                        <a:rPr sz="800" b="0">
                          <a:solidFill>
                            <a:srgbClr val="2E2E2E"/>
                          </a:solidFill>
                          <a:latin typeface="Calibri"/>
                        </a:rPr>
                        <a:t>653.2</a:t>
                      </a:r>
                    </a:p>
                  </a:txBody>
                  <a:tcPr marL="85725" marR="38100" marT="19050" marB="19050" anchor="ctr">
                    <a:solidFill>
                      <a:srgbClr val="F5F8FA"/>
                    </a:solidFill>
                  </a:tcPr>
                </a:tc>
                <a:tc>
                  <a:txBody>
                    <a:bodyPr wrap="none"/>
                    <a:lstStyle/>
                    <a:p>
                      <a:pPr algn="l"/>
                      <a:r>
                        <a:rPr sz="800" b="0">
                          <a:solidFill>
                            <a:srgbClr val="2E2E2E"/>
                          </a:solidFill>
                          <a:latin typeface="Calibri"/>
                        </a:rPr>
                        <a:t>698.9</a:t>
                      </a:r>
                    </a:p>
                  </a:txBody>
                  <a:tcPr marL="85725" marR="38100" marT="19050" marB="19050" anchor="ctr">
                    <a:solidFill>
                      <a:srgbClr val="F5F8FA"/>
                    </a:solidFill>
                  </a:tcPr>
                </a:tc>
                <a:tc>
                  <a:txBody>
                    <a:bodyPr wrap="none"/>
                    <a:lstStyle/>
                    <a:p>
                      <a:pPr algn="l"/>
                      <a:r>
                        <a:rPr sz="800" b="0">
                          <a:solidFill>
                            <a:srgbClr val="2E2E2E"/>
                          </a:solidFill>
                          <a:latin typeface="Calibri"/>
                        </a:rPr>
                        <a:t>744.1</a:t>
                      </a:r>
                    </a:p>
                  </a:txBody>
                  <a:tcPr marL="85725" marR="38100" marT="19050" marB="19050" anchor="ctr">
                    <a:solidFill>
                      <a:srgbClr val="F5F8FA"/>
                    </a:solidFill>
                  </a:tcPr>
                </a:tc>
                <a:tc>
                  <a:txBody>
                    <a:bodyPr wrap="none"/>
                    <a:lstStyle/>
                    <a:p>
                      <a:pPr algn="l"/>
                      <a:r>
                        <a:rPr sz="800" b="0">
                          <a:solidFill>
                            <a:srgbClr val="2E2E2E"/>
                          </a:solidFill>
                          <a:latin typeface="Calibri"/>
                        </a:rPr>
                        <a:t>789.1</a:t>
                      </a:r>
                    </a:p>
                  </a:txBody>
                  <a:tcPr marL="85725" marR="38100" marT="19050" marB="19050" anchor="ctr">
                    <a:solidFill>
                      <a:srgbClr val="F5F8FA"/>
                    </a:solidFill>
                  </a:tcPr>
                </a:tc>
                <a:tc>
                  <a:txBody>
                    <a:bodyPr wrap="none"/>
                    <a:lstStyle/>
                    <a:p>
                      <a:pPr algn="l"/>
                      <a:r>
                        <a:rPr sz="800" b="0">
                          <a:solidFill>
                            <a:srgbClr val="2E2E2E"/>
                          </a:solidFill>
                          <a:latin typeface="Calibri"/>
                        </a:rPr>
                        <a:t>9.7%</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Gastroenterology</a:t>
                      </a:r>
                    </a:p>
                  </a:txBody>
                  <a:tcPr marL="85725" marR="38100" marT="19050" marB="19050" anchor="ctr">
                    <a:solidFill>
                      <a:srgbClr val="FFFFFF"/>
                    </a:solidFill>
                  </a:tcPr>
                </a:tc>
                <a:tc>
                  <a:txBody>
                    <a:bodyPr wrap="none"/>
                    <a:lstStyle/>
                    <a:p>
                      <a:pPr algn="l"/>
                      <a:r>
                        <a:rPr sz="800" b="0">
                          <a:solidFill>
                            <a:srgbClr val="2E2E2E"/>
                          </a:solidFill>
                          <a:latin typeface="Calibri"/>
                        </a:rPr>
                        <a:t>133.4</a:t>
                      </a:r>
                    </a:p>
                  </a:txBody>
                  <a:tcPr marL="85725" marR="38100" marT="19050" marB="19050" anchor="ctr">
                    <a:solidFill>
                      <a:srgbClr val="FFFFFF"/>
                    </a:solidFill>
                  </a:tcPr>
                </a:tc>
                <a:tc>
                  <a:txBody>
                    <a:bodyPr wrap="none"/>
                    <a:lstStyle/>
                    <a:p>
                      <a:pPr algn="l"/>
                      <a:r>
                        <a:rPr sz="800" b="0">
                          <a:solidFill>
                            <a:srgbClr val="2E2E2E"/>
                          </a:solidFill>
                          <a:latin typeface="Calibri"/>
                        </a:rPr>
                        <a:t>149.9</a:t>
                      </a:r>
                    </a:p>
                  </a:txBody>
                  <a:tcPr marL="85725" marR="38100" marT="19050" marB="19050" anchor="ctr">
                    <a:solidFill>
                      <a:srgbClr val="FFFFFF"/>
                    </a:solidFill>
                  </a:tcPr>
                </a:tc>
                <a:tc>
                  <a:txBody>
                    <a:bodyPr wrap="none"/>
                    <a:lstStyle/>
                    <a:p>
                      <a:pPr algn="l"/>
                      <a:r>
                        <a:rPr sz="800" b="0">
                          <a:solidFill>
                            <a:srgbClr val="2E2E2E"/>
                          </a:solidFill>
                          <a:latin typeface="Calibri"/>
                        </a:rPr>
                        <a:t>178.8</a:t>
                      </a:r>
                    </a:p>
                  </a:txBody>
                  <a:tcPr marL="85725" marR="38100" marT="19050" marB="19050" anchor="ctr">
                    <a:solidFill>
                      <a:srgbClr val="FFFFFF"/>
                    </a:solidFill>
                  </a:tcPr>
                </a:tc>
                <a:tc>
                  <a:txBody>
                    <a:bodyPr wrap="none"/>
                    <a:lstStyle/>
                    <a:p>
                      <a:pPr algn="l"/>
                      <a:r>
                        <a:rPr sz="800" b="0">
                          <a:solidFill>
                            <a:srgbClr val="2E2E2E"/>
                          </a:solidFill>
                          <a:latin typeface="Calibri"/>
                        </a:rPr>
                        <a:t>219.9</a:t>
                      </a:r>
                    </a:p>
                  </a:txBody>
                  <a:tcPr marL="85725" marR="38100" marT="19050" marB="19050" anchor="ctr">
                    <a:solidFill>
                      <a:srgbClr val="FFFFFF"/>
                    </a:solidFill>
                  </a:tcPr>
                </a:tc>
                <a:tc>
                  <a:txBody>
                    <a:bodyPr wrap="none"/>
                    <a:lstStyle/>
                    <a:p>
                      <a:pPr algn="l"/>
                      <a:r>
                        <a:rPr sz="800" b="0">
                          <a:solidFill>
                            <a:srgbClr val="2E2E2E"/>
                          </a:solidFill>
                          <a:latin typeface="Calibri"/>
                        </a:rPr>
                        <a:t>264.6</a:t>
                      </a:r>
                    </a:p>
                  </a:txBody>
                  <a:tcPr marL="85725" marR="38100" marT="19050" marB="19050" anchor="ctr">
                    <a:solidFill>
                      <a:srgbClr val="FFFFFF"/>
                    </a:solidFill>
                  </a:tcPr>
                </a:tc>
                <a:tc>
                  <a:txBody>
                    <a:bodyPr wrap="none"/>
                    <a:lstStyle/>
                    <a:p>
                      <a:pPr algn="l"/>
                      <a:r>
                        <a:rPr sz="800" b="0">
                          <a:solidFill>
                            <a:srgbClr val="2E2E2E"/>
                          </a:solidFill>
                          <a:latin typeface="Calibri"/>
                        </a:rPr>
                        <a:t>308.8</a:t>
                      </a:r>
                    </a:p>
                  </a:txBody>
                  <a:tcPr marL="85725" marR="38100" marT="19050" marB="19050" anchor="ctr">
                    <a:solidFill>
                      <a:srgbClr val="FFFFFF"/>
                    </a:solidFill>
                  </a:tcPr>
                </a:tc>
                <a:tc>
                  <a:txBody>
                    <a:bodyPr wrap="none"/>
                    <a:lstStyle/>
                    <a:p>
                      <a:pPr algn="l"/>
                      <a:r>
                        <a:rPr sz="800" b="0">
                          <a:solidFill>
                            <a:srgbClr val="2E2E2E"/>
                          </a:solidFill>
                          <a:latin typeface="Calibri"/>
                        </a:rPr>
                        <a:t>353.8</a:t>
                      </a:r>
                    </a:p>
                  </a:txBody>
                  <a:tcPr marL="85725" marR="38100" marT="19050" marB="19050" anchor="ctr">
                    <a:solidFill>
                      <a:srgbClr val="FFFFFF"/>
                    </a:solidFill>
                  </a:tcPr>
                </a:tc>
                <a:tc>
                  <a:txBody>
                    <a:bodyPr wrap="none"/>
                    <a:lstStyle/>
                    <a:p>
                      <a:pPr algn="l"/>
                      <a:r>
                        <a:rPr sz="800" b="0">
                          <a:solidFill>
                            <a:srgbClr val="2E2E2E"/>
                          </a:solidFill>
                          <a:latin typeface="Calibri"/>
                        </a:rPr>
                        <a:t>397.0</a:t>
                      </a:r>
                    </a:p>
                  </a:txBody>
                  <a:tcPr marL="85725" marR="38100" marT="19050" marB="19050" anchor="ctr">
                    <a:solidFill>
                      <a:srgbClr val="FFFFFF"/>
                    </a:solidFill>
                  </a:tcPr>
                </a:tc>
                <a:tc>
                  <a:txBody>
                    <a:bodyPr wrap="none"/>
                    <a:lstStyle/>
                    <a:p>
                      <a:pPr algn="l"/>
                      <a:r>
                        <a:rPr sz="800" b="0">
                          <a:solidFill>
                            <a:srgbClr val="2E2E2E"/>
                          </a:solidFill>
                          <a:latin typeface="Calibri"/>
                        </a:rPr>
                        <a:t>439.0</a:t>
                      </a:r>
                    </a:p>
                  </a:txBody>
                  <a:tcPr marL="85725" marR="38100" marT="19050" marB="19050" anchor="ctr">
                    <a:solidFill>
                      <a:srgbClr val="FFFFFF"/>
                    </a:solidFill>
                  </a:tcPr>
                </a:tc>
                <a:tc>
                  <a:txBody>
                    <a:bodyPr wrap="none"/>
                    <a:lstStyle/>
                    <a:p>
                      <a:pPr algn="l"/>
                      <a:r>
                        <a:rPr sz="800" b="0">
                          <a:solidFill>
                            <a:srgbClr val="2E2E2E"/>
                          </a:solidFill>
                          <a:latin typeface="Calibri"/>
                        </a:rPr>
                        <a:t>479.6</a:t>
                      </a:r>
                    </a:p>
                  </a:txBody>
                  <a:tcPr marL="85725" marR="38100" marT="19050" marB="19050" anchor="ctr">
                    <a:solidFill>
                      <a:srgbClr val="FFFFFF"/>
                    </a:solidFill>
                  </a:tcPr>
                </a:tc>
                <a:tc>
                  <a:txBody>
                    <a:bodyPr wrap="none"/>
                    <a:lstStyle/>
                    <a:p>
                      <a:pPr algn="l"/>
                      <a:r>
                        <a:rPr sz="800" b="0">
                          <a:solidFill>
                            <a:srgbClr val="2E2E2E"/>
                          </a:solidFill>
                          <a:latin typeface="Calibri"/>
                        </a:rPr>
                        <a:t>518.5</a:t>
                      </a:r>
                    </a:p>
                  </a:txBody>
                  <a:tcPr marL="85725" marR="38100" marT="19050" marB="19050" anchor="ctr">
                    <a:solidFill>
                      <a:srgbClr val="FFFFFF"/>
                    </a:solidFill>
                  </a:tcPr>
                </a:tc>
                <a:tc>
                  <a:txBody>
                    <a:bodyPr wrap="none"/>
                    <a:lstStyle/>
                    <a:p>
                      <a:pPr algn="l"/>
                      <a:r>
                        <a:rPr sz="800" b="0">
                          <a:solidFill>
                            <a:srgbClr val="2E2E2E"/>
                          </a:solidFill>
                          <a:latin typeface="Calibri"/>
                        </a:rPr>
                        <a:t>555.7</a:t>
                      </a:r>
                    </a:p>
                  </a:txBody>
                  <a:tcPr marL="85725" marR="38100" marT="19050" marB="19050" anchor="ctr">
                    <a:solidFill>
                      <a:srgbClr val="FFFFFF"/>
                    </a:solidFill>
                  </a:tcPr>
                </a:tc>
                <a:tc>
                  <a:txBody>
                    <a:bodyPr wrap="none"/>
                    <a:lstStyle/>
                    <a:p>
                      <a:pPr algn="l"/>
                      <a:r>
                        <a:rPr sz="800" b="0">
                          <a:solidFill>
                            <a:srgbClr val="2E2E2E"/>
                          </a:solidFill>
                          <a:latin typeface="Calibri"/>
                        </a:rPr>
                        <a:t>590.9</a:t>
                      </a:r>
                    </a:p>
                  </a:txBody>
                  <a:tcPr marL="85725" marR="38100" marT="19050" marB="19050" anchor="ctr">
                    <a:solidFill>
                      <a:srgbClr val="FFFFFF"/>
                    </a:solidFill>
                  </a:tcPr>
                </a:tc>
                <a:tc>
                  <a:txBody>
                    <a:bodyPr wrap="none"/>
                    <a:lstStyle/>
                    <a:p>
                      <a:pPr algn="l"/>
                      <a:r>
                        <a:rPr sz="800" b="0">
                          <a:solidFill>
                            <a:srgbClr val="2E2E2E"/>
                          </a:solidFill>
                          <a:latin typeface="Calibri"/>
                        </a:rPr>
                        <a:t>624.7</a:t>
                      </a:r>
                    </a:p>
                  </a:txBody>
                  <a:tcPr marL="85725" marR="38100" marT="19050" marB="19050" anchor="ctr">
                    <a:solidFill>
                      <a:srgbClr val="FFFFFF"/>
                    </a:solidFill>
                  </a:tcPr>
                </a:tc>
                <a:tc>
                  <a:txBody>
                    <a:bodyPr wrap="none"/>
                    <a:lstStyle/>
                    <a:p>
                      <a:pPr algn="l"/>
                      <a:r>
                        <a:rPr sz="800" b="0">
                          <a:solidFill>
                            <a:srgbClr val="2E2E2E"/>
                          </a:solidFill>
                          <a:latin typeface="Calibri"/>
                        </a:rPr>
                        <a:t>657.0</a:t>
                      </a:r>
                    </a:p>
                  </a:txBody>
                  <a:tcPr marL="85725" marR="38100" marT="19050" marB="19050" anchor="ctr">
                    <a:solidFill>
                      <a:srgbClr val="FFFFFF"/>
                    </a:solidFill>
                  </a:tcPr>
                </a:tc>
                <a:tc>
                  <a:txBody>
                    <a:bodyPr wrap="none"/>
                    <a:lstStyle/>
                    <a:p>
                      <a:pPr algn="l"/>
                      <a:r>
                        <a:rPr sz="800" b="0">
                          <a:solidFill>
                            <a:srgbClr val="2E2E2E"/>
                          </a:solidFill>
                          <a:latin typeface="Calibri"/>
                        </a:rPr>
                        <a:t>688.2</a:t>
                      </a:r>
                    </a:p>
                  </a:txBody>
                  <a:tcPr marL="85725" marR="38100" marT="19050" marB="19050" anchor="ctr">
                    <a:solidFill>
                      <a:srgbClr val="FFFFFF"/>
                    </a:solidFill>
                  </a:tcPr>
                </a:tc>
                <a:tc>
                  <a:txBody>
                    <a:bodyPr wrap="none"/>
                    <a:lstStyle/>
                    <a:p>
                      <a:pPr algn="l"/>
                      <a:r>
                        <a:rPr sz="800" b="0">
                          <a:solidFill>
                            <a:srgbClr val="2E2E2E"/>
                          </a:solidFill>
                          <a:latin typeface="Calibri"/>
                        </a:rPr>
                        <a:t>8.3%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Ophthalmology</a:t>
                      </a:r>
                    </a:p>
                  </a:txBody>
                  <a:tcPr marL="85725" marR="38100" marT="19050" marB="19050" anchor="ctr">
                    <a:solidFill>
                      <a:srgbClr val="F5F8FA"/>
                    </a:solidFill>
                  </a:tcPr>
                </a:tc>
                <a:tc>
                  <a:txBody>
                    <a:bodyPr wrap="none"/>
                    <a:lstStyle/>
                    <a:p>
                      <a:pPr algn="l"/>
                      <a:r>
                        <a:rPr sz="800" b="0">
                          <a:solidFill>
                            <a:srgbClr val="2E2E2E"/>
                          </a:solidFill>
                          <a:latin typeface="Calibri"/>
                        </a:rPr>
                        <a:t>35.8</a:t>
                      </a:r>
                    </a:p>
                  </a:txBody>
                  <a:tcPr marL="85725" marR="38100" marT="19050" marB="19050" anchor="ctr">
                    <a:solidFill>
                      <a:srgbClr val="F5F8FA"/>
                    </a:solidFill>
                  </a:tcPr>
                </a:tc>
                <a:tc>
                  <a:txBody>
                    <a:bodyPr wrap="none"/>
                    <a:lstStyle/>
                    <a:p>
                      <a:pPr algn="l"/>
                      <a:r>
                        <a:rPr sz="800" b="0">
                          <a:solidFill>
                            <a:srgbClr val="2E2E2E"/>
                          </a:solidFill>
                          <a:latin typeface="Calibri"/>
                        </a:rPr>
                        <a:t>39.6</a:t>
                      </a:r>
                    </a:p>
                  </a:txBody>
                  <a:tcPr marL="85725" marR="38100" marT="19050" marB="19050" anchor="ctr">
                    <a:solidFill>
                      <a:srgbClr val="F5F8FA"/>
                    </a:solidFill>
                  </a:tcPr>
                </a:tc>
                <a:tc>
                  <a:txBody>
                    <a:bodyPr wrap="none"/>
                    <a:lstStyle/>
                    <a:p>
                      <a:pPr algn="l"/>
                      <a:r>
                        <a:rPr sz="800" b="0">
                          <a:solidFill>
                            <a:srgbClr val="2E2E2E"/>
                          </a:solidFill>
                          <a:latin typeface="Calibri"/>
                        </a:rPr>
                        <a:t>46.5</a:t>
                      </a:r>
                    </a:p>
                  </a:txBody>
                  <a:tcPr marL="85725" marR="38100" marT="19050" marB="19050" anchor="ctr">
                    <a:solidFill>
                      <a:srgbClr val="F5F8FA"/>
                    </a:solidFill>
                  </a:tcPr>
                </a:tc>
                <a:tc>
                  <a:txBody>
                    <a:bodyPr wrap="none"/>
                    <a:lstStyle/>
                    <a:p>
                      <a:pPr algn="l"/>
                      <a:r>
                        <a:rPr sz="800" b="0">
                          <a:solidFill>
                            <a:srgbClr val="2E2E2E"/>
                          </a:solidFill>
                          <a:latin typeface="Calibri"/>
                        </a:rPr>
                        <a:t>56.3</a:t>
                      </a:r>
                    </a:p>
                  </a:txBody>
                  <a:tcPr marL="85725" marR="38100" marT="19050" marB="19050" anchor="ctr">
                    <a:solidFill>
                      <a:srgbClr val="F5F8FA"/>
                    </a:solidFill>
                  </a:tcPr>
                </a:tc>
                <a:tc>
                  <a:txBody>
                    <a:bodyPr wrap="none"/>
                    <a:lstStyle/>
                    <a:p>
                      <a:pPr algn="l"/>
                      <a:r>
                        <a:rPr sz="800" b="0">
                          <a:solidFill>
                            <a:srgbClr val="2E2E2E"/>
                          </a:solidFill>
                          <a:latin typeface="Calibri"/>
                        </a:rPr>
                        <a:t>66.7</a:t>
                      </a:r>
                    </a:p>
                  </a:txBody>
                  <a:tcPr marL="85725" marR="38100" marT="19050" marB="19050" anchor="ctr">
                    <a:solidFill>
                      <a:srgbClr val="F5F8FA"/>
                    </a:solidFill>
                  </a:tcPr>
                </a:tc>
                <a:tc>
                  <a:txBody>
                    <a:bodyPr wrap="none"/>
                    <a:lstStyle/>
                    <a:p>
                      <a:pPr algn="l"/>
                      <a:r>
                        <a:rPr sz="800" b="0">
                          <a:solidFill>
                            <a:srgbClr val="2E2E2E"/>
                          </a:solidFill>
                          <a:latin typeface="Calibri"/>
                        </a:rPr>
                        <a:t>76.6</a:t>
                      </a:r>
                    </a:p>
                  </a:txBody>
                  <a:tcPr marL="85725" marR="38100" marT="19050" marB="19050" anchor="ctr">
                    <a:solidFill>
                      <a:srgbClr val="F5F8FA"/>
                    </a:solidFill>
                  </a:tcPr>
                </a:tc>
                <a:tc>
                  <a:txBody>
                    <a:bodyPr wrap="none"/>
                    <a:lstStyle/>
                    <a:p>
                      <a:pPr algn="l"/>
                      <a:r>
                        <a:rPr sz="800" b="0">
                          <a:solidFill>
                            <a:srgbClr val="2E2E2E"/>
                          </a:solidFill>
                          <a:latin typeface="Calibri"/>
                        </a:rPr>
                        <a:t>86.4</a:t>
                      </a:r>
                    </a:p>
                  </a:txBody>
                  <a:tcPr marL="85725" marR="38100" marT="19050" marB="19050" anchor="ctr">
                    <a:solidFill>
                      <a:srgbClr val="F5F8FA"/>
                    </a:solidFill>
                  </a:tcPr>
                </a:tc>
                <a:tc>
                  <a:txBody>
                    <a:bodyPr wrap="none"/>
                    <a:lstStyle/>
                    <a:p>
                      <a:pPr algn="l"/>
                      <a:r>
                        <a:rPr sz="800" b="0">
                          <a:solidFill>
                            <a:srgbClr val="2E2E2E"/>
                          </a:solidFill>
                          <a:latin typeface="Calibri"/>
                        </a:rPr>
                        <a:t>95.4</a:t>
                      </a:r>
                    </a:p>
                  </a:txBody>
                  <a:tcPr marL="85725" marR="38100" marT="19050" marB="19050" anchor="ctr">
                    <a:solidFill>
                      <a:srgbClr val="F5F8FA"/>
                    </a:solidFill>
                  </a:tcPr>
                </a:tc>
                <a:tc>
                  <a:txBody>
                    <a:bodyPr wrap="none"/>
                    <a:lstStyle/>
                    <a:p>
                      <a:pPr algn="l"/>
                      <a:r>
                        <a:rPr sz="800" b="0">
                          <a:solidFill>
                            <a:srgbClr val="2E2E2E"/>
                          </a:solidFill>
                          <a:latin typeface="Calibri"/>
                        </a:rPr>
                        <a:t>103.8</a:t>
                      </a:r>
                    </a:p>
                  </a:txBody>
                  <a:tcPr marL="85725" marR="38100" marT="19050" marB="19050" anchor="ctr">
                    <a:solidFill>
                      <a:srgbClr val="F5F8FA"/>
                    </a:solidFill>
                  </a:tcPr>
                </a:tc>
                <a:tc>
                  <a:txBody>
                    <a:bodyPr wrap="none"/>
                    <a:lstStyle/>
                    <a:p>
                      <a:pPr algn="l"/>
                      <a:r>
                        <a:rPr sz="800" b="0">
                          <a:solidFill>
                            <a:srgbClr val="2E2E2E"/>
                          </a:solidFill>
                          <a:latin typeface="Calibri"/>
                        </a:rPr>
                        <a:t>111.6</a:t>
                      </a:r>
                    </a:p>
                  </a:txBody>
                  <a:tcPr marL="85725" marR="38100" marT="19050" marB="19050" anchor="ctr">
                    <a:solidFill>
                      <a:srgbClr val="F5F8FA"/>
                    </a:solidFill>
                  </a:tcPr>
                </a:tc>
                <a:tc>
                  <a:txBody>
                    <a:bodyPr wrap="none"/>
                    <a:lstStyle/>
                    <a:p>
                      <a:pPr algn="l"/>
                      <a:r>
                        <a:rPr sz="800" b="0">
                          <a:solidFill>
                            <a:srgbClr val="2E2E2E"/>
                          </a:solidFill>
                          <a:latin typeface="Calibri"/>
                        </a:rPr>
                        <a:t>118.7</a:t>
                      </a:r>
                    </a:p>
                  </a:txBody>
                  <a:tcPr marL="85725" marR="38100" marT="19050" marB="19050" anchor="ctr">
                    <a:solidFill>
                      <a:srgbClr val="F5F8FA"/>
                    </a:solidFill>
                  </a:tcPr>
                </a:tc>
                <a:tc>
                  <a:txBody>
                    <a:bodyPr wrap="none"/>
                    <a:lstStyle/>
                    <a:p>
                      <a:pPr algn="l"/>
                      <a:r>
                        <a:rPr sz="800" b="0">
                          <a:solidFill>
                            <a:srgbClr val="2E2E2E"/>
                          </a:solidFill>
                          <a:latin typeface="Calibri"/>
                        </a:rPr>
                        <a:t>125.2</a:t>
                      </a:r>
                    </a:p>
                  </a:txBody>
                  <a:tcPr marL="85725" marR="38100" marT="19050" marB="19050" anchor="ctr">
                    <a:solidFill>
                      <a:srgbClr val="F5F8FA"/>
                    </a:solidFill>
                  </a:tcPr>
                </a:tc>
                <a:tc>
                  <a:txBody>
                    <a:bodyPr wrap="none"/>
                    <a:lstStyle/>
                    <a:p>
                      <a:pPr algn="l"/>
                      <a:r>
                        <a:rPr sz="800" b="0">
                          <a:solidFill>
                            <a:srgbClr val="2E2E2E"/>
                          </a:solidFill>
                          <a:latin typeface="Calibri"/>
                        </a:rPr>
                        <a:t>131.0</a:t>
                      </a:r>
                    </a:p>
                  </a:txBody>
                  <a:tcPr marL="85725" marR="38100" marT="19050" marB="19050" anchor="ctr">
                    <a:solidFill>
                      <a:srgbClr val="F5F8FA"/>
                    </a:solidFill>
                  </a:tcPr>
                </a:tc>
                <a:tc>
                  <a:txBody>
                    <a:bodyPr wrap="none"/>
                    <a:lstStyle/>
                    <a:p>
                      <a:pPr algn="l"/>
                      <a:r>
                        <a:rPr sz="800" b="0">
                          <a:solidFill>
                            <a:srgbClr val="2E2E2E"/>
                          </a:solidFill>
                          <a:latin typeface="Calibri"/>
                        </a:rPr>
                        <a:t>136.3</a:t>
                      </a:r>
                    </a:p>
                  </a:txBody>
                  <a:tcPr marL="85725" marR="38100" marT="19050" marB="19050" anchor="ctr">
                    <a:solidFill>
                      <a:srgbClr val="F5F8FA"/>
                    </a:solidFill>
                  </a:tcPr>
                </a:tc>
                <a:tc>
                  <a:txBody>
                    <a:bodyPr wrap="none"/>
                    <a:lstStyle/>
                    <a:p>
                      <a:pPr algn="l"/>
                      <a:r>
                        <a:rPr sz="800" b="0">
                          <a:solidFill>
                            <a:srgbClr val="2E2E2E"/>
                          </a:solidFill>
                          <a:latin typeface="Calibri"/>
                        </a:rPr>
                        <a:t>141.1</a:t>
                      </a:r>
                    </a:p>
                  </a:txBody>
                  <a:tcPr marL="85725" marR="38100" marT="19050" marB="19050" anchor="ctr">
                    <a:solidFill>
                      <a:srgbClr val="F5F8FA"/>
                    </a:solidFill>
                  </a:tcPr>
                </a:tc>
                <a:tc>
                  <a:txBody>
                    <a:bodyPr wrap="none"/>
                    <a:lstStyle/>
                    <a:p>
                      <a:pPr algn="l"/>
                      <a:r>
                        <a:rPr sz="800" b="0">
                          <a:solidFill>
                            <a:srgbClr val="2E2E2E"/>
                          </a:solidFill>
                          <a:latin typeface="Calibri"/>
                        </a:rPr>
                        <a:t>145.4</a:t>
                      </a:r>
                    </a:p>
                  </a:txBody>
                  <a:tcPr marL="85725" marR="38100" marT="19050" marB="19050" anchor="ctr">
                    <a:solidFill>
                      <a:srgbClr val="F5F8FA"/>
                    </a:solidFill>
                  </a:tcPr>
                </a:tc>
                <a:tc>
                  <a:txBody>
                    <a:bodyPr wrap="none"/>
                    <a:lstStyle/>
                    <a:p>
                      <a:pPr algn="l"/>
                      <a:r>
                        <a:rPr sz="800" b="0">
                          <a:solidFill>
                            <a:srgbClr val="2E2E2E"/>
                          </a:solidFill>
                          <a:latin typeface="Calibri"/>
                        </a:rPr>
                        <a:t>6.6%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611.7</a:t>
                      </a:r>
                    </a:p>
                  </a:txBody>
                  <a:tcPr marL="85725" marR="38100" marT="19050" marB="19050" anchor="ctr">
                    <a:solidFill>
                      <a:srgbClr val="E0E8EF"/>
                    </a:solidFill>
                  </a:tcPr>
                </a:tc>
                <a:tc>
                  <a:txBody>
                    <a:bodyPr wrap="none"/>
                    <a:lstStyle/>
                    <a:p>
                      <a:pPr algn="l"/>
                      <a:r>
                        <a:rPr sz="800" b="1">
                          <a:solidFill>
                            <a:srgbClr val="2E2E2E"/>
                          </a:solidFill>
                          <a:latin typeface="Calibri"/>
                        </a:rPr>
                        <a:t>690.9</a:t>
                      </a:r>
                    </a:p>
                  </a:txBody>
                  <a:tcPr marL="85725" marR="38100" marT="19050" marB="19050" anchor="ctr">
                    <a:solidFill>
                      <a:srgbClr val="E0E8EF"/>
                    </a:solidFill>
                  </a:tcPr>
                </a:tc>
                <a:tc>
                  <a:txBody>
                    <a:bodyPr wrap="none"/>
                    <a:lstStyle/>
                    <a:p>
                      <a:pPr algn="l"/>
                      <a:r>
                        <a:rPr sz="800" b="1">
                          <a:solidFill>
                            <a:srgbClr val="2E2E2E"/>
                          </a:solidFill>
                          <a:latin typeface="Calibri"/>
                        </a:rPr>
                        <a:t>827.8</a:t>
                      </a:r>
                    </a:p>
                  </a:txBody>
                  <a:tcPr marL="85725" marR="38100" marT="19050" marB="19050" anchor="ctr">
                    <a:solidFill>
                      <a:srgbClr val="E0E8EF"/>
                    </a:solidFill>
                  </a:tcPr>
                </a:tc>
                <a:tc>
                  <a:txBody>
                    <a:bodyPr wrap="none"/>
                    <a:lstStyle/>
                    <a:p>
                      <a:pPr algn="l"/>
                      <a:r>
                        <a:rPr sz="800" b="1">
                          <a:solidFill>
                            <a:srgbClr val="2E2E2E"/>
                          </a:solidFill>
                          <a:latin typeface="Calibri"/>
                        </a:rPr>
                        <a:t>1,023</a:t>
                      </a:r>
                    </a:p>
                  </a:txBody>
                  <a:tcPr marL="85725" marR="38100" marT="19050" marB="19050" anchor="ctr">
                    <a:solidFill>
                      <a:srgbClr val="E0E8EF"/>
                    </a:solidFill>
                  </a:tcPr>
                </a:tc>
                <a:tc>
                  <a:txBody>
                    <a:bodyPr wrap="none"/>
                    <a:lstStyle/>
                    <a:p>
                      <a:pPr algn="l"/>
                      <a:r>
                        <a:rPr sz="800" b="1">
                          <a:solidFill>
                            <a:srgbClr val="2E2E2E"/>
                          </a:solidFill>
                          <a:latin typeface="Calibri"/>
                        </a:rPr>
                        <a:t>1,238</a:t>
                      </a:r>
                    </a:p>
                  </a:txBody>
                  <a:tcPr marL="85725" marR="38100" marT="19050" marB="19050" anchor="ctr">
                    <a:solidFill>
                      <a:srgbClr val="E0E8EF"/>
                    </a:solidFill>
                  </a:tcPr>
                </a:tc>
                <a:tc>
                  <a:txBody>
                    <a:bodyPr wrap="none"/>
                    <a:lstStyle/>
                    <a:p>
                      <a:pPr algn="l"/>
                      <a:r>
                        <a:rPr sz="800" b="1">
                          <a:solidFill>
                            <a:srgbClr val="2E2E2E"/>
                          </a:solidFill>
                          <a:latin typeface="Calibri"/>
                        </a:rPr>
                        <a:t>1,453</a:t>
                      </a:r>
                    </a:p>
                  </a:txBody>
                  <a:tcPr marL="85725" marR="38100" marT="19050" marB="19050" anchor="ctr">
                    <a:solidFill>
                      <a:srgbClr val="E0E8EF"/>
                    </a:solidFill>
                  </a:tcPr>
                </a:tc>
                <a:tc>
                  <a:txBody>
                    <a:bodyPr wrap="none"/>
                    <a:lstStyle/>
                    <a:p>
                      <a:pPr algn="l"/>
                      <a:r>
                        <a:rPr sz="800" b="1">
                          <a:solidFill>
                            <a:srgbClr val="2E2E2E"/>
                          </a:solidFill>
                          <a:latin typeface="Calibri"/>
                        </a:rPr>
                        <a:t>1,674</a:t>
                      </a:r>
                    </a:p>
                  </a:txBody>
                  <a:tcPr marL="85725" marR="38100" marT="19050" marB="19050" anchor="ctr">
                    <a:solidFill>
                      <a:srgbClr val="E0E8EF"/>
                    </a:solidFill>
                  </a:tcPr>
                </a:tc>
                <a:tc>
                  <a:txBody>
                    <a:bodyPr wrap="none"/>
                    <a:lstStyle/>
                    <a:p>
                      <a:pPr algn="l"/>
                      <a:r>
                        <a:rPr sz="800" b="1">
                          <a:solidFill>
                            <a:srgbClr val="2E2E2E"/>
                          </a:solidFill>
                          <a:latin typeface="Calibri"/>
                        </a:rPr>
                        <a:t>1,889</a:t>
                      </a:r>
                    </a:p>
                  </a:txBody>
                  <a:tcPr marL="85725" marR="38100" marT="19050" marB="19050" anchor="ctr">
                    <a:solidFill>
                      <a:srgbClr val="E0E8EF"/>
                    </a:solidFill>
                  </a:tcPr>
                </a:tc>
                <a:tc>
                  <a:txBody>
                    <a:bodyPr wrap="none"/>
                    <a:lstStyle/>
                    <a:p>
                      <a:pPr algn="l"/>
                      <a:r>
                        <a:rPr sz="800" b="1">
                          <a:solidFill>
                            <a:srgbClr val="2E2E2E"/>
                          </a:solidFill>
                          <a:latin typeface="Calibri"/>
                        </a:rPr>
                        <a:t>2,101</a:t>
                      </a:r>
                    </a:p>
                  </a:txBody>
                  <a:tcPr marL="85725" marR="38100" marT="19050" marB="19050" anchor="ctr">
                    <a:solidFill>
                      <a:srgbClr val="E0E8EF"/>
                    </a:solidFill>
                  </a:tcPr>
                </a:tc>
                <a:tc>
                  <a:txBody>
                    <a:bodyPr wrap="none"/>
                    <a:lstStyle/>
                    <a:p>
                      <a:pPr algn="l"/>
                      <a:r>
                        <a:rPr sz="800" b="1">
                          <a:solidFill>
                            <a:srgbClr val="2E2E2E"/>
                          </a:solidFill>
                          <a:latin typeface="Calibri"/>
                        </a:rPr>
                        <a:t>2,309</a:t>
                      </a:r>
                    </a:p>
                  </a:txBody>
                  <a:tcPr marL="85725" marR="38100" marT="19050" marB="19050" anchor="ctr">
                    <a:solidFill>
                      <a:srgbClr val="E0E8EF"/>
                    </a:solidFill>
                  </a:tcPr>
                </a:tc>
                <a:tc>
                  <a:txBody>
                    <a:bodyPr wrap="none"/>
                    <a:lstStyle/>
                    <a:p>
                      <a:pPr algn="l"/>
                      <a:r>
                        <a:rPr sz="800" b="1">
                          <a:solidFill>
                            <a:srgbClr val="2E2E2E"/>
                          </a:solidFill>
                          <a:latin typeface="Calibri"/>
                        </a:rPr>
                        <a:t>2,512</a:t>
                      </a:r>
                    </a:p>
                  </a:txBody>
                  <a:tcPr marL="85725" marR="38100" marT="19050" marB="19050" anchor="ctr">
                    <a:solidFill>
                      <a:srgbClr val="E0E8EF"/>
                    </a:solidFill>
                  </a:tcPr>
                </a:tc>
                <a:tc>
                  <a:txBody>
                    <a:bodyPr wrap="none"/>
                    <a:lstStyle/>
                    <a:p>
                      <a:pPr algn="l"/>
                      <a:r>
                        <a:rPr sz="800" b="1">
                          <a:solidFill>
                            <a:srgbClr val="2E2E2E"/>
                          </a:solidFill>
                          <a:latin typeface="Calibri"/>
                        </a:rPr>
                        <a:t>2,709</a:t>
                      </a:r>
                    </a:p>
                  </a:txBody>
                  <a:tcPr marL="85725" marR="38100" marT="19050" marB="19050" anchor="ctr">
                    <a:solidFill>
                      <a:srgbClr val="E0E8EF"/>
                    </a:solidFill>
                  </a:tcPr>
                </a:tc>
                <a:tc>
                  <a:txBody>
                    <a:bodyPr wrap="none"/>
                    <a:lstStyle/>
                    <a:p>
                      <a:pPr algn="l"/>
                      <a:r>
                        <a:rPr sz="800" b="1">
                          <a:solidFill>
                            <a:srgbClr val="2E2E2E"/>
                          </a:solidFill>
                          <a:latin typeface="Calibri"/>
                        </a:rPr>
                        <a:t>2,900</a:t>
                      </a:r>
                    </a:p>
                  </a:txBody>
                  <a:tcPr marL="85725" marR="38100" marT="19050" marB="19050" anchor="ctr">
                    <a:solidFill>
                      <a:srgbClr val="E0E8EF"/>
                    </a:solidFill>
                  </a:tcPr>
                </a:tc>
                <a:tc>
                  <a:txBody>
                    <a:bodyPr wrap="none"/>
                    <a:lstStyle/>
                    <a:p>
                      <a:pPr algn="l"/>
                      <a:r>
                        <a:rPr sz="800" b="1">
                          <a:solidFill>
                            <a:srgbClr val="2E2E2E"/>
                          </a:solidFill>
                          <a:latin typeface="Calibri"/>
                        </a:rPr>
                        <a:t>3,086</a:t>
                      </a:r>
                    </a:p>
                  </a:txBody>
                  <a:tcPr marL="85725" marR="38100" marT="19050" marB="19050" anchor="ctr">
                    <a:solidFill>
                      <a:srgbClr val="E0E8EF"/>
                    </a:solidFill>
                  </a:tcPr>
                </a:tc>
                <a:tc>
                  <a:txBody>
                    <a:bodyPr wrap="none"/>
                    <a:lstStyle/>
                    <a:p>
                      <a:pPr algn="l"/>
                      <a:r>
                        <a:rPr sz="800" b="1">
                          <a:solidFill>
                            <a:srgbClr val="2E2E2E"/>
                          </a:solidFill>
                          <a:latin typeface="Calibri"/>
                        </a:rPr>
                        <a:t>3,268</a:t>
                      </a:r>
                    </a:p>
                  </a:txBody>
                  <a:tcPr marL="85725" marR="38100" marT="19050" marB="19050" anchor="ctr">
                    <a:solidFill>
                      <a:srgbClr val="E0E8EF"/>
                    </a:solidFill>
                  </a:tcPr>
                </a:tc>
                <a:tc>
                  <a:txBody>
                    <a:bodyPr wrap="none"/>
                    <a:lstStyle/>
                    <a:p>
                      <a:pPr algn="l"/>
                      <a:r>
                        <a:rPr sz="800" b="1">
                          <a:solidFill>
                            <a:srgbClr val="2E2E2E"/>
                          </a:solidFill>
                          <a:latin typeface="Calibri"/>
                        </a:rPr>
                        <a:t>3,447</a:t>
                      </a:r>
                    </a:p>
                  </a:txBody>
                  <a:tcPr marL="85725" marR="38100" marT="19050" marB="19050" anchor="ctr">
                    <a:solidFill>
                      <a:srgbClr val="E0E8EF"/>
                    </a:solidFill>
                  </a:tcPr>
                </a:tc>
                <a:tc>
                  <a:txBody>
                    <a:bodyPr wrap="none"/>
                    <a:lstStyle/>
                    <a:p>
                      <a:pPr algn="l"/>
                      <a:r>
                        <a:rPr sz="800" b="1">
                          <a:solidFill>
                            <a:srgbClr val="2E2E2E"/>
                          </a:solidFill>
                          <a:latin typeface="Calibri"/>
                        </a:rPr>
                        <a:t>9.0%</a:t>
                      </a:r>
                    </a:p>
                  </a:txBody>
                  <a:tcPr marL="85725" marR="38100" marT="19050" marB="19050" anchor="ctr">
                    <a:solidFill>
                      <a:srgbClr val="E0E8EF"/>
                    </a:solidFill>
                  </a:tcPr>
                </a:tc>
              </a:tr>
            </a:tbl>
          </a:graphicData>
        </a:graphic>
      </p:graphicFrame>
      <p:sp>
        <p:nvSpPr>
          <p:cNvPr id="18" name="TextBox 17"/>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YoY Analysis Therapeutic Application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Volume YoY, By Therapeutic Application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Therapeutic Application</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Rheumatology</a:t>
                      </a:r>
                    </a:p>
                  </a:txBody>
                  <a:tcPr marL="85725" marR="38100" marT="19050" marB="19050" anchor="ctr">
                    <a:solidFill>
                      <a:srgbClr val="FFFFFF"/>
                    </a:solidFill>
                  </a:tcPr>
                </a:tc>
                <a:tc>
                  <a:txBody>
                    <a:bodyPr wrap="none"/>
                    <a:lstStyle/>
                    <a:p>
                      <a:pPr algn="l"/>
                      <a:r>
                        <a:rPr sz="800" b="1">
                          <a:solidFill>
                            <a:srgbClr val="A86F00"/>
                          </a:solidFill>
                          <a:latin typeface="Calibri"/>
                        </a:rPr>
                        <a:t>▶ 16.5%</a:t>
                      </a:r>
                    </a:p>
                  </a:txBody>
                  <a:tcPr marL="85725" marR="38100" marT="19050" marB="19050" anchor="ctr">
                    <a:solidFill>
                      <a:srgbClr val="FFFFFF"/>
                    </a:solidFill>
                  </a:tcPr>
                </a:tc>
                <a:tc>
                  <a:txBody>
                    <a:bodyPr wrap="none"/>
                    <a:lstStyle/>
                    <a:p>
                      <a:pPr algn="l"/>
                      <a:r>
                        <a:rPr sz="800" b="1">
                          <a:solidFill>
                            <a:srgbClr val="A86F00"/>
                          </a:solidFill>
                          <a:latin typeface="Calibri"/>
                        </a:rPr>
                        <a:t>▶ 23.6%</a:t>
                      </a:r>
                    </a:p>
                  </a:txBody>
                  <a:tcPr marL="85725" marR="38100" marT="19050" marB="19050" anchor="ctr">
                    <a:solidFill>
                      <a:srgbClr val="FFFFFF"/>
                    </a:solidFill>
                  </a:tcPr>
                </a:tc>
                <a:tc>
                  <a:txBody>
                    <a:bodyPr wrap="none"/>
                    <a:lstStyle/>
                    <a:p>
                      <a:pPr algn="l"/>
                      <a:r>
                        <a:rPr sz="800" b="1">
                          <a:solidFill>
                            <a:srgbClr val="A86F00"/>
                          </a:solidFill>
                          <a:latin typeface="Calibri"/>
                        </a:rPr>
                        <a:t>▶ 27.5%</a:t>
                      </a:r>
                    </a:p>
                  </a:txBody>
                  <a:tcPr marL="85725" marR="38100" marT="19050" marB="19050" anchor="ctr">
                    <a:solidFill>
                      <a:srgbClr val="FFFFFF"/>
                    </a:solidFill>
                  </a:tcPr>
                </a:tc>
                <a:tc>
                  <a:txBody>
                    <a:bodyPr wrap="none"/>
                    <a:lstStyle/>
                    <a:p>
                      <a:pPr algn="l"/>
                      <a:r>
                        <a:rPr sz="800" b="1">
                          <a:solidFill>
                            <a:srgbClr val="A86F00"/>
                          </a:solidFill>
                          <a:latin typeface="Calibri"/>
                        </a:rPr>
                        <a:t>▶ 24.8%</a:t>
                      </a:r>
                    </a:p>
                  </a:txBody>
                  <a:tcPr marL="85725" marR="38100" marT="19050" marB="19050" anchor="ctr">
                    <a:solidFill>
                      <a:srgbClr val="FFFFFF"/>
                    </a:solidFill>
                  </a:tcPr>
                </a:tc>
                <a:tc>
                  <a:txBody>
                    <a:bodyPr wrap="none"/>
                    <a:lstStyle/>
                    <a:p>
                      <a:pPr algn="l"/>
                      <a:r>
                        <a:rPr sz="800" b="1">
                          <a:solidFill>
                            <a:srgbClr val="A86F00"/>
                          </a:solidFill>
                          <a:latin typeface="Calibri"/>
                        </a:rPr>
                        <a:t>▶ 21.0%</a:t>
                      </a:r>
                    </a:p>
                  </a:txBody>
                  <a:tcPr marL="85725" marR="38100" marT="19050" marB="19050" anchor="ctr">
                    <a:solidFill>
                      <a:srgbClr val="FFFFFF"/>
                    </a:solidFill>
                  </a:tcPr>
                </a:tc>
                <a:tc>
                  <a:txBody>
                    <a:bodyPr wrap="none"/>
                    <a:lstStyle/>
                    <a:p>
                      <a:pPr algn="l"/>
                      <a:r>
                        <a:rPr sz="800" b="1">
                          <a:solidFill>
                            <a:srgbClr val="A86F00"/>
                          </a:solidFill>
                          <a:latin typeface="Calibri"/>
                        </a:rPr>
                        <a:t>▶ 18.8%</a:t>
                      </a:r>
                    </a:p>
                  </a:txBody>
                  <a:tcPr marL="85725" marR="38100" marT="19050" marB="19050" anchor="ctr">
                    <a:solidFill>
                      <a:srgbClr val="FFFFFF"/>
                    </a:solidFill>
                  </a:tcPr>
                </a:tc>
                <a:tc>
                  <a:txBody>
                    <a:bodyPr wrap="none"/>
                    <a:lstStyle/>
                    <a:p>
                      <a:pPr algn="l"/>
                      <a:r>
                        <a:rPr sz="800" b="1">
                          <a:solidFill>
                            <a:srgbClr val="A86F00"/>
                          </a:solidFill>
                          <a:latin typeface="Calibri"/>
                        </a:rPr>
                        <a:t>▶ 16.4%</a:t>
                      </a:r>
                    </a:p>
                  </a:txBody>
                  <a:tcPr marL="85725" marR="38100" marT="19050" marB="19050" anchor="ctr">
                    <a:solidFill>
                      <a:srgbClr val="FFFFFF"/>
                    </a:solidFill>
                  </a:tcPr>
                </a:tc>
                <a:tc>
                  <a:txBody>
                    <a:bodyPr wrap="none"/>
                    <a:lstStyle/>
                    <a:p>
                      <a:pPr algn="l"/>
                      <a:r>
                        <a:rPr sz="800" b="1">
                          <a:solidFill>
                            <a:srgbClr val="A86F00"/>
                          </a:solidFill>
                          <a:latin typeface="Calibri"/>
                        </a:rPr>
                        <a:t>▶ 14.7%</a:t>
                      </a:r>
                    </a:p>
                  </a:txBody>
                  <a:tcPr marL="85725" marR="38100" marT="19050" marB="19050" anchor="ctr">
                    <a:solidFill>
                      <a:srgbClr val="FFFFFF"/>
                    </a:solidFill>
                  </a:tcPr>
                </a:tc>
                <a:tc>
                  <a:txBody>
                    <a:bodyPr wrap="none"/>
                    <a:lstStyle/>
                    <a:p>
                      <a:pPr algn="l"/>
                      <a:r>
                        <a:rPr sz="800" b="1">
                          <a:solidFill>
                            <a:srgbClr val="A86F00"/>
                          </a:solidFill>
                          <a:latin typeface="Calibri"/>
                        </a:rPr>
                        <a:t>▶ 13.3%</a:t>
                      </a:r>
                    </a:p>
                  </a:txBody>
                  <a:tcPr marL="85725" marR="38100" marT="19050" marB="19050" anchor="ctr">
                    <a:solidFill>
                      <a:srgbClr val="FFFFFF"/>
                    </a:solidFill>
                  </a:tcPr>
                </a:tc>
                <a:tc>
                  <a:txBody>
                    <a:bodyPr wrap="none"/>
                    <a:lstStyle/>
                    <a:p>
                      <a:pPr algn="l"/>
                      <a:r>
                        <a:rPr sz="800" b="1">
                          <a:solidFill>
                            <a:srgbClr val="A86F00"/>
                          </a:solidFill>
                          <a:latin typeface="Calibri"/>
                        </a:rPr>
                        <a:t>▶ 12.2%</a:t>
                      </a:r>
                    </a:p>
                  </a:txBody>
                  <a:tcPr marL="85725" marR="38100" marT="19050" marB="19050" anchor="ctr">
                    <a:solidFill>
                      <a:srgbClr val="FFFFFF"/>
                    </a:solidFill>
                  </a:tcPr>
                </a:tc>
                <a:tc>
                  <a:txBody>
                    <a:bodyPr wrap="none"/>
                    <a:lstStyle/>
                    <a:p>
                      <a:pPr algn="l"/>
                      <a:r>
                        <a:rPr sz="800" b="1">
                          <a:solidFill>
                            <a:srgbClr val="A86F00"/>
                          </a:solidFill>
                          <a:latin typeface="Calibri"/>
                        </a:rPr>
                        <a:t>▶ 11.2%</a:t>
                      </a:r>
                    </a:p>
                  </a:txBody>
                  <a:tcPr marL="85725" marR="38100" marT="19050" marB="19050" anchor="ctr">
                    <a:solidFill>
                      <a:srgbClr val="FFFFFF"/>
                    </a:solidFill>
                  </a:tcPr>
                </a:tc>
                <a:tc>
                  <a:txBody>
                    <a:bodyPr wrap="none"/>
                    <a:lstStyle/>
                    <a:p>
                      <a:pPr algn="l"/>
                      <a:r>
                        <a:rPr sz="800" b="1">
                          <a:solidFill>
                            <a:srgbClr val="A86F00"/>
                          </a:solidFill>
                          <a:latin typeface="Calibri"/>
                        </a:rPr>
                        <a:t>▶ 10.4%</a:t>
                      </a:r>
                    </a:p>
                  </a:txBody>
                  <a:tcPr marL="85725" marR="38100" marT="19050" marB="19050" anchor="ctr">
                    <a:solidFill>
                      <a:srgbClr val="FFFFFF"/>
                    </a:solidFill>
                  </a:tcPr>
                </a:tc>
                <a:tc>
                  <a:txBody>
                    <a:bodyPr wrap="none"/>
                    <a:lstStyle/>
                    <a:p>
                      <a:pPr algn="l"/>
                      <a:r>
                        <a:rPr sz="800" b="1">
                          <a:solidFill>
                            <a:srgbClr val="A86F00"/>
                          </a:solidFill>
                          <a:latin typeface="Calibri"/>
                        </a:rPr>
                        <a:t>▶ 9.7%</a:t>
                      </a:r>
                    </a:p>
                  </a:txBody>
                  <a:tcPr marL="85725" marR="38100" marT="19050" marB="19050" anchor="ctr">
                    <a:solidFill>
                      <a:srgbClr val="FFFFFF"/>
                    </a:solidFill>
                  </a:tcPr>
                </a:tc>
                <a:tc>
                  <a:txBody>
                    <a:bodyPr wrap="none"/>
                    <a:lstStyle/>
                    <a:p>
                      <a:pPr algn="l"/>
                      <a:r>
                        <a:rPr sz="800" b="1">
                          <a:solidFill>
                            <a:srgbClr val="A86F00"/>
                          </a:solidFill>
                          <a:latin typeface="Calibri"/>
                        </a:rPr>
                        <a:t>▶ 9.2%</a:t>
                      </a:r>
                    </a:p>
                  </a:txBody>
                  <a:tcPr marL="85725" marR="38100" marT="19050" marB="19050" anchor="ctr">
                    <a:solidFill>
                      <a:srgbClr val="FFFFFF"/>
                    </a:solidFill>
                  </a:tcPr>
                </a:tc>
                <a:tc>
                  <a:txBody>
                    <a:bodyPr wrap="none"/>
                    <a:lstStyle/>
                    <a:p>
                      <a:pPr algn="l"/>
                      <a:r>
                        <a:rPr sz="800" b="1">
                          <a:solidFill>
                            <a:srgbClr val="A86F00"/>
                          </a:solidFill>
                          <a:latin typeface="Calibri"/>
                        </a:rPr>
                        <a:t>▶ 8.7%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Dermatology</a:t>
                      </a:r>
                    </a:p>
                  </a:txBody>
                  <a:tcPr marL="85725" marR="38100" marT="19050" marB="19050" anchor="ctr">
                    <a:solidFill>
                      <a:srgbClr val="F5F8FA"/>
                    </a:solidFill>
                  </a:tcPr>
                </a:tc>
                <a:tc>
                  <a:txBody>
                    <a:bodyPr wrap="none"/>
                    <a:lstStyle/>
                    <a:p>
                      <a:pPr algn="l"/>
                      <a:r>
                        <a:rPr sz="800" b="1">
                          <a:solidFill>
                            <a:srgbClr val="A86F00"/>
                          </a:solidFill>
                          <a:latin typeface="Calibri"/>
                        </a:rPr>
                        <a:t>▶ 15.6%</a:t>
                      </a:r>
                    </a:p>
                  </a:txBody>
                  <a:tcPr marL="85725" marR="38100" marT="19050" marB="19050" anchor="ctr">
                    <a:solidFill>
                      <a:srgbClr val="F5F8FA"/>
                    </a:solidFill>
                  </a:tcPr>
                </a:tc>
                <a:tc>
                  <a:txBody>
                    <a:bodyPr wrap="none"/>
                    <a:lstStyle/>
                    <a:p>
                      <a:pPr algn="l"/>
                      <a:r>
                        <a:rPr sz="800" b="1">
                          <a:solidFill>
                            <a:srgbClr val="A86F00"/>
                          </a:solidFill>
                          <a:latin typeface="Calibri"/>
                        </a:rPr>
                        <a:t>▶ 22.5%</a:t>
                      </a:r>
                    </a:p>
                  </a:txBody>
                  <a:tcPr marL="85725" marR="38100" marT="19050" marB="19050" anchor="ctr">
                    <a:solidFill>
                      <a:srgbClr val="F5F8FA"/>
                    </a:solidFill>
                  </a:tcPr>
                </a:tc>
                <a:tc>
                  <a:txBody>
                    <a:bodyPr wrap="none"/>
                    <a:lstStyle/>
                    <a:p>
                      <a:pPr algn="l"/>
                      <a:r>
                        <a:rPr sz="800" b="1">
                          <a:solidFill>
                            <a:srgbClr val="A86F00"/>
                          </a:solidFill>
                          <a:latin typeface="Calibri"/>
                        </a:rPr>
                        <a:t>▶ 26.4%</a:t>
                      </a:r>
                    </a:p>
                  </a:txBody>
                  <a:tcPr marL="85725" marR="38100" marT="19050" marB="19050" anchor="ctr">
                    <a:solidFill>
                      <a:srgbClr val="F5F8FA"/>
                    </a:solidFill>
                  </a:tcPr>
                </a:tc>
                <a:tc>
                  <a:txBody>
                    <a:bodyPr wrap="none"/>
                    <a:lstStyle/>
                    <a:p>
                      <a:pPr algn="l"/>
                      <a:r>
                        <a:rPr sz="800" b="1">
                          <a:solidFill>
                            <a:srgbClr val="A86F00"/>
                          </a:solidFill>
                          <a:latin typeface="Calibri"/>
                        </a:rPr>
                        <a:t>▶ 23.7%</a:t>
                      </a:r>
                    </a:p>
                  </a:txBody>
                  <a:tcPr marL="85725" marR="38100" marT="19050" marB="19050" anchor="ctr">
                    <a:solidFill>
                      <a:srgbClr val="F5F8FA"/>
                    </a:solidFill>
                  </a:tcPr>
                </a:tc>
                <a:tc>
                  <a:txBody>
                    <a:bodyPr wrap="none"/>
                    <a:lstStyle/>
                    <a:p>
                      <a:pPr algn="l"/>
                      <a:r>
                        <a:rPr sz="800" b="1">
                          <a:solidFill>
                            <a:srgbClr val="A86F00"/>
                          </a:solidFill>
                          <a:latin typeface="Calibri"/>
                        </a:rPr>
                        <a:t>▶ 19.9%</a:t>
                      </a:r>
                    </a:p>
                  </a:txBody>
                  <a:tcPr marL="85725" marR="38100" marT="19050" marB="19050" anchor="ctr">
                    <a:solidFill>
                      <a:srgbClr val="F5F8FA"/>
                    </a:solidFill>
                  </a:tcPr>
                </a:tc>
                <a:tc>
                  <a:txBody>
                    <a:bodyPr wrap="none"/>
                    <a:lstStyle/>
                    <a:p>
                      <a:pPr algn="l"/>
                      <a:r>
                        <a:rPr sz="800" b="1">
                          <a:solidFill>
                            <a:srgbClr val="A86F00"/>
                          </a:solidFill>
                          <a:latin typeface="Calibri"/>
                        </a:rPr>
                        <a:t>▶ 17.7%</a:t>
                      </a:r>
                    </a:p>
                  </a:txBody>
                  <a:tcPr marL="85725" marR="38100" marT="19050" marB="19050" anchor="ctr">
                    <a:solidFill>
                      <a:srgbClr val="F5F8FA"/>
                    </a:solidFill>
                  </a:tcPr>
                </a:tc>
                <a:tc>
                  <a:txBody>
                    <a:bodyPr wrap="none"/>
                    <a:lstStyle/>
                    <a:p>
                      <a:pPr algn="l"/>
                      <a:r>
                        <a:rPr sz="800" b="1">
                          <a:solidFill>
                            <a:srgbClr val="A86F00"/>
                          </a:solidFill>
                          <a:latin typeface="Calibri"/>
                        </a:rPr>
                        <a:t>▶ 15.3%</a:t>
                      </a:r>
                    </a:p>
                  </a:txBody>
                  <a:tcPr marL="85725" marR="38100" marT="19050" marB="19050" anchor="ctr">
                    <a:solidFill>
                      <a:srgbClr val="F5F8FA"/>
                    </a:solidFill>
                  </a:tcPr>
                </a:tc>
                <a:tc>
                  <a:txBody>
                    <a:bodyPr wrap="none"/>
                    <a:lstStyle/>
                    <a:p>
                      <a:pPr algn="l"/>
                      <a:r>
                        <a:rPr sz="800" b="1">
                          <a:solidFill>
                            <a:srgbClr val="A86F00"/>
                          </a:solidFill>
                          <a:latin typeface="Calibri"/>
                        </a:rPr>
                        <a:t>▶ 13.6%</a:t>
                      </a:r>
                    </a:p>
                  </a:txBody>
                  <a:tcPr marL="85725" marR="38100" marT="19050" marB="19050" anchor="ctr">
                    <a:solidFill>
                      <a:srgbClr val="F5F8FA"/>
                    </a:solidFill>
                  </a:tcPr>
                </a:tc>
                <a:tc>
                  <a:txBody>
                    <a:bodyPr wrap="none"/>
                    <a:lstStyle/>
                    <a:p>
                      <a:pPr algn="l"/>
                      <a:r>
                        <a:rPr sz="800" b="1">
                          <a:solidFill>
                            <a:srgbClr val="A86F00"/>
                          </a:solidFill>
                          <a:latin typeface="Calibri"/>
                        </a:rPr>
                        <a:t>▶ 12.3%</a:t>
                      </a:r>
                    </a:p>
                  </a:txBody>
                  <a:tcPr marL="85725" marR="38100" marT="19050" marB="19050" anchor="ctr">
                    <a:solidFill>
                      <a:srgbClr val="F5F8FA"/>
                    </a:solidFill>
                  </a:tcPr>
                </a:tc>
                <a:tc>
                  <a:txBody>
                    <a:bodyPr wrap="none"/>
                    <a:lstStyle/>
                    <a:p>
                      <a:pPr algn="l"/>
                      <a:r>
                        <a:rPr sz="800" b="1">
                          <a:solidFill>
                            <a:srgbClr val="A86F00"/>
                          </a:solidFill>
                          <a:latin typeface="Calibri"/>
                        </a:rPr>
                        <a:t>▶ 11.1%</a:t>
                      </a:r>
                    </a:p>
                  </a:txBody>
                  <a:tcPr marL="85725" marR="38100" marT="19050" marB="19050" anchor="ctr">
                    <a:solidFill>
                      <a:srgbClr val="F5F8FA"/>
                    </a:solidFill>
                  </a:tcPr>
                </a:tc>
                <a:tc>
                  <a:txBody>
                    <a:bodyPr wrap="none"/>
                    <a:lstStyle/>
                    <a:p>
                      <a:pPr algn="l"/>
                      <a:r>
                        <a:rPr sz="800" b="1">
                          <a:solidFill>
                            <a:srgbClr val="A86F00"/>
                          </a:solidFill>
                          <a:latin typeface="Calibri"/>
                        </a:rPr>
                        <a:t>▶ 10.1%</a:t>
                      </a:r>
                    </a:p>
                  </a:txBody>
                  <a:tcPr marL="85725" marR="38100" marT="19050" marB="19050" anchor="ctr">
                    <a:solidFill>
                      <a:srgbClr val="F5F8FA"/>
                    </a:solidFill>
                  </a:tcPr>
                </a:tc>
                <a:tc>
                  <a:txBody>
                    <a:bodyPr wrap="none"/>
                    <a:lstStyle/>
                    <a:p>
                      <a:pPr algn="l"/>
                      <a:r>
                        <a:rPr sz="800" b="1">
                          <a:solidFill>
                            <a:srgbClr val="A86F00"/>
                          </a:solidFill>
                          <a:latin typeface="Calibri"/>
                        </a:rPr>
                        <a:t>▶ 9.3%</a:t>
                      </a:r>
                    </a:p>
                  </a:txBody>
                  <a:tcPr marL="85725" marR="38100" marT="19050" marB="19050" anchor="ctr">
                    <a:solidFill>
                      <a:srgbClr val="F5F8FA"/>
                    </a:solidFill>
                  </a:tcPr>
                </a:tc>
                <a:tc>
                  <a:txBody>
                    <a:bodyPr wrap="none"/>
                    <a:lstStyle/>
                    <a:p>
                      <a:pPr algn="l"/>
                      <a:r>
                        <a:rPr sz="800" b="1">
                          <a:solidFill>
                            <a:srgbClr val="A86F00"/>
                          </a:solidFill>
                          <a:latin typeface="Calibri"/>
                        </a:rPr>
                        <a:t>▶ 8.6%</a:t>
                      </a:r>
                    </a:p>
                  </a:txBody>
                  <a:tcPr marL="85725" marR="38100" marT="19050" marB="19050" anchor="ctr">
                    <a:solidFill>
                      <a:srgbClr val="F5F8FA"/>
                    </a:solidFill>
                  </a:tcPr>
                </a:tc>
                <a:tc>
                  <a:txBody>
                    <a:bodyPr wrap="none"/>
                    <a:lstStyle/>
                    <a:p>
                      <a:pPr algn="l"/>
                      <a:r>
                        <a:rPr sz="800" b="1">
                          <a:solidFill>
                            <a:srgbClr val="A86F00"/>
                          </a:solidFill>
                          <a:latin typeface="Calibri"/>
                        </a:rPr>
                        <a:t>▶ 8.0%</a:t>
                      </a:r>
                    </a:p>
                  </a:txBody>
                  <a:tcPr marL="85725" marR="38100" marT="19050" marB="19050" anchor="ctr">
                    <a:solidFill>
                      <a:srgbClr val="F5F8FA"/>
                    </a:solidFill>
                  </a:tcPr>
                </a:tc>
                <a:tc>
                  <a:txBody>
                    <a:bodyPr wrap="none"/>
                    <a:lstStyle/>
                    <a:p>
                      <a:pPr algn="l"/>
                      <a:r>
                        <a:rPr sz="800" b="1">
                          <a:solidFill>
                            <a:srgbClr val="A86F00"/>
                          </a:solidFill>
                          <a:latin typeface="Calibri"/>
                        </a:rPr>
                        <a:t>▶ 7.6%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Gastroenterology</a:t>
                      </a:r>
                    </a:p>
                  </a:txBody>
                  <a:tcPr marL="85725" marR="38100" marT="19050" marB="19050" anchor="ctr">
                    <a:solidFill>
                      <a:srgbClr val="FFFFFF"/>
                    </a:solidFill>
                  </a:tcPr>
                </a:tc>
                <a:tc>
                  <a:txBody>
                    <a:bodyPr wrap="none"/>
                    <a:lstStyle/>
                    <a:p>
                      <a:pPr algn="l"/>
                      <a:r>
                        <a:rPr sz="800" b="1">
                          <a:solidFill>
                            <a:srgbClr val="2E7D32"/>
                          </a:solidFill>
                          <a:latin typeface="Calibri"/>
                        </a:rPr>
                        <a:t>▲ 19.5%</a:t>
                      </a:r>
                    </a:p>
                  </a:txBody>
                  <a:tcPr marL="85725" marR="38100" marT="19050" marB="19050" anchor="ctr">
                    <a:solidFill>
                      <a:srgbClr val="FFFFFF"/>
                    </a:solidFill>
                  </a:tcPr>
                </a:tc>
                <a:tc>
                  <a:txBody>
                    <a:bodyPr wrap="none"/>
                    <a:lstStyle/>
                    <a:p>
                      <a:pPr algn="l"/>
                      <a:r>
                        <a:rPr sz="800" b="1">
                          <a:solidFill>
                            <a:srgbClr val="2E7D32"/>
                          </a:solidFill>
                          <a:latin typeface="Calibri"/>
                        </a:rPr>
                        <a:t>▲ 26.7%</a:t>
                      </a:r>
                    </a:p>
                  </a:txBody>
                  <a:tcPr marL="85725" marR="38100" marT="19050" marB="19050" anchor="ctr">
                    <a:solidFill>
                      <a:srgbClr val="FFFFFF"/>
                    </a:solidFill>
                  </a:tcPr>
                </a:tc>
                <a:tc>
                  <a:txBody>
                    <a:bodyPr wrap="none"/>
                    <a:lstStyle/>
                    <a:p>
                      <a:pPr algn="l"/>
                      <a:r>
                        <a:rPr sz="800" b="1">
                          <a:solidFill>
                            <a:srgbClr val="2E7D32"/>
                          </a:solidFill>
                          <a:latin typeface="Calibri"/>
                        </a:rPr>
                        <a:t>▲ 30.7%</a:t>
                      </a:r>
                    </a:p>
                  </a:txBody>
                  <a:tcPr marL="85725" marR="38100" marT="19050" marB="19050" anchor="ctr">
                    <a:solidFill>
                      <a:srgbClr val="FFFFFF"/>
                    </a:solidFill>
                  </a:tcPr>
                </a:tc>
                <a:tc>
                  <a:txBody>
                    <a:bodyPr wrap="none"/>
                    <a:lstStyle/>
                    <a:p>
                      <a:pPr algn="l"/>
                      <a:r>
                        <a:rPr sz="800" b="1">
                          <a:solidFill>
                            <a:srgbClr val="2E7D32"/>
                          </a:solidFill>
                          <a:latin typeface="Calibri"/>
                        </a:rPr>
                        <a:t>▲ 27.9%</a:t>
                      </a:r>
                    </a:p>
                  </a:txBody>
                  <a:tcPr marL="85725" marR="38100" marT="19050" marB="19050" anchor="ctr">
                    <a:solidFill>
                      <a:srgbClr val="FFFFFF"/>
                    </a:solidFill>
                  </a:tcPr>
                </a:tc>
                <a:tc>
                  <a:txBody>
                    <a:bodyPr wrap="none"/>
                    <a:lstStyle/>
                    <a:p>
                      <a:pPr algn="l"/>
                      <a:r>
                        <a:rPr sz="800" b="1">
                          <a:solidFill>
                            <a:srgbClr val="2E7D32"/>
                          </a:solidFill>
                          <a:latin typeface="Calibri"/>
                        </a:rPr>
                        <a:t>▲ 24.0%</a:t>
                      </a:r>
                    </a:p>
                  </a:txBody>
                  <a:tcPr marL="85725" marR="38100" marT="19050" marB="19050" anchor="ctr">
                    <a:solidFill>
                      <a:srgbClr val="FFFFFF"/>
                    </a:solidFill>
                  </a:tcPr>
                </a:tc>
                <a:tc>
                  <a:txBody>
                    <a:bodyPr wrap="none"/>
                    <a:lstStyle/>
                    <a:p>
                      <a:pPr algn="l"/>
                      <a:r>
                        <a:rPr sz="800" b="1">
                          <a:solidFill>
                            <a:srgbClr val="2E7D32"/>
                          </a:solidFill>
                          <a:latin typeface="Calibri"/>
                        </a:rPr>
                        <a:t>▲ 21.7%</a:t>
                      </a:r>
                    </a:p>
                  </a:txBody>
                  <a:tcPr marL="85725" marR="38100" marT="19050" marB="19050" anchor="ctr">
                    <a:solidFill>
                      <a:srgbClr val="FFFFFF"/>
                    </a:solidFill>
                  </a:tcPr>
                </a:tc>
                <a:tc>
                  <a:txBody>
                    <a:bodyPr wrap="none"/>
                    <a:lstStyle/>
                    <a:p>
                      <a:pPr algn="l"/>
                      <a:r>
                        <a:rPr sz="800" b="1">
                          <a:solidFill>
                            <a:srgbClr val="2E7D32"/>
                          </a:solidFill>
                          <a:latin typeface="Calibri"/>
                        </a:rPr>
                        <a:t>▲ 19.2%</a:t>
                      </a:r>
                    </a:p>
                  </a:txBody>
                  <a:tcPr marL="85725" marR="38100" marT="19050" marB="19050" anchor="ctr">
                    <a:solidFill>
                      <a:srgbClr val="FFFFFF"/>
                    </a:solidFill>
                  </a:tcPr>
                </a:tc>
                <a:tc>
                  <a:txBody>
                    <a:bodyPr wrap="none"/>
                    <a:lstStyle/>
                    <a:p>
                      <a:pPr algn="l"/>
                      <a:r>
                        <a:rPr sz="800" b="1">
                          <a:solidFill>
                            <a:srgbClr val="2E7D32"/>
                          </a:solidFill>
                          <a:latin typeface="Calibri"/>
                        </a:rPr>
                        <a:t>▲ 17.5%</a:t>
                      </a:r>
                    </a:p>
                  </a:txBody>
                  <a:tcPr marL="85725" marR="38100" marT="19050" marB="19050" anchor="ctr">
                    <a:solidFill>
                      <a:srgbClr val="FFFFFF"/>
                    </a:solidFill>
                  </a:tcPr>
                </a:tc>
                <a:tc>
                  <a:txBody>
                    <a:bodyPr wrap="none"/>
                    <a:lstStyle/>
                    <a:p>
                      <a:pPr algn="l"/>
                      <a:r>
                        <a:rPr sz="800" b="1">
                          <a:solidFill>
                            <a:srgbClr val="2E7D32"/>
                          </a:solidFill>
                          <a:latin typeface="Calibri"/>
                        </a:rPr>
                        <a:t>▲ 16.1%</a:t>
                      </a:r>
                    </a:p>
                  </a:txBody>
                  <a:tcPr marL="85725" marR="38100" marT="19050" marB="19050" anchor="ctr">
                    <a:solidFill>
                      <a:srgbClr val="FFFFFF"/>
                    </a:solidFill>
                  </a:tcPr>
                </a:tc>
                <a:tc>
                  <a:txBody>
                    <a:bodyPr wrap="none"/>
                    <a:lstStyle/>
                    <a:p>
                      <a:pPr algn="l"/>
                      <a:r>
                        <a:rPr sz="800" b="1">
                          <a:solidFill>
                            <a:srgbClr val="2E7D32"/>
                          </a:solidFill>
                          <a:latin typeface="Calibri"/>
                        </a:rPr>
                        <a:t>▲ 14.9%</a:t>
                      </a:r>
                    </a:p>
                  </a:txBody>
                  <a:tcPr marL="85725" marR="38100" marT="19050" marB="19050" anchor="ctr">
                    <a:solidFill>
                      <a:srgbClr val="FFFFFF"/>
                    </a:solidFill>
                  </a:tcPr>
                </a:tc>
                <a:tc>
                  <a:txBody>
                    <a:bodyPr wrap="none"/>
                    <a:lstStyle/>
                    <a:p>
                      <a:pPr algn="l"/>
                      <a:r>
                        <a:rPr sz="800" b="1">
                          <a:solidFill>
                            <a:srgbClr val="2E7D32"/>
                          </a:solidFill>
                          <a:latin typeface="Calibri"/>
                        </a:rPr>
                        <a:t>▲ 13.9%</a:t>
                      </a:r>
                    </a:p>
                  </a:txBody>
                  <a:tcPr marL="85725" marR="38100" marT="19050" marB="19050" anchor="ctr">
                    <a:solidFill>
                      <a:srgbClr val="FFFFFF"/>
                    </a:solidFill>
                  </a:tcPr>
                </a:tc>
                <a:tc>
                  <a:txBody>
                    <a:bodyPr wrap="none"/>
                    <a:lstStyle/>
                    <a:p>
                      <a:pPr algn="l"/>
                      <a:r>
                        <a:rPr sz="800" b="1">
                          <a:solidFill>
                            <a:srgbClr val="2E7D32"/>
                          </a:solidFill>
                          <a:latin typeface="Calibri"/>
                        </a:rPr>
                        <a:t>▲ 13.0%</a:t>
                      </a:r>
                    </a:p>
                  </a:txBody>
                  <a:tcPr marL="85725" marR="38100" marT="19050" marB="19050" anchor="ctr">
                    <a:solidFill>
                      <a:srgbClr val="FFFFFF"/>
                    </a:solidFill>
                  </a:tcPr>
                </a:tc>
                <a:tc>
                  <a:txBody>
                    <a:bodyPr wrap="none"/>
                    <a:lstStyle/>
                    <a:p>
                      <a:pPr algn="l"/>
                      <a:r>
                        <a:rPr sz="800" b="1">
                          <a:solidFill>
                            <a:srgbClr val="2E7D32"/>
                          </a:solidFill>
                          <a:latin typeface="Calibri"/>
                        </a:rPr>
                        <a:t>▲ 12.3%</a:t>
                      </a:r>
                    </a:p>
                  </a:txBody>
                  <a:tcPr marL="85725" marR="38100" marT="19050" marB="19050" anchor="ctr">
                    <a:solidFill>
                      <a:srgbClr val="FFFFFF"/>
                    </a:solidFill>
                  </a:tcPr>
                </a:tc>
                <a:tc>
                  <a:txBody>
                    <a:bodyPr wrap="none"/>
                    <a:lstStyle/>
                    <a:p>
                      <a:pPr algn="l"/>
                      <a:r>
                        <a:rPr sz="800" b="1">
                          <a:solidFill>
                            <a:srgbClr val="2E7D32"/>
                          </a:solidFill>
                          <a:latin typeface="Calibri"/>
                        </a:rPr>
                        <a:t>▲ 11.7%</a:t>
                      </a:r>
                    </a:p>
                  </a:txBody>
                  <a:tcPr marL="85725" marR="38100" marT="19050" marB="19050" anchor="ctr">
                    <a:solidFill>
                      <a:srgbClr val="FFFFFF"/>
                    </a:solidFill>
                  </a:tcPr>
                </a:tc>
                <a:tc>
                  <a:txBody>
                    <a:bodyPr wrap="none"/>
                    <a:lstStyle/>
                    <a:p>
                      <a:pPr algn="l"/>
                      <a:r>
                        <a:rPr sz="800" b="1">
                          <a:solidFill>
                            <a:srgbClr val="2E7D32"/>
                          </a:solidFill>
                          <a:latin typeface="Calibri"/>
                        </a:rPr>
                        <a:t>▲ 11.3%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Ophthalmology</a:t>
                      </a:r>
                    </a:p>
                  </a:txBody>
                  <a:tcPr marL="85725" marR="38100" marT="19050" marB="19050" anchor="ctr">
                    <a:solidFill>
                      <a:srgbClr val="F5F8FA"/>
                    </a:solidFill>
                  </a:tcPr>
                </a:tc>
                <a:tc>
                  <a:txBody>
                    <a:bodyPr wrap="none"/>
                    <a:lstStyle/>
                    <a:p>
                      <a:pPr algn="l"/>
                      <a:r>
                        <a:rPr sz="800" b="1">
                          <a:solidFill>
                            <a:srgbClr val="A86F00"/>
                          </a:solidFill>
                          <a:latin typeface="Calibri"/>
                        </a:rPr>
                        <a:t>▶ 15.3%</a:t>
                      </a:r>
                    </a:p>
                  </a:txBody>
                  <a:tcPr marL="85725" marR="38100" marT="19050" marB="19050" anchor="ctr">
                    <a:solidFill>
                      <a:srgbClr val="F5F8FA"/>
                    </a:solidFill>
                  </a:tcPr>
                </a:tc>
                <a:tc>
                  <a:txBody>
                    <a:bodyPr wrap="none"/>
                    <a:lstStyle/>
                    <a:p>
                      <a:pPr algn="l"/>
                      <a:r>
                        <a:rPr sz="800" b="1">
                          <a:solidFill>
                            <a:srgbClr val="A86F00"/>
                          </a:solidFill>
                          <a:latin typeface="Calibri"/>
                        </a:rPr>
                        <a:t>▶ 22.2%</a:t>
                      </a:r>
                    </a:p>
                  </a:txBody>
                  <a:tcPr marL="85725" marR="38100" marT="19050" marB="19050" anchor="ctr">
                    <a:solidFill>
                      <a:srgbClr val="F5F8FA"/>
                    </a:solidFill>
                  </a:tcPr>
                </a:tc>
                <a:tc>
                  <a:txBody>
                    <a:bodyPr wrap="none"/>
                    <a:lstStyle/>
                    <a:p>
                      <a:pPr algn="l"/>
                      <a:r>
                        <a:rPr sz="800" b="1">
                          <a:solidFill>
                            <a:srgbClr val="A86F00"/>
                          </a:solidFill>
                          <a:latin typeface="Calibri"/>
                        </a:rPr>
                        <a:t>▶ 26.1%</a:t>
                      </a:r>
                    </a:p>
                  </a:txBody>
                  <a:tcPr marL="85725" marR="38100" marT="19050" marB="19050" anchor="ctr">
                    <a:solidFill>
                      <a:srgbClr val="F5F8FA"/>
                    </a:solidFill>
                  </a:tcPr>
                </a:tc>
                <a:tc>
                  <a:txBody>
                    <a:bodyPr wrap="none"/>
                    <a:lstStyle/>
                    <a:p>
                      <a:pPr algn="l"/>
                      <a:r>
                        <a:rPr sz="800" b="1">
                          <a:solidFill>
                            <a:srgbClr val="A86F00"/>
                          </a:solidFill>
                          <a:latin typeface="Calibri"/>
                        </a:rPr>
                        <a:t>▶ 23.4%</a:t>
                      </a:r>
                    </a:p>
                  </a:txBody>
                  <a:tcPr marL="85725" marR="38100" marT="19050" marB="19050" anchor="ctr">
                    <a:solidFill>
                      <a:srgbClr val="F5F8FA"/>
                    </a:solidFill>
                  </a:tcPr>
                </a:tc>
                <a:tc>
                  <a:txBody>
                    <a:bodyPr wrap="none"/>
                    <a:lstStyle/>
                    <a:p>
                      <a:pPr algn="l"/>
                      <a:r>
                        <a:rPr sz="800" b="1">
                          <a:solidFill>
                            <a:srgbClr val="A86F00"/>
                          </a:solidFill>
                          <a:latin typeface="Calibri"/>
                        </a:rPr>
                        <a:t>▶ 19.6%</a:t>
                      </a:r>
                    </a:p>
                  </a:txBody>
                  <a:tcPr marL="85725" marR="38100" marT="19050" marB="19050" anchor="ctr">
                    <a:solidFill>
                      <a:srgbClr val="F5F8FA"/>
                    </a:solidFill>
                  </a:tcPr>
                </a:tc>
                <a:tc>
                  <a:txBody>
                    <a:bodyPr wrap="none"/>
                    <a:lstStyle/>
                    <a:p>
                      <a:pPr algn="l"/>
                      <a:r>
                        <a:rPr sz="800" b="1">
                          <a:solidFill>
                            <a:srgbClr val="A86F00"/>
                          </a:solidFill>
                          <a:latin typeface="Calibri"/>
                        </a:rPr>
                        <a:t>▶ 17.4%</a:t>
                      </a:r>
                    </a:p>
                  </a:txBody>
                  <a:tcPr marL="85725" marR="38100" marT="19050" marB="19050" anchor="ctr">
                    <a:solidFill>
                      <a:srgbClr val="F5F8FA"/>
                    </a:solidFill>
                  </a:tcPr>
                </a:tc>
                <a:tc>
                  <a:txBody>
                    <a:bodyPr wrap="none"/>
                    <a:lstStyle/>
                    <a:p>
                      <a:pPr algn="l"/>
                      <a:r>
                        <a:rPr sz="800" b="1">
                          <a:solidFill>
                            <a:srgbClr val="A86F00"/>
                          </a:solidFill>
                          <a:latin typeface="Calibri"/>
                        </a:rPr>
                        <a:t>▶ 15.0%</a:t>
                      </a:r>
                    </a:p>
                  </a:txBody>
                  <a:tcPr marL="85725" marR="38100" marT="19050" marB="19050" anchor="ctr">
                    <a:solidFill>
                      <a:srgbClr val="F5F8FA"/>
                    </a:solidFill>
                  </a:tcPr>
                </a:tc>
                <a:tc>
                  <a:txBody>
                    <a:bodyPr wrap="none"/>
                    <a:lstStyle/>
                    <a:p>
                      <a:pPr algn="l"/>
                      <a:r>
                        <a:rPr sz="800" b="1">
                          <a:solidFill>
                            <a:srgbClr val="A86F00"/>
                          </a:solidFill>
                          <a:latin typeface="Calibri"/>
                        </a:rPr>
                        <a:t>▶ 13.3%</a:t>
                      </a:r>
                    </a:p>
                  </a:txBody>
                  <a:tcPr marL="85725" marR="38100" marT="19050" marB="19050" anchor="ctr">
                    <a:solidFill>
                      <a:srgbClr val="F5F8FA"/>
                    </a:solidFill>
                  </a:tcPr>
                </a:tc>
                <a:tc>
                  <a:txBody>
                    <a:bodyPr wrap="none"/>
                    <a:lstStyle/>
                    <a:p>
                      <a:pPr algn="l"/>
                      <a:r>
                        <a:rPr sz="800" b="1">
                          <a:solidFill>
                            <a:srgbClr val="A86F00"/>
                          </a:solidFill>
                          <a:latin typeface="Calibri"/>
                        </a:rPr>
                        <a:t>▶ 12.0%</a:t>
                      </a:r>
                    </a:p>
                  </a:txBody>
                  <a:tcPr marL="85725" marR="38100" marT="19050" marB="19050" anchor="ctr">
                    <a:solidFill>
                      <a:srgbClr val="F5F8FA"/>
                    </a:solidFill>
                  </a:tcPr>
                </a:tc>
                <a:tc>
                  <a:txBody>
                    <a:bodyPr wrap="none"/>
                    <a:lstStyle/>
                    <a:p>
                      <a:pPr algn="l"/>
                      <a:r>
                        <a:rPr sz="800" b="1">
                          <a:solidFill>
                            <a:srgbClr val="A86F00"/>
                          </a:solidFill>
                          <a:latin typeface="Calibri"/>
                        </a:rPr>
                        <a:t>▶ 10.8%</a:t>
                      </a:r>
                    </a:p>
                  </a:txBody>
                  <a:tcPr marL="85725" marR="38100" marT="19050" marB="19050" anchor="ctr">
                    <a:solidFill>
                      <a:srgbClr val="F5F8FA"/>
                    </a:solidFill>
                  </a:tcPr>
                </a:tc>
                <a:tc>
                  <a:txBody>
                    <a:bodyPr wrap="none"/>
                    <a:lstStyle/>
                    <a:p>
                      <a:pPr algn="l"/>
                      <a:r>
                        <a:rPr sz="800" b="1">
                          <a:solidFill>
                            <a:srgbClr val="A86F00"/>
                          </a:solidFill>
                          <a:latin typeface="Calibri"/>
                        </a:rPr>
                        <a:t>▶ 9.8%</a:t>
                      </a:r>
                    </a:p>
                  </a:txBody>
                  <a:tcPr marL="85725" marR="38100" marT="19050" marB="19050" anchor="ctr">
                    <a:solidFill>
                      <a:srgbClr val="F5F8FA"/>
                    </a:solidFill>
                  </a:tcPr>
                </a:tc>
                <a:tc>
                  <a:txBody>
                    <a:bodyPr wrap="none"/>
                    <a:lstStyle/>
                    <a:p>
                      <a:pPr algn="l"/>
                      <a:r>
                        <a:rPr sz="800" b="1">
                          <a:solidFill>
                            <a:srgbClr val="A86F00"/>
                          </a:solidFill>
                          <a:latin typeface="Calibri"/>
                        </a:rPr>
                        <a:t>▶ 9.0%</a:t>
                      </a:r>
                    </a:p>
                  </a:txBody>
                  <a:tcPr marL="85725" marR="38100" marT="19050" marB="19050" anchor="ctr">
                    <a:solidFill>
                      <a:srgbClr val="F5F8FA"/>
                    </a:solidFill>
                  </a:tcPr>
                </a:tc>
                <a:tc>
                  <a:txBody>
                    <a:bodyPr wrap="none"/>
                    <a:lstStyle/>
                    <a:p>
                      <a:pPr algn="l"/>
                      <a:r>
                        <a:rPr sz="800" b="1">
                          <a:solidFill>
                            <a:srgbClr val="A86F00"/>
                          </a:solidFill>
                          <a:latin typeface="Calibri"/>
                        </a:rPr>
                        <a:t>▶ 8.3%</a:t>
                      </a:r>
                    </a:p>
                  </a:txBody>
                  <a:tcPr marL="85725" marR="38100" marT="19050" marB="19050" anchor="ctr">
                    <a:solidFill>
                      <a:srgbClr val="F5F8FA"/>
                    </a:solidFill>
                  </a:tcPr>
                </a:tc>
                <a:tc>
                  <a:txBody>
                    <a:bodyPr wrap="none"/>
                    <a:lstStyle/>
                    <a:p>
                      <a:pPr algn="l"/>
                      <a:r>
                        <a:rPr sz="800" b="1">
                          <a:solidFill>
                            <a:srgbClr val="A86F00"/>
                          </a:solidFill>
                          <a:latin typeface="Calibri"/>
                        </a:rPr>
                        <a:t>▶ 7.8%</a:t>
                      </a:r>
                    </a:p>
                  </a:txBody>
                  <a:tcPr marL="85725" marR="38100" marT="19050" marB="19050" anchor="ctr">
                    <a:solidFill>
                      <a:srgbClr val="F5F8FA"/>
                    </a:solidFill>
                  </a:tcPr>
                </a:tc>
                <a:tc>
                  <a:txBody>
                    <a:bodyPr wrap="none"/>
                    <a:lstStyle/>
                    <a:p>
                      <a:pPr algn="l"/>
                      <a:r>
                        <a:rPr sz="800" b="1">
                          <a:solidFill>
                            <a:srgbClr val="A86F00"/>
                          </a:solidFill>
                          <a:latin typeface="Calibri"/>
                        </a:rPr>
                        <a:t>▶ 7.3%</a:t>
                      </a:r>
                    </a:p>
                  </a:txBody>
                  <a:tcPr marL="85725" marR="38100" marT="19050" marB="19050" anchor="ctr">
                    <a:solidFill>
                      <a:srgbClr val="F5F8FA"/>
                    </a:solidFill>
                  </a:tcPr>
                </a:tc>
              </a:tr>
            </a:tbl>
          </a:graphicData>
        </a:graphic>
      </p:graphicFrame>
      <p:sp>
        <p:nvSpPr>
          <p:cNvPr id="14" name="TextBox 13"/>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Value YoY, By Therapeutic Application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7" name="Table 16"/>
          <p:cNvGraphicFramePr>
            <a:graphicFrameLocks noGrp="1"/>
          </p:cNvGraphicFramePr>
          <p:nvPr/>
        </p:nvGraphicFramePr>
        <p:xfrm>
          <a:off x="238125" y="4143375"/>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Therapeutic Application</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Rheumatology</a:t>
                      </a:r>
                    </a:p>
                  </a:txBody>
                  <a:tcPr marL="85725" marR="38100" marT="19050" marB="19050" anchor="ctr">
                    <a:solidFill>
                      <a:srgbClr val="FFFFFF"/>
                    </a:solidFill>
                  </a:tcPr>
                </a:tc>
                <a:tc>
                  <a:txBody>
                    <a:bodyPr wrap="none"/>
                    <a:lstStyle/>
                    <a:p>
                      <a:pPr algn="l"/>
                      <a:r>
                        <a:rPr sz="800" b="1">
                          <a:solidFill>
                            <a:srgbClr val="2E7D32"/>
                          </a:solidFill>
                          <a:latin typeface="Calibri"/>
                        </a:rPr>
                        <a:t>▲ 13.1%</a:t>
                      </a:r>
                    </a:p>
                  </a:txBody>
                  <a:tcPr marL="85725" marR="38100" marT="19050" marB="19050" anchor="ctr">
                    <a:solidFill>
                      <a:srgbClr val="FFFFFF"/>
                    </a:solidFill>
                  </a:tcPr>
                </a:tc>
                <a:tc>
                  <a:txBody>
                    <a:bodyPr wrap="none"/>
                    <a:lstStyle/>
                    <a:p>
                      <a:pPr algn="l"/>
                      <a:r>
                        <a:rPr sz="800" b="1">
                          <a:solidFill>
                            <a:srgbClr val="2E7D32"/>
                          </a:solidFill>
                          <a:latin typeface="Calibri"/>
                        </a:rPr>
                        <a:t>▲ 20.0%</a:t>
                      </a:r>
                    </a:p>
                  </a:txBody>
                  <a:tcPr marL="85725" marR="38100" marT="19050" marB="19050" anchor="ctr">
                    <a:solidFill>
                      <a:srgbClr val="FFFFFF"/>
                    </a:solidFill>
                  </a:tcPr>
                </a:tc>
                <a:tc>
                  <a:txBody>
                    <a:bodyPr wrap="none"/>
                    <a:lstStyle/>
                    <a:p>
                      <a:pPr algn="l"/>
                      <a:r>
                        <a:rPr sz="800" b="1">
                          <a:solidFill>
                            <a:srgbClr val="2E7D32"/>
                          </a:solidFill>
                          <a:latin typeface="Calibri"/>
                        </a:rPr>
                        <a:t>▲ 23.8%</a:t>
                      </a:r>
                    </a:p>
                  </a:txBody>
                  <a:tcPr marL="85725" marR="38100" marT="19050" marB="19050" anchor="ctr">
                    <a:solidFill>
                      <a:srgbClr val="FFFFFF"/>
                    </a:solidFill>
                  </a:tcPr>
                </a:tc>
                <a:tc>
                  <a:txBody>
                    <a:bodyPr wrap="none"/>
                    <a:lstStyle/>
                    <a:p>
                      <a:pPr algn="l"/>
                      <a:r>
                        <a:rPr sz="800" b="1">
                          <a:solidFill>
                            <a:srgbClr val="2E7D32"/>
                          </a:solidFill>
                          <a:latin typeface="Calibri"/>
                        </a:rPr>
                        <a:t>▲ 21.2%</a:t>
                      </a:r>
                    </a:p>
                  </a:txBody>
                  <a:tcPr marL="85725" marR="38100" marT="19050" marB="19050" anchor="ctr">
                    <a:solidFill>
                      <a:srgbClr val="FFFFFF"/>
                    </a:solidFill>
                  </a:tcPr>
                </a:tc>
                <a:tc>
                  <a:txBody>
                    <a:bodyPr wrap="none"/>
                    <a:lstStyle/>
                    <a:p>
                      <a:pPr algn="l"/>
                      <a:r>
                        <a:rPr sz="800" b="1">
                          <a:solidFill>
                            <a:srgbClr val="2E7D32"/>
                          </a:solidFill>
                          <a:latin typeface="Calibri"/>
                        </a:rPr>
                        <a:t>▲ 17.5%</a:t>
                      </a:r>
                    </a:p>
                  </a:txBody>
                  <a:tcPr marL="85725" marR="38100" marT="19050" marB="19050" anchor="ctr">
                    <a:solidFill>
                      <a:srgbClr val="FFFFFF"/>
                    </a:solidFill>
                  </a:tcPr>
                </a:tc>
                <a:tc>
                  <a:txBody>
                    <a:bodyPr wrap="none"/>
                    <a:lstStyle/>
                    <a:p>
                      <a:pPr algn="l"/>
                      <a:r>
                        <a:rPr sz="800" b="1">
                          <a:solidFill>
                            <a:srgbClr val="2E7D32"/>
                          </a:solidFill>
                          <a:latin typeface="Calibri"/>
                        </a:rPr>
                        <a:t>▲ 15.4%</a:t>
                      </a:r>
                    </a:p>
                  </a:txBody>
                  <a:tcPr marL="85725" marR="38100" marT="19050" marB="19050" anchor="ctr">
                    <a:solidFill>
                      <a:srgbClr val="FFFFFF"/>
                    </a:solidFill>
                  </a:tcPr>
                </a:tc>
                <a:tc>
                  <a:txBody>
                    <a:bodyPr wrap="none"/>
                    <a:lstStyle/>
                    <a:p>
                      <a:pPr algn="l"/>
                      <a:r>
                        <a:rPr sz="800" b="1">
                          <a:solidFill>
                            <a:srgbClr val="2E7D32"/>
                          </a:solidFill>
                          <a:latin typeface="Calibri"/>
                        </a:rPr>
                        <a:t>▲ 13.1%</a:t>
                      </a:r>
                    </a:p>
                  </a:txBody>
                  <a:tcPr marL="85725" marR="38100" marT="19050" marB="19050" anchor="ctr">
                    <a:solidFill>
                      <a:srgbClr val="FFFFFF"/>
                    </a:solidFill>
                  </a:tcPr>
                </a:tc>
                <a:tc>
                  <a:txBody>
                    <a:bodyPr wrap="none"/>
                    <a:lstStyle/>
                    <a:p>
                      <a:pPr algn="l"/>
                      <a:r>
                        <a:rPr sz="800" b="1">
                          <a:solidFill>
                            <a:srgbClr val="2E7D32"/>
                          </a:solidFill>
                          <a:latin typeface="Calibri"/>
                        </a:rPr>
                        <a:t>▲ 11.4%</a:t>
                      </a:r>
                    </a:p>
                  </a:txBody>
                  <a:tcPr marL="85725" marR="38100" marT="19050" marB="19050" anchor="ctr">
                    <a:solidFill>
                      <a:srgbClr val="FFFFFF"/>
                    </a:solidFill>
                  </a:tcPr>
                </a:tc>
                <a:tc>
                  <a:txBody>
                    <a:bodyPr wrap="none"/>
                    <a:lstStyle/>
                    <a:p>
                      <a:pPr algn="l"/>
                      <a:r>
                        <a:rPr sz="800" b="1">
                          <a:solidFill>
                            <a:srgbClr val="2E7D32"/>
                          </a:solidFill>
                          <a:latin typeface="Calibri"/>
                        </a:rPr>
                        <a:t>▲ 10.1%</a:t>
                      </a:r>
                    </a:p>
                  </a:txBody>
                  <a:tcPr marL="85725" marR="38100" marT="19050" marB="19050" anchor="ctr">
                    <a:solidFill>
                      <a:srgbClr val="FFFFFF"/>
                    </a:solidFill>
                  </a:tcPr>
                </a:tc>
                <a:tc>
                  <a:txBody>
                    <a:bodyPr wrap="none"/>
                    <a:lstStyle/>
                    <a:p>
                      <a:pPr algn="l"/>
                      <a:r>
                        <a:rPr sz="800" b="1">
                          <a:solidFill>
                            <a:srgbClr val="2E7D32"/>
                          </a:solidFill>
                          <a:latin typeface="Calibri"/>
                        </a:rPr>
                        <a:t>▲ 9.0%</a:t>
                      </a:r>
                    </a:p>
                  </a:txBody>
                  <a:tcPr marL="85725" marR="38100" marT="19050" marB="19050" anchor="ctr">
                    <a:solidFill>
                      <a:srgbClr val="FFFFFF"/>
                    </a:solidFill>
                  </a:tcPr>
                </a:tc>
                <a:tc>
                  <a:txBody>
                    <a:bodyPr wrap="none"/>
                    <a:lstStyle/>
                    <a:p>
                      <a:pPr algn="l"/>
                      <a:r>
                        <a:rPr sz="800" b="1">
                          <a:solidFill>
                            <a:srgbClr val="2E7D32"/>
                          </a:solidFill>
                          <a:latin typeface="Calibri"/>
                        </a:rPr>
                        <a:t>▲ 8.1%</a:t>
                      </a:r>
                    </a:p>
                  </a:txBody>
                  <a:tcPr marL="85725" marR="38100" marT="19050" marB="19050" anchor="ctr">
                    <a:solidFill>
                      <a:srgbClr val="FFFFFF"/>
                    </a:solidFill>
                  </a:tcPr>
                </a:tc>
                <a:tc>
                  <a:txBody>
                    <a:bodyPr wrap="none"/>
                    <a:lstStyle/>
                    <a:p>
                      <a:pPr algn="l"/>
                      <a:r>
                        <a:rPr sz="800" b="1">
                          <a:solidFill>
                            <a:srgbClr val="2E7D32"/>
                          </a:solidFill>
                          <a:latin typeface="Calibri"/>
                        </a:rPr>
                        <a:t>▲ 7.3%</a:t>
                      </a:r>
                    </a:p>
                  </a:txBody>
                  <a:tcPr marL="85725" marR="38100" marT="19050" marB="19050" anchor="ctr">
                    <a:solidFill>
                      <a:srgbClr val="FFFFFF"/>
                    </a:solidFill>
                  </a:tcPr>
                </a:tc>
                <a:tc>
                  <a:txBody>
                    <a:bodyPr wrap="none"/>
                    <a:lstStyle/>
                    <a:p>
                      <a:pPr algn="l"/>
                      <a:r>
                        <a:rPr sz="800" b="1">
                          <a:solidFill>
                            <a:srgbClr val="2E7D32"/>
                          </a:solidFill>
                          <a:latin typeface="Calibri"/>
                        </a:rPr>
                        <a:t>▲ 6.6%</a:t>
                      </a:r>
                    </a:p>
                  </a:txBody>
                  <a:tcPr marL="85725" marR="38100" marT="19050" marB="19050" anchor="ctr">
                    <a:solidFill>
                      <a:srgbClr val="FFFFFF"/>
                    </a:solidFill>
                  </a:tcPr>
                </a:tc>
                <a:tc>
                  <a:txBody>
                    <a:bodyPr wrap="none"/>
                    <a:lstStyle/>
                    <a:p>
                      <a:pPr algn="l"/>
                      <a:r>
                        <a:rPr sz="800" b="1">
                          <a:solidFill>
                            <a:srgbClr val="2E7D32"/>
                          </a:solidFill>
                          <a:latin typeface="Calibri"/>
                        </a:rPr>
                        <a:t>▲ 6.1%</a:t>
                      </a:r>
                    </a:p>
                  </a:txBody>
                  <a:tcPr marL="85725" marR="38100" marT="19050" marB="19050" anchor="ctr">
                    <a:solidFill>
                      <a:srgbClr val="FFFFFF"/>
                    </a:solidFill>
                  </a:tcPr>
                </a:tc>
                <a:tc>
                  <a:txBody>
                    <a:bodyPr wrap="none"/>
                    <a:lstStyle/>
                    <a:p>
                      <a:pPr algn="l"/>
                      <a:r>
                        <a:rPr sz="800" b="1">
                          <a:solidFill>
                            <a:srgbClr val="2E7D32"/>
                          </a:solidFill>
                          <a:latin typeface="Calibri"/>
                        </a:rPr>
                        <a:t>▲ 5.7%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Dermatology</a:t>
                      </a:r>
                    </a:p>
                  </a:txBody>
                  <a:tcPr marL="85725" marR="38100" marT="19050" marB="19050" anchor="ctr">
                    <a:solidFill>
                      <a:srgbClr val="F5F8FA"/>
                    </a:solidFill>
                  </a:tcPr>
                </a:tc>
                <a:tc>
                  <a:txBody>
                    <a:bodyPr wrap="none"/>
                    <a:lstStyle/>
                    <a:p>
                      <a:pPr algn="l"/>
                      <a:r>
                        <a:rPr sz="800" b="1">
                          <a:solidFill>
                            <a:srgbClr val="2E7D32"/>
                          </a:solidFill>
                          <a:latin typeface="Calibri"/>
                        </a:rPr>
                        <a:t>▲ 13.7%</a:t>
                      </a:r>
                    </a:p>
                  </a:txBody>
                  <a:tcPr marL="85725" marR="38100" marT="19050" marB="19050" anchor="ctr">
                    <a:solidFill>
                      <a:srgbClr val="F5F8FA"/>
                    </a:solidFill>
                  </a:tcPr>
                </a:tc>
                <a:tc>
                  <a:txBody>
                    <a:bodyPr wrap="none"/>
                    <a:lstStyle/>
                    <a:p>
                      <a:pPr algn="l"/>
                      <a:r>
                        <a:rPr sz="800" b="1">
                          <a:solidFill>
                            <a:srgbClr val="2E7D32"/>
                          </a:solidFill>
                          <a:latin typeface="Calibri"/>
                        </a:rPr>
                        <a:t>▲ 20.6%</a:t>
                      </a:r>
                    </a:p>
                  </a:txBody>
                  <a:tcPr marL="85725" marR="38100" marT="19050" marB="19050" anchor="ctr">
                    <a:solidFill>
                      <a:srgbClr val="F5F8FA"/>
                    </a:solidFill>
                  </a:tcPr>
                </a:tc>
                <a:tc>
                  <a:txBody>
                    <a:bodyPr wrap="none"/>
                    <a:lstStyle/>
                    <a:p>
                      <a:pPr algn="l"/>
                      <a:r>
                        <a:rPr sz="800" b="1">
                          <a:solidFill>
                            <a:srgbClr val="2E7D32"/>
                          </a:solidFill>
                          <a:latin typeface="Calibri"/>
                        </a:rPr>
                        <a:t>▲ 24.4%</a:t>
                      </a:r>
                    </a:p>
                  </a:txBody>
                  <a:tcPr marL="85725" marR="38100" marT="19050" marB="19050" anchor="ctr">
                    <a:solidFill>
                      <a:srgbClr val="F5F8FA"/>
                    </a:solidFill>
                  </a:tcPr>
                </a:tc>
                <a:tc>
                  <a:txBody>
                    <a:bodyPr wrap="none"/>
                    <a:lstStyle/>
                    <a:p>
                      <a:pPr algn="l"/>
                      <a:r>
                        <a:rPr sz="800" b="1">
                          <a:solidFill>
                            <a:srgbClr val="2E7D32"/>
                          </a:solidFill>
                          <a:latin typeface="Calibri"/>
                        </a:rPr>
                        <a:t>▲ 21.8%</a:t>
                      </a:r>
                    </a:p>
                  </a:txBody>
                  <a:tcPr marL="85725" marR="38100" marT="19050" marB="19050" anchor="ctr">
                    <a:solidFill>
                      <a:srgbClr val="F5F8FA"/>
                    </a:solidFill>
                  </a:tcPr>
                </a:tc>
                <a:tc>
                  <a:txBody>
                    <a:bodyPr wrap="none"/>
                    <a:lstStyle/>
                    <a:p>
                      <a:pPr algn="l"/>
                      <a:r>
                        <a:rPr sz="800" b="1">
                          <a:solidFill>
                            <a:srgbClr val="2E7D32"/>
                          </a:solidFill>
                          <a:latin typeface="Calibri"/>
                        </a:rPr>
                        <a:t>▲ 18.1%</a:t>
                      </a:r>
                    </a:p>
                  </a:txBody>
                  <a:tcPr marL="85725" marR="38100" marT="19050" marB="19050" anchor="ctr">
                    <a:solidFill>
                      <a:srgbClr val="F5F8FA"/>
                    </a:solidFill>
                  </a:tcPr>
                </a:tc>
                <a:tc>
                  <a:txBody>
                    <a:bodyPr wrap="none"/>
                    <a:lstStyle/>
                    <a:p>
                      <a:pPr algn="l"/>
                      <a:r>
                        <a:rPr sz="800" b="1">
                          <a:solidFill>
                            <a:srgbClr val="2E7D32"/>
                          </a:solidFill>
                          <a:latin typeface="Calibri"/>
                        </a:rPr>
                        <a:t>▲ 15.9%</a:t>
                      </a:r>
                    </a:p>
                  </a:txBody>
                  <a:tcPr marL="85725" marR="38100" marT="19050" marB="19050" anchor="ctr">
                    <a:solidFill>
                      <a:srgbClr val="F5F8FA"/>
                    </a:solidFill>
                  </a:tcPr>
                </a:tc>
                <a:tc>
                  <a:txBody>
                    <a:bodyPr wrap="none"/>
                    <a:lstStyle/>
                    <a:p>
                      <a:pPr algn="l"/>
                      <a:r>
                        <a:rPr sz="800" b="1">
                          <a:solidFill>
                            <a:srgbClr val="2E7D32"/>
                          </a:solidFill>
                          <a:latin typeface="Calibri"/>
                        </a:rPr>
                        <a:t>▲ 13.6%</a:t>
                      </a:r>
                    </a:p>
                  </a:txBody>
                  <a:tcPr marL="85725" marR="38100" marT="19050" marB="19050" anchor="ctr">
                    <a:solidFill>
                      <a:srgbClr val="F5F8FA"/>
                    </a:solidFill>
                  </a:tcPr>
                </a:tc>
                <a:tc>
                  <a:txBody>
                    <a:bodyPr wrap="none"/>
                    <a:lstStyle/>
                    <a:p>
                      <a:pPr algn="l"/>
                      <a:r>
                        <a:rPr sz="800" b="1">
                          <a:solidFill>
                            <a:srgbClr val="2E7D32"/>
                          </a:solidFill>
                          <a:latin typeface="Calibri"/>
                        </a:rPr>
                        <a:t>▲ 11.9%</a:t>
                      </a:r>
                    </a:p>
                  </a:txBody>
                  <a:tcPr marL="85725" marR="38100" marT="19050" marB="19050" anchor="ctr">
                    <a:solidFill>
                      <a:srgbClr val="F5F8FA"/>
                    </a:solidFill>
                  </a:tcPr>
                </a:tc>
                <a:tc>
                  <a:txBody>
                    <a:bodyPr wrap="none"/>
                    <a:lstStyle/>
                    <a:p>
                      <a:pPr algn="l"/>
                      <a:r>
                        <a:rPr sz="800" b="1">
                          <a:solidFill>
                            <a:srgbClr val="2E7D32"/>
                          </a:solidFill>
                          <a:latin typeface="Calibri"/>
                        </a:rPr>
                        <a:t>▲ 10.6%</a:t>
                      </a:r>
                    </a:p>
                  </a:txBody>
                  <a:tcPr marL="85725" marR="38100" marT="19050" marB="19050" anchor="ctr">
                    <a:solidFill>
                      <a:srgbClr val="F5F8FA"/>
                    </a:solidFill>
                  </a:tcPr>
                </a:tc>
                <a:tc>
                  <a:txBody>
                    <a:bodyPr wrap="none"/>
                    <a:lstStyle/>
                    <a:p>
                      <a:pPr algn="l"/>
                      <a:r>
                        <a:rPr sz="800" b="1">
                          <a:solidFill>
                            <a:srgbClr val="2E7D32"/>
                          </a:solidFill>
                          <a:latin typeface="Calibri"/>
                        </a:rPr>
                        <a:t>▲ 9.4%</a:t>
                      </a:r>
                    </a:p>
                  </a:txBody>
                  <a:tcPr marL="85725" marR="38100" marT="19050" marB="19050" anchor="ctr">
                    <a:solidFill>
                      <a:srgbClr val="F5F8FA"/>
                    </a:solidFill>
                  </a:tcPr>
                </a:tc>
                <a:tc>
                  <a:txBody>
                    <a:bodyPr wrap="none"/>
                    <a:lstStyle/>
                    <a:p>
                      <a:pPr algn="l"/>
                      <a:r>
                        <a:rPr sz="800" b="1">
                          <a:solidFill>
                            <a:srgbClr val="2E7D32"/>
                          </a:solidFill>
                          <a:latin typeface="Calibri"/>
                        </a:rPr>
                        <a:t>▲ 8.5%</a:t>
                      </a:r>
                    </a:p>
                  </a:txBody>
                  <a:tcPr marL="85725" marR="38100" marT="19050" marB="19050" anchor="ctr">
                    <a:solidFill>
                      <a:srgbClr val="F5F8FA"/>
                    </a:solidFill>
                  </a:tcPr>
                </a:tc>
                <a:tc>
                  <a:txBody>
                    <a:bodyPr wrap="none"/>
                    <a:lstStyle/>
                    <a:p>
                      <a:pPr algn="l"/>
                      <a:r>
                        <a:rPr sz="800" b="1">
                          <a:solidFill>
                            <a:srgbClr val="2E7D32"/>
                          </a:solidFill>
                          <a:latin typeface="Calibri"/>
                        </a:rPr>
                        <a:t>▲ 7.6%</a:t>
                      </a:r>
                    </a:p>
                  </a:txBody>
                  <a:tcPr marL="85725" marR="38100" marT="19050" marB="19050" anchor="ctr">
                    <a:solidFill>
                      <a:srgbClr val="F5F8FA"/>
                    </a:solidFill>
                  </a:tcPr>
                </a:tc>
                <a:tc>
                  <a:txBody>
                    <a:bodyPr wrap="none"/>
                    <a:lstStyle/>
                    <a:p>
                      <a:pPr algn="l"/>
                      <a:r>
                        <a:rPr sz="800" b="1">
                          <a:solidFill>
                            <a:srgbClr val="2E7D32"/>
                          </a:solidFill>
                          <a:latin typeface="Calibri"/>
                        </a:rPr>
                        <a:t>▲ 7.0%</a:t>
                      </a:r>
                    </a:p>
                  </a:txBody>
                  <a:tcPr marL="85725" marR="38100" marT="19050" marB="19050" anchor="ctr">
                    <a:solidFill>
                      <a:srgbClr val="F5F8FA"/>
                    </a:solidFill>
                  </a:tcPr>
                </a:tc>
                <a:tc>
                  <a:txBody>
                    <a:bodyPr wrap="none"/>
                    <a:lstStyle/>
                    <a:p>
                      <a:pPr algn="l"/>
                      <a:r>
                        <a:rPr sz="800" b="1">
                          <a:solidFill>
                            <a:srgbClr val="2E7D32"/>
                          </a:solidFill>
                          <a:latin typeface="Calibri"/>
                        </a:rPr>
                        <a:t>▲ 6.5%</a:t>
                      </a:r>
                    </a:p>
                  </a:txBody>
                  <a:tcPr marL="85725" marR="38100" marT="19050" marB="19050" anchor="ctr">
                    <a:solidFill>
                      <a:srgbClr val="F5F8FA"/>
                    </a:solidFill>
                  </a:tcPr>
                </a:tc>
                <a:tc>
                  <a:txBody>
                    <a:bodyPr wrap="none"/>
                    <a:lstStyle/>
                    <a:p>
                      <a:pPr algn="l"/>
                      <a:r>
                        <a:rPr sz="800" b="1">
                          <a:solidFill>
                            <a:srgbClr val="2E7D32"/>
                          </a:solidFill>
                          <a:latin typeface="Calibri"/>
                        </a:rPr>
                        <a:t>▲ 6.0%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Gastroenterology</a:t>
                      </a:r>
                    </a:p>
                  </a:txBody>
                  <a:tcPr marL="85725" marR="38100" marT="19050" marB="19050" anchor="ctr">
                    <a:solidFill>
                      <a:srgbClr val="FFFFFF"/>
                    </a:solidFill>
                  </a:tcPr>
                </a:tc>
                <a:tc>
                  <a:txBody>
                    <a:bodyPr wrap="none"/>
                    <a:lstStyle/>
                    <a:p>
                      <a:pPr algn="l"/>
                      <a:r>
                        <a:rPr sz="800" b="1">
                          <a:solidFill>
                            <a:srgbClr val="A86F00"/>
                          </a:solidFill>
                          <a:latin typeface="Calibri"/>
                        </a:rPr>
                        <a:t>▶ 12.4%</a:t>
                      </a:r>
                    </a:p>
                  </a:txBody>
                  <a:tcPr marL="85725" marR="38100" marT="19050" marB="19050" anchor="ctr">
                    <a:solidFill>
                      <a:srgbClr val="FFFFFF"/>
                    </a:solidFill>
                  </a:tcPr>
                </a:tc>
                <a:tc>
                  <a:txBody>
                    <a:bodyPr wrap="none"/>
                    <a:lstStyle/>
                    <a:p>
                      <a:pPr algn="l"/>
                      <a:r>
                        <a:rPr sz="800" b="1">
                          <a:solidFill>
                            <a:srgbClr val="A86F00"/>
                          </a:solidFill>
                          <a:latin typeface="Calibri"/>
                        </a:rPr>
                        <a:t>▶ 19.2%</a:t>
                      </a:r>
                    </a:p>
                  </a:txBody>
                  <a:tcPr marL="85725" marR="38100" marT="19050" marB="19050" anchor="ctr">
                    <a:solidFill>
                      <a:srgbClr val="FFFFFF"/>
                    </a:solidFill>
                  </a:tcPr>
                </a:tc>
                <a:tc>
                  <a:txBody>
                    <a:bodyPr wrap="none"/>
                    <a:lstStyle/>
                    <a:p>
                      <a:pPr algn="l"/>
                      <a:r>
                        <a:rPr sz="800" b="1">
                          <a:solidFill>
                            <a:srgbClr val="A86F00"/>
                          </a:solidFill>
                          <a:latin typeface="Calibri"/>
                        </a:rPr>
                        <a:t>▶ 23.0%</a:t>
                      </a:r>
                    </a:p>
                  </a:txBody>
                  <a:tcPr marL="85725" marR="38100" marT="19050" marB="19050" anchor="ctr">
                    <a:solidFill>
                      <a:srgbClr val="FFFFFF"/>
                    </a:solidFill>
                  </a:tcPr>
                </a:tc>
                <a:tc>
                  <a:txBody>
                    <a:bodyPr wrap="none"/>
                    <a:lstStyle/>
                    <a:p>
                      <a:pPr algn="l"/>
                      <a:r>
                        <a:rPr sz="800" b="1">
                          <a:solidFill>
                            <a:srgbClr val="A86F00"/>
                          </a:solidFill>
                          <a:latin typeface="Calibri"/>
                        </a:rPr>
                        <a:t>▶ 20.4%</a:t>
                      </a:r>
                    </a:p>
                  </a:txBody>
                  <a:tcPr marL="85725" marR="38100" marT="19050" marB="19050" anchor="ctr">
                    <a:solidFill>
                      <a:srgbClr val="FFFFFF"/>
                    </a:solidFill>
                  </a:tcPr>
                </a:tc>
                <a:tc>
                  <a:txBody>
                    <a:bodyPr wrap="none"/>
                    <a:lstStyle/>
                    <a:p>
                      <a:pPr algn="l"/>
                      <a:r>
                        <a:rPr sz="800" b="1">
                          <a:solidFill>
                            <a:srgbClr val="A86F00"/>
                          </a:solidFill>
                          <a:latin typeface="Calibri"/>
                        </a:rPr>
                        <a:t>▶ 16.7%</a:t>
                      </a:r>
                    </a:p>
                  </a:txBody>
                  <a:tcPr marL="85725" marR="38100" marT="19050" marB="19050" anchor="ctr">
                    <a:solidFill>
                      <a:srgbClr val="FFFFFF"/>
                    </a:solidFill>
                  </a:tcPr>
                </a:tc>
                <a:tc>
                  <a:txBody>
                    <a:bodyPr wrap="none"/>
                    <a:lstStyle/>
                    <a:p>
                      <a:pPr algn="l"/>
                      <a:r>
                        <a:rPr sz="800" b="1">
                          <a:solidFill>
                            <a:srgbClr val="A86F00"/>
                          </a:solidFill>
                          <a:latin typeface="Calibri"/>
                        </a:rPr>
                        <a:t>▶ 14.6%</a:t>
                      </a:r>
                    </a:p>
                  </a:txBody>
                  <a:tcPr marL="85725" marR="38100" marT="19050" marB="19050" anchor="ctr">
                    <a:solidFill>
                      <a:srgbClr val="FFFFFF"/>
                    </a:solidFill>
                  </a:tcPr>
                </a:tc>
                <a:tc>
                  <a:txBody>
                    <a:bodyPr wrap="none"/>
                    <a:lstStyle/>
                    <a:p>
                      <a:pPr algn="l"/>
                      <a:r>
                        <a:rPr sz="800" b="1">
                          <a:solidFill>
                            <a:srgbClr val="A86F00"/>
                          </a:solidFill>
                          <a:latin typeface="Calibri"/>
                        </a:rPr>
                        <a:t>▶ 12.2%</a:t>
                      </a:r>
                    </a:p>
                  </a:txBody>
                  <a:tcPr marL="85725" marR="38100" marT="19050" marB="19050" anchor="ctr">
                    <a:solidFill>
                      <a:srgbClr val="FFFFFF"/>
                    </a:solidFill>
                  </a:tcPr>
                </a:tc>
                <a:tc>
                  <a:txBody>
                    <a:bodyPr wrap="none"/>
                    <a:lstStyle/>
                    <a:p>
                      <a:pPr algn="l"/>
                      <a:r>
                        <a:rPr sz="800" b="1">
                          <a:solidFill>
                            <a:srgbClr val="A86F00"/>
                          </a:solidFill>
                          <a:latin typeface="Calibri"/>
                        </a:rPr>
                        <a:t>▶ 10.6%</a:t>
                      </a:r>
                    </a:p>
                  </a:txBody>
                  <a:tcPr marL="85725" marR="38100" marT="19050" marB="19050" anchor="ctr">
                    <a:solidFill>
                      <a:srgbClr val="FFFFFF"/>
                    </a:solidFill>
                  </a:tcPr>
                </a:tc>
                <a:tc>
                  <a:txBody>
                    <a:bodyPr wrap="none"/>
                    <a:lstStyle/>
                    <a:p>
                      <a:pPr algn="l"/>
                      <a:r>
                        <a:rPr sz="800" b="1">
                          <a:solidFill>
                            <a:srgbClr val="A86F00"/>
                          </a:solidFill>
                          <a:latin typeface="Calibri"/>
                        </a:rPr>
                        <a:t>▶ 9.2%</a:t>
                      </a:r>
                    </a:p>
                  </a:txBody>
                  <a:tcPr marL="85725" marR="38100" marT="19050" marB="19050" anchor="ctr">
                    <a:solidFill>
                      <a:srgbClr val="FFFFFF"/>
                    </a:solidFill>
                  </a:tcPr>
                </a:tc>
                <a:tc>
                  <a:txBody>
                    <a:bodyPr wrap="none"/>
                    <a:lstStyle/>
                    <a:p>
                      <a:pPr algn="l"/>
                      <a:r>
                        <a:rPr sz="800" b="1">
                          <a:solidFill>
                            <a:srgbClr val="A86F00"/>
                          </a:solidFill>
                          <a:latin typeface="Calibri"/>
                        </a:rPr>
                        <a:t>▶ 8.1%</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5.7%</a:t>
                      </a:r>
                    </a:p>
                  </a:txBody>
                  <a:tcPr marL="85725" marR="38100" marT="19050" marB="19050" anchor="ctr">
                    <a:solidFill>
                      <a:srgbClr val="FFFFFF"/>
                    </a:solidFill>
                  </a:tcPr>
                </a:tc>
                <a:tc>
                  <a:txBody>
                    <a:bodyPr wrap="none"/>
                    <a:lstStyle/>
                    <a:p>
                      <a:pPr algn="l"/>
                      <a:r>
                        <a:rPr sz="800" b="1">
                          <a:solidFill>
                            <a:srgbClr val="A86F00"/>
                          </a:solidFill>
                          <a:latin typeface="Calibri"/>
                        </a:rPr>
                        <a:t>▶ 5.2%</a:t>
                      </a:r>
                    </a:p>
                  </a:txBody>
                  <a:tcPr marL="85725" marR="38100" marT="19050" marB="19050" anchor="ctr">
                    <a:solidFill>
                      <a:srgbClr val="FFFFFF"/>
                    </a:solidFill>
                  </a:tcPr>
                </a:tc>
                <a:tc>
                  <a:txBody>
                    <a:bodyPr wrap="none"/>
                    <a:lstStyle/>
                    <a:p>
                      <a:pPr algn="l"/>
                      <a:r>
                        <a:rPr sz="800" b="1">
                          <a:solidFill>
                            <a:srgbClr val="A86F00"/>
                          </a:solidFill>
                          <a:latin typeface="Calibri"/>
                        </a:rPr>
                        <a:t>▶ 4.7%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Ophthalmology</a:t>
                      </a:r>
                    </a:p>
                  </a:txBody>
                  <a:tcPr marL="85725" marR="38100" marT="19050" marB="19050" anchor="ctr">
                    <a:solidFill>
                      <a:srgbClr val="F5F8FA"/>
                    </a:solidFill>
                  </a:tcPr>
                </a:tc>
                <a:tc>
                  <a:txBody>
                    <a:bodyPr wrap="none"/>
                    <a:lstStyle/>
                    <a:p>
                      <a:pPr algn="l"/>
                      <a:r>
                        <a:rPr sz="800" b="1">
                          <a:solidFill>
                            <a:srgbClr val="A86F00"/>
                          </a:solidFill>
                          <a:latin typeface="Calibri"/>
                        </a:rPr>
                        <a:t>▶ 10.6%</a:t>
                      </a:r>
                    </a:p>
                  </a:txBody>
                  <a:tcPr marL="85725" marR="38100" marT="19050" marB="19050" anchor="ctr">
                    <a:solidFill>
                      <a:srgbClr val="F5F8FA"/>
                    </a:solidFill>
                  </a:tcPr>
                </a:tc>
                <a:tc>
                  <a:txBody>
                    <a:bodyPr wrap="none"/>
                    <a:lstStyle/>
                    <a:p>
                      <a:pPr algn="l"/>
                      <a:r>
                        <a:rPr sz="800" b="1">
                          <a:solidFill>
                            <a:srgbClr val="A86F00"/>
                          </a:solidFill>
                          <a:latin typeface="Calibri"/>
                        </a:rPr>
                        <a:t>▶ 17.3%</a:t>
                      </a:r>
                    </a:p>
                  </a:txBody>
                  <a:tcPr marL="85725" marR="38100" marT="19050" marB="19050" anchor="ctr">
                    <a:solidFill>
                      <a:srgbClr val="F5F8FA"/>
                    </a:solidFill>
                  </a:tcPr>
                </a:tc>
                <a:tc>
                  <a:txBody>
                    <a:bodyPr wrap="none"/>
                    <a:lstStyle/>
                    <a:p>
                      <a:pPr algn="l"/>
                      <a:r>
                        <a:rPr sz="800" b="1">
                          <a:solidFill>
                            <a:srgbClr val="A86F00"/>
                          </a:solidFill>
                          <a:latin typeface="Calibri"/>
                        </a:rPr>
                        <a:t>▶ 21.1%</a:t>
                      </a:r>
                    </a:p>
                  </a:txBody>
                  <a:tcPr marL="85725" marR="38100" marT="19050" marB="19050" anchor="ctr">
                    <a:solidFill>
                      <a:srgbClr val="F5F8FA"/>
                    </a:solidFill>
                  </a:tcPr>
                </a:tc>
                <a:tc>
                  <a:txBody>
                    <a:bodyPr wrap="none"/>
                    <a:lstStyle/>
                    <a:p>
                      <a:pPr algn="l"/>
                      <a:r>
                        <a:rPr sz="800" b="1">
                          <a:solidFill>
                            <a:srgbClr val="A86F00"/>
                          </a:solidFill>
                          <a:latin typeface="Calibri"/>
                        </a:rPr>
                        <a:t>▶ 18.5%</a:t>
                      </a:r>
                    </a:p>
                  </a:txBody>
                  <a:tcPr marL="85725" marR="38100" marT="19050" marB="19050" anchor="ctr">
                    <a:solidFill>
                      <a:srgbClr val="F5F8FA"/>
                    </a:solidFill>
                  </a:tcPr>
                </a:tc>
                <a:tc>
                  <a:txBody>
                    <a:bodyPr wrap="none"/>
                    <a:lstStyle/>
                    <a:p>
                      <a:pPr algn="l"/>
                      <a:r>
                        <a:rPr sz="800" b="1">
                          <a:solidFill>
                            <a:srgbClr val="A86F00"/>
                          </a:solidFill>
                          <a:latin typeface="Calibri"/>
                        </a:rPr>
                        <a:t>▶ 14.9%</a:t>
                      </a:r>
                    </a:p>
                  </a:txBody>
                  <a:tcPr marL="85725" marR="38100" marT="19050" marB="19050" anchor="ctr">
                    <a:solidFill>
                      <a:srgbClr val="F5F8FA"/>
                    </a:solidFill>
                  </a:tcPr>
                </a:tc>
                <a:tc>
                  <a:txBody>
                    <a:bodyPr wrap="none"/>
                    <a:lstStyle/>
                    <a:p>
                      <a:pPr algn="l"/>
                      <a:r>
                        <a:rPr sz="800" b="1">
                          <a:solidFill>
                            <a:srgbClr val="A86F00"/>
                          </a:solidFill>
                          <a:latin typeface="Calibri"/>
                        </a:rPr>
                        <a:t>▶ 12.7%</a:t>
                      </a:r>
                    </a:p>
                  </a:txBody>
                  <a:tcPr marL="85725" marR="38100" marT="19050" marB="19050" anchor="ctr">
                    <a:solidFill>
                      <a:srgbClr val="F5F8FA"/>
                    </a:solidFill>
                  </a:tcPr>
                </a:tc>
                <a:tc>
                  <a:txBody>
                    <a:bodyPr wrap="none"/>
                    <a:lstStyle/>
                    <a:p>
                      <a:pPr algn="l"/>
                      <a:r>
                        <a:rPr sz="800" b="1">
                          <a:solidFill>
                            <a:srgbClr val="A86F00"/>
                          </a:solidFill>
                          <a:latin typeface="Calibri"/>
                        </a:rPr>
                        <a:t>▶ 10.4%</a:t>
                      </a:r>
                    </a:p>
                  </a:txBody>
                  <a:tcPr marL="85725" marR="38100" marT="19050" marB="19050" anchor="ctr">
                    <a:solidFill>
                      <a:srgbClr val="F5F8FA"/>
                    </a:solidFill>
                  </a:tcPr>
                </a:tc>
                <a:tc>
                  <a:txBody>
                    <a:bodyPr wrap="none"/>
                    <a:lstStyle/>
                    <a:p>
                      <a:pPr algn="l"/>
                      <a:r>
                        <a:rPr sz="800" b="1">
                          <a:solidFill>
                            <a:srgbClr val="A86F00"/>
                          </a:solidFill>
                          <a:latin typeface="Calibri"/>
                        </a:rPr>
                        <a:t>▶ 8.8%</a:t>
                      </a:r>
                    </a:p>
                  </a:txBody>
                  <a:tcPr marL="85725" marR="38100" marT="19050" marB="19050" anchor="ctr">
                    <a:solidFill>
                      <a:srgbClr val="F5F8FA"/>
                    </a:solidFill>
                  </a:tcPr>
                </a:tc>
                <a:tc>
                  <a:txBody>
                    <a:bodyPr wrap="none"/>
                    <a:lstStyle/>
                    <a:p>
                      <a:pPr algn="l"/>
                      <a:r>
                        <a:rPr sz="800" b="1">
                          <a:solidFill>
                            <a:srgbClr val="A86F00"/>
                          </a:solidFill>
                          <a:latin typeface="Calibri"/>
                        </a:rPr>
                        <a:t>▶ 7.5%</a:t>
                      </a:r>
                    </a:p>
                  </a:txBody>
                  <a:tcPr marL="85725" marR="38100" marT="19050" marB="19050" anchor="ctr">
                    <a:solidFill>
                      <a:srgbClr val="F5F8FA"/>
                    </a:solidFill>
                  </a:tcPr>
                </a:tc>
                <a:tc>
                  <a:txBody>
                    <a:bodyPr wrap="none"/>
                    <a:lstStyle/>
                    <a:p>
                      <a:pPr algn="l"/>
                      <a:r>
                        <a:rPr sz="800" b="1">
                          <a:solidFill>
                            <a:srgbClr val="A86F00"/>
                          </a:solidFill>
                          <a:latin typeface="Calibri"/>
                        </a:rPr>
                        <a:t>▶ 6.4%</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c>
                  <a:txBody>
                    <a:bodyPr wrap="none"/>
                    <a:lstStyle/>
                    <a:p>
                      <a:pPr algn="l"/>
                      <a:r>
                        <a:rPr sz="800" b="1">
                          <a:solidFill>
                            <a:srgbClr val="A86F00"/>
                          </a:solidFill>
                          <a:latin typeface="Calibri"/>
                        </a:rPr>
                        <a:t>▶ 4.0%</a:t>
                      </a:r>
                    </a:p>
                  </a:txBody>
                  <a:tcPr marL="85725" marR="38100" marT="19050" marB="19050" anchor="ctr">
                    <a:solidFill>
                      <a:srgbClr val="F5F8FA"/>
                    </a:solidFill>
                  </a:tcPr>
                </a:tc>
                <a:tc>
                  <a:txBody>
                    <a:bodyPr wrap="none"/>
                    <a:lstStyle/>
                    <a:p>
                      <a:pPr algn="l"/>
                      <a:r>
                        <a:rPr sz="800" b="1">
                          <a:solidFill>
                            <a:srgbClr val="A86F00"/>
                          </a:solidFill>
                          <a:latin typeface="Calibri"/>
                        </a:rPr>
                        <a:t>▶ 3.5%</a:t>
                      </a:r>
                    </a:p>
                  </a:txBody>
                  <a:tcPr marL="85725" marR="38100" marT="19050" marB="19050" anchor="ctr">
                    <a:solidFill>
                      <a:srgbClr val="F5F8FA"/>
                    </a:solidFill>
                  </a:tcPr>
                </a:tc>
                <a:tc>
                  <a:txBody>
                    <a:bodyPr wrap="none"/>
                    <a:lstStyle/>
                    <a:p>
                      <a:pPr algn="l"/>
                      <a:r>
                        <a:rPr sz="800" b="1">
                          <a:solidFill>
                            <a:srgbClr val="A86F00"/>
                          </a:solidFill>
                          <a:latin typeface="Calibri"/>
                        </a:rPr>
                        <a:t>▶ 3.1%</a:t>
                      </a:r>
                    </a:p>
                  </a:txBody>
                  <a:tcPr marL="85725" marR="38100" marT="19050" marB="19050" anchor="ctr">
                    <a:solidFill>
                      <a:srgbClr val="F5F8FA"/>
                    </a:solidFill>
                  </a:tcPr>
                </a:tc>
              </a:tr>
            </a:tbl>
          </a:graphicData>
        </a:graphic>
      </p:graphicFrame>
      <p:sp>
        <p:nvSpPr>
          <p:cNvPr id="18" name="TextBox 17"/>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 Country</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Buyer Type</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Segmental</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Table (Volume &amp; Value)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YoY</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19</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Segmental Analysis Buyer Type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Buyer Type (US$ Mn)</a:t>
            </a:r>
          </a:p>
        </p:txBody>
      </p:sp>
      <p:graphicFrame>
        <p:nvGraphicFramePr>
          <p:cNvPr id="13" name="Chart 12"/>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Buyer Type</a:t>
            </a:r>
          </a:p>
        </p:txBody>
      </p:sp>
      <p:graphicFrame>
        <p:nvGraphicFramePr>
          <p:cNvPr id="16" name="Table 15"/>
          <p:cNvGraphicFramePr>
            <a:graphicFrameLocks noGrp="1"/>
          </p:cNvGraphicFramePr>
          <p:nvPr/>
        </p:nvGraphicFramePr>
        <p:xfrm>
          <a:off x="6267450" y="1143000"/>
          <a:ext cx="5686424" cy="9048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Buyer Type</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Hospitals</a:t>
                      </a:r>
                    </a:p>
                  </a:txBody>
                  <a:tcPr marL="85725" marR="38100" marT="19050" marB="19050" anchor="ctr">
                    <a:solidFill>
                      <a:srgbClr val="FFFFFF"/>
                    </a:solidFill>
                  </a:tcPr>
                </a:tc>
                <a:tc>
                  <a:txBody>
                    <a:bodyPr wrap="none"/>
                    <a:lstStyle/>
                    <a:p>
                      <a:pPr algn="l"/>
                      <a:r>
                        <a:rPr sz="900" b="0">
                          <a:solidFill>
                            <a:srgbClr val="2E2E2E"/>
                          </a:solidFill>
                          <a:latin typeface="Calibri"/>
                        </a:rPr>
                        <a:t>23.3%</a:t>
                      </a:r>
                    </a:p>
                  </a:txBody>
                  <a:tcPr marL="85725" marR="38100" marT="19050" marB="19050" anchor="ctr">
                    <a:solidFill>
                      <a:srgbClr val="FFFFFF"/>
                    </a:solidFill>
                  </a:tcPr>
                </a:tc>
                <a:tc>
                  <a:txBody>
                    <a:bodyPr wrap="none"/>
                    <a:lstStyle/>
                    <a:p>
                      <a:pPr algn="l"/>
                      <a:r>
                        <a:rPr sz="900" b="0">
                          <a:solidFill>
                            <a:srgbClr val="2E2E2E"/>
                          </a:solidFill>
                          <a:latin typeface="Calibri"/>
                        </a:rPr>
                        <a:t>25.7%</a:t>
                      </a:r>
                    </a:p>
                  </a:txBody>
                  <a:tcPr marL="85725" marR="38100" marT="19050" marB="19050" anchor="ctr">
                    <a:solidFill>
                      <a:srgbClr val="FFFFFF"/>
                    </a:solidFill>
                  </a:tcPr>
                </a:tc>
                <a:tc>
                  <a:txBody>
                    <a:bodyPr wrap="none"/>
                    <a:lstStyle/>
                    <a:p>
                      <a:pPr algn="l"/>
                      <a:r>
                        <a:rPr sz="900" b="1">
                          <a:solidFill>
                            <a:srgbClr val="008189"/>
                          </a:solidFill>
                          <a:latin typeface="Calibri"/>
                        </a:rPr>
                        <a:t>+244</a:t>
                      </a:r>
                    </a:p>
                  </a:txBody>
                  <a:tcPr marL="85725" marR="38100" marT="19050" marB="19050" anchor="ctr">
                    <a:solidFill>
                      <a:srgbClr val="FFFFFF"/>
                    </a:solidFill>
                  </a:tcPr>
                </a:tc>
                <a:tc>
                  <a:txBody>
                    <a:bodyPr wrap="none"/>
                    <a:lstStyle/>
                    <a:p>
                      <a:pPr algn="l"/>
                      <a:r>
                        <a:rPr sz="900" b="0">
                          <a:solidFill>
                            <a:srgbClr val="2E2E2E"/>
                          </a:solidFill>
                          <a:latin typeface="Calibri"/>
                        </a:rPr>
                        <a:t>10.1%</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Specialty Clinics</a:t>
                      </a:r>
                    </a:p>
                  </a:txBody>
                  <a:tcPr marL="85725" marR="38100" marT="19050" marB="19050" anchor="ctr">
                    <a:solidFill>
                      <a:srgbClr val="F5F8FA"/>
                    </a:solidFill>
                  </a:tcPr>
                </a:tc>
                <a:tc>
                  <a:txBody>
                    <a:bodyPr wrap="none"/>
                    <a:lstStyle/>
                    <a:p>
                      <a:pPr algn="l"/>
                      <a:r>
                        <a:rPr sz="900" b="0">
                          <a:solidFill>
                            <a:srgbClr val="2E2E2E"/>
                          </a:solidFill>
                          <a:latin typeface="Calibri"/>
                        </a:rPr>
                        <a:t>34.8%</a:t>
                      </a:r>
                    </a:p>
                  </a:txBody>
                  <a:tcPr marL="85725" marR="38100" marT="19050" marB="19050" anchor="ctr">
                    <a:solidFill>
                      <a:srgbClr val="F5F8FA"/>
                    </a:solidFill>
                  </a:tcPr>
                </a:tc>
                <a:tc>
                  <a:txBody>
                    <a:bodyPr wrap="none"/>
                    <a:lstStyle/>
                    <a:p>
                      <a:pPr algn="l"/>
                      <a:r>
                        <a:rPr sz="900" b="0">
                          <a:solidFill>
                            <a:srgbClr val="2E2E2E"/>
                          </a:solidFill>
                          <a:latin typeface="Calibri"/>
                        </a:rPr>
                        <a:t>32.6%</a:t>
                      </a:r>
                    </a:p>
                  </a:txBody>
                  <a:tcPr marL="85725" marR="38100" marT="19050" marB="19050" anchor="ctr">
                    <a:solidFill>
                      <a:srgbClr val="F5F8FA"/>
                    </a:solidFill>
                  </a:tcPr>
                </a:tc>
                <a:tc>
                  <a:txBody>
                    <a:bodyPr wrap="none"/>
                    <a:lstStyle/>
                    <a:p>
                      <a:pPr algn="l"/>
                      <a:r>
                        <a:rPr sz="900" b="1">
                          <a:solidFill>
                            <a:srgbClr val="E44D3A"/>
                          </a:solidFill>
                          <a:latin typeface="Calibri"/>
                        </a:rPr>
                        <a:t>-225</a:t>
                      </a:r>
                    </a:p>
                  </a:txBody>
                  <a:tcPr marL="85725" marR="38100" marT="19050" marB="19050" anchor="ctr">
                    <a:solidFill>
                      <a:srgbClr val="F5F8FA"/>
                    </a:solidFill>
                  </a:tcPr>
                </a:tc>
                <a:tc>
                  <a:txBody>
                    <a:bodyPr wrap="none"/>
                    <a:lstStyle/>
                    <a:p>
                      <a:pPr algn="l"/>
                      <a:r>
                        <a:rPr sz="900" b="0">
                          <a:solidFill>
                            <a:srgbClr val="2E2E2E"/>
                          </a:solidFill>
                          <a:latin typeface="Calibri"/>
                        </a:rPr>
                        <a:t>8.3%</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Retail / Specialty Pharmacies</a:t>
                      </a:r>
                    </a:p>
                  </a:txBody>
                  <a:tcPr marL="85725" marR="38100" marT="19050" marB="19050" anchor="ctr">
                    <a:solidFill>
                      <a:srgbClr val="FFFFFF"/>
                    </a:solidFill>
                  </a:tcPr>
                </a:tc>
                <a:tc>
                  <a:txBody>
                    <a:bodyPr wrap="none"/>
                    <a:lstStyle/>
                    <a:p>
                      <a:pPr algn="l"/>
                      <a:r>
                        <a:rPr sz="900" b="0">
                          <a:solidFill>
                            <a:srgbClr val="2E2E2E"/>
                          </a:solidFill>
                          <a:latin typeface="Calibri"/>
                        </a:rPr>
                        <a:t>16.9%</a:t>
                      </a:r>
                    </a:p>
                  </a:txBody>
                  <a:tcPr marL="85725" marR="38100" marT="19050" marB="19050" anchor="ctr">
                    <a:solidFill>
                      <a:srgbClr val="FFFFFF"/>
                    </a:solidFill>
                  </a:tcPr>
                </a:tc>
                <a:tc>
                  <a:txBody>
                    <a:bodyPr wrap="none"/>
                    <a:lstStyle/>
                    <a:p>
                      <a:pPr algn="l"/>
                      <a:r>
                        <a:rPr sz="900" b="0">
                          <a:solidFill>
                            <a:srgbClr val="2E2E2E"/>
                          </a:solidFill>
                          <a:latin typeface="Calibri"/>
                        </a:rPr>
                        <a:t>18.0%</a:t>
                      </a:r>
                    </a:p>
                  </a:txBody>
                  <a:tcPr marL="85725" marR="38100" marT="19050" marB="19050" anchor="ctr">
                    <a:solidFill>
                      <a:srgbClr val="FFFFFF"/>
                    </a:solidFill>
                  </a:tcPr>
                </a:tc>
                <a:tc>
                  <a:txBody>
                    <a:bodyPr wrap="none"/>
                    <a:lstStyle/>
                    <a:p>
                      <a:pPr algn="l"/>
                      <a:r>
                        <a:rPr sz="900" b="1">
                          <a:solidFill>
                            <a:srgbClr val="008189"/>
                          </a:solidFill>
                          <a:latin typeface="Calibri"/>
                        </a:rPr>
                        <a:t>+112</a:t>
                      </a:r>
                    </a:p>
                  </a:txBody>
                  <a:tcPr marL="85725" marR="38100" marT="19050" marB="19050" anchor="ctr">
                    <a:solidFill>
                      <a:srgbClr val="FFFFFF"/>
                    </a:solidFill>
                  </a:tcPr>
                </a:tc>
                <a:tc>
                  <a:txBody>
                    <a:bodyPr wrap="none"/>
                    <a:lstStyle/>
                    <a:p>
                      <a:pPr algn="l"/>
                      <a:r>
                        <a:rPr sz="900" b="0">
                          <a:solidFill>
                            <a:srgbClr val="2E2E2E"/>
                          </a:solidFill>
                          <a:latin typeface="Calibri"/>
                        </a:rPr>
                        <a:t>9.7%</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Institutional Buyers</a:t>
                      </a:r>
                    </a:p>
                  </a:txBody>
                  <a:tcPr marL="85725" marR="38100" marT="19050" marB="19050" anchor="ctr">
                    <a:solidFill>
                      <a:srgbClr val="F5F8FA"/>
                    </a:solidFill>
                  </a:tcPr>
                </a:tc>
                <a:tc>
                  <a:txBody>
                    <a:bodyPr wrap="none"/>
                    <a:lstStyle/>
                    <a:p>
                      <a:pPr algn="l"/>
                      <a:r>
                        <a:rPr sz="900" b="0">
                          <a:solidFill>
                            <a:srgbClr val="2E2E2E"/>
                          </a:solidFill>
                          <a:latin typeface="Calibri"/>
                        </a:rPr>
                        <a:t>25.0%</a:t>
                      </a:r>
                    </a:p>
                  </a:txBody>
                  <a:tcPr marL="85725" marR="38100" marT="19050" marB="19050" anchor="ctr">
                    <a:solidFill>
                      <a:srgbClr val="F5F8FA"/>
                    </a:solidFill>
                  </a:tcPr>
                </a:tc>
                <a:tc>
                  <a:txBody>
                    <a:bodyPr wrap="none"/>
                    <a:lstStyle/>
                    <a:p>
                      <a:pPr algn="l"/>
                      <a:r>
                        <a:rPr sz="900" b="0">
                          <a:solidFill>
                            <a:srgbClr val="2E2E2E"/>
                          </a:solidFill>
                          <a:latin typeface="Calibri"/>
                        </a:rPr>
                        <a:t>23.7%</a:t>
                      </a:r>
                    </a:p>
                  </a:txBody>
                  <a:tcPr marL="85725" marR="38100" marT="19050" marB="19050" anchor="ctr">
                    <a:solidFill>
                      <a:srgbClr val="F5F8FA"/>
                    </a:solidFill>
                  </a:tcPr>
                </a:tc>
                <a:tc>
                  <a:txBody>
                    <a:bodyPr wrap="none"/>
                    <a:lstStyle/>
                    <a:p>
                      <a:pPr algn="l"/>
                      <a:r>
                        <a:rPr sz="900" b="1">
                          <a:solidFill>
                            <a:srgbClr val="E44D3A"/>
                          </a:solidFill>
                          <a:latin typeface="Calibri"/>
                        </a:rPr>
                        <a:t>-131</a:t>
                      </a:r>
                    </a:p>
                  </a:txBody>
                  <a:tcPr marL="85725" marR="38100" marT="19050" marB="19050" anchor="ctr">
                    <a:solidFill>
                      <a:srgbClr val="F5F8FA"/>
                    </a:solidFill>
                  </a:tcPr>
                </a:tc>
                <a:tc>
                  <a:txBody>
                    <a:bodyPr wrap="none"/>
                    <a:lstStyle/>
                    <a:p>
                      <a:pPr algn="l"/>
                      <a:r>
                        <a:rPr sz="900" b="0">
                          <a:solidFill>
                            <a:srgbClr val="2E2E2E"/>
                          </a:solidFill>
                          <a:latin typeface="Calibri"/>
                        </a:rPr>
                        <a:t>8.4%</a:t>
                      </a:r>
                    </a:p>
                  </a:txBody>
                  <a:tcPr marL="85725" marR="38100" marT="19050" marB="19050" anchor="ctr">
                    <a:solidFill>
                      <a:srgbClr val="F5F8FA"/>
                    </a:solidFill>
                  </a:tcPr>
                </a:tc>
              </a:tr>
            </a:tbl>
          </a:graphicData>
        </a:graphic>
      </p:graphicFrame>
      <p:sp>
        <p:nvSpPr>
          <p:cNvPr id="17" name="TextBox 16"/>
          <p:cNvSpPr txBox="1"/>
          <p:nvPr/>
        </p:nvSpPr>
        <p:spPr>
          <a:xfrm>
            <a:off x="6248400" y="3581400"/>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8" name="Rounded Rectangle 17"/>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Buyer Type (US$ Mn)</a:t>
            </a:r>
          </a:p>
        </p:txBody>
      </p:sp>
      <p:graphicFrame>
        <p:nvGraphicFramePr>
          <p:cNvPr id="20" name="Chart 19"/>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4"/>
          </a:graphicData>
        </a:graphic>
      </p:graphicFrame>
      <p:sp>
        <p:nvSpPr>
          <p:cNvPr id="21" name="Rounded Rectangle 20"/>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Volume Shares &amp; Variance, By Buyer Type</a:t>
            </a:r>
          </a:p>
        </p:txBody>
      </p:sp>
      <p:graphicFrame>
        <p:nvGraphicFramePr>
          <p:cNvPr id="23" name="Table 22"/>
          <p:cNvGraphicFramePr>
            <a:graphicFrameLocks noGrp="1"/>
          </p:cNvGraphicFramePr>
          <p:nvPr/>
        </p:nvGraphicFramePr>
        <p:xfrm>
          <a:off x="6267450" y="4143375"/>
          <a:ext cx="5686424" cy="9048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Buyer Type</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Hospitals</a:t>
                      </a:r>
                    </a:p>
                  </a:txBody>
                  <a:tcPr marL="85725" marR="38100" marT="19050" marB="19050" anchor="ctr">
                    <a:solidFill>
                      <a:srgbClr val="FFFFFF"/>
                    </a:solidFill>
                  </a:tcPr>
                </a:tc>
                <a:tc>
                  <a:txBody>
                    <a:bodyPr wrap="none"/>
                    <a:lstStyle/>
                    <a:p>
                      <a:pPr algn="l"/>
                      <a:r>
                        <a:rPr sz="900" b="0">
                          <a:solidFill>
                            <a:srgbClr val="2E2E2E"/>
                          </a:solidFill>
                          <a:latin typeface="Calibri"/>
                        </a:rPr>
                        <a:t>23.2%</a:t>
                      </a:r>
                    </a:p>
                  </a:txBody>
                  <a:tcPr marL="85725" marR="38100" marT="19050" marB="19050" anchor="ctr">
                    <a:solidFill>
                      <a:srgbClr val="FFFFFF"/>
                    </a:solidFill>
                  </a:tcPr>
                </a:tc>
                <a:tc>
                  <a:txBody>
                    <a:bodyPr wrap="none"/>
                    <a:lstStyle/>
                    <a:p>
                      <a:pPr algn="l"/>
                      <a:r>
                        <a:rPr sz="900" b="0">
                          <a:solidFill>
                            <a:srgbClr val="2E2E2E"/>
                          </a:solidFill>
                          <a:latin typeface="Calibri"/>
                        </a:rPr>
                        <a:t>24.8%</a:t>
                      </a:r>
                    </a:p>
                  </a:txBody>
                  <a:tcPr marL="85725" marR="38100" marT="19050" marB="19050" anchor="ctr">
                    <a:solidFill>
                      <a:srgbClr val="FFFFFF"/>
                    </a:solidFill>
                  </a:tcPr>
                </a:tc>
                <a:tc>
                  <a:txBody>
                    <a:bodyPr wrap="none"/>
                    <a:lstStyle/>
                    <a:p>
                      <a:pPr algn="l"/>
                      <a:r>
                        <a:rPr sz="900" b="1">
                          <a:solidFill>
                            <a:srgbClr val="008189"/>
                          </a:solidFill>
                          <a:latin typeface="Calibri"/>
                        </a:rPr>
                        <a:t>+161</a:t>
                      </a:r>
                    </a:p>
                  </a:txBody>
                  <a:tcPr marL="85725" marR="38100" marT="19050" marB="19050" anchor="ctr">
                    <a:solidFill>
                      <a:srgbClr val="FFFFFF"/>
                    </a:solidFill>
                  </a:tcPr>
                </a:tc>
                <a:tc>
                  <a:txBody>
                    <a:bodyPr wrap="none"/>
                    <a:lstStyle/>
                    <a:p>
                      <a:pPr algn="l"/>
                      <a:r>
                        <a:rPr sz="900" b="0">
                          <a:solidFill>
                            <a:srgbClr val="2E2E2E"/>
                          </a:solidFill>
                          <a:latin typeface="Calibri"/>
                        </a:rPr>
                        <a:t>13.5%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Specialty Clinics</a:t>
                      </a:r>
                    </a:p>
                  </a:txBody>
                  <a:tcPr marL="85725" marR="38100" marT="19050" marB="19050" anchor="ctr">
                    <a:solidFill>
                      <a:srgbClr val="F5F8FA"/>
                    </a:solidFill>
                  </a:tcPr>
                </a:tc>
                <a:tc>
                  <a:txBody>
                    <a:bodyPr wrap="none"/>
                    <a:lstStyle/>
                    <a:p>
                      <a:pPr algn="l"/>
                      <a:r>
                        <a:rPr sz="900" b="0">
                          <a:solidFill>
                            <a:srgbClr val="2E2E2E"/>
                          </a:solidFill>
                          <a:latin typeface="Calibri"/>
                        </a:rPr>
                        <a:t>32.7%</a:t>
                      </a:r>
                    </a:p>
                  </a:txBody>
                  <a:tcPr marL="85725" marR="38100" marT="19050" marB="19050" anchor="ctr">
                    <a:solidFill>
                      <a:srgbClr val="F5F8FA"/>
                    </a:solidFill>
                  </a:tcPr>
                </a:tc>
                <a:tc>
                  <a:txBody>
                    <a:bodyPr wrap="none"/>
                    <a:lstStyle/>
                    <a:p>
                      <a:pPr algn="l"/>
                      <a:r>
                        <a:rPr sz="900" b="0">
                          <a:solidFill>
                            <a:srgbClr val="2E2E2E"/>
                          </a:solidFill>
                          <a:latin typeface="Calibri"/>
                        </a:rPr>
                        <a:t>34.2%</a:t>
                      </a:r>
                    </a:p>
                  </a:txBody>
                  <a:tcPr marL="85725" marR="38100" marT="19050" marB="19050" anchor="ctr">
                    <a:solidFill>
                      <a:srgbClr val="F5F8FA"/>
                    </a:solidFill>
                  </a:tcPr>
                </a:tc>
                <a:tc>
                  <a:txBody>
                    <a:bodyPr wrap="none"/>
                    <a:lstStyle/>
                    <a:p>
                      <a:pPr algn="l"/>
                      <a:r>
                        <a:rPr sz="900" b="1">
                          <a:solidFill>
                            <a:srgbClr val="008189"/>
                          </a:solidFill>
                          <a:latin typeface="Calibri"/>
                        </a:rPr>
                        <a:t>+154</a:t>
                      </a:r>
                    </a:p>
                  </a:txBody>
                  <a:tcPr marL="85725" marR="38100" marT="19050" marB="19050" anchor="ctr">
                    <a:solidFill>
                      <a:srgbClr val="F5F8FA"/>
                    </a:solidFill>
                  </a:tcPr>
                </a:tc>
                <a:tc>
                  <a:txBody>
                    <a:bodyPr wrap="none"/>
                    <a:lstStyle/>
                    <a:p>
                      <a:pPr algn="l"/>
                      <a:r>
                        <a:rPr sz="900" b="0">
                          <a:solidFill>
                            <a:srgbClr val="2E2E2E"/>
                          </a:solidFill>
                          <a:latin typeface="Calibri"/>
                        </a:rPr>
                        <a:t>13.3%</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Retail / Specialty Pharmacies</a:t>
                      </a:r>
                    </a:p>
                  </a:txBody>
                  <a:tcPr marL="85725" marR="38100" marT="19050" marB="19050" anchor="ctr">
                    <a:solidFill>
                      <a:srgbClr val="FFFFFF"/>
                    </a:solidFill>
                  </a:tcPr>
                </a:tc>
                <a:tc>
                  <a:txBody>
                    <a:bodyPr wrap="none"/>
                    <a:lstStyle/>
                    <a:p>
                      <a:pPr algn="l"/>
                      <a:r>
                        <a:rPr sz="900" b="0">
                          <a:solidFill>
                            <a:srgbClr val="2E2E2E"/>
                          </a:solidFill>
                          <a:latin typeface="Calibri"/>
                        </a:rPr>
                        <a:t>19.4%</a:t>
                      </a:r>
                    </a:p>
                  </a:txBody>
                  <a:tcPr marL="85725" marR="38100" marT="19050" marB="19050" anchor="ctr">
                    <a:solidFill>
                      <a:srgbClr val="FFFFFF"/>
                    </a:solidFill>
                  </a:tcPr>
                </a:tc>
                <a:tc>
                  <a:txBody>
                    <a:bodyPr wrap="none"/>
                    <a:lstStyle/>
                    <a:p>
                      <a:pPr algn="l"/>
                      <a:r>
                        <a:rPr sz="900" b="0">
                          <a:solidFill>
                            <a:srgbClr val="2E2E2E"/>
                          </a:solidFill>
                          <a:latin typeface="Calibri"/>
                        </a:rPr>
                        <a:t>19.2%</a:t>
                      </a:r>
                    </a:p>
                  </a:txBody>
                  <a:tcPr marL="85725" marR="38100" marT="19050" marB="19050" anchor="ctr">
                    <a:solidFill>
                      <a:srgbClr val="FFFFFF"/>
                    </a:solidFill>
                  </a:tcPr>
                </a:tc>
                <a:tc>
                  <a:txBody>
                    <a:bodyPr wrap="none"/>
                    <a:lstStyle/>
                    <a:p>
                      <a:pPr algn="l"/>
                      <a:r>
                        <a:rPr sz="900" b="1">
                          <a:solidFill>
                            <a:srgbClr val="E44D3A"/>
                          </a:solidFill>
                          <a:latin typeface="Calibri"/>
                        </a:rPr>
                        <a:t>-21</a:t>
                      </a:r>
                    </a:p>
                  </a:txBody>
                  <a:tcPr marL="85725" marR="38100" marT="19050" marB="19050" anchor="ctr">
                    <a:solidFill>
                      <a:srgbClr val="FFFFFF"/>
                    </a:solidFill>
                  </a:tcPr>
                </a:tc>
                <a:tc>
                  <a:txBody>
                    <a:bodyPr wrap="none"/>
                    <a:lstStyle/>
                    <a:p>
                      <a:pPr algn="l"/>
                      <a:r>
                        <a:rPr sz="900" b="0">
                          <a:solidFill>
                            <a:srgbClr val="2E2E2E"/>
                          </a:solidFill>
                          <a:latin typeface="Calibri"/>
                        </a:rPr>
                        <a:t>12.6%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Institutional Buyers</a:t>
                      </a:r>
                    </a:p>
                  </a:txBody>
                  <a:tcPr marL="85725" marR="38100" marT="19050" marB="19050" anchor="ctr">
                    <a:solidFill>
                      <a:srgbClr val="F5F8FA"/>
                    </a:solidFill>
                  </a:tcPr>
                </a:tc>
                <a:tc>
                  <a:txBody>
                    <a:bodyPr wrap="none"/>
                    <a:lstStyle/>
                    <a:p>
                      <a:pPr algn="l"/>
                      <a:r>
                        <a:rPr sz="900" b="0">
                          <a:solidFill>
                            <a:srgbClr val="2E2E2E"/>
                          </a:solidFill>
                          <a:latin typeface="Calibri"/>
                        </a:rPr>
                        <a:t>24.7%</a:t>
                      </a:r>
                    </a:p>
                  </a:txBody>
                  <a:tcPr marL="85725" marR="38100" marT="19050" marB="19050" anchor="ctr">
                    <a:solidFill>
                      <a:srgbClr val="F5F8FA"/>
                    </a:solidFill>
                  </a:tcPr>
                </a:tc>
                <a:tc>
                  <a:txBody>
                    <a:bodyPr wrap="none"/>
                    <a:lstStyle/>
                    <a:p>
                      <a:pPr algn="l"/>
                      <a:r>
                        <a:rPr sz="900" b="0">
                          <a:solidFill>
                            <a:srgbClr val="2E2E2E"/>
                          </a:solidFill>
                          <a:latin typeface="Calibri"/>
                        </a:rPr>
                        <a:t>21.7%</a:t>
                      </a:r>
                    </a:p>
                  </a:txBody>
                  <a:tcPr marL="85725" marR="38100" marT="19050" marB="19050" anchor="ctr">
                    <a:solidFill>
                      <a:srgbClr val="F5F8FA"/>
                    </a:solidFill>
                  </a:tcPr>
                </a:tc>
                <a:tc>
                  <a:txBody>
                    <a:bodyPr wrap="none"/>
                    <a:lstStyle/>
                    <a:p>
                      <a:pPr algn="l"/>
                      <a:r>
                        <a:rPr sz="900" b="1">
                          <a:solidFill>
                            <a:srgbClr val="E44D3A"/>
                          </a:solidFill>
                          <a:latin typeface="Calibri"/>
                        </a:rPr>
                        <a:t>-293</a:t>
                      </a:r>
                    </a:p>
                  </a:txBody>
                  <a:tcPr marL="85725" marR="38100" marT="19050" marB="19050" anchor="ctr">
                    <a:solidFill>
                      <a:srgbClr val="F5F8FA"/>
                    </a:solidFill>
                  </a:tcPr>
                </a:tc>
                <a:tc>
                  <a:txBody>
                    <a:bodyPr wrap="none"/>
                    <a:lstStyle/>
                    <a:p>
                      <a:pPr algn="l"/>
                      <a:r>
                        <a:rPr sz="900" b="0">
                          <a:solidFill>
                            <a:srgbClr val="2E2E2E"/>
                          </a:solidFill>
                          <a:latin typeface="Calibri"/>
                        </a:rPr>
                        <a:t>11.3%</a:t>
                      </a:r>
                    </a:p>
                  </a:txBody>
                  <a:tcPr marL="85725" marR="38100" marT="19050" marB="19050" anchor="ctr">
                    <a:solidFill>
                      <a:srgbClr val="F5F8FA"/>
                    </a:solidFill>
                  </a:tcPr>
                </a:tc>
              </a:tr>
            </a:tbl>
          </a:graphicData>
        </a:graphic>
      </p:graphicFrame>
      <p:sp>
        <p:nvSpPr>
          <p:cNvPr id="24" name="TextBox 23"/>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Tables Buyer Type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Volume, By Buyer Type (Mn Doses)</a:t>
            </a:r>
          </a:p>
        </p:txBody>
      </p:sp>
      <p:graphicFrame>
        <p:nvGraphicFramePr>
          <p:cNvPr id="13" name="Table 12"/>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Buyer Type</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Hospitals</a:t>
                      </a:r>
                    </a:p>
                  </a:txBody>
                  <a:tcPr marL="85725" marR="38100" marT="19050" marB="19050" anchor="ctr">
                    <a:solidFill>
                      <a:srgbClr val="FFFFFF"/>
                    </a:solidFill>
                  </a:tcPr>
                </a:tc>
                <a:tc>
                  <a:txBody>
                    <a:bodyPr wrap="none"/>
                    <a:lstStyle/>
                    <a:p>
                      <a:pPr algn="l"/>
                      <a:r>
                        <a:rPr sz="800" b="0">
                          <a:solidFill>
                            <a:srgbClr val="2E2E2E"/>
                          </a:solidFill>
                          <a:latin typeface="Calibri"/>
                        </a:rPr>
                        <a:t>0.24</a:t>
                      </a:r>
                    </a:p>
                  </a:txBody>
                  <a:tcPr marL="85725" marR="38100" marT="19050" marB="19050" anchor="ctr">
                    <a:solidFill>
                      <a:srgbClr val="FFFFFF"/>
                    </a:solidFill>
                  </a:tcPr>
                </a:tc>
                <a:tc>
                  <a:txBody>
                    <a:bodyPr wrap="none"/>
                    <a:lstStyle/>
                    <a:p>
                      <a:pPr algn="l"/>
                      <a:r>
                        <a:rPr sz="800" b="0">
                          <a:solidFill>
                            <a:srgbClr val="2E2E2E"/>
                          </a:solidFill>
                          <a:latin typeface="Calibri"/>
                        </a:rPr>
                        <a:t>0.28</a:t>
                      </a:r>
                    </a:p>
                  </a:txBody>
                  <a:tcPr marL="85725" marR="38100" marT="19050" marB="19050" anchor="ctr">
                    <a:solidFill>
                      <a:srgbClr val="FFFFFF"/>
                    </a:solidFill>
                  </a:tcPr>
                </a:tc>
                <a:tc>
                  <a:txBody>
                    <a:bodyPr wrap="none"/>
                    <a:lstStyle/>
                    <a:p>
                      <a:pPr algn="l"/>
                      <a:r>
                        <a:rPr sz="800" b="0">
                          <a:solidFill>
                            <a:srgbClr val="2E2E2E"/>
                          </a:solidFill>
                          <a:latin typeface="Calibri"/>
                        </a:rPr>
                        <a:t>0.35</a:t>
                      </a:r>
                    </a:p>
                  </a:txBody>
                  <a:tcPr marL="85725" marR="38100" marT="19050" marB="19050" anchor="ctr">
                    <a:solidFill>
                      <a:srgbClr val="FFFFFF"/>
                    </a:solidFill>
                  </a:tcPr>
                </a:tc>
                <a:tc>
                  <a:txBody>
                    <a:bodyPr wrap="none"/>
                    <a:lstStyle/>
                    <a:p>
                      <a:pPr algn="l"/>
                      <a:r>
                        <a:rPr sz="800" b="0">
                          <a:solidFill>
                            <a:srgbClr val="2E2E2E"/>
                          </a:solidFill>
                          <a:latin typeface="Calibri"/>
                        </a:rPr>
                        <a:t>0.45</a:t>
                      </a:r>
                    </a:p>
                  </a:txBody>
                  <a:tcPr marL="85725" marR="38100" marT="19050" marB="19050" anchor="ctr">
                    <a:solidFill>
                      <a:srgbClr val="FFFFFF"/>
                    </a:solidFill>
                  </a:tcPr>
                </a:tc>
                <a:tc>
                  <a:txBody>
                    <a:bodyPr wrap="none"/>
                    <a:lstStyle/>
                    <a:p>
                      <a:pPr algn="l"/>
                      <a:r>
                        <a:rPr sz="800" b="0">
                          <a:solidFill>
                            <a:srgbClr val="2E2E2E"/>
                          </a:solidFill>
                          <a:latin typeface="Calibri"/>
                        </a:rPr>
                        <a:t>0.57</a:t>
                      </a:r>
                    </a:p>
                  </a:txBody>
                  <a:tcPr marL="85725" marR="38100" marT="19050" marB="19050" anchor="ctr">
                    <a:solidFill>
                      <a:srgbClr val="FFFFFF"/>
                    </a:solidFill>
                  </a:tcPr>
                </a:tc>
                <a:tc>
                  <a:txBody>
                    <a:bodyPr wrap="none"/>
                    <a:lstStyle/>
                    <a:p>
                      <a:pPr algn="l"/>
                      <a:r>
                        <a:rPr sz="800" b="0">
                          <a:solidFill>
                            <a:srgbClr val="2E2E2E"/>
                          </a:solidFill>
                          <a:latin typeface="Calibri"/>
                        </a:rPr>
                        <a:t>0.69</a:t>
                      </a:r>
                    </a:p>
                  </a:txBody>
                  <a:tcPr marL="85725" marR="38100" marT="19050" marB="19050" anchor="ctr">
                    <a:solidFill>
                      <a:srgbClr val="FFFFFF"/>
                    </a:solidFill>
                  </a:tcPr>
                </a:tc>
                <a:tc>
                  <a:txBody>
                    <a:bodyPr wrap="none"/>
                    <a:lstStyle/>
                    <a:p>
                      <a:pPr algn="l"/>
                      <a:r>
                        <a:rPr sz="800" b="0">
                          <a:solidFill>
                            <a:srgbClr val="2E2E2E"/>
                          </a:solidFill>
                          <a:latin typeface="Calibri"/>
                        </a:rPr>
                        <a:t>0.83</a:t>
                      </a:r>
                    </a:p>
                  </a:txBody>
                  <a:tcPr marL="85725" marR="38100" marT="19050" marB="19050" anchor="ctr">
                    <a:solidFill>
                      <a:srgbClr val="FFFFFF"/>
                    </a:solidFill>
                  </a:tcPr>
                </a:tc>
                <a:tc>
                  <a:txBody>
                    <a:bodyPr wrap="none"/>
                    <a:lstStyle/>
                    <a:p>
                      <a:pPr algn="l"/>
                      <a:r>
                        <a:rPr sz="800" b="0">
                          <a:solidFill>
                            <a:srgbClr val="2E2E2E"/>
                          </a:solidFill>
                          <a:latin typeface="Calibri"/>
                        </a:rPr>
                        <a:t>0.98</a:t>
                      </a:r>
                    </a:p>
                  </a:txBody>
                  <a:tcPr marL="85725" marR="38100" marT="19050" marB="19050" anchor="ctr">
                    <a:solidFill>
                      <a:srgbClr val="FFFFFF"/>
                    </a:solidFill>
                  </a:tcPr>
                </a:tc>
                <a:tc>
                  <a:txBody>
                    <a:bodyPr wrap="none"/>
                    <a:lstStyle/>
                    <a:p>
                      <a:pPr algn="l"/>
                      <a:r>
                        <a:rPr sz="800" b="0">
                          <a:solidFill>
                            <a:srgbClr val="2E2E2E"/>
                          </a:solidFill>
                          <a:latin typeface="Calibri"/>
                        </a:rPr>
                        <a:t>1.13</a:t>
                      </a:r>
                    </a:p>
                  </a:txBody>
                  <a:tcPr marL="85725" marR="38100" marT="19050" marB="19050" anchor="ctr">
                    <a:solidFill>
                      <a:srgbClr val="FFFFFF"/>
                    </a:solidFill>
                  </a:tcPr>
                </a:tc>
                <a:tc>
                  <a:txBody>
                    <a:bodyPr wrap="none"/>
                    <a:lstStyle/>
                    <a:p>
                      <a:pPr algn="l"/>
                      <a:r>
                        <a:rPr sz="800" b="0">
                          <a:solidFill>
                            <a:srgbClr val="2E2E2E"/>
                          </a:solidFill>
                          <a:latin typeface="Calibri"/>
                        </a:rPr>
                        <a:t>1.29</a:t>
                      </a:r>
                    </a:p>
                  </a:txBody>
                  <a:tcPr marL="85725" marR="38100" marT="19050" marB="19050" anchor="ctr">
                    <a:solidFill>
                      <a:srgbClr val="FFFFFF"/>
                    </a:solidFill>
                  </a:tcPr>
                </a:tc>
                <a:tc>
                  <a:txBody>
                    <a:bodyPr wrap="none"/>
                    <a:lstStyle/>
                    <a:p>
                      <a:pPr algn="l"/>
                      <a:r>
                        <a:rPr sz="800" b="0">
                          <a:solidFill>
                            <a:srgbClr val="2E2E2E"/>
                          </a:solidFill>
                          <a:latin typeface="Calibri"/>
                        </a:rPr>
                        <a:t>1.46</a:t>
                      </a:r>
                    </a:p>
                  </a:txBody>
                  <a:tcPr marL="85725" marR="38100" marT="19050" marB="19050" anchor="ctr">
                    <a:solidFill>
                      <a:srgbClr val="FFFFFF"/>
                    </a:solidFill>
                  </a:tcPr>
                </a:tc>
                <a:tc>
                  <a:txBody>
                    <a:bodyPr wrap="none"/>
                    <a:lstStyle/>
                    <a:p>
                      <a:pPr algn="l"/>
                      <a:r>
                        <a:rPr sz="800" b="0">
                          <a:solidFill>
                            <a:srgbClr val="2E2E2E"/>
                          </a:solidFill>
                          <a:latin typeface="Calibri"/>
                        </a:rPr>
                        <a:t>1.64</a:t>
                      </a:r>
                    </a:p>
                  </a:txBody>
                  <a:tcPr marL="85725" marR="38100" marT="19050" marB="19050" anchor="ctr">
                    <a:solidFill>
                      <a:srgbClr val="FFFFFF"/>
                    </a:solidFill>
                  </a:tcPr>
                </a:tc>
                <a:tc>
                  <a:txBody>
                    <a:bodyPr wrap="none"/>
                    <a:lstStyle/>
                    <a:p>
                      <a:pPr algn="l"/>
                      <a:r>
                        <a:rPr sz="800" b="0">
                          <a:solidFill>
                            <a:srgbClr val="2E2E2E"/>
                          </a:solidFill>
                          <a:latin typeface="Calibri"/>
                        </a:rPr>
                        <a:t>1.83</a:t>
                      </a:r>
                    </a:p>
                  </a:txBody>
                  <a:tcPr marL="85725" marR="38100" marT="19050" marB="19050" anchor="ctr">
                    <a:solidFill>
                      <a:srgbClr val="FFFFFF"/>
                    </a:solidFill>
                  </a:tcPr>
                </a:tc>
                <a:tc>
                  <a:txBody>
                    <a:bodyPr wrap="none"/>
                    <a:lstStyle/>
                    <a:p>
                      <a:pPr algn="l"/>
                      <a:r>
                        <a:rPr sz="800" b="0">
                          <a:solidFill>
                            <a:srgbClr val="2E2E2E"/>
                          </a:solidFill>
                          <a:latin typeface="Calibri"/>
                        </a:rPr>
                        <a:t>2.03</a:t>
                      </a:r>
                    </a:p>
                  </a:txBody>
                  <a:tcPr marL="85725" marR="38100" marT="19050" marB="19050" anchor="ctr">
                    <a:solidFill>
                      <a:srgbClr val="FFFFFF"/>
                    </a:solidFill>
                  </a:tcPr>
                </a:tc>
                <a:tc>
                  <a:txBody>
                    <a:bodyPr wrap="none"/>
                    <a:lstStyle/>
                    <a:p>
                      <a:pPr algn="l"/>
                      <a:r>
                        <a:rPr sz="800" b="0">
                          <a:solidFill>
                            <a:srgbClr val="2E2E2E"/>
                          </a:solidFill>
                          <a:latin typeface="Calibri"/>
                        </a:rPr>
                        <a:t>2.24</a:t>
                      </a:r>
                    </a:p>
                  </a:txBody>
                  <a:tcPr marL="85725" marR="38100" marT="19050" marB="19050" anchor="ctr">
                    <a:solidFill>
                      <a:srgbClr val="FFFFFF"/>
                    </a:solidFill>
                  </a:tcPr>
                </a:tc>
                <a:tc>
                  <a:txBody>
                    <a:bodyPr wrap="none"/>
                    <a:lstStyle/>
                    <a:p>
                      <a:pPr algn="l"/>
                      <a:r>
                        <a:rPr sz="800" b="0">
                          <a:solidFill>
                            <a:srgbClr val="2E2E2E"/>
                          </a:solidFill>
                          <a:latin typeface="Calibri"/>
                        </a:rPr>
                        <a:t>2.46</a:t>
                      </a:r>
                    </a:p>
                  </a:txBody>
                  <a:tcPr marL="85725" marR="38100" marT="19050" marB="19050" anchor="ctr">
                    <a:solidFill>
                      <a:srgbClr val="FFFFFF"/>
                    </a:solidFill>
                  </a:tcPr>
                </a:tc>
                <a:tc>
                  <a:txBody>
                    <a:bodyPr wrap="none"/>
                    <a:lstStyle/>
                    <a:p>
                      <a:pPr algn="l"/>
                      <a:r>
                        <a:rPr sz="800" b="0">
                          <a:solidFill>
                            <a:srgbClr val="2E2E2E"/>
                          </a:solidFill>
                          <a:latin typeface="Calibri"/>
                        </a:rPr>
                        <a:t>13.5%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Specialty Clinics</a:t>
                      </a:r>
                    </a:p>
                  </a:txBody>
                  <a:tcPr marL="85725" marR="38100" marT="19050" marB="19050" anchor="ctr">
                    <a:solidFill>
                      <a:srgbClr val="F5F8FA"/>
                    </a:solidFill>
                  </a:tcPr>
                </a:tc>
                <a:tc>
                  <a:txBody>
                    <a:bodyPr wrap="none"/>
                    <a:lstStyle/>
                    <a:p>
                      <a:pPr algn="l"/>
                      <a:r>
                        <a:rPr sz="800" b="0">
                          <a:solidFill>
                            <a:srgbClr val="2E2E2E"/>
                          </a:solidFill>
                          <a:latin typeface="Calibri"/>
                        </a:rPr>
                        <a:t>0.34</a:t>
                      </a:r>
                    </a:p>
                  </a:txBody>
                  <a:tcPr marL="85725" marR="38100" marT="19050" marB="19050" anchor="ctr">
                    <a:solidFill>
                      <a:srgbClr val="F5F8FA"/>
                    </a:solidFill>
                  </a:tcPr>
                </a:tc>
                <a:tc>
                  <a:txBody>
                    <a:bodyPr wrap="none"/>
                    <a:lstStyle/>
                    <a:p>
                      <a:pPr algn="l"/>
                      <a:r>
                        <a:rPr sz="800" b="0">
                          <a:solidFill>
                            <a:srgbClr val="2E2E2E"/>
                          </a:solidFill>
                          <a:latin typeface="Calibri"/>
                        </a:rPr>
                        <a:t>0.40</a:t>
                      </a:r>
                    </a:p>
                  </a:txBody>
                  <a:tcPr marL="85725" marR="38100" marT="19050" marB="19050" anchor="ctr">
                    <a:solidFill>
                      <a:srgbClr val="F5F8FA"/>
                    </a:solidFill>
                  </a:tcPr>
                </a:tc>
                <a:tc>
                  <a:txBody>
                    <a:bodyPr wrap="none"/>
                    <a:lstStyle/>
                    <a:p>
                      <a:pPr algn="l"/>
                      <a:r>
                        <a:rPr sz="800" b="0">
                          <a:solidFill>
                            <a:srgbClr val="2E2E2E"/>
                          </a:solidFill>
                          <a:latin typeface="Calibri"/>
                        </a:rPr>
                        <a:t>0.50</a:t>
                      </a:r>
                    </a:p>
                  </a:txBody>
                  <a:tcPr marL="85725" marR="38100" marT="19050" marB="19050" anchor="ctr">
                    <a:solidFill>
                      <a:srgbClr val="F5F8FA"/>
                    </a:solidFill>
                  </a:tcPr>
                </a:tc>
                <a:tc>
                  <a:txBody>
                    <a:bodyPr wrap="none"/>
                    <a:lstStyle/>
                    <a:p>
                      <a:pPr algn="l"/>
                      <a:r>
                        <a:rPr sz="800" b="0">
                          <a:solidFill>
                            <a:srgbClr val="2E2E2E"/>
                          </a:solidFill>
                          <a:latin typeface="Calibri"/>
                        </a:rPr>
                        <a:t>0.64</a:t>
                      </a:r>
                    </a:p>
                  </a:txBody>
                  <a:tcPr marL="85725" marR="38100" marT="19050" marB="19050" anchor="ctr">
                    <a:solidFill>
                      <a:srgbClr val="F5F8FA"/>
                    </a:solidFill>
                  </a:tcPr>
                </a:tc>
                <a:tc>
                  <a:txBody>
                    <a:bodyPr wrap="none"/>
                    <a:lstStyle/>
                    <a:p>
                      <a:pPr algn="l"/>
                      <a:r>
                        <a:rPr sz="800" b="0">
                          <a:solidFill>
                            <a:srgbClr val="2E2E2E"/>
                          </a:solidFill>
                          <a:latin typeface="Calibri"/>
                        </a:rPr>
                        <a:t>0.80</a:t>
                      </a:r>
                    </a:p>
                  </a:txBody>
                  <a:tcPr marL="85725" marR="38100" marT="19050" marB="19050" anchor="ctr">
                    <a:solidFill>
                      <a:srgbClr val="F5F8FA"/>
                    </a:solidFill>
                  </a:tcPr>
                </a:tc>
                <a:tc>
                  <a:txBody>
                    <a:bodyPr wrap="none"/>
                    <a:lstStyle/>
                    <a:p>
                      <a:pPr algn="l"/>
                      <a:r>
                        <a:rPr sz="800" b="0">
                          <a:solidFill>
                            <a:srgbClr val="2E2E2E"/>
                          </a:solidFill>
                          <a:latin typeface="Calibri"/>
                        </a:rPr>
                        <a:t>0.98</a:t>
                      </a:r>
                    </a:p>
                  </a:txBody>
                  <a:tcPr marL="85725" marR="38100" marT="19050" marB="19050" anchor="ctr">
                    <a:solidFill>
                      <a:srgbClr val="F5F8FA"/>
                    </a:solidFill>
                  </a:tcPr>
                </a:tc>
                <a:tc>
                  <a:txBody>
                    <a:bodyPr wrap="none"/>
                    <a:lstStyle/>
                    <a:p>
                      <a:pPr algn="l"/>
                      <a:r>
                        <a:rPr sz="800" b="0">
                          <a:solidFill>
                            <a:srgbClr val="2E2E2E"/>
                          </a:solidFill>
                          <a:latin typeface="Calibri"/>
                        </a:rPr>
                        <a:t>1.17</a:t>
                      </a:r>
                    </a:p>
                  </a:txBody>
                  <a:tcPr marL="85725" marR="38100" marT="19050" marB="19050" anchor="ctr">
                    <a:solidFill>
                      <a:srgbClr val="F5F8FA"/>
                    </a:solidFill>
                  </a:tcPr>
                </a:tc>
                <a:tc>
                  <a:txBody>
                    <a:bodyPr wrap="none"/>
                    <a:lstStyle/>
                    <a:p>
                      <a:pPr algn="l"/>
                      <a:r>
                        <a:rPr sz="800" b="0">
                          <a:solidFill>
                            <a:srgbClr val="2E2E2E"/>
                          </a:solidFill>
                          <a:latin typeface="Calibri"/>
                        </a:rPr>
                        <a:t>1.37</a:t>
                      </a:r>
                    </a:p>
                  </a:txBody>
                  <a:tcPr marL="85725" marR="38100" marT="19050" marB="19050" anchor="ctr">
                    <a:solidFill>
                      <a:srgbClr val="F5F8FA"/>
                    </a:solidFill>
                  </a:tcPr>
                </a:tc>
                <a:tc>
                  <a:txBody>
                    <a:bodyPr wrap="none"/>
                    <a:lstStyle/>
                    <a:p>
                      <a:pPr algn="l"/>
                      <a:r>
                        <a:rPr sz="800" b="0">
                          <a:solidFill>
                            <a:srgbClr val="2E2E2E"/>
                          </a:solidFill>
                          <a:latin typeface="Calibri"/>
                        </a:rPr>
                        <a:t>1.58</a:t>
                      </a:r>
                    </a:p>
                  </a:txBody>
                  <a:tcPr marL="85725" marR="38100" marT="19050" marB="19050" anchor="ctr">
                    <a:solidFill>
                      <a:srgbClr val="F5F8FA"/>
                    </a:solidFill>
                  </a:tcPr>
                </a:tc>
                <a:tc>
                  <a:txBody>
                    <a:bodyPr wrap="none"/>
                    <a:lstStyle/>
                    <a:p>
                      <a:pPr algn="l"/>
                      <a:r>
                        <a:rPr sz="800" b="0">
                          <a:solidFill>
                            <a:srgbClr val="2E2E2E"/>
                          </a:solidFill>
                          <a:latin typeface="Calibri"/>
                        </a:rPr>
                        <a:t>1.81</a:t>
                      </a:r>
                    </a:p>
                  </a:txBody>
                  <a:tcPr marL="85725" marR="38100" marT="19050" marB="19050" anchor="ctr">
                    <a:solidFill>
                      <a:srgbClr val="F5F8FA"/>
                    </a:solidFill>
                  </a:tcPr>
                </a:tc>
                <a:tc>
                  <a:txBody>
                    <a:bodyPr wrap="none"/>
                    <a:lstStyle/>
                    <a:p>
                      <a:pPr algn="l"/>
                      <a:r>
                        <a:rPr sz="800" b="0">
                          <a:solidFill>
                            <a:srgbClr val="2E2E2E"/>
                          </a:solidFill>
                          <a:latin typeface="Calibri"/>
                        </a:rPr>
                        <a:t>2.04</a:t>
                      </a:r>
                    </a:p>
                  </a:txBody>
                  <a:tcPr marL="85725" marR="38100" marT="19050" marB="19050" anchor="ctr">
                    <a:solidFill>
                      <a:srgbClr val="F5F8FA"/>
                    </a:solidFill>
                  </a:tcPr>
                </a:tc>
                <a:tc>
                  <a:txBody>
                    <a:bodyPr wrap="none"/>
                    <a:lstStyle/>
                    <a:p>
                      <a:pPr algn="l"/>
                      <a:r>
                        <a:rPr sz="800" b="0">
                          <a:solidFill>
                            <a:srgbClr val="2E2E2E"/>
                          </a:solidFill>
                          <a:latin typeface="Calibri"/>
                        </a:rPr>
                        <a:t>2.29</a:t>
                      </a:r>
                    </a:p>
                  </a:txBody>
                  <a:tcPr marL="85725" marR="38100" marT="19050" marB="19050" anchor="ctr">
                    <a:solidFill>
                      <a:srgbClr val="F5F8FA"/>
                    </a:solidFill>
                  </a:tcPr>
                </a:tc>
                <a:tc>
                  <a:txBody>
                    <a:bodyPr wrap="none"/>
                    <a:lstStyle/>
                    <a:p>
                      <a:pPr algn="l"/>
                      <a:r>
                        <a:rPr sz="800" b="0">
                          <a:solidFill>
                            <a:srgbClr val="2E2E2E"/>
                          </a:solidFill>
                          <a:latin typeface="Calibri"/>
                        </a:rPr>
                        <a:t>2.54</a:t>
                      </a:r>
                    </a:p>
                  </a:txBody>
                  <a:tcPr marL="85725" marR="38100" marT="19050" marB="19050" anchor="ctr">
                    <a:solidFill>
                      <a:srgbClr val="F5F8FA"/>
                    </a:solidFill>
                  </a:tcPr>
                </a:tc>
                <a:tc>
                  <a:txBody>
                    <a:bodyPr wrap="none"/>
                    <a:lstStyle/>
                    <a:p>
                      <a:pPr algn="l"/>
                      <a:r>
                        <a:rPr sz="800" b="0">
                          <a:solidFill>
                            <a:srgbClr val="2E2E2E"/>
                          </a:solidFill>
                          <a:latin typeface="Calibri"/>
                        </a:rPr>
                        <a:t>2.81</a:t>
                      </a:r>
                    </a:p>
                  </a:txBody>
                  <a:tcPr marL="85725" marR="38100" marT="19050" marB="19050" anchor="ctr">
                    <a:solidFill>
                      <a:srgbClr val="F5F8FA"/>
                    </a:solidFill>
                  </a:tcPr>
                </a:tc>
                <a:tc>
                  <a:txBody>
                    <a:bodyPr wrap="none"/>
                    <a:lstStyle/>
                    <a:p>
                      <a:pPr algn="l"/>
                      <a:r>
                        <a:rPr sz="800" b="0">
                          <a:solidFill>
                            <a:srgbClr val="2E2E2E"/>
                          </a:solidFill>
                          <a:latin typeface="Calibri"/>
                        </a:rPr>
                        <a:t>3.09</a:t>
                      </a:r>
                    </a:p>
                  </a:txBody>
                  <a:tcPr marL="85725" marR="38100" marT="19050" marB="19050" anchor="ctr">
                    <a:solidFill>
                      <a:srgbClr val="F5F8FA"/>
                    </a:solidFill>
                  </a:tcPr>
                </a:tc>
                <a:tc>
                  <a:txBody>
                    <a:bodyPr wrap="none"/>
                    <a:lstStyle/>
                    <a:p>
                      <a:pPr algn="l"/>
                      <a:r>
                        <a:rPr sz="800" b="0">
                          <a:solidFill>
                            <a:srgbClr val="2E2E2E"/>
                          </a:solidFill>
                          <a:latin typeface="Calibri"/>
                        </a:rPr>
                        <a:t>3.39</a:t>
                      </a:r>
                    </a:p>
                  </a:txBody>
                  <a:tcPr marL="85725" marR="38100" marT="19050" marB="19050" anchor="ctr">
                    <a:solidFill>
                      <a:srgbClr val="F5F8FA"/>
                    </a:solidFill>
                  </a:tcPr>
                </a:tc>
                <a:tc>
                  <a:txBody>
                    <a:bodyPr wrap="none"/>
                    <a:lstStyle/>
                    <a:p>
                      <a:pPr algn="l"/>
                      <a:r>
                        <a:rPr sz="800" b="0">
                          <a:solidFill>
                            <a:srgbClr val="2E2E2E"/>
                          </a:solidFill>
                          <a:latin typeface="Calibri"/>
                        </a:rPr>
                        <a:t>13.3%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Retail / Specialty Pharmacies</a:t>
                      </a:r>
                    </a:p>
                  </a:txBody>
                  <a:tcPr marL="85725" marR="38100" marT="19050" marB="19050" anchor="ctr">
                    <a:solidFill>
                      <a:srgbClr val="FFFFFF"/>
                    </a:solidFill>
                  </a:tcPr>
                </a:tc>
                <a:tc>
                  <a:txBody>
                    <a:bodyPr wrap="none"/>
                    <a:lstStyle/>
                    <a:p>
                      <a:pPr algn="l"/>
                      <a:r>
                        <a:rPr sz="800" b="0">
                          <a:solidFill>
                            <a:srgbClr val="2E2E2E"/>
                          </a:solidFill>
                          <a:latin typeface="Calibri"/>
                        </a:rPr>
                        <a:t>0.21</a:t>
                      </a:r>
                    </a:p>
                  </a:txBody>
                  <a:tcPr marL="85725" marR="38100" marT="19050" marB="19050" anchor="ctr">
                    <a:solidFill>
                      <a:srgbClr val="FFFFFF"/>
                    </a:solidFill>
                  </a:tcPr>
                </a:tc>
                <a:tc>
                  <a:txBody>
                    <a:bodyPr wrap="none"/>
                    <a:lstStyle/>
                    <a:p>
                      <a:pPr algn="l"/>
                      <a:r>
                        <a:rPr sz="800" b="0">
                          <a:solidFill>
                            <a:srgbClr val="2E2E2E"/>
                          </a:solidFill>
                          <a:latin typeface="Calibri"/>
                        </a:rPr>
                        <a:t>0.24</a:t>
                      </a:r>
                    </a:p>
                  </a:txBody>
                  <a:tcPr marL="85725" marR="38100" marT="19050" marB="19050" anchor="ctr">
                    <a:solidFill>
                      <a:srgbClr val="FFFFFF"/>
                    </a:solidFill>
                  </a:tcPr>
                </a:tc>
                <a:tc>
                  <a:txBody>
                    <a:bodyPr wrap="none"/>
                    <a:lstStyle/>
                    <a:p>
                      <a:pPr algn="l"/>
                      <a:r>
                        <a:rPr sz="800" b="0">
                          <a:solidFill>
                            <a:srgbClr val="2E2E2E"/>
                          </a:solidFill>
                          <a:latin typeface="Calibri"/>
                        </a:rPr>
                        <a:t>0.30</a:t>
                      </a:r>
                    </a:p>
                  </a:txBody>
                  <a:tcPr marL="85725" marR="38100" marT="19050" marB="19050" anchor="ctr">
                    <a:solidFill>
                      <a:srgbClr val="FFFFFF"/>
                    </a:solidFill>
                  </a:tcPr>
                </a:tc>
                <a:tc>
                  <a:txBody>
                    <a:bodyPr wrap="none"/>
                    <a:lstStyle/>
                    <a:p>
                      <a:pPr algn="l"/>
                      <a:r>
                        <a:rPr sz="800" b="0">
                          <a:solidFill>
                            <a:srgbClr val="2E2E2E"/>
                          </a:solidFill>
                          <a:latin typeface="Calibri"/>
                        </a:rPr>
                        <a:t>0.38</a:t>
                      </a:r>
                    </a:p>
                  </a:txBody>
                  <a:tcPr marL="85725" marR="38100" marT="19050" marB="19050" anchor="ctr">
                    <a:solidFill>
                      <a:srgbClr val="FFFFFF"/>
                    </a:solidFill>
                  </a:tcPr>
                </a:tc>
                <a:tc>
                  <a:txBody>
                    <a:bodyPr wrap="none"/>
                    <a:lstStyle/>
                    <a:p>
                      <a:pPr algn="l"/>
                      <a:r>
                        <a:rPr sz="800" b="0">
                          <a:solidFill>
                            <a:srgbClr val="2E2E2E"/>
                          </a:solidFill>
                          <a:latin typeface="Calibri"/>
                        </a:rPr>
                        <a:t>0.48</a:t>
                      </a:r>
                    </a:p>
                  </a:txBody>
                  <a:tcPr marL="85725" marR="38100" marT="19050" marB="19050" anchor="ctr">
                    <a:solidFill>
                      <a:srgbClr val="FFFFFF"/>
                    </a:solidFill>
                  </a:tcPr>
                </a:tc>
                <a:tc>
                  <a:txBody>
                    <a:bodyPr wrap="none"/>
                    <a:lstStyle/>
                    <a:p>
                      <a:pPr algn="l"/>
                      <a:r>
                        <a:rPr sz="800" b="0">
                          <a:solidFill>
                            <a:srgbClr val="2E2E2E"/>
                          </a:solidFill>
                          <a:latin typeface="Calibri"/>
                        </a:rPr>
                        <a:t>0.58</a:t>
                      </a:r>
                    </a:p>
                  </a:txBody>
                  <a:tcPr marL="85725" marR="38100" marT="19050" marB="19050" anchor="ctr">
                    <a:solidFill>
                      <a:srgbClr val="FFFFFF"/>
                    </a:solidFill>
                  </a:tcPr>
                </a:tc>
                <a:tc>
                  <a:txBody>
                    <a:bodyPr wrap="none"/>
                    <a:lstStyle/>
                    <a:p>
                      <a:pPr algn="l"/>
                      <a:r>
                        <a:rPr sz="800" b="0">
                          <a:solidFill>
                            <a:srgbClr val="2E2E2E"/>
                          </a:solidFill>
                          <a:latin typeface="Calibri"/>
                        </a:rPr>
                        <a:t>0.69</a:t>
                      </a:r>
                    </a:p>
                  </a:txBody>
                  <a:tcPr marL="85725" marR="38100" marT="19050" marB="19050" anchor="ctr">
                    <a:solidFill>
                      <a:srgbClr val="FFFFFF"/>
                    </a:solidFill>
                  </a:tcPr>
                </a:tc>
                <a:tc>
                  <a:txBody>
                    <a:bodyPr wrap="none"/>
                    <a:lstStyle/>
                    <a:p>
                      <a:pPr algn="l"/>
                      <a:r>
                        <a:rPr sz="800" b="0">
                          <a:solidFill>
                            <a:srgbClr val="2E2E2E"/>
                          </a:solidFill>
                          <a:latin typeface="Calibri"/>
                        </a:rPr>
                        <a:t>0.81</a:t>
                      </a:r>
                    </a:p>
                  </a:txBody>
                  <a:tcPr marL="85725" marR="38100" marT="19050" marB="19050" anchor="ctr">
                    <a:solidFill>
                      <a:srgbClr val="FFFFFF"/>
                    </a:solidFill>
                  </a:tcPr>
                </a:tc>
                <a:tc>
                  <a:txBody>
                    <a:bodyPr wrap="none"/>
                    <a:lstStyle/>
                    <a:p>
                      <a:pPr algn="l"/>
                      <a:r>
                        <a:rPr sz="800" b="0">
                          <a:solidFill>
                            <a:srgbClr val="2E2E2E"/>
                          </a:solidFill>
                          <a:latin typeface="Calibri"/>
                        </a:rPr>
                        <a:t>0.93</a:t>
                      </a:r>
                    </a:p>
                  </a:txBody>
                  <a:tcPr marL="85725" marR="38100" marT="19050" marB="19050" anchor="ctr">
                    <a:solidFill>
                      <a:srgbClr val="FFFFFF"/>
                    </a:solidFill>
                  </a:tcPr>
                </a:tc>
                <a:tc>
                  <a:txBody>
                    <a:bodyPr wrap="none"/>
                    <a:lstStyle/>
                    <a:p>
                      <a:pPr algn="l"/>
                      <a:r>
                        <a:rPr sz="800" b="0">
                          <a:solidFill>
                            <a:srgbClr val="2E2E2E"/>
                          </a:solidFill>
                          <a:latin typeface="Calibri"/>
                        </a:rPr>
                        <a:t>1.05</a:t>
                      </a:r>
                    </a:p>
                  </a:txBody>
                  <a:tcPr marL="85725" marR="38100" marT="19050" marB="19050" anchor="ctr">
                    <a:solidFill>
                      <a:srgbClr val="FFFFFF"/>
                    </a:solidFill>
                  </a:tcPr>
                </a:tc>
                <a:tc>
                  <a:txBody>
                    <a:bodyPr wrap="none"/>
                    <a:lstStyle/>
                    <a:p>
                      <a:pPr algn="l"/>
                      <a:r>
                        <a:rPr sz="800" b="0">
                          <a:solidFill>
                            <a:srgbClr val="2E2E2E"/>
                          </a:solidFill>
                          <a:latin typeface="Calibri"/>
                        </a:rPr>
                        <a:t>1.18</a:t>
                      </a:r>
                    </a:p>
                  </a:txBody>
                  <a:tcPr marL="85725" marR="38100" marT="19050" marB="19050" anchor="ctr">
                    <a:solidFill>
                      <a:srgbClr val="FFFFFF"/>
                    </a:solidFill>
                  </a:tcPr>
                </a:tc>
                <a:tc>
                  <a:txBody>
                    <a:bodyPr wrap="none"/>
                    <a:lstStyle/>
                    <a:p>
                      <a:pPr algn="l"/>
                      <a:r>
                        <a:rPr sz="800" b="0">
                          <a:solidFill>
                            <a:srgbClr val="2E2E2E"/>
                          </a:solidFill>
                          <a:latin typeface="Calibri"/>
                        </a:rPr>
                        <a:t>1.32</a:t>
                      </a:r>
                    </a:p>
                  </a:txBody>
                  <a:tcPr marL="85725" marR="38100" marT="19050" marB="19050" anchor="ctr">
                    <a:solidFill>
                      <a:srgbClr val="FFFFFF"/>
                    </a:solidFill>
                  </a:tcPr>
                </a:tc>
                <a:tc>
                  <a:txBody>
                    <a:bodyPr wrap="none"/>
                    <a:lstStyle/>
                    <a:p>
                      <a:pPr algn="l"/>
                      <a:r>
                        <a:rPr sz="800" b="0">
                          <a:solidFill>
                            <a:srgbClr val="2E2E2E"/>
                          </a:solidFill>
                          <a:latin typeface="Calibri"/>
                        </a:rPr>
                        <a:t>1.46</a:t>
                      </a:r>
                    </a:p>
                  </a:txBody>
                  <a:tcPr marL="85725" marR="38100" marT="19050" marB="19050" anchor="ctr">
                    <a:solidFill>
                      <a:srgbClr val="FFFFFF"/>
                    </a:solidFill>
                  </a:tcPr>
                </a:tc>
                <a:tc>
                  <a:txBody>
                    <a:bodyPr wrap="none"/>
                    <a:lstStyle/>
                    <a:p>
                      <a:pPr algn="l"/>
                      <a:r>
                        <a:rPr sz="800" b="0">
                          <a:solidFill>
                            <a:srgbClr val="2E2E2E"/>
                          </a:solidFill>
                          <a:latin typeface="Calibri"/>
                        </a:rPr>
                        <a:t>1.60</a:t>
                      </a:r>
                    </a:p>
                  </a:txBody>
                  <a:tcPr marL="85725" marR="38100" marT="19050" marB="19050" anchor="ctr">
                    <a:solidFill>
                      <a:srgbClr val="FFFFFF"/>
                    </a:solidFill>
                  </a:tcPr>
                </a:tc>
                <a:tc>
                  <a:txBody>
                    <a:bodyPr wrap="none"/>
                    <a:lstStyle/>
                    <a:p>
                      <a:pPr algn="l"/>
                      <a:r>
                        <a:rPr sz="800" b="0">
                          <a:solidFill>
                            <a:srgbClr val="2E2E2E"/>
                          </a:solidFill>
                          <a:latin typeface="Calibri"/>
                        </a:rPr>
                        <a:t>1.75</a:t>
                      </a:r>
                    </a:p>
                  </a:txBody>
                  <a:tcPr marL="85725" marR="38100" marT="19050" marB="19050" anchor="ctr">
                    <a:solidFill>
                      <a:srgbClr val="FFFFFF"/>
                    </a:solidFill>
                  </a:tcPr>
                </a:tc>
                <a:tc>
                  <a:txBody>
                    <a:bodyPr wrap="none"/>
                    <a:lstStyle/>
                    <a:p>
                      <a:pPr algn="l"/>
                      <a:r>
                        <a:rPr sz="800" b="0">
                          <a:solidFill>
                            <a:srgbClr val="2E2E2E"/>
                          </a:solidFill>
                          <a:latin typeface="Calibri"/>
                        </a:rPr>
                        <a:t>1.90</a:t>
                      </a:r>
                    </a:p>
                  </a:txBody>
                  <a:tcPr marL="85725" marR="38100" marT="19050" marB="19050" anchor="ctr">
                    <a:solidFill>
                      <a:srgbClr val="FFFFFF"/>
                    </a:solidFill>
                  </a:tcPr>
                </a:tc>
                <a:tc>
                  <a:txBody>
                    <a:bodyPr wrap="none"/>
                    <a:lstStyle/>
                    <a:p>
                      <a:pPr algn="l"/>
                      <a:r>
                        <a:rPr sz="800" b="0">
                          <a:solidFill>
                            <a:srgbClr val="2E2E2E"/>
                          </a:solidFill>
                          <a:latin typeface="Calibri"/>
                        </a:rPr>
                        <a:t>12.6%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Institutional Buyers</a:t>
                      </a:r>
                    </a:p>
                  </a:txBody>
                  <a:tcPr marL="85725" marR="38100" marT="19050" marB="19050" anchor="ctr">
                    <a:solidFill>
                      <a:srgbClr val="F5F8FA"/>
                    </a:solidFill>
                  </a:tcPr>
                </a:tc>
                <a:tc>
                  <a:txBody>
                    <a:bodyPr wrap="none"/>
                    <a:lstStyle/>
                    <a:p>
                      <a:pPr algn="l"/>
                      <a:r>
                        <a:rPr sz="800" b="0">
                          <a:solidFill>
                            <a:srgbClr val="2E2E2E"/>
                          </a:solidFill>
                          <a:latin typeface="Calibri"/>
                        </a:rPr>
                        <a:t>0.28</a:t>
                      </a:r>
                    </a:p>
                  </a:txBody>
                  <a:tcPr marL="85725" marR="38100" marT="19050" marB="19050" anchor="ctr">
                    <a:solidFill>
                      <a:srgbClr val="F5F8FA"/>
                    </a:solidFill>
                  </a:tcPr>
                </a:tc>
                <a:tc>
                  <a:txBody>
                    <a:bodyPr wrap="none"/>
                    <a:lstStyle/>
                    <a:p>
                      <a:pPr algn="l"/>
                      <a:r>
                        <a:rPr sz="800" b="0">
                          <a:solidFill>
                            <a:srgbClr val="2E2E2E"/>
                          </a:solidFill>
                          <a:latin typeface="Calibri"/>
                        </a:rPr>
                        <a:t>0.32</a:t>
                      </a:r>
                    </a:p>
                  </a:txBody>
                  <a:tcPr marL="85725" marR="38100" marT="19050" marB="19050" anchor="ctr">
                    <a:solidFill>
                      <a:srgbClr val="F5F8FA"/>
                    </a:solidFill>
                  </a:tcPr>
                </a:tc>
                <a:tc>
                  <a:txBody>
                    <a:bodyPr wrap="none"/>
                    <a:lstStyle/>
                    <a:p>
                      <a:pPr algn="l"/>
                      <a:r>
                        <a:rPr sz="800" b="0">
                          <a:solidFill>
                            <a:srgbClr val="2E2E2E"/>
                          </a:solidFill>
                          <a:latin typeface="Calibri"/>
                        </a:rPr>
                        <a:t>0.39</a:t>
                      </a:r>
                    </a:p>
                  </a:txBody>
                  <a:tcPr marL="85725" marR="38100" marT="19050" marB="19050" anchor="ctr">
                    <a:solidFill>
                      <a:srgbClr val="F5F8FA"/>
                    </a:solidFill>
                  </a:tcPr>
                </a:tc>
                <a:tc>
                  <a:txBody>
                    <a:bodyPr wrap="none"/>
                    <a:lstStyle/>
                    <a:p>
                      <a:pPr algn="l"/>
                      <a:r>
                        <a:rPr sz="800" b="0">
                          <a:solidFill>
                            <a:srgbClr val="2E2E2E"/>
                          </a:solidFill>
                          <a:latin typeface="Calibri"/>
                        </a:rPr>
                        <a:t>0.50</a:t>
                      </a:r>
                    </a:p>
                  </a:txBody>
                  <a:tcPr marL="85725" marR="38100" marT="19050" marB="19050" anchor="ctr">
                    <a:solidFill>
                      <a:srgbClr val="F5F8FA"/>
                    </a:solidFill>
                  </a:tcPr>
                </a:tc>
                <a:tc>
                  <a:txBody>
                    <a:bodyPr wrap="none"/>
                    <a:lstStyle/>
                    <a:p>
                      <a:pPr algn="l"/>
                      <a:r>
                        <a:rPr sz="800" b="0">
                          <a:solidFill>
                            <a:srgbClr val="2E2E2E"/>
                          </a:solidFill>
                          <a:latin typeface="Calibri"/>
                        </a:rPr>
                        <a:t>0.61</a:t>
                      </a:r>
                    </a:p>
                  </a:txBody>
                  <a:tcPr marL="85725" marR="38100" marT="19050" marB="19050" anchor="ctr">
                    <a:solidFill>
                      <a:srgbClr val="F5F8FA"/>
                    </a:solidFill>
                  </a:tcPr>
                </a:tc>
                <a:tc>
                  <a:txBody>
                    <a:bodyPr wrap="none"/>
                    <a:lstStyle/>
                    <a:p>
                      <a:pPr algn="l"/>
                      <a:r>
                        <a:rPr sz="800" b="0">
                          <a:solidFill>
                            <a:srgbClr val="2E2E2E"/>
                          </a:solidFill>
                          <a:latin typeface="Calibri"/>
                        </a:rPr>
                        <a:t>0.74</a:t>
                      </a:r>
                    </a:p>
                  </a:txBody>
                  <a:tcPr marL="85725" marR="38100" marT="19050" marB="19050" anchor="ctr">
                    <a:solidFill>
                      <a:srgbClr val="F5F8FA"/>
                    </a:solidFill>
                  </a:tcPr>
                </a:tc>
                <a:tc>
                  <a:txBody>
                    <a:bodyPr wrap="none"/>
                    <a:lstStyle/>
                    <a:p>
                      <a:pPr algn="l"/>
                      <a:r>
                        <a:rPr sz="800" b="0">
                          <a:solidFill>
                            <a:srgbClr val="2E2E2E"/>
                          </a:solidFill>
                          <a:latin typeface="Calibri"/>
                        </a:rPr>
                        <a:t>0.87</a:t>
                      </a:r>
                    </a:p>
                  </a:txBody>
                  <a:tcPr marL="85725" marR="38100" marT="19050" marB="19050" anchor="ctr">
                    <a:solidFill>
                      <a:srgbClr val="F5F8FA"/>
                    </a:solidFill>
                  </a:tcPr>
                </a:tc>
                <a:tc>
                  <a:txBody>
                    <a:bodyPr wrap="none"/>
                    <a:lstStyle/>
                    <a:p>
                      <a:pPr algn="l"/>
                      <a:r>
                        <a:rPr sz="800" b="0">
                          <a:solidFill>
                            <a:srgbClr val="2E2E2E"/>
                          </a:solidFill>
                          <a:latin typeface="Calibri"/>
                        </a:rPr>
                        <a:t>1.00</a:t>
                      </a:r>
                    </a:p>
                  </a:txBody>
                  <a:tcPr marL="85725" marR="38100" marT="19050" marB="19050" anchor="ctr">
                    <a:solidFill>
                      <a:srgbClr val="F5F8FA"/>
                    </a:solidFill>
                  </a:tcPr>
                </a:tc>
                <a:tc>
                  <a:txBody>
                    <a:bodyPr wrap="none"/>
                    <a:lstStyle/>
                    <a:p>
                      <a:pPr algn="l"/>
                      <a:r>
                        <a:rPr sz="800" b="0">
                          <a:solidFill>
                            <a:srgbClr val="2E2E2E"/>
                          </a:solidFill>
                          <a:latin typeface="Calibri"/>
                        </a:rPr>
                        <a:t>1.14</a:t>
                      </a:r>
                    </a:p>
                  </a:txBody>
                  <a:tcPr marL="85725" marR="38100" marT="19050" marB="19050" anchor="ctr">
                    <a:solidFill>
                      <a:srgbClr val="F5F8FA"/>
                    </a:solidFill>
                  </a:tcPr>
                </a:tc>
                <a:tc>
                  <a:txBody>
                    <a:bodyPr wrap="none"/>
                    <a:lstStyle/>
                    <a:p>
                      <a:pPr algn="l"/>
                      <a:r>
                        <a:rPr sz="800" b="0">
                          <a:solidFill>
                            <a:srgbClr val="2E2E2E"/>
                          </a:solidFill>
                          <a:latin typeface="Calibri"/>
                        </a:rPr>
                        <a:t>1.27</a:t>
                      </a:r>
                    </a:p>
                  </a:txBody>
                  <a:tcPr marL="85725" marR="38100" marT="19050" marB="19050" anchor="ctr">
                    <a:solidFill>
                      <a:srgbClr val="F5F8FA"/>
                    </a:solidFill>
                  </a:tcPr>
                </a:tc>
                <a:tc>
                  <a:txBody>
                    <a:bodyPr wrap="none"/>
                    <a:lstStyle/>
                    <a:p>
                      <a:pPr algn="l"/>
                      <a:r>
                        <a:rPr sz="800" b="0">
                          <a:solidFill>
                            <a:srgbClr val="2E2E2E"/>
                          </a:solidFill>
                          <a:latin typeface="Calibri"/>
                        </a:rPr>
                        <a:t>1.42</a:t>
                      </a:r>
                    </a:p>
                  </a:txBody>
                  <a:tcPr marL="85725" marR="38100" marT="19050" marB="19050" anchor="ctr">
                    <a:solidFill>
                      <a:srgbClr val="F5F8FA"/>
                    </a:solidFill>
                  </a:tcPr>
                </a:tc>
                <a:tc>
                  <a:txBody>
                    <a:bodyPr wrap="none"/>
                    <a:lstStyle/>
                    <a:p>
                      <a:pPr algn="l"/>
                      <a:r>
                        <a:rPr sz="800" b="0">
                          <a:solidFill>
                            <a:srgbClr val="2E2E2E"/>
                          </a:solidFill>
                          <a:latin typeface="Calibri"/>
                        </a:rPr>
                        <a:t>1.56</a:t>
                      </a:r>
                    </a:p>
                  </a:txBody>
                  <a:tcPr marL="85725" marR="38100" marT="19050" marB="19050" anchor="ctr">
                    <a:solidFill>
                      <a:srgbClr val="F5F8FA"/>
                    </a:solidFill>
                  </a:tcPr>
                </a:tc>
                <a:tc>
                  <a:txBody>
                    <a:bodyPr wrap="none"/>
                    <a:lstStyle/>
                    <a:p>
                      <a:pPr algn="l"/>
                      <a:r>
                        <a:rPr sz="800" b="0">
                          <a:solidFill>
                            <a:srgbClr val="2E2E2E"/>
                          </a:solidFill>
                          <a:latin typeface="Calibri"/>
                        </a:rPr>
                        <a:t>1.70</a:t>
                      </a:r>
                    </a:p>
                  </a:txBody>
                  <a:tcPr marL="85725" marR="38100" marT="19050" marB="19050" anchor="ctr">
                    <a:solidFill>
                      <a:srgbClr val="F5F8FA"/>
                    </a:solidFill>
                  </a:tcPr>
                </a:tc>
                <a:tc>
                  <a:txBody>
                    <a:bodyPr wrap="none"/>
                    <a:lstStyle/>
                    <a:p>
                      <a:pPr algn="l"/>
                      <a:r>
                        <a:rPr sz="800" b="0">
                          <a:solidFill>
                            <a:srgbClr val="2E2E2E"/>
                          </a:solidFill>
                          <a:latin typeface="Calibri"/>
                        </a:rPr>
                        <a:t>1.85</a:t>
                      </a:r>
                    </a:p>
                  </a:txBody>
                  <a:tcPr marL="85725" marR="38100" marT="19050" marB="19050" anchor="ctr">
                    <a:solidFill>
                      <a:srgbClr val="F5F8FA"/>
                    </a:solidFill>
                  </a:tcPr>
                </a:tc>
                <a:tc>
                  <a:txBody>
                    <a:bodyPr wrap="none"/>
                    <a:lstStyle/>
                    <a:p>
                      <a:pPr algn="l"/>
                      <a:r>
                        <a:rPr sz="800" b="0">
                          <a:solidFill>
                            <a:srgbClr val="2E2E2E"/>
                          </a:solidFill>
                          <a:latin typeface="Calibri"/>
                        </a:rPr>
                        <a:t>2.00</a:t>
                      </a:r>
                    </a:p>
                  </a:txBody>
                  <a:tcPr marL="85725" marR="38100" marT="19050" marB="19050" anchor="ctr">
                    <a:solidFill>
                      <a:srgbClr val="F5F8FA"/>
                    </a:solidFill>
                  </a:tcPr>
                </a:tc>
                <a:tc>
                  <a:txBody>
                    <a:bodyPr wrap="none"/>
                    <a:lstStyle/>
                    <a:p>
                      <a:pPr algn="l"/>
                      <a:r>
                        <a:rPr sz="800" b="0">
                          <a:solidFill>
                            <a:srgbClr val="2E2E2E"/>
                          </a:solidFill>
                          <a:latin typeface="Calibri"/>
                        </a:rPr>
                        <a:t>2.15</a:t>
                      </a:r>
                    </a:p>
                  </a:txBody>
                  <a:tcPr marL="85725" marR="38100" marT="19050" marB="19050" anchor="ctr">
                    <a:solidFill>
                      <a:srgbClr val="F5F8FA"/>
                    </a:solidFill>
                  </a:tcPr>
                </a:tc>
                <a:tc>
                  <a:txBody>
                    <a:bodyPr wrap="none"/>
                    <a:lstStyle/>
                    <a:p>
                      <a:pPr algn="l"/>
                      <a:r>
                        <a:rPr sz="800" b="0">
                          <a:solidFill>
                            <a:srgbClr val="2E2E2E"/>
                          </a:solidFill>
                          <a:latin typeface="Calibri"/>
                        </a:rPr>
                        <a:t>11.3%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1.06</a:t>
                      </a:r>
                    </a:p>
                  </a:txBody>
                  <a:tcPr marL="85725" marR="38100" marT="19050" marB="19050" anchor="ctr">
                    <a:solidFill>
                      <a:srgbClr val="E0E8EF"/>
                    </a:solidFill>
                  </a:tcPr>
                </a:tc>
                <a:tc>
                  <a:txBody>
                    <a:bodyPr wrap="none"/>
                    <a:lstStyle/>
                    <a:p>
                      <a:pPr algn="l"/>
                      <a:r>
                        <a:rPr sz="800" b="1">
                          <a:solidFill>
                            <a:srgbClr val="2E2E2E"/>
                          </a:solidFill>
                          <a:latin typeface="Calibri"/>
                        </a:rPr>
                        <a:t>1.24</a:t>
                      </a:r>
                    </a:p>
                  </a:txBody>
                  <a:tcPr marL="85725" marR="38100" marT="19050" marB="19050" anchor="ctr">
                    <a:solidFill>
                      <a:srgbClr val="E0E8EF"/>
                    </a:solidFill>
                  </a:tcPr>
                </a:tc>
                <a:tc>
                  <a:txBody>
                    <a:bodyPr wrap="none"/>
                    <a:lstStyle/>
                    <a:p>
                      <a:pPr algn="l"/>
                      <a:r>
                        <a:rPr sz="800" b="1">
                          <a:solidFill>
                            <a:srgbClr val="2E2E2E"/>
                          </a:solidFill>
                          <a:latin typeface="Calibri"/>
                        </a:rPr>
                        <a:t>1.54</a:t>
                      </a:r>
                    </a:p>
                  </a:txBody>
                  <a:tcPr marL="85725" marR="38100" marT="19050" marB="19050" anchor="ctr">
                    <a:solidFill>
                      <a:srgbClr val="E0E8EF"/>
                    </a:solidFill>
                  </a:tcPr>
                </a:tc>
                <a:tc>
                  <a:txBody>
                    <a:bodyPr wrap="none"/>
                    <a:lstStyle/>
                    <a:p>
                      <a:pPr algn="l"/>
                      <a:r>
                        <a:rPr sz="800" b="1">
                          <a:solidFill>
                            <a:srgbClr val="2E2E2E"/>
                          </a:solidFill>
                          <a:latin typeface="Calibri"/>
                        </a:rPr>
                        <a:t>1.97</a:t>
                      </a:r>
                    </a:p>
                  </a:txBody>
                  <a:tcPr marL="85725" marR="38100" marT="19050" marB="19050" anchor="ctr">
                    <a:solidFill>
                      <a:srgbClr val="E0E8EF"/>
                    </a:solidFill>
                  </a:tcPr>
                </a:tc>
                <a:tc>
                  <a:txBody>
                    <a:bodyPr wrap="none"/>
                    <a:lstStyle/>
                    <a:p>
                      <a:pPr algn="l"/>
                      <a:r>
                        <a:rPr sz="800" b="1">
                          <a:solidFill>
                            <a:srgbClr val="2E2E2E"/>
                          </a:solidFill>
                          <a:latin typeface="Calibri"/>
                        </a:rPr>
                        <a:t>2.46</a:t>
                      </a:r>
                    </a:p>
                  </a:txBody>
                  <a:tcPr marL="85725" marR="38100" marT="19050" marB="19050" anchor="ctr">
                    <a:solidFill>
                      <a:srgbClr val="E0E8EF"/>
                    </a:solidFill>
                  </a:tcPr>
                </a:tc>
                <a:tc>
                  <a:txBody>
                    <a:bodyPr wrap="none"/>
                    <a:lstStyle/>
                    <a:p>
                      <a:pPr algn="l"/>
                      <a:r>
                        <a:rPr sz="800" b="1">
                          <a:solidFill>
                            <a:srgbClr val="2E2E2E"/>
                          </a:solidFill>
                          <a:latin typeface="Calibri"/>
                        </a:rPr>
                        <a:t>2.98</a:t>
                      </a:r>
                    </a:p>
                  </a:txBody>
                  <a:tcPr marL="85725" marR="38100" marT="19050" marB="19050" anchor="ctr">
                    <a:solidFill>
                      <a:srgbClr val="E0E8EF"/>
                    </a:solidFill>
                  </a:tcPr>
                </a:tc>
                <a:tc>
                  <a:txBody>
                    <a:bodyPr wrap="none"/>
                    <a:lstStyle/>
                    <a:p>
                      <a:pPr algn="l"/>
                      <a:r>
                        <a:rPr sz="800" b="1">
                          <a:solidFill>
                            <a:srgbClr val="2E2E2E"/>
                          </a:solidFill>
                          <a:latin typeface="Calibri"/>
                        </a:rPr>
                        <a:t>3.56</a:t>
                      </a:r>
                    </a:p>
                  </a:txBody>
                  <a:tcPr marL="85725" marR="38100" marT="19050" marB="19050" anchor="ctr">
                    <a:solidFill>
                      <a:srgbClr val="E0E8EF"/>
                    </a:solidFill>
                  </a:tcPr>
                </a:tc>
                <a:tc>
                  <a:txBody>
                    <a:bodyPr wrap="none"/>
                    <a:lstStyle/>
                    <a:p>
                      <a:pPr algn="l"/>
                      <a:r>
                        <a:rPr sz="800" b="1">
                          <a:solidFill>
                            <a:srgbClr val="2E2E2E"/>
                          </a:solidFill>
                          <a:latin typeface="Calibri"/>
                        </a:rPr>
                        <a:t>4.15</a:t>
                      </a:r>
                    </a:p>
                  </a:txBody>
                  <a:tcPr marL="85725" marR="38100" marT="19050" marB="19050" anchor="ctr">
                    <a:solidFill>
                      <a:srgbClr val="E0E8EF"/>
                    </a:solidFill>
                  </a:tcPr>
                </a:tc>
                <a:tc>
                  <a:txBody>
                    <a:bodyPr wrap="none"/>
                    <a:lstStyle/>
                    <a:p>
                      <a:pPr algn="l"/>
                      <a:r>
                        <a:rPr sz="800" b="1">
                          <a:solidFill>
                            <a:srgbClr val="2E2E2E"/>
                          </a:solidFill>
                          <a:latin typeface="Calibri"/>
                        </a:rPr>
                        <a:t>4.77</a:t>
                      </a:r>
                    </a:p>
                  </a:txBody>
                  <a:tcPr marL="85725" marR="38100" marT="19050" marB="19050" anchor="ctr">
                    <a:solidFill>
                      <a:srgbClr val="E0E8EF"/>
                    </a:solidFill>
                  </a:tcPr>
                </a:tc>
                <a:tc>
                  <a:txBody>
                    <a:bodyPr wrap="none"/>
                    <a:lstStyle/>
                    <a:p>
                      <a:pPr algn="l"/>
                      <a:r>
                        <a:rPr sz="800" b="1">
                          <a:solidFill>
                            <a:srgbClr val="2E2E2E"/>
                          </a:solidFill>
                          <a:latin typeface="Calibri"/>
                        </a:rPr>
                        <a:t>5.42</a:t>
                      </a:r>
                    </a:p>
                  </a:txBody>
                  <a:tcPr marL="85725" marR="38100" marT="19050" marB="19050" anchor="ctr">
                    <a:solidFill>
                      <a:srgbClr val="E0E8EF"/>
                    </a:solidFill>
                  </a:tcPr>
                </a:tc>
                <a:tc>
                  <a:txBody>
                    <a:bodyPr wrap="none"/>
                    <a:lstStyle/>
                    <a:p>
                      <a:pPr algn="l"/>
                      <a:r>
                        <a:rPr sz="800" b="1">
                          <a:solidFill>
                            <a:srgbClr val="2E2E2E"/>
                          </a:solidFill>
                          <a:latin typeface="Calibri"/>
                        </a:rPr>
                        <a:t>6.10</a:t>
                      </a:r>
                    </a:p>
                  </a:txBody>
                  <a:tcPr marL="85725" marR="38100" marT="19050" marB="19050" anchor="ctr">
                    <a:solidFill>
                      <a:srgbClr val="E0E8EF"/>
                    </a:solidFill>
                  </a:tcPr>
                </a:tc>
                <a:tc>
                  <a:txBody>
                    <a:bodyPr wrap="none"/>
                    <a:lstStyle/>
                    <a:p>
                      <a:pPr algn="l"/>
                      <a:r>
                        <a:rPr sz="800" b="1">
                          <a:solidFill>
                            <a:srgbClr val="2E2E2E"/>
                          </a:solidFill>
                          <a:latin typeface="Calibri"/>
                        </a:rPr>
                        <a:t>6.81</a:t>
                      </a:r>
                    </a:p>
                  </a:txBody>
                  <a:tcPr marL="85725" marR="38100" marT="19050" marB="19050" anchor="ctr">
                    <a:solidFill>
                      <a:srgbClr val="E0E8EF"/>
                    </a:solidFill>
                  </a:tcPr>
                </a:tc>
                <a:tc>
                  <a:txBody>
                    <a:bodyPr wrap="none"/>
                    <a:lstStyle/>
                    <a:p>
                      <a:pPr algn="l"/>
                      <a:r>
                        <a:rPr sz="800" b="1">
                          <a:solidFill>
                            <a:srgbClr val="2E2E2E"/>
                          </a:solidFill>
                          <a:latin typeface="Calibri"/>
                        </a:rPr>
                        <a:t>7.53</a:t>
                      </a:r>
                    </a:p>
                  </a:txBody>
                  <a:tcPr marL="85725" marR="38100" marT="19050" marB="19050" anchor="ctr">
                    <a:solidFill>
                      <a:srgbClr val="E0E8EF"/>
                    </a:solidFill>
                  </a:tcPr>
                </a:tc>
                <a:tc>
                  <a:txBody>
                    <a:bodyPr wrap="none"/>
                    <a:lstStyle/>
                    <a:p>
                      <a:pPr algn="l"/>
                      <a:r>
                        <a:rPr sz="800" b="1">
                          <a:solidFill>
                            <a:srgbClr val="2E2E2E"/>
                          </a:solidFill>
                          <a:latin typeface="Calibri"/>
                        </a:rPr>
                        <a:t>8.29</a:t>
                      </a:r>
                    </a:p>
                  </a:txBody>
                  <a:tcPr marL="85725" marR="38100" marT="19050" marB="19050" anchor="ctr">
                    <a:solidFill>
                      <a:srgbClr val="E0E8EF"/>
                    </a:solidFill>
                  </a:tcPr>
                </a:tc>
                <a:tc>
                  <a:txBody>
                    <a:bodyPr wrap="none"/>
                    <a:lstStyle/>
                    <a:p>
                      <a:pPr algn="l"/>
                      <a:r>
                        <a:rPr sz="800" b="1">
                          <a:solidFill>
                            <a:srgbClr val="2E2E2E"/>
                          </a:solidFill>
                          <a:latin typeface="Calibri"/>
                        </a:rPr>
                        <a:t>9.08</a:t>
                      </a:r>
                    </a:p>
                  </a:txBody>
                  <a:tcPr marL="85725" marR="38100" marT="19050" marB="19050" anchor="ctr">
                    <a:solidFill>
                      <a:srgbClr val="E0E8EF"/>
                    </a:solidFill>
                  </a:tcPr>
                </a:tc>
                <a:tc>
                  <a:txBody>
                    <a:bodyPr wrap="none"/>
                    <a:lstStyle/>
                    <a:p>
                      <a:pPr algn="l"/>
                      <a:r>
                        <a:rPr sz="800" b="1">
                          <a:solidFill>
                            <a:srgbClr val="2E2E2E"/>
                          </a:solidFill>
                          <a:latin typeface="Calibri"/>
                        </a:rPr>
                        <a:t>9.91</a:t>
                      </a:r>
                    </a:p>
                  </a:txBody>
                  <a:tcPr marL="85725" marR="38100" marT="19050" marB="19050" anchor="ctr">
                    <a:solidFill>
                      <a:srgbClr val="E0E8EF"/>
                    </a:solidFill>
                  </a:tcPr>
                </a:tc>
                <a:tc>
                  <a:txBody>
                    <a:bodyPr wrap="none"/>
                    <a:lstStyle/>
                    <a:p>
                      <a:pPr algn="l"/>
                      <a:r>
                        <a:rPr sz="800" b="1">
                          <a:solidFill>
                            <a:srgbClr val="2E2E2E"/>
                          </a:solidFill>
                          <a:latin typeface="Calibri"/>
                        </a:rPr>
                        <a:t>12.7%</a:t>
                      </a:r>
                    </a:p>
                  </a:txBody>
                  <a:tcPr marL="85725" marR="38100" marT="19050" marB="19050" anchor="ctr">
                    <a:solidFill>
                      <a:srgbClr val="E0E8EF"/>
                    </a:solidFill>
                  </a:tcPr>
                </a:tc>
              </a:tr>
            </a:tbl>
          </a:graphicData>
        </a:graphic>
      </p:graphicFrame>
      <p:sp>
        <p:nvSpPr>
          <p:cNvPr id="14" name="TextBox 13"/>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Value, By Buyer Type (US$ Mn)</a:t>
            </a:r>
          </a:p>
        </p:txBody>
      </p:sp>
      <p:graphicFrame>
        <p:nvGraphicFramePr>
          <p:cNvPr id="17" name="Table 16"/>
          <p:cNvGraphicFramePr>
            <a:graphicFrameLocks noGrp="1"/>
          </p:cNvGraphicFramePr>
          <p:nvPr/>
        </p:nvGraphicFramePr>
        <p:xfrm>
          <a:off x="238125" y="4143375"/>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Buyer Type</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Hospitals</a:t>
                      </a:r>
                    </a:p>
                  </a:txBody>
                  <a:tcPr marL="85725" marR="38100" marT="19050" marB="19050" anchor="ctr">
                    <a:solidFill>
                      <a:srgbClr val="FFFFFF"/>
                    </a:solidFill>
                  </a:tcPr>
                </a:tc>
                <a:tc>
                  <a:txBody>
                    <a:bodyPr wrap="none"/>
                    <a:lstStyle/>
                    <a:p>
                      <a:pPr algn="l"/>
                      <a:r>
                        <a:rPr sz="800" b="0">
                          <a:solidFill>
                            <a:srgbClr val="2E2E2E"/>
                          </a:solidFill>
                          <a:latin typeface="Calibri"/>
                        </a:rPr>
                        <a:t>134.7</a:t>
                      </a:r>
                    </a:p>
                  </a:txBody>
                  <a:tcPr marL="85725" marR="38100" marT="19050" marB="19050" anchor="ctr">
                    <a:solidFill>
                      <a:srgbClr val="FFFFFF"/>
                    </a:solidFill>
                  </a:tcPr>
                </a:tc>
                <a:tc>
                  <a:txBody>
                    <a:bodyPr wrap="none"/>
                    <a:lstStyle/>
                    <a:p>
                      <a:pPr algn="l"/>
                      <a:r>
                        <a:rPr sz="800" b="0">
                          <a:solidFill>
                            <a:srgbClr val="2E2E2E"/>
                          </a:solidFill>
                          <a:latin typeface="Calibri"/>
                        </a:rPr>
                        <a:t>153.9</a:t>
                      </a:r>
                    </a:p>
                  </a:txBody>
                  <a:tcPr marL="85725" marR="38100" marT="19050" marB="19050" anchor="ctr">
                    <a:solidFill>
                      <a:srgbClr val="FFFFFF"/>
                    </a:solidFill>
                  </a:tcPr>
                </a:tc>
                <a:tc>
                  <a:txBody>
                    <a:bodyPr wrap="none"/>
                    <a:lstStyle/>
                    <a:p>
                      <a:pPr algn="l"/>
                      <a:r>
                        <a:rPr sz="800" b="0">
                          <a:solidFill>
                            <a:srgbClr val="2E2E2E"/>
                          </a:solidFill>
                          <a:latin typeface="Calibri"/>
                        </a:rPr>
                        <a:t>186.5</a:t>
                      </a:r>
                    </a:p>
                  </a:txBody>
                  <a:tcPr marL="85725" marR="38100" marT="19050" marB="19050" anchor="ctr">
                    <a:solidFill>
                      <a:srgbClr val="FFFFFF"/>
                    </a:solidFill>
                  </a:tcPr>
                </a:tc>
                <a:tc>
                  <a:txBody>
                    <a:bodyPr wrap="none"/>
                    <a:lstStyle/>
                    <a:p>
                      <a:pPr algn="l"/>
                      <a:r>
                        <a:rPr sz="800" b="0">
                          <a:solidFill>
                            <a:srgbClr val="2E2E2E"/>
                          </a:solidFill>
                          <a:latin typeface="Calibri"/>
                        </a:rPr>
                        <a:t>233.1</a:t>
                      </a:r>
                    </a:p>
                  </a:txBody>
                  <a:tcPr marL="85725" marR="38100" marT="19050" marB="19050" anchor="ctr">
                    <a:solidFill>
                      <a:srgbClr val="FFFFFF"/>
                    </a:solidFill>
                  </a:tcPr>
                </a:tc>
                <a:tc>
                  <a:txBody>
                    <a:bodyPr wrap="none"/>
                    <a:lstStyle/>
                    <a:p>
                      <a:pPr algn="l"/>
                      <a:r>
                        <a:rPr sz="800" b="0">
                          <a:solidFill>
                            <a:srgbClr val="2E2E2E"/>
                          </a:solidFill>
                          <a:latin typeface="Calibri"/>
                        </a:rPr>
                        <a:t>285.1</a:t>
                      </a:r>
                    </a:p>
                  </a:txBody>
                  <a:tcPr marL="85725" marR="38100" marT="19050" marB="19050" anchor="ctr">
                    <a:solidFill>
                      <a:srgbClr val="FFFFFF"/>
                    </a:solidFill>
                  </a:tcPr>
                </a:tc>
                <a:tc>
                  <a:txBody>
                    <a:bodyPr wrap="none"/>
                    <a:lstStyle/>
                    <a:p>
                      <a:pPr algn="l"/>
                      <a:r>
                        <a:rPr sz="800" b="0">
                          <a:solidFill>
                            <a:srgbClr val="2E2E2E"/>
                          </a:solidFill>
                          <a:latin typeface="Calibri"/>
                        </a:rPr>
                        <a:t>338.2</a:t>
                      </a:r>
                    </a:p>
                  </a:txBody>
                  <a:tcPr marL="85725" marR="38100" marT="19050" marB="19050" anchor="ctr">
                    <a:solidFill>
                      <a:srgbClr val="FFFFFF"/>
                    </a:solidFill>
                  </a:tcPr>
                </a:tc>
                <a:tc>
                  <a:txBody>
                    <a:bodyPr wrap="none"/>
                    <a:lstStyle/>
                    <a:p>
                      <a:pPr algn="l"/>
                      <a:r>
                        <a:rPr sz="800" b="0">
                          <a:solidFill>
                            <a:srgbClr val="2E2E2E"/>
                          </a:solidFill>
                          <a:latin typeface="Calibri"/>
                        </a:rPr>
                        <a:t>393.7</a:t>
                      </a:r>
                    </a:p>
                  </a:txBody>
                  <a:tcPr marL="85725" marR="38100" marT="19050" marB="19050" anchor="ctr">
                    <a:solidFill>
                      <a:srgbClr val="FFFFFF"/>
                    </a:solidFill>
                  </a:tcPr>
                </a:tc>
                <a:tc>
                  <a:txBody>
                    <a:bodyPr wrap="none"/>
                    <a:lstStyle/>
                    <a:p>
                      <a:pPr algn="l"/>
                      <a:r>
                        <a:rPr sz="800" b="0">
                          <a:solidFill>
                            <a:srgbClr val="2E2E2E"/>
                          </a:solidFill>
                          <a:latin typeface="Calibri"/>
                        </a:rPr>
                        <a:t>449.0</a:t>
                      </a:r>
                    </a:p>
                  </a:txBody>
                  <a:tcPr marL="85725" marR="38100" marT="19050" marB="19050" anchor="ctr">
                    <a:solidFill>
                      <a:srgbClr val="FFFFFF"/>
                    </a:solidFill>
                  </a:tcPr>
                </a:tc>
                <a:tc>
                  <a:txBody>
                    <a:bodyPr wrap="none"/>
                    <a:lstStyle/>
                    <a:p>
                      <a:pPr algn="l"/>
                      <a:r>
                        <a:rPr sz="800" b="0">
                          <a:solidFill>
                            <a:srgbClr val="2E2E2E"/>
                          </a:solidFill>
                          <a:latin typeface="Calibri"/>
                        </a:rPr>
                        <a:t>504.6</a:t>
                      </a:r>
                    </a:p>
                  </a:txBody>
                  <a:tcPr marL="85725" marR="38100" marT="19050" marB="19050" anchor="ctr">
                    <a:solidFill>
                      <a:srgbClr val="FFFFFF"/>
                    </a:solidFill>
                  </a:tcPr>
                </a:tc>
                <a:tc>
                  <a:txBody>
                    <a:bodyPr wrap="none"/>
                    <a:lstStyle/>
                    <a:p>
                      <a:pPr algn="l"/>
                      <a:r>
                        <a:rPr sz="800" b="0">
                          <a:solidFill>
                            <a:srgbClr val="2E2E2E"/>
                          </a:solidFill>
                          <a:latin typeface="Calibri"/>
                        </a:rPr>
                        <a:t>560.3</a:t>
                      </a:r>
                    </a:p>
                  </a:txBody>
                  <a:tcPr marL="85725" marR="38100" marT="19050" marB="19050" anchor="ctr">
                    <a:solidFill>
                      <a:srgbClr val="FFFFFF"/>
                    </a:solidFill>
                  </a:tcPr>
                </a:tc>
                <a:tc>
                  <a:txBody>
                    <a:bodyPr wrap="none"/>
                    <a:lstStyle/>
                    <a:p>
                      <a:pPr algn="l"/>
                      <a:r>
                        <a:rPr sz="800" b="0">
                          <a:solidFill>
                            <a:srgbClr val="2E2E2E"/>
                          </a:solidFill>
                          <a:latin typeface="Calibri"/>
                        </a:rPr>
                        <a:t>615.6</a:t>
                      </a:r>
                    </a:p>
                  </a:txBody>
                  <a:tcPr marL="85725" marR="38100" marT="19050" marB="19050" anchor="ctr">
                    <a:solidFill>
                      <a:srgbClr val="FFFFFF"/>
                    </a:solidFill>
                  </a:tcPr>
                </a:tc>
                <a:tc>
                  <a:txBody>
                    <a:bodyPr wrap="none"/>
                    <a:lstStyle/>
                    <a:p>
                      <a:pPr algn="l"/>
                      <a:r>
                        <a:rPr sz="800" b="0">
                          <a:solidFill>
                            <a:srgbClr val="2E2E2E"/>
                          </a:solidFill>
                          <a:latin typeface="Calibri"/>
                        </a:rPr>
                        <a:t>670.6</a:t>
                      </a:r>
                    </a:p>
                  </a:txBody>
                  <a:tcPr marL="85725" marR="38100" marT="19050" marB="19050" anchor="ctr">
                    <a:solidFill>
                      <a:srgbClr val="FFFFFF"/>
                    </a:solidFill>
                  </a:tcPr>
                </a:tc>
                <a:tc>
                  <a:txBody>
                    <a:bodyPr wrap="none"/>
                    <a:lstStyle/>
                    <a:p>
                      <a:pPr algn="l"/>
                      <a:r>
                        <a:rPr sz="800" b="0">
                          <a:solidFill>
                            <a:srgbClr val="2E2E2E"/>
                          </a:solidFill>
                          <a:latin typeface="Calibri"/>
                        </a:rPr>
                        <a:t>724.8</a:t>
                      </a:r>
                    </a:p>
                  </a:txBody>
                  <a:tcPr marL="85725" marR="38100" marT="19050" marB="19050" anchor="ctr">
                    <a:solidFill>
                      <a:srgbClr val="FFFFFF"/>
                    </a:solidFill>
                  </a:tcPr>
                </a:tc>
                <a:tc>
                  <a:txBody>
                    <a:bodyPr wrap="none"/>
                    <a:lstStyle/>
                    <a:p>
                      <a:pPr algn="l"/>
                      <a:r>
                        <a:rPr sz="800" b="0">
                          <a:solidFill>
                            <a:srgbClr val="2E2E2E"/>
                          </a:solidFill>
                          <a:latin typeface="Calibri"/>
                        </a:rPr>
                        <a:t>778.7</a:t>
                      </a:r>
                    </a:p>
                  </a:txBody>
                  <a:tcPr marL="85725" marR="38100" marT="19050" marB="19050" anchor="ctr">
                    <a:solidFill>
                      <a:srgbClr val="FFFFFF"/>
                    </a:solidFill>
                  </a:tcPr>
                </a:tc>
                <a:tc>
                  <a:txBody>
                    <a:bodyPr wrap="none"/>
                    <a:lstStyle/>
                    <a:p>
                      <a:pPr algn="l"/>
                      <a:r>
                        <a:rPr sz="800" b="0">
                          <a:solidFill>
                            <a:srgbClr val="2E2E2E"/>
                          </a:solidFill>
                          <a:latin typeface="Calibri"/>
                        </a:rPr>
                        <a:t>832.5</a:t>
                      </a:r>
                    </a:p>
                  </a:txBody>
                  <a:tcPr marL="85725" marR="38100" marT="19050" marB="19050" anchor="ctr">
                    <a:solidFill>
                      <a:srgbClr val="FFFFFF"/>
                    </a:solidFill>
                  </a:tcPr>
                </a:tc>
                <a:tc>
                  <a:txBody>
                    <a:bodyPr wrap="none"/>
                    <a:lstStyle/>
                    <a:p>
                      <a:pPr algn="l"/>
                      <a:r>
                        <a:rPr sz="800" b="0">
                          <a:solidFill>
                            <a:srgbClr val="2E2E2E"/>
                          </a:solidFill>
                          <a:latin typeface="Calibri"/>
                        </a:rPr>
                        <a:t>886.4</a:t>
                      </a:r>
                    </a:p>
                  </a:txBody>
                  <a:tcPr marL="85725" marR="38100" marT="19050" marB="19050" anchor="ctr">
                    <a:solidFill>
                      <a:srgbClr val="FFFFFF"/>
                    </a:solidFill>
                  </a:tcPr>
                </a:tc>
                <a:tc>
                  <a:txBody>
                    <a:bodyPr wrap="none"/>
                    <a:lstStyle/>
                    <a:p>
                      <a:pPr algn="l"/>
                      <a:r>
                        <a:rPr sz="800" b="0">
                          <a:solidFill>
                            <a:srgbClr val="2E2E2E"/>
                          </a:solidFill>
                          <a:latin typeface="Calibri"/>
                        </a:rPr>
                        <a:t>10.1%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Specialty Clinics</a:t>
                      </a:r>
                    </a:p>
                  </a:txBody>
                  <a:tcPr marL="85725" marR="38100" marT="19050" marB="19050" anchor="ctr">
                    <a:solidFill>
                      <a:srgbClr val="F5F8FA"/>
                    </a:solidFill>
                  </a:tcPr>
                </a:tc>
                <a:tc>
                  <a:txBody>
                    <a:bodyPr wrap="none"/>
                    <a:lstStyle/>
                    <a:p>
                      <a:pPr algn="l"/>
                      <a:r>
                        <a:rPr sz="800" b="0">
                          <a:solidFill>
                            <a:srgbClr val="2E2E2E"/>
                          </a:solidFill>
                          <a:latin typeface="Calibri"/>
                        </a:rPr>
                        <a:t>220.0</a:t>
                      </a:r>
                    </a:p>
                  </a:txBody>
                  <a:tcPr marL="85725" marR="38100" marT="19050" marB="19050" anchor="ctr">
                    <a:solidFill>
                      <a:srgbClr val="F5F8FA"/>
                    </a:solidFill>
                  </a:tcPr>
                </a:tc>
                <a:tc>
                  <a:txBody>
                    <a:bodyPr wrap="none"/>
                    <a:lstStyle/>
                    <a:p>
                      <a:pPr algn="l"/>
                      <a:r>
                        <a:rPr sz="800" b="0">
                          <a:solidFill>
                            <a:srgbClr val="2E2E2E"/>
                          </a:solidFill>
                          <a:latin typeface="Calibri"/>
                        </a:rPr>
                        <a:t>246.9</a:t>
                      </a:r>
                    </a:p>
                  </a:txBody>
                  <a:tcPr marL="85725" marR="38100" marT="19050" marB="19050" anchor="ctr">
                    <a:solidFill>
                      <a:srgbClr val="F5F8FA"/>
                    </a:solidFill>
                  </a:tcPr>
                </a:tc>
                <a:tc>
                  <a:txBody>
                    <a:bodyPr wrap="none"/>
                    <a:lstStyle/>
                    <a:p>
                      <a:pPr algn="l"/>
                      <a:r>
                        <a:rPr sz="800" b="0">
                          <a:solidFill>
                            <a:srgbClr val="2E2E2E"/>
                          </a:solidFill>
                          <a:latin typeface="Calibri"/>
                        </a:rPr>
                        <a:t>294.0</a:t>
                      </a:r>
                    </a:p>
                  </a:txBody>
                  <a:tcPr marL="85725" marR="38100" marT="19050" marB="19050" anchor="ctr">
                    <a:solidFill>
                      <a:srgbClr val="F5F8FA"/>
                    </a:solidFill>
                  </a:tcPr>
                </a:tc>
                <a:tc>
                  <a:txBody>
                    <a:bodyPr wrap="none"/>
                    <a:lstStyle/>
                    <a:p>
                      <a:pPr algn="l"/>
                      <a:r>
                        <a:rPr sz="800" b="0">
                          <a:solidFill>
                            <a:srgbClr val="2E2E2E"/>
                          </a:solidFill>
                          <a:latin typeface="Calibri"/>
                        </a:rPr>
                        <a:t>361.1</a:t>
                      </a:r>
                    </a:p>
                  </a:txBody>
                  <a:tcPr marL="85725" marR="38100" marT="19050" marB="19050" anchor="ctr">
                    <a:solidFill>
                      <a:srgbClr val="F5F8FA"/>
                    </a:solidFill>
                  </a:tcPr>
                </a:tc>
                <a:tc>
                  <a:txBody>
                    <a:bodyPr wrap="none"/>
                    <a:lstStyle/>
                    <a:p>
                      <a:pPr algn="l"/>
                      <a:r>
                        <a:rPr sz="800" b="0">
                          <a:solidFill>
                            <a:srgbClr val="2E2E2E"/>
                          </a:solidFill>
                          <a:latin typeface="Calibri"/>
                        </a:rPr>
                        <a:t>434.1</a:t>
                      </a:r>
                    </a:p>
                  </a:txBody>
                  <a:tcPr marL="85725" marR="38100" marT="19050" marB="19050" anchor="ctr">
                    <a:solidFill>
                      <a:srgbClr val="F5F8FA"/>
                    </a:solidFill>
                  </a:tcPr>
                </a:tc>
                <a:tc>
                  <a:txBody>
                    <a:bodyPr wrap="none"/>
                    <a:lstStyle/>
                    <a:p>
                      <a:pPr algn="l"/>
                      <a:r>
                        <a:rPr sz="800" b="0">
                          <a:solidFill>
                            <a:srgbClr val="2E2E2E"/>
                          </a:solidFill>
                          <a:latin typeface="Calibri"/>
                        </a:rPr>
                        <a:t>506.0</a:t>
                      </a:r>
                    </a:p>
                  </a:txBody>
                  <a:tcPr marL="85725" marR="38100" marT="19050" marB="19050" anchor="ctr">
                    <a:solidFill>
                      <a:srgbClr val="F5F8FA"/>
                    </a:solidFill>
                  </a:tcPr>
                </a:tc>
                <a:tc>
                  <a:txBody>
                    <a:bodyPr wrap="none"/>
                    <a:lstStyle/>
                    <a:p>
                      <a:pPr algn="l"/>
                      <a:r>
                        <a:rPr sz="800" b="0">
                          <a:solidFill>
                            <a:srgbClr val="2E2E2E"/>
                          </a:solidFill>
                          <a:latin typeface="Calibri"/>
                        </a:rPr>
                        <a:t>579.1</a:t>
                      </a:r>
                    </a:p>
                  </a:txBody>
                  <a:tcPr marL="85725" marR="38100" marT="19050" marB="19050" anchor="ctr">
                    <a:solidFill>
                      <a:srgbClr val="F5F8FA"/>
                    </a:solidFill>
                  </a:tcPr>
                </a:tc>
                <a:tc>
                  <a:txBody>
                    <a:bodyPr wrap="none"/>
                    <a:lstStyle/>
                    <a:p>
                      <a:pPr algn="l"/>
                      <a:r>
                        <a:rPr sz="800" b="0">
                          <a:solidFill>
                            <a:srgbClr val="2E2E2E"/>
                          </a:solidFill>
                          <a:latin typeface="Calibri"/>
                        </a:rPr>
                        <a:t>649.3</a:t>
                      </a:r>
                    </a:p>
                  </a:txBody>
                  <a:tcPr marL="85725" marR="38100" marT="19050" marB="19050" anchor="ctr">
                    <a:solidFill>
                      <a:srgbClr val="F5F8FA"/>
                    </a:solidFill>
                  </a:tcPr>
                </a:tc>
                <a:tc>
                  <a:txBody>
                    <a:bodyPr wrap="none"/>
                    <a:lstStyle/>
                    <a:p>
                      <a:pPr algn="l"/>
                      <a:r>
                        <a:rPr sz="800" b="0">
                          <a:solidFill>
                            <a:srgbClr val="2E2E2E"/>
                          </a:solidFill>
                          <a:latin typeface="Calibri"/>
                        </a:rPr>
                        <a:t>717.5</a:t>
                      </a:r>
                    </a:p>
                  </a:txBody>
                  <a:tcPr marL="85725" marR="38100" marT="19050" marB="19050" anchor="ctr">
                    <a:solidFill>
                      <a:srgbClr val="F5F8FA"/>
                    </a:solidFill>
                  </a:tcPr>
                </a:tc>
                <a:tc>
                  <a:txBody>
                    <a:bodyPr wrap="none"/>
                    <a:lstStyle/>
                    <a:p>
                      <a:pPr algn="l"/>
                      <a:r>
                        <a:rPr sz="800" b="0">
                          <a:solidFill>
                            <a:srgbClr val="2E2E2E"/>
                          </a:solidFill>
                          <a:latin typeface="Calibri"/>
                        </a:rPr>
                        <a:t>783.3</a:t>
                      </a:r>
                    </a:p>
                  </a:txBody>
                  <a:tcPr marL="85725" marR="38100" marT="19050" marB="19050" anchor="ctr">
                    <a:solidFill>
                      <a:srgbClr val="F5F8FA"/>
                    </a:solidFill>
                  </a:tcPr>
                </a:tc>
                <a:tc>
                  <a:txBody>
                    <a:bodyPr wrap="none"/>
                    <a:lstStyle/>
                    <a:p>
                      <a:pPr algn="l"/>
                      <a:r>
                        <a:rPr sz="800" b="0">
                          <a:solidFill>
                            <a:srgbClr val="2E2E2E"/>
                          </a:solidFill>
                          <a:latin typeface="Calibri"/>
                        </a:rPr>
                        <a:t>846.4</a:t>
                      </a:r>
                    </a:p>
                  </a:txBody>
                  <a:tcPr marL="85725" marR="38100" marT="19050" marB="19050" anchor="ctr">
                    <a:solidFill>
                      <a:srgbClr val="F5F8FA"/>
                    </a:solidFill>
                  </a:tcPr>
                </a:tc>
                <a:tc>
                  <a:txBody>
                    <a:bodyPr wrap="none"/>
                    <a:lstStyle/>
                    <a:p>
                      <a:pPr algn="l"/>
                      <a:r>
                        <a:rPr sz="800" b="0">
                          <a:solidFill>
                            <a:srgbClr val="2E2E2E"/>
                          </a:solidFill>
                          <a:latin typeface="Calibri"/>
                        </a:rPr>
                        <a:t>906.9</a:t>
                      </a:r>
                    </a:p>
                  </a:txBody>
                  <a:tcPr marL="85725" marR="38100" marT="19050" marB="19050" anchor="ctr">
                    <a:solidFill>
                      <a:srgbClr val="F5F8FA"/>
                    </a:solidFill>
                  </a:tcPr>
                </a:tc>
                <a:tc>
                  <a:txBody>
                    <a:bodyPr wrap="none"/>
                    <a:lstStyle/>
                    <a:p>
                      <a:pPr algn="l"/>
                      <a:r>
                        <a:rPr sz="800" b="0">
                          <a:solidFill>
                            <a:srgbClr val="2E2E2E"/>
                          </a:solidFill>
                          <a:latin typeface="Calibri"/>
                        </a:rPr>
                        <a:t>964.1</a:t>
                      </a:r>
                    </a:p>
                  </a:txBody>
                  <a:tcPr marL="85725" marR="38100" marT="19050" marB="19050" anchor="ctr">
                    <a:solidFill>
                      <a:srgbClr val="F5F8FA"/>
                    </a:solidFill>
                  </a:tcPr>
                </a:tc>
                <a:tc>
                  <a:txBody>
                    <a:bodyPr wrap="none"/>
                    <a:lstStyle/>
                    <a:p>
                      <a:pPr algn="l"/>
                      <a:r>
                        <a:rPr sz="800" b="0">
                          <a:solidFill>
                            <a:srgbClr val="2E2E2E"/>
                          </a:solidFill>
                          <a:latin typeface="Calibri"/>
                        </a:rPr>
                        <a:t>1,019</a:t>
                      </a:r>
                    </a:p>
                  </a:txBody>
                  <a:tcPr marL="85725" marR="38100" marT="19050" marB="19050" anchor="ctr">
                    <a:solidFill>
                      <a:srgbClr val="F5F8FA"/>
                    </a:solidFill>
                  </a:tcPr>
                </a:tc>
                <a:tc>
                  <a:txBody>
                    <a:bodyPr wrap="none"/>
                    <a:lstStyle/>
                    <a:p>
                      <a:pPr algn="l"/>
                      <a:r>
                        <a:rPr sz="800" b="0">
                          <a:solidFill>
                            <a:srgbClr val="2E2E2E"/>
                          </a:solidFill>
                          <a:latin typeface="Calibri"/>
                        </a:rPr>
                        <a:t>1,072</a:t>
                      </a:r>
                    </a:p>
                  </a:txBody>
                  <a:tcPr marL="85725" marR="38100" marT="19050" marB="19050" anchor="ctr">
                    <a:solidFill>
                      <a:srgbClr val="F5F8FA"/>
                    </a:solidFill>
                  </a:tcPr>
                </a:tc>
                <a:tc>
                  <a:txBody>
                    <a:bodyPr wrap="none"/>
                    <a:lstStyle/>
                    <a:p>
                      <a:pPr algn="l"/>
                      <a:r>
                        <a:rPr sz="800" b="0">
                          <a:solidFill>
                            <a:srgbClr val="2E2E2E"/>
                          </a:solidFill>
                          <a:latin typeface="Calibri"/>
                        </a:rPr>
                        <a:t>1,123</a:t>
                      </a:r>
                    </a:p>
                  </a:txBody>
                  <a:tcPr marL="85725" marR="38100" marT="19050" marB="19050" anchor="ctr">
                    <a:solidFill>
                      <a:srgbClr val="F5F8FA"/>
                    </a:solidFill>
                  </a:tcPr>
                </a:tc>
                <a:tc>
                  <a:txBody>
                    <a:bodyPr wrap="none"/>
                    <a:lstStyle/>
                    <a:p>
                      <a:pPr algn="l"/>
                      <a:r>
                        <a:rPr sz="800" b="0">
                          <a:solidFill>
                            <a:srgbClr val="2E2E2E"/>
                          </a:solidFill>
                          <a:latin typeface="Calibri"/>
                        </a:rPr>
                        <a:t>8.3%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Retail / Specialty Pharmacies</a:t>
                      </a:r>
                    </a:p>
                  </a:txBody>
                  <a:tcPr marL="85725" marR="38100" marT="19050" marB="19050" anchor="ctr">
                    <a:solidFill>
                      <a:srgbClr val="FFFFFF"/>
                    </a:solidFill>
                  </a:tcPr>
                </a:tc>
                <a:tc>
                  <a:txBody>
                    <a:bodyPr wrap="none"/>
                    <a:lstStyle/>
                    <a:p>
                      <a:pPr algn="l"/>
                      <a:r>
                        <a:rPr sz="800" b="0">
                          <a:solidFill>
                            <a:srgbClr val="2E2E2E"/>
                          </a:solidFill>
                          <a:latin typeface="Calibri"/>
                        </a:rPr>
                        <a:t>99.7</a:t>
                      </a:r>
                    </a:p>
                  </a:txBody>
                  <a:tcPr marL="85725" marR="38100" marT="19050" marB="19050" anchor="ctr">
                    <a:solidFill>
                      <a:srgbClr val="FFFFFF"/>
                    </a:solidFill>
                  </a:tcPr>
                </a:tc>
                <a:tc>
                  <a:txBody>
                    <a:bodyPr wrap="none"/>
                    <a:lstStyle/>
                    <a:p>
                      <a:pPr algn="l"/>
                      <a:r>
                        <a:rPr sz="800" b="0">
                          <a:solidFill>
                            <a:srgbClr val="2E2E2E"/>
                          </a:solidFill>
                          <a:latin typeface="Calibri"/>
                        </a:rPr>
                        <a:t>113.4</a:t>
                      </a:r>
                    </a:p>
                  </a:txBody>
                  <a:tcPr marL="85725" marR="38100" marT="19050" marB="19050" anchor="ctr">
                    <a:solidFill>
                      <a:srgbClr val="FFFFFF"/>
                    </a:solidFill>
                  </a:tcPr>
                </a:tc>
                <a:tc>
                  <a:txBody>
                    <a:bodyPr wrap="none"/>
                    <a:lstStyle/>
                    <a:p>
                      <a:pPr algn="l"/>
                      <a:r>
                        <a:rPr sz="800" b="0">
                          <a:solidFill>
                            <a:srgbClr val="2E2E2E"/>
                          </a:solidFill>
                          <a:latin typeface="Calibri"/>
                        </a:rPr>
                        <a:t>136.9</a:t>
                      </a:r>
                    </a:p>
                  </a:txBody>
                  <a:tcPr marL="85725" marR="38100" marT="19050" marB="19050" anchor="ctr">
                    <a:solidFill>
                      <a:srgbClr val="FFFFFF"/>
                    </a:solidFill>
                  </a:tcPr>
                </a:tc>
                <a:tc>
                  <a:txBody>
                    <a:bodyPr wrap="none"/>
                    <a:lstStyle/>
                    <a:p>
                      <a:pPr algn="l"/>
                      <a:r>
                        <a:rPr sz="800" b="0">
                          <a:solidFill>
                            <a:srgbClr val="2E2E2E"/>
                          </a:solidFill>
                          <a:latin typeface="Calibri"/>
                        </a:rPr>
                        <a:t>170.4</a:t>
                      </a:r>
                    </a:p>
                  </a:txBody>
                  <a:tcPr marL="85725" marR="38100" marT="19050" marB="19050" anchor="ctr">
                    <a:solidFill>
                      <a:srgbClr val="FFFFFF"/>
                    </a:solidFill>
                  </a:tcPr>
                </a:tc>
                <a:tc>
                  <a:txBody>
                    <a:bodyPr wrap="none"/>
                    <a:lstStyle/>
                    <a:p>
                      <a:pPr algn="l"/>
                      <a:r>
                        <a:rPr sz="800" b="0">
                          <a:solidFill>
                            <a:srgbClr val="2E2E2E"/>
                          </a:solidFill>
                          <a:latin typeface="Calibri"/>
                        </a:rPr>
                        <a:t>207.6</a:t>
                      </a:r>
                    </a:p>
                  </a:txBody>
                  <a:tcPr marL="85725" marR="38100" marT="19050" marB="19050" anchor="ctr">
                    <a:solidFill>
                      <a:srgbClr val="FFFFFF"/>
                    </a:solidFill>
                  </a:tcPr>
                </a:tc>
                <a:tc>
                  <a:txBody>
                    <a:bodyPr wrap="none"/>
                    <a:lstStyle/>
                    <a:p>
                      <a:pPr algn="l"/>
                      <a:r>
                        <a:rPr sz="800" b="0">
                          <a:solidFill>
                            <a:srgbClr val="2E2E2E"/>
                          </a:solidFill>
                          <a:latin typeface="Calibri"/>
                        </a:rPr>
                        <a:t>245.3</a:t>
                      </a:r>
                    </a:p>
                  </a:txBody>
                  <a:tcPr marL="85725" marR="38100" marT="19050" marB="19050" anchor="ctr">
                    <a:solidFill>
                      <a:srgbClr val="FFFFFF"/>
                    </a:solidFill>
                  </a:tcPr>
                </a:tc>
                <a:tc>
                  <a:txBody>
                    <a:bodyPr wrap="none"/>
                    <a:lstStyle/>
                    <a:p>
                      <a:pPr algn="l"/>
                      <a:r>
                        <a:rPr sz="800" b="0">
                          <a:solidFill>
                            <a:srgbClr val="2E2E2E"/>
                          </a:solidFill>
                          <a:latin typeface="Calibri"/>
                        </a:rPr>
                        <a:t>284.5</a:t>
                      </a:r>
                    </a:p>
                  </a:txBody>
                  <a:tcPr marL="85725" marR="38100" marT="19050" marB="19050" anchor="ctr">
                    <a:solidFill>
                      <a:srgbClr val="FFFFFF"/>
                    </a:solidFill>
                  </a:tcPr>
                </a:tc>
                <a:tc>
                  <a:txBody>
                    <a:bodyPr wrap="none"/>
                    <a:lstStyle/>
                    <a:p>
                      <a:pPr algn="l"/>
                      <a:r>
                        <a:rPr sz="800" b="0">
                          <a:solidFill>
                            <a:srgbClr val="2E2E2E"/>
                          </a:solidFill>
                          <a:latin typeface="Calibri"/>
                        </a:rPr>
                        <a:t>323.3</a:t>
                      </a:r>
                    </a:p>
                  </a:txBody>
                  <a:tcPr marL="85725" marR="38100" marT="19050" marB="19050" anchor="ctr">
                    <a:solidFill>
                      <a:srgbClr val="FFFFFF"/>
                    </a:solidFill>
                  </a:tcPr>
                </a:tc>
                <a:tc>
                  <a:txBody>
                    <a:bodyPr wrap="none"/>
                    <a:lstStyle/>
                    <a:p>
                      <a:pPr algn="l"/>
                      <a:r>
                        <a:rPr sz="800" b="0">
                          <a:solidFill>
                            <a:srgbClr val="2E2E2E"/>
                          </a:solidFill>
                          <a:latin typeface="Calibri"/>
                        </a:rPr>
                        <a:t>362.0</a:t>
                      </a:r>
                    </a:p>
                  </a:txBody>
                  <a:tcPr marL="85725" marR="38100" marT="19050" marB="19050" anchor="ctr">
                    <a:solidFill>
                      <a:srgbClr val="FFFFFF"/>
                    </a:solidFill>
                  </a:tcPr>
                </a:tc>
                <a:tc>
                  <a:txBody>
                    <a:bodyPr wrap="none"/>
                    <a:lstStyle/>
                    <a:p>
                      <a:pPr algn="l"/>
                      <a:r>
                        <a:rPr sz="800" b="0">
                          <a:solidFill>
                            <a:srgbClr val="2E2E2E"/>
                          </a:solidFill>
                          <a:latin typeface="Calibri"/>
                        </a:rPr>
                        <a:t>400.5</a:t>
                      </a:r>
                    </a:p>
                  </a:txBody>
                  <a:tcPr marL="85725" marR="38100" marT="19050" marB="19050" anchor="ctr">
                    <a:solidFill>
                      <a:srgbClr val="FFFFFF"/>
                    </a:solidFill>
                  </a:tcPr>
                </a:tc>
                <a:tc>
                  <a:txBody>
                    <a:bodyPr wrap="none"/>
                    <a:lstStyle/>
                    <a:p>
                      <a:pPr algn="l"/>
                      <a:r>
                        <a:rPr sz="800" b="0">
                          <a:solidFill>
                            <a:srgbClr val="2E2E2E"/>
                          </a:solidFill>
                          <a:latin typeface="Calibri"/>
                        </a:rPr>
                        <a:t>438.4</a:t>
                      </a:r>
                    </a:p>
                  </a:txBody>
                  <a:tcPr marL="85725" marR="38100" marT="19050" marB="19050" anchor="ctr">
                    <a:solidFill>
                      <a:srgbClr val="FFFFFF"/>
                    </a:solidFill>
                  </a:tcPr>
                </a:tc>
                <a:tc>
                  <a:txBody>
                    <a:bodyPr wrap="none"/>
                    <a:lstStyle/>
                    <a:p>
                      <a:pPr algn="l"/>
                      <a:r>
                        <a:rPr sz="800" b="0">
                          <a:solidFill>
                            <a:srgbClr val="2E2E2E"/>
                          </a:solidFill>
                          <a:latin typeface="Calibri"/>
                        </a:rPr>
                        <a:t>475.9</a:t>
                      </a:r>
                    </a:p>
                  </a:txBody>
                  <a:tcPr marL="85725" marR="38100" marT="19050" marB="19050" anchor="ctr">
                    <a:solidFill>
                      <a:srgbClr val="FFFFFF"/>
                    </a:solidFill>
                  </a:tcPr>
                </a:tc>
                <a:tc>
                  <a:txBody>
                    <a:bodyPr wrap="none"/>
                    <a:lstStyle/>
                    <a:p>
                      <a:pPr algn="l"/>
                      <a:r>
                        <a:rPr sz="800" b="0">
                          <a:solidFill>
                            <a:srgbClr val="2E2E2E"/>
                          </a:solidFill>
                          <a:latin typeface="Calibri"/>
                        </a:rPr>
                        <a:t>512.6</a:t>
                      </a:r>
                    </a:p>
                  </a:txBody>
                  <a:tcPr marL="85725" marR="38100" marT="19050" marB="19050" anchor="ctr">
                    <a:solidFill>
                      <a:srgbClr val="FFFFFF"/>
                    </a:solidFill>
                  </a:tcPr>
                </a:tc>
                <a:tc>
                  <a:txBody>
                    <a:bodyPr wrap="none"/>
                    <a:lstStyle/>
                    <a:p>
                      <a:pPr algn="l"/>
                      <a:r>
                        <a:rPr sz="800" b="0">
                          <a:solidFill>
                            <a:srgbClr val="2E2E2E"/>
                          </a:solidFill>
                          <a:latin typeface="Calibri"/>
                        </a:rPr>
                        <a:t>548.9</a:t>
                      </a:r>
                    </a:p>
                  </a:txBody>
                  <a:tcPr marL="85725" marR="38100" marT="19050" marB="19050" anchor="ctr">
                    <a:solidFill>
                      <a:srgbClr val="FFFFFF"/>
                    </a:solidFill>
                  </a:tcPr>
                </a:tc>
                <a:tc>
                  <a:txBody>
                    <a:bodyPr wrap="none"/>
                    <a:lstStyle/>
                    <a:p>
                      <a:pPr algn="l"/>
                      <a:r>
                        <a:rPr sz="800" b="0">
                          <a:solidFill>
                            <a:srgbClr val="2E2E2E"/>
                          </a:solidFill>
                          <a:latin typeface="Calibri"/>
                        </a:rPr>
                        <a:t>584.9</a:t>
                      </a:r>
                    </a:p>
                  </a:txBody>
                  <a:tcPr marL="85725" marR="38100" marT="19050" marB="19050" anchor="ctr">
                    <a:solidFill>
                      <a:srgbClr val="FFFFFF"/>
                    </a:solidFill>
                  </a:tcPr>
                </a:tc>
                <a:tc>
                  <a:txBody>
                    <a:bodyPr wrap="none"/>
                    <a:lstStyle/>
                    <a:p>
                      <a:pPr algn="l"/>
                      <a:r>
                        <a:rPr sz="800" b="0">
                          <a:solidFill>
                            <a:srgbClr val="2E2E2E"/>
                          </a:solidFill>
                          <a:latin typeface="Calibri"/>
                        </a:rPr>
                        <a:t>620.8</a:t>
                      </a:r>
                    </a:p>
                  </a:txBody>
                  <a:tcPr marL="85725" marR="38100" marT="19050" marB="19050" anchor="ctr">
                    <a:solidFill>
                      <a:srgbClr val="FFFFFF"/>
                    </a:solidFill>
                  </a:tcPr>
                </a:tc>
                <a:tc>
                  <a:txBody>
                    <a:bodyPr wrap="none"/>
                    <a:lstStyle/>
                    <a:p>
                      <a:pPr algn="l"/>
                      <a:r>
                        <a:rPr sz="800" b="0">
                          <a:solidFill>
                            <a:srgbClr val="2E2E2E"/>
                          </a:solidFill>
                          <a:latin typeface="Calibri"/>
                        </a:rPr>
                        <a:t>9.7%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Institutional Buyers</a:t>
                      </a:r>
                    </a:p>
                  </a:txBody>
                  <a:tcPr marL="85725" marR="38100" marT="19050" marB="19050" anchor="ctr">
                    <a:solidFill>
                      <a:srgbClr val="F5F8FA"/>
                    </a:solidFill>
                  </a:tcPr>
                </a:tc>
                <a:tc>
                  <a:txBody>
                    <a:bodyPr wrap="none"/>
                    <a:lstStyle/>
                    <a:p>
                      <a:pPr algn="l"/>
                      <a:r>
                        <a:rPr sz="800" b="0">
                          <a:solidFill>
                            <a:srgbClr val="2E2E2E"/>
                          </a:solidFill>
                          <a:latin typeface="Calibri"/>
                        </a:rPr>
                        <a:t>157.2</a:t>
                      </a:r>
                    </a:p>
                  </a:txBody>
                  <a:tcPr marL="85725" marR="38100" marT="19050" marB="19050" anchor="ctr">
                    <a:solidFill>
                      <a:srgbClr val="F5F8FA"/>
                    </a:solidFill>
                  </a:tcPr>
                </a:tc>
                <a:tc>
                  <a:txBody>
                    <a:bodyPr wrap="none"/>
                    <a:lstStyle/>
                    <a:p>
                      <a:pPr algn="l"/>
                      <a:r>
                        <a:rPr sz="800" b="0">
                          <a:solidFill>
                            <a:srgbClr val="2E2E2E"/>
                          </a:solidFill>
                          <a:latin typeface="Calibri"/>
                        </a:rPr>
                        <a:t>176.6</a:t>
                      </a:r>
                    </a:p>
                  </a:txBody>
                  <a:tcPr marL="85725" marR="38100" marT="19050" marB="19050" anchor="ctr">
                    <a:solidFill>
                      <a:srgbClr val="F5F8FA"/>
                    </a:solidFill>
                  </a:tcPr>
                </a:tc>
                <a:tc>
                  <a:txBody>
                    <a:bodyPr wrap="none"/>
                    <a:lstStyle/>
                    <a:p>
                      <a:pPr algn="l"/>
                      <a:r>
                        <a:rPr sz="800" b="0">
                          <a:solidFill>
                            <a:srgbClr val="2E2E2E"/>
                          </a:solidFill>
                          <a:latin typeface="Calibri"/>
                        </a:rPr>
                        <a:t>210.5</a:t>
                      </a:r>
                    </a:p>
                  </a:txBody>
                  <a:tcPr marL="85725" marR="38100" marT="19050" marB="19050" anchor="ctr">
                    <a:solidFill>
                      <a:srgbClr val="F5F8FA"/>
                    </a:solidFill>
                  </a:tcPr>
                </a:tc>
                <a:tc>
                  <a:txBody>
                    <a:bodyPr wrap="none"/>
                    <a:lstStyle/>
                    <a:p>
                      <a:pPr algn="l"/>
                      <a:r>
                        <a:rPr sz="800" b="0">
                          <a:solidFill>
                            <a:srgbClr val="2E2E2E"/>
                          </a:solidFill>
                          <a:latin typeface="Calibri"/>
                        </a:rPr>
                        <a:t>258.7</a:t>
                      </a:r>
                    </a:p>
                  </a:txBody>
                  <a:tcPr marL="85725" marR="38100" marT="19050" marB="19050" anchor="ctr">
                    <a:solidFill>
                      <a:srgbClr val="F5F8FA"/>
                    </a:solidFill>
                  </a:tcPr>
                </a:tc>
                <a:tc>
                  <a:txBody>
                    <a:bodyPr wrap="none"/>
                    <a:lstStyle/>
                    <a:p>
                      <a:pPr algn="l"/>
                      <a:r>
                        <a:rPr sz="800" b="0">
                          <a:solidFill>
                            <a:srgbClr val="2E2E2E"/>
                          </a:solidFill>
                          <a:latin typeface="Calibri"/>
                        </a:rPr>
                        <a:t>311.3</a:t>
                      </a:r>
                    </a:p>
                  </a:txBody>
                  <a:tcPr marL="85725" marR="38100" marT="19050" marB="19050" anchor="ctr">
                    <a:solidFill>
                      <a:srgbClr val="F5F8FA"/>
                    </a:solidFill>
                  </a:tcPr>
                </a:tc>
                <a:tc>
                  <a:txBody>
                    <a:bodyPr wrap="none"/>
                    <a:lstStyle/>
                    <a:p>
                      <a:pPr algn="l"/>
                      <a:r>
                        <a:rPr sz="800" b="0">
                          <a:solidFill>
                            <a:srgbClr val="2E2E2E"/>
                          </a:solidFill>
                          <a:latin typeface="Calibri"/>
                        </a:rPr>
                        <a:t>363.3</a:t>
                      </a:r>
                    </a:p>
                  </a:txBody>
                  <a:tcPr marL="85725" marR="38100" marT="19050" marB="19050" anchor="ctr">
                    <a:solidFill>
                      <a:srgbClr val="F5F8FA"/>
                    </a:solidFill>
                  </a:tcPr>
                </a:tc>
                <a:tc>
                  <a:txBody>
                    <a:bodyPr wrap="none"/>
                    <a:lstStyle/>
                    <a:p>
                      <a:pPr algn="l"/>
                      <a:r>
                        <a:rPr sz="800" b="0">
                          <a:solidFill>
                            <a:srgbClr val="2E2E2E"/>
                          </a:solidFill>
                          <a:latin typeface="Calibri"/>
                        </a:rPr>
                        <a:t>416.2</a:t>
                      </a:r>
                    </a:p>
                  </a:txBody>
                  <a:tcPr marL="85725" marR="38100" marT="19050" marB="19050" anchor="ctr">
                    <a:solidFill>
                      <a:srgbClr val="F5F8FA"/>
                    </a:solidFill>
                  </a:tcPr>
                </a:tc>
                <a:tc>
                  <a:txBody>
                    <a:bodyPr wrap="none"/>
                    <a:lstStyle/>
                    <a:p>
                      <a:pPr algn="l"/>
                      <a:r>
                        <a:rPr sz="800" b="0">
                          <a:solidFill>
                            <a:srgbClr val="2E2E2E"/>
                          </a:solidFill>
                          <a:latin typeface="Calibri"/>
                        </a:rPr>
                        <a:t>467.2</a:t>
                      </a:r>
                    </a:p>
                  </a:txBody>
                  <a:tcPr marL="85725" marR="38100" marT="19050" marB="19050" anchor="ctr">
                    <a:solidFill>
                      <a:srgbClr val="F5F8FA"/>
                    </a:solidFill>
                  </a:tcPr>
                </a:tc>
                <a:tc>
                  <a:txBody>
                    <a:bodyPr wrap="none"/>
                    <a:lstStyle/>
                    <a:p>
                      <a:pPr algn="l"/>
                      <a:r>
                        <a:rPr sz="800" b="0">
                          <a:solidFill>
                            <a:srgbClr val="2E2E2E"/>
                          </a:solidFill>
                          <a:latin typeface="Calibri"/>
                        </a:rPr>
                        <a:t>516.8</a:t>
                      </a:r>
                    </a:p>
                  </a:txBody>
                  <a:tcPr marL="85725" marR="38100" marT="19050" marB="19050" anchor="ctr">
                    <a:solidFill>
                      <a:srgbClr val="F5F8FA"/>
                    </a:solidFill>
                  </a:tcPr>
                </a:tc>
                <a:tc>
                  <a:txBody>
                    <a:bodyPr wrap="none"/>
                    <a:lstStyle/>
                    <a:p>
                      <a:pPr algn="l"/>
                      <a:r>
                        <a:rPr sz="800" b="0">
                          <a:solidFill>
                            <a:srgbClr val="2E2E2E"/>
                          </a:solidFill>
                          <a:latin typeface="Calibri"/>
                        </a:rPr>
                        <a:t>564.9</a:t>
                      </a:r>
                    </a:p>
                  </a:txBody>
                  <a:tcPr marL="85725" marR="38100" marT="19050" marB="19050" anchor="ctr">
                    <a:solidFill>
                      <a:srgbClr val="F5F8FA"/>
                    </a:solidFill>
                  </a:tcPr>
                </a:tc>
                <a:tc>
                  <a:txBody>
                    <a:bodyPr wrap="none"/>
                    <a:lstStyle/>
                    <a:p>
                      <a:pPr algn="l"/>
                      <a:r>
                        <a:rPr sz="800" b="0">
                          <a:solidFill>
                            <a:srgbClr val="2E2E2E"/>
                          </a:solidFill>
                          <a:latin typeface="Calibri"/>
                        </a:rPr>
                        <a:t>611.2</a:t>
                      </a:r>
                    </a:p>
                  </a:txBody>
                  <a:tcPr marL="85725" marR="38100" marT="19050" marB="19050" anchor="ctr">
                    <a:solidFill>
                      <a:srgbClr val="F5F8FA"/>
                    </a:solidFill>
                  </a:tcPr>
                </a:tc>
                <a:tc>
                  <a:txBody>
                    <a:bodyPr wrap="none"/>
                    <a:lstStyle/>
                    <a:p>
                      <a:pPr algn="l"/>
                      <a:r>
                        <a:rPr sz="800" b="0">
                          <a:solidFill>
                            <a:srgbClr val="2E2E2E"/>
                          </a:solidFill>
                          <a:latin typeface="Calibri"/>
                        </a:rPr>
                        <a:t>655.7</a:t>
                      </a:r>
                    </a:p>
                  </a:txBody>
                  <a:tcPr marL="85725" marR="38100" marT="19050" marB="19050" anchor="ctr">
                    <a:solidFill>
                      <a:srgbClr val="F5F8FA"/>
                    </a:solidFill>
                  </a:tcPr>
                </a:tc>
                <a:tc>
                  <a:txBody>
                    <a:bodyPr wrap="none"/>
                    <a:lstStyle/>
                    <a:p>
                      <a:pPr algn="l"/>
                      <a:r>
                        <a:rPr sz="800" b="0">
                          <a:solidFill>
                            <a:srgbClr val="2E2E2E"/>
                          </a:solidFill>
                          <a:latin typeface="Calibri"/>
                        </a:rPr>
                        <a:t>698.0</a:t>
                      </a:r>
                    </a:p>
                  </a:txBody>
                  <a:tcPr marL="85725" marR="38100" marT="19050" marB="19050" anchor="ctr">
                    <a:solidFill>
                      <a:srgbClr val="F5F8FA"/>
                    </a:solidFill>
                  </a:tcPr>
                </a:tc>
                <a:tc>
                  <a:txBody>
                    <a:bodyPr wrap="none"/>
                    <a:lstStyle/>
                    <a:p>
                      <a:pPr algn="l"/>
                      <a:r>
                        <a:rPr sz="800" b="0">
                          <a:solidFill>
                            <a:srgbClr val="2E2E2E"/>
                          </a:solidFill>
                          <a:latin typeface="Calibri"/>
                        </a:rPr>
                        <a:t>738.9</a:t>
                      </a:r>
                    </a:p>
                  </a:txBody>
                  <a:tcPr marL="85725" marR="38100" marT="19050" marB="19050" anchor="ctr">
                    <a:solidFill>
                      <a:srgbClr val="F5F8FA"/>
                    </a:solidFill>
                  </a:tcPr>
                </a:tc>
                <a:tc>
                  <a:txBody>
                    <a:bodyPr wrap="none"/>
                    <a:lstStyle/>
                    <a:p>
                      <a:pPr algn="l"/>
                      <a:r>
                        <a:rPr sz="800" b="0">
                          <a:solidFill>
                            <a:srgbClr val="2E2E2E"/>
                          </a:solidFill>
                          <a:latin typeface="Calibri"/>
                        </a:rPr>
                        <a:t>778.3</a:t>
                      </a:r>
                    </a:p>
                  </a:txBody>
                  <a:tcPr marL="85725" marR="38100" marT="19050" marB="19050" anchor="ctr">
                    <a:solidFill>
                      <a:srgbClr val="F5F8FA"/>
                    </a:solidFill>
                  </a:tcPr>
                </a:tc>
                <a:tc>
                  <a:txBody>
                    <a:bodyPr wrap="none"/>
                    <a:lstStyle/>
                    <a:p>
                      <a:pPr algn="l"/>
                      <a:r>
                        <a:rPr sz="800" b="0">
                          <a:solidFill>
                            <a:srgbClr val="2E2E2E"/>
                          </a:solidFill>
                          <a:latin typeface="Calibri"/>
                        </a:rPr>
                        <a:t>816.6</a:t>
                      </a:r>
                    </a:p>
                  </a:txBody>
                  <a:tcPr marL="85725" marR="38100" marT="19050" marB="19050" anchor="ctr">
                    <a:solidFill>
                      <a:srgbClr val="F5F8FA"/>
                    </a:solidFill>
                  </a:tcPr>
                </a:tc>
                <a:tc>
                  <a:txBody>
                    <a:bodyPr wrap="none"/>
                    <a:lstStyle/>
                    <a:p>
                      <a:pPr algn="l"/>
                      <a:r>
                        <a:rPr sz="800" b="0">
                          <a:solidFill>
                            <a:srgbClr val="2E2E2E"/>
                          </a:solidFill>
                          <a:latin typeface="Calibri"/>
                        </a:rPr>
                        <a:t>8.4%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611.7</a:t>
                      </a:r>
                    </a:p>
                  </a:txBody>
                  <a:tcPr marL="85725" marR="38100" marT="19050" marB="19050" anchor="ctr">
                    <a:solidFill>
                      <a:srgbClr val="E0E8EF"/>
                    </a:solidFill>
                  </a:tcPr>
                </a:tc>
                <a:tc>
                  <a:txBody>
                    <a:bodyPr wrap="none"/>
                    <a:lstStyle/>
                    <a:p>
                      <a:pPr algn="l"/>
                      <a:r>
                        <a:rPr sz="800" b="1">
                          <a:solidFill>
                            <a:srgbClr val="2E2E2E"/>
                          </a:solidFill>
                          <a:latin typeface="Calibri"/>
                        </a:rPr>
                        <a:t>690.9</a:t>
                      </a:r>
                    </a:p>
                  </a:txBody>
                  <a:tcPr marL="85725" marR="38100" marT="19050" marB="19050" anchor="ctr">
                    <a:solidFill>
                      <a:srgbClr val="E0E8EF"/>
                    </a:solidFill>
                  </a:tcPr>
                </a:tc>
                <a:tc>
                  <a:txBody>
                    <a:bodyPr wrap="none"/>
                    <a:lstStyle/>
                    <a:p>
                      <a:pPr algn="l"/>
                      <a:r>
                        <a:rPr sz="800" b="1">
                          <a:solidFill>
                            <a:srgbClr val="2E2E2E"/>
                          </a:solidFill>
                          <a:latin typeface="Calibri"/>
                        </a:rPr>
                        <a:t>827.8</a:t>
                      </a:r>
                    </a:p>
                  </a:txBody>
                  <a:tcPr marL="85725" marR="38100" marT="19050" marB="19050" anchor="ctr">
                    <a:solidFill>
                      <a:srgbClr val="E0E8EF"/>
                    </a:solidFill>
                  </a:tcPr>
                </a:tc>
                <a:tc>
                  <a:txBody>
                    <a:bodyPr wrap="none"/>
                    <a:lstStyle/>
                    <a:p>
                      <a:pPr algn="l"/>
                      <a:r>
                        <a:rPr sz="800" b="1">
                          <a:solidFill>
                            <a:srgbClr val="2E2E2E"/>
                          </a:solidFill>
                          <a:latin typeface="Calibri"/>
                        </a:rPr>
                        <a:t>1,023</a:t>
                      </a:r>
                    </a:p>
                  </a:txBody>
                  <a:tcPr marL="85725" marR="38100" marT="19050" marB="19050" anchor="ctr">
                    <a:solidFill>
                      <a:srgbClr val="E0E8EF"/>
                    </a:solidFill>
                  </a:tcPr>
                </a:tc>
                <a:tc>
                  <a:txBody>
                    <a:bodyPr wrap="none"/>
                    <a:lstStyle/>
                    <a:p>
                      <a:pPr algn="l"/>
                      <a:r>
                        <a:rPr sz="800" b="1">
                          <a:solidFill>
                            <a:srgbClr val="2E2E2E"/>
                          </a:solidFill>
                          <a:latin typeface="Calibri"/>
                        </a:rPr>
                        <a:t>1,238</a:t>
                      </a:r>
                    </a:p>
                  </a:txBody>
                  <a:tcPr marL="85725" marR="38100" marT="19050" marB="19050" anchor="ctr">
                    <a:solidFill>
                      <a:srgbClr val="E0E8EF"/>
                    </a:solidFill>
                  </a:tcPr>
                </a:tc>
                <a:tc>
                  <a:txBody>
                    <a:bodyPr wrap="none"/>
                    <a:lstStyle/>
                    <a:p>
                      <a:pPr algn="l"/>
                      <a:r>
                        <a:rPr sz="800" b="1">
                          <a:solidFill>
                            <a:srgbClr val="2E2E2E"/>
                          </a:solidFill>
                          <a:latin typeface="Calibri"/>
                        </a:rPr>
                        <a:t>1,453</a:t>
                      </a:r>
                    </a:p>
                  </a:txBody>
                  <a:tcPr marL="85725" marR="38100" marT="19050" marB="19050" anchor="ctr">
                    <a:solidFill>
                      <a:srgbClr val="E0E8EF"/>
                    </a:solidFill>
                  </a:tcPr>
                </a:tc>
                <a:tc>
                  <a:txBody>
                    <a:bodyPr wrap="none"/>
                    <a:lstStyle/>
                    <a:p>
                      <a:pPr algn="l"/>
                      <a:r>
                        <a:rPr sz="800" b="1">
                          <a:solidFill>
                            <a:srgbClr val="2E2E2E"/>
                          </a:solidFill>
                          <a:latin typeface="Calibri"/>
                        </a:rPr>
                        <a:t>1,674</a:t>
                      </a:r>
                    </a:p>
                  </a:txBody>
                  <a:tcPr marL="85725" marR="38100" marT="19050" marB="19050" anchor="ctr">
                    <a:solidFill>
                      <a:srgbClr val="E0E8EF"/>
                    </a:solidFill>
                  </a:tcPr>
                </a:tc>
                <a:tc>
                  <a:txBody>
                    <a:bodyPr wrap="none"/>
                    <a:lstStyle/>
                    <a:p>
                      <a:pPr algn="l"/>
                      <a:r>
                        <a:rPr sz="800" b="1">
                          <a:solidFill>
                            <a:srgbClr val="2E2E2E"/>
                          </a:solidFill>
                          <a:latin typeface="Calibri"/>
                        </a:rPr>
                        <a:t>1,889</a:t>
                      </a:r>
                    </a:p>
                  </a:txBody>
                  <a:tcPr marL="85725" marR="38100" marT="19050" marB="19050" anchor="ctr">
                    <a:solidFill>
                      <a:srgbClr val="E0E8EF"/>
                    </a:solidFill>
                  </a:tcPr>
                </a:tc>
                <a:tc>
                  <a:txBody>
                    <a:bodyPr wrap="none"/>
                    <a:lstStyle/>
                    <a:p>
                      <a:pPr algn="l"/>
                      <a:r>
                        <a:rPr sz="800" b="1">
                          <a:solidFill>
                            <a:srgbClr val="2E2E2E"/>
                          </a:solidFill>
                          <a:latin typeface="Calibri"/>
                        </a:rPr>
                        <a:t>2,101</a:t>
                      </a:r>
                    </a:p>
                  </a:txBody>
                  <a:tcPr marL="85725" marR="38100" marT="19050" marB="19050" anchor="ctr">
                    <a:solidFill>
                      <a:srgbClr val="E0E8EF"/>
                    </a:solidFill>
                  </a:tcPr>
                </a:tc>
                <a:tc>
                  <a:txBody>
                    <a:bodyPr wrap="none"/>
                    <a:lstStyle/>
                    <a:p>
                      <a:pPr algn="l"/>
                      <a:r>
                        <a:rPr sz="800" b="1">
                          <a:solidFill>
                            <a:srgbClr val="2E2E2E"/>
                          </a:solidFill>
                          <a:latin typeface="Calibri"/>
                        </a:rPr>
                        <a:t>2,309</a:t>
                      </a:r>
                    </a:p>
                  </a:txBody>
                  <a:tcPr marL="85725" marR="38100" marT="19050" marB="19050" anchor="ctr">
                    <a:solidFill>
                      <a:srgbClr val="E0E8EF"/>
                    </a:solidFill>
                  </a:tcPr>
                </a:tc>
                <a:tc>
                  <a:txBody>
                    <a:bodyPr wrap="none"/>
                    <a:lstStyle/>
                    <a:p>
                      <a:pPr algn="l"/>
                      <a:r>
                        <a:rPr sz="800" b="1">
                          <a:solidFill>
                            <a:srgbClr val="2E2E2E"/>
                          </a:solidFill>
                          <a:latin typeface="Calibri"/>
                        </a:rPr>
                        <a:t>2,512</a:t>
                      </a:r>
                    </a:p>
                  </a:txBody>
                  <a:tcPr marL="85725" marR="38100" marT="19050" marB="19050" anchor="ctr">
                    <a:solidFill>
                      <a:srgbClr val="E0E8EF"/>
                    </a:solidFill>
                  </a:tcPr>
                </a:tc>
                <a:tc>
                  <a:txBody>
                    <a:bodyPr wrap="none"/>
                    <a:lstStyle/>
                    <a:p>
                      <a:pPr algn="l"/>
                      <a:r>
                        <a:rPr sz="800" b="1">
                          <a:solidFill>
                            <a:srgbClr val="2E2E2E"/>
                          </a:solidFill>
                          <a:latin typeface="Calibri"/>
                        </a:rPr>
                        <a:t>2,709</a:t>
                      </a:r>
                    </a:p>
                  </a:txBody>
                  <a:tcPr marL="85725" marR="38100" marT="19050" marB="19050" anchor="ctr">
                    <a:solidFill>
                      <a:srgbClr val="E0E8EF"/>
                    </a:solidFill>
                  </a:tcPr>
                </a:tc>
                <a:tc>
                  <a:txBody>
                    <a:bodyPr wrap="none"/>
                    <a:lstStyle/>
                    <a:p>
                      <a:pPr algn="l"/>
                      <a:r>
                        <a:rPr sz="800" b="1">
                          <a:solidFill>
                            <a:srgbClr val="2E2E2E"/>
                          </a:solidFill>
                          <a:latin typeface="Calibri"/>
                        </a:rPr>
                        <a:t>2,900</a:t>
                      </a:r>
                    </a:p>
                  </a:txBody>
                  <a:tcPr marL="85725" marR="38100" marT="19050" marB="19050" anchor="ctr">
                    <a:solidFill>
                      <a:srgbClr val="E0E8EF"/>
                    </a:solidFill>
                  </a:tcPr>
                </a:tc>
                <a:tc>
                  <a:txBody>
                    <a:bodyPr wrap="none"/>
                    <a:lstStyle/>
                    <a:p>
                      <a:pPr algn="l"/>
                      <a:r>
                        <a:rPr sz="800" b="1">
                          <a:solidFill>
                            <a:srgbClr val="2E2E2E"/>
                          </a:solidFill>
                          <a:latin typeface="Calibri"/>
                        </a:rPr>
                        <a:t>3,086</a:t>
                      </a:r>
                    </a:p>
                  </a:txBody>
                  <a:tcPr marL="85725" marR="38100" marT="19050" marB="19050" anchor="ctr">
                    <a:solidFill>
                      <a:srgbClr val="E0E8EF"/>
                    </a:solidFill>
                  </a:tcPr>
                </a:tc>
                <a:tc>
                  <a:txBody>
                    <a:bodyPr wrap="none"/>
                    <a:lstStyle/>
                    <a:p>
                      <a:pPr algn="l"/>
                      <a:r>
                        <a:rPr sz="800" b="1">
                          <a:solidFill>
                            <a:srgbClr val="2E2E2E"/>
                          </a:solidFill>
                          <a:latin typeface="Calibri"/>
                        </a:rPr>
                        <a:t>3,268</a:t>
                      </a:r>
                    </a:p>
                  </a:txBody>
                  <a:tcPr marL="85725" marR="38100" marT="19050" marB="19050" anchor="ctr">
                    <a:solidFill>
                      <a:srgbClr val="E0E8EF"/>
                    </a:solidFill>
                  </a:tcPr>
                </a:tc>
                <a:tc>
                  <a:txBody>
                    <a:bodyPr wrap="none"/>
                    <a:lstStyle/>
                    <a:p>
                      <a:pPr algn="l"/>
                      <a:r>
                        <a:rPr sz="800" b="1">
                          <a:solidFill>
                            <a:srgbClr val="2E2E2E"/>
                          </a:solidFill>
                          <a:latin typeface="Calibri"/>
                        </a:rPr>
                        <a:t>3,447</a:t>
                      </a:r>
                    </a:p>
                  </a:txBody>
                  <a:tcPr marL="85725" marR="38100" marT="19050" marB="19050" anchor="ctr">
                    <a:solidFill>
                      <a:srgbClr val="E0E8EF"/>
                    </a:solidFill>
                  </a:tcPr>
                </a:tc>
                <a:tc>
                  <a:txBody>
                    <a:bodyPr wrap="none"/>
                    <a:lstStyle/>
                    <a:p>
                      <a:pPr algn="l"/>
                      <a:r>
                        <a:rPr sz="800" b="1">
                          <a:solidFill>
                            <a:srgbClr val="2E2E2E"/>
                          </a:solidFill>
                          <a:latin typeface="Calibri"/>
                        </a:rPr>
                        <a:t>9.0%</a:t>
                      </a:r>
                    </a:p>
                  </a:txBody>
                  <a:tcPr marL="85725" marR="38100" marT="19050" marB="19050" anchor="ctr">
                    <a:solidFill>
                      <a:srgbClr val="E0E8EF"/>
                    </a:solidFill>
                  </a:tcPr>
                </a:tc>
              </a:tr>
            </a:tbl>
          </a:graphicData>
        </a:graphic>
      </p:graphicFrame>
      <p:sp>
        <p:nvSpPr>
          <p:cNvPr id="18" name="TextBox 17"/>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YoY Analysis Buyer Type</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Volume YoY, By Buyer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Buyer Type</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Hospitals</a:t>
                      </a:r>
                    </a:p>
                  </a:txBody>
                  <a:tcPr marL="85725" marR="38100" marT="19050" marB="19050" anchor="ctr">
                    <a:solidFill>
                      <a:srgbClr val="FFFFFF"/>
                    </a:solidFill>
                  </a:tcPr>
                </a:tc>
                <a:tc>
                  <a:txBody>
                    <a:bodyPr wrap="none"/>
                    <a:lstStyle/>
                    <a:p>
                      <a:pPr algn="l"/>
                      <a:r>
                        <a:rPr sz="800" b="1">
                          <a:solidFill>
                            <a:srgbClr val="2E7D32"/>
                          </a:solidFill>
                          <a:latin typeface="Calibri"/>
                        </a:rPr>
                        <a:t>▲ 17.5%</a:t>
                      </a:r>
                    </a:p>
                  </a:txBody>
                  <a:tcPr marL="85725" marR="38100" marT="19050" marB="19050" anchor="ctr">
                    <a:solidFill>
                      <a:srgbClr val="FFFFFF"/>
                    </a:solidFill>
                  </a:tcPr>
                </a:tc>
                <a:tc>
                  <a:txBody>
                    <a:bodyPr wrap="none"/>
                    <a:lstStyle/>
                    <a:p>
                      <a:pPr algn="l"/>
                      <a:r>
                        <a:rPr sz="800" b="1">
                          <a:solidFill>
                            <a:srgbClr val="2E7D32"/>
                          </a:solidFill>
                          <a:latin typeface="Calibri"/>
                        </a:rPr>
                        <a:t>▲ 24.7%</a:t>
                      </a:r>
                    </a:p>
                  </a:txBody>
                  <a:tcPr marL="85725" marR="38100" marT="19050" marB="19050" anchor="ctr">
                    <a:solidFill>
                      <a:srgbClr val="FFFFFF"/>
                    </a:solidFill>
                  </a:tcPr>
                </a:tc>
                <a:tc>
                  <a:txBody>
                    <a:bodyPr wrap="none"/>
                    <a:lstStyle/>
                    <a:p>
                      <a:pPr algn="l"/>
                      <a:r>
                        <a:rPr sz="800" b="1">
                          <a:solidFill>
                            <a:srgbClr val="2E7D32"/>
                          </a:solidFill>
                          <a:latin typeface="Calibri"/>
                        </a:rPr>
                        <a:t>▲ 28.6%</a:t>
                      </a:r>
                    </a:p>
                  </a:txBody>
                  <a:tcPr marL="85725" marR="38100" marT="19050" marB="19050" anchor="ctr">
                    <a:solidFill>
                      <a:srgbClr val="FFFFFF"/>
                    </a:solidFill>
                  </a:tcPr>
                </a:tc>
                <a:tc>
                  <a:txBody>
                    <a:bodyPr wrap="none"/>
                    <a:lstStyle/>
                    <a:p>
                      <a:pPr algn="l"/>
                      <a:r>
                        <a:rPr sz="800" b="1">
                          <a:solidFill>
                            <a:srgbClr val="2E7D32"/>
                          </a:solidFill>
                          <a:latin typeface="Calibri"/>
                        </a:rPr>
                        <a:t>▲ 25.9%</a:t>
                      </a:r>
                    </a:p>
                  </a:txBody>
                  <a:tcPr marL="85725" marR="38100" marT="19050" marB="19050" anchor="ctr">
                    <a:solidFill>
                      <a:srgbClr val="FFFFFF"/>
                    </a:solidFill>
                  </a:tcPr>
                </a:tc>
                <a:tc>
                  <a:txBody>
                    <a:bodyPr wrap="none"/>
                    <a:lstStyle/>
                    <a:p>
                      <a:pPr algn="l"/>
                      <a:r>
                        <a:rPr sz="800" b="1">
                          <a:solidFill>
                            <a:srgbClr val="2E7D32"/>
                          </a:solidFill>
                          <a:latin typeface="Calibri"/>
                        </a:rPr>
                        <a:t>▲ 22.1%</a:t>
                      </a:r>
                    </a:p>
                  </a:txBody>
                  <a:tcPr marL="85725" marR="38100" marT="19050" marB="19050" anchor="ctr">
                    <a:solidFill>
                      <a:srgbClr val="FFFFFF"/>
                    </a:solidFill>
                  </a:tcPr>
                </a:tc>
                <a:tc>
                  <a:txBody>
                    <a:bodyPr wrap="none"/>
                    <a:lstStyle/>
                    <a:p>
                      <a:pPr algn="l"/>
                      <a:r>
                        <a:rPr sz="800" b="1">
                          <a:solidFill>
                            <a:srgbClr val="2E7D32"/>
                          </a:solidFill>
                          <a:latin typeface="Calibri"/>
                        </a:rPr>
                        <a:t>▲ 19.9%</a:t>
                      </a:r>
                    </a:p>
                  </a:txBody>
                  <a:tcPr marL="85725" marR="38100" marT="19050" marB="19050" anchor="ctr">
                    <a:solidFill>
                      <a:srgbClr val="FFFFFF"/>
                    </a:solidFill>
                  </a:tcPr>
                </a:tc>
                <a:tc>
                  <a:txBody>
                    <a:bodyPr wrap="none"/>
                    <a:lstStyle/>
                    <a:p>
                      <a:pPr algn="l"/>
                      <a:r>
                        <a:rPr sz="800" b="1">
                          <a:solidFill>
                            <a:srgbClr val="2E7D32"/>
                          </a:solidFill>
                          <a:latin typeface="Calibri"/>
                        </a:rPr>
                        <a:t>▲ 17.5%</a:t>
                      </a:r>
                    </a:p>
                  </a:txBody>
                  <a:tcPr marL="85725" marR="38100" marT="19050" marB="19050" anchor="ctr">
                    <a:solidFill>
                      <a:srgbClr val="FFFFFF"/>
                    </a:solidFill>
                  </a:tcPr>
                </a:tc>
                <a:tc>
                  <a:txBody>
                    <a:bodyPr wrap="none"/>
                    <a:lstStyle/>
                    <a:p>
                      <a:pPr algn="l"/>
                      <a:r>
                        <a:rPr sz="800" b="1">
                          <a:solidFill>
                            <a:srgbClr val="2E7D32"/>
                          </a:solidFill>
                          <a:latin typeface="Calibri"/>
                        </a:rPr>
                        <a:t>▲ 15.8%</a:t>
                      </a:r>
                    </a:p>
                  </a:txBody>
                  <a:tcPr marL="85725" marR="38100" marT="19050" marB="19050" anchor="ctr">
                    <a:solidFill>
                      <a:srgbClr val="FFFFFF"/>
                    </a:solidFill>
                  </a:tcPr>
                </a:tc>
                <a:tc>
                  <a:txBody>
                    <a:bodyPr wrap="none"/>
                    <a:lstStyle/>
                    <a:p>
                      <a:pPr algn="l"/>
                      <a:r>
                        <a:rPr sz="800" b="1">
                          <a:solidFill>
                            <a:srgbClr val="2E7D32"/>
                          </a:solidFill>
                          <a:latin typeface="Calibri"/>
                        </a:rPr>
                        <a:t>▲ 14.4%</a:t>
                      </a:r>
                    </a:p>
                  </a:txBody>
                  <a:tcPr marL="85725" marR="38100" marT="19050" marB="19050" anchor="ctr">
                    <a:solidFill>
                      <a:srgbClr val="FFFFFF"/>
                    </a:solidFill>
                  </a:tcPr>
                </a:tc>
                <a:tc>
                  <a:txBody>
                    <a:bodyPr wrap="none"/>
                    <a:lstStyle/>
                    <a:p>
                      <a:pPr algn="l"/>
                      <a:r>
                        <a:rPr sz="800" b="1">
                          <a:solidFill>
                            <a:srgbClr val="2E7D32"/>
                          </a:solidFill>
                          <a:latin typeface="Calibri"/>
                        </a:rPr>
                        <a:t>▲ 13.2%</a:t>
                      </a:r>
                    </a:p>
                  </a:txBody>
                  <a:tcPr marL="85725" marR="38100" marT="19050" marB="19050" anchor="ctr">
                    <a:solidFill>
                      <a:srgbClr val="FFFFFF"/>
                    </a:solidFill>
                  </a:tcPr>
                </a:tc>
                <a:tc>
                  <a:txBody>
                    <a:bodyPr wrap="none"/>
                    <a:lstStyle/>
                    <a:p>
                      <a:pPr algn="l"/>
                      <a:r>
                        <a:rPr sz="800" b="1">
                          <a:solidFill>
                            <a:srgbClr val="2E7D32"/>
                          </a:solidFill>
                          <a:latin typeface="Calibri"/>
                        </a:rPr>
                        <a:t>▲ 12.3%</a:t>
                      </a:r>
                    </a:p>
                  </a:txBody>
                  <a:tcPr marL="85725" marR="38100" marT="19050" marB="19050" anchor="ctr">
                    <a:solidFill>
                      <a:srgbClr val="FFFFFF"/>
                    </a:solidFill>
                  </a:tcPr>
                </a:tc>
                <a:tc>
                  <a:txBody>
                    <a:bodyPr wrap="none"/>
                    <a:lstStyle/>
                    <a:p>
                      <a:pPr algn="l"/>
                      <a:r>
                        <a:rPr sz="800" b="1">
                          <a:solidFill>
                            <a:srgbClr val="2E7D32"/>
                          </a:solidFill>
                          <a:latin typeface="Calibri"/>
                        </a:rPr>
                        <a:t>▲ 11.4%</a:t>
                      </a:r>
                    </a:p>
                  </a:txBody>
                  <a:tcPr marL="85725" marR="38100" marT="19050" marB="19050" anchor="ctr">
                    <a:solidFill>
                      <a:srgbClr val="FFFFFF"/>
                    </a:solidFill>
                  </a:tcPr>
                </a:tc>
                <a:tc>
                  <a:txBody>
                    <a:bodyPr wrap="none"/>
                    <a:lstStyle/>
                    <a:p>
                      <a:pPr algn="l"/>
                      <a:r>
                        <a:rPr sz="800" b="1">
                          <a:solidFill>
                            <a:srgbClr val="2E7D32"/>
                          </a:solidFill>
                          <a:latin typeface="Calibri"/>
                        </a:rPr>
                        <a:t>▲ 10.8%</a:t>
                      </a:r>
                    </a:p>
                  </a:txBody>
                  <a:tcPr marL="85725" marR="38100" marT="19050" marB="19050" anchor="ctr">
                    <a:solidFill>
                      <a:srgbClr val="FFFFFF"/>
                    </a:solidFill>
                  </a:tcPr>
                </a:tc>
                <a:tc>
                  <a:txBody>
                    <a:bodyPr wrap="none"/>
                    <a:lstStyle/>
                    <a:p>
                      <a:pPr algn="l"/>
                      <a:r>
                        <a:rPr sz="800" b="1">
                          <a:solidFill>
                            <a:srgbClr val="2E7D32"/>
                          </a:solidFill>
                          <a:latin typeface="Calibri"/>
                        </a:rPr>
                        <a:t>▲ 10.3%</a:t>
                      </a:r>
                    </a:p>
                  </a:txBody>
                  <a:tcPr marL="85725" marR="38100" marT="19050" marB="19050" anchor="ctr">
                    <a:solidFill>
                      <a:srgbClr val="FFFFFF"/>
                    </a:solidFill>
                  </a:tcPr>
                </a:tc>
                <a:tc>
                  <a:txBody>
                    <a:bodyPr wrap="none"/>
                    <a:lstStyle/>
                    <a:p>
                      <a:pPr algn="l"/>
                      <a:r>
                        <a:rPr sz="800" b="1">
                          <a:solidFill>
                            <a:srgbClr val="2E7D32"/>
                          </a:solidFill>
                          <a:latin typeface="Calibri"/>
                        </a:rPr>
                        <a:t>▲ 9.8%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Specialty Clinics</a:t>
                      </a:r>
                    </a:p>
                  </a:txBody>
                  <a:tcPr marL="85725" marR="38100" marT="19050" marB="19050" anchor="ctr">
                    <a:solidFill>
                      <a:srgbClr val="F5F8FA"/>
                    </a:solidFill>
                  </a:tcPr>
                </a:tc>
                <a:tc>
                  <a:txBody>
                    <a:bodyPr wrap="none"/>
                    <a:lstStyle/>
                    <a:p>
                      <a:pPr algn="l"/>
                      <a:r>
                        <a:rPr sz="800" b="1">
                          <a:solidFill>
                            <a:srgbClr val="2E7D32"/>
                          </a:solidFill>
                          <a:latin typeface="Calibri"/>
                        </a:rPr>
                        <a:t>▲ 17.2%</a:t>
                      </a:r>
                    </a:p>
                  </a:txBody>
                  <a:tcPr marL="85725" marR="38100" marT="19050" marB="19050" anchor="ctr">
                    <a:solidFill>
                      <a:srgbClr val="F5F8FA"/>
                    </a:solidFill>
                  </a:tcPr>
                </a:tc>
                <a:tc>
                  <a:txBody>
                    <a:bodyPr wrap="none"/>
                    <a:lstStyle/>
                    <a:p>
                      <a:pPr algn="l"/>
                      <a:r>
                        <a:rPr sz="800" b="1">
                          <a:solidFill>
                            <a:srgbClr val="2E7D32"/>
                          </a:solidFill>
                          <a:latin typeface="Calibri"/>
                        </a:rPr>
                        <a:t>▲ 24.3%</a:t>
                      </a:r>
                    </a:p>
                  </a:txBody>
                  <a:tcPr marL="85725" marR="38100" marT="19050" marB="19050" anchor="ctr">
                    <a:solidFill>
                      <a:srgbClr val="F5F8FA"/>
                    </a:solidFill>
                  </a:tcPr>
                </a:tc>
                <a:tc>
                  <a:txBody>
                    <a:bodyPr wrap="none"/>
                    <a:lstStyle/>
                    <a:p>
                      <a:pPr algn="l"/>
                      <a:r>
                        <a:rPr sz="800" b="1">
                          <a:solidFill>
                            <a:srgbClr val="2E7D32"/>
                          </a:solidFill>
                          <a:latin typeface="Calibri"/>
                        </a:rPr>
                        <a:t>▲ 28.3%</a:t>
                      </a:r>
                    </a:p>
                  </a:txBody>
                  <a:tcPr marL="85725" marR="38100" marT="19050" marB="19050" anchor="ctr">
                    <a:solidFill>
                      <a:srgbClr val="F5F8FA"/>
                    </a:solidFill>
                  </a:tcPr>
                </a:tc>
                <a:tc>
                  <a:txBody>
                    <a:bodyPr wrap="none"/>
                    <a:lstStyle/>
                    <a:p>
                      <a:pPr algn="l"/>
                      <a:r>
                        <a:rPr sz="800" b="1">
                          <a:solidFill>
                            <a:srgbClr val="2E7D32"/>
                          </a:solidFill>
                          <a:latin typeface="Calibri"/>
                        </a:rPr>
                        <a:t>▲ 25.6%</a:t>
                      </a:r>
                    </a:p>
                  </a:txBody>
                  <a:tcPr marL="85725" marR="38100" marT="19050" marB="19050" anchor="ctr">
                    <a:solidFill>
                      <a:srgbClr val="F5F8FA"/>
                    </a:solidFill>
                  </a:tcPr>
                </a:tc>
                <a:tc>
                  <a:txBody>
                    <a:bodyPr wrap="none"/>
                    <a:lstStyle/>
                    <a:p>
                      <a:pPr algn="l"/>
                      <a:r>
                        <a:rPr sz="800" b="1">
                          <a:solidFill>
                            <a:srgbClr val="2E7D32"/>
                          </a:solidFill>
                          <a:latin typeface="Calibri"/>
                        </a:rPr>
                        <a:t>▲ 21.8%</a:t>
                      </a:r>
                    </a:p>
                  </a:txBody>
                  <a:tcPr marL="85725" marR="38100" marT="19050" marB="19050" anchor="ctr">
                    <a:solidFill>
                      <a:srgbClr val="F5F8FA"/>
                    </a:solidFill>
                  </a:tcPr>
                </a:tc>
                <a:tc>
                  <a:txBody>
                    <a:bodyPr wrap="none"/>
                    <a:lstStyle/>
                    <a:p>
                      <a:pPr algn="l"/>
                      <a:r>
                        <a:rPr sz="800" b="1">
                          <a:solidFill>
                            <a:srgbClr val="2E7D32"/>
                          </a:solidFill>
                          <a:latin typeface="Calibri"/>
                        </a:rPr>
                        <a:t>▲ 19.6%</a:t>
                      </a:r>
                    </a:p>
                  </a:txBody>
                  <a:tcPr marL="85725" marR="38100" marT="19050" marB="19050" anchor="ctr">
                    <a:solidFill>
                      <a:srgbClr val="F5F8FA"/>
                    </a:solidFill>
                  </a:tcPr>
                </a:tc>
                <a:tc>
                  <a:txBody>
                    <a:bodyPr wrap="none"/>
                    <a:lstStyle/>
                    <a:p>
                      <a:pPr algn="l"/>
                      <a:r>
                        <a:rPr sz="800" b="1">
                          <a:solidFill>
                            <a:srgbClr val="2E7D32"/>
                          </a:solidFill>
                          <a:latin typeface="Calibri"/>
                        </a:rPr>
                        <a:t>▲ 17.2%</a:t>
                      </a:r>
                    </a:p>
                  </a:txBody>
                  <a:tcPr marL="85725" marR="38100" marT="19050" marB="19050" anchor="ctr">
                    <a:solidFill>
                      <a:srgbClr val="F5F8FA"/>
                    </a:solidFill>
                  </a:tcPr>
                </a:tc>
                <a:tc>
                  <a:txBody>
                    <a:bodyPr wrap="none"/>
                    <a:lstStyle/>
                    <a:p>
                      <a:pPr algn="l"/>
                      <a:r>
                        <a:rPr sz="800" b="1">
                          <a:solidFill>
                            <a:srgbClr val="2E7D32"/>
                          </a:solidFill>
                          <a:latin typeface="Calibri"/>
                        </a:rPr>
                        <a:t>▲ 15.5%</a:t>
                      </a:r>
                    </a:p>
                  </a:txBody>
                  <a:tcPr marL="85725" marR="38100" marT="19050" marB="19050" anchor="ctr">
                    <a:solidFill>
                      <a:srgbClr val="F5F8FA"/>
                    </a:solidFill>
                  </a:tcPr>
                </a:tc>
                <a:tc>
                  <a:txBody>
                    <a:bodyPr wrap="none"/>
                    <a:lstStyle/>
                    <a:p>
                      <a:pPr algn="l"/>
                      <a:r>
                        <a:rPr sz="800" b="1">
                          <a:solidFill>
                            <a:srgbClr val="2E7D32"/>
                          </a:solidFill>
                          <a:latin typeface="Calibri"/>
                        </a:rPr>
                        <a:t>▲ 14.2%</a:t>
                      </a:r>
                    </a:p>
                  </a:txBody>
                  <a:tcPr marL="85725" marR="38100" marT="19050" marB="19050" anchor="ctr">
                    <a:solidFill>
                      <a:srgbClr val="F5F8FA"/>
                    </a:solidFill>
                  </a:tcPr>
                </a:tc>
                <a:tc>
                  <a:txBody>
                    <a:bodyPr wrap="none"/>
                    <a:lstStyle/>
                    <a:p>
                      <a:pPr algn="l"/>
                      <a:r>
                        <a:rPr sz="800" b="1">
                          <a:solidFill>
                            <a:srgbClr val="2E7D32"/>
                          </a:solidFill>
                          <a:latin typeface="Calibri"/>
                        </a:rPr>
                        <a:t>▲ 13.0%</a:t>
                      </a:r>
                    </a:p>
                  </a:txBody>
                  <a:tcPr marL="85725" marR="38100" marT="19050" marB="19050" anchor="ctr">
                    <a:solidFill>
                      <a:srgbClr val="F5F8FA"/>
                    </a:solidFill>
                  </a:tcPr>
                </a:tc>
                <a:tc>
                  <a:txBody>
                    <a:bodyPr wrap="none"/>
                    <a:lstStyle/>
                    <a:p>
                      <a:pPr algn="l"/>
                      <a:r>
                        <a:rPr sz="800" b="1">
                          <a:solidFill>
                            <a:srgbClr val="2E7D32"/>
                          </a:solidFill>
                          <a:latin typeface="Calibri"/>
                        </a:rPr>
                        <a:t>▲ 12.1%</a:t>
                      </a:r>
                    </a:p>
                  </a:txBody>
                  <a:tcPr marL="85725" marR="38100" marT="19050" marB="19050" anchor="ctr">
                    <a:solidFill>
                      <a:srgbClr val="F5F8FA"/>
                    </a:solidFill>
                  </a:tcPr>
                </a:tc>
                <a:tc>
                  <a:txBody>
                    <a:bodyPr wrap="none"/>
                    <a:lstStyle/>
                    <a:p>
                      <a:pPr algn="l"/>
                      <a:r>
                        <a:rPr sz="800" b="1">
                          <a:solidFill>
                            <a:srgbClr val="2E7D32"/>
                          </a:solidFill>
                          <a:latin typeface="Calibri"/>
                        </a:rPr>
                        <a:t>▲ 11.2%</a:t>
                      </a:r>
                    </a:p>
                  </a:txBody>
                  <a:tcPr marL="85725" marR="38100" marT="19050" marB="19050" anchor="ctr">
                    <a:solidFill>
                      <a:srgbClr val="F5F8FA"/>
                    </a:solidFill>
                  </a:tcPr>
                </a:tc>
                <a:tc>
                  <a:txBody>
                    <a:bodyPr wrap="none"/>
                    <a:lstStyle/>
                    <a:p>
                      <a:pPr algn="l"/>
                      <a:r>
                        <a:rPr sz="800" b="1">
                          <a:solidFill>
                            <a:srgbClr val="2E7D32"/>
                          </a:solidFill>
                          <a:latin typeface="Calibri"/>
                        </a:rPr>
                        <a:t>▲ 10.6%</a:t>
                      </a:r>
                    </a:p>
                  </a:txBody>
                  <a:tcPr marL="85725" marR="38100" marT="19050" marB="19050" anchor="ctr">
                    <a:solidFill>
                      <a:srgbClr val="F5F8FA"/>
                    </a:solidFill>
                  </a:tcPr>
                </a:tc>
                <a:tc>
                  <a:txBody>
                    <a:bodyPr wrap="none"/>
                    <a:lstStyle/>
                    <a:p>
                      <a:pPr algn="l"/>
                      <a:r>
                        <a:rPr sz="800" b="1">
                          <a:solidFill>
                            <a:srgbClr val="2E7D32"/>
                          </a:solidFill>
                          <a:latin typeface="Calibri"/>
                        </a:rPr>
                        <a:t>▲ 10.1%</a:t>
                      </a:r>
                    </a:p>
                  </a:txBody>
                  <a:tcPr marL="85725" marR="38100" marT="19050" marB="19050" anchor="ctr">
                    <a:solidFill>
                      <a:srgbClr val="F5F8FA"/>
                    </a:solidFill>
                  </a:tcPr>
                </a:tc>
                <a:tc>
                  <a:txBody>
                    <a:bodyPr wrap="none"/>
                    <a:lstStyle/>
                    <a:p>
                      <a:pPr algn="l"/>
                      <a:r>
                        <a:rPr sz="800" b="1">
                          <a:solidFill>
                            <a:srgbClr val="2E7D32"/>
                          </a:solidFill>
                          <a:latin typeface="Calibri"/>
                        </a:rPr>
                        <a:t>▲ 9.6%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Retail / Specialty Pharmacies</a:t>
                      </a:r>
                    </a:p>
                  </a:txBody>
                  <a:tcPr marL="85725" marR="38100" marT="19050" marB="19050" anchor="ctr">
                    <a:solidFill>
                      <a:srgbClr val="FFFFFF"/>
                    </a:solidFill>
                  </a:tcPr>
                </a:tc>
                <a:tc>
                  <a:txBody>
                    <a:bodyPr wrap="none"/>
                    <a:lstStyle/>
                    <a:p>
                      <a:pPr algn="l"/>
                      <a:r>
                        <a:rPr sz="800" b="1">
                          <a:solidFill>
                            <a:srgbClr val="2E7D32"/>
                          </a:solidFill>
                          <a:latin typeface="Calibri"/>
                        </a:rPr>
                        <a:t>▲ 16.9%</a:t>
                      </a:r>
                    </a:p>
                  </a:txBody>
                  <a:tcPr marL="85725" marR="38100" marT="19050" marB="19050" anchor="ctr">
                    <a:solidFill>
                      <a:srgbClr val="FFFFFF"/>
                    </a:solidFill>
                  </a:tcPr>
                </a:tc>
                <a:tc>
                  <a:txBody>
                    <a:bodyPr wrap="none"/>
                    <a:lstStyle/>
                    <a:p>
                      <a:pPr algn="l"/>
                      <a:r>
                        <a:rPr sz="800" b="1">
                          <a:solidFill>
                            <a:srgbClr val="2E7D32"/>
                          </a:solidFill>
                          <a:latin typeface="Calibri"/>
                        </a:rPr>
                        <a:t>▲ 24.0%</a:t>
                      </a:r>
                    </a:p>
                  </a:txBody>
                  <a:tcPr marL="85725" marR="38100" marT="19050" marB="19050" anchor="ctr">
                    <a:solidFill>
                      <a:srgbClr val="FFFFFF"/>
                    </a:solidFill>
                  </a:tcPr>
                </a:tc>
                <a:tc>
                  <a:txBody>
                    <a:bodyPr wrap="none"/>
                    <a:lstStyle/>
                    <a:p>
                      <a:pPr algn="l"/>
                      <a:r>
                        <a:rPr sz="800" b="1">
                          <a:solidFill>
                            <a:srgbClr val="2E7D32"/>
                          </a:solidFill>
                          <a:latin typeface="Calibri"/>
                        </a:rPr>
                        <a:t>▲ 27.9%</a:t>
                      </a:r>
                    </a:p>
                  </a:txBody>
                  <a:tcPr marL="85725" marR="38100" marT="19050" marB="19050" anchor="ctr">
                    <a:solidFill>
                      <a:srgbClr val="FFFFFF"/>
                    </a:solidFill>
                  </a:tcPr>
                </a:tc>
                <a:tc>
                  <a:txBody>
                    <a:bodyPr wrap="none"/>
                    <a:lstStyle/>
                    <a:p>
                      <a:pPr algn="l"/>
                      <a:r>
                        <a:rPr sz="800" b="1">
                          <a:solidFill>
                            <a:srgbClr val="2E7D32"/>
                          </a:solidFill>
                          <a:latin typeface="Calibri"/>
                        </a:rPr>
                        <a:t>▲ 25.1%</a:t>
                      </a:r>
                    </a:p>
                  </a:txBody>
                  <a:tcPr marL="85725" marR="38100" marT="19050" marB="19050" anchor="ctr">
                    <a:solidFill>
                      <a:srgbClr val="FFFFFF"/>
                    </a:solidFill>
                  </a:tcPr>
                </a:tc>
                <a:tc>
                  <a:txBody>
                    <a:bodyPr wrap="none"/>
                    <a:lstStyle/>
                    <a:p>
                      <a:pPr algn="l"/>
                      <a:r>
                        <a:rPr sz="800" b="1">
                          <a:solidFill>
                            <a:srgbClr val="2E7D32"/>
                          </a:solidFill>
                          <a:latin typeface="Calibri"/>
                        </a:rPr>
                        <a:t>▲ 21.3%</a:t>
                      </a:r>
                    </a:p>
                  </a:txBody>
                  <a:tcPr marL="85725" marR="38100" marT="19050" marB="19050" anchor="ctr">
                    <a:solidFill>
                      <a:srgbClr val="FFFFFF"/>
                    </a:solidFill>
                  </a:tcPr>
                </a:tc>
                <a:tc>
                  <a:txBody>
                    <a:bodyPr wrap="none"/>
                    <a:lstStyle/>
                    <a:p>
                      <a:pPr algn="l"/>
                      <a:r>
                        <a:rPr sz="800" b="1">
                          <a:solidFill>
                            <a:srgbClr val="2E7D32"/>
                          </a:solidFill>
                          <a:latin typeface="Calibri"/>
                        </a:rPr>
                        <a:t>▲ 19.1%</a:t>
                      </a:r>
                    </a:p>
                  </a:txBody>
                  <a:tcPr marL="85725" marR="38100" marT="19050" marB="19050" anchor="ctr">
                    <a:solidFill>
                      <a:srgbClr val="FFFFFF"/>
                    </a:solidFill>
                  </a:tcPr>
                </a:tc>
                <a:tc>
                  <a:txBody>
                    <a:bodyPr wrap="none"/>
                    <a:lstStyle/>
                    <a:p>
                      <a:pPr algn="l"/>
                      <a:r>
                        <a:rPr sz="800" b="1">
                          <a:solidFill>
                            <a:srgbClr val="A86F00"/>
                          </a:solidFill>
                          <a:latin typeface="Calibri"/>
                        </a:rPr>
                        <a:t>▶ 16.7%</a:t>
                      </a:r>
                    </a:p>
                  </a:txBody>
                  <a:tcPr marL="85725" marR="38100" marT="19050" marB="19050" anchor="ctr">
                    <a:solidFill>
                      <a:srgbClr val="FFFFFF"/>
                    </a:solidFill>
                  </a:tcPr>
                </a:tc>
                <a:tc>
                  <a:txBody>
                    <a:bodyPr wrap="none"/>
                    <a:lstStyle/>
                    <a:p>
                      <a:pPr algn="l"/>
                      <a:r>
                        <a:rPr sz="800" b="1">
                          <a:solidFill>
                            <a:srgbClr val="A86F00"/>
                          </a:solidFill>
                          <a:latin typeface="Calibri"/>
                        </a:rPr>
                        <a:t>▶ 15.0%</a:t>
                      </a:r>
                    </a:p>
                  </a:txBody>
                  <a:tcPr marL="85725" marR="38100" marT="19050" marB="19050" anchor="ctr">
                    <a:solidFill>
                      <a:srgbClr val="FFFFFF"/>
                    </a:solidFill>
                  </a:tcPr>
                </a:tc>
                <a:tc>
                  <a:txBody>
                    <a:bodyPr wrap="none"/>
                    <a:lstStyle/>
                    <a:p>
                      <a:pPr algn="l"/>
                      <a:r>
                        <a:rPr sz="800" b="1">
                          <a:solidFill>
                            <a:srgbClr val="A86F00"/>
                          </a:solidFill>
                          <a:latin typeface="Calibri"/>
                        </a:rPr>
                        <a:t>▶ 13.6%</a:t>
                      </a:r>
                    </a:p>
                  </a:txBody>
                  <a:tcPr marL="85725" marR="38100" marT="19050" marB="19050" anchor="ctr">
                    <a:solidFill>
                      <a:srgbClr val="FFFFFF"/>
                    </a:solidFill>
                  </a:tcPr>
                </a:tc>
                <a:tc>
                  <a:txBody>
                    <a:bodyPr wrap="none"/>
                    <a:lstStyle/>
                    <a:p>
                      <a:pPr algn="l"/>
                      <a:r>
                        <a:rPr sz="800" b="1">
                          <a:solidFill>
                            <a:srgbClr val="A86F00"/>
                          </a:solidFill>
                          <a:latin typeface="Calibri"/>
                        </a:rPr>
                        <a:t>▶ 12.4%</a:t>
                      </a:r>
                    </a:p>
                  </a:txBody>
                  <a:tcPr marL="85725" marR="38100" marT="19050" marB="19050" anchor="ctr">
                    <a:solidFill>
                      <a:srgbClr val="FFFFFF"/>
                    </a:solidFill>
                  </a:tcPr>
                </a:tc>
                <a:tc>
                  <a:txBody>
                    <a:bodyPr wrap="none"/>
                    <a:lstStyle/>
                    <a:p>
                      <a:pPr algn="l"/>
                      <a:r>
                        <a:rPr sz="800" b="1">
                          <a:solidFill>
                            <a:srgbClr val="A86F00"/>
                          </a:solidFill>
                          <a:latin typeface="Calibri"/>
                        </a:rPr>
                        <a:t>▶ 11.4%</a:t>
                      </a:r>
                    </a:p>
                  </a:txBody>
                  <a:tcPr marL="85725" marR="38100" marT="19050" marB="19050" anchor="ctr">
                    <a:solidFill>
                      <a:srgbClr val="FFFFFF"/>
                    </a:solidFill>
                  </a:tcPr>
                </a:tc>
                <a:tc>
                  <a:txBody>
                    <a:bodyPr wrap="none"/>
                    <a:lstStyle/>
                    <a:p>
                      <a:pPr algn="l"/>
                      <a:r>
                        <a:rPr sz="800" b="1">
                          <a:solidFill>
                            <a:srgbClr val="A86F00"/>
                          </a:solidFill>
                          <a:latin typeface="Calibri"/>
                        </a:rPr>
                        <a:t>▶ 10.5%</a:t>
                      </a:r>
                    </a:p>
                  </a:txBody>
                  <a:tcPr marL="85725" marR="38100" marT="19050" marB="19050" anchor="ctr">
                    <a:solidFill>
                      <a:srgbClr val="FFFFFF"/>
                    </a:solidFill>
                  </a:tcPr>
                </a:tc>
                <a:tc>
                  <a:txBody>
                    <a:bodyPr wrap="none"/>
                    <a:lstStyle/>
                    <a:p>
                      <a:pPr algn="l"/>
                      <a:r>
                        <a:rPr sz="800" b="1">
                          <a:solidFill>
                            <a:srgbClr val="A86F00"/>
                          </a:solidFill>
                          <a:latin typeface="Calibri"/>
                        </a:rPr>
                        <a:t>▶ 9.9%</a:t>
                      </a:r>
                    </a:p>
                  </a:txBody>
                  <a:tcPr marL="85725" marR="38100" marT="19050" marB="19050" anchor="ctr">
                    <a:solidFill>
                      <a:srgbClr val="FFFFFF"/>
                    </a:solidFill>
                  </a:tcPr>
                </a:tc>
                <a:tc>
                  <a:txBody>
                    <a:bodyPr wrap="none"/>
                    <a:lstStyle/>
                    <a:p>
                      <a:pPr algn="l"/>
                      <a:r>
                        <a:rPr sz="800" b="1">
                          <a:solidFill>
                            <a:srgbClr val="A86F00"/>
                          </a:solidFill>
                          <a:latin typeface="Calibri"/>
                        </a:rPr>
                        <a:t>▶ 9.3%</a:t>
                      </a:r>
                    </a:p>
                  </a:txBody>
                  <a:tcPr marL="85725" marR="38100" marT="19050" marB="19050" anchor="ctr">
                    <a:solidFill>
                      <a:srgbClr val="FFFFFF"/>
                    </a:solidFill>
                  </a:tcPr>
                </a:tc>
                <a:tc>
                  <a:txBody>
                    <a:bodyPr wrap="none"/>
                    <a:lstStyle/>
                    <a:p>
                      <a:pPr algn="l"/>
                      <a:r>
                        <a:rPr sz="800" b="1">
                          <a:solidFill>
                            <a:srgbClr val="A86F00"/>
                          </a:solidFill>
                          <a:latin typeface="Calibri"/>
                        </a:rPr>
                        <a:t>▶ 8.9%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Institutional Buyers</a:t>
                      </a:r>
                    </a:p>
                  </a:txBody>
                  <a:tcPr marL="85725" marR="38100" marT="19050" marB="19050" anchor="ctr">
                    <a:solidFill>
                      <a:srgbClr val="F5F8FA"/>
                    </a:solidFill>
                  </a:tcPr>
                </a:tc>
                <a:tc>
                  <a:txBody>
                    <a:bodyPr wrap="none"/>
                    <a:lstStyle/>
                    <a:p>
                      <a:pPr algn="l"/>
                      <a:r>
                        <a:rPr sz="800" b="1">
                          <a:solidFill>
                            <a:srgbClr val="A86F00"/>
                          </a:solidFill>
                          <a:latin typeface="Calibri"/>
                        </a:rPr>
                        <a:t>▶ 15.5%</a:t>
                      </a:r>
                    </a:p>
                  </a:txBody>
                  <a:tcPr marL="85725" marR="38100" marT="19050" marB="19050" anchor="ctr">
                    <a:solidFill>
                      <a:srgbClr val="F5F8FA"/>
                    </a:solidFill>
                  </a:tcPr>
                </a:tc>
                <a:tc>
                  <a:txBody>
                    <a:bodyPr wrap="none"/>
                    <a:lstStyle/>
                    <a:p>
                      <a:pPr algn="l"/>
                      <a:r>
                        <a:rPr sz="800" b="1">
                          <a:solidFill>
                            <a:srgbClr val="A86F00"/>
                          </a:solidFill>
                          <a:latin typeface="Calibri"/>
                        </a:rPr>
                        <a:t>▶ 22.5%</a:t>
                      </a:r>
                    </a:p>
                  </a:txBody>
                  <a:tcPr marL="85725" marR="38100" marT="19050" marB="19050" anchor="ctr">
                    <a:solidFill>
                      <a:srgbClr val="F5F8FA"/>
                    </a:solidFill>
                  </a:tcPr>
                </a:tc>
                <a:tc>
                  <a:txBody>
                    <a:bodyPr wrap="none"/>
                    <a:lstStyle/>
                    <a:p>
                      <a:pPr algn="l"/>
                      <a:r>
                        <a:rPr sz="800" b="1">
                          <a:solidFill>
                            <a:srgbClr val="A86F00"/>
                          </a:solidFill>
                          <a:latin typeface="Calibri"/>
                        </a:rPr>
                        <a:t>▶ 26.4%</a:t>
                      </a:r>
                    </a:p>
                  </a:txBody>
                  <a:tcPr marL="85725" marR="38100" marT="19050" marB="19050" anchor="ctr">
                    <a:solidFill>
                      <a:srgbClr val="F5F8FA"/>
                    </a:solidFill>
                  </a:tcPr>
                </a:tc>
                <a:tc>
                  <a:txBody>
                    <a:bodyPr wrap="none"/>
                    <a:lstStyle/>
                    <a:p>
                      <a:pPr algn="l"/>
                      <a:r>
                        <a:rPr sz="800" b="1">
                          <a:solidFill>
                            <a:srgbClr val="A86F00"/>
                          </a:solidFill>
                          <a:latin typeface="Calibri"/>
                        </a:rPr>
                        <a:t>▶ 23.6%</a:t>
                      </a:r>
                    </a:p>
                  </a:txBody>
                  <a:tcPr marL="85725" marR="38100" marT="19050" marB="19050" anchor="ctr">
                    <a:solidFill>
                      <a:srgbClr val="F5F8FA"/>
                    </a:solidFill>
                  </a:tcPr>
                </a:tc>
                <a:tc>
                  <a:txBody>
                    <a:bodyPr wrap="none"/>
                    <a:lstStyle/>
                    <a:p>
                      <a:pPr algn="l"/>
                      <a:r>
                        <a:rPr sz="800" b="1">
                          <a:solidFill>
                            <a:srgbClr val="A86F00"/>
                          </a:solidFill>
                          <a:latin typeface="Calibri"/>
                        </a:rPr>
                        <a:t>▶ 19.9%</a:t>
                      </a:r>
                    </a:p>
                  </a:txBody>
                  <a:tcPr marL="85725" marR="38100" marT="19050" marB="19050" anchor="ctr">
                    <a:solidFill>
                      <a:srgbClr val="F5F8FA"/>
                    </a:solidFill>
                  </a:tcPr>
                </a:tc>
                <a:tc>
                  <a:txBody>
                    <a:bodyPr wrap="none"/>
                    <a:lstStyle/>
                    <a:p>
                      <a:pPr algn="l"/>
                      <a:r>
                        <a:rPr sz="800" b="1">
                          <a:solidFill>
                            <a:srgbClr val="A86F00"/>
                          </a:solidFill>
                          <a:latin typeface="Calibri"/>
                        </a:rPr>
                        <a:t>▶ 17.7%</a:t>
                      </a:r>
                    </a:p>
                  </a:txBody>
                  <a:tcPr marL="85725" marR="38100" marT="19050" marB="19050" anchor="ctr">
                    <a:solidFill>
                      <a:srgbClr val="F5F8FA"/>
                    </a:solidFill>
                  </a:tcPr>
                </a:tc>
                <a:tc>
                  <a:txBody>
                    <a:bodyPr wrap="none"/>
                    <a:lstStyle/>
                    <a:p>
                      <a:pPr algn="l"/>
                      <a:r>
                        <a:rPr sz="800" b="1">
                          <a:solidFill>
                            <a:srgbClr val="A86F00"/>
                          </a:solidFill>
                          <a:latin typeface="Calibri"/>
                        </a:rPr>
                        <a:t>▶ 15.3%</a:t>
                      </a:r>
                    </a:p>
                  </a:txBody>
                  <a:tcPr marL="85725" marR="38100" marT="19050" marB="19050" anchor="ctr">
                    <a:solidFill>
                      <a:srgbClr val="F5F8FA"/>
                    </a:solidFill>
                  </a:tcPr>
                </a:tc>
                <a:tc>
                  <a:txBody>
                    <a:bodyPr wrap="none"/>
                    <a:lstStyle/>
                    <a:p>
                      <a:pPr algn="l"/>
                      <a:r>
                        <a:rPr sz="800" b="1">
                          <a:solidFill>
                            <a:srgbClr val="A86F00"/>
                          </a:solidFill>
                          <a:latin typeface="Calibri"/>
                        </a:rPr>
                        <a:t>▶ 13.6%</a:t>
                      </a:r>
                    </a:p>
                  </a:txBody>
                  <a:tcPr marL="85725" marR="38100" marT="19050" marB="19050" anchor="ctr">
                    <a:solidFill>
                      <a:srgbClr val="F5F8FA"/>
                    </a:solidFill>
                  </a:tcPr>
                </a:tc>
                <a:tc>
                  <a:txBody>
                    <a:bodyPr wrap="none"/>
                    <a:lstStyle/>
                    <a:p>
                      <a:pPr algn="l"/>
                      <a:r>
                        <a:rPr sz="800" b="1">
                          <a:solidFill>
                            <a:srgbClr val="A86F00"/>
                          </a:solidFill>
                          <a:latin typeface="Calibri"/>
                        </a:rPr>
                        <a:t>▶ 12.3%</a:t>
                      </a:r>
                    </a:p>
                  </a:txBody>
                  <a:tcPr marL="85725" marR="38100" marT="19050" marB="19050" anchor="ctr">
                    <a:solidFill>
                      <a:srgbClr val="F5F8FA"/>
                    </a:solidFill>
                  </a:tcPr>
                </a:tc>
                <a:tc>
                  <a:txBody>
                    <a:bodyPr wrap="none"/>
                    <a:lstStyle/>
                    <a:p>
                      <a:pPr algn="l"/>
                      <a:r>
                        <a:rPr sz="800" b="1">
                          <a:solidFill>
                            <a:srgbClr val="A86F00"/>
                          </a:solidFill>
                          <a:latin typeface="Calibri"/>
                        </a:rPr>
                        <a:t>▶ 11.1%</a:t>
                      </a:r>
                    </a:p>
                  </a:txBody>
                  <a:tcPr marL="85725" marR="38100" marT="19050" marB="19050" anchor="ctr">
                    <a:solidFill>
                      <a:srgbClr val="F5F8FA"/>
                    </a:solidFill>
                  </a:tcPr>
                </a:tc>
                <a:tc>
                  <a:txBody>
                    <a:bodyPr wrap="none"/>
                    <a:lstStyle/>
                    <a:p>
                      <a:pPr algn="l"/>
                      <a:r>
                        <a:rPr sz="800" b="1">
                          <a:solidFill>
                            <a:srgbClr val="A86F00"/>
                          </a:solidFill>
                          <a:latin typeface="Calibri"/>
                        </a:rPr>
                        <a:t>▶ 10.1%</a:t>
                      </a:r>
                    </a:p>
                  </a:txBody>
                  <a:tcPr marL="85725" marR="38100" marT="19050" marB="19050" anchor="ctr">
                    <a:solidFill>
                      <a:srgbClr val="F5F8FA"/>
                    </a:solidFill>
                  </a:tcPr>
                </a:tc>
                <a:tc>
                  <a:txBody>
                    <a:bodyPr wrap="none"/>
                    <a:lstStyle/>
                    <a:p>
                      <a:pPr algn="l"/>
                      <a:r>
                        <a:rPr sz="800" b="1">
                          <a:solidFill>
                            <a:srgbClr val="A86F00"/>
                          </a:solidFill>
                          <a:latin typeface="Calibri"/>
                        </a:rPr>
                        <a:t>▶ 9.3%</a:t>
                      </a:r>
                    </a:p>
                  </a:txBody>
                  <a:tcPr marL="85725" marR="38100" marT="19050" marB="19050" anchor="ctr">
                    <a:solidFill>
                      <a:srgbClr val="F5F8FA"/>
                    </a:solidFill>
                  </a:tcPr>
                </a:tc>
                <a:tc>
                  <a:txBody>
                    <a:bodyPr wrap="none"/>
                    <a:lstStyle/>
                    <a:p>
                      <a:pPr algn="l"/>
                      <a:r>
                        <a:rPr sz="800" b="1">
                          <a:solidFill>
                            <a:srgbClr val="A86F00"/>
                          </a:solidFill>
                          <a:latin typeface="Calibri"/>
                        </a:rPr>
                        <a:t>▶ 8.6%</a:t>
                      </a:r>
                    </a:p>
                  </a:txBody>
                  <a:tcPr marL="85725" marR="38100" marT="19050" marB="19050" anchor="ctr">
                    <a:solidFill>
                      <a:srgbClr val="F5F8FA"/>
                    </a:solidFill>
                  </a:tcPr>
                </a:tc>
                <a:tc>
                  <a:txBody>
                    <a:bodyPr wrap="none"/>
                    <a:lstStyle/>
                    <a:p>
                      <a:pPr algn="l"/>
                      <a:r>
                        <a:rPr sz="800" b="1">
                          <a:solidFill>
                            <a:srgbClr val="A86F00"/>
                          </a:solidFill>
                          <a:latin typeface="Calibri"/>
                        </a:rPr>
                        <a:t>▶ 8.1%</a:t>
                      </a:r>
                    </a:p>
                  </a:txBody>
                  <a:tcPr marL="85725" marR="38100" marT="19050" marB="19050" anchor="ctr">
                    <a:solidFill>
                      <a:srgbClr val="F5F8FA"/>
                    </a:solidFill>
                  </a:tcPr>
                </a:tc>
                <a:tc>
                  <a:txBody>
                    <a:bodyPr wrap="none"/>
                    <a:lstStyle/>
                    <a:p>
                      <a:pPr algn="l"/>
                      <a:r>
                        <a:rPr sz="800" b="1">
                          <a:solidFill>
                            <a:srgbClr val="A86F00"/>
                          </a:solidFill>
                          <a:latin typeface="Calibri"/>
                        </a:rPr>
                        <a:t>▶ 7.7%</a:t>
                      </a:r>
                    </a:p>
                  </a:txBody>
                  <a:tcPr marL="85725" marR="38100" marT="19050" marB="19050" anchor="ctr">
                    <a:solidFill>
                      <a:srgbClr val="F5F8FA"/>
                    </a:solidFill>
                  </a:tcPr>
                </a:tc>
              </a:tr>
            </a:tbl>
          </a:graphicData>
        </a:graphic>
      </p:graphicFrame>
      <p:sp>
        <p:nvSpPr>
          <p:cNvPr id="14" name="TextBox 13"/>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Value YoY, By Buyer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7" name="Table 16"/>
          <p:cNvGraphicFramePr>
            <a:graphicFrameLocks noGrp="1"/>
          </p:cNvGraphicFramePr>
          <p:nvPr/>
        </p:nvGraphicFramePr>
        <p:xfrm>
          <a:off x="238125" y="4143375"/>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Buyer Type</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Hospitals</a:t>
                      </a:r>
                    </a:p>
                  </a:txBody>
                  <a:tcPr marL="85725" marR="38100" marT="19050" marB="19050" anchor="ctr">
                    <a:solidFill>
                      <a:srgbClr val="FFFFFF"/>
                    </a:solidFill>
                  </a:tcPr>
                </a:tc>
                <a:tc>
                  <a:txBody>
                    <a:bodyPr wrap="none"/>
                    <a:lstStyle/>
                    <a:p>
                      <a:pPr algn="l"/>
                      <a:r>
                        <a:rPr sz="800" b="1">
                          <a:solidFill>
                            <a:srgbClr val="2E7D32"/>
                          </a:solidFill>
                          <a:latin typeface="Calibri"/>
                        </a:rPr>
                        <a:t>▲ 14.2%</a:t>
                      </a:r>
                    </a:p>
                  </a:txBody>
                  <a:tcPr marL="85725" marR="38100" marT="19050" marB="19050" anchor="ctr">
                    <a:solidFill>
                      <a:srgbClr val="FFFFFF"/>
                    </a:solidFill>
                  </a:tcPr>
                </a:tc>
                <a:tc>
                  <a:txBody>
                    <a:bodyPr wrap="none"/>
                    <a:lstStyle/>
                    <a:p>
                      <a:pPr algn="l"/>
                      <a:r>
                        <a:rPr sz="800" b="1">
                          <a:solidFill>
                            <a:srgbClr val="2E7D32"/>
                          </a:solidFill>
                          <a:latin typeface="Calibri"/>
                        </a:rPr>
                        <a:t>▲ 21.2%</a:t>
                      </a:r>
                    </a:p>
                  </a:txBody>
                  <a:tcPr marL="85725" marR="38100" marT="19050" marB="19050" anchor="ctr">
                    <a:solidFill>
                      <a:srgbClr val="FFFFFF"/>
                    </a:solidFill>
                  </a:tcPr>
                </a:tc>
                <a:tc>
                  <a:txBody>
                    <a:bodyPr wrap="none"/>
                    <a:lstStyle/>
                    <a:p>
                      <a:pPr algn="l"/>
                      <a:r>
                        <a:rPr sz="800" b="1">
                          <a:solidFill>
                            <a:srgbClr val="2E7D32"/>
                          </a:solidFill>
                          <a:latin typeface="Calibri"/>
                        </a:rPr>
                        <a:t>▲ 25.0%</a:t>
                      </a:r>
                    </a:p>
                  </a:txBody>
                  <a:tcPr marL="85725" marR="38100" marT="19050" marB="19050" anchor="ctr">
                    <a:solidFill>
                      <a:srgbClr val="FFFFFF"/>
                    </a:solidFill>
                  </a:tcPr>
                </a:tc>
                <a:tc>
                  <a:txBody>
                    <a:bodyPr wrap="none"/>
                    <a:lstStyle/>
                    <a:p>
                      <a:pPr algn="l"/>
                      <a:r>
                        <a:rPr sz="800" b="1">
                          <a:solidFill>
                            <a:srgbClr val="2E7D32"/>
                          </a:solidFill>
                          <a:latin typeface="Calibri"/>
                        </a:rPr>
                        <a:t>▲ 22.3%</a:t>
                      </a:r>
                    </a:p>
                  </a:txBody>
                  <a:tcPr marL="85725" marR="38100" marT="19050" marB="19050" anchor="ctr">
                    <a:solidFill>
                      <a:srgbClr val="FFFFFF"/>
                    </a:solidFill>
                  </a:tcPr>
                </a:tc>
                <a:tc>
                  <a:txBody>
                    <a:bodyPr wrap="none"/>
                    <a:lstStyle/>
                    <a:p>
                      <a:pPr algn="l"/>
                      <a:r>
                        <a:rPr sz="800" b="1">
                          <a:solidFill>
                            <a:srgbClr val="2E7D32"/>
                          </a:solidFill>
                          <a:latin typeface="Calibri"/>
                        </a:rPr>
                        <a:t>▲ 18.6%</a:t>
                      </a:r>
                    </a:p>
                  </a:txBody>
                  <a:tcPr marL="85725" marR="38100" marT="19050" marB="19050" anchor="ctr">
                    <a:solidFill>
                      <a:srgbClr val="FFFFFF"/>
                    </a:solidFill>
                  </a:tcPr>
                </a:tc>
                <a:tc>
                  <a:txBody>
                    <a:bodyPr wrap="none"/>
                    <a:lstStyle/>
                    <a:p>
                      <a:pPr algn="l"/>
                      <a:r>
                        <a:rPr sz="800" b="1">
                          <a:solidFill>
                            <a:srgbClr val="2E7D32"/>
                          </a:solidFill>
                          <a:latin typeface="Calibri"/>
                        </a:rPr>
                        <a:t>▲ 16.4%</a:t>
                      </a:r>
                    </a:p>
                  </a:txBody>
                  <a:tcPr marL="85725" marR="38100" marT="19050" marB="19050" anchor="ctr">
                    <a:solidFill>
                      <a:srgbClr val="FFFFFF"/>
                    </a:solidFill>
                  </a:tcPr>
                </a:tc>
                <a:tc>
                  <a:txBody>
                    <a:bodyPr wrap="none"/>
                    <a:lstStyle/>
                    <a:p>
                      <a:pPr algn="l"/>
                      <a:r>
                        <a:rPr sz="800" b="1">
                          <a:solidFill>
                            <a:srgbClr val="2E7D32"/>
                          </a:solidFill>
                          <a:latin typeface="Calibri"/>
                        </a:rPr>
                        <a:t>▲ 14.0%</a:t>
                      </a:r>
                    </a:p>
                  </a:txBody>
                  <a:tcPr marL="85725" marR="38100" marT="19050" marB="19050" anchor="ctr">
                    <a:solidFill>
                      <a:srgbClr val="FFFFFF"/>
                    </a:solidFill>
                  </a:tcPr>
                </a:tc>
                <a:tc>
                  <a:txBody>
                    <a:bodyPr wrap="none"/>
                    <a:lstStyle/>
                    <a:p>
                      <a:pPr algn="l"/>
                      <a:r>
                        <a:rPr sz="800" b="1">
                          <a:solidFill>
                            <a:srgbClr val="2E7D32"/>
                          </a:solidFill>
                          <a:latin typeface="Calibri"/>
                        </a:rPr>
                        <a:t>▲ 12.4%</a:t>
                      </a:r>
                    </a:p>
                  </a:txBody>
                  <a:tcPr marL="85725" marR="38100" marT="19050" marB="19050" anchor="ctr">
                    <a:solidFill>
                      <a:srgbClr val="FFFFFF"/>
                    </a:solidFill>
                  </a:tcPr>
                </a:tc>
                <a:tc>
                  <a:txBody>
                    <a:bodyPr wrap="none"/>
                    <a:lstStyle/>
                    <a:p>
                      <a:pPr algn="l"/>
                      <a:r>
                        <a:rPr sz="800" b="1">
                          <a:solidFill>
                            <a:srgbClr val="2E7D32"/>
                          </a:solidFill>
                          <a:latin typeface="Calibri"/>
                        </a:rPr>
                        <a:t>▲ 11.0%</a:t>
                      </a:r>
                    </a:p>
                  </a:txBody>
                  <a:tcPr marL="85725" marR="38100" marT="19050" marB="19050" anchor="ctr">
                    <a:solidFill>
                      <a:srgbClr val="FFFFFF"/>
                    </a:solidFill>
                  </a:tcPr>
                </a:tc>
                <a:tc>
                  <a:txBody>
                    <a:bodyPr wrap="none"/>
                    <a:lstStyle/>
                    <a:p>
                      <a:pPr algn="l"/>
                      <a:r>
                        <a:rPr sz="800" b="1">
                          <a:solidFill>
                            <a:srgbClr val="2E7D32"/>
                          </a:solidFill>
                          <a:latin typeface="Calibri"/>
                        </a:rPr>
                        <a:t>▲ 9.9%</a:t>
                      </a:r>
                    </a:p>
                  </a:txBody>
                  <a:tcPr marL="85725" marR="38100" marT="19050" marB="19050" anchor="ctr">
                    <a:solidFill>
                      <a:srgbClr val="FFFFFF"/>
                    </a:solidFill>
                  </a:tcPr>
                </a:tc>
                <a:tc>
                  <a:txBody>
                    <a:bodyPr wrap="none"/>
                    <a:lstStyle/>
                    <a:p>
                      <a:pPr algn="l"/>
                      <a:r>
                        <a:rPr sz="800" b="1">
                          <a:solidFill>
                            <a:srgbClr val="2E7D32"/>
                          </a:solidFill>
                          <a:latin typeface="Calibri"/>
                        </a:rPr>
                        <a:t>▲ 8.9%</a:t>
                      </a:r>
                    </a:p>
                  </a:txBody>
                  <a:tcPr marL="85725" marR="38100" marT="19050" marB="19050" anchor="ctr">
                    <a:solidFill>
                      <a:srgbClr val="FFFFFF"/>
                    </a:solidFill>
                  </a:tcPr>
                </a:tc>
                <a:tc>
                  <a:txBody>
                    <a:bodyPr wrap="none"/>
                    <a:lstStyle/>
                    <a:p>
                      <a:pPr algn="l"/>
                      <a:r>
                        <a:rPr sz="800" b="1">
                          <a:solidFill>
                            <a:srgbClr val="2E7D32"/>
                          </a:solidFill>
                          <a:latin typeface="Calibri"/>
                        </a:rPr>
                        <a:t>▲ 8.1%</a:t>
                      </a:r>
                    </a:p>
                  </a:txBody>
                  <a:tcPr marL="85725" marR="38100" marT="19050" marB="19050" anchor="ctr">
                    <a:solidFill>
                      <a:srgbClr val="FFFFFF"/>
                    </a:solidFill>
                  </a:tcPr>
                </a:tc>
                <a:tc>
                  <a:txBody>
                    <a:bodyPr wrap="none"/>
                    <a:lstStyle/>
                    <a:p>
                      <a:pPr algn="l"/>
                      <a:r>
                        <a:rPr sz="800" b="1">
                          <a:solidFill>
                            <a:srgbClr val="2E7D32"/>
                          </a:solidFill>
                          <a:latin typeface="Calibri"/>
                        </a:rPr>
                        <a:t>▲ 7.4%</a:t>
                      </a:r>
                    </a:p>
                  </a:txBody>
                  <a:tcPr marL="85725" marR="38100" marT="19050" marB="19050" anchor="ctr">
                    <a:solidFill>
                      <a:srgbClr val="FFFFFF"/>
                    </a:solidFill>
                  </a:tcPr>
                </a:tc>
                <a:tc>
                  <a:txBody>
                    <a:bodyPr wrap="none"/>
                    <a:lstStyle/>
                    <a:p>
                      <a:pPr algn="l"/>
                      <a:r>
                        <a:rPr sz="800" b="1">
                          <a:solidFill>
                            <a:srgbClr val="2E7D32"/>
                          </a:solidFill>
                          <a:latin typeface="Calibri"/>
                        </a:rPr>
                        <a:t>▲ 6.9%</a:t>
                      </a:r>
                    </a:p>
                  </a:txBody>
                  <a:tcPr marL="85725" marR="38100" marT="19050" marB="19050" anchor="ctr">
                    <a:solidFill>
                      <a:srgbClr val="FFFFFF"/>
                    </a:solidFill>
                  </a:tcPr>
                </a:tc>
                <a:tc>
                  <a:txBody>
                    <a:bodyPr wrap="none"/>
                    <a:lstStyle/>
                    <a:p>
                      <a:pPr algn="l"/>
                      <a:r>
                        <a:rPr sz="800" b="1">
                          <a:solidFill>
                            <a:srgbClr val="2E7D32"/>
                          </a:solidFill>
                          <a:latin typeface="Calibri"/>
                        </a:rPr>
                        <a:t>▲ 6.5%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Specialty Clinics</a:t>
                      </a:r>
                    </a:p>
                  </a:txBody>
                  <a:tcPr marL="85725" marR="38100" marT="19050" marB="19050" anchor="ctr">
                    <a:solidFill>
                      <a:srgbClr val="F5F8FA"/>
                    </a:solidFill>
                  </a:tcPr>
                </a:tc>
                <a:tc>
                  <a:txBody>
                    <a:bodyPr wrap="none"/>
                    <a:lstStyle/>
                    <a:p>
                      <a:pPr algn="l"/>
                      <a:r>
                        <a:rPr sz="800" b="1">
                          <a:solidFill>
                            <a:srgbClr val="A86F00"/>
                          </a:solidFill>
                          <a:latin typeface="Calibri"/>
                        </a:rPr>
                        <a:t>▶ 12.2%</a:t>
                      </a:r>
                    </a:p>
                  </a:txBody>
                  <a:tcPr marL="85725" marR="38100" marT="19050" marB="19050" anchor="ctr">
                    <a:solidFill>
                      <a:srgbClr val="F5F8FA"/>
                    </a:solidFill>
                  </a:tcPr>
                </a:tc>
                <a:tc>
                  <a:txBody>
                    <a:bodyPr wrap="none"/>
                    <a:lstStyle/>
                    <a:p>
                      <a:pPr algn="l"/>
                      <a:r>
                        <a:rPr sz="800" b="1">
                          <a:solidFill>
                            <a:srgbClr val="A86F00"/>
                          </a:solidFill>
                          <a:latin typeface="Calibri"/>
                        </a:rPr>
                        <a:t>▶ 19.0%</a:t>
                      </a:r>
                    </a:p>
                  </a:txBody>
                  <a:tcPr marL="85725" marR="38100" marT="19050" marB="19050" anchor="ctr">
                    <a:solidFill>
                      <a:srgbClr val="F5F8FA"/>
                    </a:solidFill>
                  </a:tcPr>
                </a:tc>
                <a:tc>
                  <a:txBody>
                    <a:bodyPr wrap="none"/>
                    <a:lstStyle/>
                    <a:p>
                      <a:pPr algn="l"/>
                      <a:r>
                        <a:rPr sz="800" b="1">
                          <a:solidFill>
                            <a:srgbClr val="A86F00"/>
                          </a:solidFill>
                          <a:latin typeface="Calibri"/>
                        </a:rPr>
                        <a:t>▶ 22.8%</a:t>
                      </a:r>
                    </a:p>
                  </a:txBody>
                  <a:tcPr marL="85725" marR="38100" marT="19050" marB="19050" anchor="ctr">
                    <a:solidFill>
                      <a:srgbClr val="F5F8FA"/>
                    </a:solidFill>
                  </a:tcPr>
                </a:tc>
                <a:tc>
                  <a:txBody>
                    <a:bodyPr wrap="none"/>
                    <a:lstStyle/>
                    <a:p>
                      <a:pPr algn="l"/>
                      <a:r>
                        <a:rPr sz="800" b="1">
                          <a:solidFill>
                            <a:srgbClr val="A86F00"/>
                          </a:solidFill>
                          <a:latin typeface="Calibri"/>
                        </a:rPr>
                        <a:t>▶ 20.2%</a:t>
                      </a:r>
                    </a:p>
                  </a:txBody>
                  <a:tcPr marL="85725" marR="38100" marT="19050" marB="19050" anchor="ctr">
                    <a:solidFill>
                      <a:srgbClr val="F5F8FA"/>
                    </a:solidFill>
                  </a:tcPr>
                </a:tc>
                <a:tc>
                  <a:txBody>
                    <a:bodyPr wrap="none"/>
                    <a:lstStyle/>
                    <a:p>
                      <a:pPr algn="l"/>
                      <a:r>
                        <a:rPr sz="800" b="1">
                          <a:solidFill>
                            <a:srgbClr val="A86F00"/>
                          </a:solidFill>
                          <a:latin typeface="Calibri"/>
                        </a:rPr>
                        <a:t>▶ 16.6%</a:t>
                      </a:r>
                    </a:p>
                  </a:txBody>
                  <a:tcPr marL="85725" marR="38100" marT="19050" marB="19050" anchor="ctr">
                    <a:solidFill>
                      <a:srgbClr val="F5F8FA"/>
                    </a:solidFill>
                  </a:tcPr>
                </a:tc>
                <a:tc>
                  <a:txBody>
                    <a:bodyPr wrap="none"/>
                    <a:lstStyle/>
                    <a:p>
                      <a:pPr algn="l"/>
                      <a:r>
                        <a:rPr sz="800" b="1">
                          <a:solidFill>
                            <a:srgbClr val="A86F00"/>
                          </a:solidFill>
                          <a:latin typeface="Calibri"/>
                        </a:rPr>
                        <a:t>▶ 14.4%</a:t>
                      </a:r>
                    </a:p>
                  </a:txBody>
                  <a:tcPr marL="85725" marR="38100" marT="19050" marB="19050" anchor="ctr">
                    <a:solidFill>
                      <a:srgbClr val="F5F8FA"/>
                    </a:solidFill>
                  </a:tcPr>
                </a:tc>
                <a:tc>
                  <a:txBody>
                    <a:bodyPr wrap="none"/>
                    <a:lstStyle/>
                    <a:p>
                      <a:pPr algn="l"/>
                      <a:r>
                        <a:rPr sz="800" b="1">
                          <a:solidFill>
                            <a:srgbClr val="A86F00"/>
                          </a:solidFill>
                          <a:latin typeface="Calibri"/>
                        </a:rPr>
                        <a:t>▶ 12.1%</a:t>
                      </a:r>
                    </a:p>
                  </a:txBody>
                  <a:tcPr marL="85725" marR="38100" marT="19050" marB="19050" anchor="ctr">
                    <a:solidFill>
                      <a:srgbClr val="F5F8FA"/>
                    </a:solidFill>
                  </a:tcPr>
                </a:tc>
                <a:tc>
                  <a:txBody>
                    <a:bodyPr wrap="none"/>
                    <a:lstStyle/>
                    <a:p>
                      <a:pPr algn="l"/>
                      <a:r>
                        <a:rPr sz="800" b="1">
                          <a:solidFill>
                            <a:srgbClr val="A86F00"/>
                          </a:solidFill>
                          <a:latin typeface="Calibri"/>
                        </a:rPr>
                        <a:t>▶ 10.5%</a:t>
                      </a:r>
                    </a:p>
                  </a:txBody>
                  <a:tcPr marL="85725" marR="38100" marT="19050" marB="19050" anchor="ctr">
                    <a:solidFill>
                      <a:srgbClr val="F5F8FA"/>
                    </a:solidFill>
                  </a:tcPr>
                </a:tc>
                <a:tc>
                  <a:txBody>
                    <a:bodyPr wrap="none"/>
                    <a:lstStyle/>
                    <a:p>
                      <a:pPr algn="l"/>
                      <a:r>
                        <a:rPr sz="800" b="1">
                          <a:solidFill>
                            <a:srgbClr val="A86F00"/>
                          </a:solidFill>
                          <a:latin typeface="Calibri"/>
                        </a:rPr>
                        <a:t>▶ 9.2%</a:t>
                      </a:r>
                    </a:p>
                  </a:txBody>
                  <a:tcPr marL="85725" marR="38100" marT="19050" marB="19050" anchor="ctr">
                    <a:solidFill>
                      <a:srgbClr val="F5F8FA"/>
                    </a:solidFill>
                  </a:tcPr>
                </a:tc>
                <a:tc>
                  <a:txBody>
                    <a:bodyPr wrap="none"/>
                    <a:lstStyle/>
                    <a:p>
                      <a:pPr algn="l"/>
                      <a:r>
                        <a:rPr sz="800" b="1">
                          <a:solidFill>
                            <a:srgbClr val="A86F00"/>
                          </a:solidFill>
                          <a:latin typeface="Calibri"/>
                        </a:rPr>
                        <a:t>▶ 8.1%</a:t>
                      </a:r>
                    </a:p>
                  </a:txBody>
                  <a:tcPr marL="85725" marR="38100" marT="19050" marB="19050" anchor="ctr">
                    <a:solidFill>
                      <a:srgbClr val="F5F8FA"/>
                    </a:solidFill>
                  </a:tcPr>
                </a:tc>
                <a:tc>
                  <a:txBody>
                    <a:bodyPr wrap="none"/>
                    <a:lstStyle/>
                    <a:p>
                      <a:pPr algn="l"/>
                      <a:r>
                        <a:rPr sz="800" b="1">
                          <a:solidFill>
                            <a:srgbClr val="A86F00"/>
                          </a:solidFill>
                          <a:latin typeface="Calibri"/>
                        </a:rPr>
                        <a:t>▶ 7.1%</a:t>
                      </a:r>
                    </a:p>
                  </a:txBody>
                  <a:tcPr marL="85725" marR="38100" marT="19050" marB="19050" anchor="ctr">
                    <a:solidFill>
                      <a:srgbClr val="F5F8FA"/>
                    </a:solidFill>
                  </a:tcPr>
                </a:tc>
                <a:tc>
                  <a:txBody>
                    <a:bodyPr wrap="none"/>
                    <a:lstStyle/>
                    <a:p>
                      <a:pPr algn="l"/>
                      <a:r>
                        <a:rPr sz="800" b="1">
                          <a:solidFill>
                            <a:srgbClr val="A86F00"/>
                          </a:solidFill>
                          <a:latin typeface="Calibri"/>
                        </a:rPr>
                        <a:t>▶ 6.3%</a:t>
                      </a:r>
                    </a:p>
                  </a:txBody>
                  <a:tcPr marL="85725" marR="38100" marT="19050" marB="19050" anchor="ctr">
                    <a:solidFill>
                      <a:srgbClr val="F5F8FA"/>
                    </a:solidFill>
                  </a:tcPr>
                </a:tc>
                <a:tc>
                  <a:txBody>
                    <a:bodyPr wrap="none"/>
                    <a:lstStyle/>
                    <a:p>
                      <a:pPr algn="l"/>
                      <a:r>
                        <a:rPr sz="800" b="1">
                          <a:solidFill>
                            <a:srgbClr val="A86F00"/>
                          </a:solidFill>
                          <a:latin typeface="Calibri"/>
                        </a:rPr>
                        <a:t>▶ 5.7%</a:t>
                      </a:r>
                    </a:p>
                  </a:txBody>
                  <a:tcPr marL="85725" marR="38100" marT="19050" marB="19050" anchor="ctr">
                    <a:solidFill>
                      <a:srgbClr val="F5F8FA"/>
                    </a:solidFill>
                  </a:tcPr>
                </a:tc>
                <a:tc>
                  <a:txBody>
                    <a:bodyPr wrap="none"/>
                    <a:lstStyle/>
                    <a:p>
                      <a:pPr algn="l"/>
                      <a:r>
                        <a:rPr sz="800" b="1">
                          <a:solidFill>
                            <a:srgbClr val="A86F00"/>
                          </a:solidFill>
                          <a:latin typeface="Calibri"/>
                        </a:rPr>
                        <a:t>▶ 5.2%</a:t>
                      </a:r>
                    </a:p>
                  </a:txBody>
                  <a:tcPr marL="85725" marR="38100" marT="19050" marB="19050" anchor="ctr">
                    <a:solidFill>
                      <a:srgbClr val="F5F8FA"/>
                    </a:solidFill>
                  </a:tcPr>
                </a:tc>
                <a:tc>
                  <a:txBody>
                    <a:bodyPr wrap="none"/>
                    <a:lstStyle/>
                    <a:p>
                      <a:pPr algn="l"/>
                      <a:r>
                        <a:rPr sz="800" b="1">
                          <a:solidFill>
                            <a:srgbClr val="A86F00"/>
                          </a:solidFill>
                          <a:latin typeface="Calibri"/>
                        </a:rPr>
                        <a:t>▶ 4.8%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Retail / Specialty Pharmacies</a:t>
                      </a:r>
                    </a:p>
                  </a:txBody>
                  <a:tcPr marL="85725" marR="38100" marT="19050" marB="19050" anchor="ctr">
                    <a:solidFill>
                      <a:srgbClr val="FFFFFF"/>
                    </a:solidFill>
                  </a:tcPr>
                </a:tc>
                <a:tc>
                  <a:txBody>
                    <a:bodyPr wrap="none"/>
                    <a:lstStyle/>
                    <a:p>
                      <a:pPr algn="l"/>
                      <a:r>
                        <a:rPr sz="800" b="1">
                          <a:solidFill>
                            <a:srgbClr val="2E7D32"/>
                          </a:solidFill>
                          <a:latin typeface="Calibri"/>
                        </a:rPr>
                        <a:t>▲ 13.8%</a:t>
                      </a:r>
                    </a:p>
                  </a:txBody>
                  <a:tcPr marL="85725" marR="38100" marT="19050" marB="19050" anchor="ctr">
                    <a:solidFill>
                      <a:srgbClr val="FFFFFF"/>
                    </a:solidFill>
                  </a:tcPr>
                </a:tc>
                <a:tc>
                  <a:txBody>
                    <a:bodyPr wrap="none"/>
                    <a:lstStyle/>
                    <a:p>
                      <a:pPr algn="l"/>
                      <a:r>
                        <a:rPr sz="800" b="1">
                          <a:solidFill>
                            <a:srgbClr val="2E7D32"/>
                          </a:solidFill>
                          <a:latin typeface="Calibri"/>
                        </a:rPr>
                        <a:t>▲ 20.7%</a:t>
                      </a:r>
                    </a:p>
                  </a:txBody>
                  <a:tcPr marL="85725" marR="38100" marT="19050" marB="19050" anchor="ctr">
                    <a:solidFill>
                      <a:srgbClr val="FFFFFF"/>
                    </a:solidFill>
                  </a:tcPr>
                </a:tc>
                <a:tc>
                  <a:txBody>
                    <a:bodyPr wrap="none"/>
                    <a:lstStyle/>
                    <a:p>
                      <a:pPr algn="l"/>
                      <a:r>
                        <a:rPr sz="800" b="1">
                          <a:solidFill>
                            <a:srgbClr val="2E7D32"/>
                          </a:solidFill>
                          <a:latin typeface="Calibri"/>
                        </a:rPr>
                        <a:t>▲ 24.5%</a:t>
                      </a:r>
                    </a:p>
                  </a:txBody>
                  <a:tcPr marL="85725" marR="38100" marT="19050" marB="19050" anchor="ctr">
                    <a:solidFill>
                      <a:srgbClr val="FFFFFF"/>
                    </a:solidFill>
                  </a:tcPr>
                </a:tc>
                <a:tc>
                  <a:txBody>
                    <a:bodyPr wrap="none"/>
                    <a:lstStyle/>
                    <a:p>
                      <a:pPr algn="l"/>
                      <a:r>
                        <a:rPr sz="800" b="1">
                          <a:solidFill>
                            <a:srgbClr val="2E7D32"/>
                          </a:solidFill>
                          <a:latin typeface="Calibri"/>
                        </a:rPr>
                        <a:t>▲ 21.8%</a:t>
                      </a:r>
                    </a:p>
                  </a:txBody>
                  <a:tcPr marL="85725" marR="38100" marT="19050" marB="19050" anchor="ctr">
                    <a:solidFill>
                      <a:srgbClr val="FFFFFF"/>
                    </a:solidFill>
                  </a:tcPr>
                </a:tc>
                <a:tc>
                  <a:txBody>
                    <a:bodyPr wrap="none"/>
                    <a:lstStyle/>
                    <a:p>
                      <a:pPr algn="l"/>
                      <a:r>
                        <a:rPr sz="800" b="1">
                          <a:solidFill>
                            <a:srgbClr val="2E7D32"/>
                          </a:solidFill>
                          <a:latin typeface="Calibri"/>
                        </a:rPr>
                        <a:t>▲ 18.1%</a:t>
                      </a:r>
                    </a:p>
                  </a:txBody>
                  <a:tcPr marL="85725" marR="38100" marT="19050" marB="19050" anchor="ctr">
                    <a:solidFill>
                      <a:srgbClr val="FFFFFF"/>
                    </a:solidFill>
                  </a:tcPr>
                </a:tc>
                <a:tc>
                  <a:txBody>
                    <a:bodyPr wrap="none"/>
                    <a:lstStyle/>
                    <a:p>
                      <a:pPr algn="l"/>
                      <a:r>
                        <a:rPr sz="800" b="1">
                          <a:solidFill>
                            <a:srgbClr val="2E7D32"/>
                          </a:solidFill>
                          <a:latin typeface="Calibri"/>
                        </a:rPr>
                        <a:t>▲ 16.0%</a:t>
                      </a:r>
                    </a:p>
                  </a:txBody>
                  <a:tcPr marL="85725" marR="38100" marT="19050" marB="19050" anchor="ctr">
                    <a:solidFill>
                      <a:srgbClr val="FFFFFF"/>
                    </a:solidFill>
                  </a:tcPr>
                </a:tc>
                <a:tc>
                  <a:txBody>
                    <a:bodyPr wrap="none"/>
                    <a:lstStyle/>
                    <a:p>
                      <a:pPr algn="l"/>
                      <a:r>
                        <a:rPr sz="800" b="1">
                          <a:solidFill>
                            <a:srgbClr val="2E7D32"/>
                          </a:solidFill>
                          <a:latin typeface="Calibri"/>
                        </a:rPr>
                        <a:t>▲ 13.6%</a:t>
                      </a:r>
                    </a:p>
                  </a:txBody>
                  <a:tcPr marL="85725" marR="38100" marT="19050" marB="19050" anchor="ctr">
                    <a:solidFill>
                      <a:srgbClr val="FFFFFF"/>
                    </a:solidFill>
                  </a:tcPr>
                </a:tc>
                <a:tc>
                  <a:txBody>
                    <a:bodyPr wrap="none"/>
                    <a:lstStyle/>
                    <a:p>
                      <a:pPr algn="l"/>
                      <a:r>
                        <a:rPr sz="800" b="1">
                          <a:solidFill>
                            <a:srgbClr val="2E7D32"/>
                          </a:solidFill>
                          <a:latin typeface="Calibri"/>
                        </a:rPr>
                        <a:t>▲ 12.0%</a:t>
                      </a:r>
                    </a:p>
                  </a:txBody>
                  <a:tcPr marL="85725" marR="38100" marT="19050" marB="19050" anchor="ctr">
                    <a:solidFill>
                      <a:srgbClr val="FFFFFF"/>
                    </a:solidFill>
                  </a:tcPr>
                </a:tc>
                <a:tc>
                  <a:txBody>
                    <a:bodyPr wrap="none"/>
                    <a:lstStyle/>
                    <a:p>
                      <a:pPr algn="l"/>
                      <a:r>
                        <a:rPr sz="800" b="1">
                          <a:solidFill>
                            <a:srgbClr val="2E7D32"/>
                          </a:solidFill>
                          <a:latin typeface="Calibri"/>
                        </a:rPr>
                        <a:t>▲ 10.6%</a:t>
                      </a:r>
                    </a:p>
                  </a:txBody>
                  <a:tcPr marL="85725" marR="38100" marT="19050" marB="19050" anchor="ctr">
                    <a:solidFill>
                      <a:srgbClr val="FFFFFF"/>
                    </a:solidFill>
                  </a:tcPr>
                </a:tc>
                <a:tc>
                  <a:txBody>
                    <a:bodyPr wrap="none"/>
                    <a:lstStyle/>
                    <a:p>
                      <a:pPr algn="l"/>
                      <a:r>
                        <a:rPr sz="800" b="1">
                          <a:solidFill>
                            <a:srgbClr val="2E7D32"/>
                          </a:solidFill>
                          <a:latin typeface="Calibri"/>
                        </a:rPr>
                        <a:t>▲ 9.5%</a:t>
                      </a:r>
                    </a:p>
                  </a:txBody>
                  <a:tcPr marL="85725" marR="38100" marT="19050" marB="19050" anchor="ctr">
                    <a:solidFill>
                      <a:srgbClr val="FFFFFF"/>
                    </a:solidFill>
                  </a:tcPr>
                </a:tc>
                <a:tc>
                  <a:txBody>
                    <a:bodyPr wrap="none"/>
                    <a:lstStyle/>
                    <a:p>
                      <a:pPr algn="l"/>
                      <a:r>
                        <a:rPr sz="800" b="1">
                          <a:solidFill>
                            <a:srgbClr val="2E7D32"/>
                          </a:solidFill>
                          <a:latin typeface="Calibri"/>
                        </a:rPr>
                        <a:t>▲ 8.5%</a:t>
                      </a:r>
                    </a:p>
                  </a:txBody>
                  <a:tcPr marL="85725" marR="38100" marT="19050" marB="19050" anchor="ctr">
                    <a:solidFill>
                      <a:srgbClr val="FFFFFF"/>
                    </a:solidFill>
                  </a:tcPr>
                </a:tc>
                <a:tc>
                  <a:txBody>
                    <a:bodyPr wrap="none"/>
                    <a:lstStyle/>
                    <a:p>
                      <a:pPr algn="l"/>
                      <a:r>
                        <a:rPr sz="800" b="1">
                          <a:solidFill>
                            <a:srgbClr val="2E7D32"/>
                          </a:solidFill>
                          <a:latin typeface="Calibri"/>
                        </a:rPr>
                        <a:t>▲ 7.7%</a:t>
                      </a:r>
                    </a:p>
                  </a:txBody>
                  <a:tcPr marL="85725" marR="38100" marT="19050" marB="19050" anchor="ctr">
                    <a:solidFill>
                      <a:srgbClr val="FFFFFF"/>
                    </a:solidFill>
                  </a:tcPr>
                </a:tc>
                <a:tc>
                  <a:txBody>
                    <a:bodyPr wrap="none"/>
                    <a:lstStyle/>
                    <a:p>
                      <a:pPr algn="l"/>
                      <a:r>
                        <a:rPr sz="800" b="1">
                          <a:solidFill>
                            <a:srgbClr val="2E7D32"/>
                          </a:solidFill>
                          <a:latin typeface="Calibri"/>
                        </a:rPr>
                        <a:t>▲ 7.1%</a:t>
                      </a:r>
                    </a:p>
                  </a:txBody>
                  <a:tcPr marL="85725" marR="38100" marT="19050" marB="19050" anchor="ctr">
                    <a:solidFill>
                      <a:srgbClr val="FFFFFF"/>
                    </a:solidFill>
                  </a:tcPr>
                </a:tc>
                <a:tc>
                  <a:txBody>
                    <a:bodyPr wrap="none"/>
                    <a:lstStyle/>
                    <a:p>
                      <a:pPr algn="l"/>
                      <a:r>
                        <a:rPr sz="800" b="1">
                          <a:solidFill>
                            <a:srgbClr val="2E7D32"/>
                          </a:solidFill>
                          <a:latin typeface="Calibri"/>
                        </a:rPr>
                        <a:t>▲ 6.6%</a:t>
                      </a:r>
                    </a:p>
                  </a:txBody>
                  <a:tcPr marL="85725" marR="38100" marT="19050" marB="19050" anchor="ctr">
                    <a:solidFill>
                      <a:srgbClr val="FFFFFF"/>
                    </a:solidFill>
                  </a:tcPr>
                </a:tc>
                <a:tc>
                  <a:txBody>
                    <a:bodyPr wrap="none"/>
                    <a:lstStyle/>
                    <a:p>
                      <a:pPr algn="l"/>
                      <a:r>
                        <a:rPr sz="800" b="1">
                          <a:solidFill>
                            <a:srgbClr val="2E7D32"/>
                          </a:solidFill>
                          <a:latin typeface="Calibri"/>
                        </a:rPr>
                        <a:t>▲ 6.1%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Institutional Buyers</a:t>
                      </a:r>
                    </a:p>
                  </a:txBody>
                  <a:tcPr marL="85725" marR="38100" marT="19050" marB="19050" anchor="ctr">
                    <a:solidFill>
                      <a:srgbClr val="F5F8FA"/>
                    </a:solidFill>
                  </a:tcPr>
                </a:tc>
                <a:tc>
                  <a:txBody>
                    <a:bodyPr wrap="none"/>
                    <a:lstStyle/>
                    <a:p>
                      <a:pPr algn="l"/>
                      <a:r>
                        <a:rPr sz="800" b="1">
                          <a:solidFill>
                            <a:srgbClr val="A86F00"/>
                          </a:solidFill>
                          <a:latin typeface="Calibri"/>
                        </a:rPr>
                        <a:t>▶ 12.3%</a:t>
                      </a:r>
                    </a:p>
                  </a:txBody>
                  <a:tcPr marL="85725" marR="38100" marT="19050" marB="19050" anchor="ctr">
                    <a:solidFill>
                      <a:srgbClr val="F5F8FA"/>
                    </a:solidFill>
                  </a:tcPr>
                </a:tc>
                <a:tc>
                  <a:txBody>
                    <a:bodyPr wrap="none"/>
                    <a:lstStyle/>
                    <a:p>
                      <a:pPr algn="l"/>
                      <a:r>
                        <a:rPr sz="800" b="1">
                          <a:solidFill>
                            <a:srgbClr val="A86F00"/>
                          </a:solidFill>
                          <a:latin typeface="Calibri"/>
                        </a:rPr>
                        <a:t>▶ 19.1%</a:t>
                      </a:r>
                    </a:p>
                  </a:txBody>
                  <a:tcPr marL="85725" marR="38100" marT="19050" marB="19050" anchor="ctr">
                    <a:solidFill>
                      <a:srgbClr val="F5F8FA"/>
                    </a:solidFill>
                  </a:tcPr>
                </a:tc>
                <a:tc>
                  <a:txBody>
                    <a:bodyPr wrap="none"/>
                    <a:lstStyle/>
                    <a:p>
                      <a:pPr algn="l"/>
                      <a:r>
                        <a:rPr sz="800" b="1">
                          <a:solidFill>
                            <a:srgbClr val="A86F00"/>
                          </a:solidFill>
                          <a:latin typeface="Calibri"/>
                        </a:rPr>
                        <a:t>▶ 22.9%</a:t>
                      </a:r>
                    </a:p>
                  </a:txBody>
                  <a:tcPr marL="85725" marR="38100" marT="19050" marB="19050" anchor="ctr">
                    <a:solidFill>
                      <a:srgbClr val="F5F8FA"/>
                    </a:solidFill>
                  </a:tcPr>
                </a:tc>
                <a:tc>
                  <a:txBody>
                    <a:bodyPr wrap="none"/>
                    <a:lstStyle/>
                    <a:p>
                      <a:pPr algn="l"/>
                      <a:r>
                        <a:rPr sz="800" b="1">
                          <a:solidFill>
                            <a:srgbClr val="A86F00"/>
                          </a:solidFill>
                          <a:latin typeface="Calibri"/>
                        </a:rPr>
                        <a:t>▶ 20.3%</a:t>
                      </a:r>
                    </a:p>
                  </a:txBody>
                  <a:tcPr marL="85725" marR="38100" marT="19050" marB="19050" anchor="ctr">
                    <a:solidFill>
                      <a:srgbClr val="F5F8FA"/>
                    </a:solidFill>
                  </a:tcPr>
                </a:tc>
                <a:tc>
                  <a:txBody>
                    <a:bodyPr wrap="none"/>
                    <a:lstStyle/>
                    <a:p>
                      <a:pPr algn="l"/>
                      <a:r>
                        <a:rPr sz="800" b="1">
                          <a:solidFill>
                            <a:srgbClr val="A86F00"/>
                          </a:solidFill>
                          <a:latin typeface="Calibri"/>
                        </a:rPr>
                        <a:t>▶ 16.7%</a:t>
                      </a:r>
                    </a:p>
                  </a:txBody>
                  <a:tcPr marL="85725" marR="38100" marT="19050" marB="19050" anchor="ctr">
                    <a:solidFill>
                      <a:srgbClr val="F5F8FA"/>
                    </a:solidFill>
                  </a:tcPr>
                </a:tc>
                <a:tc>
                  <a:txBody>
                    <a:bodyPr wrap="none"/>
                    <a:lstStyle/>
                    <a:p>
                      <a:pPr algn="l"/>
                      <a:r>
                        <a:rPr sz="800" b="1">
                          <a:solidFill>
                            <a:srgbClr val="A86F00"/>
                          </a:solidFill>
                          <a:latin typeface="Calibri"/>
                        </a:rPr>
                        <a:t>▶ 14.6%</a:t>
                      </a:r>
                    </a:p>
                  </a:txBody>
                  <a:tcPr marL="85725" marR="38100" marT="19050" marB="19050" anchor="ctr">
                    <a:solidFill>
                      <a:srgbClr val="F5F8FA"/>
                    </a:solidFill>
                  </a:tcPr>
                </a:tc>
                <a:tc>
                  <a:txBody>
                    <a:bodyPr wrap="none"/>
                    <a:lstStyle/>
                    <a:p>
                      <a:pPr algn="l"/>
                      <a:r>
                        <a:rPr sz="800" b="1">
                          <a:solidFill>
                            <a:srgbClr val="A86F00"/>
                          </a:solidFill>
                          <a:latin typeface="Calibri"/>
                        </a:rPr>
                        <a:t>▶ 12.2%</a:t>
                      </a:r>
                    </a:p>
                  </a:txBody>
                  <a:tcPr marL="85725" marR="38100" marT="19050" marB="19050" anchor="ctr">
                    <a:solidFill>
                      <a:srgbClr val="F5F8FA"/>
                    </a:solidFill>
                  </a:tcPr>
                </a:tc>
                <a:tc>
                  <a:txBody>
                    <a:bodyPr wrap="none"/>
                    <a:lstStyle/>
                    <a:p>
                      <a:pPr algn="l"/>
                      <a:r>
                        <a:rPr sz="800" b="1">
                          <a:solidFill>
                            <a:srgbClr val="A86F00"/>
                          </a:solidFill>
                          <a:latin typeface="Calibri"/>
                        </a:rPr>
                        <a:t>▶ 10.6%</a:t>
                      </a:r>
                    </a:p>
                  </a:txBody>
                  <a:tcPr marL="85725" marR="38100" marT="19050" marB="19050" anchor="ctr">
                    <a:solidFill>
                      <a:srgbClr val="F5F8FA"/>
                    </a:solidFill>
                  </a:tcPr>
                </a:tc>
                <a:tc>
                  <a:txBody>
                    <a:bodyPr wrap="none"/>
                    <a:lstStyle/>
                    <a:p>
                      <a:pPr algn="l"/>
                      <a:r>
                        <a:rPr sz="800" b="1">
                          <a:solidFill>
                            <a:srgbClr val="A86F00"/>
                          </a:solidFill>
                          <a:latin typeface="Calibri"/>
                        </a:rPr>
                        <a:t>▶ 9.3%</a:t>
                      </a:r>
                    </a:p>
                  </a:txBody>
                  <a:tcPr marL="85725" marR="38100" marT="19050" marB="19050" anchor="ctr">
                    <a:solidFill>
                      <a:srgbClr val="F5F8FA"/>
                    </a:solidFill>
                  </a:tcPr>
                </a:tc>
                <a:tc>
                  <a:txBody>
                    <a:bodyPr wrap="none"/>
                    <a:lstStyle/>
                    <a:p>
                      <a:pPr algn="l"/>
                      <a:r>
                        <a:rPr sz="800" b="1">
                          <a:solidFill>
                            <a:srgbClr val="A86F00"/>
                          </a:solidFill>
                          <a:latin typeface="Calibri"/>
                        </a:rPr>
                        <a:t>▶ 8.2%</a:t>
                      </a:r>
                    </a:p>
                  </a:txBody>
                  <a:tcPr marL="85725" marR="38100" marT="19050" marB="19050" anchor="ctr">
                    <a:solidFill>
                      <a:srgbClr val="F5F8FA"/>
                    </a:solidFill>
                  </a:tcPr>
                </a:tc>
                <a:tc>
                  <a:txBody>
                    <a:bodyPr wrap="none"/>
                    <a:lstStyle/>
                    <a:p>
                      <a:pPr algn="l"/>
                      <a:r>
                        <a:rPr sz="800" b="1">
                          <a:solidFill>
                            <a:srgbClr val="A86F00"/>
                          </a:solidFill>
                          <a:latin typeface="Calibri"/>
                        </a:rPr>
                        <a:t>▶ 7.3%</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c>
                  <a:txBody>
                    <a:bodyPr wrap="none"/>
                    <a:lstStyle/>
                    <a:p>
                      <a:pPr algn="l"/>
                      <a:r>
                        <a:rPr sz="800" b="1">
                          <a:solidFill>
                            <a:srgbClr val="A86F00"/>
                          </a:solidFill>
                          <a:latin typeface="Calibri"/>
                        </a:rPr>
                        <a:t>▶ 5.8%</a:t>
                      </a:r>
                    </a:p>
                  </a:txBody>
                  <a:tcPr marL="85725" marR="38100" marT="19050" marB="19050" anchor="ctr">
                    <a:solidFill>
                      <a:srgbClr val="F5F8FA"/>
                    </a:solidFill>
                  </a:tcPr>
                </a:tc>
                <a:tc>
                  <a:txBody>
                    <a:bodyPr wrap="none"/>
                    <a:lstStyle/>
                    <a:p>
                      <a:pPr algn="l"/>
                      <a:r>
                        <a:rPr sz="800" b="1">
                          <a:solidFill>
                            <a:srgbClr val="A86F00"/>
                          </a:solidFill>
                          <a:latin typeface="Calibri"/>
                        </a:rPr>
                        <a:t>▶ 5.3%</a:t>
                      </a:r>
                    </a:p>
                  </a:txBody>
                  <a:tcPr marL="85725" marR="38100" marT="19050" marB="19050" anchor="ctr">
                    <a:solidFill>
                      <a:srgbClr val="F5F8FA"/>
                    </a:solidFill>
                  </a:tcPr>
                </a:tc>
                <a:tc>
                  <a:txBody>
                    <a:bodyPr wrap="none"/>
                    <a:lstStyle/>
                    <a:p>
                      <a:pPr algn="l"/>
                      <a:r>
                        <a:rPr sz="800" b="1">
                          <a:solidFill>
                            <a:srgbClr val="A86F00"/>
                          </a:solidFill>
                          <a:latin typeface="Calibri"/>
                        </a:rPr>
                        <a:t>▶ 4.9%</a:t>
                      </a:r>
                    </a:p>
                  </a:txBody>
                  <a:tcPr marL="85725" marR="38100" marT="19050" marB="19050" anchor="ctr">
                    <a:solidFill>
                      <a:srgbClr val="F5F8FA"/>
                    </a:solidFill>
                  </a:tcPr>
                </a:tc>
              </a:tr>
            </a:tbl>
          </a:graphicData>
        </a:graphic>
      </p:graphicFrame>
      <p:sp>
        <p:nvSpPr>
          <p:cNvPr id="18" name="TextBox 17"/>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 Country</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Sales / Distribution Channel</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Segmental</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Table (Volume &amp; Value)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YoY</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20</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Segmental Analysis Sales / Distribution Channel</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Sales / Distribution Channel (US$ Mn)</a:t>
            </a:r>
          </a:p>
        </p:txBody>
      </p:sp>
      <p:graphicFrame>
        <p:nvGraphicFramePr>
          <p:cNvPr id="13" name="Chart 12"/>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Sales / Distribution Channel</a:t>
            </a:r>
          </a:p>
        </p:txBody>
      </p:sp>
      <p:graphicFrame>
        <p:nvGraphicFramePr>
          <p:cNvPr id="16" name="Table 15"/>
          <p:cNvGraphicFramePr>
            <a:graphicFrameLocks noGrp="1"/>
          </p:cNvGraphicFramePr>
          <p:nvPr/>
        </p:nvGraphicFramePr>
        <p:xfrm>
          <a:off x="6267450" y="1143000"/>
          <a:ext cx="5686424" cy="9048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Sales / Distribution Channel</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Direct Institutional Sales</a:t>
                      </a:r>
                    </a:p>
                  </a:txBody>
                  <a:tcPr marL="85725" marR="38100" marT="19050" marB="19050" anchor="ctr">
                    <a:solidFill>
                      <a:srgbClr val="FFFFFF"/>
                    </a:solidFill>
                  </a:tcPr>
                </a:tc>
                <a:tc>
                  <a:txBody>
                    <a:bodyPr wrap="none"/>
                    <a:lstStyle/>
                    <a:p>
                      <a:pPr algn="l"/>
                      <a:r>
                        <a:rPr sz="900" b="0">
                          <a:solidFill>
                            <a:srgbClr val="2E2E2E"/>
                          </a:solidFill>
                          <a:latin typeface="Calibri"/>
                        </a:rPr>
                        <a:t>18.7%</a:t>
                      </a:r>
                    </a:p>
                  </a:txBody>
                  <a:tcPr marL="85725" marR="38100" marT="19050" marB="19050" anchor="ctr">
                    <a:solidFill>
                      <a:srgbClr val="FFFFFF"/>
                    </a:solidFill>
                  </a:tcPr>
                </a:tc>
                <a:tc>
                  <a:txBody>
                    <a:bodyPr wrap="none"/>
                    <a:lstStyle/>
                    <a:p>
                      <a:pPr algn="l"/>
                      <a:r>
                        <a:rPr sz="900" b="0">
                          <a:solidFill>
                            <a:srgbClr val="2E2E2E"/>
                          </a:solidFill>
                          <a:latin typeface="Calibri"/>
                        </a:rPr>
                        <a:t>18.5%</a:t>
                      </a:r>
                    </a:p>
                  </a:txBody>
                  <a:tcPr marL="85725" marR="38100" marT="19050" marB="19050" anchor="ctr">
                    <a:solidFill>
                      <a:srgbClr val="FFFFFF"/>
                    </a:solidFill>
                  </a:tcPr>
                </a:tc>
                <a:tc>
                  <a:txBody>
                    <a:bodyPr wrap="none"/>
                    <a:lstStyle/>
                    <a:p>
                      <a:pPr algn="l"/>
                      <a:r>
                        <a:rPr sz="900" b="1">
                          <a:solidFill>
                            <a:srgbClr val="E44D3A"/>
                          </a:solidFill>
                          <a:latin typeface="Calibri"/>
                        </a:rPr>
                        <a:t>-17</a:t>
                      </a:r>
                    </a:p>
                  </a:txBody>
                  <a:tcPr marL="85725" marR="38100" marT="19050" marB="19050" anchor="ctr">
                    <a:solidFill>
                      <a:srgbClr val="FFFFFF"/>
                    </a:solidFill>
                  </a:tcPr>
                </a:tc>
                <a:tc>
                  <a:txBody>
                    <a:bodyPr wrap="none"/>
                    <a:lstStyle/>
                    <a:p>
                      <a:pPr algn="l"/>
                      <a:r>
                        <a:rPr sz="900" b="0">
                          <a:solidFill>
                            <a:srgbClr val="2E2E2E"/>
                          </a:solidFill>
                          <a:latin typeface="Calibri"/>
                        </a:rPr>
                        <a:t>8.9%</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Specialty Distribution</a:t>
                      </a:r>
                    </a:p>
                  </a:txBody>
                  <a:tcPr marL="85725" marR="38100" marT="19050" marB="19050" anchor="ctr">
                    <a:solidFill>
                      <a:srgbClr val="F5F8FA"/>
                    </a:solidFill>
                  </a:tcPr>
                </a:tc>
                <a:tc>
                  <a:txBody>
                    <a:bodyPr wrap="none"/>
                    <a:lstStyle/>
                    <a:p>
                      <a:pPr algn="l"/>
                      <a:r>
                        <a:rPr sz="900" b="0">
                          <a:solidFill>
                            <a:srgbClr val="2E2E2E"/>
                          </a:solidFill>
                          <a:latin typeface="Calibri"/>
                        </a:rPr>
                        <a:t>28.3%</a:t>
                      </a:r>
                    </a:p>
                  </a:txBody>
                  <a:tcPr marL="85725" marR="38100" marT="19050" marB="19050" anchor="ctr">
                    <a:solidFill>
                      <a:srgbClr val="F5F8FA"/>
                    </a:solidFill>
                  </a:tcPr>
                </a:tc>
                <a:tc>
                  <a:txBody>
                    <a:bodyPr wrap="none"/>
                    <a:lstStyle/>
                    <a:p>
                      <a:pPr algn="l"/>
                      <a:r>
                        <a:rPr sz="900" b="0">
                          <a:solidFill>
                            <a:srgbClr val="2E2E2E"/>
                          </a:solidFill>
                          <a:latin typeface="Calibri"/>
                        </a:rPr>
                        <a:t>28.9%</a:t>
                      </a:r>
                    </a:p>
                  </a:txBody>
                  <a:tcPr marL="85725" marR="38100" marT="19050" marB="19050" anchor="ctr">
                    <a:solidFill>
                      <a:srgbClr val="F5F8FA"/>
                    </a:solidFill>
                  </a:tcPr>
                </a:tc>
                <a:tc>
                  <a:txBody>
                    <a:bodyPr wrap="none"/>
                    <a:lstStyle/>
                    <a:p>
                      <a:pPr algn="l"/>
                      <a:r>
                        <a:rPr sz="900" b="1">
                          <a:solidFill>
                            <a:srgbClr val="008189"/>
                          </a:solidFill>
                          <a:latin typeface="Calibri"/>
                        </a:rPr>
                        <a:t>+57</a:t>
                      </a:r>
                    </a:p>
                  </a:txBody>
                  <a:tcPr marL="85725" marR="38100" marT="19050" marB="19050" anchor="ctr">
                    <a:solidFill>
                      <a:srgbClr val="F5F8FA"/>
                    </a:solidFill>
                  </a:tcPr>
                </a:tc>
                <a:tc>
                  <a:txBody>
                    <a:bodyPr wrap="none"/>
                    <a:lstStyle/>
                    <a:p>
                      <a:pPr algn="l"/>
                      <a:r>
                        <a:rPr sz="900" b="0">
                          <a:solidFill>
                            <a:srgbClr val="2E2E2E"/>
                          </a:solidFill>
                          <a:latin typeface="Calibri"/>
                        </a:rPr>
                        <a:t>9.2%</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Pharmacy Channel</a:t>
                      </a:r>
                    </a:p>
                  </a:txBody>
                  <a:tcPr marL="85725" marR="38100" marT="19050" marB="19050" anchor="ctr">
                    <a:solidFill>
                      <a:srgbClr val="FFFFFF"/>
                    </a:solidFill>
                  </a:tcPr>
                </a:tc>
                <a:tc>
                  <a:txBody>
                    <a:bodyPr wrap="none"/>
                    <a:lstStyle/>
                    <a:p>
                      <a:pPr algn="l"/>
                      <a:r>
                        <a:rPr sz="900" b="0">
                          <a:solidFill>
                            <a:srgbClr val="2E2E2E"/>
                          </a:solidFill>
                          <a:latin typeface="Calibri"/>
                        </a:rPr>
                        <a:t>19.5%</a:t>
                      </a:r>
                    </a:p>
                  </a:txBody>
                  <a:tcPr marL="85725" marR="38100" marT="19050" marB="19050" anchor="ctr">
                    <a:solidFill>
                      <a:srgbClr val="FFFFFF"/>
                    </a:solidFill>
                  </a:tcPr>
                </a:tc>
                <a:tc>
                  <a:txBody>
                    <a:bodyPr wrap="none"/>
                    <a:lstStyle/>
                    <a:p>
                      <a:pPr algn="l"/>
                      <a:r>
                        <a:rPr sz="900" b="0">
                          <a:solidFill>
                            <a:srgbClr val="2E2E2E"/>
                          </a:solidFill>
                          <a:latin typeface="Calibri"/>
                        </a:rPr>
                        <a:t>17.8%</a:t>
                      </a:r>
                    </a:p>
                  </a:txBody>
                  <a:tcPr marL="85725" marR="38100" marT="19050" marB="19050" anchor="ctr">
                    <a:solidFill>
                      <a:srgbClr val="FFFFFF"/>
                    </a:solidFill>
                  </a:tcPr>
                </a:tc>
                <a:tc>
                  <a:txBody>
                    <a:bodyPr wrap="none"/>
                    <a:lstStyle/>
                    <a:p>
                      <a:pPr algn="l"/>
                      <a:r>
                        <a:rPr sz="900" b="1">
                          <a:solidFill>
                            <a:srgbClr val="E44D3A"/>
                          </a:solidFill>
                          <a:latin typeface="Calibri"/>
                        </a:rPr>
                        <a:t>-164</a:t>
                      </a:r>
                    </a:p>
                  </a:txBody>
                  <a:tcPr marL="85725" marR="38100" marT="19050" marB="19050" anchor="ctr">
                    <a:solidFill>
                      <a:srgbClr val="FFFFFF"/>
                    </a:solidFill>
                  </a:tcPr>
                </a:tc>
                <a:tc>
                  <a:txBody>
                    <a:bodyPr wrap="none"/>
                    <a:lstStyle/>
                    <a:p>
                      <a:pPr algn="l"/>
                      <a:r>
                        <a:rPr sz="900" b="0">
                          <a:solidFill>
                            <a:srgbClr val="2E2E2E"/>
                          </a:solidFill>
                          <a:latin typeface="Calibri"/>
                        </a:rPr>
                        <a:t>8.1%</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Online / Digital Pharmacy</a:t>
                      </a:r>
                    </a:p>
                  </a:txBody>
                  <a:tcPr marL="85725" marR="38100" marT="19050" marB="19050" anchor="ctr">
                    <a:solidFill>
                      <a:srgbClr val="F5F8FA"/>
                    </a:solidFill>
                  </a:tcPr>
                </a:tc>
                <a:tc>
                  <a:txBody>
                    <a:bodyPr wrap="none"/>
                    <a:lstStyle/>
                    <a:p>
                      <a:pPr algn="l"/>
                      <a:r>
                        <a:rPr sz="900" b="0">
                          <a:solidFill>
                            <a:srgbClr val="2E2E2E"/>
                          </a:solidFill>
                          <a:latin typeface="Calibri"/>
                        </a:rPr>
                        <a:t>33.5%</a:t>
                      </a:r>
                    </a:p>
                  </a:txBody>
                  <a:tcPr marL="85725" marR="38100" marT="19050" marB="19050" anchor="ctr">
                    <a:solidFill>
                      <a:srgbClr val="F5F8FA"/>
                    </a:solidFill>
                  </a:tcPr>
                </a:tc>
                <a:tc>
                  <a:txBody>
                    <a:bodyPr wrap="none"/>
                    <a:lstStyle/>
                    <a:p>
                      <a:pPr algn="l"/>
                      <a:r>
                        <a:rPr sz="900" b="0">
                          <a:solidFill>
                            <a:srgbClr val="2E2E2E"/>
                          </a:solidFill>
                          <a:latin typeface="Calibri"/>
                        </a:rPr>
                        <a:t>34.8%</a:t>
                      </a:r>
                    </a:p>
                  </a:txBody>
                  <a:tcPr marL="85725" marR="38100" marT="19050" marB="19050" anchor="ctr">
                    <a:solidFill>
                      <a:srgbClr val="F5F8FA"/>
                    </a:solidFill>
                  </a:tcPr>
                </a:tc>
                <a:tc>
                  <a:txBody>
                    <a:bodyPr wrap="none"/>
                    <a:lstStyle/>
                    <a:p>
                      <a:pPr algn="l"/>
                      <a:r>
                        <a:rPr sz="900" b="1">
                          <a:solidFill>
                            <a:srgbClr val="008189"/>
                          </a:solidFill>
                          <a:latin typeface="Calibri"/>
                        </a:rPr>
                        <a:t>+124</a:t>
                      </a:r>
                    </a:p>
                  </a:txBody>
                  <a:tcPr marL="85725" marR="38100" marT="19050" marB="19050" anchor="ctr">
                    <a:solidFill>
                      <a:srgbClr val="F5F8FA"/>
                    </a:solidFill>
                  </a:tcPr>
                </a:tc>
                <a:tc>
                  <a:txBody>
                    <a:bodyPr wrap="none"/>
                    <a:lstStyle/>
                    <a:p>
                      <a:pPr algn="l"/>
                      <a:r>
                        <a:rPr sz="900" b="0">
                          <a:solidFill>
                            <a:srgbClr val="2E2E2E"/>
                          </a:solidFill>
                          <a:latin typeface="Calibri"/>
                        </a:rPr>
                        <a:t>9.4%</a:t>
                      </a:r>
                    </a:p>
                  </a:txBody>
                  <a:tcPr marL="85725" marR="38100" marT="19050" marB="19050" anchor="ctr">
                    <a:solidFill>
                      <a:srgbClr val="F5F8FA"/>
                    </a:solidFill>
                  </a:tcPr>
                </a:tc>
              </a:tr>
            </a:tbl>
          </a:graphicData>
        </a:graphic>
      </p:graphicFrame>
      <p:sp>
        <p:nvSpPr>
          <p:cNvPr id="17" name="TextBox 16"/>
          <p:cNvSpPr txBox="1"/>
          <p:nvPr/>
        </p:nvSpPr>
        <p:spPr>
          <a:xfrm>
            <a:off x="6248400" y="3581400"/>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8" name="Rounded Rectangle 17"/>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Sales / Distribution Channel (US$ Mn)</a:t>
            </a:r>
          </a:p>
        </p:txBody>
      </p:sp>
      <p:graphicFrame>
        <p:nvGraphicFramePr>
          <p:cNvPr id="20" name="Chart 19"/>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4"/>
          </a:graphicData>
        </a:graphic>
      </p:graphicFrame>
      <p:sp>
        <p:nvSpPr>
          <p:cNvPr id="21" name="Rounded Rectangle 20"/>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Volume Shares &amp; Variance, By Sales / Distribution Channel</a:t>
            </a:r>
          </a:p>
        </p:txBody>
      </p:sp>
      <p:graphicFrame>
        <p:nvGraphicFramePr>
          <p:cNvPr id="23" name="Table 22"/>
          <p:cNvGraphicFramePr>
            <a:graphicFrameLocks noGrp="1"/>
          </p:cNvGraphicFramePr>
          <p:nvPr/>
        </p:nvGraphicFramePr>
        <p:xfrm>
          <a:off x="6267450" y="4143375"/>
          <a:ext cx="5686424" cy="9048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Sales / Distribution Channel</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Direct Institutional Sales</a:t>
                      </a:r>
                    </a:p>
                  </a:txBody>
                  <a:tcPr marL="85725" marR="38100" marT="19050" marB="19050" anchor="ctr">
                    <a:solidFill>
                      <a:srgbClr val="FFFFFF"/>
                    </a:solidFill>
                  </a:tcPr>
                </a:tc>
                <a:tc>
                  <a:txBody>
                    <a:bodyPr wrap="none"/>
                    <a:lstStyle/>
                    <a:p>
                      <a:pPr algn="l"/>
                      <a:r>
                        <a:rPr sz="900" b="0">
                          <a:solidFill>
                            <a:srgbClr val="2E2E2E"/>
                          </a:solidFill>
                          <a:latin typeface="Calibri"/>
                        </a:rPr>
                        <a:t>25.9%</a:t>
                      </a:r>
                    </a:p>
                  </a:txBody>
                  <a:tcPr marL="85725" marR="38100" marT="19050" marB="19050" anchor="ctr">
                    <a:solidFill>
                      <a:srgbClr val="FFFFFF"/>
                    </a:solidFill>
                  </a:tcPr>
                </a:tc>
                <a:tc>
                  <a:txBody>
                    <a:bodyPr wrap="none"/>
                    <a:lstStyle/>
                    <a:p>
                      <a:pPr algn="l"/>
                      <a:r>
                        <a:rPr sz="900" b="0">
                          <a:solidFill>
                            <a:srgbClr val="2E2E2E"/>
                          </a:solidFill>
                          <a:latin typeface="Calibri"/>
                        </a:rPr>
                        <a:t>28.2%</a:t>
                      </a:r>
                    </a:p>
                  </a:txBody>
                  <a:tcPr marL="85725" marR="38100" marT="19050" marB="19050" anchor="ctr">
                    <a:solidFill>
                      <a:srgbClr val="FFFFFF"/>
                    </a:solidFill>
                  </a:tcPr>
                </a:tc>
                <a:tc>
                  <a:txBody>
                    <a:bodyPr wrap="none"/>
                    <a:lstStyle/>
                    <a:p>
                      <a:pPr algn="l"/>
                      <a:r>
                        <a:rPr sz="900" b="1">
                          <a:solidFill>
                            <a:srgbClr val="008189"/>
                          </a:solidFill>
                          <a:latin typeface="Calibri"/>
                        </a:rPr>
                        <a:t>+231</a:t>
                      </a:r>
                    </a:p>
                  </a:txBody>
                  <a:tcPr marL="85725" marR="38100" marT="19050" marB="19050" anchor="ctr">
                    <a:solidFill>
                      <a:srgbClr val="FFFFFF"/>
                    </a:solidFill>
                  </a:tcPr>
                </a:tc>
                <a:tc>
                  <a:txBody>
                    <a:bodyPr wrap="none"/>
                    <a:lstStyle/>
                    <a:p>
                      <a:pPr algn="l"/>
                      <a:r>
                        <a:rPr sz="900" b="0">
                          <a:solidFill>
                            <a:srgbClr val="2E2E2E"/>
                          </a:solidFill>
                          <a:latin typeface="Calibri"/>
                        </a:rPr>
                        <a:t>13.7%</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Specialty Distribution</a:t>
                      </a:r>
                    </a:p>
                  </a:txBody>
                  <a:tcPr marL="85725" marR="38100" marT="19050" marB="19050" anchor="ctr">
                    <a:solidFill>
                      <a:srgbClr val="F5F8FA"/>
                    </a:solidFill>
                  </a:tcPr>
                </a:tc>
                <a:tc>
                  <a:txBody>
                    <a:bodyPr wrap="none"/>
                    <a:lstStyle/>
                    <a:p>
                      <a:pPr algn="l"/>
                      <a:r>
                        <a:rPr sz="900" b="0">
                          <a:solidFill>
                            <a:srgbClr val="2E2E2E"/>
                          </a:solidFill>
                          <a:latin typeface="Calibri"/>
                        </a:rPr>
                        <a:t>25.0%</a:t>
                      </a:r>
                    </a:p>
                  </a:txBody>
                  <a:tcPr marL="85725" marR="38100" marT="19050" marB="19050" anchor="ctr">
                    <a:solidFill>
                      <a:srgbClr val="F5F8FA"/>
                    </a:solidFill>
                  </a:tcPr>
                </a:tc>
                <a:tc>
                  <a:txBody>
                    <a:bodyPr wrap="none"/>
                    <a:lstStyle/>
                    <a:p>
                      <a:pPr algn="l"/>
                      <a:r>
                        <a:rPr sz="900" b="0">
                          <a:solidFill>
                            <a:srgbClr val="2E2E2E"/>
                          </a:solidFill>
                          <a:latin typeface="Calibri"/>
                        </a:rPr>
                        <a:t>26.4%</a:t>
                      </a:r>
                    </a:p>
                  </a:txBody>
                  <a:tcPr marL="85725" marR="38100" marT="19050" marB="19050" anchor="ctr">
                    <a:solidFill>
                      <a:srgbClr val="F5F8FA"/>
                    </a:solidFill>
                  </a:tcPr>
                </a:tc>
                <a:tc>
                  <a:txBody>
                    <a:bodyPr wrap="none"/>
                    <a:lstStyle/>
                    <a:p>
                      <a:pPr algn="l"/>
                      <a:r>
                        <a:rPr sz="900" b="1">
                          <a:solidFill>
                            <a:srgbClr val="008189"/>
                          </a:solidFill>
                          <a:latin typeface="Calibri"/>
                        </a:rPr>
                        <a:t>+147</a:t>
                      </a:r>
                    </a:p>
                  </a:txBody>
                  <a:tcPr marL="85725" marR="38100" marT="19050" marB="19050" anchor="ctr">
                    <a:solidFill>
                      <a:srgbClr val="F5F8FA"/>
                    </a:solidFill>
                  </a:tcPr>
                </a:tc>
                <a:tc>
                  <a:txBody>
                    <a:bodyPr wrap="none"/>
                    <a:lstStyle/>
                    <a:p>
                      <a:pPr algn="l"/>
                      <a:r>
                        <a:rPr sz="900" b="0">
                          <a:solidFill>
                            <a:srgbClr val="2E2E2E"/>
                          </a:solidFill>
                          <a:latin typeface="Calibri"/>
                        </a:rPr>
                        <a:t>13.4%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Pharmacy Channel</a:t>
                      </a:r>
                    </a:p>
                  </a:txBody>
                  <a:tcPr marL="85725" marR="38100" marT="19050" marB="19050" anchor="ctr">
                    <a:solidFill>
                      <a:srgbClr val="FFFFFF"/>
                    </a:solidFill>
                  </a:tcPr>
                </a:tc>
                <a:tc>
                  <a:txBody>
                    <a:bodyPr wrap="none"/>
                    <a:lstStyle/>
                    <a:p>
                      <a:pPr algn="l"/>
                      <a:r>
                        <a:rPr sz="900" b="0">
                          <a:solidFill>
                            <a:srgbClr val="2E2E2E"/>
                          </a:solidFill>
                          <a:latin typeface="Calibri"/>
                        </a:rPr>
                        <a:t>20.3%</a:t>
                      </a:r>
                    </a:p>
                  </a:txBody>
                  <a:tcPr marL="85725" marR="38100" marT="19050" marB="19050" anchor="ctr">
                    <a:solidFill>
                      <a:srgbClr val="FFFFFF"/>
                    </a:solidFill>
                  </a:tcPr>
                </a:tc>
                <a:tc>
                  <a:txBody>
                    <a:bodyPr wrap="none"/>
                    <a:lstStyle/>
                    <a:p>
                      <a:pPr algn="l"/>
                      <a:r>
                        <a:rPr sz="900" b="0">
                          <a:solidFill>
                            <a:srgbClr val="2E2E2E"/>
                          </a:solidFill>
                          <a:latin typeface="Calibri"/>
                        </a:rPr>
                        <a:t>19.5%</a:t>
                      </a:r>
                    </a:p>
                  </a:txBody>
                  <a:tcPr marL="85725" marR="38100" marT="19050" marB="19050" anchor="ctr">
                    <a:solidFill>
                      <a:srgbClr val="FFFFFF"/>
                    </a:solidFill>
                  </a:tcPr>
                </a:tc>
                <a:tc>
                  <a:txBody>
                    <a:bodyPr wrap="none"/>
                    <a:lstStyle/>
                    <a:p>
                      <a:pPr algn="l"/>
                      <a:r>
                        <a:rPr sz="900" b="1">
                          <a:solidFill>
                            <a:srgbClr val="E44D3A"/>
                          </a:solidFill>
                          <a:latin typeface="Calibri"/>
                        </a:rPr>
                        <a:t>-79</a:t>
                      </a:r>
                    </a:p>
                  </a:txBody>
                  <a:tcPr marL="85725" marR="38100" marT="19050" marB="19050" anchor="ctr">
                    <a:solidFill>
                      <a:srgbClr val="FFFFFF"/>
                    </a:solidFill>
                  </a:tcPr>
                </a:tc>
                <a:tc>
                  <a:txBody>
                    <a:bodyPr wrap="none"/>
                    <a:lstStyle/>
                    <a:p>
                      <a:pPr algn="l"/>
                      <a:r>
                        <a:rPr sz="900" b="0">
                          <a:solidFill>
                            <a:srgbClr val="2E2E2E"/>
                          </a:solidFill>
                          <a:latin typeface="Calibri"/>
                        </a:rPr>
                        <a:t>12.3%</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Online / Digital Pharmacy</a:t>
                      </a:r>
                    </a:p>
                  </a:txBody>
                  <a:tcPr marL="85725" marR="38100" marT="19050" marB="19050" anchor="ctr">
                    <a:solidFill>
                      <a:srgbClr val="F5F8FA"/>
                    </a:solidFill>
                  </a:tcPr>
                </a:tc>
                <a:tc>
                  <a:txBody>
                    <a:bodyPr wrap="none"/>
                    <a:lstStyle/>
                    <a:p>
                      <a:pPr algn="l"/>
                      <a:r>
                        <a:rPr sz="900" b="0">
                          <a:solidFill>
                            <a:srgbClr val="2E2E2E"/>
                          </a:solidFill>
                          <a:latin typeface="Calibri"/>
                        </a:rPr>
                        <a:t>28.8%</a:t>
                      </a:r>
                    </a:p>
                  </a:txBody>
                  <a:tcPr marL="85725" marR="38100" marT="19050" marB="19050" anchor="ctr">
                    <a:solidFill>
                      <a:srgbClr val="F5F8FA"/>
                    </a:solidFill>
                  </a:tcPr>
                </a:tc>
                <a:tc>
                  <a:txBody>
                    <a:bodyPr wrap="none"/>
                    <a:lstStyle/>
                    <a:p>
                      <a:pPr algn="l"/>
                      <a:r>
                        <a:rPr sz="900" b="0">
                          <a:solidFill>
                            <a:srgbClr val="2E2E2E"/>
                          </a:solidFill>
                          <a:latin typeface="Calibri"/>
                        </a:rPr>
                        <a:t>25.9%</a:t>
                      </a:r>
                    </a:p>
                  </a:txBody>
                  <a:tcPr marL="85725" marR="38100" marT="19050" marB="19050" anchor="ctr">
                    <a:solidFill>
                      <a:srgbClr val="F5F8FA"/>
                    </a:solidFill>
                  </a:tcPr>
                </a:tc>
                <a:tc>
                  <a:txBody>
                    <a:bodyPr wrap="none"/>
                    <a:lstStyle/>
                    <a:p>
                      <a:pPr algn="l"/>
                      <a:r>
                        <a:rPr sz="900" b="1">
                          <a:solidFill>
                            <a:srgbClr val="E44D3A"/>
                          </a:solidFill>
                          <a:latin typeface="Calibri"/>
                        </a:rPr>
                        <a:t>-299</a:t>
                      </a:r>
                    </a:p>
                  </a:txBody>
                  <a:tcPr marL="85725" marR="38100" marT="19050" marB="19050" anchor="ctr">
                    <a:solidFill>
                      <a:srgbClr val="F5F8FA"/>
                    </a:solidFill>
                  </a:tcPr>
                </a:tc>
                <a:tc>
                  <a:txBody>
                    <a:bodyPr wrap="none"/>
                    <a:lstStyle/>
                    <a:p>
                      <a:pPr algn="l"/>
                      <a:r>
                        <a:rPr sz="900" b="0">
                          <a:solidFill>
                            <a:srgbClr val="2E2E2E"/>
                          </a:solidFill>
                          <a:latin typeface="Calibri"/>
                        </a:rPr>
                        <a:t>11.5%</a:t>
                      </a:r>
                    </a:p>
                  </a:txBody>
                  <a:tcPr marL="85725" marR="38100" marT="19050" marB="19050" anchor="ctr">
                    <a:solidFill>
                      <a:srgbClr val="F5F8FA"/>
                    </a:solidFill>
                  </a:tcPr>
                </a:tc>
              </a:tr>
            </a:tbl>
          </a:graphicData>
        </a:graphic>
      </p:graphicFrame>
      <p:sp>
        <p:nvSpPr>
          <p:cNvPr id="24" name="TextBox 23"/>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Tables Sales / Distribution Channel</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Volume, By Sales / Distribution Channel (Mn Doses)</a:t>
            </a:r>
          </a:p>
        </p:txBody>
      </p:sp>
      <p:graphicFrame>
        <p:nvGraphicFramePr>
          <p:cNvPr id="13" name="Table 12"/>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Sales / Distribution Channel</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Direct Institutional Sales</a:t>
                      </a:r>
                    </a:p>
                  </a:txBody>
                  <a:tcPr marL="85725" marR="38100" marT="19050" marB="19050" anchor="ctr">
                    <a:solidFill>
                      <a:srgbClr val="FFFFFF"/>
                    </a:solidFill>
                  </a:tcPr>
                </a:tc>
                <a:tc>
                  <a:txBody>
                    <a:bodyPr wrap="none"/>
                    <a:lstStyle/>
                    <a:p>
                      <a:pPr algn="l"/>
                      <a:r>
                        <a:rPr sz="800" b="0">
                          <a:solidFill>
                            <a:srgbClr val="2E2E2E"/>
                          </a:solidFill>
                          <a:latin typeface="Calibri"/>
                        </a:rPr>
                        <a:t>0.26</a:t>
                      </a:r>
                    </a:p>
                  </a:txBody>
                  <a:tcPr marL="85725" marR="38100" marT="19050" marB="19050" anchor="ctr">
                    <a:solidFill>
                      <a:srgbClr val="FFFFFF"/>
                    </a:solidFill>
                  </a:tcPr>
                </a:tc>
                <a:tc>
                  <a:txBody>
                    <a:bodyPr wrap="none"/>
                    <a:lstStyle/>
                    <a:p>
                      <a:pPr algn="l"/>
                      <a:r>
                        <a:rPr sz="800" b="0">
                          <a:solidFill>
                            <a:srgbClr val="2E2E2E"/>
                          </a:solidFill>
                          <a:latin typeface="Calibri"/>
                        </a:rPr>
                        <a:t>0.31</a:t>
                      </a:r>
                    </a:p>
                  </a:txBody>
                  <a:tcPr marL="85725" marR="38100" marT="19050" marB="19050" anchor="ctr">
                    <a:solidFill>
                      <a:srgbClr val="FFFFFF"/>
                    </a:solidFill>
                  </a:tcPr>
                </a:tc>
                <a:tc>
                  <a:txBody>
                    <a:bodyPr wrap="none"/>
                    <a:lstStyle/>
                    <a:p>
                      <a:pPr algn="l"/>
                      <a:r>
                        <a:rPr sz="800" b="0">
                          <a:solidFill>
                            <a:srgbClr val="2E2E2E"/>
                          </a:solidFill>
                          <a:latin typeface="Calibri"/>
                        </a:rPr>
                        <a:t>0.39</a:t>
                      </a:r>
                    </a:p>
                  </a:txBody>
                  <a:tcPr marL="85725" marR="38100" marT="19050" marB="19050" anchor="ctr">
                    <a:solidFill>
                      <a:srgbClr val="FFFFFF"/>
                    </a:solidFill>
                  </a:tcPr>
                </a:tc>
                <a:tc>
                  <a:txBody>
                    <a:bodyPr wrap="none"/>
                    <a:lstStyle/>
                    <a:p>
                      <a:pPr algn="l"/>
                      <a:r>
                        <a:rPr sz="800" b="0">
                          <a:solidFill>
                            <a:srgbClr val="2E2E2E"/>
                          </a:solidFill>
                          <a:latin typeface="Calibri"/>
                        </a:rPr>
                        <a:t>0.50</a:t>
                      </a:r>
                    </a:p>
                  </a:txBody>
                  <a:tcPr marL="85725" marR="38100" marT="19050" marB="19050" anchor="ctr">
                    <a:solidFill>
                      <a:srgbClr val="FFFFFF"/>
                    </a:solidFill>
                  </a:tcPr>
                </a:tc>
                <a:tc>
                  <a:txBody>
                    <a:bodyPr wrap="none"/>
                    <a:lstStyle/>
                    <a:p>
                      <a:pPr algn="l"/>
                      <a:r>
                        <a:rPr sz="800" b="0">
                          <a:solidFill>
                            <a:srgbClr val="2E2E2E"/>
                          </a:solidFill>
                          <a:latin typeface="Calibri"/>
                        </a:rPr>
                        <a:t>0.63</a:t>
                      </a:r>
                    </a:p>
                  </a:txBody>
                  <a:tcPr marL="85725" marR="38100" marT="19050" marB="19050" anchor="ctr">
                    <a:solidFill>
                      <a:srgbClr val="FFFFFF"/>
                    </a:solidFill>
                  </a:tcPr>
                </a:tc>
                <a:tc>
                  <a:txBody>
                    <a:bodyPr wrap="none"/>
                    <a:lstStyle/>
                    <a:p>
                      <a:pPr algn="l"/>
                      <a:r>
                        <a:rPr sz="800" b="0">
                          <a:solidFill>
                            <a:srgbClr val="2E2E2E"/>
                          </a:solidFill>
                          <a:latin typeface="Calibri"/>
                        </a:rPr>
                        <a:t>0.77</a:t>
                      </a:r>
                    </a:p>
                  </a:txBody>
                  <a:tcPr marL="85725" marR="38100" marT="19050" marB="19050" anchor="ctr">
                    <a:solidFill>
                      <a:srgbClr val="FFFFFF"/>
                    </a:solidFill>
                  </a:tcPr>
                </a:tc>
                <a:tc>
                  <a:txBody>
                    <a:bodyPr wrap="none"/>
                    <a:lstStyle/>
                    <a:p>
                      <a:pPr algn="l"/>
                      <a:r>
                        <a:rPr sz="800" b="0">
                          <a:solidFill>
                            <a:srgbClr val="2E2E2E"/>
                          </a:solidFill>
                          <a:latin typeface="Calibri"/>
                        </a:rPr>
                        <a:t>0.93</a:t>
                      </a:r>
                    </a:p>
                  </a:txBody>
                  <a:tcPr marL="85725" marR="38100" marT="19050" marB="19050" anchor="ctr">
                    <a:solidFill>
                      <a:srgbClr val="FFFFFF"/>
                    </a:solidFill>
                  </a:tcPr>
                </a:tc>
                <a:tc>
                  <a:txBody>
                    <a:bodyPr wrap="none"/>
                    <a:lstStyle/>
                    <a:p>
                      <a:pPr algn="l"/>
                      <a:r>
                        <a:rPr sz="800" b="0">
                          <a:solidFill>
                            <a:srgbClr val="2E2E2E"/>
                          </a:solidFill>
                          <a:latin typeface="Calibri"/>
                        </a:rPr>
                        <a:t>1.09</a:t>
                      </a:r>
                    </a:p>
                  </a:txBody>
                  <a:tcPr marL="85725" marR="38100" marT="19050" marB="19050" anchor="ctr">
                    <a:solidFill>
                      <a:srgbClr val="FFFFFF"/>
                    </a:solidFill>
                  </a:tcPr>
                </a:tc>
                <a:tc>
                  <a:txBody>
                    <a:bodyPr wrap="none"/>
                    <a:lstStyle/>
                    <a:p>
                      <a:pPr algn="l"/>
                      <a:r>
                        <a:rPr sz="800" b="0">
                          <a:solidFill>
                            <a:srgbClr val="2E2E2E"/>
                          </a:solidFill>
                          <a:latin typeface="Calibri"/>
                        </a:rPr>
                        <a:t>1.27</a:t>
                      </a:r>
                    </a:p>
                  </a:txBody>
                  <a:tcPr marL="85725" marR="38100" marT="19050" marB="19050" anchor="ctr">
                    <a:solidFill>
                      <a:srgbClr val="FFFFFF"/>
                    </a:solidFill>
                  </a:tcPr>
                </a:tc>
                <a:tc>
                  <a:txBody>
                    <a:bodyPr wrap="none"/>
                    <a:lstStyle/>
                    <a:p>
                      <a:pPr algn="l"/>
                      <a:r>
                        <a:rPr sz="800" b="0">
                          <a:solidFill>
                            <a:srgbClr val="2E2E2E"/>
                          </a:solidFill>
                          <a:latin typeface="Calibri"/>
                        </a:rPr>
                        <a:t>1.46</a:t>
                      </a:r>
                    </a:p>
                  </a:txBody>
                  <a:tcPr marL="85725" marR="38100" marT="19050" marB="19050" anchor="ctr">
                    <a:solidFill>
                      <a:srgbClr val="FFFFFF"/>
                    </a:solidFill>
                  </a:tcPr>
                </a:tc>
                <a:tc>
                  <a:txBody>
                    <a:bodyPr wrap="none"/>
                    <a:lstStyle/>
                    <a:p>
                      <a:pPr algn="l"/>
                      <a:r>
                        <a:rPr sz="800" b="0">
                          <a:solidFill>
                            <a:srgbClr val="2E2E2E"/>
                          </a:solidFill>
                          <a:latin typeface="Calibri"/>
                        </a:rPr>
                        <a:t>1.65</a:t>
                      </a:r>
                    </a:p>
                  </a:txBody>
                  <a:tcPr marL="85725" marR="38100" marT="19050" marB="19050" anchor="ctr">
                    <a:solidFill>
                      <a:srgbClr val="FFFFFF"/>
                    </a:solidFill>
                  </a:tcPr>
                </a:tc>
                <a:tc>
                  <a:txBody>
                    <a:bodyPr wrap="none"/>
                    <a:lstStyle/>
                    <a:p>
                      <a:pPr algn="l"/>
                      <a:r>
                        <a:rPr sz="800" b="0">
                          <a:solidFill>
                            <a:srgbClr val="2E2E2E"/>
                          </a:solidFill>
                          <a:latin typeface="Calibri"/>
                        </a:rPr>
                        <a:t>1.86</a:t>
                      </a:r>
                    </a:p>
                  </a:txBody>
                  <a:tcPr marL="85725" marR="38100" marT="19050" marB="19050" anchor="ctr">
                    <a:solidFill>
                      <a:srgbClr val="FFFFFF"/>
                    </a:solidFill>
                  </a:tcPr>
                </a:tc>
                <a:tc>
                  <a:txBody>
                    <a:bodyPr wrap="none"/>
                    <a:lstStyle/>
                    <a:p>
                      <a:pPr algn="l"/>
                      <a:r>
                        <a:rPr sz="800" b="0">
                          <a:solidFill>
                            <a:srgbClr val="2E2E2E"/>
                          </a:solidFill>
                          <a:latin typeface="Calibri"/>
                        </a:rPr>
                        <a:t>2.07</a:t>
                      </a:r>
                    </a:p>
                  </a:txBody>
                  <a:tcPr marL="85725" marR="38100" marT="19050" marB="19050" anchor="ctr">
                    <a:solidFill>
                      <a:srgbClr val="FFFFFF"/>
                    </a:solidFill>
                  </a:tcPr>
                </a:tc>
                <a:tc>
                  <a:txBody>
                    <a:bodyPr wrap="none"/>
                    <a:lstStyle/>
                    <a:p>
                      <a:pPr algn="l"/>
                      <a:r>
                        <a:rPr sz="800" b="0">
                          <a:solidFill>
                            <a:srgbClr val="2E2E2E"/>
                          </a:solidFill>
                          <a:latin typeface="Calibri"/>
                        </a:rPr>
                        <a:t>2.30</a:t>
                      </a:r>
                    </a:p>
                  </a:txBody>
                  <a:tcPr marL="85725" marR="38100" marT="19050" marB="19050" anchor="ctr">
                    <a:solidFill>
                      <a:srgbClr val="FFFFFF"/>
                    </a:solidFill>
                  </a:tcPr>
                </a:tc>
                <a:tc>
                  <a:txBody>
                    <a:bodyPr wrap="none"/>
                    <a:lstStyle/>
                    <a:p>
                      <a:pPr algn="l"/>
                      <a:r>
                        <a:rPr sz="800" b="0">
                          <a:solidFill>
                            <a:srgbClr val="2E2E2E"/>
                          </a:solidFill>
                          <a:latin typeface="Calibri"/>
                        </a:rPr>
                        <a:t>2.54</a:t>
                      </a:r>
                    </a:p>
                  </a:txBody>
                  <a:tcPr marL="85725" marR="38100" marT="19050" marB="19050" anchor="ctr">
                    <a:solidFill>
                      <a:srgbClr val="FFFFFF"/>
                    </a:solidFill>
                  </a:tcPr>
                </a:tc>
                <a:tc>
                  <a:txBody>
                    <a:bodyPr wrap="none"/>
                    <a:lstStyle/>
                    <a:p>
                      <a:pPr algn="l"/>
                      <a:r>
                        <a:rPr sz="800" b="0">
                          <a:solidFill>
                            <a:srgbClr val="2E2E2E"/>
                          </a:solidFill>
                          <a:latin typeface="Calibri"/>
                        </a:rPr>
                        <a:t>2.80</a:t>
                      </a:r>
                    </a:p>
                  </a:txBody>
                  <a:tcPr marL="85725" marR="38100" marT="19050" marB="19050" anchor="ctr">
                    <a:solidFill>
                      <a:srgbClr val="FFFFFF"/>
                    </a:solidFill>
                  </a:tcPr>
                </a:tc>
                <a:tc>
                  <a:txBody>
                    <a:bodyPr wrap="none"/>
                    <a:lstStyle/>
                    <a:p>
                      <a:pPr algn="l"/>
                      <a:r>
                        <a:rPr sz="800" b="0">
                          <a:solidFill>
                            <a:srgbClr val="2E2E2E"/>
                          </a:solidFill>
                          <a:latin typeface="Calibri"/>
                        </a:rPr>
                        <a:t>13.7%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Specialty Distribution</a:t>
                      </a:r>
                    </a:p>
                  </a:txBody>
                  <a:tcPr marL="85725" marR="38100" marT="19050" marB="19050" anchor="ctr">
                    <a:solidFill>
                      <a:srgbClr val="F5F8FA"/>
                    </a:solidFill>
                  </a:tcPr>
                </a:tc>
                <a:tc>
                  <a:txBody>
                    <a:bodyPr wrap="none"/>
                    <a:lstStyle/>
                    <a:p>
                      <a:pPr algn="l"/>
                      <a:r>
                        <a:rPr sz="800" b="0">
                          <a:solidFill>
                            <a:srgbClr val="2E2E2E"/>
                          </a:solidFill>
                          <a:latin typeface="Calibri"/>
                        </a:rPr>
                        <a:t>0.26</a:t>
                      </a:r>
                    </a:p>
                  </a:txBody>
                  <a:tcPr marL="85725" marR="38100" marT="19050" marB="19050" anchor="ctr">
                    <a:solidFill>
                      <a:srgbClr val="F5F8FA"/>
                    </a:solidFill>
                  </a:tcPr>
                </a:tc>
                <a:tc>
                  <a:txBody>
                    <a:bodyPr wrap="none"/>
                    <a:lstStyle/>
                    <a:p>
                      <a:pPr algn="l"/>
                      <a:r>
                        <a:rPr sz="800" b="0">
                          <a:solidFill>
                            <a:srgbClr val="2E2E2E"/>
                          </a:solidFill>
                          <a:latin typeface="Calibri"/>
                        </a:rPr>
                        <a:t>0.30</a:t>
                      </a:r>
                    </a:p>
                  </a:txBody>
                  <a:tcPr marL="85725" marR="38100" marT="19050" marB="19050" anchor="ctr">
                    <a:solidFill>
                      <a:srgbClr val="F5F8FA"/>
                    </a:solidFill>
                  </a:tcPr>
                </a:tc>
                <a:tc>
                  <a:txBody>
                    <a:bodyPr wrap="none"/>
                    <a:lstStyle/>
                    <a:p>
                      <a:pPr algn="l"/>
                      <a:r>
                        <a:rPr sz="800" b="0">
                          <a:solidFill>
                            <a:srgbClr val="2E2E2E"/>
                          </a:solidFill>
                          <a:latin typeface="Calibri"/>
                        </a:rPr>
                        <a:t>0.38</a:t>
                      </a:r>
                    </a:p>
                  </a:txBody>
                  <a:tcPr marL="85725" marR="38100" marT="19050" marB="19050" anchor="ctr">
                    <a:solidFill>
                      <a:srgbClr val="F5F8FA"/>
                    </a:solidFill>
                  </a:tcPr>
                </a:tc>
                <a:tc>
                  <a:txBody>
                    <a:bodyPr wrap="none"/>
                    <a:lstStyle/>
                    <a:p>
                      <a:pPr algn="l"/>
                      <a:r>
                        <a:rPr sz="800" b="0">
                          <a:solidFill>
                            <a:srgbClr val="2E2E2E"/>
                          </a:solidFill>
                          <a:latin typeface="Calibri"/>
                        </a:rPr>
                        <a:t>0.48</a:t>
                      </a:r>
                    </a:p>
                  </a:txBody>
                  <a:tcPr marL="85725" marR="38100" marT="19050" marB="19050" anchor="ctr">
                    <a:solidFill>
                      <a:srgbClr val="F5F8FA"/>
                    </a:solidFill>
                  </a:tcPr>
                </a:tc>
                <a:tc>
                  <a:txBody>
                    <a:bodyPr wrap="none"/>
                    <a:lstStyle/>
                    <a:p>
                      <a:pPr algn="l"/>
                      <a:r>
                        <a:rPr sz="800" b="0">
                          <a:solidFill>
                            <a:srgbClr val="2E2E2E"/>
                          </a:solidFill>
                          <a:latin typeface="Calibri"/>
                        </a:rPr>
                        <a:t>0.61</a:t>
                      </a:r>
                    </a:p>
                  </a:txBody>
                  <a:tcPr marL="85725" marR="38100" marT="19050" marB="19050" anchor="ctr">
                    <a:solidFill>
                      <a:srgbClr val="F5F8FA"/>
                    </a:solidFill>
                  </a:tcPr>
                </a:tc>
                <a:tc>
                  <a:txBody>
                    <a:bodyPr wrap="none"/>
                    <a:lstStyle/>
                    <a:p>
                      <a:pPr algn="l"/>
                      <a:r>
                        <a:rPr sz="800" b="0">
                          <a:solidFill>
                            <a:srgbClr val="2E2E2E"/>
                          </a:solidFill>
                          <a:latin typeface="Calibri"/>
                        </a:rPr>
                        <a:t>0.74</a:t>
                      </a:r>
                    </a:p>
                  </a:txBody>
                  <a:tcPr marL="85725" marR="38100" marT="19050" marB="19050" anchor="ctr">
                    <a:solidFill>
                      <a:srgbClr val="F5F8FA"/>
                    </a:solidFill>
                  </a:tcPr>
                </a:tc>
                <a:tc>
                  <a:txBody>
                    <a:bodyPr wrap="none"/>
                    <a:lstStyle/>
                    <a:p>
                      <a:pPr algn="l"/>
                      <a:r>
                        <a:rPr sz="800" b="0">
                          <a:solidFill>
                            <a:srgbClr val="2E2E2E"/>
                          </a:solidFill>
                          <a:latin typeface="Calibri"/>
                        </a:rPr>
                        <a:t>0.89</a:t>
                      </a:r>
                    </a:p>
                  </a:txBody>
                  <a:tcPr marL="85725" marR="38100" marT="19050" marB="19050" anchor="ctr">
                    <a:solidFill>
                      <a:srgbClr val="F5F8FA"/>
                    </a:solidFill>
                  </a:tcPr>
                </a:tc>
                <a:tc>
                  <a:txBody>
                    <a:bodyPr wrap="none"/>
                    <a:lstStyle/>
                    <a:p>
                      <a:pPr algn="l"/>
                      <a:r>
                        <a:rPr sz="800" b="0">
                          <a:solidFill>
                            <a:srgbClr val="2E2E2E"/>
                          </a:solidFill>
                          <a:latin typeface="Calibri"/>
                        </a:rPr>
                        <a:t>1.05</a:t>
                      </a:r>
                    </a:p>
                  </a:txBody>
                  <a:tcPr marL="85725" marR="38100" marT="19050" marB="19050" anchor="ctr">
                    <a:solidFill>
                      <a:srgbClr val="F5F8FA"/>
                    </a:solidFill>
                  </a:tcPr>
                </a:tc>
                <a:tc>
                  <a:txBody>
                    <a:bodyPr wrap="none"/>
                    <a:lstStyle/>
                    <a:p>
                      <a:pPr algn="l"/>
                      <a:r>
                        <a:rPr sz="800" b="0">
                          <a:solidFill>
                            <a:srgbClr val="2E2E2E"/>
                          </a:solidFill>
                          <a:latin typeface="Calibri"/>
                        </a:rPr>
                        <a:t>1.21</a:t>
                      </a:r>
                    </a:p>
                  </a:txBody>
                  <a:tcPr marL="85725" marR="38100" marT="19050" marB="19050" anchor="ctr">
                    <a:solidFill>
                      <a:srgbClr val="F5F8FA"/>
                    </a:solidFill>
                  </a:tcPr>
                </a:tc>
                <a:tc>
                  <a:txBody>
                    <a:bodyPr wrap="none"/>
                    <a:lstStyle/>
                    <a:p>
                      <a:pPr algn="l"/>
                      <a:r>
                        <a:rPr sz="800" b="0">
                          <a:solidFill>
                            <a:srgbClr val="2E2E2E"/>
                          </a:solidFill>
                          <a:latin typeface="Calibri"/>
                        </a:rPr>
                        <a:t>1.39</a:t>
                      </a:r>
                    </a:p>
                  </a:txBody>
                  <a:tcPr marL="85725" marR="38100" marT="19050" marB="19050" anchor="ctr">
                    <a:solidFill>
                      <a:srgbClr val="F5F8FA"/>
                    </a:solidFill>
                  </a:tcPr>
                </a:tc>
                <a:tc>
                  <a:txBody>
                    <a:bodyPr wrap="none"/>
                    <a:lstStyle/>
                    <a:p>
                      <a:pPr algn="l"/>
                      <a:r>
                        <a:rPr sz="800" b="0">
                          <a:solidFill>
                            <a:srgbClr val="2E2E2E"/>
                          </a:solidFill>
                          <a:latin typeface="Calibri"/>
                        </a:rPr>
                        <a:t>1.57</a:t>
                      </a:r>
                    </a:p>
                  </a:txBody>
                  <a:tcPr marL="85725" marR="38100" marT="19050" marB="19050" anchor="ctr">
                    <a:solidFill>
                      <a:srgbClr val="F5F8FA"/>
                    </a:solidFill>
                  </a:tcPr>
                </a:tc>
                <a:tc>
                  <a:txBody>
                    <a:bodyPr wrap="none"/>
                    <a:lstStyle/>
                    <a:p>
                      <a:pPr algn="l"/>
                      <a:r>
                        <a:rPr sz="800" b="0">
                          <a:solidFill>
                            <a:srgbClr val="2E2E2E"/>
                          </a:solidFill>
                          <a:latin typeface="Calibri"/>
                        </a:rPr>
                        <a:t>1.76</a:t>
                      </a:r>
                    </a:p>
                  </a:txBody>
                  <a:tcPr marL="85725" marR="38100" marT="19050" marB="19050" anchor="ctr">
                    <a:solidFill>
                      <a:srgbClr val="F5F8FA"/>
                    </a:solidFill>
                  </a:tcPr>
                </a:tc>
                <a:tc>
                  <a:txBody>
                    <a:bodyPr wrap="none"/>
                    <a:lstStyle/>
                    <a:p>
                      <a:pPr algn="l"/>
                      <a:r>
                        <a:rPr sz="800" b="0">
                          <a:solidFill>
                            <a:srgbClr val="2E2E2E"/>
                          </a:solidFill>
                          <a:latin typeface="Calibri"/>
                        </a:rPr>
                        <a:t>1.96</a:t>
                      </a:r>
                    </a:p>
                  </a:txBody>
                  <a:tcPr marL="85725" marR="38100" marT="19050" marB="19050" anchor="ctr">
                    <a:solidFill>
                      <a:srgbClr val="F5F8FA"/>
                    </a:solidFill>
                  </a:tcPr>
                </a:tc>
                <a:tc>
                  <a:txBody>
                    <a:bodyPr wrap="none"/>
                    <a:lstStyle/>
                    <a:p>
                      <a:pPr algn="l"/>
                      <a:r>
                        <a:rPr sz="800" b="0">
                          <a:solidFill>
                            <a:srgbClr val="2E2E2E"/>
                          </a:solidFill>
                          <a:latin typeface="Calibri"/>
                        </a:rPr>
                        <a:t>2.17</a:t>
                      </a:r>
                    </a:p>
                  </a:txBody>
                  <a:tcPr marL="85725" marR="38100" marT="19050" marB="19050" anchor="ctr">
                    <a:solidFill>
                      <a:srgbClr val="F5F8FA"/>
                    </a:solidFill>
                  </a:tcPr>
                </a:tc>
                <a:tc>
                  <a:txBody>
                    <a:bodyPr wrap="none"/>
                    <a:lstStyle/>
                    <a:p>
                      <a:pPr algn="l"/>
                      <a:r>
                        <a:rPr sz="800" b="0">
                          <a:solidFill>
                            <a:srgbClr val="2E2E2E"/>
                          </a:solidFill>
                          <a:latin typeface="Calibri"/>
                        </a:rPr>
                        <a:t>2.39</a:t>
                      </a:r>
                    </a:p>
                  </a:txBody>
                  <a:tcPr marL="85725" marR="38100" marT="19050" marB="19050" anchor="ctr">
                    <a:solidFill>
                      <a:srgbClr val="F5F8FA"/>
                    </a:solidFill>
                  </a:tcPr>
                </a:tc>
                <a:tc>
                  <a:txBody>
                    <a:bodyPr wrap="none"/>
                    <a:lstStyle/>
                    <a:p>
                      <a:pPr algn="l"/>
                      <a:r>
                        <a:rPr sz="800" b="0">
                          <a:solidFill>
                            <a:srgbClr val="2E2E2E"/>
                          </a:solidFill>
                          <a:latin typeface="Calibri"/>
                        </a:rPr>
                        <a:t>2.62</a:t>
                      </a:r>
                    </a:p>
                  </a:txBody>
                  <a:tcPr marL="85725" marR="38100" marT="19050" marB="19050" anchor="ctr">
                    <a:solidFill>
                      <a:srgbClr val="F5F8FA"/>
                    </a:solidFill>
                  </a:tcPr>
                </a:tc>
                <a:tc>
                  <a:txBody>
                    <a:bodyPr wrap="none"/>
                    <a:lstStyle/>
                    <a:p>
                      <a:pPr algn="l"/>
                      <a:r>
                        <a:rPr sz="800" b="0">
                          <a:solidFill>
                            <a:srgbClr val="2E2E2E"/>
                          </a:solidFill>
                          <a:latin typeface="Calibri"/>
                        </a:rPr>
                        <a:t>13.4%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Pharmacy Channel</a:t>
                      </a:r>
                    </a:p>
                  </a:txBody>
                  <a:tcPr marL="85725" marR="38100" marT="19050" marB="19050" anchor="ctr">
                    <a:solidFill>
                      <a:srgbClr val="FFFFFF"/>
                    </a:solidFill>
                  </a:tcPr>
                </a:tc>
                <a:tc>
                  <a:txBody>
                    <a:bodyPr wrap="none"/>
                    <a:lstStyle/>
                    <a:p>
                      <a:pPr algn="l"/>
                      <a:r>
                        <a:rPr sz="800" b="0">
                          <a:solidFill>
                            <a:srgbClr val="2E2E2E"/>
                          </a:solidFill>
                          <a:latin typeface="Calibri"/>
                        </a:rPr>
                        <a:t>0.22</a:t>
                      </a:r>
                    </a:p>
                  </a:txBody>
                  <a:tcPr marL="85725" marR="38100" marT="19050" marB="19050" anchor="ctr">
                    <a:solidFill>
                      <a:srgbClr val="FFFFFF"/>
                    </a:solidFill>
                  </a:tcPr>
                </a:tc>
                <a:tc>
                  <a:txBody>
                    <a:bodyPr wrap="none"/>
                    <a:lstStyle/>
                    <a:p>
                      <a:pPr algn="l"/>
                      <a:r>
                        <a:rPr sz="800" b="0">
                          <a:solidFill>
                            <a:srgbClr val="2E2E2E"/>
                          </a:solidFill>
                          <a:latin typeface="Calibri"/>
                        </a:rPr>
                        <a:t>0.26</a:t>
                      </a:r>
                    </a:p>
                  </a:txBody>
                  <a:tcPr marL="85725" marR="38100" marT="19050" marB="19050" anchor="ctr">
                    <a:solidFill>
                      <a:srgbClr val="FFFFFF"/>
                    </a:solidFill>
                  </a:tcPr>
                </a:tc>
                <a:tc>
                  <a:txBody>
                    <a:bodyPr wrap="none"/>
                    <a:lstStyle/>
                    <a:p>
                      <a:pPr algn="l"/>
                      <a:r>
                        <a:rPr sz="800" b="0">
                          <a:solidFill>
                            <a:srgbClr val="2E2E2E"/>
                          </a:solidFill>
                          <a:latin typeface="Calibri"/>
                        </a:rPr>
                        <a:t>0.32</a:t>
                      </a:r>
                    </a:p>
                  </a:txBody>
                  <a:tcPr marL="85725" marR="38100" marT="19050" marB="19050" anchor="ctr">
                    <a:solidFill>
                      <a:srgbClr val="FFFFFF"/>
                    </a:solidFill>
                  </a:tcPr>
                </a:tc>
                <a:tc>
                  <a:txBody>
                    <a:bodyPr wrap="none"/>
                    <a:lstStyle/>
                    <a:p>
                      <a:pPr algn="l"/>
                      <a:r>
                        <a:rPr sz="800" b="0">
                          <a:solidFill>
                            <a:srgbClr val="2E2E2E"/>
                          </a:solidFill>
                          <a:latin typeface="Calibri"/>
                        </a:rPr>
                        <a:t>0.40</a:t>
                      </a:r>
                    </a:p>
                  </a:txBody>
                  <a:tcPr marL="85725" marR="38100" marT="19050" marB="19050" anchor="ctr">
                    <a:solidFill>
                      <a:srgbClr val="FFFFFF"/>
                    </a:solidFill>
                  </a:tcPr>
                </a:tc>
                <a:tc>
                  <a:txBody>
                    <a:bodyPr wrap="none"/>
                    <a:lstStyle/>
                    <a:p>
                      <a:pPr algn="l"/>
                      <a:r>
                        <a:rPr sz="800" b="0">
                          <a:solidFill>
                            <a:srgbClr val="2E2E2E"/>
                          </a:solidFill>
                          <a:latin typeface="Calibri"/>
                        </a:rPr>
                        <a:t>0.50</a:t>
                      </a:r>
                    </a:p>
                  </a:txBody>
                  <a:tcPr marL="85725" marR="38100" marT="19050" marB="19050" anchor="ctr">
                    <a:solidFill>
                      <a:srgbClr val="FFFFFF"/>
                    </a:solidFill>
                  </a:tcPr>
                </a:tc>
                <a:tc>
                  <a:txBody>
                    <a:bodyPr wrap="none"/>
                    <a:lstStyle/>
                    <a:p>
                      <a:pPr algn="l"/>
                      <a:r>
                        <a:rPr sz="800" b="0">
                          <a:solidFill>
                            <a:srgbClr val="2E2E2E"/>
                          </a:solidFill>
                          <a:latin typeface="Calibri"/>
                        </a:rPr>
                        <a:t>0.61</a:t>
                      </a:r>
                    </a:p>
                  </a:txBody>
                  <a:tcPr marL="85725" marR="38100" marT="19050" marB="19050" anchor="ctr">
                    <a:solidFill>
                      <a:srgbClr val="FFFFFF"/>
                    </a:solidFill>
                  </a:tcPr>
                </a:tc>
                <a:tc>
                  <a:txBody>
                    <a:bodyPr wrap="none"/>
                    <a:lstStyle/>
                    <a:p>
                      <a:pPr algn="l"/>
                      <a:r>
                        <a:rPr sz="800" b="0">
                          <a:solidFill>
                            <a:srgbClr val="2E2E2E"/>
                          </a:solidFill>
                          <a:latin typeface="Calibri"/>
                        </a:rPr>
                        <a:t>0.72</a:t>
                      </a:r>
                    </a:p>
                  </a:txBody>
                  <a:tcPr marL="85725" marR="38100" marT="19050" marB="19050" anchor="ctr">
                    <a:solidFill>
                      <a:srgbClr val="FFFFFF"/>
                    </a:solidFill>
                  </a:tcPr>
                </a:tc>
                <a:tc>
                  <a:txBody>
                    <a:bodyPr wrap="none"/>
                    <a:lstStyle/>
                    <a:p>
                      <a:pPr algn="l"/>
                      <a:r>
                        <a:rPr sz="800" b="0">
                          <a:solidFill>
                            <a:srgbClr val="2E2E2E"/>
                          </a:solidFill>
                          <a:latin typeface="Calibri"/>
                        </a:rPr>
                        <a:t>0.84</a:t>
                      </a:r>
                    </a:p>
                  </a:txBody>
                  <a:tcPr marL="85725" marR="38100" marT="19050" marB="19050" anchor="ctr">
                    <a:solidFill>
                      <a:srgbClr val="FFFFFF"/>
                    </a:solidFill>
                  </a:tcPr>
                </a:tc>
                <a:tc>
                  <a:txBody>
                    <a:bodyPr wrap="none"/>
                    <a:lstStyle/>
                    <a:p>
                      <a:pPr algn="l"/>
                      <a:r>
                        <a:rPr sz="800" b="0">
                          <a:solidFill>
                            <a:srgbClr val="2E2E2E"/>
                          </a:solidFill>
                          <a:latin typeface="Calibri"/>
                        </a:rPr>
                        <a:t>0.96</a:t>
                      </a:r>
                    </a:p>
                  </a:txBody>
                  <a:tcPr marL="85725" marR="38100" marT="19050" marB="19050" anchor="ctr">
                    <a:solidFill>
                      <a:srgbClr val="FFFFFF"/>
                    </a:solidFill>
                  </a:tcPr>
                </a:tc>
                <a:tc>
                  <a:txBody>
                    <a:bodyPr wrap="none"/>
                    <a:lstStyle/>
                    <a:p>
                      <a:pPr algn="l"/>
                      <a:r>
                        <a:rPr sz="800" b="0">
                          <a:solidFill>
                            <a:srgbClr val="2E2E2E"/>
                          </a:solidFill>
                          <a:latin typeface="Calibri"/>
                        </a:rPr>
                        <a:t>1.08</a:t>
                      </a:r>
                    </a:p>
                  </a:txBody>
                  <a:tcPr marL="85725" marR="38100" marT="19050" marB="19050" anchor="ctr">
                    <a:solidFill>
                      <a:srgbClr val="FFFFFF"/>
                    </a:solidFill>
                  </a:tcPr>
                </a:tc>
                <a:tc>
                  <a:txBody>
                    <a:bodyPr wrap="none"/>
                    <a:lstStyle/>
                    <a:p>
                      <a:pPr algn="l"/>
                      <a:r>
                        <a:rPr sz="800" b="0">
                          <a:solidFill>
                            <a:srgbClr val="2E2E2E"/>
                          </a:solidFill>
                          <a:latin typeface="Calibri"/>
                        </a:rPr>
                        <a:t>1.21</a:t>
                      </a:r>
                    </a:p>
                  </a:txBody>
                  <a:tcPr marL="85725" marR="38100" marT="19050" marB="19050" anchor="ctr">
                    <a:solidFill>
                      <a:srgbClr val="FFFFFF"/>
                    </a:solidFill>
                  </a:tcPr>
                </a:tc>
                <a:tc>
                  <a:txBody>
                    <a:bodyPr wrap="none"/>
                    <a:lstStyle/>
                    <a:p>
                      <a:pPr algn="l"/>
                      <a:r>
                        <a:rPr sz="800" b="0">
                          <a:solidFill>
                            <a:srgbClr val="2E2E2E"/>
                          </a:solidFill>
                          <a:latin typeface="Calibri"/>
                        </a:rPr>
                        <a:t>1.35</a:t>
                      </a:r>
                    </a:p>
                  </a:txBody>
                  <a:tcPr marL="85725" marR="38100" marT="19050" marB="19050" anchor="ctr">
                    <a:solidFill>
                      <a:srgbClr val="FFFFFF"/>
                    </a:solidFill>
                  </a:tcPr>
                </a:tc>
                <a:tc>
                  <a:txBody>
                    <a:bodyPr wrap="none"/>
                    <a:lstStyle/>
                    <a:p>
                      <a:pPr algn="l"/>
                      <a:r>
                        <a:rPr sz="800" b="0">
                          <a:solidFill>
                            <a:srgbClr val="2E2E2E"/>
                          </a:solidFill>
                          <a:latin typeface="Calibri"/>
                        </a:rPr>
                        <a:t>1.49</a:t>
                      </a:r>
                    </a:p>
                  </a:txBody>
                  <a:tcPr marL="85725" marR="38100" marT="19050" marB="19050" anchor="ctr">
                    <a:solidFill>
                      <a:srgbClr val="FFFFFF"/>
                    </a:solidFill>
                  </a:tcPr>
                </a:tc>
                <a:tc>
                  <a:txBody>
                    <a:bodyPr wrap="none"/>
                    <a:lstStyle/>
                    <a:p>
                      <a:pPr algn="l"/>
                      <a:r>
                        <a:rPr sz="800" b="0">
                          <a:solidFill>
                            <a:srgbClr val="2E2E2E"/>
                          </a:solidFill>
                          <a:latin typeface="Calibri"/>
                        </a:rPr>
                        <a:t>1.63</a:t>
                      </a:r>
                    </a:p>
                  </a:txBody>
                  <a:tcPr marL="85725" marR="38100" marT="19050" marB="19050" anchor="ctr">
                    <a:solidFill>
                      <a:srgbClr val="FFFFFF"/>
                    </a:solidFill>
                  </a:tcPr>
                </a:tc>
                <a:tc>
                  <a:txBody>
                    <a:bodyPr wrap="none"/>
                    <a:lstStyle/>
                    <a:p>
                      <a:pPr algn="l"/>
                      <a:r>
                        <a:rPr sz="800" b="0">
                          <a:solidFill>
                            <a:srgbClr val="2E2E2E"/>
                          </a:solidFill>
                          <a:latin typeface="Calibri"/>
                        </a:rPr>
                        <a:t>1.78</a:t>
                      </a:r>
                    </a:p>
                  </a:txBody>
                  <a:tcPr marL="85725" marR="38100" marT="19050" marB="19050" anchor="ctr">
                    <a:solidFill>
                      <a:srgbClr val="FFFFFF"/>
                    </a:solidFill>
                  </a:tcPr>
                </a:tc>
                <a:tc>
                  <a:txBody>
                    <a:bodyPr wrap="none"/>
                    <a:lstStyle/>
                    <a:p>
                      <a:pPr algn="l"/>
                      <a:r>
                        <a:rPr sz="800" b="0">
                          <a:solidFill>
                            <a:srgbClr val="2E2E2E"/>
                          </a:solidFill>
                          <a:latin typeface="Calibri"/>
                        </a:rPr>
                        <a:t>1.93</a:t>
                      </a:r>
                    </a:p>
                  </a:txBody>
                  <a:tcPr marL="85725" marR="38100" marT="19050" marB="19050" anchor="ctr">
                    <a:solidFill>
                      <a:srgbClr val="FFFFFF"/>
                    </a:solidFill>
                  </a:tcPr>
                </a:tc>
                <a:tc>
                  <a:txBody>
                    <a:bodyPr wrap="none"/>
                    <a:lstStyle/>
                    <a:p>
                      <a:pPr algn="l"/>
                      <a:r>
                        <a:rPr sz="800" b="0">
                          <a:solidFill>
                            <a:srgbClr val="2E2E2E"/>
                          </a:solidFill>
                          <a:latin typeface="Calibri"/>
                        </a:rPr>
                        <a:t>12.3%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Online / Digital Pharmacy</a:t>
                      </a:r>
                    </a:p>
                  </a:txBody>
                  <a:tcPr marL="85725" marR="38100" marT="19050" marB="19050" anchor="ctr">
                    <a:solidFill>
                      <a:srgbClr val="F5F8FA"/>
                    </a:solidFill>
                  </a:tcPr>
                </a:tc>
                <a:tc>
                  <a:txBody>
                    <a:bodyPr wrap="none"/>
                    <a:lstStyle/>
                    <a:p>
                      <a:pPr algn="l"/>
                      <a:r>
                        <a:rPr sz="800" b="0">
                          <a:solidFill>
                            <a:srgbClr val="2E2E2E"/>
                          </a:solidFill>
                          <a:latin typeface="Calibri"/>
                        </a:rPr>
                        <a:t>0.32</a:t>
                      </a:r>
                    </a:p>
                  </a:txBody>
                  <a:tcPr marL="85725" marR="38100" marT="19050" marB="19050" anchor="ctr">
                    <a:solidFill>
                      <a:srgbClr val="F5F8FA"/>
                    </a:solidFill>
                  </a:tcPr>
                </a:tc>
                <a:tc>
                  <a:txBody>
                    <a:bodyPr wrap="none"/>
                    <a:lstStyle/>
                    <a:p>
                      <a:pPr algn="l"/>
                      <a:r>
                        <a:rPr sz="800" b="0">
                          <a:solidFill>
                            <a:srgbClr val="2E2E2E"/>
                          </a:solidFill>
                          <a:latin typeface="Calibri"/>
                        </a:rPr>
                        <a:t>0.37</a:t>
                      </a:r>
                    </a:p>
                  </a:txBody>
                  <a:tcPr marL="85725" marR="38100" marT="19050" marB="19050" anchor="ctr">
                    <a:solidFill>
                      <a:srgbClr val="F5F8FA"/>
                    </a:solidFill>
                  </a:tcPr>
                </a:tc>
                <a:tc>
                  <a:txBody>
                    <a:bodyPr wrap="none"/>
                    <a:lstStyle/>
                    <a:p>
                      <a:pPr algn="l"/>
                      <a:r>
                        <a:rPr sz="800" b="0">
                          <a:solidFill>
                            <a:srgbClr val="2E2E2E"/>
                          </a:solidFill>
                          <a:latin typeface="Calibri"/>
                        </a:rPr>
                        <a:t>0.46</a:t>
                      </a:r>
                    </a:p>
                  </a:txBody>
                  <a:tcPr marL="85725" marR="38100" marT="19050" marB="19050" anchor="ctr">
                    <a:solidFill>
                      <a:srgbClr val="F5F8FA"/>
                    </a:solidFill>
                  </a:tcPr>
                </a:tc>
                <a:tc>
                  <a:txBody>
                    <a:bodyPr wrap="none"/>
                    <a:lstStyle/>
                    <a:p>
                      <a:pPr algn="l"/>
                      <a:r>
                        <a:rPr sz="800" b="0">
                          <a:solidFill>
                            <a:srgbClr val="2E2E2E"/>
                          </a:solidFill>
                          <a:latin typeface="Calibri"/>
                        </a:rPr>
                        <a:t>0.58</a:t>
                      </a:r>
                    </a:p>
                  </a:txBody>
                  <a:tcPr marL="85725" marR="38100" marT="19050" marB="19050" anchor="ctr">
                    <a:solidFill>
                      <a:srgbClr val="F5F8FA"/>
                    </a:solidFill>
                  </a:tcPr>
                </a:tc>
                <a:tc>
                  <a:txBody>
                    <a:bodyPr wrap="none"/>
                    <a:lstStyle/>
                    <a:p>
                      <a:pPr algn="l"/>
                      <a:r>
                        <a:rPr sz="800" b="0">
                          <a:solidFill>
                            <a:srgbClr val="2E2E2E"/>
                          </a:solidFill>
                          <a:latin typeface="Calibri"/>
                        </a:rPr>
                        <a:t>0.72</a:t>
                      </a:r>
                    </a:p>
                  </a:txBody>
                  <a:tcPr marL="85725" marR="38100" marT="19050" marB="19050" anchor="ctr">
                    <a:solidFill>
                      <a:srgbClr val="F5F8FA"/>
                    </a:solidFill>
                  </a:tcPr>
                </a:tc>
                <a:tc>
                  <a:txBody>
                    <a:bodyPr wrap="none"/>
                    <a:lstStyle/>
                    <a:p>
                      <a:pPr algn="l"/>
                      <a:r>
                        <a:rPr sz="800" b="0">
                          <a:solidFill>
                            <a:srgbClr val="2E2E2E"/>
                          </a:solidFill>
                          <a:latin typeface="Calibri"/>
                        </a:rPr>
                        <a:t>0.86</a:t>
                      </a:r>
                    </a:p>
                  </a:txBody>
                  <a:tcPr marL="85725" marR="38100" marT="19050" marB="19050" anchor="ctr">
                    <a:solidFill>
                      <a:srgbClr val="F5F8FA"/>
                    </a:solidFill>
                  </a:tcPr>
                </a:tc>
                <a:tc>
                  <a:txBody>
                    <a:bodyPr wrap="none"/>
                    <a:lstStyle/>
                    <a:p>
                      <a:pPr algn="l"/>
                      <a:r>
                        <a:rPr sz="800" b="0">
                          <a:solidFill>
                            <a:srgbClr val="2E2E2E"/>
                          </a:solidFill>
                          <a:latin typeface="Calibri"/>
                        </a:rPr>
                        <a:t>1.01</a:t>
                      </a:r>
                    </a:p>
                  </a:txBody>
                  <a:tcPr marL="85725" marR="38100" marT="19050" marB="19050" anchor="ctr">
                    <a:solidFill>
                      <a:srgbClr val="F5F8FA"/>
                    </a:solidFill>
                  </a:tcPr>
                </a:tc>
                <a:tc>
                  <a:txBody>
                    <a:bodyPr wrap="none"/>
                    <a:lstStyle/>
                    <a:p>
                      <a:pPr algn="l"/>
                      <a:r>
                        <a:rPr sz="800" b="0">
                          <a:solidFill>
                            <a:srgbClr val="2E2E2E"/>
                          </a:solidFill>
                          <a:latin typeface="Calibri"/>
                        </a:rPr>
                        <a:t>1.17</a:t>
                      </a:r>
                    </a:p>
                  </a:txBody>
                  <a:tcPr marL="85725" marR="38100" marT="19050" marB="19050" anchor="ctr">
                    <a:solidFill>
                      <a:srgbClr val="F5F8FA"/>
                    </a:solidFill>
                  </a:tcPr>
                </a:tc>
                <a:tc>
                  <a:txBody>
                    <a:bodyPr wrap="none"/>
                    <a:lstStyle/>
                    <a:p>
                      <a:pPr algn="l"/>
                      <a:r>
                        <a:rPr sz="800" b="0">
                          <a:solidFill>
                            <a:srgbClr val="2E2E2E"/>
                          </a:solidFill>
                          <a:latin typeface="Calibri"/>
                        </a:rPr>
                        <a:t>1.33</a:t>
                      </a:r>
                    </a:p>
                  </a:txBody>
                  <a:tcPr marL="85725" marR="38100" marT="19050" marB="19050" anchor="ctr">
                    <a:solidFill>
                      <a:srgbClr val="F5F8FA"/>
                    </a:solidFill>
                  </a:tcPr>
                </a:tc>
                <a:tc>
                  <a:txBody>
                    <a:bodyPr wrap="none"/>
                    <a:lstStyle/>
                    <a:p>
                      <a:pPr algn="l"/>
                      <a:r>
                        <a:rPr sz="800" b="0">
                          <a:solidFill>
                            <a:srgbClr val="2E2E2E"/>
                          </a:solidFill>
                          <a:latin typeface="Calibri"/>
                        </a:rPr>
                        <a:t>1.50</a:t>
                      </a:r>
                    </a:p>
                  </a:txBody>
                  <a:tcPr marL="85725" marR="38100" marT="19050" marB="19050" anchor="ctr">
                    <a:solidFill>
                      <a:srgbClr val="F5F8FA"/>
                    </a:solidFill>
                  </a:tcPr>
                </a:tc>
                <a:tc>
                  <a:txBody>
                    <a:bodyPr wrap="none"/>
                    <a:lstStyle/>
                    <a:p>
                      <a:pPr algn="l"/>
                      <a:r>
                        <a:rPr sz="800" b="0">
                          <a:solidFill>
                            <a:srgbClr val="2E2E2E"/>
                          </a:solidFill>
                          <a:latin typeface="Calibri"/>
                        </a:rPr>
                        <a:t>1.67</a:t>
                      </a:r>
                    </a:p>
                  </a:txBody>
                  <a:tcPr marL="85725" marR="38100" marT="19050" marB="19050" anchor="ctr">
                    <a:solidFill>
                      <a:srgbClr val="F5F8FA"/>
                    </a:solidFill>
                  </a:tcPr>
                </a:tc>
                <a:tc>
                  <a:txBody>
                    <a:bodyPr wrap="none"/>
                    <a:lstStyle/>
                    <a:p>
                      <a:pPr algn="l"/>
                      <a:r>
                        <a:rPr sz="800" b="0">
                          <a:solidFill>
                            <a:srgbClr val="2E2E2E"/>
                          </a:solidFill>
                          <a:latin typeface="Calibri"/>
                        </a:rPr>
                        <a:t>1.84</a:t>
                      </a:r>
                    </a:p>
                  </a:txBody>
                  <a:tcPr marL="85725" marR="38100" marT="19050" marB="19050" anchor="ctr">
                    <a:solidFill>
                      <a:srgbClr val="F5F8FA"/>
                    </a:solidFill>
                  </a:tcPr>
                </a:tc>
                <a:tc>
                  <a:txBody>
                    <a:bodyPr wrap="none"/>
                    <a:lstStyle/>
                    <a:p>
                      <a:pPr algn="l"/>
                      <a:r>
                        <a:rPr sz="800" b="0">
                          <a:solidFill>
                            <a:srgbClr val="2E2E2E"/>
                          </a:solidFill>
                          <a:latin typeface="Calibri"/>
                        </a:rPr>
                        <a:t>2.01</a:t>
                      </a:r>
                    </a:p>
                  </a:txBody>
                  <a:tcPr marL="85725" marR="38100" marT="19050" marB="19050" anchor="ctr">
                    <a:solidFill>
                      <a:srgbClr val="F5F8FA"/>
                    </a:solidFill>
                  </a:tcPr>
                </a:tc>
                <a:tc>
                  <a:txBody>
                    <a:bodyPr wrap="none"/>
                    <a:lstStyle/>
                    <a:p>
                      <a:pPr algn="l"/>
                      <a:r>
                        <a:rPr sz="800" b="0">
                          <a:solidFill>
                            <a:srgbClr val="2E2E2E"/>
                          </a:solidFill>
                          <a:latin typeface="Calibri"/>
                        </a:rPr>
                        <a:t>2.19</a:t>
                      </a:r>
                    </a:p>
                  </a:txBody>
                  <a:tcPr marL="85725" marR="38100" marT="19050" marB="19050" anchor="ctr">
                    <a:solidFill>
                      <a:srgbClr val="F5F8FA"/>
                    </a:solidFill>
                  </a:tcPr>
                </a:tc>
                <a:tc>
                  <a:txBody>
                    <a:bodyPr wrap="none"/>
                    <a:lstStyle/>
                    <a:p>
                      <a:pPr algn="l"/>
                      <a:r>
                        <a:rPr sz="800" b="0">
                          <a:solidFill>
                            <a:srgbClr val="2E2E2E"/>
                          </a:solidFill>
                          <a:latin typeface="Calibri"/>
                        </a:rPr>
                        <a:t>2.37</a:t>
                      </a:r>
                    </a:p>
                  </a:txBody>
                  <a:tcPr marL="85725" marR="38100" marT="19050" marB="19050" anchor="ctr">
                    <a:solidFill>
                      <a:srgbClr val="F5F8FA"/>
                    </a:solidFill>
                  </a:tcPr>
                </a:tc>
                <a:tc>
                  <a:txBody>
                    <a:bodyPr wrap="none"/>
                    <a:lstStyle/>
                    <a:p>
                      <a:pPr algn="l"/>
                      <a:r>
                        <a:rPr sz="800" b="0">
                          <a:solidFill>
                            <a:srgbClr val="2E2E2E"/>
                          </a:solidFill>
                          <a:latin typeface="Calibri"/>
                        </a:rPr>
                        <a:t>2.56</a:t>
                      </a:r>
                    </a:p>
                  </a:txBody>
                  <a:tcPr marL="85725" marR="38100" marT="19050" marB="19050" anchor="ctr">
                    <a:solidFill>
                      <a:srgbClr val="F5F8FA"/>
                    </a:solidFill>
                  </a:tcPr>
                </a:tc>
                <a:tc>
                  <a:txBody>
                    <a:bodyPr wrap="none"/>
                    <a:lstStyle/>
                    <a:p>
                      <a:pPr algn="l"/>
                      <a:r>
                        <a:rPr sz="800" b="0">
                          <a:solidFill>
                            <a:srgbClr val="2E2E2E"/>
                          </a:solidFill>
                          <a:latin typeface="Calibri"/>
                        </a:rPr>
                        <a:t>11.5%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1.06</a:t>
                      </a:r>
                    </a:p>
                  </a:txBody>
                  <a:tcPr marL="85725" marR="38100" marT="19050" marB="19050" anchor="ctr">
                    <a:solidFill>
                      <a:srgbClr val="E0E8EF"/>
                    </a:solidFill>
                  </a:tcPr>
                </a:tc>
                <a:tc>
                  <a:txBody>
                    <a:bodyPr wrap="none"/>
                    <a:lstStyle/>
                    <a:p>
                      <a:pPr algn="l"/>
                      <a:r>
                        <a:rPr sz="800" b="1">
                          <a:solidFill>
                            <a:srgbClr val="2E2E2E"/>
                          </a:solidFill>
                          <a:latin typeface="Calibri"/>
                        </a:rPr>
                        <a:t>1.24</a:t>
                      </a:r>
                    </a:p>
                  </a:txBody>
                  <a:tcPr marL="85725" marR="38100" marT="19050" marB="19050" anchor="ctr">
                    <a:solidFill>
                      <a:srgbClr val="E0E8EF"/>
                    </a:solidFill>
                  </a:tcPr>
                </a:tc>
                <a:tc>
                  <a:txBody>
                    <a:bodyPr wrap="none"/>
                    <a:lstStyle/>
                    <a:p>
                      <a:pPr algn="l"/>
                      <a:r>
                        <a:rPr sz="800" b="1">
                          <a:solidFill>
                            <a:srgbClr val="2E2E2E"/>
                          </a:solidFill>
                          <a:latin typeface="Calibri"/>
                        </a:rPr>
                        <a:t>1.54</a:t>
                      </a:r>
                    </a:p>
                  </a:txBody>
                  <a:tcPr marL="85725" marR="38100" marT="19050" marB="19050" anchor="ctr">
                    <a:solidFill>
                      <a:srgbClr val="E0E8EF"/>
                    </a:solidFill>
                  </a:tcPr>
                </a:tc>
                <a:tc>
                  <a:txBody>
                    <a:bodyPr wrap="none"/>
                    <a:lstStyle/>
                    <a:p>
                      <a:pPr algn="l"/>
                      <a:r>
                        <a:rPr sz="800" b="1">
                          <a:solidFill>
                            <a:srgbClr val="2E2E2E"/>
                          </a:solidFill>
                          <a:latin typeface="Calibri"/>
                        </a:rPr>
                        <a:t>1.97</a:t>
                      </a:r>
                    </a:p>
                  </a:txBody>
                  <a:tcPr marL="85725" marR="38100" marT="19050" marB="19050" anchor="ctr">
                    <a:solidFill>
                      <a:srgbClr val="E0E8EF"/>
                    </a:solidFill>
                  </a:tcPr>
                </a:tc>
                <a:tc>
                  <a:txBody>
                    <a:bodyPr wrap="none"/>
                    <a:lstStyle/>
                    <a:p>
                      <a:pPr algn="l"/>
                      <a:r>
                        <a:rPr sz="800" b="1">
                          <a:solidFill>
                            <a:srgbClr val="2E2E2E"/>
                          </a:solidFill>
                          <a:latin typeface="Calibri"/>
                        </a:rPr>
                        <a:t>2.46</a:t>
                      </a:r>
                    </a:p>
                  </a:txBody>
                  <a:tcPr marL="85725" marR="38100" marT="19050" marB="19050" anchor="ctr">
                    <a:solidFill>
                      <a:srgbClr val="E0E8EF"/>
                    </a:solidFill>
                  </a:tcPr>
                </a:tc>
                <a:tc>
                  <a:txBody>
                    <a:bodyPr wrap="none"/>
                    <a:lstStyle/>
                    <a:p>
                      <a:pPr algn="l"/>
                      <a:r>
                        <a:rPr sz="800" b="1">
                          <a:solidFill>
                            <a:srgbClr val="2E2E2E"/>
                          </a:solidFill>
                          <a:latin typeface="Calibri"/>
                        </a:rPr>
                        <a:t>2.98</a:t>
                      </a:r>
                    </a:p>
                  </a:txBody>
                  <a:tcPr marL="85725" marR="38100" marT="19050" marB="19050" anchor="ctr">
                    <a:solidFill>
                      <a:srgbClr val="E0E8EF"/>
                    </a:solidFill>
                  </a:tcPr>
                </a:tc>
                <a:tc>
                  <a:txBody>
                    <a:bodyPr wrap="none"/>
                    <a:lstStyle/>
                    <a:p>
                      <a:pPr algn="l"/>
                      <a:r>
                        <a:rPr sz="800" b="1">
                          <a:solidFill>
                            <a:srgbClr val="2E2E2E"/>
                          </a:solidFill>
                          <a:latin typeface="Calibri"/>
                        </a:rPr>
                        <a:t>3.56</a:t>
                      </a:r>
                    </a:p>
                  </a:txBody>
                  <a:tcPr marL="85725" marR="38100" marT="19050" marB="19050" anchor="ctr">
                    <a:solidFill>
                      <a:srgbClr val="E0E8EF"/>
                    </a:solidFill>
                  </a:tcPr>
                </a:tc>
                <a:tc>
                  <a:txBody>
                    <a:bodyPr wrap="none"/>
                    <a:lstStyle/>
                    <a:p>
                      <a:pPr algn="l"/>
                      <a:r>
                        <a:rPr sz="800" b="1">
                          <a:solidFill>
                            <a:srgbClr val="2E2E2E"/>
                          </a:solidFill>
                          <a:latin typeface="Calibri"/>
                        </a:rPr>
                        <a:t>4.15</a:t>
                      </a:r>
                    </a:p>
                  </a:txBody>
                  <a:tcPr marL="85725" marR="38100" marT="19050" marB="19050" anchor="ctr">
                    <a:solidFill>
                      <a:srgbClr val="E0E8EF"/>
                    </a:solidFill>
                  </a:tcPr>
                </a:tc>
                <a:tc>
                  <a:txBody>
                    <a:bodyPr wrap="none"/>
                    <a:lstStyle/>
                    <a:p>
                      <a:pPr algn="l"/>
                      <a:r>
                        <a:rPr sz="800" b="1">
                          <a:solidFill>
                            <a:srgbClr val="2E2E2E"/>
                          </a:solidFill>
                          <a:latin typeface="Calibri"/>
                        </a:rPr>
                        <a:t>4.77</a:t>
                      </a:r>
                    </a:p>
                  </a:txBody>
                  <a:tcPr marL="85725" marR="38100" marT="19050" marB="19050" anchor="ctr">
                    <a:solidFill>
                      <a:srgbClr val="E0E8EF"/>
                    </a:solidFill>
                  </a:tcPr>
                </a:tc>
                <a:tc>
                  <a:txBody>
                    <a:bodyPr wrap="none"/>
                    <a:lstStyle/>
                    <a:p>
                      <a:pPr algn="l"/>
                      <a:r>
                        <a:rPr sz="800" b="1">
                          <a:solidFill>
                            <a:srgbClr val="2E2E2E"/>
                          </a:solidFill>
                          <a:latin typeface="Calibri"/>
                        </a:rPr>
                        <a:t>5.42</a:t>
                      </a:r>
                    </a:p>
                  </a:txBody>
                  <a:tcPr marL="85725" marR="38100" marT="19050" marB="19050" anchor="ctr">
                    <a:solidFill>
                      <a:srgbClr val="E0E8EF"/>
                    </a:solidFill>
                  </a:tcPr>
                </a:tc>
                <a:tc>
                  <a:txBody>
                    <a:bodyPr wrap="none"/>
                    <a:lstStyle/>
                    <a:p>
                      <a:pPr algn="l"/>
                      <a:r>
                        <a:rPr sz="800" b="1">
                          <a:solidFill>
                            <a:srgbClr val="2E2E2E"/>
                          </a:solidFill>
                          <a:latin typeface="Calibri"/>
                        </a:rPr>
                        <a:t>6.10</a:t>
                      </a:r>
                    </a:p>
                  </a:txBody>
                  <a:tcPr marL="85725" marR="38100" marT="19050" marB="19050" anchor="ctr">
                    <a:solidFill>
                      <a:srgbClr val="E0E8EF"/>
                    </a:solidFill>
                  </a:tcPr>
                </a:tc>
                <a:tc>
                  <a:txBody>
                    <a:bodyPr wrap="none"/>
                    <a:lstStyle/>
                    <a:p>
                      <a:pPr algn="l"/>
                      <a:r>
                        <a:rPr sz="800" b="1">
                          <a:solidFill>
                            <a:srgbClr val="2E2E2E"/>
                          </a:solidFill>
                          <a:latin typeface="Calibri"/>
                        </a:rPr>
                        <a:t>6.81</a:t>
                      </a:r>
                    </a:p>
                  </a:txBody>
                  <a:tcPr marL="85725" marR="38100" marT="19050" marB="19050" anchor="ctr">
                    <a:solidFill>
                      <a:srgbClr val="E0E8EF"/>
                    </a:solidFill>
                  </a:tcPr>
                </a:tc>
                <a:tc>
                  <a:txBody>
                    <a:bodyPr wrap="none"/>
                    <a:lstStyle/>
                    <a:p>
                      <a:pPr algn="l"/>
                      <a:r>
                        <a:rPr sz="800" b="1">
                          <a:solidFill>
                            <a:srgbClr val="2E2E2E"/>
                          </a:solidFill>
                          <a:latin typeface="Calibri"/>
                        </a:rPr>
                        <a:t>7.53</a:t>
                      </a:r>
                    </a:p>
                  </a:txBody>
                  <a:tcPr marL="85725" marR="38100" marT="19050" marB="19050" anchor="ctr">
                    <a:solidFill>
                      <a:srgbClr val="E0E8EF"/>
                    </a:solidFill>
                  </a:tcPr>
                </a:tc>
                <a:tc>
                  <a:txBody>
                    <a:bodyPr wrap="none"/>
                    <a:lstStyle/>
                    <a:p>
                      <a:pPr algn="l"/>
                      <a:r>
                        <a:rPr sz="800" b="1">
                          <a:solidFill>
                            <a:srgbClr val="2E2E2E"/>
                          </a:solidFill>
                          <a:latin typeface="Calibri"/>
                        </a:rPr>
                        <a:t>8.29</a:t>
                      </a:r>
                    </a:p>
                  </a:txBody>
                  <a:tcPr marL="85725" marR="38100" marT="19050" marB="19050" anchor="ctr">
                    <a:solidFill>
                      <a:srgbClr val="E0E8EF"/>
                    </a:solidFill>
                  </a:tcPr>
                </a:tc>
                <a:tc>
                  <a:txBody>
                    <a:bodyPr wrap="none"/>
                    <a:lstStyle/>
                    <a:p>
                      <a:pPr algn="l"/>
                      <a:r>
                        <a:rPr sz="800" b="1">
                          <a:solidFill>
                            <a:srgbClr val="2E2E2E"/>
                          </a:solidFill>
                          <a:latin typeface="Calibri"/>
                        </a:rPr>
                        <a:t>9.08</a:t>
                      </a:r>
                    </a:p>
                  </a:txBody>
                  <a:tcPr marL="85725" marR="38100" marT="19050" marB="19050" anchor="ctr">
                    <a:solidFill>
                      <a:srgbClr val="E0E8EF"/>
                    </a:solidFill>
                  </a:tcPr>
                </a:tc>
                <a:tc>
                  <a:txBody>
                    <a:bodyPr wrap="none"/>
                    <a:lstStyle/>
                    <a:p>
                      <a:pPr algn="l"/>
                      <a:r>
                        <a:rPr sz="800" b="1">
                          <a:solidFill>
                            <a:srgbClr val="2E2E2E"/>
                          </a:solidFill>
                          <a:latin typeface="Calibri"/>
                        </a:rPr>
                        <a:t>9.91</a:t>
                      </a:r>
                    </a:p>
                  </a:txBody>
                  <a:tcPr marL="85725" marR="38100" marT="19050" marB="19050" anchor="ctr">
                    <a:solidFill>
                      <a:srgbClr val="E0E8EF"/>
                    </a:solidFill>
                  </a:tcPr>
                </a:tc>
                <a:tc>
                  <a:txBody>
                    <a:bodyPr wrap="none"/>
                    <a:lstStyle/>
                    <a:p>
                      <a:pPr algn="l"/>
                      <a:r>
                        <a:rPr sz="800" b="1">
                          <a:solidFill>
                            <a:srgbClr val="2E2E2E"/>
                          </a:solidFill>
                          <a:latin typeface="Calibri"/>
                        </a:rPr>
                        <a:t>12.7%</a:t>
                      </a:r>
                    </a:p>
                  </a:txBody>
                  <a:tcPr marL="85725" marR="38100" marT="19050" marB="19050" anchor="ctr">
                    <a:solidFill>
                      <a:srgbClr val="E0E8EF"/>
                    </a:solidFill>
                  </a:tcPr>
                </a:tc>
              </a:tr>
            </a:tbl>
          </a:graphicData>
        </a:graphic>
      </p:graphicFrame>
      <p:sp>
        <p:nvSpPr>
          <p:cNvPr id="14" name="TextBox 13"/>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Value, By Sales / Distribution Channel (US$ Mn)</a:t>
            </a:r>
          </a:p>
        </p:txBody>
      </p:sp>
      <p:graphicFrame>
        <p:nvGraphicFramePr>
          <p:cNvPr id="17" name="Table 16"/>
          <p:cNvGraphicFramePr>
            <a:graphicFrameLocks noGrp="1"/>
          </p:cNvGraphicFramePr>
          <p:nvPr/>
        </p:nvGraphicFramePr>
        <p:xfrm>
          <a:off x="238125" y="4143375"/>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Sales / Distribution Channel</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Direct Institutional Sales</a:t>
                      </a:r>
                    </a:p>
                  </a:txBody>
                  <a:tcPr marL="85725" marR="38100" marT="19050" marB="19050" anchor="ctr">
                    <a:solidFill>
                      <a:srgbClr val="FFFFFF"/>
                    </a:solidFill>
                  </a:tcPr>
                </a:tc>
                <a:tc>
                  <a:txBody>
                    <a:bodyPr wrap="none"/>
                    <a:lstStyle/>
                    <a:p>
                      <a:pPr algn="l"/>
                      <a:r>
                        <a:rPr sz="800" b="0">
                          <a:solidFill>
                            <a:srgbClr val="2E2E2E"/>
                          </a:solidFill>
                          <a:latin typeface="Calibri"/>
                        </a:rPr>
                        <a:t>115.0</a:t>
                      </a:r>
                    </a:p>
                  </a:txBody>
                  <a:tcPr marL="85725" marR="38100" marT="19050" marB="19050" anchor="ctr">
                    <a:solidFill>
                      <a:srgbClr val="FFFFFF"/>
                    </a:solidFill>
                  </a:tcPr>
                </a:tc>
                <a:tc>
                  <a:txBody>
                    <a:bodyPr wrap="none"/>
                    <a:lstStyle/>
                    <a:p>
                      <a:pPr algn="l"/>
                      <a:r>
                        <a:rPr sz="800" b="0">
                          <a:solidFill>
                            <a:srgbClr val="2E2E2E"/>
                          </a:solidFill>
                          <a:latin typeface="Calibri"/>
                        </a:rPr>
                        <a:t>129.7</a:t>
                      </a:r>
                    </a:p>
                  </a:txBody>
                  <a:tcPr marL="85725" marR="38100" marT="19050" marB="19050" anchor="ctr">
                    <a:solidFill>
                      <a:srgbClr val="FFFFFF"/>
                    </a:solidFill>
                  </a:tcPr>
                </a:tc>
                <a:tc>
                  <a:txBody>
                    <a:bodyPr wrap="none"/>
                    <a:lstStyle/>
                    <a:p>
                      <a:pPr algn="l"/>
                      <a:r>
                        <a:rPr sz="800" b="0">
                          <a:solidFill>
                            <a:srgbClr val="2E2E2E"/>
                          </a:solidFill>
                          <a:latin typeface="Calibri"/>
                        </a:rPr>
                        <a:t>155.2</a:t>
                      </a:r>
                    </a:p>
                  </a:txBody>
                  <a:tcPr marL="85725" marR="38100" marT="19050" marB="19050" anchor="ctr">
                    <a:solidFill>
                      <a:srgbClr val="FFFFFF"/>
                    </a:solidFill>
                  </a:tcPr>
                </a:tc>
                <a:tc>
                  <a:txBody>
                    <a:bodyPr wrap="none"/>
                    <a:lstStyle/>
                    <a:p>
                      <a:pPr algn="l"/>
                      <a:r>
                        <a:rPr sz="800" b="0">
                          <a:solidFill>
                            <a:srgbClr val="2E2E2E"/>
                          </a:solidFill>
                          <a:latin typeface="Calibri"/>
                        </a:rPr>
                        <a:t>191.7</a:t>
                      </a:r>
                    </a:p>
                  </a:txBody>
                  <a:tcPr marL="85725" marR="38100" marT="19050" marB="19050" anchor="ctr">
                    <a:solidFill>
                      <a:srgbClr val="FFFFFF"/>
                    </a:solidFill>
                  </a:tcPr>
                </a:tc>
                <a:tc>
                  <a:txBody>
                    <a:bodyPr wrap="none"/>
                    <a:lstStyle/>
                    <a:p>
                      <a:pPr algn="l"/>
                      <a:r>
                        <a:rPr sz="800" b="0">
                          <a:solidFill>
                            <a:srgbClr val="2E2E2E"/>
                          </a:solidFill>
                          <a:latin typeface="Calibri"/>
                        </a:rPr>
                        <a:t>231.7</a:t>
                      </a:r>
                    </a:p>
                  </a:txBody>
                  <a:tcPr marL="85725" marR="38100" marT="19050" marB="19050" anchor="ctr">
                    <a:solidFill>
                      <a:srgbClr val="FFFFFF"/>
                    </a:solidFill>
                  </a:tcPr>
                </a:tc>
                <a:tc>
                  <a:txBody>
                    <a:bodyPr wrap="none"/>
                    <a:lstStyle/>
                    <a:p>
                      <a:pPr algn="l"/>
                      <a:r>
                        <a:rPr sz="800" b="0">
                          <a:solidFill>
                            <a:srgbClr val="2E2E2E"/>
                          </a:solidFill>
                          <a:latin typeface="Calibri"/>
                        </a:rPr>
                        <a:t>271.6</a:t>
                      </a:r>
                    </a:p>
                  </a:txBody>
                  <a:tcPr marL="85725" marR="38100" marT="19050" marB="19050" anchor="ctr">
                    <a:solidFill>
                      <a:srgbClr val="FFFFFF"/>
                    </a:solidFill>
                  </a:tcPr>
                </a:tc>
                <a:tc>
                  <a:txBody>
                    <a:bodyPr wrap="none"/>
                    <a:lstStyle/>
                    <a:p>
                      <a:pPr algn="l"/>
                      <a:r>
                        <a:rPr sz="800" b="0">
                          <a:solidFill>
                            <a:srgbClr val="2E2E2E"/>
                          </a:solidFill>
                          <a:latin typeface="Calibri"/>
                        </a:rPr>
                        <a:t>312.6</a:t>
                      </a:r>
                    </a:p>
                  </a:txBody>
                  <a:tcPr marL="85725" marR="38100" marT="19050" marB="19050" anchor="ctr">
                    <a:solidFill>
                      <a:srgbClr val="FFFFFF"/>
                    </a:solidFill>
                  </a:tcPr>
                </a:tc>
                <a:tc>
                  <a:txBody>
                    <a:bodyPr wrap="none"/>
                    <a:lstStyle/>
                    <a:p>
                      <a:pPr algn="l"/>
                      <a:r>
                        <a:rPr sz="800" b="0">
                          <a:solidFill>
                            <a:srgbClr val="2E2E2E"/>
                          </a:solidFill>
                          <a:latin typeface="Calibri"/>
                        </a:rPr>
                        <a:t>352.5</a:t>
                      </a:r>
                    </a:p>
                  </a:txBody>
                  <a:tcPr marL="85725" marR="38100" marT="19050" marB="19050" anchor="ctr">
                    <a:solidFill>
                      <a:srgbClr val="FFFFFF"/>
                    </a:solidFill>
                  </a:tcPr>
                </a:tc>
                <a:tc>
                  <a:txBody>
                    <a:bodyPr wrap="none"/>
                    <a:lstStyle/>
                    <a:p>
                      <a:pPr algn="l"/>
                      <a:r>
                        <a:rPr sz="800" b="0">
                          <a:solidFill>
                            <a:srgbClr val="2E2E2E"/>
                          </a:solidFill>
                          <a:latin typeface="Calibri"/>
                        </a:rPr>
                        <a:t>391.7</a:t>
                      </a:r>
                    </a:p>
                  </a:txBody>
                  <a:tcPr marL="85725" marR="38100" marT="19050" marB="19050" anchor="ctr">
                    <a:solidFill>
                      <a:srgbClr val="FFFFFF"/>
                    </a:solidFill>
                  </a:tcPr>
                </a:tc>
                <a:tc>
                  <a:txBody>
                    <a:bodyPr wrap="none"/>
                    <a:lstStyle/>
                    <a:p>
                      <a:pPr algn="l"/>
                      <a:r>
                        <a:rPr sz="800" b="0">
                          <a:solidFill>
                            <a:srgbClr val="2E2E2E"/>
                          </a:solidFill>
                          <a:latin typeface="Calibri"/>
                        </a:rPr>
                        <a:t>430.1</a:t>
                      </a:r>
                    </a:p>
                  </a:txBody>
                  <a:tcPr marL="85725" marR="38100" marT="19050" marB="19050" anchor="ctr">
                    <a:solidFill>
                      <a:srgbClr val="FFFFFF"/>
                    </a:solidFill>
                  </a:tcPr>
                </a:tc>
                <a:tc>
                  <a:txBody>
                    <a:bodyPr wrap="none"/>
                    <a:lstStyle/>
                    <a:p>
                      <a:pPr algn="l"/>
                      <a:r>
                        <a:rPr sz="800" b="0">
                          <a:solidFill>
                            <a:srgbClr val="2E2E2E"/>
                          </a:solidFill>
                          <a:latin typeface="Calibri"/>
                        </a:rPr>
                        <a:t>467.5</a:t>
                      </a:r>
                    </a:p>
                  </a:txBody>
                  <a:tcPr marL="85725" marR="38100" marT="19050" marB="19050" anchor="ctr">
                    <a:solidFill>
                      <a:srgbClr val="FFFFFF"/>
                    </a:solidFill>
                  </a:tcPr>
                </a:tc>
                <a:tc>
                  <a:txBody>
                    <a:bodyPr wrap="none"/>
                    <a:lstStyle/>
                    <a:p>
                      <a:pPr algn="l"/>
                      <a:r>
                        <a:rPr sz="800" b="0">
                          <a:solidFill>
                            <a:srgbClr val="2E2E2E"/>
                          </a:solidFill>
                          <a:latin typeface="Calibri"/>
                        </a:rPr>
                        <a:t>503.8</a:t>
                      </a:r>
                    </a:p>
                  </a:txBody>
                  <a:tcPr marL="85725" marR="38100" marT="19050" marB="19050" anchor="ctr">
                    <a:solidFill>
                      <a:srgbClr val="FFFFFF"/>
                    </a:solidFill>
                  </a:tcPr>
                </a:tc>
                <a:tc>
                  <a:txBody>
                    <a:bodyPr wrap="none"/>
                    <a:lstStyle/>
                    <a:p>
                      <a:pPr algn="l"/>
                      <a:r>
                        <a:rPr sz="800" b="0">
                          <a:solidFill>
                            <a:srgbClr val="2E2E2E"/>
                          </a:solidFill>
                          <a:latin typeface="Calibri"/>
                        </a:rPr>
                        <a:t>538.8</a:t>
                      </a:r>
                    </a:p>
                  </a:txBody>
                  <a:tcPr marL="85725" marR="38100" marT="19050" marB="19050" anchor="ctr">
                    <a:solidFill>
                      <a:srgbClr val="FFFFFF"/>
                    </a:solidFill>
                  </a:tcPr>
                </a:tc>
                <a:tc>
                  <a:txBody>
                    <a:bodyPr wrap="none"/>
                    <a:lstStyle/>
                    <a:p>
                      <a:pPr algn="l"/>
                      <a:r>
                        <a:rPr sz="800" b="0">
                          <a:solidFill>
                            <a:srgbClr val="2E2E2E"/>
                          </a:solidFill>
                          <a:latin typeface="Calibri"/>
                        </a:rPr>
                        <a:t>572.8</a:t>
                      </a:r>
                    </a:p>
                  </a:txBody>
                  <a:tcPr marL="85725" marR="38100" marT="19050" marB="19050" anchor="ctr">
                    <a:solidFill>
                      <a:srgbClr val="FFFFFF"/>
                    </a:solidFill>
                  </a:tcPr>
                </a:tc>
                <a:tc>
                  <a:txBody>
                    <a:bodyPr wrap="none"/>
                    <a:lstStyle/>
                    <a:p>
                      <a:pPr algn="l"/>
                      <a:r>
                        <a:rPr sz="800" b="0">
                          <a:solidFill>
                            <a:srgbClr val="2E2E2E"/>
                          </a:solidFill>
                          <a:latin typeface="Calibri"/>
                        </a:rPr>
                        <a:t>606.1</a:t>
                      </a:r>
                    </a:p>
                  </a:txBody>
                  <a:tcPr marL="85725" marR="38100" marT="19050" marB="19050" anchor="ctr">
                    <a:solidFill>
                      <a:srgbClr val="FFFFFF"/>
                    </a:solidFill>
                  </a:tcPr>
                </a:tc>
                <a:tc>
                  <a:txBody>
                    <a:bodyPr wrap="none"/>
                    <a:lstStyle/>
                    <a:p>
                      <a:pPr algn="l"/>
                      <a:r>
                        <a:rPr sz="800" b="0">
                          <a:solidFill>
                            <a:srgbClr val="2E2E2E"/>
                          </a:solidFill>
                          <a:latin typeface="Calibri"/>
                        </a:rPr>
                        <a:t>638.8</a:t>
                      </a:r>
                    </a:p>
                  </a:txBody>
                  <a:tcPr marL="85725" marR="38100" marT="19050" marB="19050" anchor="ctr">
                    <a:solidFill>
                      <a:srgbClr val="FFFFFF"/>
                    </a:solidFill>
                  </a:tcPr>
                </a:tc>
                <a:tc>
                  <a:txBody>
                    <a:bodyPr wrap="none"/>
                    <a:lstStyle/>
                    <a:p>
                      <a:pPr algn="l"/>
                      <a:r>
                        <a:rPr sz="800" b="0">
                          <a:solidFill>
                            <a:srgbClr val="2E2E2E"/>
                          </a:solidFill>
                          <a:latin typeface="Calibri"/>
                        </a:rPr>
                        <a:t>8.9%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Specialty Distribution</a:t>
                      </a:r>
                    </a:p>
                  </a:txBody>
                  <a:tcPr marL="85725" marR="38100" marT="19050" marB="19050" anchor="ctr">
                    <a:solidFill>
                      <a:srgbClr val="F5F8FA"/>
                    </a:solidFill>
                  </a:tcPr>
                </a:tc>
                <a:tc>
                  <a:txBody>
                    <a:bodyPr wrap="none"/>
                    <a:lstStyle/>
                    <a:p>
                      <a:pPr algn="l"/>
                      <a:r>
                        <a:rPr sz="800" b="0">
                          <a:solidFill>
                            <a:srgbClr val="2E2E2E"/>
                          </a:solidFill>
                          <a:latin typeface="Calibri"/>
                        </a:rPr>
                        <a:t>173.3</a:t>
                      </a:r>
                    </a:p>
                  </a:txBody>
                  <a:tcPr marL="85725" marR="38100" marT="19050" marB="19050" anchor="ctr">
                    <a:solidFill>
                      <a:srgbClr val="F5F8FA"/>
                    </a:solidFill>
                  </a:tcPr>
                </a:tc>
                <a:tc>
                  <a:txBody>
                    <a:bodyPr wrap="none"/>
                    <a:lstStyle/>
                    <a:p>
                      <a:pPr algn="l"/>
                      <a:r>
                        <a:rPr sz="800" b="0">
                          <a:solidFill>
                            <a:srgbClr val="2E2E2E"/>
                          </a:solidFill>
                          <a:latin typeface="Calibri"/>
                        </a:rPr>
                        <a:t>195.7</a:t>
                      </a:r>
                    </a:p>
                  </a:txBody>
                  <a:tcPr marL="85725" marR="38100" marT="19050" marB="19050" anchor="ctr">
                    <a:solidFill>
                      <a:srgbClr val="F5F8FA"/>
                    </a:solidFill>
                  </a:tcPr>
                </a:tc>
                <a:tc>
                  <a:txBody>
                    <a:bodyPr wrap="none"/>
                    <a:lstStyle/>
                    <a:p>
                      <a:pPr algn="l"/>
                      <a:r>
                        <a:rPr sz="800" b="0">
                          <a:solidFill>
                            <a:srgbClr val="2E2E2E"/>
                          </a:solidFill>
                          <a:latin typeface="Calibri"/>
                        </a:rPr>
                        <a:t>234.3</a:t>
                      </a:r>
                    </a:p>
                  </a:txBody>
                  <a:tcPr marL="85725" marR="38100" marT="19050" marB="19050" anchor="ctr">
                    <a:solidFill>
                      <a:srgbClr val="F5F8FA"/>
                    </a:solidFill>
                  </a:tcPr>
                </a:tc>
                <a:tc>
                  <a:txBody>
                    <a:bodyPr wrap="none"/>
                    <a:lstStyle/>
                    <a:p>
                      <a:pPr algn="l"/>
                      <a:r>
                        <a:rPr sz="800" b="0">
                          <a:solidFill>
                            <a:srgbClr val="2E2E2E"/>
                          </a:solidFill>
                          <a:latin typeface="Calibri"/>
                        </a:rPr>
                        <a:t>289.7</a:t>
                      </a:r>
                    </a:p>
                  </a:txBody>
                  <a:tcPr marL="85725" marR="38100" marT="19050" marB="19050" anchor="ctr">
                    <a:solidFill>
                      <a:srgbClr val="F5F8FA"/>
                    </a:solidFill>
                  </a:tcPr>
                </a:tc>
                <a:tc>
                  <a:txBody>
                    <a:bodyPr wrap="none"/>
                    <a:lstStyle/>
                    <a:p>
                      <a:pPr algn="l"/>
                      <a:r>
                        <a:rPr sz="800" b="0">
                          <a:solidFill>
                            <a:srgbClr val="2E2E2E"/>
                          </a:solidFill>
                          <a:latin typeface="Calibri"/>
                        </a:rPr>
                        <a:t>350.5</a:t>
                      </a:r>
                    </a:p>
                  </a:txBody>
                  <a:tcPr marL="85725" marR="38100" marT="19050" marB="19050" anchor="ctr">
                    <a:solidFill>
                      <a:srgbClr val="F5F8FA"/>
                    </a:solidFill>
                  </a:tcPr>
                </a:tc>
                <a:tc>
                  <a:txBody>
                    <a:bodyPr wrap="none"/>
                    <a:lstStyle/>
                    <a:p>
                      <a:pPr algn="l"/>
                      <a:r>
                        <a:rPr sz="800" b="0">
                          <a:solidFill>
                            <a:srgbClr val="2E2E2E"/>
                          </a:solidFill>
                          <a:latin typeface="Calibri"/>
                        </a:rPr>
                        <a:t>411.5</a:t>
                      </a:r>
                    </a:p>
                  </a:txBody>
                  <a:tcPr marL="85725" marR="38100" marT="19050" marB="19050" anchor="ctr">
                    <a:solidFill>
                      <a:srgbClr val="F5F8FA"/>
                    </a:solidFill>
                  </a:tcPr>
                </a:tc>
                <a:tc>
                  <a:txBody>
                    <a:bodyPr wrap="none"/>
                    <a:lstStyle/>
                    <a:p>
                      <a:pPr algn="l"/>
                      <a:r>
                        <a:rPr sz="800" b="0">
                          <a:solidFill>
                            <a:srgbClr val="2E2E2E"/>
                          </a:solidFill>
                          <a:latin typeface="Calibri"/>
                        </a:rPr>
                        <a:t>474.3</a:t>
                      </a:r>
                    </a:p>
                  </a:txBody>
                  <a:tcPr marL="85725" marR="38100" marT="19050" marB="19050" anchor="ctr">
                    <a:solidFill>
                      <a:srgbClr val="F5F8FA"/>
                    </a:solidFill>
                  </a:tcPr>
                </a:tc>
                <a:tc>
                  <a:txBody>
                    <a:bodyPr wrap="none"/>
                    <a:lstStyle/>
                    <a:p>
                      <a:pPr algn="l"/>
                      <a:r>
                        <a:rPr sz="800" b="0">
                          <a:solidFill>
                            <a:srgbClr val="2E2E2E"/>
                          </a:solidFill>
                          <a:latin typeface="Calibri"/>
                        </a:rPr>
                        <a:t>535.9</a:t>
                      </a:r>
                    </a:p>
                  </a:txBody>
                  <a:tcPr marL="85725" marR="38100" marT="19050" marB="19050" anchor="ctr">
                    <a:solidFill>
                      <a:srgbClr val="F5F8FA"/>
                    </a:solidFill>
                  </a:tcPr>
                </a:tc>
                <a:tc>
                  <a:txBody>
                    <a:bodyPr wrap="none"/>
                    <a:lstStyle/>
                    <a:p>
                      <a:pPr algn="l"/>
                      <a:r>
                        <a:rPr sz="800" b="0">
                          <a:solidFill>
                            <a:srgbClr val="2E2E2E"/>
                          </a:solidFill>
                          <a:latin typeface="Calibri"/>
                        </a:rPr>
                        <a:t>596.8</a:t>
                      </a:r>
                    </a:p>
                  </a:txBody>
                  <a:tcPr marL="85725" marR="38100" marT="19050" marB="19050" anchor="ctr">
                    <a:solidFill>
                      <a:srgbClr val="F5F8FA"/>
                    </a:solidFill>
                  </a:tcPr>
                </a:tc>
                <a:tc>
                  <a:txBody>
                    <a:bodyPr wrap="none"/>
                    <a:lstStyle/>
                    <a:p>
                      <a:pPr algn="l"/>
                      <a:r>
                        <a:rPr sz="800" b="0">
                          <a:solidFill>
                            <a:srgbClr val="2E2E2E"/>
                          </a:solidFill>
                          <a:latin typeface="Calibri"/>
                        </a:rPr>
                        <a:t>657.0</a:t>
                      </a:r>
                    </a:p>
                  </a:txBody>
                  <a:tcPr marL="85725" marR="38100" marT="19050" marB="19050" anchor="ctr">
                    <a:solidFill>
                      <a:srgbClr val="F5F8FA"/>
                    </a:solidFill>
                  </a:tcPr>
                </a:tc>
                <a:tc>
                  <a:txBody>
                    <a:bodyPr wrap="none"/>
                    <a:lstStyle/>
                    <a:p>
                      <a:pPr algn="l"/>
                      <a:r>
                        <a:rPr sz="800" b="0">
                          <a:solidFill>
                            <a:srgbClr val="2E2E2E"/>
                          </a:solidFill>
                          <a:latin typeface="Calibri"/>
                        </a:rPr>
                        <a:t>716.0</a:t>
                      </a:r>
                    </a:p>
                  </a:txBody>
                  <a:tcPr marL="85725" marR="38100" marT="19050" marB="19050" anchor="ctr">
                    <a:solidFill>
                      <a:srgbClr val="F5F8FA"/>
                    </a:solidFill>
                  </a:tcPr>
                </a:tc>
                <a:tc>
                  <a:txBody>
                    <a:bodyPr wrap="none"/>
                    <a:lstStyle/>
                    <a:p>
                      <a:pPr algn="l"/>
                      <a:r>
                        <a:rPr sz="800" b="0">
                          <a:solidFill>
                            <a:srgbClr val="2E2E2E"/>
                          </a:solidFill>
                          <a:latin typeface="Calibri"/>
                        </a:rPr>
                        <a:t>773.9</a:t>
                      </a:r>
                    </a:p>
                  </a:txBody>
                  <a:tcPr marL="85725" marR="38100" marT="19050" marB="19050" anchor="ctr">
                    <a:solidFill>
                      <a:srgbClr val="F5F8FA"/>
                    </a:solidFill>
                  </a:tcPr>
                </a:tc>
                <a:tc>
                  <a:txBody>
                    <a:bodyPr wrap="none"/>
                    <a:lstStyle/>
                    <a:p>
                      <a:pPr algn="l"/>
                      <a:r>
                        <a:rPr sz="800" b="0">
                          <a:solidFill>
                            <a:srgbClr val="2E2E2E"/>
                          </a:solidFill>
                          <a:latin typeface="Calibri"/>
                        </a:rPr>
                        <a:t>830.3</a:t>
                      </a:r>
                    </a:p>
                  </a:txBody>
                  <a:tcPr marL="85725" marR="38100" marT="19050" marB="19050" anchor="ctr">
                    <a:solidFill>
                      <a:srgbClr val="F5F8FA"/>
                    </a:solidFill>
                  </a:tcPr>
                </a:tc>
                <a:tc>
                  <a:txBody>
                    <a:bodyPr wrap="none"/>
                    <a:lstStyle/>
                    <a:p>
                      <a:pPr algn="l"/>
                      <a:r>
                        <a:rPr sz="800" b="0">
                          <a:solidFill>
                            <a:srgbClr val="2E2E2E"/>
                          </a:solidFill>
                          <a:latin typeface="Calibri"/>
                        </a:rPr>
                        <a:t>886.0</a:t>
                      </a:r>
                    </a:p>
                  </a:txBody>
                  <a:tcPr marL="85725" marR="38100" marT="19050" marB="19050" anchor="ctr">
                    <a:solidFill>
                      <a:srgbClr val="F5F8FA"/>
                    </a:solidFill>
                  </a:tcPr>
                </a:tc>
                <a:tc>
                  <a:txBody>
                    <a:bodyPr wrap="none"/>
                    <a:lstStyle/>
                    <a:p>
                      <a:pPr algn="l"/>
                      <a:r>
                        <a:rPr sz="800" b="0">
                          <a:solidFill>
                            <a:srgbClr val="2E2E2E"/>
                          </a:solidFill>
                          <a:latin typeface="Calibri"/>
                        </a:rPr>
                        <a:t>941.0</a:t>
                      </a:r>
                    </a:p>
                  </a:txBody>
                  <a:tcPr marL="85725" marR="38100" marT="19050" marB="19050" anchor="ctr">
                    <a:solidFill>
                      <a:srgbClr val="F5F8FA"/>
                    </a:solidFill>
                  </a:tcPr>
                </a:tc>
                <a:tc>
                  <a:txBody>
                    <a:bodyPr wrap="none"/>
                    <a:lstStyle/>
                    <a:p>
                      <a:pPr algn="l"/>
                      <a:r>
                        <a:rPr sz="800" b="0">
                          <a:solidFill>
                            <a:srgbClr val="2E2E2E"/>
                          </a:solidFill>
                          <a:latin typeface="Calibri"/>
                        </a:rPr>
                        <a:t>995.8</a:t>
                      </a:r>
                    </a:p>
                  </a:txBody>
                  <a:tcPr marL="85725" marR="38100" marT="19050" marB="19050" anchor="ctr">
                    <a:solidFill>
                      <a:srgbClr val="F5F8FA"/>
                    </a:solidFill>
                  </a:tcPr>
                </a:tc>
                <a:tc>
                  <a:txBody>
                    <a:bodyPr wrap="none"/>
                    <a:lstStyle/>
                    <a:p>
                      <a:pPr algn="l"/>
                      <a:r>
                        <a:rPr sz="800" b="0">
                          <a:solidFill>
                            <a:srgbClr val="2E2E2E"/>
                          </a:solidFill>
                          <a:latin typeface="Calibri"/>
                        </a:rPr>
                        <a:t>9.2%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Pharmacy Channel</a:t>
                      </a:r>
                    </a:p>
                  </a:txBody>
                  <a:tcPr marL="85725" marR="38100" marT="19050" marB="19050" anchor="ctr">
                    <a:solidFill>
                      <a:srgbClr val="FFFFFF"/>
                    </a:solidFill>
                  </a:tcPr>
                </a:tc>
                <a:tc>
                  <a:txBody>
                    <a:bodyPr wrap="none"/>
                    <a:lstStyle/>
                    <a:p>
                      <a:pPr algn="l"/>
                      <a:r>
                        <a:rPr sz="800" b="0">
                          <a:solidFill>
                            <a:srgbClr val="2E2E2E"/>
                          </a:solidFill>
                          <a:latin typeface="Calibri"/>
                        </a:rPr>
                        <a:t>123.8</a:t>
                      </a:r>
                    </a:p>
                  </a:txBody>
                  <a:tcPr marL="85725" marR="38100" marT="19050" marB="19050" anchor="ctr">
                    <a:solidFill>
                      <a:srgbClr val="FFFFFF"/>
                    </a:solidFill>
                  </a:tcPr>
                </a:tc>
                <a:tc>
                  <a:txBody>
                    <a:bodyPr wrap="none"/>
                    <a:lstStyle/>
                    <a:p>
                      <a:pPr algn="l"/>
                      <a:r>
                        <a:rPr sz="800" b="0">
                          <a:solidFill>
                            <a:srgbClr val="2E2E2E"/>
                          </a:solidFill>
                          <a:latin typeface="Calibri"/>
                        </a:rPr>
                        <a:t>138.8</a:t>
                      </a:r>
                    </a:p>
                  </a:txBody>
                  <a:tcPr marL="85725" marR="38100" marT="19050" marB="19050" anchor="ctr">
                    <a:solidFill>
                      <a:srgbClr val="FFFFFF"/>
                    </a:solidFill>
                  </a:tcPr>
                </a:tc>
                <a:tc>
                  <a:txBody>
                    <a:bodyPr wrap="none"/>
                    <a:lstStyle/>
                    <a:p>
                      <a:pPr algn="l"/>
                      <a:r>
                        <a:rPr sz="800" b="0">
                          <a:solidFill>
                            <a:srgbClr val="2E2E2E"/>
                          </a:solidFill>
                          <a:latin typeface="Calibri"/>
                        </a:rPr>
                        <a:t>165.0</a:t>
                      </a:r>
                    </a:p>
                  </a:txBody>
                  <a:tcPr marL="85725" marR="38100" marT="19050" marB="19050" anchor="ctr">
                    <a:solidFill>
                      <a:srgbClr val="FFFFFF"/>
                    </a:solidFill>
                  </a:tcPr>
                </a:tc>
                <a:tc>
                  <a:txBody>
                    <a:bodyPr wrap="none"/>
                    <a:lstStyle/>
                    <a:p>
                      <a:pPr algn="l"/>
                      <a:r>
                        <a:rPr sz="800" b="0">
                          <a:solidFill>
                            <a:srgbClr val="2E2E2E"/>
                          </a:solidFill>
                          <a:latin typeface="Calibri"/>
                        </a:rPr>
                        <a:t>202.4</a:t>
                      </a:r>
                    </a:p>
                  </a:txBody>
                  <a:tcPr marL="85725" marR="38100" marT="19050" marB="19050" anchor="ctr">
                    <a:solidFill>
                      <a:srgbClr val="FFFFFF"/>
                    </a:solidFill>
                  </a:tcPr>
                </a:tc>
                <a:tc>
                  <a:txBody>
                    <a:bodyPr wrap="none"/>
                    <a:lstStyle/>
                    <a:p>
                      <a:pPr algn="l"/>
                      <a:r>
                        <a:rPr sz="800" b="0">
                          <a:solidFill>
                            <a:srgbClr val="2E2E2E"/>
                          </a:solidFill>
                          <a:latin typeface="Calibri"/>
                        </a:rPr>
                        <a:t>243.0</a:t>
                      </a:r>
                    </a:p>
                  </a:txBody>
                  <a:tcPr marL="85725" marR="38100" marT="19050" marB="19050" anchor="ctr">
                    <a:solidFill>
                      <a:srgbClr val="FFFFFF"/>
                    </a:solidFill>
                  </a:tcPr>
                </a:tc>
                <a:tc>
                  <a:txBody>
                    <a:bodyPr wrap="none"/>
                    <a:lstStyle/>
                    <a:p>
                      <a:pPr algn="l"/>
                      <a:r>
                        <a:rPr sz="800" b="0">
                          <a:solidFill>
                            <a:srgbClr val="2E2E2E"/>
                          </a:solidFill>
                          <a:latin typeface="Calibri"/>
                        </a:rPr>
                        <a:t>282.8</a:t>
                      </a:r>
                    </a:p>
                  </a:txBody>
                  <a:tcPr marL="85725" marR="38100" marT="19050" marB="19050" anchor="ctr">
                    <a:solidFill>
                      <a:srgbClr val="FFFFFF"/>
                    </a:solidFill>
                  </a:tcPr>
                </a:tc>
                <a:tc>
                  <a:txBody>
                    <a:bodyPr wrap="none"/>
                    <a:lstStyle/>
                    <a:p>
                      <a:pPr algn="l"/>
                      <a:r>
                        <a:rPr sz="800" b="0">
                          <a:solidFill>
                            <a:srgbClr val="2E2E2E"/>
                          </a:solidFill>
                          <a:latin typeface="Calibri"/>
                        </a:rPr>
                        <a:t>323.2</a:t>
                      </a:r>
                    </a:p>
                  </a:txBody>
                  <a:tcPr marL="85725" marR="38100" marT="19050" marB="19050" anchor="ctr">
                    <a:solidFill>
                      <a:srgbClr val="FFFFFF"/>
                    </a:solidFill>
                  </a:tcPr>
                </a:tc>
                <a:tc>
                  <a:txBody>
                    <a:bodyPr wrap="none"/>
                    <a:lstStyle/>
                    <a:p>
                      <a:pPr algn="l"/>
                      <a:r>
                        <a:rPr sz="800" b="0">
                          <a:solidFill>
                            <a:srgbClr val="2E2E2E"/>
                          </a:solidFill>
                          <a:latin typeface="Calibri"/>
                        </a:rPr>
                        <a:t>361.7</a:t>
                      </a:r>
                    </a:p>
                  </a:txBody>
                  <a:tcPr marL="85725" marR="38100" marT="19050" marB="19050" anchor="ctr">
                    <a:solidFill>
                      <a:srgbClr val="FFFFFF"/>
                    </a:solidFill>
                  </a:tcPr>
                </a:tc>
                <a:tc>
                  <a:txBody>
                    <a:bodyPr wrap="none"/>
                    <a:lstStyle/>
                    <a:p>
                      <a:pPr algn="l"/>
                      <a:r>
                        <a:rPr sz="800" b="0">
                          <a:solidFill>
                            <a:srgbClr val="2E2E2E"/>
                          </a:solidFill>
                          <a:latin typeface="Calibri"/>
                        </a:rPr>
                        <a:t>398.9</a:t>
                      </a:r>
                    </a:p>
                  </a:txBody>
                  <a:tcPr marL="85725" marR="38100" marT="19050" marB="19050" anchor="ctr">
                    <a:solidFill>
                      <a:srgbClr val="FFFFFF"/>
                    </a:solidFill>
                  </a:tcPr>
                </a:tc>
                <a:tc>
                  <a:txBody>
                    <a:bodyPr wrap="none"/>
                    <a:lstStyle/>
                    <a:p>
                      <a:pPr algn="l"/>
                      <a:r>
                        <a:rPr sz="800" b="0">
                          <a:solidFill>
                            <a:srgbClr val="2E2E2E"/>
                          </a:solidFill>
                          <a:latin typeface="Calibri"/>
                        </a:rPr>
                        <a:t>434.6</a:t>
                      </a:r>
                    </a:p>
                  </a:txBody>
                  <a:tcPr marL="85725" marR="38100" marT="19050" marB="19050" anchor="ctr">
                    <a:solidFill>
                      <a:srgbClr val="FFFFFF"/>
                    </a:solidFill>
                  </a:tcPr>
                </a:tc>
                <a:tc>
                  <a:txBody>
                    <a:bodyPr wrap="none"/>
                    <a:lstStyle/>
                    <a:p>
                      <a:pPr algn="l"/>
                      <a:r>
                        <a:rPr sz="800" b="0">
                          <a:solidFill>
                            <a:srgbClr val="2E2E2E"/>
                          </a:solidFill>
                          <a:latin typeface="Calibri"/>
                        </a:rPr>
                        <a:t>468.7</a:t>
                      </a:r>
                    </a:p>
                  </a:txBody>
                  <a:tcPr marL="85725" marR="38100" marT="19050" marB="19050" anchor="ctr">
                    <a:solidFill>
                      <a:srgbClr val="FFFFFF"/>
                    </a:solidFill>
                  </a:tcPr>
                </a:tc>
                <a:tc>
                  <a:txBody>
                    <a:bodyPr wrap="none"/>
                    <a:lstStyle/>
                    <a:p>
                      <a:pPr algn="l"/>
                      <a:r>
                        <a:rPr sz="800" b="0">
                          <a:solidFill>
                            <a:srgbClr val="2E2E2E"/>
                          </a:solidFill>
                          <a:latin typeface="Calibri"/>
                        </a:rPr>
                        <a:t>501.0</a:t>
                      </a:r>
                    </a:p>
                  </a:txBody>
                  <a:tcPr marL="85725" marR="38100" marT="19050" marB="19050" anchor="ctr">
                    <a:solidFill>
                      <a:srgbClr val="FFFFFF"/>
                    </a:solidFill>
                  </a:tcPr>
                </a:tc>
                <a:tc>
                  <a:txBody>
                    <a:bodyPr wrap="none"/>
                    <a:lstStyle/>
                    <a:p>
                      <a:pPr algn="l"/>
                      <a:r>
                        <a:rPr sz="800" b="0">
                          <a:solidFill>
                            <a:srgbClr val="2E2E2E"/>
                          </a:solidFill>
                          <a:latin typeface="Calibri"/>
                        </a:rPr>
                        <a:t>531.5</a:t>
                      </a:r>
                    </a:p>
                  </a:txBody>
                  <a:tcPr marL="85725" marR="38100" marT="19050" marB="19050" anchor="ctr">
                    <a:solidFill>
                      <a:srgbClr val="FFFFFF"/>
                    </a:solidFill>
                  </a:tcPr>
                </a:tc>
                <a:tc>
                  <a:txBody>
                    <a:bodyPr wrap="none"/>
                    <a:lstStyle/>
                    <a:p>
                      <a:pPr algn="l"/>
                      <a:r>
                        <a:rPr sz="800" b="0">
                          <a:solidFill>
                            <a:srgbClr val="2E2E2E"/>
                          </a:solidFill>
                          <a:latin typeface="Calibri"/>
                        </a:rPr>
                        <a:t>560.4</a:t>
                      </a:r>
                    </a:p>
                  </a:txBody>
                  <a:tcPr marL="85725" marR="38100" marT="19050" marB="19050" anchor="ctr">
                    <a:solidFill>
                      <a:srgbClr val="FFFFFF"/>
                    </a:solidFill>
                  </a:tcPr>
                </a:tc>
                <a:tc>
                  <a:txBody>
                    <a:bodyPr wrap="none"/>
                    <a:lstStyle/>
                    <a:p>
                      <a:pPr algn="l"/>
                      <a:r>
                        <a:rPr sz="800" b="0">
                          <a:solidFill>
                            <a:srgbClr val="2E2E2E"/>
                          </a:solidFill>
                          <a:latin typeface="Calibri"/>
                        </a:rPr>
                        <a:t>588.0</a:t>
                      </a:r>
                    </a:p>
                  </a:txBody>
                  <a:tcPr marL="85725" marR="38100" marT="19050" marB="19050" anchor="ctr">
                    <a:solidFill>
                      <a:srgbClr val="FFFFFF"/>
                    </a:solidFill>
                  </a:tcPr>
                </a:tc>
                <a:tc>
                  <a:txBody>
                    <a:bodyPr wrap="none"/>
                    <a:lstStyle/>
                    <a:p>
                      <a:pPr algn="l"/>
                      <a:r>
                        <a:rPr sz="800" b="0">
                          <a:solidFill>
                            <a:srgbClr val="2E2E2E"/>
                          </a:solidFill>
                          <a:latin typeface="Calibri"/>
                        </a:rPr>
                        <a:t>614.4</a:t>
                      </a:r>
                    </a:p>
                  </a:txBody>
                  <a:tcPr marL="85725" marR="38100" marT="19050" marB="19050" anchor="ctr">
                    <a:solidFill>
                      <a:srgbClr val="FFFFFF"/>
                    </a:solidFill>
                  </a:tcPr>
                </a:tc>
                <a:tc>
                  <a:txBody>
                    <a:bodyPr wrap="none"/>
                    <a:lstStyle/>
                    <a:p>
                      <a:pPr algn="l"/>
                      <a:r>
                        <a:rPr sz="800" b="0">
                          <a:solidFill>
                            <a:srgbClr val="2E2E2E"/>
                          </a:solidFill>
                          <a:latin typeface="Calibri"/>
                        </a:rPr>
                        <a:t>8.1%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Online / Digital Pharmacy</a:t>
                      </a:r>
                    </a:p>
                  </a:txBody>
                  <a:tcPr marL="85725" marR="38100" marT="19050" marB="19050" anchor="ctr">
                    <a:solidFill>
                      <a:srgbClr val="F5F8FA"/>
                    </a:solidFill>
                  </a:tcPr>
                </a:tc>
                <a:tc>
                  <a:txBody>
                    <a:bodyPr wrap="none"/>
                    <a:lstStyle/>
                    <a:p>
                      <a:pPr algn="l"/>
                      <a:r>
                        <a:rPr sz="800" b="0">
                          <a:solidFill>
                            <a:srgbClr val="2E2E2E"/>
                          </a:solidFill>
                          <a:latin typeface="Calibri"/>
                        </a:rPr>
                        <a:t>199.6</a:t>
                      </a:r>
                    </a:p>
                  </a:txBody>
                  <a:tcPr marL="85725" marR="38100" marT="19050" marB="19050" anchor="ctr">
                    <a:solidFill>
                      <a:srgbClr val="F5F8FA"/>
                    </a:solidFill>
                  </a:tcPr>
                </a:tc>
                <a:tc>
                  <a:txBody>
                    <a:bodyPr wrap="none"/>
                    <a:lstStyle/>
                    <a:p>
                      <a:pPr algn="l"/>
                      <a:r>
                        <a:rPr sz="800" b="0">
                          <a:solidFill>
                            <a:srgbClr val="2E2E2E"/>
                          </a:solidFill>
                          <a:latin typeface="Calibri"/>
                        </a:rPr>
                        <a:t>226.8</a:t>
                      </a:r>
                    </a:p>
                  </a:txBody>
                  <a:tcPr marL="85725" marR="38100" marT="19050" marB="19050" anchor="ctr">
                    <a:solidFill>
                      <a:srgbClr val="F5F8FA"/>
                    </a:solidFill>
                  </a:tcPr>
                </a:tc>
                <a:tc>
                  <a:txBody>
                    <a:bodyPr wrap="none"/>
                    <a:lstStyle/>
                    <a:p>
                      <a:pPr algn="l"/>
                      <a:r>
                        <a:rPr sz="800" b="0">
                          <a:solidFill>
                            <a:srgbClr val="2E2E2E"/>
                          </a:solidFill>
                          <a:latin typeface="Calibri"/>
                        </a:rPr>
                        <a:t>273.2</a:t>
                      </a:r>
                    </a:p>
                  </a:txBody>
                  <a:tcPr marL="85725" marR="38100" marT="19050" marB="19050" anchor="ctr">
                    <a:solidFill>
                      <a:srgbClr val="F5F8FA"/>
                    </a:solidFill>
                  </a:tcPr>
                </a:tc>
                <a:tc>
                  <a:txBody>
                    <a:bodyPr wrap="none"/>
                    <a:lstStyle/>
                    <a:p>
                      <a:pPr algn="l"/>
                      <a:r>
                        <a:rPr sz="800" b="0">
                          <a:solidFill>
                            <a:srgbClr val="2E2E2E"/>
                          </a:solidFill>
                          <a:latin typeface="Calibri"/>
                        </a:rPr>
                        <a:t>339.5</a:t>
                      </a:r>
                    </a:p>
                  </a:txBody>
                  <a:tcPr marL="85725" marR="38100" marT="19050" marB="19050" anchor="ctr">
                    <a:solidFill>
                      <a:srgbClr val="F5F8FA"/>
                    </a:solidFill>
                  </a:tcPr>
                </a:tc>
                <a:tc>
                  <a:txBody>
                    <a:bodyPr wrap="none"/>
                    <a:lstStyle/>
                    <a:p>
                      <a:pPr algn="l"/>
                      <a:r>
                        <a:rPr sz="800" b="0">
                          <a:solidFill>
                            <a:srgbClr val="2E2E2E"/>
                          </a:solidFill>
                          <a:latin typeface="Calibri"/>
                        </a:rPr>
                        <a:t>412.9</a:t>
                      </a:r>
                    </a:p>
                  </a:txBody>
                  <a:tcPr marL="85725" marR="38100" marT="19050" marB="19050" anchor="ctr">
                    <a:solidFill>
                      <a:srgbClr val="F5F8FA"/>
                    </a:solidFill>
                  </a:tcPr>
                </a:tc>
                <a:tc>
                  <a:txBody>
                    <a:bodyPr wrap="none"/>
                    <a:lstStyle/>
                    <a:p>
                      <a:pPr algn="l"/>
                      <a:r>
                        <a:rPr sz="800" b="0">
                          <a:solidFill>
                            <a:srgbClr val="2E2E2E"/>
                          </a:solidFill>
                          <a:latin typeface="Calibri"/>
                        </a:rPr>
                        <a:t>486.8</a:t>
                      </a:r>
                    </a:p>
                  </a:txBody>
                  <a:tcPr marL="85725" marR="38100" marT="19050" marB="19050" anchor="ctr">
                    <a:solidFill>
                      <a:srgbClr val="F5F8FA"/>
                    </a:solidFill>
                  </a:tcPr>
                </a:tc>
                <a:tc>
                  <a:txBody>
                    <a:bodyPr wrap="none"/>
                    <a:lstStyle/>
                    <a:p>
                      <a:pPr algn="l"/>
                      <a:r>
                        <a:rPr sz="800" b="0">
                          <a:solidFill>
                            <a:srgbClr val="2E2E2E"/>
                          </a:solidFill>
                          <a:latin typeface="Calibri"/>
                        </a:rPr>
                        <a:t>563.4</a:t>
                      </a:r>
                    </a:p>
                  </a:txBody>
                  <a:tcPr marL="85725" marR="38100" marT="19050" marB="19050" anchor="ctr">
                    <a:solidFill>
                      <a:srgbClr val="F5F8FA"/>
                    </a:solidFill>
                  </a:tcPr>
                </a:tc>
                <a:tc>
                  <a:txBody>
                    <a:bodyPr wrap="none"/>
                    <a:lstStyle/>
                    <a:p>
                      <a:pPr algn="l"/>
                      <a:r>
                        <a:rPr sz="800" b="0">
                          <a:solidFill>
                            <a:srgbClr val="2E2E2E"/>
                          </a:solidFill>
                          <a:latin typeface="Calibri"/>
                        </a:rPr>
                        <a:t>638.7</a:t>
                      </a:r>
                    </a:p>
                  </a:txBody>
                  <a:tcPr marL="85725" marR="38100" marT="19050" marB="19050" anchor="ctr">
                    <a:solidFill>
                      <a:srgbClr val="F5F8FA"/>
                    </a:solidFill>
                  </a:tcPr>
                </a:tc>
                <a:tc>
                  <a:txBody>
                    <a:bodyPr wrap="none"/>
                    <a:lstStyle/>
                    <a:p>
                      <a:pPr algn="l"/>
                      <a:r>
                        <a:rPr sz="800" b="0">
                          <a:solidFill>
                            <a:srgbClr val="2E2E2E"/>
                          </a:solidFill>
                          <a:latin typeface="Calibri"/>
                        </a:rPr>
                        <a:t>713.4</a:t>
                      </a:r>
                    </a:p>
                  </a:txBody>
                  <a:tcPr marL="85725" marR="38100" marT="19050" marB="19050" anchor="ctr">
                    <a:solidFill>
                      <a:srgbClr val="F5F8FA"/>
                    </a:solidFill>
                  </a:tcPr>
                </a:tc>
                <a:tc>
                  <a:txBody>
                    <a:bodyPr wrap="none"/>
                    <a:lstStyle/>
                    <a:p>
                      <a:pPr algn="l"/>
                      <a:r>
                        <a:rPr sz="800" b="0">
                          <a:solidFill>
                            <a:srgbClr val="2E2E2E"/>
                          </a:solidFill>
                          <a:latin typeface="Calibri"/>
                        </a:rPr>
                        <a:t>787.2</a:t>
                      </a:r>
                    </a:p>
                  </a:txBody>
                  <a:tcPr marL="85725" marR="38100" marT="19050" marB="19050" anchor="ctr">
                    <a:solidFill>
                      <a:srgbClr val="F5F8FA"/>
                    </a:solidFill>
                  </a:tcPr>
                </a:tc>
                <a:tc>
                  <a:txBody>
                    <a:bodyPr wrap="none"/>
                    <a:lstStyle/>
                    <a:p>
                      <a:pPr algn="l"/>
                      <a:r>
                        <a:rPr sz="800" b="0">
                          <a:solidFill>
                            <a:srgbClr val="2E2E2E"/>
                          </a:solidFill>
                          <a:latin typeface="Calibri"/>
                        </a:rPr>
                        <a:t>859.5</a:t>
                      </a:r>
                    </a:p>
                  </a:txBody>
                  <a:tcPr marL="85725" marR="38100" marT="19050" marB="19050" anchor="ctr">
                    <a:solidFill>
                      <a:srgbClr val="F5F8FA"/>
                    </a:solidFill>
                  </a:tcPr>
                </a:tc>
                <a:tc>
                  <a:txBody>
                    <a:bodyPr wrap="none"/>
                    <a:lstStyle/>
                    <a:p>
                      <a:pPr algn="l"/>
                      <a:r>
                        <a:rPr sz="800" b="0">
                          <a:solidFill>
                            <a:srgbClr val="2E2E2E"/>
                          </a:solidFill>
                          <a:latin typeface="Calibri"/>
                        </a:rPr>
                        <a:t>930.3</a:t>
                      </a:r>
                    </a:p>
                  </a:txBody>
                  <a:tcPr marL="85725" marR="38100" marT="19050" marB="19050" anchor="ctr">
                    <a:solidFill>
                      <a:srgbClr val="F5F8FA"/>
                    </a:solidFill>
                  </a:tcPr>
                </a:tc>
                <a:tc>
                  <a:txBody>
                    <a:bodyPr wrap="none"/>
                    <a:lstStyle/>
                    <a:p>
                      <a:pPr algn="l"/>
                      <a:r>
                        <a:rPr sz="800" b="0">
                          <a:solidFill>
                            <a:srgbClr val="2E2E2E"/>
                          </a:solidFill>
                          <a:latin typeface="Calibri"/>
                        </a:rPr>
                        <a:t>999.1</a:t>
                      </a:r>
                    </a:p>
                  </a:txBody>
                  <a:tcPr marL="85725" marR="38100" marT="19050" marB="19050" anchor="ctr">
                    <a:solidFill>
                      <a:srgbClr val="F5F8FA"/>
                    </a:solidFill>
                  </a:tcPr>
                </a:tc>
                <a:tc>
                  <a:txBody>
                    <a:bodyPr wrap="none"/>
                    <a:lstStyle/>
                    <a:p>
                      <a:pPr algn="l"/>
                      <a:r>
                        <a:rPr sz="800" b="0">
                          <a:solidFill>
                            <a:srgbClr val="2E2E2E"/>
                          </a:solidFill>
                          <a:latin typeface="Calibri"/>
                        </a:rPr>
                        <a:t>1,066</a:t>
                      </a:r>
                    </a:p>
                  </a:txBody>
                  <a:tcPr marL="85725" marR="38100" marT="19050" marB="19050" anchor="ctr">
                    <a:solidFill>
                      <a:srgbClr val="F5F8FA"/>
                    </a:solidFill>
                  </a:tcPr>
                </a:tc>
                <a:tc>
                  <a:txBody>
                    <a:bodyPr wrap="none"/>
                    <a:lstStyle/>
                    <a:p>
                      <a:pPr algn="l"/>
                      <a:r>
                        <a:rPr sz="800" b="0">
                          <a:solidFill>
                            <a:srgbClr val="2E2E2E"/>
                          </a:solidFill>
                          <a:latin typeface="Calibri"/>
                        </a:rPr>
                        <a:t>1,133</a:t>
                      </a:r>
                    </a:p>
                  </a:txBody>
                  <a:tcPr marL="85725" marR="38100" marT="19050" marB="19050" anchor="ctr">
                    <a:solidFill>
                      <a:srgbClr val="F5F8FA"/>
                    </a:solidFill>
                  </a:tcPr>
                </a:tc>
                <a:tc>
                  <a:txBody>
                    <a:bodyPr wrap="none"/>
                    <a:lstStyle/>
                    <a:p>
                      <a:pPr algn="l"/>
                      <a:r>
                        <a:rPr sz="800" b="0">
                          <a:solidFill>
                            <a:srgbClr val="2E2E2E"/>
                          </a:solidFill>
                          <a:latin typeface="Calibri"/>
                        </a:rPr>
                        <a:t>1,198</a:t>
                      </a:r>
                    </a:p>
                  </a:txBody>
                  <a:tcPr marL="85725" marR="38100" marT="19050" marB="19050" anchor="ctr">
                    <a:solidFill>
                      <a:srgbClr val="F5F8FA"/>
                    </a:solidFill>
                  </a:tcPr>
                </a:tc>
                <a:tc>
                  <a:txBody>
                    <a:bodyPr wrap="none"/>
                    <a:lstStyle/>
                    <a:p>
                      <a:pPr algn="l"/>
                      <a:r>
                        <a:rPr sz="800" b="0">
                          <a:solidFill>
                            <a:srgbClr val="2E2E2E"/>
                          </a:solidFill>
                          <a:latin typeface="Calibri"/>
                        </a:rPr>
                        <a:t>9.4%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611.7</a:t>
                      </a:r>
                    </a:p>
                  </a:txBody>
                  <a:tcPr marL="85725" marR="38100" marT="19050" marB="19050" anchor="ctr">
                    <a:solidFill>
                      <a:srgbClr val="E0E8EF"/>
                    </a:solidFill>
                  </a:tcPr>
                </a:tc>
                <a:tc>
                  <a:txBody>
                    <a:bodyPr wrap="none"/>
                    <a:lstStyle/>
                    <a:p>
                      <a:pPr algn="l"/>
                      <a:r>
                        <a:rPr sz="800" b="1">
                          <a:solidFill>
                            <a:srgbClr val="2E2E2E"/>
                          </a:solidFill>
                          <a:latin typeface="Calibri"/>
                        </a:rPr>
                        <a:t>690.9</a:t>
                      </a:r>
                    </a:p>
                  </a:txBody>
                  <a:tcPr marL="85725" marR="38100" marT="19050" marB="19050" anchor="ctr">
                    <a:solidFill>
                      <a:srgbClr val="E0E8EF"/>
                    </a:solidFill>
                  </a:tcPr>
                </a:tc>
                <a:tc>
                  <a:txBody>
                    <a:bodyPr wrap="none"/>
                    <a:lstStyle/>
                    <a:p>
                      <a:pPr algn="l"/>
                      <a:r>
                        <a:rPr sz="800" b="1">
                          <a:solidFill>
                            <a:srgbClr val="2E2E2E"/>
                          </a:solidFill>
                          <a:latin typeface="Calibri"/>
                        </a:rPr>
                        <a:t>827.8</a:t>
                      </a:r>
                    </a:p>
                  </a:txBody>
                  <a:tcPr marL="85725" marR="38100" marT="19050" marB="19050" anchor="ctr">
                    <a:solidFill>
                      <a:srgbClr val="E0E8EF"/>
                    </a:solidFill>
                  </a:tcPr>
                </a:tc>
                <a:tc>
                  <a:txBody>
                    <a:bodyPr wrap="none"/>
                    <a:lstStyle/>
                    <a:p>
                      <a:pPr algn="l"/>
                      <a:r>
                        <a:rPr sz="800" b="1">
                          <a:solidFill>
                            <a:srgbClr val="2E2E2E"/>
                          </a:solidFill>
                          <a:latin typeface="Calibri"/>
                        </a:rPr>
                        <a:t>1,023</a:t>
                      </a:r>
                    </a:p>
                  </a:txBody>
                  <a:tcPr marL="85725" marR="38100" marT="19050" marB="19050" anchor="ctr">
                    <a:solidFill>
                      <a:srgbClr val="E0E8EF"/>
                    </a:solidFill>
                  </a:tcPr>
                </a:tc>
                <a:tc>
                  <a:txBody>
                    <a:bodyPr wrap="none"/>
                    <a:lstStyle/>
                    <a:p>
                      <a:pPr algn="l"/>
                      <a:r>
                        <a:rPr sz="800" b="1">
                          <a:solidFill>
                            <a:srgbClr val="2E2E2E"/>
                          </a:solidFill>
                          <a:latin typeface="Calibri"/>
                        </a:rPr>
                        <a:t>1,238</a:t>
                      </a:r>
                    </a:p>
                  </a:txBody>
                  <a:tcPr marL="85725" marR="38100" marT="19050" marB="19050" anchor="ctr">
                    <a:solidFill>
                      <a:srgbClr val="E0E8EF"/>
                    </a:solidFill>
                  </a:tcPr>
                </a:tc>
                <a:tc>
                  <a:txBody>
                    <a:bodyPr wrap="none"/>
                    <a:lstStyle/>
                    <a:p>
                      <a:pPr algn="l"/>
                      <a:r>
                        <a:rPr sz="800" b="1">
                          <a:solidFill>
                            <a:srgbClr val="2E2E2E"/>
                          </a:solidFill>
                          <a:latin typeface="Calibri"/>
                        </a:rPr>
                        <a:t>1,453</a:t>
                      </a:r>
                    </a:p>
                  </a:txBody>
                  <a:tcPr marL="85725" marR="38100" marT="19050" marB="19050" anchor="ctr">
                    <a:solidFill>
                      <a:srgbClr val="E0E8EF"/>
                    </a:solidFill>
                  </a:tcPr>
                </a:tc>
                <a:tc>
                  <a:txBody>
                    <a:bodyPr wrap="none"/>
                    <a:lstStyle/>
                    <a:p>
                      <a:pPr algn="l"/>
                      <a:r>
                        <a:rPr sz="800" b="1">
                          <a:solidFill>
                            <a:srgbClr val="2E2E2E"/>
                          </a:solidFill>
                          <a:latin typeface="Calibri"/>
                        </a:rPr>
                        <a:t>1,674</a:t>
                      </a:r>
                    </a:p>
                  </a:txBody>
                  <a:tcPr marL="85725" marR="38100" marT="19050" marB="19050" anchor="ctr">
                    <a:solidFill>
                      <a:srgbClr val="E0E8EF"/>
                    </a:solidFill>
                  </a:tcPr>
                </a:tc>
                <a:tc>
                  <a:txBody>
                    <a:bodyPr wrap="none"/>
                    <a:lstStyle/>
                    <a:p>
                      <a:pPr algn="l"/>
                      <a:r>
                        <a:rPr sz="800" b="1">
                          <a:solidFill>
                            <a:srgbClr val="2E2E2E"/>
                          </a:solidFill>
                          <a:latin typeface="Calibri"/>
                        </a:rPr>
                        <a:t>1,889</a:t>
                      </a:r>
                    </a:p>
                  </a:txBody>
                  <a:tcPr marL="85725" marR="38100" marT="19050" marB="19050" anchor="ctr">
                    <a:solidFill>
                      <a:srgbClr val="E0E8EF"/>
                    </a:solidFill>
                  </a:tcPr>
                </a:tc>
                <a:tc>
                  <a:txBody>
                    <a:bodyPr wrap="none"/>
                    <a:lstStyle/>
                    <a:p>
                      <a:pPr algn="l"/>
                      <a:r>
                        <a:rPr sz="800" b="1">
                          <a:solidFill>
                            <a:srgbClr val="2E2E2E"/>
                          </a:solidFill>
                          <a:latin typeface="Calibri"/>
                        </a:rPr>
                        <a:t>2,101</a:t>
                      </a:r>
                    </a:p>
                  </a:txBody>
                  <a:tcPr marL="85725" marR="38100" marT="19050" marB="19050" anchor="ctr">
                    <a:solidFill>
                      <a:srgbClr val="E0E8EF"/>
                    </a:solidFill>
                  </a:tcPr>
                </a:tc>
                <a:tc>
                  <a:txBody>
                    <a:bodyPr wrap="none"/>
                    <a:lstStyle/>
                    <a:p>
                      <a:pPr algn="l"/>
                      <a:r>
                        <a:rPr sz="800" b="1">
                          <a:solidFill>
                            <a:srgbClr val="2E2E2E"/>
                          </a:solidFill>
                          <a:latin typeface="Calibri"/>
                        </a:rPr>
                        <a:t>2,309</a:t>
                      </a:r>
                    </a:p>
                  </a:txBody>
                  <a:tcPr marL="85725" marR="38100" marT="19050" marB="19050" anchor="ctr">
                    <a:solidFill>
                      <a:srgbClr val="E0E8EF"/>
                    </a:solidFill>
                  </a:tcPr>
                </a:tc>
                <a:tc>
                  <a:txBody>
                    <a:bodyPr wrap="none"/>
                    <a:lstStyle/>
                    <a:p>
                      <a:pPr algn="l"/>
                      <a:r>
                        <a:rPr sz="800" b="1">
                          <a:solidFill>
                            <a:srgbClr val="2E2E2E"/>
                          </a:solidFill>
                          <a:latin typeface="Calibri"/>
                        </a:rPr>
                        <a:t>2,512</a:t>
                      </a:r>
                    </a:p>
                  </a:txBody>
                  <a:tcPr marL="85725" marR="38100" marT="19050" marB="19050" anchor="ctr">
                    <a:solidFill>
                      <a:srgbClr val="E0E8EF"/>
                    </a:solidFill>
                  </a:tcPr>
                </a:tc>
                <a:tc>
                  <a:txBody>
                    <a:bodyPr wrap="none"/>
                    <a:lstStyle/>
                    <a:p>
                      <a:pPr algn="l"/>
                      <a:r>
                        <a:rPr sz="800" b="1">
                          <a:solidFill>
                            <a:srgbClr val="2E2E2E"/>
                          </a:solidFill>
                          <a:latin typeface="Calibri"/>
                        </a:rPr>
                        <a:t>2,709</a:t>
                      </a:r>
                    </a:p>
                  </a:txBody>
                  <a:tcPr marL="85725" marR="38100" marT="19050" marB="19050" anchor="ctr">
                    <a:solidFill>
                      <a:srgbClr val="E0E8EF"/>
                    </a:solidFill>
                  </a:tcPr>
                </a:tc>
                <a:tc>
                  <a:txBody>
                    <a:bodyPr wrap="none"/>
                    <a:lstStyle/>
                    <a:p>
                      <a:pPr algn="l"/>
                      <a:r>
                        <a:rPr sz="800" b="1">
                          <a:solidFill>
                            <a:srgbClr val="2E2E2E"/>
                          </a:solidFill>
                          <a:latin typeface="Calibri"/>
                        </a:rPr>
                        <a:t>2,900</a:t>
                      </a:r>
                    </a:p>
                  </a:txBody>
                  <a:tcPr marL="85725" marR="38100" marT="19050" marB="19050" anchor="ctr">
                    <a:solidFill>
                      <a:srgbClr val="E0E8EF"/>
                    </a:solidFill>
                  </a:tcPr>
                </a:tc>
                <a:tc>
                  <a:txBody>
                    <a:bodyPr wrap="none"/>
                    <a:lstStyle/>
                    <a:p>
                      <a:pPr algn="l"/>
                      <a:r>
                        <a:rPr sz="800" b="1">
                          <a:solidFill>
                            <a:srgbClr val="2E2E2E"/>
                          </a:solidFill>
                          <a:latin typeface="Calibri"/>
                        </a:rPr>
                        <a:t>3,086</a:t>
                      </a:r>
                    </a:p>
                  </a:txBody>
                  <a:tcPr marL="85725" marR="38100" marT="19050" marB="19050" anchor="ctr">
                    <a:solidFill>
                      <a:srgbClr val="E0E8EF"/>
                    </a:solidFill>
                  </a:tcPr>
                </a:tc>
                <a:tc>
                  <a:txBody>
                    <a:bodyPr wrap="none"/>
                    <a:lstStyle/>
                    <a:p>
                      <a:pPr algn="l"/>
                      <a:r>
                        <a:rPr sz="800" b="1">
                          <a:solidFill>
                            <a:srgbClr val="2E2E2E"/>
                          </a:solidFill>
                          <a:latin typeface="Calibri"/>
                        </a:rPr>
                        <a:t>3,268</a:t>
                      </a:r>
                    </a:p>
                  </a:txBody>
                  <a:tcPr marL="85725" marR="38100" marT="19050" marB="19050" anchor="ctr">
                    <a:solidFill>
                      <a:srgbClr val="E0E8EF"/>
                    </a:solidFill>
                  </a:tcPr>
                </a:tc>
                <a:tc>
                  <a:txBody>
                    <a:bodyPr wrap="none"/>
                    <a:lstStyle/>
                    <a:p>
                      <a:pPr algn="l"/>
                      <a:r>
                        <a:rPr sz="800" b="1">
                          <a:solidFill>
                            <a:srgbClr val="2E2E2E"/>
                          </a:solidFill>
                          <a:latin typeface="Calibri"/>
                        </a:rPr>
                        <a:t>3,447</a:t>
                      </a:r>
                    </a:p>
                  </a:txBody>
                  <a:tcPr marL="85725" marR="38100" marT="19050" marB="19050" anchor="ctr">
                    <a:solidFill>
                      <a:srgbClr val="E0E8EF"/>
                    </a:solidFill>
                  </a:tcPr>
                </a:tc>
                <a:tc>
                  <a:txBody>
                    <a:bodyPr wrap="none"/>
                    <a:lstStyle/>
                    <a:p>
                      <a:pPr algn="l"/>
                      <a:r>
                        <a:rPr sz="800" b="1">
                          <a:solidFill>
                            <a:srgbClr val="2E2E2E"/>
                          </a:solidFill>
                          <a:latin typeface="Calibri"/>
                        </a:rPr>
                        <a:t>9.0%</a:t>
                      </a:r>
                    </a:p>
                  </a:txBody>
                  <a:tcPr marL="85725" marR="38100" marT="19050" marB="19050" anchor="ctr">
                    <a:solidFill>
                      <a:srgbClr val="E0E8EF"/>
                    </a:solidFill>
                  </a:tcPr>
                </a:tc>
              </a:tr>
            </a:tbl>
          </a:graphicData>
        </a:graphic>
      </p:graphicFrame>
      <p:sp>
        <p:nvSpPr>
          <p:cNvPr id="18" name="TextBox 17"/>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YoY Analysis Sales / Distribution Channel</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Volume YoY, By Sales / Distribution Channel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Sales / Distribution Channel</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Direct Institutional Sales</a:t>
                      </a:r>
                    </a:p>
                  </a:txBody>
                  <a:tcPr marL="85725" marR="38100" marT="19050" marB="19050" anchor="ctr">
                    <a:solidFill>
                      <a:srgbClr val="FFFFFF"/>
                    </a:solidFill>
                  </a:tcPr>
                </a:tc>
                <a:tc>
                  <a:txBody>
                    <a:bodyPr wrap="none"/>
                    <a:lstStyle/>
                    <a:p>
                      <a:pPr algn="l"/>
                      <a:r>
                        <a:rPr sz="800" b="1">
                          <a:solidFill>
                            <a:srgbClr val="2E7D32"/>
                          </a:solidFill>
                          <a:latin typeface="Calibri"/>
                        </a:rPr>
                        <a:t>▲ 17.8%</a:t>
                      </a:r>
                    </a:p>
                  </a:txBody>
                  <a:tcPr marL="85725" marR="38100" marT="19050" marB="19050" anchor="ctr">
                    <a:solidFill>
                      <a:srgbClr val="FFFFFF"/>
                    </a:solidFill>
                  </a:tcPr>
                </a:tc>
                <a:tc>
                  <a:txBody>
                    <a:bodyPr wrap="none"/>
                    <a:lstStyle/>
                    <a:p>
                      <a:pPr algn="l"/>
                      <a:r>
                        <a:rPr sz="800" b="1">
                          <a:solidFill>
                            <a:srgbClr val="2E7D32"/>
                          </a:solidFill>
                          <a:latin typeface="Calibri"/>
                        </a:rPr>
                        <a:t>▲ 25.0%</a:t>
                      </a:r>
                    </a:p>
                  </a:txBody>
                  <a:tcPr marL="85725" marR="38100" marT="19050" marB="19050" anchor="ctr">
                    <a:solidFill>
                      <a:srgbClr val="FFFFFF"/>
                    </a:solidFill>
                  </a:tcPr>
                </a:tc>
                <a:tc>
                  <a:txBody>
                    <a:bodyPr wrap="none"/>
                    <a:lstStyle/>
                    <a:p>
                      <a:pPr algn="l"/>
                      <a:r>
                        <a:rPr sz="800" b="1">
                          <a:solidFill>
                            <a:srgbClr val="2E7D32"/>
                          </a:solidFill>
                          <a:latin typeface="Calibri"/>
                        </a:rPr>
                        <a:t>▲ 29.0%</a:t>
                      </a:r>
                    </a:p>
                  </a:txBody>
                  <a:tcPr marL="85725" marR="38100" marT="19050" marB="19050" anchor="ctr">
                    <a:solidFill>
                      <a:srgbClr val="FFFFFF"/>
                    </a:solidFill>
                  </a:tcPr>
                </a:tc>
                <a:tc>
                  <a:txBody>
                    <a:bodyPr wrap="none"/>
                    <a:lstStyle/>
                    <a:p>
                      <a:pPr algn="l"/>
                      <a:r>
                        <a:rPr sz="800" b="1">
                          <a:solidFill>
                            <a:srgbClr val="2E7D32"/>
                          </a:solidFill>
                          <a:latin typeface="Calibri"/>
                        </a:rPr>
                        <a:t>▲ 26.2%</a:t>
                      </a:r>
                    </a:p>
                  </a:txBody>
                  <a:tcPr marL="85725" marR="38100" marT="19050" marB="19050" anchor="ctr">
                    <a:solidFill>
                      <a:srgbClr val="FFFFFF"/>
                    </a:solidFill>
                  </a:tcPr>
                </a:tc>
                <a:tc>
                  <a:txBody>
                    <a:bodyPr wrap="none"/>
                    <a:lstStyle/>
                    <a:p>
                      <a:pPr algn="l"/>
                      <a:r>
                        <a:rPr sz="800" b="1">
                          <a:solidFill>
                            <a:srgbClr val="2E7D32"/>
                          </a:solidFill>
                          <a:latin typeface="Calibri"/>
                        </a:rPr>
                        <a:t>▲ 22.4%</a:t>
                      </a:r>
                    </a:p>
                  </a:txBody>
                  <a:tcPr marL="85725" marR="38100" marT="19050" marB="19050" anchor="ctr">
                    <a:solidFill>
                      <a:srgbClr val="FFFFFF"/>
                    </a:solidFill>
                  </a:tcPr>
                </a:tc>
                <a:tc>
                  <a:txBody>
                    <a:bodyPr wrap="none"/>
                    <a:lstStyle/>
                    <a:p>
                      <a:pPr algn="l"/>
                      <a:r>
                        <a:rPr sz="800" b="1">
                          <a:solidFill>
                            <a:srgbClr val="2E7D32"/>
                          </a:solidFill>
                          <a:latin typeface="Calibri"/>
                        </a:rPr>
                        <a:t>▲ 20.2%</a:t>
                      </a:r>
                    </a:p>
                  </a:txBody>
                  <a:tcPr marL="85725" marR="38100" marT="19050" marB="19050" anchor="ctr">
                    <a:solidFill>
                      <a:srgbClr val="FFFFFF"/>
                    </a:solidFill>
                  </a:tcPr>
                </a:tc>
                <a:tc>
                  <a:txBody>
                    <a:bodyPr wrap="none"/>
                    <a:lstStyle/>
                    <a:p>
                      <a:pPr algn="l"/>
                      <a:r>
                        <a:rPr sz="800" b="1">
                          <a:solidFill>
                            <a:srgbClr val="2E7D32"/>
                          </a:solidFill>
                          <a:latin typeface="Calibri"/>
                        </a:rPr>
                        <a:t>▲ 17.7%</a:t>
                      </a:r>
                    </a:p>
                  </a:txBody>
                  <a:tcPr marL="85725" marR="38100" marT="19050" marB="19050" anchor="ctr">
                    <a:solidFill>
                      <a:srgbClr val="FFFFFF"/>
                    </a:solidFill>
                  </a:tcPr>
                </a:tc>
                <a:tc>
                  <a:txBody>
                    <a:bodyPr wrap="none"/>
                    <a:lstStyle/>
                    <a:p>
                      <a:pPr algn="l"/>
                      <a:r>
                        <a:rPr sz="800" b="1">
                          <a:solidFill>
                            <a:srgbClr val="2E7D32"/>
                          </a:solidFill>
                          <a:latin typeface="Calibri"/>
                        </a:rPr>
                        <a:t>▲ 16.0%</a:t>
                      </a:r>
                    </a:p>
                  </a:txBody>
                  <a:tcPr marL="85725" marR="38100" marT="19050" marB="19050" anchor="ctr">
                    <a:solidFill>
                      <a:srgbClr val="FFFFFF"/>
                    </a:solidFill>
                  </a:tcPr>
                </a:tc>
                <a:tc>
                  <a:txBody>
                    <a:bodyPr wrap="none"/>
                    <a:lstStyle/>
                    <a:p>
                      <a:pPr algn="l"/>
                      <a:r>
                        <a:rPr sz="800" b="1">
                          <a:solidFill>
                            <a:srgbClr val="2E7D32"/>
                          </a:solidFill>
                          <a:latin typeface="Calibri"/>
                        </a:rPr>
                        <a:t>▲ 14.6%</a:t>
                      </a:r>
                    </a:p>
                  </a:txBody>
                  <a:tcPr marL="85725" marR="38100" marT="19050" marB="19050" anchor="ctr">
                    <a:solidFill>
                      <a:srgbClr val="FFFFFF"/>
                    </a:solidFill>
                  </a:tcPr>
                </a:tc>
                <a:tc>
                  <a:txBody>
                    <a:bodyPr wrap="none"/>
                    <a:lstStyle/>
                    <a:p>
                      <a:pPr algn="l"/>
                      <a:r>
                        <a:rPr sz="800" b="1">
                          <a:solidFill>
                            <a:srgbClr val="2E7D32"/>
                          </a:solidFill>
                          <a:latin typeface="Calibri"/>
                        </a:rPr>
                        <a:t>▲ 13.5%</a:t>
                      </a:r>
                    </a:p>
                  </a:txBody>
                  <a:tcPr marL="85725" marR="38100" marT="19050" marB="19050" anchor="ctr">
                    <a:solidFill>
                      <a:srgbClr val="FFFFFF"/>
                    </a:solidFill>
                  </a:tcPr>
                </a:tc>
                <a:tc>
                  <a:txBody>
                    <a:bodyPr wrap="none"/>
                    <a:lstStyle/>
                    <a:p>
                      <a:pPr algn="l"/>
                      <a:r>
                        <a:rPr sz="800" b="1">
                          <a:solidFill>
                            <a:srgbClr val="2E7D32"/>
                          </a:solidFill>
                          <a:latin typeface="Calibri"/>
                        </a:rPr>
                        <a:t>▲ 12.5%</a:t>
                      </a:r>
                    </a:p>
                  </a:txBody>
                  <a:tcPr marL="85725" marR="38100" marT="19050" marB="19050" anchor="ctr">
                    <a:solidFill>
                      <a:srgbClr val="FFFFFF"/>
                    </a:solidFill>
                  </a:tcPr>
                </a:tc>
                <a:tc>
                  <a:txBody>
                    <a:bodyPr wrap="none"/>
                    <a:lstStyle/>
                    <a:p>
                      <a:pPr algn="l"/>
                      <a:r>
                        <a:rPr sz="800" b="1">
                          <a:solidFill>
                            <a:srgbClr val="2E7D32"/>
                          </a:solidFill>
                          <a:latin typeface="Calibri"/>
                        </a:rPr>
                        <a:t>▲ 11.6%</a:t>
                      </a:r>
                    </a:p>
                  </a:txBody>
                  <a:tcPr marL="85725" marR="38100" marT="19050" marB="19050" anchor="ctr">
                    <a:solidFill>
                      <a:srgbClr val="FFFFFF"/>
                    </a:solidFill>
                  </a:tcPr>
                </a:tc>
                <a:tc>
                  <a:txBody>
                    <a:bodyPr wrap="none"/>
                    <a:lstStyle/>
                    <a:p>
                      <a:pPr algn="l"/>
                      <a:r>
                        <a:rPr sz="800" b="1">
                          <a:solidFill>
                            <a:srgbClr val="2E7D32"/>
                          </a:solidFill>
                          <a:latin typeface="Calibri"/>
                        </a:rPr>
                        <a:t>▲ 11.0%</a:t>
                      </a:r>
                    </a:p>
                  </a:txBody>
                  <a:tcPr marL="85725" marR="38100" marT="19050" marB="19050" anchor="ctr">
                    <a:solidFill>
                      <a:srgbClr val="FFFFFF"/>
                    </a:solidFill>
                  </a:tcPr>
                </a:tc>
                <a:tc>
                  <a:txBody>
                    <a:bodyPr wrap="none"/>
                    <a:lstStyle/>
                    <a:p>
                      <a:pPr algn="l"/>
                      <a:r>
                        <a:rPr sz="800" b="1">
                          <a:solidFill>
                            <a:srgbClr val="2E7D32"/>
                          </a:solidFill>
                          <a:latin typeface="Calibri"/>
                        </a:rPr>
                        <a:t>▲ 10.5%</a:t>
                      </a:r>
                    </a:p>
                  </a:txBody>
                  <a:tcPr marL="85725" marR="38100" marT="19050" marB="19050" anchor="ctr">
                    <a:solidFill>
                      <a:srgbClr val="FFFFFF"/>
                    </a:solidFill>
                  </a:tcPr>
                </a:tc>
                <a:tc>
                  <a:txBody>
                    <a:bodyPr wrap="none"/>
                    <a:lstStyle/>
                    <a:p>
                      <a:pPr algn="l"/>
                      <a:r>
                        <a:rPr sz="800" b="1">
                          <a:solidFill>
                            <a:srgbClr val="2E7D32"/>
                          </a:solidFill>
                          <a:latin typeface="Calibri"/>
                        </a:rPr>
                        <a:t>▲ 10.0%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Specialty Distribution</a:t>
                      </a:r>
                    </a:p>
                  </a:txBody>
                  <a:tcPr marL="85725" marR="38100" marT="19050" marB="19050" anchor="ctr">
                    <a:solidFill>
                      <a:srgbClr val="F5F8FA"/>
                    </a:solidFill>
                  </a:tcPr>
                </a:tc>
                <a:tc>
                  <a:txBody>
                    <a:bodyPr wrap="none"/>
                    <a:lstStyle/>
                    <a:p>
                      <a:pPr algn="l"/>
                      <a:r>
                        <a:rPr sz="800" b="1">
                          <a:solidFill>
                            <a:srgbClr val="2E7D32"/>
                          </a:solidFill>
                          <a:latin typeface="Calibri"/>
                        </a:rPr>
                        <a:t>▲ 17.6%</a:t>
                      </a:r>
                    </a:p>
                  </a:txBody>
                  <a:tcPr marL="85725" marR="38100" marT="19050" marB="19050" anchor="ctr">
                    <a:solidFill>
                      <a:srgbClr val="F5F8FA"/>
                    </a:solidFill>
                  </a:tcPr>
                </a:tc>
                <a:tc>
                  <a:txBody>
                    <a:bodyPr wrap="none"/>
                    <a:lstStyle/>
                    <a:p>
                      <a:pPr algn="l"/>
                      <a:r>
                        <a:rPr sz="800" b="1">
                          <a:solidFill>
                            <a:srgbClr val="2E7D32"/>
                          </a:solidFill>
                          <a:latin typeface="Calibri"/>
                        </a:rPr>
                        <a:t>▲ 24.7%</a:t>
                      </a:r>
                    </a:p>
                  </a:txBody>
                  <a:tcPr marL="85725" marR="38100" marT="19050" marB="19050" anchor="ctr">
                    <a:solidFill>
                      <a:srgbClr val="F5F8FA"/>
                    </a:solidFill>
                  </a:tcPr>
                </a:tc>
                <a:tc>
                  <a:txBody>
                    <a:bodyPr wrap="none"/>
                    <a:lstStyle/>
                    <a:p>
                      <a:pPr algn="l"/>
                      <a:r>
                        <a:rPr sz="800" b="1">
                          <a:solidFill>
                            <a:srgbClr val="2E7D32"/>
                          </a:solidFill>
                          <a:latin typeface="Calibri"/>
                        </a:rPr>
                        <a:t>▲ 28.7%</a:t>
                      </a:r>
                    </a:p>
                  </a:txBody>
                  <a:tcPr marL="85725" marR="38100" marT="19050" marB="19050" anchor="ctr">
                    <a:solidFill>
                      <a:srgbClr val="F5F8FA"/>
                    </a:solidFill>
                  </a:tcPr>
                </a:tc>
                <a:tc>
                  <a:txBody>
                    <a:bodyPr wrap="none"/>
                    <a:lstStyle/>
                    <a:p>
                      <a:pPr algn="l"/>
                      <a:r>
                        <a:rPr sz="800" b="1">
                          <a:solidFill>
                            <a:srgbClr val="2E7D32"/>
                          </a:solidFill>
                          <a:latin typeface="Calibri"/>
                        </a:rPr>
                        <a:t>▲ 25.9%</a:t>
                      </a:r>
                    </a:p>
                  </a:txBody>
                  <a:tcPr marL="85725" marR="38100" marT="19050" marB="19050" anchor="ctr">
                    <a:solidFill>
                      <a:srgbClr val="F5F8FA"/>
                    </a:solidFill>
                  </a:tcPr>
                </a:tc>
                <a:tc>
                  <a:txBody>
                    <a:bodyPr wrap="none"/>
                    <a:lstStyle/>
                    <a:p>
                      <a:pPr algn="l"/>
                      <a:r>
                        <a:rPr sz="800" b="1">
                          <a:solidFill>
                            <a:srgbClr val="2E7D32"/>
                          </a:solidFill>
                          <a:latin typeface="Calibri"/>
                        </a:rPr>
                        <a:t>▲ 22.1%</a:t>
                      </a:r>
                    </a:p>
                  </a:txBody>
                  <a:tcPr marL="85725" marR="38100" marT="19050" marB="19050" anchor="ctr">
                    <a:solidFill>
                      <a:srgbClr val="F5F8FA"/>
                    </a:solidFill>
                  </a:tcPr>
                </a:tc>
                <a:tc>
                  <a:txBody>
                    <a:bodyPr wrap="none"/>
                    <a:lstStyle/>
                    <a:p>
                      <a:pPr algn="l"/>
                      <a:r>
                        <a:rPr sz="800" b="1">
                          <a:solidFill>
                            <a:srgbClr val="2E7D32"/>
                          </a:solidFill>
                          <a:latin typeface="Calibri"/>
                        </a:rPr>
                        <a:t>▲ 19.9%</a:t>
                      </a:r>
                    </a:p>
                  </a:txBody>
                  <a:tcPr marL="85725" marR="38100" marT="19050" marB="19050" anchor="ctr">
                    <a:solidFill>
                      <a:srgbClr val="F5F8FA"/>
                    </a:solidFill>
                  </a:tcPr>
                </a:tc>
                <a:tc>
                  <a:txBody>
                    <a:bodyPr wrap="none"/>
                    <a:lstStyle/>
                    <a:p>
                      <a:pPr algn="l"/>
                      <a:r>
                        <a:rPr sz="800" b="1">
                          <a:solidFill>
                            <a:srgbClr val="2E7D32"/>
                          </a:solidFill>
                          <a:latin typeface="Calibri"/>
                        </a:rPr>
                        <a:t>▲ 17.4%</a:t>
                      </a:r>
                    </a:p>
                  </a:txBody>
                  <a:tcPr marL="85725" marR="38100" marT="19050" marB="19050" anchor="ctr">
                    <a:solidFill>
                      <a:srgbClr val="F5F8FA"/>
                    </a:solidFill>
                  </a:tcPr>
                </a:tc>
                <a:tc>
                  <a:txBody>
                    <a:bodyPr wrap="none"/>
                    <a:lstStyle/>
                    <a:p>
                      <a:pPr algn="l"/>
                      <a:r>
                        <a:rPr sz="800" b="1">
                          <a:solidFill>
                            <a:srgbClr val="2E7D32"/>
                          </a:solidFill>
                          <a:latin typeface="Calibri"/>
                        </a:rPr>
                        <a:t>▲ 15.7%</a:t>
                      </a:r>
                    </a:p>
                  </a:txBody>
                  <a:tcPr marL="85725" marR="38100" marT="19050" marB="19050" anchor="ctr">
                    <a:solidFill>
                      <a:srgbClr val="F5F8FA"/>
                    </a:solidFill>
                  </a:tcPr>
                </a:tc>
                <a:tc>
                  <a:txBody>
                    <a:bodyPr wrap="none"/>
                    <a:lstStyle/>
                    <a:p>
                      <a:pPr algn="l"/>
                      <a:r>
                        <a:rPr sz="800" b="1">
                          <a:solidFill>
                            <a:srgbClr val="2E7D32"/>
                          </a:solidFill>
                          <a:latin typeface="Calibri"/>
                        </a:rPr>
                        <a:t>▲ 14.3%</a:t>
                      </a:r>
                    </a:p>
                  </a:txBody>
                  <a:tcPr marL="85725" marR="38100" marT="19050" marB="19050" anchor="ctr">
                    <a:solidFill>
                      <a:srgbClr val="F5F8FA"/>
                    </a:solidFill>
                  </a:tcPr>
                </a:tc>
                <a:tc>
                  <a:txBody>
                    <a:bodyPr wrap="none"/>
                    <a:lstStyle/>
                    <a:p>
                      <a:pPr algn="l"/>
                      <a:r>
                        <a:rPr sz="800" b="1">
                          <a:solidFill>
                            <a:srgbClr val="2E7D32"/>
                          </a:solidFill>
                          <a:latin typeface="Calibri"/>
                        </a:rPr>
                        <a:t>▲ 13.1%</a:t>
                      </a:r>
                    </a:p>
                  </a:txBody>
                  <a:tcPr marL="85725" marR="38100" marT="19050" marB="19050" anchor="ctr">
                    <a:solidFill>
                      <a:srgbClr val="F5F8FA"/>
                    </a:solidFill>
                  </a:tcPr>
                </a:tc>
                <a:tc>
                  <a:txBody>
                    <a:bodyPr wrap="none"/>
                    <a:lstStyle/>
                    <a:p>
                      <a:pPr algn="l"/>
                      <a:r>
                        <a:rPr sz="800" b="1">
                          <a:solidFill>
                            <a:srgbClr val="2E7D32"/>
                          </a:solidFill>
                          <a:latin typeface="Calibri"/>
                        </a:rPr>
                        <a:t>▲ 12.2%</a:t>
                      </a:r>
                    </a:p>
                  </a:txBody>
                  <a:tcPr marL="85725" marR="38100" marT="19050" marB="19050" anchor="ctr">
                    <a:solidFill>
                      <a:srgbClr val="F5F8FA"/>
                    </a:solidFill>
                  </a:tcPr>
                </a:tc>
                <a:tc>
                  <a:txBody>
                    <a:bodyPr wrap="none"/>
                    <a:lstStyle/>
                    <a:p>
                      <a:pPr algn="l"/>
                      <a:r>
                        <a:rPr sz="800" b="1">
                          <a:solidFill>
                            <a:srgbClr val="2E7D32"/>
                          </a:solidFill>
                          <a:latin typeface="Calibri"/>
                        </a:rPr>
                        <a:t>▲ 11.3%</a:t>
                      </a:r>
                    </a:p>
                  </a:txBody>
                  <a:tcPr marL="85725" marR="38100" marT="19050" marB="19050" anchor="ctr">
                    <a:solidFill>
                      <a:srgbClr val="F5F8FA"/>
                    </a:solidFill>
                  </a:tcPr>
                </a:tc>
                <a:tc>
                  <a:txBody>
                    <a:bodyPr wrap="none"/>
                    <a:lstStyle/>
                    <a:p>
                      <a:pPr algn="l"/>
                      <a:r>
                        <a:rPr sz="800" b="1">
                          <a:solidFill>
                            <a:srgbClr val="2E7D32"/>
                          </a:solidFill>
                          <a:latin typeface="Calibri"/>
                        </a:rPr>
                        <a:t>▲ 10.7%</a:t>
                      </a:r>
                    </a:p>
                  </a:txBody>
                  <a:tcPr marL="85725" marR="38100" marT="19050" marB="19050" anchor="ctr">
                    <a:solidFill>
                      <a:srgbClr val="F5F8FA"/>
                    </a:solidFill>
                  </a:tcPr>
                </a:tc>
                <a:tc>
                  <a:txBody>
                    <a:bodyPr wrap="none"/>
                    <a:lstStyle/>
                    <a:p>
                      <a:pPr algn="l"/>
                      <a:r>
                        <a:rPr sz="800" b="1">
                          <a:solidFill>
                            <a:srgbClr val="2E7D32"/>
                          </a:solidFill>
                          <a:latin typeface="Calibri"/>
                        </a:rPr>
                        <a:t>▲ 10.1%</a:t>
                      </a:r>
                    </a:p>
                  </a:txBody>
                  <a:tcPr marL="85725" marR="38100" marT="19050" marB="19050" anchor="ctr">
                    <a:solidFill>
                      <a:srgbClr val="F5F8FA"/>
                    </a:solidFill>
                  </a:tcPr>
                </a:tc>
                <a:tc>
                  <a:txBody>
                    <a:bodyPr wrap="none"/>
                    <a:lstStyle/>
                    <a:p>
                      <a:pPr algn="l"/>
                      <a:r>
                        <a:rPr sz="800" b="1">
                          <a:solidFill>
                            <a:srgbClr val="2E7D32"/>
                          </a:solidFill>
                          <a:latin typeface="Calibri"/>
                        </a:rPr>
                        <a:t>▲ 9.7%</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Pharmacy Channel</a:t>
                      </a:r>
                    </a:p>
                  </a:txBody>
                  <a:tcPr marL="85725" marR="38100" marT="19050" marB="19050" anchor="ctr">
                    <a:solidFill>
                      <a:srgbClr val="FFFFFF"/>
                    </a:solidFill>
                  </a:tcPr>
                </a:tc>
                <a:tc>
                  <a:txBody>
                    <a:bodyPr wrap="none"/>
                    <a:lstStyle/>
                    <a:p>
                      <a:pPr algn="l"/>
                      <a:r>
                        <a:rPr sz="800" b="1">
                          <a:solidFill>
                            <a:srgbClr val="A86F00"/>
                          </a:solidFill>
                          <a:latin typeface="Calibri"/>
                        </a:rPr>
                        <a:t>▶ 16.4%</a:t>
                      </a:r>
                    </a:p>
                  </a:txBody>
                  <a:tcPr marL="85725" marR="38100" marT="19050" marB="19050" anchor="ctr">
                    <a:solidFill>
                      <a:srgbClr val="FFFFFF"/>
                    </a:solidFill>
                  </a:tcPr>
                </a:tc>
                <a:tc>
                  <a:txBody>
                    <a:bodyPr wrap="none"/>
                    <a:lstStyle/>
                    <a:p>
                      <a:pPr algn="l"/>
                      <a:r>
                        <a:rPr sz="800" b="1">
                          <a:solidFill>
                            <a:srgbClr val="A86F00"/>
                          </a:solidFill>
                          <a:latin typeface="Calibri"/>
                        </a:rPr>
                        <a:t>▶ 23.4%</a:t>
                      </a:r>
                    </a:p>
                  </a:txBody>
                  <a:tcPr marL="85725" marR="38100" marT="19050" marB="19050" anchor="ctr">
                    <a:solidFill>
                      <a:srgbClr val="FFFFFF"/>
                    </a:solidFill>
                  </a:tcPr>
                </a:tc>
                <a:tc>
                  <a:txBody>
                    <a:bodyPr wrap="none"/>
                    <a:lstStyle/>
                    <a:p>
                      <a:pPr algn="l"/>
                      <a:r>
                        <a:rPr sz="800" b="1">
                          <a:solidFill>
                            <a:srgbClr val="A86F00"/>
                          </a:solidFill>
                          <a:latin typeface="Calibri"/>
                        </a:rPr>
                        <a:t>▶ 27.4%</a:t>
                      </a:r>
                    </a:p>
                  </a:txBody>
                  <a:tcPr marL="85725" marR="38100" marT="19050" marB="19050" anchor="ctr">
                    <a:solidFill>
                      <a:srgbClr val="FFFFFF"/>
                    </a:solidFill>
                  </a:tcPr>
                </a:tc>
                <a:tc>
                  <a:txBody>
                    <a:bodyPr wrap="none"/>
                    <a:lstStyle/>
                    <a:p>
                      <a:pPr algn="l"/>
                      <a:r>
                        <a:rPr sz="800" b="1">
                          <a:solidFill>
                            <a:srgbClr val="A86F00"/>
                          </a:solidFill>
                          <a:latin typeface="Calibri"/>
                        </a:rPr>
                        <a:t>▶ 24.6%</a:t>
                      </a:r>
                    </a:p>
                  </a:txBody>
                  <a:tcPr marL="85725" marR="38100" marT="19050" marB="19050" anchor="ctr">
                    <a:solidFill>
                      <a:srgbClr val="FFFFFF"/>
                    </a:solidFill>
                  </a:tcPr>
                </a:tc>
                <a:tc>
                  <a:txBody>
                    <a:bodyPr wrap="none"/>
                    <a:lstStyle/>
                    <a:p>
                      <a:pPr algn="l"/>
                      <a:r>
                        <a:rPr sz="800" b="1">
                          <a:solidFill>
                            <a:srgbClr val="A86F00"/>
                          </a:solidFill>
                          <a:latin typeface="Calibri"/>
                        </a:rPr>
                        <a:t>▶ 20.9%</a:t>
                      </a:r>
                    </a:p>
                  </a:txBody>
                  <a:tcPr marL="85725" marR="38100" marT="19050" marB="19050" anchor="ctr">
                    <a:solidFill>
                      <a:srgbClr val="FFFFFF"/>
                    </a:solidFill>
                  </a:tcPr>
                </a:tc>
                <a:tc>
                  <a:txBody>
                    <a:bodyPr wrap="none"/>
                    <a:lstStyle/>
                    <a:p>
                      <a:pPr algn="l"/>
                      <a:r>
                        <a:rPr sz="800" b="1">
                          <a:solidFill>
                            <a:srgbClr val="A86F00"/>
                          </a:solidFill>
                          <a:latin typeface="Calibri"/>
                        </a:rPr>
                        <a:t>▶ 18.7%</a:t>
                      </a:r>
                    </a:p>
                  </a:txBody>
                  <a:tcPr marL="85725" marR="38100" marT="19050" marB="19050" anchor="ctr">
                    <a:solidFill>
                      <a:srgbClr val="FFFFFF"/>
                    </a:solidFill>
                  </a:tcPr>
                </a:tc>
                <a:tc>
                  <a:txBody>
                    <a:bodyPr wrap="none"/>
                    <a:lstStyle/>
                    <a:p>
                      <a:pPr algn="l"/>
                      <a:r>
                        <a:rPr sz="800" b="1">
                          <a:solidFill>
                            <a:srgbClr val="A86F00"/>
                          </a:solidFill>
                          <a:latin typeface="Calibri"/>
                        </a:rPr>
                        <a:t>▶ 16.3%</a:t>
                      </a:r>
                    </a:p>
                  </a:txBody>
                  <a:tcPr marL="85725" marR="38100" marT="19050" marB="19050" anchor="ctr">
                    <a:solidFill>
                      <a:srgbClr val="FFFFFF"/>
                    </a:solidFill>
                  </a:tcPr>
                </a:tc>
                <a:tc>
                  <a:txBody>
                    <a:bodyPr wrap="none"/>
                    <a:lstStyle/>
                    <a:p>
                      <a:pPr algn="l"/>
                      <a:r>
                        <a:rPr sz="800" b="1">
                          <a:solidFill>
                            <a:srgbClr val="A86F00"/>
                          </a:solidFill>
                          <a:latin typeface="Calibri"/>
                        </a:rPr>
                        <a:t>▶ 14.6%</a:t>
                      </a:r>
                    </a:p>
                  </a:txBody>
                  <a:tcPr marL="85725" marR="38100" marT="19050" marB="19050" anchor="ctr">
                    <a:solidFill>
                      <a:srgbClr val="FFFFFF"/>
                    </a:solidFill>
                  </a:tcPr>
                </a:tc>
                <a:tc>
                  <a:txBody>
                    <a:bodyPr wrap="none"/>
                    <a:lstStyle/>
                    <a:p>
                      <a:pPr algn="l"/>
                      <a:r>
                        <a:rPr sz="800" b="1">
                          <a:solidFill>
                            <a:srgbClr val="A86F00"/>
                          </a:solidFill>
                          <a:latin typeface="Calibri"/>
                        </a:rPr>
                        <a:t>▶ 13.2%</a:t>
                      </a:r>
                    </a:p>
                  </a:txBody>
                  <a:tcPr marL="85725" marR="38100" marT="19050" marB="19050" anchor="ctr">
                    <a:solidFill>
                      <a:srgbClr val="FFFFFF"/>
                    </a:solidFill>
                  </a:tcPr>
                </a:tc>
                <a:tc>
                  <a:txBody>
                    <a:bodyPr wrap="none"/>
                    <a:lstStyle/>
                    <a:p>
                      <a:pPr algn="l"/>
                      <a:r>
                        <a:rPr sz="800" b="1">
                          <a:solidFill>
                            <a:srgbClr val="A86F00"/>
                          </a:solidFill>
                          <a:latin typeface="Calibri"/>
                        </a:rPr>
                        <a:t>▶ 12.0%</a:t>
                      </a:r>
                    </a:p>
                  </a:txBody>
                  <a:tcPr marL="85725" marR="38100" marT="19050" marB="19050" anchor="ctr">
                    <a:solidFill>
                      <a:srgbClr val="FFFFFF"/>
                    </a:solidFill>
                  </a:tcPr>
                </a:tc>
                <a:tc>
                  <a:txBody>
                    <a:bodyPr wrap="none"/>
                    <a:lstStyle/>
                    <a:p>
                      <a:pPr algn="l"/>
                      <a:r>
                        <a:rPr sz="800" b="1">
                          <a:solidFill>
                            <a:srgbClr val="A86F00"/>
                          </a:solidFill>
                          <a:latin typeface="Calibri"/>
                        </a:rPr>
                        <a:t>▶ 11.1%</a:t>
                      </a:r>
                    </a:p>
                  </a:txBody>
                  <a:tcPr marL="85725" marR="38100" marT="19050" marB="19050" anchor="ctr">
                    <a:solidFill>
                      <a:srgbClr val="FFFFFF"/>
                    </a:solidFill>
                  </a:tcPr>
                </a:tc>
                <a:tc>
                  <a:txBody>
                    <a:bodyPr wrap="none"/>
                    <a:lstStyle/>
                    <a:p>
                      <a:pPr algn="l"/>
                      <a:r>
                        <a:rPr sz="800" b="1">
                          <a:solidFill>
                            <a:srgbClr val="A86F00"/>
                          </a:solidFill>
                          <a:latin typeface="Calibri"/>
                        </a:rPr>
                        <a:t>▶ 10.2%</a:t>
                      </a:r>
                    </a:p>
                  </a:txBody>
                  <a:tcPr marL="85725" marR="38100" marT="19050" marB="19050" anchor="ctr">
                    <a:solidFill>
                      <a:srgbClr val="FFFFFF"/>
                    </a:solidFill>
                  </a:tcPr>
                </a:tc>
                <a:tc>
                  <a:txBody>
                    <a:bodyPr wrap="none"/>
                    <a:lstStyle/>
                    <a:p>
                      <a:pPr algn="l"/>
                      <a:r>
                        <a:rPr sz="800" b="1">
                          <a:solidFill>
                            <a:srgbClr val="A86F00"/>
                          </a:solidFill>
                          <a:latin typeface="Calibri"/>
                        </a:rPr>
                        <a:t>▶ 9.6%</a:t>
                      </a:r>
                    </a:p>
                  </a:txBody>
                  <a:tcPr marL="85725" marR="38100" marT="19050" marB="19050" anchor="ctr">
                    <a:solidFill>
                      <a:srgbClr val="FFFFFF"/>
                    </a:solidFill>
                  </a:tcPr>
                </a:tc>
                <a:tc>
                  <a:txBody>
                    <a:bodyPr wrap="none"/>
                    <a:lstStyle/>
                    <a:p>
                      <a:pPr algn="l"/>
                      <a:r>
                        <a:rPr sz="800" b="1">
                          <a:solidFill>
                            <a:srgbClr val="A86F00"/>
                          </a:solidFill>
                          <a:latin typeface="Calibri"/>
                        </a:rPr>
                        <a:t>▶ 9.1%</a:t>
                      </a:r>
                    </a:p>
                  </a:txBody>
                  <a:tcPr marL="85725" marR="38100" marT="19050" marB="19050" anchor="ctr">
                    <a:solidFill>
                      <a:srgbClr val="FFFFFF"/>
                    </a:solidFill>
                  </a:tcPr>
                </a:tc>
                <a:tc>
                  <a:txBody>
                    <a:bodyPr wrap="none"/>
                    <a:lstStyle/>
                    <a:p>
                      <a:pPr algn="l"/>
                      <a:r>
                        <a:rPr sz="800" b="1">
                          <a:solidFill>
                            <a:srgbClr val="A86F00"/>
                          </a:solidFill>
                          <a:latin typeface="Calibri"/>
                        </a:rPr>
                        <a:t>▶ 8.6%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Online / Digital Pharmacy</a:t>
                      </a:r>
                    </a:p>
                  </a:txBody>
                  <a:tcPr marL="85725" marR="38100" marT="19050" marB="19050" anchor="ctr">
                    <a:solidFill>
                      <a:srgbClr val="F5F8FA"/>
                    </a:solidFill>
                  </a:tcPr>
                </a:tc>
                <a:tc>
                  <a:txBody>
                    <a:bodyPr wrap="none"/>
                    <a:lstStyle/>
                    <a:p>
                      <a:pPr algn="l"/>
                      <a:r>
                        <a:rPr sz="800" b="1">
                          <a:solidFill>
                            <a:srgbClr val="A86F00"/>
                          </a:solidFill>
                          <a:latin typeface="Calibri"/>
                        </a:rPr>
                        <a:t>▶ 15.5%</a:t>
                      </a:r>
                    </a:p>
                  </a:txBody>
                  <a:tcPr marL="85725" marR="38100" marT="19050" marB="19050" anchor="ctr">
                    <a:solidFill>
                      <a:srgbClr val="F5F8FA"/>
                    </a:solidFill>
                  </a:tcPr>
                </a:tc>
                <a:tc>
                  <a:txBody>
                    <a:bodyPr wrap="none"/>
                    <a:lstStyle/>
                    <a:p>
                      <a:pPr algn="l"/>
                      <a:r>
                        <a:rPr sz="800" b="1">
                          <a:solidFill>
                            <a:srgbClr val="A86F00"/>
                          </a:solidFill>
                          <a:latin typeface="Calibri"/>
                        </a:rPr>
                        <a:t>▶ 22.5%</a:t>
                      </a:r>
                    </a:p>
                  </a:txBody>
                  <a:tcPr marL="85725" marR="38100" marT="19050" marB="19050" anchor="ctr">
                    <a:solidFill>
                      <a:srgbClr val="F5F8FA"/>
                    </a:solidFill>
                  </a:tcPr>
                </a:tc>
                <a:tc>
                  <a:txBody>
                    <a:bodyPr wrap="none"/>
                    <a:lstStyle/>
                    <a:p>
                      <a:pPr algn="l"/>
                      <a:r>
                        <a:rPr sz="800" b="1">
                          <a:solidFill>
                            <a:srgbClr val="A86F00"/>
                          </a:solidFill>
                          <a:latin typeface="Calibri"/>
                        </a:rPr>
                        <a:t>▶ 26.4%</a:t>
                      </a:r>
                    </a:p>
                  </a:txBody>
                  <a:tcPr marL="85725" marR="38100" marT="19050" marB="19050" anchor="ctr">
                    <a:solidFill>
                      <a:srgbClr val="F5F8FA"/>
                    </a:solidFill>
                  </a:tcPr>
                </a:tc>
                <a:tc>
                  <a:txBody>
                    <a:bodyPr wrap="none"/>
                    <a:lstStyle/>
                    <a:p>
                      <a:pPr algn="l"/>
                      <a:r>
                        <a:rPr sz="800" b="1">
                          <a:solidFill>
                            <a:srgbClr val="A86F00"/>
                          </a:solidFill>
                          <a:latin typeface="Calibri"/>
                        </a:rPr>
                        <a:t>▶ 23.7%</a:t>
                      </a:r>
                    </a:p>
                  </a:txBody>
                  <a:tcPr marL="85725" marR="38100" marT="19050" marB="19050" anchor="ctr">
                    <a:solidFill>
                      <a:srgbClr val="F5F8FA"/>
                    </a:solidFill>
                  </a:tcPr>
                </a:tc>
                <a:tc>
                  <a:txBody>
                    <a:bodyPr wrap="none"/>
                    <a:lstStyle/>
                    <a:p>
                      <a:pPr algn="l"/>
                      <a:r>
                        <a:rPr sz="800" b="1">
                          <a:solidFill>
                            <a:srgbClr val="A86F00"/>
                          </a:solidFill>
                          <a:latin typeface="Calibri"/>
                        </a:rPr>
                        <a:t>▶ 20.0%</a:t>
                      </a:r>
                    </a:p>
                  </a:txBody>
                  <a:tcPr marL="85725" marR="38100" marT="19050" marB="19050" anchor="ctr">
                    <a:solidFill>
                      <a:srgbClr val="F5F8FA"/>
                    </a:solidFill>
                  </a:tcPr>
                </a:tc>
                <a:tc>
                  <a:txBody>
                    <a:bodyPr wrap="none"/>
                    <a:lstStyle/>
                    <a:p>
                      <a:pPr algn="l"/>
                      <a:r>
                        <a:rPr sz="800" b="1">
                          <a:solidFill>
                            <a:srgbClr val="A86F00"/>
                          </a:solidFill>
                          <a:latin typeface="Calibri"/>
                        </a:rPr>
                        <a:t>▶ 17.8%</a:t>
                      </a:r>
                    </a:p>
                  </a:txBody>
                  <a:tcPr marL="85725" marR="38100" marT="19050" marB="19050" anchor="ctr">
                    <a:solidFill>
                      <a:srgbClr val="F5F8FA"/>
                    </a:solidFill>
                  </a:tcPr>
                </a:tc>
                <a:tc>
                  <a:txBody>
                    <a:bodyPr wrap="none"/>
                    <a:lstStyle/>
                    <a:p>
                      <a:pPr algn="l"/>
                      <a:r>
                        <a:rPr sz="800" b="1">
                          <a:solidFill>
                            <a:srgbClr val="A86F00"/>
                          </a:solidFill>
                          <a:latin typeface="Calibri"/>
                        </a:rPr>
                        <a:t>▶ 15.4%</a:t>
                      </a:r>
                    </a:p>
                  </a:txBody>
                  <a:tcPr marL="85725" marR="38100" marT="19050" marB="19050" anchor="ctr">
                    <a:solidFill>
                      <a:srgbClr val="F5F8FA"/>
                    </a:solidFill>
                  </a:tcPr>
                </a:tc>
                <a:tc>
                  <a:txBody>
                    <a:bodyPr wrap="none"/>
                    <a:lstStyle/>
                    <a:p>
                      <a:pPr algn="l"/>
                      <a:r>
                        <a:rPr sz="800" b="1">
                          <a:solidFill>
                            <a:srgbClr val="A86F00"/>
                          </a:solidFill>
                          <a:latin typeface="Calibri"/>
                        </a:rPr>
                        <a:t>▶ 13.8%</a:t>
                      </a:r>
                    </a:p>
                  </a:txBody>
                  <a:tcPr marL="85725" marR="38100" marT="19050" marB="19050" anchor="ctr">
                    <a:solidFill>
                      <a:srgbClr val="F5F8FA"/>
                    </a:solidFill>
                  </a:tcPr>
                </a:tc>
                <a:tc>
                  <a:txBody>
                    <a:bodyPr wrap="none"/>
                    <a:lstStyle/>
                    <a:p>
                      <a:pPr algn="l"/>
                      <a:r>
                        <a:rPr sz="800" b="1">
                          <a:solidFill>
                            <a:srgbClr val="A86F00"/>
                          </a:solidFill>
                          <a:latin typeface="Calibri"/>
                        </a:rPr>
                        <a:t>▶ 12.4%</a:t>
                      </a:r>
                    </a:p>
                  </a:txBody>
                  <a:tcPr marL="85725" marR="38100" marT="19050" marB="19050" anchor="ctr">
                    <a:solidFill>
                      <a:srgbClr val="F5F8FA"/>
                    </a:solidFill>
                  </a:tcPr>
                </a:tc>
                <a:tc>
                  <a:txBody>
                    <a:bodyPr wrap="none"/>
                    <a:lstStyle/>
                    <a:p>
                      <a:pPr algn="l"/>
                      <a:r>
                        <a:rPr sz="800" b="1">
                          <a:solidFill>
                            <a:srgbClr val="A86F00"/>
                          </a:solidFill>
                          <a:latin typeface="Calibri"/>
                        </a:rPr>
                        <a:t>▶ 11.3%</a:t>
                      </a:r>
                    </a:p>
                  </a:txBody>
                  <a:tcPr marL="85725" marR="38100" marT="19050" marB="19050" anchor="ctr">
                    <a:solidFill>
                      <a:srgbClr val="F5F8FA"/>
                    </a:solidFill>
                  </a:tcPr>
                </a:tc>
                <a:tc>
                  <a:txBody>
                    <a:bodyPr wrap="none"/>
                    <a:lstStyle/>
                    <a:p>
                      <a:pPr algn="l"/>
                      <a:r>
                        <a:rPr sz="800" b="1">
                          <a:solidFill>
                            <a:srgbClr val="A86F00"/>
                          </a:solidFill>
                          <a:latin typeface="Calibri"/>
                        </a:rPr>
                        <a:t>▶ 10.3%</a:t>
                      </a:r>
                    </a:p>
                  </a:txBody>
                  <a:tcPr marL="85725" marR="38100" marT="19050" marB="19050" anchor="ctr">
                    <a:solidFill>
                      <a:srgbClr val="F5F8FA"/>
                    </a:solidFill>
                  </a:tcPr>
                </a:tc>
                <a:tc>
                  <a:txBody>
                    <a:bodyPr wrap="none"/>
                    <a:lstStyle/>
                    <a:p>
                      <a:pPr algn="l"/>
                      <a:r>
                        <a:rPr sz="800" b="1">
                          <a:solidFill>
                            <a:srgbClr val="A86F00"/>
                          </a:solidFill>
                          <a:latin typeface="Calibri"/>
                        </a:rPr>
                        <a:t>▶ 9.5%</a:t>
                      </a:r>
                    </a:p>
                  </a:txBody>
                  <a:tcPr marL="85725" marR="38100" marT="19050" marB="19050" anchor="ctr">
                    <a:solidFill>
                      <a:srgbClr val="F5F8FA"/>
                    </a:solidFill>
                  </a:tcPr>
                </a:tc>
                <a:tc>
                  <a:txBody>
                    <a:bodyPr wrap="none"/>
                    <a:lstStyle/>
                    <a:p>
                      <a:pPr algn="l"/>
                      <a:r>
                        <a:rPr sz="800" b="1">
                          <a:solidFill>
                            <a:srgbClr val="A86F00"/>
                          </a:solidFill>
                          <a:latin typeface="Calibri"/>
                        </a:rPr>
                        <a:t>▶ 8.9%</a:t>
                      </a:r>
                    </a:p>
                  </a:txBody>
                  <a:tcPr marL="85725" marR="38100" marT="19050" marB="19050" anchor="ctr">
                    <a:solidFill>
                      <a:srgbClr val="F5F8FA"/>
                    </a:solidFill>
                  </a:tcPr>
                </a:tc>
                <a:tc>
                  <a:txBody>
                    <a:bodyPr wrap="none"/>
                    <a:lstStyle/>
                    <a:p>
                      <a:pPr algn="l"/>
                      <a:r>
                        <a:rPr sz="800" b="1">
                          <a:solidFill>
                            <a:srgbClr val="A86F00"/>
                          </a:solidFill>
                          <a:latin typeface="Calibri"/>
                        </a:rPr>
                        <a:t>▶ 8.3%</a:t>
                      </a:r>
                    </a:p>
                  </a:txBody>
                  <a:tcPr marL="85725" marR="38100" marT="19050" marB="19050" anchor="ctr">
                    <a:solidFill>
                      <a:srgbClr val="F5F8FA"/>
                    </a:solidFill>
                  </a:tcPr>
                </a:tc>
                <a:tc>
                  <a:txBody>
                    <a:bodyPr wrap="none"/>
                    <a:lstStyle/>
                    <a:p>
                      <a:pPr algn="l"/>
                      <a:r>
                        <a:rPr sz="800" b="1">
                          <a:solidFill>
                            <a:srgbClr val="A86F00"/>
                          </a:solidFill>
                          <a:latin typeface="Calibri"/>
                        </a:rPr>
                        <a:t>▶ 7.9%</a:t>
                      </a:r>
                    </a:p>
                  </a:txBody>
                  <a:tcPr marL="85725" marR="38100" marT="19050" marB="19050" anchor="ctr">
                    <a:solidFill>
                      <a:srgbClr val="F5F8FA"/>
                    </a:solidFill>
                  </a:tcPr>
                </a:tc>
              </a:tr>
            </a:tbl>
          </a:graphicData>
        </a:graphic>
      </p:graphicFrame>
      <p:sp>
        <p:nvSpPr>
          <p:cNvPr id="14" name="TextBox 13"/>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Value YoY, By Sales / Distribution Channel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7" name="Table 16"/>
          <p:cNvGraphicFramePr>
            <a:graphicFrameLocks noGrp="1"/>
          </p:cNvGraphicFramePr>
          <p:nvPr/>
        </p:nvGraphicFramePr>
        <p:xfrm>
          <a:off x="238125" y="4143375"/>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Sales / Distribution Channel</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Direct Institutional Sales</a:t>
                      </a:r>
                    </a:p>
                  </a:txBody>
                  <a:tcPr marL="85725" marR="38100" marT="19050" marB="19050" anchor="ctr">
                    <a:solidFill>
                      <a:srgbClr val="FFFFFF"/>
                    </a:solidFill>
                  </a:tcPr>
                </a:tc>
                <a:tc>
                  <a:txBody>
                    <a:bodyPr wrap="none"/>
                    <a:lstStyle/>
                    <a:p>
                      <a:pPr algn="l"/>
                      <a:r>
                        <a:rPr sz="800" b="1">
                          <a:solidFill>
                            <a:srgbClr val="A86F00"/>
                          </a:solidFill>
                          <a:latin typeface="Calibri"/>
                        </a:rPr>
                        <a:t>▶ 12.8%</a:t>
                      </a:r>
                    </a:p>
                  </a:txBody>
                  <a:tcPr marL="85725" marR="38100" marT="19050" marB="19050" anchor="ctr">
                    <a:solidFill>
                      <a:srgbClr val="FFFFFF"/>
                    </a:solidFill>
                  </a:tcPr>
                </a:tc>
                <a:tc>
                  <a:txBody>
                    <a:bodyPr wrap="none"/>
                    <a:lstStyle/>
                    <a:p>
                      <a:pPr algn="l"/>
                      <a:r>
                        <a:rPr sz="800" b="1">
                          <a:solidFill>
                            <a:srgbClr val="A86F00"/>
                          </a:solidFill>
                          <a:latin typeface="Calibri"/>
                        </a:rPr>
                        <a:t>▶ 19.7%</a:t>
                      </a:r>
                    </a:p>
                  </a:txBody>
                  <a:tcPr marL="85725" marR="38100" marT="19050" marB="19050" anchor="ctr">
                    <a:solidFill>
                      <a:srgbClr val="FFFFFF"/>
                    </a:solidFill>
                  </a:tcPr>
                </a:tc>
                <a:tc>
                  <a:txBody>
                    <a:bodyPr wrap="none"/>
                    <a:lstStyle/>
                    <a:p>
                      <a:pPr algn="l"/>
                      <a:r>
                        <a:rPr sz="800" b="1">
                          <a:solidFill>
                            <a:srgbClr val="A86F00"/>
                          </a:solidFill>
                          <a:latin typeface="Calibri"/>
                        </a:rPr>
                        <a:t>▶ 23.5%</a:t>
                      </a:r>
                    </a:p>
                  </a:txBody>
                  <a:tcPr marL="85725" marR="38100" marT="19050" marB="19050" anchor="ctr">
                    <a:solidFill>
                      <a:srgbClr val="FFFFFF"/>
                    </a:solidFill>
                  </a:tcPr>
                </a:tc>
                <a:tc>
                  <a:txBody>
                    <a:bodyPr wrap="none"/>
                    <a:lstStyle/>
                    <a:p>
                      <a:pPr algn="l"/>
                      <a:r>
                        <a:rPr sz="800" b="1">
                          <a:solidFill>
                            <a:srgbClr val="A86F00"/>
                          </a:solidFill>
                          <a:latin typeface="Calibri"/>
                        </a:rPr>
                        <a:t>▶ 20.9%</a:t>
                      </a:r>
                    </a:p>
                  </a:txBody>
                  <a:tcPr marL="85725" marR="38100" marT="19050" marB="19050" anchor="ctr">
                    <a:solidFill>
                      <a:srgbClr val="FFFFFF"/>
                    </a:solidFill>
                  </a:tcPr>
                </a:tc>
                <a:tc>
                  <a:txBody>
                    <a:bodyPr wrap="none"/>
                    <a:lstStyle/>
                    <a:p>
                      <a:pPr algn="l"/>
                      <a:r>
                        <a:rPr sz="800" b="1">
                          <a:solidFill>
                            <a:srgbClr val="A86F00"/>
                          </a:solidFill>
                          <a:latin typeface="Calibri"/>
                        </a:rPr>
                        <a:t>▶ 17.2%</a:t>
                      </a:r>
                    </a:p>
                  </a:txBody>
                  <a:tcPr marL="85725" marR="38100" marT="19050" marB="19050" anchor="ctr">
                    <a:solidFill>
                      <a:srgbClr val="FFFFFF"/>
                    </a:solidFill>
                  </a:tcPr>
                </a:tc>
                <a:tc>
                  <a:txBody>
                    <a:bodyPr wrap="none"/>
                    <a:lstStyle/>
                    <a:p>
                      <a:pPr algn="l"/>
                      <a:r>
                        <a:rPr sz="800" b="1">
                          <a:solidFill>
                            <a:srgbClr val="A86F00"/>
                          </a:solidFill>
                          <a:latin typeface="Calibri"/>
                        </a:rPr>
                        <a:t>▶ 15.1%</a:t>
                      </a:r>
                    </a:p>
                  </a:txBody>
                  <a:tcPr marL="85725" marR="38100" marT="19050" marB="19050" anchor="ctr">
                    <a:solidFill>
                      <a:srgbClr val="FFFFFF"/>
                    </a:solidFill>
                  </a:tcPr>
                </a:tc>
                <a:tc>
                  <a:txBody>
                    <a:bodyPr wrap="none"/>
                    <a:lstStyle/>
                    <a:p>
                      <a:pPr algn="l"/>
                      <a:r>
                        <a:rPr sz="800" b="1">
                          <a:solidFill>
                            <a:srgbClr val="A86F00"/>
                          </a:solidFill>
                          <a:latin typeface="Calibri"/>
                        </a:rPr>
                        <a:t>▶ 12.8%</a:t>
                      </a:r>
                    </a:p>
                  </a:txBody>
                  <a:tcPr marL="85725" marR="38100" marT="19050" marB="19050" anchor="ctr">
                    <a:solidFill>
                      <a:srgbClr val="FFFFFF"/>
                    </a:solidFill>
                  </a:tcPr>
                </a:tc>
                <a:tc>
                  <a:txBody>
                    <a:bodyPr wrap="none"/>
                    <a:lstStyle/>
                    <a:p>
                      <a:pPr algn="l"/>
                      <a:r>
                        <a:rPr sz="800" b="1">
                          <a:solidFill>
                            <a:srgbClr val="A86F00"/>
                          </a:solidFill>
                          <a:latin typeface="Calibri"/>
                        </a:rPr>
                        <a:t>▶ 11.1%</a:t>
                      </a:r>
                    </a:p>
                  </a:txBody>
                  <a:tcPr marL="85725" marR="38100" marT="19050" marB="19050" anchor="ctr">
                    <a:solidFill>
                      <a:srgbClr val="FFFFFF"/>
                    </a:solidFill>
                  </a:tcPr>
                </a:tc>
                <a:tc>
                  <a:txBody>
                    <a:bodyPr wrap="none"/>
                    <a:lstStyle/>
                    <a:p>
                      <a:pPr algn="l"/>
                      <a:r>
                        <a:rPr sz="800" b="1">
                          <a:solidFill>
                            <a:srgbClr val="A86F00"/>
                          </a:solidFill>
                          <a:latin typeface="Calibri"/>
                        </a:rPr>
                        <a:t>▶ 9.8%</a:t>
                      </a:r>
                    </a:p>
                  </a:txBody>
                  <a:tcPr marL="85725" marR="38100" marT="19050" marB="19050" anchor="ctr">
                    <a:solidFill>
                      <a:srgbClr val="FFFFFF"/>
                    </a:solidFill>
                  </a:tcPr>
                </a:tc>
                <a:tc>
                  <a:txBody>
                    <a:bodyPr wrap="none"/>
                    <a:lstStyle/>
                    <a:p>
                      <a:pPr algn="l"/>
                      <a:r>
                        <a:rPr sz="800" b="1">
                          <a:solidFill>
                            <a:srgbClr val="A86F00"/>
                          </a:solidFill>
                          <a:latin typeface="Calibri"/>
                        </a:rPr>
                        <a:t>▶ 8.7%</a:t>
                      </a:r>
                    </a:p>
                  </a:txBody>
                  <a:tcPr marL="85725" marR="38100" marT="19050" marB="19050" anchor="ctr">
                    <a:solidFill>
                      <a:srgbClr val="FFFFFF"/>
                    </a:solidFill>
                  </a:tcPr>
                </a:tc>
                <a:tc>
                  <a:txBody>
                    <a:bodyPr wrap="none"/>
                    <a:lstStyle/>
                    <a:p>
                      <a:pPr algn="l"/>
                      <a:r>
                        <a:rPr sz="800" b="1">
                          <a:solidFill>
                            <a:srgbClr val="A86F00"/>
                          </a:solidFill>
                          <a:latin typeface="Calibri"/>
                        </a:rPr>
                        <a:t>▶ 7.8%</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c>
                  <a:txBody>
                    <a:bodyPr wrap="none"/>
                    <a:lstStyle/>
                    <a:p>
                      <a:pPr algn="l"/>
                      <a:r>
                        <a:rPr sz="800" b="1">
                          <a:solidFill>
                            <a:srgbClr val="A86F00"/>
                          </a:solidFill>
                          <a:latin typeface="Calibri"/>
                        </a:rPr>
                        <a:t>▶ 5.4%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Specialty Distribution</a:t>
                      </a:r>
                    </a:p>
                  </a:txBody>
                  <a:tcPr marL="85725" marR="38100" marT="19050" marB="19050" anchor="ctr">
                    <a:solidFill>
                      <a:srgbClr val="F5F8FA"/>
                    </a:solidFill>
                  </a:tcPr>
                </a:tc>
                <a:tc>
                  <a:txBody>
                    <a:bodyPr wrap="none"/>
                    <a:lstStyle/>
                    <a:p>
                      <a:pPr algn="l"/>
                      <a:r>
                        <a:rPr sz="800" b="1">
                          <a:solidFill>
                            <a:srgbClr val="A86F00"/>
                          </a:solidFill>
                          <a:latin typeface="Calibri"/>
                        </a:rPr>
                        <a:t>▶ 12.9%</a:t>
                      </a:r>
                    </a:p>
                  </a:txBody>
                  <a:tcPr marL="85725" marR="38100" marT="19050" marB="19050" anchor="ctr">
                    <a:solidFill>
                      <a:srgbClr val="F5F8FA"/>
                    </a:solidFill>
                  </a:tcPr>
                </a:tc>
                <a:tc>
                  <a:txBody>
                    <a:bodyPr wrap="none"/>
                    <a:lstStyle/>
                    <a:p>
                      <a:pPr algn="l"/>
                      <a:r>
                        <a:rPr sz="800" b="1">
                          <a:solidFill>
                            <a:srgbClr val="A86F00"/>
                          </a:solidFill>
                          <a:latin typeface="Calibri"/>
                        </a:rPr>
                        <a:t>▶ 19.8%</a:t>
                      </a:r>
                    </a:p>
                  </a:txBody>
                  <a:tcPr marL="85725" marR="38100" marT="19050" marB="19050" anchor="ctr">
                    <a:solidFill>
                      <a:srgbClr val="F5F8FA"/>
                    </a:solidFill>
                  </a:tcPr>
                </a:tc>
                <a:tc>
                  <a:txBody>
                    <a:bodyPr wrap="none"/>
                    <a:lstStyle/>
                    <a:p>
                      <a:pPr algn="l"/>
                      <a:r>
                        <a:rPr sz="800" b="1">
                          <a:solidFill>
                            <a:srgbClr val="A86F00"/>
                          </a:solidFill>
                          <a:latin typeface="Calibri"/>
                        </a:rPr>
                        <a:t>▶ 23.6%</a:t>
                      </a:r>
                    </a:p>
                  </a:txBody>
                  <a:tcPr marL="85725" marR="38100" marT="19050" marB="19050" anchor="ctr">
                    <a:solidFill>
                      <a:srgbClr val="F5F8FA"/>
                    </a:solidFill>
                  </a:tcPr>
                </a:tc>
                <a:tc>
                  <a:txBody>
                    <a:bodyPr wrap="none"/>
                    <a:lstStyle/>
                    <a:p>
                      <a:pPr algn="l"/>
                      <a:r>
                        <a:rPr sz="800" b="1">
                          <a:solidFill>
                            <a:srgbClr val="2E7D32"/>
                          </a:solidFill>
                          <a:latin typeface="Calibri"/>
                        </a:rPr>
                        <a:t>▲ 21.0%</a:t>
                      </a:r>
                    </a:p>
                  </a:txBody>
                  <a:tcPr marL="85725" marR="38100" marT="19050" marB="19050" anchor="ctr">
                    <a:solidFill>
                      <a:srgbClr val="F5F8FA"/>
                    </a:solidFill>
                  </a:tcPr>
                </a:tc>
                <a:tc>
                  <a:txBody>
                    <a:bodyPr wrap="none"/>
                    <a:lstStyle/>
                    <a:p>
                      <a:pPr algn="l"/>
                      <a:r>
                        <a:rPr sz="800" b="1">
                          <a:solidFill>
                            <a:srgbClr val="2E7D32"/>
                          </a:solidFill>
                          <a:latin typeface="Calibri"/>
                        </a:rPr>
                        <a:t>▲ 17.4%</a:t>
                      </a:r>
                    </a:p>
                  </a:txBody>
                  <a:tcPr marL="85725" marR="38100" marT="19050" marB="19050" anchor="ctr">
                    <a:solidFill>
                      <a:srgbClr val="F5F8FA"/>
                    </a:solidFill>
                  </a:tcPr>
                </a:tc>
                <a:tc>
                  <a:txBody>
                    <a:bodyPr wrap="none"/>
                    <a:lstStyle/>
                    <a:p>
                      <a:pPr algn="l"/>
                      <a:r>
                        <a:rPr sz="800" b="1">
                          <a:solidFill>
                            <a:srgbClr val="2E7D32"/>
                          </a:solidFill>
                          <a:latin typeface="Calibri"/>
                        </a:rPr>
                        <a:t>▲ 15.3%</a:t>
                      </a:r>
                    </a:p>
                  </a:txBody>
                  <a:tcPr marL="85725" marR="38100" marT="19050" marB="19050" anchor="ctr">
                    <a:solidFill>
                      <a:srgbClr val="F5F8FA"/>
                    </a:solidFill>
                  </a:tcPr>
                </a:tc>
                <a:tc>
                  <a:txBody>
                    <a:bodyPr wrap="none"/>
                    <a:lstStyle/>
                    <a:p>
                      <a:pPr algn="l"/>
                      <a:r>
                        <a:rPr sz="800" b="1">
                          <a:solidFill>
                            <a:srgbClr val="2E7D32"/>
                          </a:solidFill>
                          <a:latin typeface="Calibri"/>
                        </a:rPr>
                        <a:t>▲ 13.0%</a:t>
                      </a:r>
                    </a:p>
                  </a:txBody>
                  <a:tcPr marL="85725" marR="38100" marT="19050" marB="19050" anchor="ctr">
                    <a:solidFill>
                      <a:srgbClr val="F5F8FA"/>
                    </a:solidFill>
                  </a:tcPr>
                </a:tc>
                <a:tc>
                  <a:txBody>
                    <a:bodyPr wrap="none"/>
                    <a:lstStyle/>
                    <a:p>
                      <a:pPr algn="l"/>
                      <a:r>
                        <a:rPr sz="800" b="1">
                          <a:solidFill>
                            <a:srgbClr val="2E7D32"/>
                          </a:solidFill>
                          <a:latin typeface="Calibri"/>
                        </a:rPr>
                        <a:t>▲ 11.4%</a:t>
                      </a:r>
                    </a:p>
                  </a:txBody>
                  <a:tcPr marL="85725" marR="38100" marT="19050" marB="19050" anchor="ctr">
                    <a:solidFill>
                      <a:srgbClr val="F5F8FA"/>
                    </a:solidFill>
                  </a:tcPr>
                </a:tc>
                <a:tc>
                  <a:txBody>
                    <a:bodyPr wrap="none"/>
                    <a:lstStyle/>
                    <a:p>
                      <a:pPr algn="l"/>
                      <a:r>
                        <a:rPr sz="800" b="1">
                          <a:solidFill>
                            <a:srgbClr val="2E7D32"/>
                          </a:solidFill>
                          <a:latin typeface="Calibri"/>
                        </a:rPr>
                        <a:t>▲ 10.1%</a:t>
                      </a:r>
                    </a:p>
                  </a:txBody>
                  <a:tcPr marL="85725" marR="38100" marT="19050" marB="19050" anchor="ctr">
                    <a:solidFill>
                      <a:srgbClr val="F5F8FA"/>
                    </a:solidFill>
                  </a:tcPr>
                </a:tc>
                <a:tc>
                  <a:txBody>
                    <a:bodyPr wrap="none"/>
                    <a:lstStyle/>
                    <a:p>
                      <a:pPr algn="l"/>
                      <a:r>
                        <a:rPr sz="800" b="1">
                          <a:solidFill>
                            <a:srgbClr val="2E7D32"/>
                          </a:solidFill>
                          <a:latin typeface="Calibri"/>
                        </a:rPr>
                        <a:t>▲ 9.0%</a:t>
                      </a:r>
                    </a:p>
                  </a:txBody>
                  <a:tcPr marL="85725" marR="38100" marT="19050" marB="19050" anchor="ctr">
                    <a:solidFill>
                      <a:srgbClr val="F5F8FA"/>
                    </a:solidFill>
                  </a:tcPr>
                </a:tc>
                <a:tc>
                  <a:txBody>
                    <a:bodyPr wrap="none"/>
                    <a:lstStyle/>
                    <a:p>
                      <a:pPr algn="l"/>
                      <a:r>
                        <a:rPr sz="800" b="1">
                          <a:solidFill>
                            <a:srgbClr val="2E7D32"/>
                          </a:solidFill>
                          <a:latin typeface="Calibri"/>
                        </a:rPr>
                        <a:t>▲ 8.1%</a:t>
                      </a:r>
                    </a:p>
                  </a:txBody>
                  <a:tcPr marL="85725" marR="38100" marT="19050" marB="19050" anchor="ctr">
                    <a:solidFill>
                      <a:srgbClr val="F5F8FA"/>
                    </a:solidFill>
                  </a:tcPr>
                </a:tc>
                <a:tc>
                  <a:txBody>
                    <a:bodyPr wrap="none"/>
                    <a:lstStyle/>
                    <a:p>
                      <a:pPr algn="l"/>
                      <a:r>
                        <a:rPr sz="800" b="1">
                          <a:solidFill>
                            <a:srgbClr val="2E7D32"/>
                          </a:solidFill>
                          <a:latin typeface="Calibri"/>
                        </a:rPr>
                        <a:t>▲ 7.3%</a:t>
                      </a:r>
                    </a:p>
                  </a:txBody>
                  <a:tcPr marL="85725" marR="38100" marT="19050" marB="19050" anchor="ctr">
                    <a:solidFill>
                      <a:srgbClr val="F5F8FA"/>
                    </a:solidFill>
                  </a:tcPr>
                </a:tc>
                <a:tc>
                  <a:txBody>
                    <a:bodyPr wrap="none"/>
                    <a:lstStyle/>
                    <a:p>
                      <a:pPr algn="l"/>
                      <a:r>
                        <a:rPr sz="800" b="1">
                          <a:solidFill>
                            <a:srgbClr val="2E7D32"/>
                          </a:solidFill>
                          <a:latin typeface="Calibri"/>
                        </a:rPr>
                        <a:t>▲ 6.7%</a:t>
                      </a:r>
                    </a:p>
                  </a:txBody>
                  <a:tcPr marL="85725" marR="38100" marT="19050" marB="19050" anchor="ctr">
                    <a:solidFill>
                      <a:srgbClr val="F5F8FA"/>
                    </a:solidFill>
                  </a:tcPr>
                </a:tc>
                <a:tc>
                  <a:txBody>
                    <a:bodyPr wrap="none"/>
                    <a:lstStyle/>
                    <a:p>
                      <a:pPr algn="l"/>
                      <a:r>
                        <a:rPr sz="800" b="1">
                          <a:solidFill>
                            <a:srgbClr val="2E7D32"/>
                          </a:solidFill>
                          <a:latin typeface="Calibri"/>
                        </a:rPr>
                        <a:t>▲ 6.2%</a:t>
                      </a:r>
                    </a:p>
                  </a:txBody>
                  <a:tcPr marL="85725" marR="38100" marT="19050" marB="19050" anchor="ctr">
                    <a:solidFill>
                      <a:srgbClr val="F5F8FA"/>
                    </a:solidFill>
                  </a:tcPr>
                </a:tc>
                <a:tc>
                  <a:txBody>
                    <a:bodyPr wrap="none"/>
                    <a:lstStyle/>
                    <a:p>
                      <a:pPr algn="l"/>
                      <a:r>
                        <a:rPr sz="800" b="1">
                          <a:solidFill>
                            <a:srgbClr val="2E7D32"/>
                          </a:solidFill>
                          <a:latin typeface="Calibri"/>
                        </a:rPr>
                        <a:t>▲ 5.8%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Pharmacy Channel</a:t>
                      </a:r>
                    </a:p>
                  </a:txBody>
                  <a:tcPr marL="85725" marR="38100" marT="19050" marB="19050" anchor="ctr">
                    <a:solidFill>
                      <a:srgbClr val="FFFFFF"/>
                    </a:solidFill>
                  </a:tcPr>
                </a:tc>
                <a:tc>
                  <a:txBody>
                    <a:bodyPr wrap="none"/>
                    <a:lstStyle/>
                    <a:p>
                      <a:pPr algn="l"/>
                      <a:r>
                        <a:rPr sz="800" b="1">
                          <a:solidFill>
                            <a:srgbClr val="A86F00"/>
                          </a:solidFill>
                          <a:latin typeface="Calibri"/>
                        </a:rPr>
                        <a:t>▶ 12.1%</a:t>
                      </a:r>
                    </a:p>
                  </a:txBody>
                  <a:tcPr marL="85725" marR="38100" marT="19050" marB="19050" anchor="ctr">
                    <a:solidFill>
                      <a:srgbClr val="FFFFFF"/>
                    </a:solidFill>
                  </a:tcPr>
                </a:tc>
                <a:tc>
                  <a:txBody>
                    <a:bodyPr wrap="none"/>
                    <a:lstStyle/>
                    <a:p>
                      <a:pPr algn="l"/>
                      <a:r>
                        <a:rPr sz="800" b="1">
                          <a:solidFill>
                            <a:srgbClr val="A86F00"/>
                          </a:solidFill>
                          <a:latin typeface="Calibri"/>
                        </a:rPr>
                        <a:t>▶ 18.9%</a:t>
                      </a:r>
                    </a:p>
                  </a:txBody>
                  <a:tcPr marL="85725" marR="38100" marT="19050" marB="19050" anchor="ctr">
                    <a:solidFill>
                      <a:srgbClr val="FFFFFF"/>
                    </a:solidFill>
                  </a:tcPr>
                </a:tc>
                <a:tc>
                  <a:txBody>
                    <a:bodyPr wrap="none"/>
                    <a:lstStyle/>
                    <a:p>
                      <a:pPr algn="l"/>
                      <a:r>
                        <a:rPr sz="800" b="1">
                          <a:solidFill>
                            <a:srgbClr val="A86F00"/>
                          </a:solidFill>
                          <a:latin typeface="Calibri"/>
                        </a:rPr>
                        <a:t>▶ 22.7%</a:t>
                      </a:r>
                    </a:p>
                  </a:txBody>
                  <a:tcPr marL="85725" marR="38100" marT="19050" marB="19050" anchor="ctr">
                    <a:solidFill>
                      <a:srgbClr val="FFFFFF"/>
                    </a:solidFill>
                  </a:tcPr>
                </a:tc>
                <a:tc>
                  <a:txBody>
                    <a:bodyPr wrap="none"/>
                    <a:lstStyle/>
                    <a:p>
                      <a:pPr algn="l"/>
                      <a:r>
                        <a:rPr sz="800" b="1">
                          <a:solidFill>
                            <a:srgbClr val="A86F00"/>
                          </a:solidFill>
                          <a:latin typeface="Calibri"/>
                        </a:rPr>
                        <a:t>▶ 20.0%</a:t>
                      </a:r>
                    </a:p>
                  </a:txBody>
                  <a:tcPr marL="85725" marR="38100" marT="19050" marB="19050" anchor="ctr">
                    <a:solidFill>
                      <a:srgbClr val="FFFFFF"/>
                    </a:solidFill>
                  </a:tcPr>
                </a:tc>
                <a:tc>
                  <a:txBody>
                    <a:bodyPr wrap="none"/>
                    <a:lstStyle/>
                    <a:p>
                      <a:pPr algn="l"/>
                      <a:r>
                        <a:rPr sz="800" b="1">
                          <a:solidFill>
                            <a:srgbClr val="A86F00"/>
                          </a:solidFill>
                          <a:latin typeface="Calibri"/>
                        </a:rPr>
                        <a:t>▶ 16.4%</a:t>
                      </a:r>
                    </a:p>
                  </a:txBody>
                  <a:tcPr marL="85725" marR="38100" marT="19050" marB="19050" anchor="ctr">
                    <a:solidFill>
                      <a:srgbClr val="FFFFFF"/>
                    </a:solidFill>
                  </a:tcPr>
                </a:tc>
                <a:tc>
                  <a:txBody>
                    <a:bodyPr wrap="none"/>
                    <a:lstStyle/>
                    <a:p>
                      <a:pPr algn="l"/>
                      <a:r>
                        <a:rPr sz="800" b="1">
                          <a:solidFill>
                            <a:srgbClr val="A86F00"/>
                          </a:solidFill>
                          <a:latin typeface="Calibri"/>
                        </a:rPr>
                        <a:t>▶ 14.3%</a:t>
                      </a:r>
                    </a:p>
                  </a:txBody>
                  <a:tcPr marL="85725" marR="38100" marT="19050" marB="19050" anchor="ctr">
                    <a:solidFill>
                      <a:srgbClr val="FFFFFF"/>
                    </a:solidFill>
                  </a:tcPr>
                </a:tc>
                <a:tc>
                  <a:txBody>
                    <a:bodyPr wrap="none"/>
                    <a:lstStyle/>
                    <a:p>
                      <a:pPr algn="l"/>
                      <a:r>
                        <a:rPr sz="800" b="1">
                          <a:solidFill>
                            <a:srgbClr val="A86F00"/>
                          </a:solidFill>
                          <a:latin typeface="Calibri"/>
                        </a:rPr>
                        <a:t>▶ 11.9%</a:t>
                      </a:r>
                    </a:p>
                  </a:txBody>
                  <a:tcPr marL="85725" marR="38100" marT="19050" marB="19050" anchor="ctr">
                    <a:solidFill>
                      <a:srgbClr val="FFFFFF"/>
                    </a:solidFill>
                  </a:tcPr>
                </a:tc>
                <a:tc>
                  <a:txBody>
                    <a:bodyPr wrap="none"/>
                    <a:lstStyle/>
                    <a:p>
                      <a:pPr algn="l"/>
                      <a:r>
                        <a:rPr sz="800" b="1">
                          <a:solidFill>
                            <a:srgbClr val="A86F00"/>
                          </a:solidFill>
                          <a:latin typeface="Calibri"/>
                        </a:rPr>
                        <a:t>▶ 10.3%</a:t>
                      </a:r>
                    </a:p>
                  </a:txBody>
                  <a:tcPr marL="85725" marR="38100" marT="19050" marB="19050" anchor="ctr">
                    <a:solidFill>
                      <a:srgbClr val="FFFFFF"/>
                    </a:solidFill>
                  </a:tcPr>
                </a:tc>
                <a:tc>
                  <a:txBody>
                    <a:bodyPr wrap="none"/>
                    <a:lstStyle/>
                    <a:p>
                      <a:pPr algn="l"/>
                      <a:r>
                        <a:rPr sz="800" b="1">
                          <a:solidFill>
                            <a:srgbClr val="A86F00"/>
                          </a:solidFill>
                          <a:latin typeface="Calibri"/>
                        </a:rPr>
                        <a:t>▶ 9.0%</a:t>
                      </a:r>
                    </a:p>
                  </a:txBody>
                  <a:tcPr marL="85725" marR="38100" marT="19050" marB="19050" anchor="ctr">
                    <a:solidFill>
                      <a:srgbClr val="FFFFFF"/>
                    </a:solidFill>
                  </a:tcPr>
                </a:tc>
                <a:tc>
                  <a:txBody>
                    <a:bodyPr wrap="none"/>
                    <a:lstStyle/>
                    <a:p>
                      <a:pPr algn="l"/>
                      <a:r>
                        <a:rPr sz="800" b="1">
                          <a:solidFill>
                            <a:srgbClr val="A86F00"/>
                          </a:solidFill>
                          <a:latin typeface="Calibri"/>
                        </a:rPr>
                        <a:t>▶ 7.8%</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6.1%</a:t>
                      </a:r>
                    </a:p>
                  </a:txBody>
                  <a:tcPr marL="85725" marR="38100" marT="19050" marB="19050" anchor="ctr">
                    <a:solidFill>
                      <a:srgbClr val="FFFFFF"/>
                    </a:solidFill>
                  </a:tcPr>
                </a:tc>
                <a:tc>
                  <a:txBody>
                    <a:bodyPr wrap="none"/>
                    <a:lstStyle/>
                    <a:p>
                      <a:pPr algn="l"/>
                      <a:r>
                        <a:rPr sz="800" b="1">
                          <a:solidFill>
                            <a:srgbClr val="A86F00"/>
                          </a:solidFill>
                          <a:latin typeface="Calibri"/>
                        </a:rPr>
                        <a:t>▶ 5.4%</a:t>
                      </a:r>
                    </a:p>
                  </a:txBody>
                  <a:tcPr marL="85725" marR="38100" marT="19050" marB="19050" anchor="ctr">
                    <a:solidFill>
                      <a:srgbClr val="FFFFFF"/>
                    </a:solidFill>
                  </a:tcPr>
                </a:tc>
                <a:tc>
                  <a:txBody>
                    <a:bodyPr wrap="none"/>
                    <a:lstStyle/>
                    <a:p>
                      <a:pPr algn="l"/>
                      <a:r>
                        <a:rPr sz="800" b="1">
                          <a:solidFill>
                            <a:srgbClr val="A86F00"/>
                          </a:solidFill>
                          <a:latin typeface="Calibri"/>
                        </a:rPr>
                        <a:t>▶ 4.9%</a:t>
                      </a:r>
                    </a:p>
                  </a:txBody>
                  <a:tcPr marL="85725" marR="38100" marT="19050" marB="19050" anchor="ctr">
                    <a:solidFill>
                      <a:srgbClr val="FFFFFF"/>
                    </a:solidFill>
                  </a:tcPr>
                </a:tc>
                <a:tc>
                  <a:txBody>
                    <a:bodyPr wrap="none"/>
                    <a:lstStyle/>
                    <a:p>
                      <a:pPr algn="l"/>
                      <a:r>
                        <a:rPr sz="800" b="1">
                          <a:solidFill>
                            <a:srgbClr val="A86F00"/>
                          </a:solidFill>
                          <a:latin typeface="Calibri"/>
                        </a:rPr>
                        <a:t>▶ 4.5%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Online / Digital Pharmacy</a:t>
                      </a:r>
                    </a:p>
                  </a:txBody>
                  <a:tcPr marL="85725" marR="38100" marT="19050" marB="19050" anchor="ctr">
                    <a:solidFill>
                      <a:srgbClr val="F5F8FA"/>
                    </a:solidFill>
                  </a:tcPr>
                </a:tc>
                <a:tc>
                  <a:txBody>
                    <a:bodyPr wrap="none"/>
                    <a:lstStyle/>
                    <a:p>
                      <a:pPr algn="l"/>
                      <a:r>
                        <a:rPr sz="800" b="1">
                          <a:solidFill>
                            <a:srgbClr val="2E7D32"/>
                          </a:solidFill>
                          <a:latin typeface="Calibri"/>
                        </a:rPr>
                        <a:t>▲ 13.6%</a:t>
                      </a:r>
                    </a:p>
                  </a:txBody>
                  <a:tcPr marL="85725" marR="38100" marT="19050" marB="19050" anchor="ctr">
                    <a:solidFill>
                      <a:srgbClr val="F5F8FA"/>
                    </a:solidFill>
                  </a:tcPr>
                </a:tc>
                <a:tc>
                  <a:txBody>
                    <a:bodyPr wrap="none"/>
                    <a:lstStyle/>
                    <a:p>
                      <a:pPr algn="l"/>
                      <a:r>
                        <a:rPr sz="800" b="1">
                          <a:solidFill>
                            <a:srgbClr val="2E7D32"/>
                          </a:solidFill>
                          <a:latin typeface="Calibri"/>
                        </a:rPr>
                        <a:t>▲ 20.5%</a:t>
                      </a:r>
                    </a:p>
                  </a:txBody>
                  <a:tcPr marL="85725" marR="38100" marT="19050" marB="19050" anchor="ctr">
                    <a:solidFill>
                      <a:srgbClr val="F5F8FA"/>
                    </a:solidFill>
                  </a:tcPr>
                </a:tc>
                <a:tc>
                  <a:txBody>
                    <a:bodyPr wrap="none"/>
                    <a:lstStyle/>
                    <a:p>
                      <a:pPr algn="l"/>
                      <a:r>
                        <a:rPr sz="800" b="1">
                          <a:solidFill>
                            <a:srgbClr val="2E7D32"/>
                          </a:solidFill>
                          <a:latin typeface="Calibri"/>
                        </a:rPr>
                        <a:t>▲ 24.3%</a:t>
                      </a:r>
                    </a:p>
                  </a:txBody>
                  <a:tcPr marL="85725" marR="38100" marT="19050" marB="19050" anchor="ctr">
                    <a:solidFill>
                      <a:srgbClr val="F5F8FA"/>
                    </a:solidFill>
                  </a:tcPr>
                </a:tc>
                <a:tc>
                  <a:txBody>
                    <a:bodyPr wrap="none"/>
                    <a:lstStyle/>
                    <a:p>
                      <a:pPr algn="l"/>
                      <a:r>
                        <a:rPr sz="800" b="1">
                          <a:solidFill>
                            <a:srgbClr val="2E7D32"/>
                          </a:solidFill>
                          <a:latin typeface="Calibri"/>
                        </a:rPr>
                        <a:t>▲ 21.6%</a:t>
                      </a:r>
                    </a:p>
                  </a:txBody>
                  <a:tcPr marL="85725" marR="38100" marT="19050" marB="19050" anchor="ctr">
                    <a:solidFill>
                      <a:srgbClr val="F5F8FA"/>
                    </a:solidFill>
                  </a:tcPr>
                </a:tc>
                <a:tc>
                  <a:txBody>
                    <a:bodyPr wrap="none"/>
                    <a:lstStyle/>
                    <a:p>
                      <a:pPr algn="l"/>
                      <a:r>
                        <a:rPr sz="800" b="1">
                          <a:solidFill>
                            <a:srgbClr val="2E7D32"/>
                          </a:solidFill>
                          <a:latin typeface="Calibri"/>
                        </a:rPr>
                        <a:t>▲ 17.9%</a:t>
                      </a:r>
                    </a:p>
                  </a:txBody>
                  <a:tcPr marL="85725" marR="38100" marT="19050" marB="19050" anchor="ctr">
                    <a:solidFill>
                      <a:srgbClr val="F5F8FA"/>
                    </a:solidFill>
                  </a:tcPr>
                </a:tc>
                <a:tc>
                  <a:txBody>
                    <a:bodyPr wrap="none"/>
                    <a:lstStyle/>
                    <a:p>
                      <a:pPr algn="l"/>
                      <a:r>
                        <a:rPr sz="800" b="1">
                          <a:solidFill>
                            <a:srgbClr val="2E7D32"/>
                          </a:solidFill>
                          <a:latin typeface="Calibri"/>
                        </a:rPr>
                        <a:t>▲ 15.7%</a:t>
                      </a:r>
                    </a:p>
                  </a:txBody>
                  <a:tcPr marL="85725" marR="38100" marT="19050" marB="19050" anchor="ctr">
                    <a:solidFill>
                      <a:srgbClr val="F5F8FA"/>
                    </a:solidFill>
                  </a:tcPr>
                </a:tc>
                <a:tc>
                  <a:txBody>
                    <a:bodyPr wrap="none"/>
                    <a:lstStyle/>
                    <a:p>
                      <a:pPr algn="l"/>
                      <a:r>
                        <a:rPr sz="800" b="1">
                          <a:solidFill>
                            <a:srgbClr val="2E7D32"/>
                          </a:solidFill>
                          <a:latin typeface="Calibri"/>
                        </a:rPr>
                        <a:t>▲ 13.4%</a:t>
                      </a:r>
                    </a:p>
                  </a:txBody>
                  <a:tcPr marL="85725" marR="38100" marT="19050" marB="19050" anchor="ctr">
                    <a:solidFill>
                      <a:srgbClr val="F5F8FA"/>
                    </a:solidFill>
                  </a:tcPr>
                </a:tc>
                <a:tc>
                  <a:txBody>
                    <a:bodyPr wrap="none"/>
                    <a:lstStyle/>
                    <a:p>
                      <a:pPr algn="l"/>
                      <a:r>
                        <a:rPr sz="800" b="1">
                          <a:solidFill>
                            <a:srgbClr val="2E7D32"/>
                          </a:solidFill>
                          <a:latin typeface="Calibri"/>
                        </a:rPr>
                        <a:t>▲ 11.7%</a:t>
                      </a:r>
                    </a:p>
                  </a:txBody>
                  <a:tcPr marL="85725" marR="38100" marT="19050" marB="19050" anchor="ctr">
                    <a:solidFill>
                      <a:srgbClr val="F5F8FA"/>
                    </a:solidFill>
                  </a:tcPr>
                </a:tc>
                <a:tc>
                  <a:txBody>
                    <a:bodyPr wrap="none"/>
                    <a:lstStyle/>
                    <a:p>
                      <a:pPr algn="l"/>
                      <a:r>
                        <a:rPr sz="800" b="1">
                          <a:solidFill>
                            <a:srgbClr val="2E7D32"/>
                          </a:solidFill>
                          <a:latin typeface="Calibri"/>
                        </a:rPr>
                        <a:t>▲ 10.3%</a:t>
                      </a:r>
                    </a:p>
                  </a:txBody>
                  <a:tcPr marL="85725" marR="38100" marT="19050" marB="19050" anchor="ctr">
                    <a:solidFill>
                      <a:srgbClr val="F5F8FA"/>
                    </a:solidFill>
                  </a:tcPr>
                </a:tc>
                <a:tc>
                  <a:txBody>
                    <a:bodyPr wrap="none"/>
                    <a:lstStyle/>
                    <a:p>
                      <a:pPr algn="l"/>
                      <a:r>
                        <a:rPr sz="800" b="1">
                          <a:solidFill>
                            <a:srgbClr val="2E7D32"/>
                          </a:solidFill>
                          <a:latin typeface="Calibri"/>
                        </a:rPr>
                        <a:t>▲ 9.2%</a:t>
                      </a:r>
                    </a:p>
                  </a:txBody>
                  <a:tcPr marL="85725" marR="38100" marT="19050" marB="19050" anchor="ctr">
                    <a:solidFill>
                      <a:srgbClr val="F5F8FA"/>
                    </a:solidFill>
                  </a:tcPr>
                </a:tc>
                <a:tc>
                  <a:txBody>
                    <a:bodyPr wrap="none"/>
                    <a:lstStyle/>
                    <a:p>
                      <a:pPr algn="l"/>
                      <a:r>
                        <a:rPr sz="800" b="1">
                          <a:solidFill>
                            <a:srgbClr val="2E7D32"/>
                          </a:solidFill>
                          <a:latin typeface="Calibri"/>
                        </a:rPr>
                        <a:t>▲ 8.2%</a:t>
                      </a:r>
                    </a:p>
                  </a:txBody>
                  <a:tcPr marL="85725" marR="38100" marT="19050" marB="19050" anchor="ctr">
                    <a:solidFill>
                      <a:srgbClr val="F5F8FA"/>
                    </a:solidFill>
                  </a:tcPr>
                </a:tc>
                <a:tc>
                  <a:txBody>
                    <a:bodyPr wrap="none"/>
                    <a:lstStyle/>
                    <a:p>
                      <a:pPr algn="l"/>
                      <a:r>
                        <a:rPr sz="800" b="1">
                          <a:solidFill>
                            <a:srgbClr val="2E7D32"/>
                          </a:solidFill>
                          <a:latin typeface="Calibri"/>
                        </a:rPr>
                        <a:t>▲ 7.4%</a:t>
                      </a:r>
                    </a:p>
                  </a:txBody>
                  <a:tcPr marL="85725" marR="38100" marT="19050" marB="19050" anchor="ctr">
                    <a:solidFill>
                      <a:srgbClr val="F5F8FA"/>
                    </a:solidFill>
                  </a:tcPr>
                </a:tc>
                <a:tc>
                  <a:txBody>
                    <a:bodyPr wrap="none"/>
                    <a:lstStyle/>
                    <a:p>
                      <a:pPr algn="l"/>
                      <a:r>
                        <a:rPr sz="800" b="1">
                          <a:solidFill>
                            <a:srgbClr val="2E7D32"/>
                          </a:solidFill>
                          <a:latin typeface="Calibri"/>
                        </a:rPr>
                        <a:t>▲ 6.7%</a:t>
                      </a:r>
                    </a:p>
                  </a:txBody>
                  <a:tcPr marL="85725" marR="38100" marT="19050" marB="19050" anchor="ctr">
                    <a:solidFill>
                      <a:srgbClr val="F5F8FA"/>
                    </a:solidFill>
                  </a:tcPr>
                </a:tc>
                <a:tc>
                  <a:txBody>
                    <a:bodyPr wrap="none"/>
                    <a:lstStyle/>
                    <a:p>
                      <a:pPr algn="l"/>
                      <a:r>
                        <a:rPr sz="800" b="1">
                          <a:solidFill>
                            <a:srgbClr val="2E7D32"/>
                          </a:solidFill>
                          <a:latin typeface="Calibri"/>
                        </a:rPr>
                        <a:t>▲ 6.2%</a:t>
                      </a:r>
                    </a:p>
                  </a:txBody>
                  <a:tcPr marL="85725" marR="38100" marT="19050" marB="19050" anchor="ctr">
                    <a:solidFill>
                      <a:srgbClr val="F5F8FA"/>
                    </a:solidFill>
                  </a:tcPr>
                </a:tc>
                <a:tc>
                  <a:txBody>
                    <a:bodyPr wrap="none"/>
                    <a:lstStyle/>
                    <a:p>
                      <a:pPr algn="l"/>
                      <a:r>
                        <a:rPr sz="800" b="1">
                          <a:solidFill>
                            <a:srgbClr val="2E7D32"/>
                          </a:solidFill>
                          <a:latin typeface="Calibri"/>
                        </a:rPr>
                        <a:t>▲ 5.8%</a:t>
                      </a:r>
                    </a:p>
                  </a:txBody>
                  <a:tcPr marL="85725" marR="38100" marT="19050" marB="19050" anchor="ctr">
                    <a:solidFill>
                      <a:srgbClr val="F5F8FA"/>
                    </a:solidFill>
                  </a:tcPr>
                </a:tc>
              </a:tr>
            </a:tbl>
          </a:graphicData>
        </a:graphic>
      </p:graphicFrame>
      <p:sp>
        <p:nvSpPr>
          <p:cNvPr id="18" name="TextBox 17"/>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71725"/>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 Country</a:t>
            </a:r>
          </a:p>
        </p:txBody>
      </p:sp>
      <p:sp>
        <p:nvSpPr>
          <p:cNvPr id="7" name="TextBox 6"/>
          <p:cNvSpPr txBox="1"/>
          <p:nvPr/>
        </p:nvSpPr>
        <p:spPr>
          <a:xfrm>
            <a:off x="1219200" y="2619375"/>
            <a:ext cx="6667500" cy="371475"/>
          </a:xfrm>
          <a:prstGeom prst="rect">
            <a:avLst/>
          </a:prstGeom>
          <a:noFill/>
        </p:spPr>
        <p:txBody>
          <a:bodyPr wrap="square" lIns="0" rIns="19050" tIns="0" bIns="0" anchor="t">
            <a:spAutoFit/>
          </a:bodyPr>
          <a:lstStyle/>
          <a:p>
            <a:pPr algn="l">
              <a:lnSpc>
                <a:spcPct val="102000"/>
              </a:lnSpc>
            </a:pPr>
            <a:r>
              <a:rPr sz="2500" b="1">
                <a:solidFill>
                  <a:srgbClr val="0B2E4A"/>
                </a:solidFill>
                <a:latin typeface="Calibri"/>
              </a:rPr>
              <a:t>Product Type x Therapeutic Application</a:t>
            </a:r>
          </a:p>
        </p:txBody>
      </p:sp>
      <p:sp>
        <p:nvSpPr>
          <p:cNvPr id="8" name="TextBox 7"/>
          <p:cNvSpPr txBox="1"/>
          <p:nvPr/>
        </p:nvSpPr>
        <p:spPr>
          <a:xfrm>
            <a:off x="1219200" y="3143250"/>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Segmental</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Table (Volume &amp; Value)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YoY</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21</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Segmental Analysis Product Type x Therapeutic Application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5876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Product Type x Therapeutic Application (US$ Mn)</a:t>
            </a:r>
          </a:p>
        </p:txBody>
      </p:sp>
      <p:graphicFrame>
        <p:nvGraphicFramePr>
          <p:cNvPr id="13" name="Chart 12"/>
          <p:cNvGraphicFramePr>
            <a:graphicFrameLocks noGrp="1"/>
          </p:cNvGraphicFramePr>
          <p:nvPr/>
        </p:nvGraphicFramePr>
        <p:xfrm>
          <a:off x="238125" y="1314450"/>
          <a:ext cx="5686425" cy="5353050"/>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857250"/>
            <a:ext cx="5876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Product Type x Therapeutic Application</a:t>
            </a:r>
          </a:p>
        </p:txBody>
      </p:sp>
      <p:graphicFrame>
        <p:nvGraphicFramePr>
          <p:cNvPr id="16" name="Table 15"/>
          <p:cNvGraphicFramePr>
            <a:graphicFrameLocks noGrp="1"/>
          </p:cNvGraphicFramePr>
          <p:nvPr/>
        </p:nvGraphicFramePr>
        <p:xfrm>
          <a:off x="6267450" y="1143000"/>
          <a:ext cx="5686424" cy="2171700"/>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Product Type x Therapeutic Application</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900" b="0">
                          <a:solidFill>
                            <a:srgbClr val="2E2E2E"/>
                          </a:solidFill>
                          <a:latin typeface="Calibri"/>
                        </a:rPr>
                        <a:t>13.7%</a:t>
                      </a:r>
                    </a:p>
                  </a:txBody>
                  <a:tcPr marL="85725" marR="38100" marT="19050" marB="19050" anchor="ctr">
                    <a:solidFill>
                      <a:srgbClr val="FFFFFF"/>
                    </a:solidFill>
                  </a:tcPr>
                </a:tc>
                <a:tc>
                  <a:txBody>
                    <a:bodyPr wrap="none"/>
                    <a:lstStyle/>
                    <a:p>
                      <a:pPr algn="l"/>
                      <a:r>
                        <a:rPr sz="900" b="0">
                          <a:solidFill>
                            <a:srgbClr val="2E2E2E"/>
                          </a:solidFill>
                          <a:latin typeface="Calibri"/>
                        </a:rPr>
                        <a:t>13.3%</a:t>
                      </a:r>
                    </a:p>
                  </a:txBody>
                  <a:tcPr marL="85725" marR="38100" marT="19050" marB="19050" anchor="ctr">
                    <a:solidFill>
                      <a:srgbClr val="FFFFFF"/>
                    </a:solidFill>
                  </a:tcPr>
                </a:tc>
                <a:tc>
                  <a:txBody>
                    <a:bodyPr wrap="none"/>
                    <a:lstStyle/>
                    <a:p>
                      <a:pPr algn="l"/>
                      <a:r>
                        <a:rPr sz="900" b="1">
                          <a:solidFill>
                            <a:srgbClr val="E44D3A"/>
                          </a:solidFill>
                          <a:latin typeface="Calibri"/>
                        </a:rPr>
                        <a:t>-39</a:t>
                      </a:r>
                    </a:p>
                  </a:txBody>
                  <a:tcPr marL="85725" marR="38100" marT="19050" marB="19050" anchor="ctr">
                    <a:solidFill>
                      <a:srgbClr val="FFFFFF"/>
                    </a:solidFill>
                  </a:tcPr>
                </a:tc>
                <a:tc>
                  <a:txBody>
                    <a:bodyPr wrap="none"/>
                    <a:lstStyle/>
                    <a:p>
                      <a:pPr algn="l"/>
                      <a:r>
                        <a:rPr sz="900" b="0">
                          <a:solidFill>
                            <a:srgbClr val="2E2E2E"/>
                          </a:solidFill>
                          <a:latin typeface="Calibri"/>
                        </a:rPr>
                        <a:t>8.7%</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Cyltezo</a:t>
                      </a:r>
                    </a:p>
                  </a:txBody>
                  <a:tcPr marL="85725" marR="38100" marT="19050" marB="19050" anchor="ctr">
                    <a:solidFill>
                      <a:srgbClr val="F5F8FA"/>
                    </a:solidFill>
                  </a:tcPr>
                </a:tc>
                <a:tc>
                  <a:txBody>
                    <a:bodyPr wrap="none"/>
                    <a:lstStyle/>
                    <a:p>
                      <a:pPr algn="l"/>
                      <a:r>
                        <a:rPr sz="900" b="0">
                          <a:solidFill>
                            <a:srgbClr val="2E2E2E"/>
                          </a:solidFill>
                          <a:latin typeface="Calibri"/>
                        </a:rPr>
                        <a:t>11.5%</a:t>
                      </a:r>
                    </a:p>
                  </a:txBody>
                  <a:tcPr marL="85725" marR="38100" marT="19050" marB="19050" anchor="ctr">
                    <a:solidFill>
                      <a:srgbClr val="F5F8FA"/>
                    </a:solidFill>
                  </a:tcPr>
                </a:tc>
                <a:tc>
                  <a:txBody>
                    <a:bodyPr wrap="none"/>
                    <a:lstStyle/>
                    <a:p>
                      <a:pPr algn="l"/>
                      <a:r>
                        <a:rPr sz="900" b="0">
                          <a:solidFill>
                            <a:srgbClr val="2E2E2E"/>
                          </a:solidFill>
                          <a:latin typeface="Calibri"/>
                        </a:rPr>
                        <a:t>11.0%</a:t>
                      </a:r>
                    </a:p>
                  </a:txBody>
                  <a:tcPr marL="85725" marR="38100" marT="19050" marB="19050" anchor="ctr">
                    <a:solidFill>
                      <a:srgbClr val="F5F8FA"/>
                    </a:solidFill>
                  </a:tcPr>
                </a:tc>
                <a:tc>
                  <a:txBody>
                    <a:bodyPr wrap="none"/>
                    <a:lstStyle/>
                    <a:p>
                      <a:pPr algn="l"/>
                      <a:r>
                        <a:rPr sz="900" b="1">
                          <a:solidFill>
                            <a:srgbClr val="E44D3A"/>
                          </a:solidFill>
                          <a:latin typeface="Calibri"/>
                        </a:rPr>
                        <a:t>-47</a:t>
                      </a:r>
                    </a:p>
                  </a:txBody>
                  <a:tcPr marL="85725" marR="38100" marT="19050" marB="19050" anchor="ctr">
                    <a:solidFill>
                      <a:srgbClr val="F5F8FA"/>
                    </a:solidFill>
                  </a:tcPr>
                </a:tc>
                <a:tc>
                  <a:txBody>
                    <a:bodyPr wrap="none"/>
                    <a:lstStyle/>
                    <a:p>
                      <a:pPr algn="l"/>
                      <a:r>
                        <a:rPr sz="900" b="0">
                          <a:solidFill>
                            <a:srgbClr val="2E2E2E"/>
                          </a:solidFill>
                          <a:latin typeface="Calibri"/>
                        </a:rPr>
                        <a:t>8.6%</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900" b="0">
                          <a:solidFill>
                            <a:srgbClr val="2E2E2E"/>
                          </a:solidFill>
                          <a:latin typeface="Calibri"/>
                        </a:rPr>
                        <a:t>5.0%</a:t>
                      </a:r>
                    </a:p>
                  </a:txBody>
                  <a:tcPr marL="85725" marR="38100" marT="19050" marB="19050" anchor="ctr">
                    <a:solidFill>
                      <a:srgbClr val="FFFFFF"/>
                    </a:solidFill>
                  </a:tcPr>
                </a:tc>
                <a:tc>
                  <a:txBody>
                    <a:bodyPr wrap="none"/>
                    <a:lstStyle/>
                    <a:p>
                      <a:pPr algn="l"/>
                      <a:r>
                        <a:rPr sz="900" b="0">
                          <a:solidFill>
                            <a:srgbClr val="2E2E2E"/>
                          </a:solidFill>
                          <a:latin typeface="Calibri"/>
                        </a:rPr>
                        <a:t>5.0%</a:t>
                      </a:r>
                    </a:p>
                  </a:txBody>
                  <a:tcPr marL="85725" marR="38100" marT="19050" marB="19050" anchor="ctr">
                    <a:solidFill>
                      <a:srgbClr val="FFFFFF"/>
                    </a:solidFill>
                  </a:tcPr>
                </a:tc>
                <a:tc>
                  <a:txBody>
                    <a:bodyPr wrap="none"/>
                    <a:lstStyle/>
                    <a:p>
                      <a:pPr algn="l"/>
                      <a:r>
                        <a:rPr sz="900" b="1">
                          <a:solidFill>
                            <a:srgbClr val="E44D3A"/>
                          </a:solidFill>
                          <a:latin typeface="Calibri"/>
                        </a:rPr>
                        <a:t>-2</a:t>
                      </a:r>
                    </a:p>
                  </a:txBody>
                  <a:tcPr marL="85725" marR="38100" marT="19050" marB="19050" anchor="ctr">
                    <a:solidFill>
                      <a:srgbClr val="FFFFFF"/>
                    </a:solidFill>
                  </a:tcPr>
                </a:tc>
                <a:tc>
                  <a:txBody>
                    <a:bodyPr wrap="none"/>
                    <a:lstStyle/>
                    <a:p>
                      <a:pPr algn="l"/>
                      <a:r>
                        <a:rPr sz="900" b="0">
                          <a:solidFill>
                            <a:srgbClr val="2E2E2E"/>
                          </a:solidFill>
                          <a:latin typeface="Calibri"/>
                        </a:rPr>
                        <a:t>9.0%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900" b="0">
                          <a:solidFill>
                            <a:srgbClr val="2E2E2E"/>
                          </a:solidFill>
                          <a:latin typeface="Calibri"/>
                        </a:rPr>
                        <a:t>7.6%</a:t>
                      </a:r>
                    </a:p>
                  </a:txBody>
                  <a:tcPr marL="85725" marR="38100" marT="19050" marB="19050" anchor="ctr">
                    <a:solidFill>
                      <a:srgbClr val="F5F8FA"/>
                    </a:solidFill>
                  </a:tcPr>
                </a:tc>
                <a:tc>
                  <a:txBody>
                    <a:bodyPr wrap="none"/>
                    <a:lstStyle/>
                    <a:p>
                      <a:pPr algn="l"/>
                      <a:r>
                        <a:rPr sz="900" b="0">
                          <a:solidFill>
                            <a:srgbClr val="2E2E2E"/>
                          </a:solidFill>
                          <a:latin typeface="Calibri"/>
                        </a:rPr>
                        <a:t>6.6%</a:t>
                      </a:r>
                    </a:p>
                  </a:txBody>
                  <a:tcPr marL="85725" marR="38100" marT="19050" marB="19050" anchor="ctr">
                    <a:solidFill>
                      <a:srgbClr val="F5F8FA"/>
                    </a:solidFill>
                  </a:tcPr>
                </a:tc>
                <a:tc>
                  <a:txBody>
                    <a:bodyPr wrap="none"/>
                    <a:lstStyle/>
                    <a:p>
                      <a:pPr algn="l"/>
                      <a:r>
                        <a:rPr sz="900" b="1">
                          <a:solidFill>
                            <a:srgbClr val="E44D3A"/>
                          </a:solidFill>
                          <a:latin typeface="Calibri"/>
                        </a:rPr>
                        <a:t>-100</a:t>
                      </a:r>
                    </a:p>
                  </a:txBody>
                  <a:tcPr marL="85725" marR="38100" marT="19050" marB="19050" anchor="ctr">
                    <a:solidFill>
                      <a:srgbClr val="F5F8FA"/>
                    </a:solidFill>
                  </a:tcPr>
                </a:tc>
                <a:tc>
                  <a:txBody>
                    <a:bodyPr wrap="none"/>
                    <a:lstStyle/>
                    <a:p>
                      <a:pPr algn="l"/>
                      <a:r>
                        <a:rPr sz="900" b="0">
                          <a:solidFill>
                            <a:srgbClr val="2E2E2E"/>
                          </a:solidFill>
                          <a:latin typeface="Calibri"/>
                        </a:rPr>
                        <a:t>7.5%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Idacio</a:t>
                      </a:r>
                    </a:p>
                  </a:txBody>
                  <a:tcPr marL="85725" marR="38100" marT="19050" marB="19050" anchor="ctr">
                    <a:solidFill>
                      <a:srgbClr val="FFFFFF"/>
                    </a:solidFill>
                  </a:tcPr>
                </a:tc>
                <a:tc>
                  <a:txBody>
                    <a:bodyPr wrap="none"/>
                    <a:lstStyle/>
                    <a:p>
                      <a:pPr algn="l"/>
                      <a:r>
                        <a:rPr sz="900" b="0">
                          <a:solidFill>
                            <a:srgbClr val="2E2E2E"/>
                          </a:solidFill>
                          <a:latin typeface="Calibri"/>
                        </a:rPr>
                        <a:t>4.9%</a:t>
                      </a:r>
                    </a:p>
                  </a:txBody>
                  <a:tcPr marL="85725" marR="38100" marT="19050" marB="19050" anchor="ctr">
                    <a:solidFill>
                      <a:srgbClr val="FFFFFF"/>
                    </a:solidFill>
                  </a:tcPr>
                </a:tc>
                <a:tc>
                  <a:txBody>
                    <a:bodyPr wrap="none"/>
                    <a:lstStyle/>
                    <a:p>
                      <a:pPr algn="l"/>
                      <a:r>
                        <a:rPr sz="900" b="0">
                          <a:solidFill>
                            <a:srgbClr val="2E2E2E"/>
                          </a:solidFill>
                          <a:latin typeface="Calibri"/>
                        </a:rPr>
                        <a:t>4.7%</a:t>
                      </a:r>
                    </a:p>
                  </a:txBody>
                  <a:tcPr marL="85725" marR="38100" marT="19050" marB="19050" anchor="ctr">
                    <a:solidFill>
                      <a:srgbClr val="FFFFFF"/>
                    </a:solidFill>
                  </a:tcPr>
                </a:tc>
                <a:tc>
                  <a:txBody>
                    <a:bodyPr wrap="none"/>
                    <a:lstStyle/>
                    <a:p>
                      <a:pPr algn="l"/>
                      <a:r>
                        <a:rPr sz="900" b="1">
                          <a:solidFill>
                            <a:srgbClr val="E44D3A"/>
                          </a:solidFill>
                          <a:latin typeface="Calibri"/>
                        </a:rPr>
                        <a:t>-23</a:t>
                      </a:r>
                    </a:p>
                  </a:txBody>
                  <a:tcPr marL="85725" marR="38100" marT="19050" marB="19050" anchor="ctr">
                    <a:solidFill>
                      <a:srgbClr val="FFFFFF"/>
                    </a:solidFill>
                  </a:tcPr>
                </a:tc>
                <a:tc>
                  <a:txBody>
                    <a:bodyPr wrap="none"/>
                    <a:lstStyle/>
                    <a:p>
                      <a:pPr algn="l"/>
                      <a:r>
                        <a:rPr sz="900" b="0">
                          <a:solidFill>
                            <a:srgbClr val="2E2E2E"/>
                          </a:solidFill>
                          <a:latin typeface="Calibri"/>
                        </a:rPr>
                        <a:t>8.5%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Hulio</a:t>
                      </a:r>
                    </a:p>
                  </a:txBody>
                  <a:tcPr marL="85725" marR="38100" marT="19050" marB="19050" anchor="ctr">
                    <a:solidFill>
                      <a:srgbClr val="F5F8FA"/>
                    </a:solidFill>
                  </a:tcPr>
                </a:tc>
                <a:tc>
                  <a:txBody>
                    <a:bodyPr wrap="none"/>
                    <a:lstStyle/>
                    <a:p>
                      <a:pPr algn="l"/>
                      <a:r>
                        <a:rPr sz="900" b="0">
                          <a:solidFill>
                            <a:srgbClr val="2E2E2E"/>
                          </a:solidFill>
                          <a:latin typeface="Calibri"/>
                        </a:rPr>
                        <a:t>8.0%</a:t>
                      </a:r>
                    </a:p>
                  </a:txBody>
                  <a:tcPr marL="85725" marR="38100" marT="19050" marB="19050" anchor="ctr">
                    <a:solidFill>
                      <a:srgbClr val="F5F8FA"/>
                    </a:solidFill>
                  </a:tcPr>
                </a:tc>
                <a:tc>
                  <a:txBody>
                    <a:bodyPr wrap="none"/>
                    <a:lstStyle/>
                    <a:p>
                      <a:pPr algn="l"/>
                      <a:r>
                        <a:rPr sz="900" b="0">
                          <a:solidFill>
                            <a:srgbClr val="2E2E2E"/>
                          </a:solidFill>
                          <a:latin typeface="Calibri"/>
                        </a:rPr>
                        <a:t>9.9%</a:t>
                      </a:r>
                    </a:p>
                  </a:txBody>
                  <a:tcPr marL="85725" marR="38100" marT="19050" marB="19050" anchor="ctr">
                    <a:solidFill>
                      <a:srgbClr val="F5F8FA"/>
                    </a:solidFill>
                  </a:tcPr>
                </a:tc>
                <a:tc>
                  <a:txBody>
                    <a:bodyPr wrap="none"/>
                    <a:lstStyle/>
                    <a:p>
                      <a:pPr algn="l"/>
                      <a:r>
                        <a:rPr sz="900" b="1">
                          <a:solidFill>
                            <a:srgbClr val="008189"/>
                          </a:solidFill>
                          <a:latin typeface="Calibri"/>
                        </a:rPr>
                        <a:t>+192</a:t>
                      </a:r>
                    </a:p>
                  </a:txBody>
                  <a:tcPr marL="85725" marR="38100" marT="19050" marB="19050" anchor="ctr">
                    <a:solidFill>
                      <a:srgbClr val="F5F8FA"/>
                    </a:solidFill>
                  </a:tcPr>
                </a:tc>
                <a:tc>
                  <a:txBody>
                    <a:bodyPr wrap="none"/>
                    <a:lstStyle/>
                    <a:p>
                      <a:pPr algn="l"/>
                      <a:r>
                        <a:rPr sz="900" b="0">
                          <a:solidFill>
                            <a:srgbClr val="2E2E2E"/>
                          </a:solidFill>
                          <a:latin typeface="Calibri"/>
                        </a:rPr>
                        <a:t>11.4%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900" b="0">
                          <a:solidFill>
                            <a:srgbClr val="2E2E2E"/>
                          </a:solidFill>
                          <a:latin typeface="Calibri"/>
                        </a:rPr>
                        <a:t>7.6%</a:t>
                      </a:r>
                    </a:p>
                  </a:txBody>
                  <a:tcPr marL="85725" marR="38100" marT="19050" marB="19050" anchor="ctr">
                    <a:solidFill>
                      <a:srgbClr val="FFFFFF"/>
                    </a:solidFill>
                  </a:tcPr>
                </a:tc>
                <a:tc>
                  <a:txBody>
                    <a:bodyPr wrap="none"/>
                    <a:lstStyle/>
                    <a:p>
                      <a:pPr algn="l"/>
                      <a:r>
                        <a:rPr sz="900" b="0">
                          <a:solidFill>
                            <a:srgbClr val="2E2E2E"/>
                          </a:solidFill>
                          <a:latin typeface="Calibri"/>
                        </a:rPr>
                        <a:t>8.0%</a:t>
                      </a:r>
                    </a:p>
                  </a:txBody>
                  <a:tcPr marL="85725" marR="38100" marT="19050" marB="19050" anchor="ctr">
                    <a:solidFill>
                      <a:srgbClr val="FFFFFF"/>
                    </a:solidFill>
                  </a:tcPr>
                </a:tc>
                <a:tc>
                  <a:txBody>
                    <a:bodyPr wrap="none"/>
                    <a:lstStyle/>
                    <a:p>
                      <a:pPr algn="l"/>
                      <a:r>
                        <a:rPr sz="900" b="1">
                          <a:solidFill>
                            <a:srgbClr val="008189"/>
                          </a:solidFill>
                          <a:latin typeface="Calibri"/>
                        </a:rPr>
                        <a:t>+40</a:t>
                      </a:r>
                    </a:p>
                  </a:txBody>
                  <a:tcPr marL="85725" marR="38100" marT="19050" marB="19050" anchor="ctr">
                    <a:solidFill>
                      <a:srgbClr val="FFFFFF"/>
                    </a:solidFill>
                  </a:tcPr>
                </a:tc>
                <a:tc>
                  <a:txBody>
                    <a:bodyPr wrap="none"/>
                    <a:lstStyle/>
                    <a:p>
                      <a:pPr algn="l"/>
                      <a:r>
                        <a:rPr sz="900" b="0">
                          <a:solidFill>
                            <a:srgbClr val="2E2E2E"/>
                          </a:solidFill>
                          <a:latin typeface="Calibri"/>
                        </a:rPr>
                        <a:t>9.6%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Yusimry</a:t>
                      </a:r>
                    </a:p>
                  </a:txBody>
                  <a:tcPr marL="85725" marR="38100" marT="19050" marB="19050" anchor="ctr">
                    <a:solidFill>
                      <a:srgbClr val="F5F8FA"/>
                    </a:solidFill>
                  </a:tcPr>
                </a:tc>
                <a:tc>
                  <a:txBody>
                    <a:bodyPr wrap="none"/>
                    <a:lstStyle/>
                    <a:p>
                      <a:pPr algn="l"/>
                      <a:r>
                        <a:rPr sz="900" b="0">
                          <a:solidFill>
                            <a:srgbClr val="2E2E2E"/>
                          </a:solidFill>
                          <a:latin typeface="Calibri"/>
                        </a:rPr>
                        <a:t>12.7%</a:t>
                      </a:r>
                    </a:p>
                  </a:txBody>
                  <a:tcPr marL="85725" marR="38100" marT="19050" marB="19050" anchor="ctr">
                    <a:solidFill>
                      <a:srgbClr val="F5F8FA"/>
                    </a:solidFill>
                  </a:tcPr>
                </a:tc>
                <a:tc>
                  <a:txBody>
                    <a:bodyPr wrap="none"/>
                    <a:lstStyle/>
                    <a:p>
                      <a:pPr algn="l"/>
                      <a:r>
                        <a:rPr sz="900" b="0">
                          <a:solidFill>
                            <a:srgbClr val="2E2E2E"/>
                          </a:solidFill>
                          <a:latin typeface="Calibri"/>
                        </a:rPr>
                        <a:t>12.1%</a:t>
                      </a:r>
                    </a:p>
                  </a:txBody>
                  <a:tcPr marL="85725" marR="38100" marT="19050" marB="19050" anchor="ctr">
                    <a:solidFill>
                      <a:srgbClr val="F5F8FA"/>
                    </a:solidFill>
                  </a:tcPr>
                </a:tc>
                <a:tc>
                  <a:txBody>
                    <a:bodyPr wrap="none"/>
                    <a:lstStyle/>
                    <a:p>
                      <a:pPr algn="l"/>
                      <a:r>
                        <a:rPr sz="900" b="1">
                          <a:solidFill>
                            <a:srgbClr val="E44D3A"/>
                          </a:solidFill>
                          <a:latin typeface="Calibri"/>
                        </a:rPr>
                        <a:t>-57</a:t>
                      </a:r>
                    </a:p>
                  </a:txBody>
                  <a:tcPr marL="85725" marR="38100" marT="19050" marB="19050" anchor="ctr">
                    <a:solidFill>
                      <a:srgbClr val="F5F8FA"/>
                    </a:solidFill>
                  </a:tcPr>
                </a:tc>
                <a:tc>
                  <a:txBody>
                    <a:bodyPr wrap="none"/>
                    <a:lstStyle/>
                    <a:p>
                      <a:pPr algn="l"/>
                      <a:r>
                        <a:rPr sz="900" b="0">
                          <a:solidFill>
                            <a:srgbClr val="2E2E2E"/>
                          </a:solidFill>
                          <a:latin typeface="Calibri"/>
                        </a:rPr>
                        <a:t>8.5%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Yuflyma</a:t>
                      </a:r>
                    </a:p>
                  </a:txBody>
                  <a:tcPr marL="85725" marR="38100" marT="19050" marB="19050" anchor="ctr">
                    <a:solidFill>
                      <a:srgbClr val="FFFFFF"/>
                    </a:solidFill>
                  </a:tcPr>
                </a:tc>
                <a:tc>
                  <a:txBody>
                    <a:bodyPr wrap="none"/>
                    <a:lstStyle/>
                    <a:p>
                      <a:pPr algn="l"/>
                      <a:r>
                        <a:rPr sz="900" b="0">
                          <a:solidFill>
                            <a:srgbClr val="2E2E2E"/>
                          </a:solidFill>
                          <a:latin typeface="Calibri"/>
                        </a:rPr>
                        <a:t>11.4%</a:t>
                      </a:r>
                    </a:p>
                  </a:txBody>
                  <a:tcPr marL="85725" marR="38100" marT="19050" marB="19050" anchor="ctr">
                    <a:solidFill>
                      <a:srgbClr val="FFFFFF"/>
                    </a:solidFill>
                  </a:tcPr>
                </a:tc>
                <a:tc>
                  <a:txBody>
                    <a:bodyPr wrap="none"/>
                    <a:lstStyle/>
                    <a:p>
                      <a:pPr algn="l"/>
                      <a:r>
                        <a:rPr sz="900" b="0">
                          <a:solidFill>
                            <a:srgbClr val="2E2E2E"/>
                          </a:solidFill>
                          <a:latin typeface="Calibri"/>
                        </a:rPr>
                        <a:t>13.1%</a:t>
                      </a:r>
                    </a:p>
                  </a:txBody>
                  <a:tcPr marL="85725" marR="38100" marT="19050" marB="19050" anchor="ctr">
                    <a:solidFill>
                      <a:srgbClr val="FFFFFF"/>
                    </a:solidFill>
                  </a:tcPr>
                </a:tc>
                <a:tc>
                  <a:txBody>
                    <a:bodyPr wrap="none"/>
                    <a:lstStyle/>
                    <a:p>
                      <a:pPr algn="l"/>
                      <a:r>
                        <a:rPr sz="900" b="1">
                          <a:solidFill>
                            <a:srgbClr val="008189"/>
                          </a:solidFill>
                          <a:latin typeface="Calibri"/>
                        </a:rPr>
                        <a:t>+162</a:t>
                      </a:r>
                    </a:p>
                  </a:txBody>
                  <a:tcPr marL="85725" marR="38100" marT="19050" marB="19050" anchor="ctr">
                    <a:solidFill>
                      <a:srgbClr val="FFFFFF"/>
                    </a:solidFill>
                  </a:tcPr>
                </a:tc>
                <a:tc>
                  <a:txBody>
                    <a:bodyPr wrap="none"/>
                    <a:lstStyle/>
                    <a:p>
                      <a:pPr algn="l"/>
                      <a:r>
                        <a:rPr sz="900" b="0">
                          <a:solidFill>
                            <a:srgbClr val="2E2E2E"/>
                          </a:solidFill>
                          <a:latin typeface="Calibri"/>
                        </a:rPr>
                        <a:t>10.5%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Simlandi</a:t>
                      </a:r>
                    </a:p>
                  </a:txBody>
                  <a:tcPr marL="85725" marR="38100" marT="19050" marB="19050" anchor="ctr">
                    <a:solidFill>
                      <a:srgbClr val="F5F8FA"/>
                    </a:solidFill>
                  </a:tcPr>
                </a:tc>
                <a:tc>
                  <a:txBody>
                    <a:bodyPr wrap="none"/>
                    <a:lstStyle/>
                    <a:p>
                      <a:pPr algn="l"/>
                      <a:r>
                        <a:rPr sz="900" b="0">
                          <a:solidFill>
                            <a:srgbClr val="2E2E2E"/>
                          </a:solidFill>
                          <a:latin typeface="Calibri"/>
                        </a:rPr>
                        <a:t>8.8%</a:t>
                      </a:r>
                    </a:p>
                  </a:txBody>
                  <a:tcPr marL="85725" marR="38100" marT="19050" marB="19050" anchor="ctr">
                    <a:solidFill>
                      <a:srgbClr val="F5F8FA"/>
                    </a:solidFill>
                  </a:tcPr>
                </a:tc>
                <a:tc>
                  <a:txBody>
                    <a:bodyPr wrap="none"/>
                    <a:lstStyle/>
                    <a:p>
                      <a:pPr algn="l"/>
                      <a:r>
                        <a:rPr sz="900" b="0">
                          <a:solidFill>
                            <a:srgbClr val="2E2E2E"/>
                          </a:solidFill>
                          <a:latin typeface="Calibri"/>
                        </a:rPr>
                        <a:t>7.5%</a:t>
                      </a:r>
                    </a:p>
                  </a:txBody>
                  <a:tcPr marL="85725" marR="38100" marT="19050" marB="19050" anchor="ctr">
                    <a:solidFill>
                      <a:srgbClr val="F5F8FA"/>
                    </a:solidFill>
                  </a:tcPr>
                </a:tc>
                <a:tc>
                  <a:txBody>
                    <a:bodyPr wrap="none"/>
                    <a:lstStyle/>
                    <a:p>
                      <a:pPr algn="l"/>
                      <a:r>
                        <a:rPr sz="900" b="1">
                          <a:solidFill>
                            <a:srgbClr val="E44D3A"/>
                          </a:solidFill>
                          <a:latin typeface="Calibri"/>
                        </a:rPr>
                        <a:t>-135</a:t>
                      </a:r>
                    </a:p>
                  </a:txBody>
                  <a:tcPr marL="85725" marR="38100" marT="19050" marB="19050" anchor="ctr">
                    <a:solidFill>
                      <a:srgbClr val="F5F8FA"/>
                    </a:solidFill>
                  </a:tcPr>
                </a:tc>
                <a:tc>
                  <a:txBody>
                    <a:bodyPr wrap="none"/>
                    <a:lstStyle/>
                    <a:p>
                      <a:pPr algn="l"/>
                      <a:r>
                        <a:rPr sz="900" b="0">
                          <a:solidFill>
                            <a:srgbClr val="2E2E2E"/>
                          </a:solidFill>
                          <a:latin typeface="Calibri"/>
                        </a:rPr>
                        <a:t>7.2%</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900" b="0">
                          <a:solidFill>
                            <a:srgbClr val="2E2E2E"/>
                          </a:solidFill>
                          <a:latin typeface="Calibri"/>
                        </a:rPr>
                        <a:t>8.8%</a:t>
                      </a:r>
                    </a:p>
                  </a:txBody>
                  <a:tcPr marL="85725" marR="38100" marT="19050" marB="19050" anchor="ctr">
                    <a:solidFill>
                      <a:srgbClr val="FFFFFF"/>
                    </a:solidFill>
                  </a:tcPr>
                </a:tc>
                <a:tc>
                  <a:txBody>
                    <a:bodyPr wrap="none"/>
                    <a:lstStyle/>
                    <a:p>
                      <a:pPr algn="l"/>
                      <a:r>
                        <a:rPr sz="900" b="0">
                          <a:solidFill>
                            <a:srgbClr val="2E2E2E"/>
                          </a:solidFill>
                          <a:latin typeface="Calibri"/>
                        </a:rPr>
                        <a:t>8.9%</a:t>
                      </a:r>
                    </a:p>
                  </a:txBody>
                  <a:tcPr marL="85725" marR="38100" marT="19050" marB="19050" anchor="ctr">
                    <a:solidFill>
                      <a:srgbClr val="FFFFFF"/>
                    </a:solidFill>
                  </a:tcPr>
                </a:tc>
                <a:tc>
                  <a:txBody>
                    <a:bodyPr wrap="none"/>
                    <a:lstStyle/>
                    <a:p>
                      <a:pPr algn="l"/>
                      <a:r>
                        <a:rPr sz="900" b="1">
                          <a:solidFill>
                            <a:srgbClr val="008189"/>
                          </a:solidFill>
                          <a:latin typeface="Calibri"/>
                        </a:rPr>
                        <a:t>+8</a:t>
                      </a:r>
                    </a:p>
                  </a:txBody>
                  <a:tcPr marL="85725" marR="38100" marT="19050" marB="19050" anchor="ctr">
                    <a:solidFill>
                      <a:srgbClr val="FFFFFF"/>
                    </a:solidFill>
                  </a:tcPr>
                </a:tc>
                <a:tc>
                  <a:txBody>
                    <a:bodyPr wrap="none"/>
                    <a:lstStyle/>
                    <a:p>
                      <a:pPr algn="l"/>
                      <a:r>
                        <a:rPr sz="900" b="0">
                          <a:solidFill>
                            <a:srgbClr val="2E2E2E"/>
                          </a:solidFill>
                          <a:latin typeface="Calibri"/>
                        </a:rPr>
                        <a:t>9.1%</a:t>
                      </a:r>
                    </a:p>
                  </a:txBody>
                  <a:tcPr marL="85725" marR="38100" marT="19050" marB="19050" anchor="ctr">
                    <a:solidFill>
                      <a:srgbClr val="FFFFFF"/>
                    </a:solidFill>
                  </a:tcPr>
                </a:tc>
              </a:tr>
            </a:tbl>
          </a:graphicData>
        </a:graphic>
      </p:graphicFrame>
      <p:sp>
        <p:nvSpPr>
          <p:cNvPr id="17" name="TextBox 16"/>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8" name="Rectangle 1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0" name="Rounded Rectangle 19">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Segmental Analysis Product Type x Therapeutic Application   ·   (continued 2/2)</a:t>
            </a:r>
          </a:p>
        </p:txBody>
      </p:sp>
      <p:sp>
        <p:nvSpPr>
          <p:cNvPr id="10" name="Rounded Rectangle 9"/>
          <p:cNvSpPr/>
          <p:nvPr/>
        </p:nvSpPr>
        <p:spPr>
          <a:xfrm>
            <a:off x="142875" y="857250"/>
            <a:ext cx="5876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Product Type x Therapeutic Application (US$ Mn)</a:t>
            </a:r>
          </a:p>
        </p:txBody>
      </p:sp>
      <p:graphicFrame>
        <p:nvGraphicFramePr>
          <p:cNvPr id="12" name="Chart 11"/>
          <p:cNvGraphicFramePr>
            <a:graphicFrameLocks noGrp="1"/>
          </p:cNvGraphicFramePr>
          <p:nvPr/>
        </p:nvGraphicFramePr>
        <p:xfrm>
          <a:off x="238125" y="1143000"/>
          <a:ext cx="5686425" cy="5524500"/>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857250"/>
            <a:ext cx="5876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Volume Shares &amp; Variance, By Product Type x Therapeutic Application</a:t>
            </a:r>
          </a:p>
        </p:txBody>
      </p:sp>
      <p:graphicFrame>
        <p:nvGraphicFramePr>
          <p:cNvPr id="15" name="Table 14"/>
          <p:cNvGraphicFramePr>
            <a:graphicFrameLocks noGrp="1"/>
          </p:cNvGraphicFramePr>
          <p:nvPr/>
        </p:nvGraphicFramePr>
        <p:xfrm>
          <a:off x="6267450" y="1143000"/>
          <a:ext cx="5686424" cy="2171700"/>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Product Type x Therapeutic Application</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900" b="0">
                          <a:solidFill>
                            <a:srgbClr val="2E2E2E"/>
                          </a:solidFill>
                          <a:latin typeface="Calibri"/>
                        </a:rPr>
                        <a:t>8.4%</a:t>
                      </a:r>
                    </a:p>
                  </a:txBody>
                  <a:tcPr marL="85725" marR="38100" marT="19050" marB="19050" anchor="ctr">
                    <a:solidFill>
                      <a:srgbClr val="FFFFFF"/>
                    </a:solidFill>
                  </a:tcPr>
                </a:tc>
                <a:tc>
                  <a:txBody>
                    <a:bodyPr wrap="none"/>
                    <a:lstStyle/>
                    <a:p>
                      <a:pPr algn="l"/>
                      <a:r>
                        <a:rPr sz="900" b="0">
                          <a:solidFill>
                            <a:srgbClr val="2E2E2E"/>
                          </a:solidFill>
                          <a:latin typeface="Calibri"/>
                        </a:rPr>
                        <a:t>8.1%</a:t>
                      </a:r>
                    </a:p>
                  </a:txBody>
                  <a:tcPr marL="85725" marR="38100" marT="19050" marB="19050" anchor="ctr">
                    <a:solidFill>
                      <a:srgbClr val="FFFFFF"/>
                    </a:solidFill>
                  </a:tcPr>
                </a:tc>
                <a:tc>
                  <a:txBody>
                    <a:bodyPr wrap="none"/>
                    <a:lstStyle/>
                    <a:p>
                      <a:pPr algn="l"/>
                      <a:r>
                        <a:rPr sz="900" b="1">
                          <a:solidFill>
                            <a:srgbClr val="E44D3A"/>
                          </a:solidFill>
                          <a:latin typeface="Calibri"/>
                        </a:rPr>
                        <a:t>-30</a:t>
                      </a:r>
                    </a:p>
                  </a:txBody>
                  <a:tcPr marL="85725" marR="38100" marT="19050" marB="19050" anchor="ctr">
                    <a:solidFill>
                      <a:srgbClr val="FFFFFF"/>
                    </a:solidFill>
                  </a:tcPr>
                </a:tc>
                <a:tc>
                  <a:txBody>
                    <a:bodyPr wrap="none"/>
                    <a:lstStyle/>
                    <a:p>
                      <a:pPr algn="l"/>
                      <a:r>
                        <a:rPr sz="900" b="0">
                          <a:solidFill>
                            <a:srgbClr val="2E2E2E"/>
                          </a:solidFill>
                          <a:latin typeface="Calibri"/>
                        </a:rPr>
                        <a:t>12.3%</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Cyltezo</a:t>
                      </a:r>
                    </a:p>
                  </a:txBody>
                  <a:tcPr marL="85725" marR="38100" marT="19050" marB="19050" anchor="ctr">
                    <a:solidFill>
                      <a:srgbClr val="F5F8FA"/>
                    </a:solidFill>
                  </a:tcPr>
                </a:tc>
                <a:tc>
                  <a:txBody>
                    <a:bodyPr wrap="none"/>
                    <a:lstStyle/>
                    <a:p>
                      <a:pPr algn="l"/>
                      <a:r>
                        <a:rPr sz="900" b="0">
                          <a:solidFill>
                            <a:srgbClr val="2E2E2E"/>
                          </a:solidFill>
                          <a:latin typeface="Calibri"/>
                        </a:rPr>
                        <a:t>7.6%</a:t>
                      </a:r>
                    </a:p>
                  </a:txBody>
                  <a:tcPr marL="85725" marR="38100" marT="19050" marB="19050" anchor="ctr">
                    <a:solidFill>
                      <a:srgbClr val="F5F8FA"/>
                    </a:solidFill>
                  </a:tcPr>
                </a:tc>
                <a:tc>
                  <a:txBody>
                    <a:bodyPr wrap="none"/>
                    <a:lstStyle/>
                    <a:p>
                      <a:pPr algn="l"/>
                      <a:r>
                        <a:rPr sz="900" b="0">
                          <a:solidFill>
                            <a:srgbClr val="2E2E2E"/>
                          </a:solidFill>
                          <a:latin typeface="Calibri"/>
                        </a:rPr>
                        <a:t>8.7%</a:t>
                      </a:r>
                    </a:p>
                  </a:txBody>
                  <a:tcPr marL="85725" marR="38100" marT="19050" marB="19050" anchor="ctr">
                    <a:solidFill>
                      <a:srgbClr val="F5F8FA"/>
                    </a:solidFill>
                  </a:tcPr>
                </a:tc>
                <a:tc>
                  <a:txBody>
                    <a:bodyPr wrap="none"/>
                    <a:lstStyle/>
                    <a:p>
                      <a:pPr algn="l"/>
                      <a:r>
                        <a:rPr sz="900" b="1">
                          <a:solidFill>
                            <a:srgbClr val="008189"/>
                          </a:solidFill>
                          <a:latin typeface="Calibri"/>
                        </a:rPr>
                        <a:t>+112</a:t>
                      </a:r>
                    </a:p>
                  </a:txBody>
                  <a:tcPr marL="85725" marR="38100" marT="19050" marB="19050" anchor="ctr">
                    <a:solidFill>
                      <a:srgbClr val="F5F8FA"/>
                    </a:solidFill>
                  </a:tcPr>
                </a:tc>
                <a:tc>
                  <a:txBody>
                    <a:bodyPr wrap="none"/>
                    <a:lstStyle/>
                    <a:p>
                      <a:pPr algn="l"/>
                      <a:r>
                        <a:rPr sz="900" b="0">
                          <a:solidFill>
                            <a:srgbClr val="2E2E2E"/>
                          </a:solidFill>
                          <a:latin typeface="Calibri"/>
                        </a:rPr>
                        <a:t>14.3%</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900" b="0">
                          <a:solidFill>
                            <a:srgbClr val="2E2E2E"/>
                          </a:solidFill>
                          <a:latin typeface="Calibri"/>
                        </a:rPr>
                        <a:t>10.5%</a:t>
                      </a:r>
                    </a:p>
                  </a:txBody>
                  <a:tcPr marL="85725" marR="38100" marT="19050" marB="19050" anchor="ctr">
                    <a:solidFill>
                      <a:srgbClr val="FFFFFF"/>
                    </a:solidFill>
                  </a:tcPr>
                </a:tc>
                <a:tc>
                  <a:txBody>
                    <a:bodyPr wrap="none"/>
                    <a:lstStyle/>
                    <a:p>
                      <a:pPr algn="l"/>
                      <a:r>
                        <a:rPr sz="900" b="0">
                          <a:solidFill>
                            <a:srgbClr val="2E2E2E"/>
                          </a:solidFill>
                          <a:latin typeface="Calibri"/>
                        </a:rPr>
                        <a:t>8.5%</a:t>
                      </a:r>
                    </a:p>
                  </a:txBody>
                  <a:tcPr marL="85725" marR="38100" marT="19050" marB="19050" anchor="ctr">
                    <a:solidFill>
                      <a:srgbClr val="FFFFFF"/>
                    </a:solidFill>
                  </a:tcPr>
                </a:tc>
                <a:tc>
                  <a:txBody>
                    <a:bodyPr wrap="none"/>
                    <a:lstStyle/>
                    <a:p>
                      <a:pPr algn="l"/>
                      <a:r>
                        <a:rPr sz="900" b="1">
                          <a:solidFill>
                            <a:srgbClr val="E44D3A"/>
                          </a:solidFill>
                          <a:latin typeface="Calibri"/>
                        </a:rPr>
                        <a:t>-207</a:t>
                      </a:r>
                    </a:p>
                  </a:txBody>
                  <a:tcPr marL="85725" marR="38100" marT="19050" marB="19050" anchor="ctr">
                    <a:solidFill>
                      <a:srgbClr val="FFFFFF"/>
                    </a:solidFill>
                  </a:tcPr>
                </a:tc>
                <a:tc>
                  <a:txBody>
                    <a:bodyPr wrap="none"/>
                    <a:lstStyle/>
                    <a:p>
                      <a:pPr algn="l"/>
                      <a:r>
                        <a:rPr sz="900" b="0">
                          <a:solidFill>
                            <a:srgbClr val="2E2E2E"/>
                          </a:solidFill>
                          <a:latin typeface="Calibri"/>
                        </a:rPr>
                        <a:t>10.3%</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900" b="0">
                          <a:solidFill>
                            <a:srgbClr val="2E2E2E"/>
                          </a:solidFill>
                          <a:latin typeface="Calibri"/>
                        </a:rPr>
                        <a:t>11.8%</a:t>
                      </a:r>
                    </a:p>
                  </a:txBody>
                  <a:tcPr marL="85725" marR="38100" marT="19050" marB="19050" anchor="ctr">
                    <a:solidFill>
                      <a:srgbClr val="F5F8FA"/>
                    </a:solidFill>
                  </a:tcPr>
                </a:tc>
                <a:tc>
                  <a:txBody>
                    <a:bodyPr wrap="none"/>
                    <a:lstStyle/>
                    <a:p>
                      <a:pPr algn="l"/>
                      <a:r>
                        <a:rPr sz="900" b="0">
                          <a:solidFill>
                            <a:srgbClr val="2E2E2E"/>
                          </a:solidFill>
                          <a:latin typeface="Calibri"/>
                        </a:rPr>
                        <a:t>11.0%</a:t>
                      </a:r>
                    </a:p>
                  </a:txBody>
                  <a:tcPr marL="85725" marR="38100" marT="19050" marB="19050" anchor="ctr">
                    <a:solidFill>
                      <a:srgbClr val="F5F8FA"/>
                    </a:solidFill>
                  </a:tcPr>
                </a:tc>
                <a:tc>
                  <a:txBody>
                    <a:bodyPr wrap="none"/>
                    <a:lstStyle/>
                    <a:p>
                      <a:pPr algn="l"/>
                      <a:r>
                        <a:rPr sz="900" b="1">
                          <a:solidFill>
                            <a:srgbClr val="E44D3A"/>
                          </a:solidFill>
                          <a:latin typeface="Calibri"/>
                        </a:rPr>
                        <a:t>-76</a:t>
                      </a:r>
                    </a:p>
                  </a:txBody>
                  <a:tcPr marL="85725" marR="38100" marT="19050" marB="19050" anchor="ctr">
                    <a:solidFill>
                      <a:srgbClr val="F5F8FA"/>
                    </a:solidFill>
                  </a:tcPr>
                </a:tc>
                <a:tc>
                  <a:txBody>
                    <a:bodyPr wrap="none"/>
                    <a:lstStyle/>
                    <a:p>
                      <a:pPr algn="l"/>
                      <a:r>
                        <a:rPr sz="900" b="0">
                          <a:solidFill>
                            <a:srgbClr val="2E2E2E"/>
                          </a:solidFill>
                          <a:latin typeface="Calibri"/>
                        </a:rPr>
                        <a:t>12.0%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Idacio</a:t>
                      </a:r>
                    </a:p>
                  </a:txBody>
                  <a:tcPr marL="85725" marR="38100" marT="19050" marB="19050" anchor="ctr">
                    <a:solidFill>
                      <a:srgbClr val="FFFFFF"/>
                    </a:solidFill>
                  </a:tcPr>
                </a:tc>
                <a:tc>
                  <a:txBody>
                    <a:bodyPr wrap="none"/>
                    <a:lstStyle/>
                    <a:p>
                      <a:pPr algn="l"/>
                      <a:r>
                        <a:rPr sz="900" b="0">
                          <a:solidFill>
                            <a:srgbClr val="2E2E2E"/>
                          </a:solidFill>
                          <a:latin typeface="Calibri"/>
                        </a:rPr>
                        <a:t>5.9%</a:t>
                      </a:r>
                    </a:p>
                  </a:txBody>
                  <a:tcPr marL="85725" marR="38100" marT="19050" marB="19050" anchor="ctr">
                    <a:solidFill>
                      <a:srgbClr val="FFFFFF"/>
                    </a:solidFill>
                  </a:tcPr>
                </a:tc>
                <a:tc>
                  <a:txBody>
                    <a:bodyPr wrap="none"/>
                    <a:lstStyle/>
                    <a:p>
                      <a:pPr algn="l"/>
                      <a:r>
                        <a:rPr sz="900" b="0">
                          <a:solidFill>
                            <a:srgbClr val="2E2E2E"/>
                          </a:solidFill>
                          <a:latin typeface="Calibri"/>
                        </a:rPr>
                        <a:t>6.2%</a:t>
                      </a:r>
                    </a:p>
                  </a:txBody>
                  <a:tcPr marL="85725" marR="38100" marT="19050" marB="19050" anchor="ctr">
                    <a:solidFill>
                      <a:srgbClr val="FFFFFF"/>
                    </a:solidFill>
                  </a:tcPr>
                </a:tc>
                <a:tc>
                  <a:txBody>
                    <a:bodyPr wrap="none"/>
                    <a:lstStyle/>
                    <a:p>
                      <a:pPr algn="l"/>
                      <a:r>
                        <a:rPr sz="900" b="1">
                          <a:solidFill>
                            <a:srgbClr val="008189"/>
                          </a:solidFill>
                          <a:latin typeface="Calibri"/>
                        </a:rPr>
                        <a:t>+27</a:t>
                      </a:r>
                    </a:p>
                  </a:txBody>
                  <a:tcPr marL="85725" marR="38100" marT="19050" marB="19050" anchor="ctr">
                    <a:solidFill>
                      <a:srgbClr val="FFFFFF"/>
                    </a:solidFill>
                  </a:tcPr>
                </a:tc>
                <a:tc>
                  <a:txBody>
                    <a:bodyPr wrap="none"/>
                    <a:lstStyle/>
                    <a:p>
                      <a:pPr algn="l"/>
                      <a:r>
                        <a:rPr sz="900" b="0">
                          <a:solidFill>
                            <a:srgbClr val="2E2E2E"/>
                          </a:solidFill>
                          <a:latin typeface="Calibri"/>
                        </a:rPr>
                        <a:t>13.2%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Hulio</a:t>
                      </a:r>
                    </a:p>
                  </a:txBody>
                  <a:tcPr marL="85725" marR="38100" marT="19050" marB="19050" anchor="ctr">
                    <a:solidFill>
                      <a:srgbClr val="F5F8FA"/>
                    </a:solidFill>
                  </a:tcPr>
                </a:tc>
                <a:tc>
                  <a:txBody>
                    <a:bodyPr wrap="none"/>
                    <a:lstStyle/>
                    <a:p>
                      <a:pPr algn="l"/>
                      <a:r>
                        <a:rPr sz="900" b="0">
                          <a:solidFill>
                            <a:srgbClr val="2E2E2E"/>
                          </a:solidFill>
                          <a:latin typeface="Calibri"/>
                        </a:rPr>
                        <a:t>5.6%</a:t>
                      </a:r>
                    </a:p>
                  </a:txBody>
                  <a:tcPr marL="85725" marR="38100" marT="19050" marB="19050" anchor="ctr">
                    <a:solidFill>
                      <a:srgbClr val="F5F8FA"/>
                    </a:solidFill>
                  </a:tcPr>
                </a:tc>
                <a:tc>
                  <a:txBody>
                    <a:bodyPr wrap="none"/>
                    <a:lstStyle/>
                    <a:p>
                      <a:pPr algn="l"/>
                      <a:r>
                        <a:rPr sz="900" b="0">
                          <a:solidFill>
                            <a:srgbClr val="2E2E2E"/>
                          </a:solidFill>
                          <a:latin typeface="Calibri"/>
                        </a:rPr>
                        <a:t>6.7%</a:t>
                      </a:r>
                    </a:p>
                  </a:txBody>
                  <a:tcPr marL="85725" marR="38100" marT="19050" marB="19050" anchor="ctr">
                    <a:solidFill>
                      <a:srgbClr val="F5F8FA"/>
                    </a:solidFill>
                  </a:tcPr>
                </a:tc>
                <a:tc>
                  <a:txBody>
                    <a:bodyPr wrap="none"/>
                    <a:lstStyle/>
                    <a:p>
                      <a:pPr algn="l"/>
                      <a:r>
                        <a:rPr sz="900" b="1">
                          <a:solidFill>
                            <a:srgbClr val="008189"/>
                          </a:solidFill>
                          <a:latin typeface="Calibri"/>
                        </a:rPr>
                        <a:t>+109</a:t>
                      </a:r>
                    </a:p>
                  </a:txBody>
                  <a:tcPr marL="85725" marR="38100" marT="19050" marB="19050" anchor="ctr">
                    <a:solidFill>
                      <a:srgbClr val="F5F8FA"/>
                    </a:solidFill>
                  </a:tcPr>
                </a:tc>
                <a:tc>
                  <a:txBody>
                    <a:bodyPr wrap="none"/>
                    <a:lstStyle/>
                    <a:p>
                      <a:pPr algn="l"/>
                      <a:r>
                        <a:rPr sz="900" b="0">
                          <a:solidFill>
                            <a:srgbClr val="2E2E2E"/>
                          </a:solidFill>
                          <a:latin typeface="Calibri"/>
                        </a:rPr>
                        <a:t>14.8%</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900" b="0">
                          <a:solidFill>
                            <a:srgbClr val="2E2E2E"/>
                          </a:solidFill>
                          <a:latin typeface="Calibri"/>
                        </a:rPr>
                        <a:t>10.2%</a:t>
                      </a:r>
                    </a:p>
                  </a:txBody>
                  <a:tcPr marL="85725" marR="38100" marT="19050" marB="19050" anchor="ctr">
                    <a:solidFill>
                      <a:srgbClr val="FFFFFF"/>
                    </a:solidFill>
                  </a:tcPr>
                </a:tc>
                <a:tc>
                  <a:txBody>
                    <a:bodyPr wrap="none"/>
                    <a:lstStyle/>
                    <a:p>
                      <a:pPr algn="l"/>
                      <a:r>
                        <a:rPr sz="900" b="0">
                          <a:solidFill>
                            <a:srgbClr val="2E2E2E"/>
                          </a:solidFill>
                          <a:latin typeface="Calibri"/>
                        </a:rPr>
                        <a:t>10.1%</a:t>
                      </a:r>
                    </a:p>
                  </a:txBody>
                  <a:tcPr marL="85725" marR="38100" marT="19050" marB="19050" anchor="ctr">
                    <a:solidFill>
                      <a:srgbClr val="FFFFFF"/>
                    </a:solidFill>
                  </a:tcPr>
                </a:tc>
                <a:tc>
                  <a:txBody>
                    <a:bodyPr wrap="none"/>
                    <a:lstStyle/>
                    <a:p>
                      <a:pPr algn="l"/>
                      <a:r>
                        <a:rPr sz="900" b="1">
                          <a:solidFill>
                            <a:srgbClr val="E44D3A"/>
                          </a:solidFill>
                          <a:latin typeface="Calibri"/>
                        </a:rPr>
                        <a:t>-10</a:t>
                      </a:r>
                    </a:p>
                  </a:txBody>
                  <a:tcPr marL="85725" marR="38100" marT="19050" marB="19050" anchor="ctr">
                    <a:solidFill>
                      <a:srgbClr val="FFFFFF"/>
                    </a:solidFill>
                  </a:tcPr>
                </a:tc>
                <a:tc>
                  <a:txBody>
                    <a:bodyPr wrap="none"/>
                    <a:lstStyle/>
                    <a:p>
                      <a:pPr algn="l"/>
                      <a:r>
                        <a:rPr sz="900" b="0">
                          <a:solidFill>
                            <a:srgbClr val="2E2E2E"/>
                          </a:solidFill>
                          <a:latin typeface="Calibri"/>
                        </a:rPr>
                        <a:t>12.6%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Yusimry</a:t>
                      </a:r>
                    </a:p>
                  </a:txBody>
                  <a:tcPr marL="85725" marR="38100" marT="19050" marB="19050" anchor="ctr">
                    <a:solidFill>
                      <a:srgbClr val="F5F8FA"/>
                    </a:solidFill>
                  </a:tcPr>
                </a:tc>
                <a:tc>
                  <a:txBody>
                    <a:bodyPr wrap="none"/>
                    <a:lstStyle/>
                    <a:p>
                      <a:pPr algn="l"/>
                      <a:r>
                        <a:rPr sz="900" b="0">
                          <a:solidFill>
                            <a:srgbClr val="2E2E2E"/>
                          </a:solidFill>
                          <a:latin typeface="Calibri"/>
                        </a:rPr>
                        <a:t>10.0%</a:t>
                      </a:r>
                    </a:p>
                  </a:txBody>
                  <a:tcPr marL="85725" marR="38100" marT="19050" marB="19050" anchor="ctr">
                    <a:solidFill>
                      <a:srgbClr val="F5F8FA"/>
                    </a:solidFill>
                  </a:tcPr>
                </a:tc>
                <a:tc>
                  <a:txBody>
                    <a:bodyPr wrap="none"/>
                    <a:lstStyle/>
                    <a:p>
                      <a:pPr algn="l"/>
                      <a:r>
                        <a:rPr sz="900" b="0">
                          <a:solidFill>
                            <a:srgbClr val="2E2E2E"/>
                          </a:solidFill>
                          <a:latin typeface="Calibri"/>
                        </a:rPr>
                        <a:t>10.4%</a:t>
                      </a:r>
                    </a:p>
                  </a:txBody>
                  <a:tcPr marL="85725" marR="38100" marT="19050" marB="19050" anchor="ctr">
                    <a:solidFill>
                      <a:srgbClr val="F5F8FA"/>
                    </a:solidFill>
                  </a:tcPr>
                </a:tc>
                <a:tc>
                  <a:txBody>
                    <a:bodyPr wrap="none"/>
                    <a:lstStyle/>
                    <a:p>
                      <a:pPr algn="l"/>
                      <a:r>
                        <a:rPr sz="900" b="1">
                          <a:solidFill>
                            <a:srgbClr val="008189"/>
                          </a:solidFill>
                          <a:latin typeface="Calibri"/>
                        </a:rPr>
                        <a:t>+32</a:t>
                      </a:r>
                    </a:p>
                  </a:txBody>
                  <a:tcPr marL="85725" marR="38100" marT="19050" marB="19050" anchor="ctr">
                    <a:solidFill>
                      <a:srgbClr val="F5F8FA"/>
                    </a:solidFill>
                  </a:tcPr>
                </a:tc>
                <a:tc>
                  <a:txBody>
                    <a:bodyPr wrap="none"/>
                    <a:lstStyle/>
                    <a:p>
                      <a:pPr algn="l"/>
                      <a:r>
                        <a:rPr sz="900" b="0">
                          <a:solidFill>
                            <a:srgbClr val="2E2E2E"/>
                          </a:solidFill>
                          <a:latin typeface="Calibri"/>
                        </a:rPr>
                        <a:t>13.1%</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Yuflyma</a:t>
                      </a:r>
                    </a:p>
                  </a:txBody>
                  <a:tcPr marL="85725" marR="38100" marT="19050" marB="19050" anchor="ctr">
                    <a:solidFill>
                      <a:srgbClr val="FFFFFF"/>
                    </a:solidFill>
                  </a:tcPr>
                </a:tc>
                <a:tc>
                  <a:txBody>
                    <a:bodyPr wrap="none"/>
                    <a:lstStyle/>
                    <a:p>
                      <a:pPr algn="l"/>
                      <a:r>
                        <a:rPr sz="900" b="0">
                          <a:solidFill>
                            <a:srgbClr val="2E2E2E"/>
                          </a:solidFill>
                          <a:latin typeface="Calibri"/>
                        </a:rPr>
                        <a:t>10.6%</a:t>
                      </a:r>
                    </a:p>
                  </a:txBody>
                  <a:tcPr marL="85725" marR="38100" marT="19050" marB="19050" anchor="ctr">
                    <a:solidFill>
                      <a:srgbClr val="FFFFFF"/>
                    </a:solidFill>
                  </a:tcPr>
                </a:tc>
                <a:tc>
                  <a:txBody>
                    <a:bodyPr wrap="none"/>
                    <a:lstStyle/>
                    <a:p>
                      <a:pPr algn="l"/>
                      <a:r>
                        <a:rPr sz="900" b="0">
                          <a:solidFill>
                            <a:srgbClr val="2E2E2E"/>
                          </a:solidFill>
                          <a:latin typeface="Calibri"/>
                        </a:rPr>
                        <a:t>10.2%</a:t>
                      </a:r>
                    </a:p>
                  </a:txBody>
                  <a:tcPr marL="85725" marR="38100" marT="19050" marB="19050" anchor="ctr">
                    <a:solidFill>
                      <a:srgbClr val="FFFFFF"/>
                    </a:solidFill>
                  </a:tcPr>
                </a:tc>
                <a:tc>
                  <a:txBody>
                    <a:bodyPr wrap="none"/>
                    <a:lstStyle/>
                    <a:p>
                      <a:pPr algn="l"/>
                      <a:r>
                        <a:rPr sz="900" b="1">
                          <a:solidFill>
                            <a:srgbClr val="E44D3A"/>
                          </a:solidFill>
                          <a:latin typeface="Calibri"/>
                        </a:rPr>
                        <a:t>-46</a:t>
                      </a:r>
                    </a:p>
                  </a:txBody>
                  <a:tcPr marL="85725" marR="38100" marT="19050" marB="19050" anchor="ctr">
                    <a:solidFill>
                      <a:srgbClr val="FFFFFF"/>
                    </a:solidFill>
                  </a:tcPr>
                </a:tc>
                <a:tc>
                  <a:txBody>
                    <a:bodyPr wrap="none"/>
                    <a:lstStyle/>
                    <a:p>
                      <a:pPr algn="l"/>
                      <a:r>
                        <a:rPr sz="900" b="0">
                          <a:solidFill>
                            <a:srgbClr val="2E2E2E"/>
                          </a:solidFill>
                          <a:latin typeface="Calibri"/>
                        </a:rPr>
                        <a:t>12.2%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Simlandi</a:t>
                      </a:r>
                    </a:p>
                  </a:txBody>
                  <a:tcPr marL="85725" marR="38100" marT="19050" marB="19050" anchor="ctr">
                    <a:solidFill>
                      <a:srgbClr val="F5F8FA"/>
                    </a:solidFill>
                  </a:tcPr>
                </a:tc>
                <a:tc>
                  <a:txBody>
                    <a:bodyPr wrap="none"/>
                    <a:lstStyle/>
                    <a:p>
                      <a:pPr algn="l"/>
                      <a:r>
                        <a:rPr sz="900" b="0">
                          <a:solidFill>
                            <a:srgbClr val="2E2E2E"/>
                          </a:solidFill>
                          <a:latin typeface="Calibri"/>
                        </a:rPr>
                        <a:t>11.8%</a:t>
                      </a:r>
                    </a:p>
                  </a:txBody>
                  <a:tcPr marL="85725" marR="38100" marT="19050" marB="19050" anchor="ctr">
                    <a:solidFill>
                      <a:srgbClr val="F5F8FA"/>
                    </a:solidFill>
                  </a:tcPr>
                </a:tc>
                <a:tc>
                  <a:txBody>
                    <a:bodyPr wrap="none"/>
                    <a:lstStyle/>
                    <a:p>
                      <a:pPr algn="l"/>
                      <a:r>
                        <a:rPr sz="900" b="0">
                          <a:solidFill>
                            <a:srgbClr val="2E2E2E"/>
                          </a:solidFill>
                          <a:latin typeface="Calibri"/>
                        </a:rPr>
                        <a:t>12.7%</a:t>
                      </a:r>
                    </a:p>
                  </a:txBody>
                  <a:tcPr marL="85725" marR="38100" marT="19050" marB="19050" anchor="ctr">
                    <a:solidFill>
                      <a:srgbClr val="F5F8FA"/>
                    </a:solidFill>
                  </a:tcPr>
                </a:tc>
                <a:tc>
                  <a:txBody>
                    <a:bodyPr wrap="none"/>
                    <a:lstStyle/>
                    <a:p>
                      <a:pPr algn="l"/>
                      <a:r>
                        <a:rPr sz="900" b="1">
                          <a:solidFill>
                            <a:srgbClr val="008189"/>
                          </a:solidFill>
                          <a:latin typeface="Calibri"/>
                        </a:rPr>
                        <a:t>+91</a:t>
                      </a:r>
                    </a:p>
                  </a:txBody>
                  <a:tcPr marL="85725" marR="38100" marT="19050" marB="19050" anchor="ctr">
                    <a:solidFill>
                      <a:srgbClr val="F5F8FA"/>
                    </a:solidFill>
                  </a:tcPr>
                </a:tc>
                <a:tc>
                  <a:txBody>
                    <a:bodyPr wrap="none"/>
                    <a:lstStyle/>
                    <a:p>
                      <a:pPr algn="l"/>
                      <a:r>
                        <a:rPr sz="900" b="0">
                          <a:solidFill>
                            <a:srgbClr val="2E2E2E"/>
                          </a:solidFill>
                          <a:latin typeface="Calibri"/>
                        </a:rPr>
                        <a:t>13.6%</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900" b="0">
                          <a:solidFill>
                            <a:srgbClr val="2E2E2E"/>
                          </a:solidFill>
                          <a:latin typeface="Calibri"/>
                        </a:rPr>
                        <a:t>7.4%</a:t>
                      </a:r>
                    </a:p>
                  </a:txBody>
                  <a:tcPr marL="85725" marR="38100" marT="19050" marB="19050" anchor="ctr">
                    <a:solidFill>
                      <a:srgbClr val="FFFFFF"/>
                    </a:solidFill>
                  </a:tcPr>
                </a:tc>
                <a:tc>
                  <a:txBody>
                    <a:bodyPr wrap="none"/>
                    <a:lstStyle/>
                    <a:p>
                      <a:pPr algn="l"/>
                      <a:r>
                        <a:rPr sz="900" b="0">
                          <a:solidFill>
                            <a:srgbClr val="2E2E2E"/>
                          </a:solidFill>
                          <a:latin typeface="Calibri"/>
                        </a:rPr>
                        <a:t>7.4%</a:t>
                      </a:r>
                    </a:p>
                  </a:txBody>
                  <a:tcPr marL="85725" marR="38100" marT="19050" marB="19050" anchor="ctr">
                    <a:solidFill>
                      <a:srgbClr val="FFFFFF"/>
                    </a:solidFill>
                  </a:tcPr>
                </a:tc>
                <a:tc>
                  <a:txBody>
                    <a:bodyPr wrap="none"/>
                    <a:lstStyle/>
                    <a:p>
                      <a:pPr algn="l"/>
                      <a:r>
                        <a:rPr sz="900" b="1">
                          <a:solidFill>
                            <a:srgbClr val="E44D3A"/>
                          </a:solidFill>
                          <a:latin typeface="Calibri"/>
                        </a:rPr>
                        <a:t>-1</a:t>
                      </a:r>
                    </a:p>
                  </a:txBody>
                  <a:tcPr marL="85725" marR="38100" marT="19050" marB="19050" anchor="ctr">
                    <a:solidFill>
                      <a:srgbClr val="FFFFFF"/>
                    </a:solidFill>
                  </a:tcPr>
                </a:tc>
                <a:tc>
                  <a:txBody>
                    <a:bodyPr wrap="none"/>
                    <a:lstStyle/>
                    <a:p>
                      <a:pPr algn="l"/>
                      <a:r>
                        <a:rPr sz="900" b="0">
                          <a:solidFill>
                            <a:srgbClr val="2E2E2E"/>
                          </a:solidFill>
                          <a:latin typeface="Calibri"/>
                        </a:rPr>
                        <a:t>12.7%</a:t>
                      </a:r>
                    </a:p>
                  </a:txBody>
                  <a:tcPr marL="85725" marR="38100" marT="19050" marB="19050" anchor="ctr">
                    <a:solidFill>
                      <a:srgbClr val="FFFFFF"/>
                    </a:solidFill>
                  </a:tcPr>
                </a:tc>
              </a:tr>
            </a:tbl>
          </a:graphicData>
        </a:graphic>
      </p:graphicFrame>
      <p:sp>
        <p:nvSpPr>
          <p:cNvPr id="16" name="TextBox 15"/>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7" name="Rectangle 1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9" name="Rounded Rectangle 18">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0" name="Rounded Rectangle 19">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1" name="Rounded Rectangle 20">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Tables Product Type x Therapeutic Application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Volume, By Product Type x Therapeutic Application (Mn Doses)</a:t>
            </a:r>
          </a:p>
        </p:txBody>
      </p:sp>
      <p:graphicFrame>
        <p:nvGraphicFramePr>
          <p:cNvPr id="13" name="Table 12"/>
          <p:cNvGraphicFramePr>
            <a:graphicFrameLocks noGrp="1"/>
          </p:cNvGraphicFramePr>
          <p:nvPr/>
        </p:nvGraphicFramePr>
        <p:xfrm>
          <a:off x="238125" y="1143000"/>
          <a:ext cx="11715752" cy="2352675"/>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Product Type x Therapeutic Application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800" b="0">
                          <a:solidFill>
                            <a:srgbClr val="2E2E2E"/>
                          </a:solidFill>
                          <a:latin typeface="Calibri"/>
                        </a:rPr>
                        <a:t>0.09</a:t>
                      </a:r>
                    </a:p>
                  </a:txBody>
                  <a:tcPr marL="85725" marR="38100" marT="19050" marB="19050" anchor="ctr">
                    <a:solidFill>
                      <a:srgbClr val="FFFFFF"/>
                    </a:solidFill>
                  </a:tcPr>
                </a:tc>
                <a:tc>
                  <a:txBody>
                    <a:bodyPr wrap="none"/>
                    <a:lstStyle/>
                    <a:p>
                      <a:pPr algn="l"/>
                      <a:r>
                        <a:rPr sz="800" b="0">
                          <a:solidFill>
                            <a:srgbClr val="2E2E2E"/>
                          </a:solidFill>
                          <a:latin typeface="Calibri"/>
                        </a:rPr>
                        <a:t>0.11</a:t>
                      </a:r>
                    </a:p>
                  </a:txBody>
                  <a:tcPr marL="85725" marR="38100" marT="19050" marB="19050" anchor="ctr">
                    <a:solidFill>
                      <a:srgbClr val="FFFFFF"/>
                    </a:solidFill>
                  </a:tcPr>
                </a:tc>
                <a:tc>
                  <a:txBody>
                    <a:bodyPr wrap="none"/>
                    <a:lstStyle/>
                    <a:p>
                      <a:pPr algn="l"/>
                      <a:r>
                        <a:rPr sz="800" b="0">
                          <a:solidFill>
                            <a:srgbClr val="2E2E2E"/>
                          </a:solidFill>
                          <a:latin typeface="Calibri"/>
                        </a:rPr>
                        <a:t>0.13</a:t>
                      </a:r>
                    </a:p>
                  </a:txBody>
                  <a:tcPr marL="85725" marR="38100" marT="19050" marB="19050" anchor="ctr">
                    <a:solidFill>
                      <a:srgbClr val="FFFFFF"/>
                    </a:solidFill>
                  </a:tcPr>
                </a:tc>
                <a:tc>
                  <a:txBody>
                    <a:bodyPr wrap="none"/>
                    <a:lstStyle/>
                    <a:p>
                      <a:pPr algn="l"/>
                      <a:r>
                        <a:rPr sz="800" b="0">
                          <a:solidFill>
                            <a:srgbClr val="2E2E2E"/>
                          </a:solidFill>
                          <a:latin typeface="Calibri"/>
                        </a:rPr>
                        <a:t>0.17</a:t>
                      </a:r>
                    </a:p>
                  </a:txBody>
                  <a:tcPr marL="85725" marR="38100" marT="19050" marB="19050" anchor="ctr">
                    <a:solidFill>
                      <a:srgbClr val="FFFFFF"/>
                    </a:solidFill>
                  </a:tcPr>
                </a:tc>
                <a:tc>
                  <a:txBody>
                    <a:bodyPr wrap="none"/>
                    <a:lstStyle/>
                    <a:p>
                      <a:pPr algn="l"/>
                      <a:r>
                        <a:rPr sz="800" b="0">
                          <a:solidFill>
                            <a:srgbClr val="2E2E2E"/>
                          </a:solidFill>
                          <a:latin typeface="Calibri"/>
                        </a:rPr>
                        <a:t>0.21</a:t>
                      </a:r>
                    </a:p>
                  </a:txBody>
                  <a:tcPr marL="85725" marR="38100" marT="19050" marB="19050" anchor="ctr">
                    <a:solidFill>
                      <a:srgbClr val="FFFFFF"/>
                    </a:solidFill>
                  </a:tcPr>
                </a:tc>
                <a:tc>
                  <a:txBody>
                    <a:bodyPr wrap="none"/>
                    <a:lstStyle/>
                    <a:p>
                      <a:pPr algn="l"/>
                      <a:r>
                        <a:rPr sz="800" b="0">
                          <a:solidFill>
                            <a:srgbClr val="2E2E2E"/>
                          </a:solidFill>
                          <a:latin typeface="Calibri"/>
                        </a:rPr>
                        <a:t>0.25</a:t>
                      </a:r>
                    </a:p>
                  </a:txBody>
                  <a:tcPr marL="85725" marR="38100" marT="19050" marB="19050" anchor="ctr">
                    <a:solidFill>
                      <a:srgbClr val="FFFFFF"/>
                    </a:solidFill>
                  </a:tcPr>
                </a:tc>
                <a:tc>
                  <a:txBody>
                    <a:bodyPr wrap="none"/>
                    <a:lstStyle/>
                    <a:p>
                      <a:pPr algn="l"/>
                      <a:r>
                        <a:rPr sz="800" b="0">
                          <a:solidFill>
                            <a:srgbClr val="2E2E2E"/>
                          </a:solidFill>
                          <a:latin typeface="Calibri"/>
                        </a:rPr>
                        <a:t>0.30</a:t>
                      </a:r>
                    </a:p>
                  </a:txBody>
                  <a:tcPr marL="85725" marR="38100" marT="19050" marB="19050" anchor="ctr">
                    <a:solidFill>
                      <a:srgbClr val="FFFFFF"/>
                    </a:solidFill>
                  </a:tcPr>
                </a:tc>
                <a:tc>
                  <a:txBody>
                    <a:bodyPr wrap="none"/>
                    <a:lstStyle/>
                    <a:p>
                      <a:pPr algn="l"/>
                      <a:r>
                        <a:rPr sz="800" b="0">
                          <a:solidFill>
                            <a:srgbClr val="2E2E2E"/>
                          </a:solidFill>
                          <a:latin typeface="Calibri"/>
                        </a:rPr>
                        <a:t>0.35</a:t>
                      </a:r>
                    </a:p>
                  </a:txBody>
                  <a:tcPr marL="85725" marR="38100" marT="19050" marB="19050" anchor="ctr">
                    <a:solidFill>
                      <a:srgbClr val="FFFFFF"/>
                    </a:solidFill>
                  </a:tcPr>
                </a:tc>
                <a:tc>
                  <a:txBody>
                    <a:bodyPr wrap="none"/>
                    <a:lstStyle/>
                    <a:p>
                      <a:pPr algn="l"/>
                      <a:r>
                        <a:rPr sz="800" b="0">
                          <a:solidFill>
                            <a:srgbClr val="2E2E2E"/>
                          </a:solidFill>
                          <a:latin typeface="Calibri"/>
                        </a:rPr>
                        <a:t>0.40</a:t>
                      </a:r>
                    </a:p>
                  </a:txBody>
                  <a:tcPr marL="85725" marR="38100" marT="19050" marB="19050" anchor="ctr">
                    <a:solidFill>
                      <a:srgbClr val="FFFFFF"/>
                    </a:solidFill>
                  </a:tcPr>
                </a:tc>
                <a:tc>
                  <a:txBody>
                    <a:bodyPr wrap="none"/>
                    <a:lstStyle/>
                    <a:p>
                      <a:pPr algn="l"/>
                      <a:r>
                        <a:rPr sz="800" b="0">
                          <a:solidFill>
                            <a:srgbClr val="2E2E2E"/>
                          </a:solidFill>
                          <a:latin typeface="Calibri"/>
                        </a:rPr>
                        <a:t>0.45</a:t>
                      </a:r>
                    </a:p>
                  </a:txBody>
                  <a:tcPr marL="85725" marR="38100" marT="19050" marB="19050" anchor="ctr">
                    <a:solidFill>
                      <a:srgbClr val="FFFFFF"/>
                    </a:solidFill>
                  </a:tcPr>
                </a:tc>
                <a:tc>
                  <a:txBody>
                    <a:bodyPr wrap="none"/>
                    <a:lstStyle/>
                    <a:p>
                      <a:pPr algn="l"/>
                      <a:r>
                        <a:rPr sz="800" b="0">
                          <a:solidFill>
                            <a:srgbClr val="2E2E2E"/>
                          </a:solidFill>
                          <a:latin typeface="Calibri"/>
                        </a:rPr>
                        <a:t>0.51</a:t>
                      </a:r>
                    </a:p>
                  </a:txBody>
                  <a:tcPr marL="85725" marR="38100" marT="19050" marB="19050" anchor="ctr">
                    <a:solidFill>
                      <a:srgbClr val="FFFFFF"/>
                    </a:solidFill>
                  </a:tcPr>
                </a:tc>
                <a:tc>
                  <a:txBody>
                    <a:bodyPr wrap="none"/>
                    <a:lstStyle/>
                    <a:p>
                      <a:pPr algn="l"/>
                      <a:r>
                        <a:rPr sz="800" b="0">
                          <a:solidFill>
                            <a:srgbClr val="2E2E2E"/>
                          </a:solidFill>
                          <a:latin typeface="Calibri"/>
                        </a:rPr>
                        <a:t>0.56</a:t>
                      </a:r>
                    </a:p>
                  </a:txBody>
                  <a:tcPr marL="85725" marR="38100" marT="19050" marB="19050" anchor="ctr">
                    <a:solidFill>
                      <a:srgbClr val="FFFFFF"/>
                    </a:solidFill>
                  </a:tcPr>
                </a:tc>
                <a:tc>
                  <a:txBody>
                    <a:bodyPr wrap="none"/>
                    <a:lstStyle/>
                    <a:p>
                      <a:pPr algn="l"/>
                      <a:r>
                        <a:rPr sz="800" b="0">
                          <a:solidFill>
                            <a:srgbClr val="2E2E2E"/>
                          </a:solidFill>
                          <a:latin typeface="Calibri"/>
                        </a:rPr>
                        <a:t>0.62</a:t>
                      </a:r>
                    </a:p>
                  </a:txBody>
                  <a:tcPr marL="85725" marR="38100" marT="19050" marB="19050" anchor="ctr">
                    <a:solidFill>
                      <a:srgbClr val="FFFFFF"/>
                    </a:solidFill>
                  </a:tcPr>
                </a:tc>
                <a:tc>
                  <a:txBody>
                    <a:bodyPr wrap="none"/>
                    <a:lstStyle/>
                    <a:p>
                      <a:pPr algn="l"/>
                      <a:r>
                        <a:rPr sz="800" b="0">
                          <a:solidFill>
                            <a:srgbClr val="2E2E2E"/>
                          </a:solidFill>
                          <a:latin typeface="Calibri"/>
                        </a:rPr>
                        <a:t>0.68</a:t>
                      </a:r>
                    </a:p>
                  </a:txBody>
                  <a:tcPr marL="85725" marR="38100" marT="19050" marB="19050" anchor="ctr">
                    <a:solidFill>
                      <a:srgbClr val="FFFFFF"/>
                    </a:solidFill>
                  </a:tcPr>
                </a:tc>
                <a:tc>
                  <a:txBody>
                    <a:bodyPr wrap="none"/>
                    <a:lstStyle/>
                    <a:p>
                      <a:pPr algn="l"/>
                      <a:r>
                        <a:rPr sz="800" b="0">
                          <a:solidFill>
                            <a:srgbClr val="2E2E2E"/>
                          </a:solidFill>
                          <a:latin typeface="Calibri"/>
                        </a:rPr>
                        <a:t>0.74</a:t>
                      </a:r>
                    </a:p>
                  </a:txBody>
                  <a:tcPr marL="85725" marR="38100" marT="19050" marB="19050" anchor="ctr">
                    <a:solidFill>
                      <a:srgbClr val="FFFFFF"/>
                    </a:solidFill>
                  </a:tcPr>
                </a:tc>
                <a:tc>
                  <a:txBody>
                    <a:bodyPr wrap="none"/>
                    <a:lstStyle/>
                    <a:p>
                      <a:pPr algn="l"/>
                      <a:r>
                        <a:rPr sz="800" b="0">
                          <a:solidFill>
                            <a:srgbClr val="2E2E2E"/>
                          </a:solidFill>
                          <a:latin typeface="Calibri"/>
                        </a:rPr>
                        <a:t>0.81</a:t>
                      </a:r>
                    </a:p>
                  </a:txBody>
                  <a:tcPr marL="85725" marR="38100" marT="19050" marB="19050" anchor="ctr">
                    <a:solidFill>
                      <a:srgbClr val="FFFFFF"/>
                    </a:solidFill>
                  </a:tcPr>
                </a:tc>
                <a:tc>
                  <a:txBody>
                    <a:bodyPr wrap="none"/>
                    <a:lstStyle/>
                    <a:p>
                      <a:pPr algn="l"/>
                      <a:r>
                        <a:rPr sz="800" b="0">
                          <a:solidFill>
                            <a:srgbClr val="2E2E2E"/>
                          </a:solidFill>
                          <a:latin typeface="Calibri"/>
                        </a:rPr>
                        <a:t>12.3%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Cyltezo</a:t>
                      </a:r>
                    </a:p>
                  </a:txBody>
                  <a:tcPr marL="85725" marR="38100" marT="19050" marB="19050" anchor="ctr">
                    <a:solidFill>
                      <a:srgbClr val="F5F8FA"/>
                    </a:solidFill>
                  </a:tcPr>
                </a:tc>
                <a:tc>
                  <a:txBody>
                    <a:bodyPr wrap="none"/>
                    <a:lstStyle/>
                    <a:p>
                      <a:pPr algn="l"/>
                      <a:r>
                        <a:rPr sz="800" b="0">
                          <a:solidFill>
                            <a:srgbClr val="2E2E2E"/>
                          </a:solidFill>
                          <a:latin typeface="Calibri"/>
                        </a:rPr>
                        <a:t>0.08</a:t>
                      </a:r>
                    </a:p>
                  </a:txBody>
                  <a:tcPr marL="85725" marR="38100" marT="19050" marB="19050" anchor="ctr">
                    <a:solidFill>
                      <a:srgbClr val="F5F8FA"/>
                    </a:solidFill>
                  </a:tcPr>
                </a:tc>
                <a:tc>
                  <a:txBody>
                    <a:bodyPr wrap="none"/>
                    <a:lstStyle/>
                    <a:p>
                      <a:pPr algn="l"/>
                      <a:r>
                        <a:rPr sz="800" b="0">
                          <a:solidFill>
                            <a:srgbClr val="2E2E2E"/>
                          </a:solidFill>
                          <a:latin typeface="Calibri"/>
                        </a:rPr>
                        <a:t>0.09</a:t>
                      </a:r>
                    </a:p>
                  </a:txBody>
                  <a:tcPr marL="85725" marR="38100" marT="19050" marB="19050" anchor="ctr">
                    <a:solidFill>
                      <a:srgbClr val="F5F8FA"/>
                    </a:solidFill>
                  </a:tcPr>
                </a:tc>
                <a:tc>
                  <a:txBody>
                    <a:bodyPr wrap="none"/>
                    <a:lstStyle/>
                    <a:p>
                      <a:pPr algn="l"/>
                      <a:r>
                        <a:rPr sz="800" b="0">
                          <a:solidFill>
                            <a:srgbClr val="2E2E2E"/>
                          </a:solidFill>
                          <a:latin typeface="Calibri"/>
                        </a:rPr>
                        <a:t>0.11</a:t>
                      </a:r>
                    </a:p>
                  </a:txBody>
                  <a:tcPr marL="85725" marR="38100" marT="19050" marB="19050" anchor="ctr">
                    <a:solidFill>
                      <a:srgbClr val="F5F8FA"/>
                    </a:solidFill>
                  </a:tcPr>
                </a:tc>
                <a:tc>
                  <a:txBody>
                    <a:bodyPr wrap="none"/>
                    <a:lstStyle/>
                    <a:p>
                      <a:pPr algn="l"/>
                      <a:r>
                        <a:rPr sz="800" b="0">
                          <a:solidFill>
                            <a:srgbClr val="2E2E2E"/>
                          </a:solidFill>
                          <a:latin typeface="Calibri"/>
                        </a:rPr>
                        <a:t>0.15</a:t>
                      </a:r>
                    </a:p>
                  </a:txBody>
                  <a:tcPr marL="85725" marR="38100" marT="19050" marB="19050" anchor="ctr">
                    <a:solidFill>
                      <a:srgbClr val="F5F8FA"/>
                    </a:solidFill>
                  </a:tcPr>
                </a:tc>
                <a:tc>
                  <a:txBody>
                    <a:bodyPr wrap="none"/>
                    <a:lstStyle/>
                    <a:p>
                      <a:pPr algn="l"/>
                      <a:r>
                        <a:rPr sz="800" b="0">
                          <a:solidFill>
                            <a:srgbClr val="2E2E2E"/>
                          </a:solidFill>
                          <a:latin typeface="Calibri"/>
                        </a:rPr>
                        <a:t>0.19</a:t>
                      </a:r>
                    </a:p>
                  </a:txBody>
                  <a:tcPr marL="85725" marR="38100" marT="19050" marB="19050" anchor="ctr">
                    <a:solidFill>
                      <a:srgbClr val="F5F8FA"/>
                    </a:solidFill>
                  </a:tcPr>
                </a:tc>
                <a:tc>
                  <a:txBody>
                    <a:bodyPr wrap="none"/>
                    <a:lstStyle/>
                    <a:p>
                      <a:pPr algn="l"/>
                      <a:r>
                        <a:rPr sz="800" b="0">
                          <a:solidFill>
                            <a:srgbClr val="2E2E2E"/>
                          </a:solidFill>
                          <a:latin typeface="Calibri"/>
                        </a:rPr>
                        <a:t>0.23</a:t>
                      </a:r>
                    </a:p>
                  </a:txBody>
                  <a:tcPr marL="85725" marR="38100" marT="19050" marB="19050" anchor="ctr">
                    <a:solidFill>
                      <a:srgbClr val="F5F8FA"/>
                    </a:solidFill>
                  </a:tcPr>
                </a:tc>
                <a:tc>
                  <a:txBody>
                    <a:bodyPr wrap="none"/>
                    <a:lstStyle/>
                    <a:p>
                      <a:pPr algn="l"/>
                      <a:r>
                        <a:rPr sz="800" b="0">
                          <a:solidFill>
                            <a:srgbClr val="2E2E2E"/>
                          </a:solidFill>
                          <a:latin typeface="Calibri"/>
                        </a:rPr>
                        <a:t>0.28</a:t>
                      </a:r>
                    </a:p>
                  </a:txBody>
                  <a:tcPr marL="85725" marR="38100" marT="19050" marB="19050" anchor="ctr">
                    <a:solidFill>
                      <a:srgbClr val="F5F8FA"/>
                    </a:solidFill>
                  </a:tcPr>
                </a:tc>
                <a:tc>
                  <a:txBody>
                    <a:bodyPr wrap="none"/>
                    <a:lstStyle/>
                    <a:p>
                      <a:pPr algn="l"/>
                      <a:r>
                        <a:rPr sz="800" b="0">
                          <a:solidFill>
                            <a:srgbClr val="2E2E2E"/>
                          </a:solidFill>
                          <a:latin typeface="Calibri"/>
                        </a:rPr>
                        <a:t>0.33</a:t>
                      </a:r>
                    </a:p>
                  </a:txBody>
                  <a:tcPr marL="85725" marR="38100" marT="19050" marB="19050" anchor="ctr">
                    <a:solidFill>
                      <a:srgbClr val="F5F8FA"/>
                    </a:solidFill>
                  </a:tcPr>
                </a:tc>
                <a:tc>
                  <a:txBody>
                    <a:bodyPr wrap="none"/>
                    <a:lstStyle/>
                    <a:p>
                      <a:pPr algn="l"/>
                      <a:r>
                        <a:rPr sz="800" b="0">
                          <a:solidFill>
                            <a:srgbClr val="2E2E2E"/>
                          </a:solidFill>
                          <a:latin typeface="Calibri"/>
                        </a:rPr>
                        <a:t>0.38</a:t>
                      </a:r>
                    </a:p>
                  </a:txBody>
                  <a:tcPr marL="85725" marR="38100" marT="19050" marB="19050" anchor="ctr">
                    <a:solidFill>
                      <a:srgbClr val="F5F8FA"/>
                    </a:solidFill>
                  </a:tcPr>
                </a:tc>
                <a:tc>
                  <a:txBody>
                    <a:bodyPr wrap="none"/>
                    <a:lstStyle/>
                    <a:p>
                      <a:pPr algn="l"/>
                      <a:r>
                        <a:rPr sz="800" b="0">
                          <a:solidFill>
                            <a:srgbClr val="2E2E2E"/>
                          </a:solidFill>
                          <a:latin typeface="Calibri"/>
                        </a:rPr>
                        <a:t>0.44</a:t>
                      </a:r>
                    </a:p>
                  </a:txBody>
                  <a:tcPr marL="85725" marR="38100" marT="19050" marB="19050" anchor="ctr">
                    <a:solidFill>
                      <a:srgbClr val="F5F8FA"/>
                    </a:solidFill>
                  </a:tcPr>
                </a:tc>
                <a:tc>
                  <a:txBody>
                    <a:bodyPr wrap="none"/>
                    <a:lstStyle/>
                    <a:p>
                      <a:pPr algn="l"/>
                      <a:r>
                        <a:rPr sz="800" b="0">
                          <a:solidFill>
                            <a:srgbClr val="2E2E2E"/>
                          </a:solidFill>
                          <a:latin typeface="Calibri"/>
                        </a:rPr>
                        <a:t>0.50</a:t>
                      </a:r>
                    </a:p>
                  </a:txBody>
                  <a:tcPr marL="85725" marR="38100" marT="19050" marB="19050" anchor="ctr">
                    <a:solidFill>
                      <a:srgbClr val="F5F8FA"/>
                    </a:solidFill>
                  </a:tcPr>
                </a:tc>
                <a:tc>
                  <a:txBody>
                    <a:bodyPr wrap="none"/>
                    <a:lstStyle/>
                    <a:p>
                      <a:pPr algn="l"/>
                      <a:r>
                        <a:rPr sz="800" b="0">
                          <a:solidFill>
                            <a:srgbClr val="2E2E2E"/>
                          </a:solidFill>
                          <a:latin typeface="Calibri"/>
                        </a:rPr>
                        <a:t>0.56</a:t>
                      </a:r>
                    </a:p>
                  </a:txBody>
                  <a:tcPr marL="85725" marR="38100" marT="19050" marB="19050" anchor="ctr">
                    <a:solidFill>
                      <a:srgbClr val="F5F8FA"/>
                    </a:solidFill>
                  </a:tcPr>
                </a:tc>
                <a:tc>
                  <a:txBody>
                    <a:bodyPr wrap="none"/>
                    <a:lstStyle/>
                    <a:p>
                      <a:pPr algn="l"/>
                      <a:r>
                        <a:rPr sz="800" b="0">
                          <a:solidFill>
                            <a:srgbClr val="2E2E2E"/>
                          </a:solidFill>
                          <a:latin typeface="Calibri"/>
                        </a:rPr>
                        <a:t>0.63</a:t>
                      </a:r>
                    </a:p>
                  </a:txBody>
                  <a:tcPr marL="85725" marR="38100" marT="19050" marB="19050" anchor="ctr">
                    <a:solidFill>
                      <a:srgbClr val="F5F8FA"/>
                    </a:solidFill>
                  </a:tcPr>
                </a:tc>
                <a:tc>
                  <a:txBody>
                    <a:bodyPr wrap="none"/>
                    <a:lstStyle/>
                    <a:p>
                      <a:pPr algn="l"/>
                      <a:r>
                        <a:rPr sz="800" b="0">
                          <a:solidFill>
                            <a:srgbClr val="2E2E2E"/>
                          </a:solidFill>
                          <a:latin typeface="Calibri"/>
                        </a:rPr>
                        <a:t>0.71</a:t>
                      </a:r>
                    </a:p>
                  </a:txBody>
                  <a:tcPr marL="85725" marR="38100" marT="19050" marB="19050" anchor="ctr">
                    <a:solidFill>
                      <a:srgbClr val="F5F8FA"/>
                    </a:solidFill>
                  </a:tcPr>
                </a:tc>
                <a:tc>
                  <a:txBody>
                    <a:bodyPr wrap="none"/>
                    <a:lstStyle/>
                    <a:p>
                      <a:pPr algn="l"/>
                      <a:r>
                        <a:rPr sz="800" b="0">
                          <a:solidFill>
                            <a:srgbClr val="2E2E2E"/>
                          </a:solidFill>
                          <a:latin typeface="Calibri"/>
                        </a:rPr>
                        <a:t>0.78</a:t>
                      </a:r>
                    </a:p>
                  </a:txBody>
                  <a:tcPr marL="85725" marR="38100" marT="19050" marB="19050" anchor="ctr">
                    <a:solidFill>
                      <a:srgbClr val="F5F8FA"/>
                    </a:solidFill>
                  </a:tcPr>
                </a:tc>
                <a:tc>
                  <a:txBody>
                    <a:bodyPr wrap="none"/>
                    <a:lstStyle/>
                    <a:p>
                      <a:pPr algn="l"/>
                      <a:r>
                        <a:rPr sz="800" b="0">
                          <a:solidFill>
                            <a:srgbClr val="2E2E2E"/>
                          </a:solidFill>
                          <a:latin typeface="Calibri"/>
                        </a:rPr>
                        <a:t>0.87</a:t>
                      </a:r>
                    </a:p>
                  </a:txBody>
                  <a:tcPr marL="85725" marR="38100" marT="19050" marB="19050" anchor="ctr">
                    <a:solidFill>
                      <a:srgbClr val="F5F8FA"/>
                    </a:solidFill>
                  </a:tcPr>
                </a:tc>
                <a:tc>
                  <a:txBody>
                    <a:bodyPr wrap="none"/>
                    <a:lstStyle/>
                    <a:p>
                      <a:pPr algn="l"/>
                      <a:r>
                        <a:rPr sz="800" b="0">
                          <a:solidFill>
                            <a:srgbClr val="2E2E2E"/>
                          </a:solidFill>
                          <a:latin typeface="Calibri"/>
                        </a:rPr>
                        <a:t>14.3%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800" b="0">
                          <a:solidFill>
                            <a:srgbClr val="2E2E2E"/>
                          </a:solidFill>
                          <a:latin typeface="Calibri"/>
                        </a:rPr>
                        <a:t>0.12</a:t>
                      </a:r>
                    </a:p>
                  </a:txBody>
                  <a:tcPr marL="85725" marR="38100" marT="19050" marB="19050" anchor="ctr">
                    <a:solidFill>
                      <a:srgbClr val="FFFFFF"/>
                    </a:solidFill>
                  </a:tcPr>
                </a:tc>
                <a:tc>
                  <a:txBody>
                    <a:bodyPr wrap="none"/>
                    <a:lstStyle/>
                    <a:p>
                      <a:pPr algn="l"/>
                      <a:r>
                        <a:rPr sz="800" b="0">
                          <a:solidFill>
                            <a:srgbClr val="2E2E2E"/>
                          </a:solidFill>
                          <a:latin typeface="Calibri"/>
                        </a:rPr>
                        <a:t>0.14</a:t>
                      </a:r>
                    </a:p>
                  </a:txBody>
                  <a:tcPr marL="85725" marR="38100" marT="19050" marB="19050" anchor="ctr">
                    <a:solidFill>
                      <a:srgbClr val="FFFFFF"/>
                    </a:solidFill>
                  </a:tcPr>
                </a:tc>
                <a:tc>
                  <a:txBody>
                    <a:bodyPr wrap="none"/>
                    <a:lstStyle/>
                    <a:p>
                      <a:pPr algn="l"/>
                      <a:r>
                        <a:rPr sz="800" b="0">
                          <a:solidFill>
                            <a:srgbClr val="2E2E2E"/>
                          </a:solidFill>
                          <a:latin typeface="Calibri"/>
                        </a:rPr>
                        <a:t>0.17</a:t>
                      </a:r>
                    </a:p>
                  </a:txBody>
                  <a:tcPr marL="85725" marR="38100" marT="19050" marB="19050" anchor="ctr">
                    <a:solidFill>
                      <a:srgbClr val="FFFFFF"/>
                    </a:solidFill>
                  </a:tcPr>
                </a:tc>
                <a:tc>
                  <a:txBody>
                    <a:bodyPr wrap="none"/>
                    <a:lstStyle/>
                    <a:p>
                      <a:pPr algn="l"/>
                      <a:r>
                        <a:rPr sz="800" b="0">
                          <a:solidFill>
                            <a:srgbClr val="2E2E2E"/>
                          </a:solidFill>
                          <a:latin typeface="Calibri"/>
                        </a:rPr>
                        <a:t>0.22</a:t>
                      </a:r>
                    </a:p>
                  </a:txBody>
                  <a:tcPr marL="85725" marR="38100" marT="19050" marB="19050" anchor="ctr">
                    <a:solidFill>
                      <a:srgbClr val="FFFFFF"/>
                    </a:solidFill>
                  </a:tcPr>
                </a:tc>
                <a:tc>
                  <a:txBody>
                    <a:bodyPr wrap="none"/>
                    <a:lstStyle/>
                    <a:p>
                      <a:pPr algn="l"/>
                      <a:r>
                        <a:rPr sz="800" b="0">
                          <a:solidFill>
                            <a:srgbClr val="2E2E2E"/>
                          </a:solidFill>
                          <a:latin typeface="Calibri"/>
                        </a:rPr>
                        <a:t>0.26</a:t>
                      </a:r>
                    </a:p>
                  </a:txBody>
                  <a:tcPr marL="85725" marR="38100" marT="19050" marB="19050" anchor="ctr">
                    <a:solidFill>
                      <a:srgbClr val="FFFFFF"/>
                    </a:solidFill>
                  </a:tcPr>
                </a:tc>
                <a:tc>
                  <a:txBody>
                    <a:bodyPr wrap="none"/>
                    <a:lstStyle/>
                    <a:p>
                      <a:pPr algn="l"/>
                      <a:r>
                        <a:rPr sz="800" b="0">
                          <a:solidFill>
                            <a:srgbClr val="2E2E2E"/>
                          </a:solidFill>
                          <a:latin typeface="Calibri"/>
                        </a:rPr>
                        <a:t>0.31</a:t>
                      </a:r>
                    </a:p>
                  </a:txBody>
                  <a:tcPr marL="85725" marR="38100" marT="19050" marB="19050" anchor="ctr">
                    <a:solidFill>
                      <a:srgbClr val="FFFFFF"/>
                    </a:solidFill>
                  </a:tcPr>
                </a:tc>
                <a:tc>
                  <a:txBody>
                    <a:bodyPr wrap="none"/>
                    <a:lstStyle/>
                    <a:p>
                      <a:pPr algn="l"/>
                      <a:r>
                        <a:rPr sz="800" b="0">
                          <a:solidFill>
                            <a:srgbClr val="2E2E2E"/>
                          </a:solidFill>
                          <a:latin typeface="Calibri"/>
                        </a:rPr>
                        <a:t>0.37</a:t>
                      </a:r>
                    </a:p>
                  </a:txBody>
                  <a:tcPr marL="85725" marR="38100" marT="19050" marB="19050" anchor="ctr">
                    <a:solidFill>
                      <a:srgbClr val="FFFFFF"/>
                    </a:solidFill>
                  </a:tcPr>
                </a:tc>
                <a:tc>
                  <a:txBody>
                    <a:bodyPr wrap="none"/>
                    <a:lstStyle/>
                    <a:p>
                      <a:pPr algn="l"/>
                      <a:r>
                        <a:rPr sz="800" b="0">
                          <a:solidFill>
                            <a:srgbClr val="2E2E2E"/>
                          </a:solidFill>
                          <a:latin typeface="Calibri"/>
                        </a:rPr>
                        <a:t>0.42</a:t>
                      </a:r>
                    </a:p>
                  </a:txBody>
                  <a:tcPr marL="85725" marR="38100" marT="19050" marB="19050" anchor="ctr">
                    <a:solidFill>
                      <a:srgbClr val="FFFFFF"/>
                    </a:solidFill>
                  </a:tcPr>
                </a:tc>
                <a:tc>
                  <a:txBody>
                    <a:bodyPr wrap="none"/>
                    <a:lstStyle/>
                    <a:p>
                      <a:pPr algn="l"/>
                      <a:r>
                        <a:rPr sz="800" b="0">
                          <a:solidFill>
                            <a:srgbClr val="2E2E2E"/>
                          </a:solidFill>
                          <a:latin typeface="Calibri"/>
                        </a:rPr>
                        <a:t>0.47</a:t>
                      </a:r>
                    </a:p>
                  </a:txBody>
                  <a:tcPr marL="85725" marR="38100" marT="19050" marB="19050" anchor="ctr">
                    <a:solidFill>
                      <a:srgbClr val="FFFFFF"/>
                    </a:solidFill>
                  </a:tcPr>
                </a:tc>
                <a:tc>
                  <a:txBody>
                    <a:bodyPr wrap="none"/>
                    <a:lstStyle/>
                    <a:p>
                      <a:pPr algn="l"/>
                      <a:r>
                        <a:rPr sz="800" b="0">
                          <a:solidFill>
                            <a:srgbClr val="2E2E2E"/>
                          </a:solidFill>
                          <a:latin typeface="Calibri"/>
                        </a:rPr>
                        <a:t>0.52</a:t>
                      </a:r>
                    </a:p>
                  </a:txBody>
                  <a:tcPr marL="85725" marR="38100" marT="19050" marB="19050" anchor="ctr">
                    <a:solidFill>
                      <a:srgbClr val="FFFFFF"/>
                    </a:solidFill>
                  </a:tcPr>
                </a:tc>
                <a:tc>
                  <a:txBody>
                    <a:bodyPr wrap="none"/>
                    <a:lstStyle/>
                    <a:p>
                      <a:pPr algn="l"/>
                      <a:r>
                        <a:rPr sz="800" b="0">
                          <a:solidFill>
                            <a:srgbClr val="2E2E2E"/>
                          </a:solidFill>
                          <a:latin typeface="Calibri"/>
                        </a:rPr>
                        <a:t>0.58</a:t>
                      </a:r>
                    </a:p>
                  </a:txBody>
                  <a:tcPr marL="85725" marR="38100" marT="19050" marB="19050" anchor="ctr">
                    <a:solidFill>
                      <a:srgbClr val="FFFFFF"/>
                    </a:solidFill>
                  </a:tcPr>
                </a:tc>
                <a:tc>
                  <a:txBody>
                    <a:bodyPr wrap="none"/>
                    <a:lstStyle/>
                    <a:p>
                      <a:pPr algn="l"/>
                      <a:r>
                        <a:rPr sz="800" b="0">
                          <a:solidFill>
                            <a:srgbClr val="2E2E2E"/>
                          </a:solidFill>
                          <a:latin typeface="Calibri"/>
                        </a:rPr>
                        <a:t>0.63</a:t>
                      </a:r>
                    </a:p>
                  </a:txBody>
                  <a:tcPr marL="85725" marR="38100" marT="19050" marB="19050" anchor="ctr">
                    <a:solidFill>
                      <a:srgbClr val="FFFFFF"/>
                    </a:solidFill>
                  </a:tcPr>
                </a:tc>
                <a:tc>
                  <a:txBody>
                    <a:bodyPr wrap="none"/>
                    <a:lstStyle/>
                    <a:p>
                      <a:pPr algn="l"/>
                      <a:r>
                        <a:rPr sz="800" b="0">
                          <a:solidFill>
                            <a:srgbClr val="2E2E2E"/>
                          </a:solidFill>
                          <a:latin typeface="Calibri"/>
                        </a:rPr>
                        <a:t>0.68</a:t>
                      </a:r>
                    </a:p>
                  </a:txBody>
                  <a:tcPr marL="85725" marR="38100" marT="19050" marB="19050" anchor="ctr">
                    <a:solidFill>
                      <a:srgbClr val="FFFFFF"/>
                    </a:solidFill>
                  </a:tcPr>
                </a:tc>
                <a:tc>
                  <a:txBody>
                    <a:bodyPr wrap="none"/>
                    <a:lstStyle/>
                    <a:p>
                      <a:pPr algn="l"/>
                      <a:r>
                        <a:rPr sz="800" b="0">
                          <a:solidFill>
                            <a:srgbClr val="2E2E2E"/>
                          </a:solidFill>
                          <a:latin typeface="Calibri"/>
                        </a:rPr>
                        <a:t>0.73</a:t>
                      </a:r>
                    </a:p>
                  </a:txBody>
                  <a:tcPr marL="85725" marR="38100" marT="19050" marB="19050" anchor="ctr">
                    <a:solidFill>
                      <a:srgbClr val="FFFFFF"/>
                    </a:solidFill>
                  </a:tcPr>
                </a:tc>
                <a:tc>
                  <a:txBody>
                    <a:bodyPr wrap="none"/>
                    <a:lstStyle/>
                    <a:p>
                      <a:pPr algn="l"/>
                      <a:r>
                        <a:rPr sz="800" b="0">
                          <a:solidFill>
                            <a:srgbClr val="2E2E2E"/>
                          </a:solidFill>
                          <a:latin typeface="Calibri"/>
                        </a:rPr>
                        <a:t>0.79</a:t>
                      </a:r>
                    </a:p>
                  </a:txBody>
                  <a:tcPr marL="85725" marR="38100" marT="19050" marB="19050" anchor="ctr">
                    <a:solidFill>
                      <a:srgbClr val="FFFFFF"/>
                    </a:solidFill>
                  </a:tcPr>
                </a:tc>
                <a:tc>
                  <a:txBody>
                    <a:bodyPr wrap="none"/>
                    <a:lstStyle/>
                    <a:p>
                      <a:pPr algn="l"/>
                      <a:r>
                        <a:rPr sz="800" b="0">
                          <a:solidFill>
                            <a:srgbClr val="2E2E2E"/>
                          </a:solidFill>
                          <a:latin typeface="Calibri"/>
                        </a:rPr>
                        <a:t>0.84</a:t>
                      </a:r>
                    </a:p>
                  </a:txBody>
                  <a:tcPr marL="85725" marR="38100" marT="19050" marB="19050" anchor="ctr">
                    <a:solidFill>
                      <a:srgbClr val="FFFFFF"/>
                    </a:solidFill>
                  </a:tcPr>
                </a:tc>
                <a:tc>
                  <a:txBody>
                    <a:bodyPr wrap="none"/>
                    <a:lstStyle/>
                    <a:p>
                      <a:pPr algn="l"/>
                      <a:r>
                        <a:rPr sz="800" b="0">
                          <a:solidFill>
                            <a:srgbClr val="2E2E2E"/>
                          </a:solidFill>
                          <a:latin typeface="Calibri"/>
                        </a:rPr>
                        <a:t>10.3%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800" b="0">
                          <a:solidFill>
                            <a:srgbClr val="2E2E2E"/>
                          </a:solidFill>
                          <a:latin typeface="Calibri"/>
                        </a:rPr>
                        <a:t>0.13</a:t>
                      </a:r>
                    </a:p>
                  </a:txBody>
                  <a:tcPr marL="85725" marR="38100" marT="19050" marB="19050" anchor="ctr">
                    <a:solidFill>
                      <a:srgbClr val="F5F8FA"/>
                    </a:solidFill>
                  </a:tcPr>
                </a:tc>
                <a:tc>
                  <a:txBody>
                    <a:bodyPr wrap="none"/>
                    <a:lstStyle/>
                    <a:p>
                      <a:pPr algn="l"/>
                      <a:r>
                        <a:rPr sz="800" b="0">
                          <a:solidFill>
                            <a:srgbClr val="2E2E2E"/>
                          </a:solidFill>
                          <a:latin typeface="Calibri"/>
                        </a:rPr>
                        <a:t>0.15</a:t>
                      </a:r>
                    </a:p>
                  </a:txBody>
                  <a:tcPr marL="85725" marR="38100" marT="19050" marB="19050" anchor="ctr">
                    <a:solidFill>
                      <a:srgbClr val="F5F8FA"/>
                    </a:solidFill>
                  </a:tcPr>
                </a:tc>
                <a:tc>
                  <a:txBody>
                    <a:bodyPr wrap="none"/>
                    <a:lstStyle/>
                    <a:p>
                      <a:pPr algn="l"/>
                      <a:r>
                        <a:rPr sz="800" b="0">
                          <a:solidFill>
                            <a:srgbClr val="2E2E2E"/>
                          </a:solidFill>
                          <a:latin typeface="Calibri"/>
                        </a:rPr>
                        <a:t>0.18</a:t>
                      </a:r>
                    </a:p>
                  </a:txBody>
                  <a:tcPr marL="85725" marR="38100" marT="19050" marB="19050" anchor="ctr">
                    <a:solidFill>
                      <a:srgbClr val="F5F8FA"/>
                    </a:solidFill>
                  </a:tcPr>
                </a:tc>
                <a:tc>
                  <a:txBody>
                    <a:bodyPr wrap="none"/>
                    <a:lstStyle/>
                    <a:p>
                      <a:pPr algn="l"/>
                      <a:r>
                        <a:rPr sz="800" b="0">
                          <a:solidFill>
                            <a:srgbClr val="2E2E2E"/>
                          </a:solidFill>
                          <a:latin typeface="Calibri"/>
                        </a:rPr>
                        <a:t>0.23</a:t>
                      </a:r>
                    </a:p>
                  </a:txBody>
                  <a:tcPr marL="85725" marR="38100" marT="19050" marB="19050" anchor="ctr">
                    <a:solidFill>
                      <a:srgbClr val="F5F8FA"/>
                    </a:solidFill>
                  </a:tcPr>
                </a:tc>
                <a:tc>
                  <a:txBody>
                    <a:bodyPr wrap="none"/>
                    <a:lstStyle/>
                    <a:p>
                      <a:pPr algn="l"/>
                      <a:r>
                        <a:rPr sz="800" b="0">
                          <a:solidFill>
                            <a:srgbClr val="2E2E2E"/>
                          </a:solidFill>
                          <a:latin typeface="Calibri"/>
                        </a:rPr>
                        <a:t>0.29</a:t>
                      </a:r>
                    </a:p>
                  </a:txBody>
                  <a:tcPr marL="85725" marR="38100" marT="19050" marB="19050" anchor="ctr">
                    <a:solidFill>
                      <a:srgbClr val="F5F8FA"/>
                    </a:solidFill>
                  </a:tcPr>
                </a:tc>
                <a:tc>
                  <a:txBody>
                    <a:bodyPr wrap="none"/>
                    <a:lstStyle/>
                    <a:p>
                      <a:pPr algn="l"/>
                      <a:r>
                        <a:rPr sz="800" b="0">
                          <a:solidFill>
                            <a:srgbClr val="2E2E2E"/>
                          </a:solidFill>
                          <a:latin typeface="Calibri"/>
                        </a:rPr>
                        <a:t>0.35</a:t>
                      </a:r>
                    </a:p>
                  </a:txBody>
                  <a:tcPr marL="85725" marR="38100" marT="19050" marB="19050" anchor="ctr">
                    <a:solidFill>
                      <a:srgbClr val="F5F8FA"/>
                    </a:solidFill>
                  </a:tcPr>
                </a:tc>
                <a:tc>
                  <a:txBody>
                    <a:bodyPr wrap="none"/>
                    <a:lstStyle/>
                    <a:p>
                      <a:pPr algn="l"/>
                      <a:r>
                        <a:rPr sz="800" b="0">
                          <a:solidFill>
                            <a:srgbClr val="2E2E2E"/>
                          </a:solidFill>
                          <a:latin typeface="Calibri"/>
                        </a:rPr>
                        <a:t>0.42</a:t>
                      </a:r>
                    </a:p>
                  </a:txBody>
                  <a:tcPr marL="85725" marR="38100" marT="19050" marB="19050" anchor="ctr">
                    <a:solidFill>
                      <a:srgbClr val="F5F8FA"/>
                    </a:solidFill>
                  </a:tcPr>
                </a:tc>
                <a:tc>
                  <a:txBody>
                    <a:bodyPr wrap="none"/>
                    <a:lstStyle/>
                    <a:p>
                      <a:pPr algn="l"/>
                      <a:r>
                        <a:rPr sz="800" b="0">
                          <a:solidFill>
                            <a:srgbClr val="2E2E2E"/>
                          </a:solidFill>
                          <a:latin typeface="Calibri"/>
                        </a:rPr>
                        <a:t>0.48</a:t>
                      </a:r>
                    </a:p>
                  </a:txBody>
                  <a:tcPr marL="85725" marR="38100" marT="19050" marB="19050" anchor="ctr">
                    <a:solidFill>
                      <a:srgbClr val="F5F8FA"/>
                    </a:solidFill>
                  </a:tcPr>
                </a:tc>
                <a:tc>
                  <a:txBody>
                    <a:bodyPr wrap="none"/>
                    <a:lstStyle/>
                    <a:p>
                      <a:pPr algn="l"/>
                      <a:r>
                        <a:rPr sz="800" b="0">
                          <a:solidFill>
                            <a:srgbClr val="2E2E2E"/>
                          </a:solidFill>
                          <a:latin typeface="Calibri"/>
                        </a:rPr>
                        <a:t>0.55</a:t>
                      </a:r>
                    </a:p>
                  </a:txBody>
                  <a:tcPr marL="85725" marR="38100" marT="19050" marB="19050" anchor="ctr">
                    <a:solidFill>
                      <a:srgbClr val="F5F8FA"/>
                    </a:solidFill>
                  </a:tcPr>
                </a:tc>
                <a:tc>
                  <a:txBody>
                    <a:bodyPr wrap="none"/>
                    <a:lstStyle/>
                    <a:p>
                      <a:pPr algn="l"/>
                      <a:r>
                        <a:rPr sz="800" b="0">
                          <a:solidFill>
                            <a:srgbClr val="2E2E2E"/>
                          </a:solidFill>
                          <a:latin typeface="Calibri"/>
                        </a:rPr>
                        <a:t>0.62</a:t>
                      </a:r>
                    </a:p>
                  </a:txBody>
                  <a:tcPr marL="85725" marR="38100" marT="19050" marB="19050" anchor="ctr">
                    <a:solidFill>
                      <a:srgbClr val="F5F8FA"/>
                    </a:solidFill>
                  </a:tcPr>
                </a:tc>
                <a:tc>
                  <a:txBody>
                    <a:bodyPr wrap="none"/>
                    <a:lstStyle/>
                    <a:p>
                      <a:pPr algn="l"/>
                      <a:r>
                        <a:rPr sz="800" b="0">
                          <a:solidFill>
                            <a:srgbClr val="2E2E2E"/>
                          </a:solidFill>
                          <a:latin typeface="Calibri"/>
                        </a:rPr>
                        <a:t>0.70</a:t>
                      </a:r>
                    </a:p>
                  </a:txBody>
                  <a:tcPr marL="85725" marR="38100" marT="19050" marB="19050" anchor="ctr">
                    <a:solidFill>
                      <a:srgbClr val="F5F8FA"/>
                    </a:solidFill>
                  </a:tcPr>
                </a:tc>
                <a:tc>
                  <a:txBody>
                    <a:bodyPr wrap="none"/>
                    <a:lstStyle/>
                    <a:p>
                      <a:pPr algn="l"/>
                      <a:r>
                        <a:rPr sz="800" b="0">
                          <a:solidFill>
                            <a:srgbClr val="2E2E2E"/>
                          </a:solidFill>
                          <a:latin typeface="Calibri"/>
                        </a:rPr>
                        <a:t>0.77</a:t>
                      </a:r>
                    </a:p>
                  </a:txBody>
                  <a:tcPr marL="85725" marR="38100" marT="19050" marB="19050" anchor="ctr">
                    <a:solidFill>
                      <a:srgbClr val="F5F8FA"/>
                    </a:solidFill>
                  </a:tcPr>
                </a:tc>
                <a:tc>
                  <a:txBody>
                    <a:bodyPr wrap="none"/>
                    <a:lstStyle/>
                    <a:p>
                      <a:pPr algn="l"/>
                      <a:r>
                        <a:rPr sz="800" b="0">
                          <a:solidFill>
                            <a:srgbClr val="2E2E2E"/>
                          </a:solidFill>
                          <a:latin typeface="Calibri"/>
                        </a:rPr>
                        <a:t>0.85</a:t>
                      </a:r>
                    </a:p>
                  </a:txBody>
                  <a:tcPr marL="85725" marR="38100" marT="19050" marB="19050" anchor="ctr">
                    <a:solidFill>
                      <a:srgbClr val="F5F8FA"/>
                    </a:solidFill>
                  </a:tcPr>
                </a:tc>
                <a:tc>
                  <a:txBody>
                    <a:bodyPr wrap="none"/>
                    <a:lstStyle/>
                    <a:p>
                      <a:pPr algn="l"/>
                      <a:r>
                        <a:rPr sz="800" b="0">
                          <a:solidFill>
                            <a:srgbClr val="2E2E2E"/>
                          </a:solidFill>
                          <a:latin typeface="Calibri"/>
                        </a:rPr>
                        <a:t>0.93</a:t>
                      </a:r>
                    </a:p>
                  </a:txBody>
                  <a:tcPr marL="85725" marR="38100" marT="19050" marB="19050" anchor="ctr">
                    <a:solidFill>
                      <a:srgbClr val="F5F8FA"/>
                    </a:solidFill>
                  </a:tcPr>
                </a:tc>
                <a:tc>
                  <a:txBody>
                    <a:bodyPr wrap="none"/>
                    <a:lstStyle/>
                    <a:p>
                      <a:pPr algn="l"/>
                      <a:r>
                        <a:rPr sz="800" b="0">
                          <a:solidFill>
                            <a:srgbClr val="2E2E2E"/>
                          </a:solidFill>
                          <a:latin typeface="Calibri"/>
                        </a:rPr>
                        <a:t>1.01</a:t>
                      </a:r>
                    </a:p>
                  </a:txBody>
                  <a:tcPr marL="85725" marR="38100" marT="19050" marB="19050" anchor="ctr">
                    <a:solidFill>
                      <a:srgbClr val="F5F8FA"/>
                    </a:solidFill>
                  </a:tcPr>
                </a:tc>
                <a:tc>
                  <a:txBody>
                    <a:bodyPr wrap="none"/>
                    <a:lstStyle/>
                    <a:p>
                      <a:pPr algn="l"/>
                      <a:r>
                        <a:rPr sz="800" b="0">
                          <a:solidFill>
                            <a:srgbClr val="2E2E2E"/>
                          </a:solidFill>
                          <a:latin typeface="Calibri"/>
                        </a:rPr>
                        <a:t>1.09</a:t>
                      </a:r>
                    </a:p>
                  </a:txBody>
                  <a:tcPr marL="85725" marR="38100" marT="19050" marB="19050" anchor="ctr">
                    <a:solidFill>
                      <a:srgbClr val="F5F8FA"/>
                    </a:solidFill>
                  </a:tcPr>
                </a:tc>
                <a:tc>
                  <a:txBody>
                    <a:bodyPr wrap="none"/>
                    <a:lstStyle/>
                    <a:p>
                      <a:pPr algn="l"/>
                      <a:r>
                        <a:rPr sz="800" b="0">
                          <a:solidFill>
                            <a:srgbClr val="2E2E2E"/>
                          </a:solidFill>
                          <a:latin typeface="Calibri"/>
                        </a:rPr>
                        <a:t>12.0%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Idacio</a:t>
                      </a:r>
                    </a:p>
                  </a:txBody>
                  <a:tcPr marL="85725" marR="38100" marT="19050" marB="19050" anchor="ctr">
                    <a:solidFill>
                      <a:srgbClr val="FFFFFF"/>
                    </a:solidFill>
                  </a:tcPr>
                </a:tc>
                <a:tc>
                  <a:txBody>
                    <a:bodyPr wrap="none"/>
                    <a:lstStyle/>
                    <a:p>
                      <a:pPr algn="l"/>
                      <a:r>
                        <a:rPr sz="800" b="0">
                          <a:solidFill>
                            <a:srgbClr val="2E2E2E"/>
                          </a:solidFill>
                          <a:latin typeface="Calibri"/>
                        </a:rPr>
                        <a:t>0.06</a:t>
                      </a:r>
                    </a:p>
                  </a:txBody>
                  <a:tcPr marL="85725" marR="38100" marT="19050" marB="19050" anchor="ctr">
                    <a:solidFill>
                      <a:srgbClr val="FFFFFF"/>
                    </a:solidFill>
                  </a:tcPr>
                </a:tc>
                <a:tc>
                  <a:txBody>
                    <a:bodyPr wrap="none"/>
                    <a:lstStyle/>
                    <a:p>
                      <a:pPr algn="l"/>
                      <a:r>
                        <a:rPr sz="800" b="0">
                          <a:solidFill>
                            <a:srgbClr val="2E2E2E"/>
                          </a:solidFill>
                          <a:latin typeface="Calibri"/>
                        </a:rPr>
                        <a:t>0.07</a:t>
                      </a:r>
                    </a:p>
                  </a:txBody>
                  <a:tcPr marL="85725" marR="38100" marT="19050" marB="19050" anchor="ctr">
                    <a:solidFill>
                      <a:srgbClr val="FFFFFF"/>
                    </a:solidFill>
                  </a:tcPr>
                </a:tc>
                <a:tc>
                  <a:txBody>
                    <a:bodyPr wrap="none"/>
                    <a:lstStyle/>
                    <a:p>
                      <a:pPr algn="l"/>
                      <a:r>
                        <a:rPr sz="800" b="0">
                          <a:solidFill>
                            <a:srgbClr val="2E2E2E"/>
                          </a:solidFill>
                          <a:latin typeface="Calibri"/>
                        </a:rPr>
                        <a:t>0.09</a:t>
                      </a:r>
                    </a:p>
                  </a:txBody>
                  <a:tcPr marL="85725" marR="38100" marT="19050" marB="19050" anchor="ctr">
                    <a:solidFill>
                      <a:srgbClr val="FFFFFF"/>
                    </a:solidFill>
                  </a:tcPr>
                </a:tc>
                <a:tc>
                  <a:txBody>
                    <a:bodyPr wrap="none"/>
                    <a:lstStyle/>
                    <a:p>
                      <a:pPr algn="l"/>
                      <a:r>
                        <a:rPr sz="800" b="0">
                          <a:solidFill>
                            <a:srgbClr val="2E2E2E"/>
                          </a:solidFill>
                          <a:latin typeface="Calibri"/>
                        </a:rPr>
                        <a:t>0.12</a:t>
                      </a:r>
                    </a:p>
                  </a:txBody>
                  <a:tcPr marL="85725" marR="38100" marT="19050" marB="19050" anchor="ctr">
                    <a:solidFill>
                      <a:srgbClr val="FFFFFF"/>
                    </a:solidFill>
                  </a:tcPr>
                </a:tc>
                <a:tc>
                  <a:txBody>
                    <a:bodyPr wrap="none"/>
                    <a:lstStyle/>
                    <a:p>
                      <a:pPr algn="l"/>
                      <a:r>
                        <a:rPr sz="800" b="0">
                          <a:solidFill>
                            <a:srgbClr val="2E2E2E"/>
                          </a:solidFill>
                          <a:latin typeface="Calibri"/>
                        </a:rPr>
                        <a:t>0.15</a:t>
                      </a:r>
                    </a:p>
                  </a:txBody>
                  <a:tcPr marL="85725" marR="38100" marT="19050" marB="19050" anchor="ctr">
                    <a:solidFill>
                      <a:srgbClr val="FFFFFF"/>
                    </a:solidFill>
                  </a:tcPr>
                </a:tc>
                <a:tc>
                  <a:txBody>
                    <a:bodyPr wrap="none"/>
                    <a:lstStyle/>
                    <a:p>
                      <a:pPr algn="l"/>
                      <a:r>
                        <a:rPr sz="800" b="0">
                          <a:solidFill>
                            <a:srgbClr val="2E2E2E"/>
                          </a:solidFill>
                          <a:latin typeface="Calibri"/>
                        </a:rPr>
                        <a:t>0.18</a:t>
                      </a:r>
                    </a:p>
                  </a:txBody>
                  <a:tcPr marL="85725" marR="38100" marT="19050" marB="19050" anchor="ctr">
                    <a:solidFill>
                      <a:srgbClr val="FFFFFF"/>
                    </a:solidFill>
                  </a:tcPr>
                </a:tc>
                <a:tc>
                  <a:txBody>
                    <a:bodyPr wrap="none"/>
                    <a:lstStyle/>
                    <a:p>
                      <a:pPr algn="l"/>
                      <a:r>
                        <a:rPr sz="800" b="0">
                          <a:solidFill>
                            <a:srgbClr val="2E2E2E"/>
                          </a:solidFill>
                          <a:latin typeface="Calibri"/>
                        </a:rPr>
                        <a:t>0.21</a:t>
                      </a:r>
                    </a:p>
                  </a:txBody>
                  <a:tcPr marL="85725" marR="38100" marT="19050" marB="19050" anchor="ctr">
                    <a:solidFill>
                      <a:srgbClr val="FFFFFF"/>
                    </a:solidFill>
                  </a:tcPr>
                </a:tc>
                <a:tc>
                  <a:txBody>
                    <a:bodyPr wrap="none"/>
                    <a:lstStyle/>
                    <a:p>
                      <a:pPr algn="l"/>
                      <a:r>
                        <a:rPr sz="800" b="0">
                          <a:solidFill>
                            <a:srgbClr val="2E2E2E"/>
                          </a:solidFill>
                          <a:latin typeface="Calibri"/>
                        </a:rPr>
                        <a:t>0.25</a:t>
                      </a:r>
                    </a:p>
                  </a:txBody>
                  <a:tcPr marL="85725" marR="38100" marT="19050" marB="19050" anchor="ctr">
                    <a:solidFill>
                      <a:srgbClr val="FFFFFF"/>
                    </a:solidFill>
                  </a:tcPr>
                </a:tc>
                <a:tc>
                  <a:txBody>
                    <a:bodyPr wrap="none"/>
                    <a:lstStyle/>
                    <a:p>
                      <a:pPr algn="l"/>
                      <a:r>
                        <a:rPr sz="800" b="0">
                          <a:solidFill>
                            <a:srgbClr val="2E2E2E"/>
                          </a:solidFill>
                          <a:latin typeface="Calibri"/>
                        </a:rPr>
                        <a:t>0.29</a:t>
                      </a:r>
                    </a:p>
                  </a:txBody>
                  <a:tcPr marL="85725" marR="38100" marT="19050" marB="19050" anchor="ctr">
                    <a:solidFill>
                      <a:srgbClr val="FFFFFF"/>
                    </a:solidFill>
                  </a:tcPr>
                </a:tc>
                <a:tc>
                  <a:txBody>
                    <a:bodyPr wrap="none"/>
                    <a:lstStyle/>
                    <a:p>
                      <a:pPr algn="l"/>
                      <a:r>
                        <a:rPr sz="800" b="0">
                          <a:solidFill>
                            <a:srgbClr val="2E2E2E"/>
                          </a:solidFill>
                          <a:latin typeface="Calibri"/>
                        </a:rPr>
                        <a:t>0.33</a:t>
                      </a:r>
                    </a:p>
                  </a:txBody>
                  <a:tcPr marL="85725" marR="38100" marT="19050" marB="19050" anchor="ctr">
                    <a:solidFill>
                      <a:srgbClr val="FFFFFF"/>
                    </a:solidFill>
                  </a:tcPr>
                </a:tc>
                <a:tc>
                  <a:txBody>
                    <a:bodyPr wrap="none"/>
                    <a:lstStyle/>
                    <a:p>
                      <a:pPr algn="l"/>
                      <a:r>
                        <a:rPr sz="800" b="0">
                          <a:solidFill>
                            <a:srgbClr val="2E2E2E"/>
                          </a:solidFill>
                          <a:latin typeface="Calibri"/>
                        </a:rPr>
                        <a:t>0.37</a:t>
                      </a:r>
                    </a:p>
                  </a:txBody>
                  <a:tcPr marL="85725" marR="38100" marT="19050" marB="19050" anchor="ctr">
                    <a:solidFill>
                      <a:srgbClr val="FFFFFF"/>
                    </a:solidFill>
                  </a:tcPr>
                </a:tc>
                <a:tc>
                  <a:txBody>
                    <a:bodyPr wrap="none"/>
                    <a:lstStyle/>
                    <a:p>
                      <a:pPr algn="l"/>
                      <a:r>
                        <a:rPr sz="800" b="0">
                          <a:solidFill>
                            <a:srgbClr val="2E2E2E"/>
                          </a:solidFill>
                          <a:latin typeface="Calibri"/>
                        </a:rPr>
                        <a:t>0.42</a:t>
                      </a:r>
                    </a:p>
                  </a:txBody>
                  <a:tcPr marL="85725" marR="38100" marT="19050" marB="19050" anchor="ctr">
                    <a:solidFill>
                      <a:srgbClr val="FFFFFF"/>
                    </a:solidFill>
                  </a:tcPr>
                </a:tc>
                <a:tc>
                  <a:txBody>
                    <a:bodyPr wrap="none"/>
                    <a:lstStyle/>
                    <a:p>
                      <a:pPr algn="l"/>
                      <a:r>
                        <a:rPr sz="800" b="0">
                          <a:solidFill>
                            <a:srgbClr val="2E2E2E"/>
                          </a:solidFill>
                          <a:latin typeface="Calibri"/>
                        </a:rPr>
                        <a:t>0.46</a:t>
                      </a:r>
                    </a:p>
                  </a:txBody>
                  <a:tcPr marL="85725" marR="38100" marT="19050" marB="19050" anchor="ctr">
                    <a:solidFill>
                      <a:srgbClr val="FFFFFF"/>
                    </a:solidFill>
                  </a:tcPr>
                </a:tc>
                <a:tc>
                  <a:txBody>
                    <a:bodyPr wrap="none"/>
                    <a:lstStyle/>
                    <a:p>
                      <a:pPr algn="l"/>
                      <a:r>
                        <a:rPr sz="800" b="0">
                          <a:solidFill>
                            <a:srgbClr val="2E2E2E"/>
                          </a:solidFill>
                          <a:latin typeface="Calibri"/>
                        </a:rPr>
                        <a:t>0.51</a:t>
                      </a:r>
                    </a:p>
                  </a:txBody>
                  <a:tcPr marL="85725" marR="38100" marT="19050" marB="19050" anchor="ctr">
                    <a:solidFill>
                      <a:srgbClr val="FFFFFF"/>
                    </a:solidFill>
                  </a:tcPr>
                </a:tc>
                <a:tc>
                  <a:txBody>
                    <a:bodyPr wrap="none"/>
                    <a:lstStyle/>
                    <a:p>
                      <a:pPr algn="l"/>
                      <a:r>
                        <a:rPr sz="800" b="0">
                          <a:solidFill>
                            <a:srgbClr val="2E2E2E"/>
                          </a:solidFill>
                          <a:latin typeface="Calibri"/>
                        </a:rPr>
                        <a:t>0.56</a:t>
                      </a:r>
                    </a:p>
                  </a:txBody>
                  <a:tcPr marL="85725" marR="38100" marT="19050" marB="19050" anchor="ctr">
                    <a:solidFill>
                      <a:srgbClr val="FFFFFF"/>
                    </a:solidFill>
                  </a:tcPr>
                </a:tc>
                <a:tc>
                  <a:txBody>
                    <a:bodyPr wrap="none"/>
                    <a:lstStyle/>
                    <a:p>
                      <a:pPr algn="l"/>
                      <a:r>
                        <a:rPr sz="800" b="0">
                          <a:solidFill>
                            <a:srgbClr val="2E2E2E"/>
                          </a:solidFill>
                          <a:latin typeface="Calibri"/>
                        </a:rPr>
                        <a:t>0.61</a:t>
                      </a:r>
                    </a:p>
                  </a:txBody>
                  <a:tcPr marL="85725" marR="38100" marT="19050" marB="19050" anchor="ctr">
                    <a:solidFill>
                      <a:srgbClr val="FFFFFF"/>
                    </a:solidFill>
                  </a:tcPr>
                </a:tc>
                <a:tc>
                  <a:txBody>
                    <a:bodyPr wrap="none"/>
                    <a:lstStyle/>
                    <a:p>
                      <a:pPr algn="l"/>
                      <a:r>
                        <a:rPr sz="800" b="0">
                          <a:solidFill>
                            <a:srgbClr val="2E2E2E"/>
                          </a:solidFill>
                          <a:latin typeface="Calibri"/>
                        </a:rPr>
                        <a:t>13.2%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Hulio</a:t>
                      </a:r>
                    </a:p>
                  </a:txBody>
                  <a:tcPr marL="85725" marR="38100" marT="19050" marB="19050" anchor="ctr">
                    <a:solidFill>
                      <a:srgbClr val="F5F8FA"/>
                    </a:solidFill>
                  </a:tcPr>
                </a:tc>
                <a:tc>
                  <a:txBody>
                    <a:bodyPr wrap="none"/>
                    <a:lstStyle/>
                    <a:p>
                      <a:pPr algn="l"/>
                      <a:r>
                        <a:rPr sz="800" b="0">
                          <a:solidFill>
                            <a:srgbClr val="2E2E2E"/>
                          </a:solidFill>
                          <a:latin typeface="Calibri"/>
                        </a:rPr>
                        <a:t>0.05</a:t>
                      </a:r>
                    </a:p>
                  </a:txBody>
                  <a:tcPr marL="85725" marR="38100" marT="19050" marB="19050" anchor="ctr">
                    <a:solidFill>
                      <a:srgbClr val="F5F8FA"/>
                    </a:solidFill>
                  </a:tcPr>
                </a:tc>
                <a:tc>
                  <a:txBody>
                    <a:bodyPr wrap="none"/>
                    <a:lstStyle/>
                    <a:p>
                      <a:pPr algn="l"/>
                      <a:r>
                        <a:rPr sz="800" b="0">
                          <a:solidFill>
                            <a:srgbClr val="2E2E2E"/>
                          </a:solidFill>
                          <a:latin typeface="Calibri"/>
                        </a:rPr>
                        <a:t>0.06</a:t>
                      </a:r>
                    </a:p>
                  </a:txBody>
                  <a:tcPr marL="85725" marR="38100" marT="19050" marB="19050" anchor="ctr">
                    <a:solidFill>
                      <a:srgbClr val="F5F8FA"/>
                    </a:solidFill>
                  </a:tcPr>
                </a:tc>
                <a:tc>
                  <a:txBody>
                    <a:bodyPr wrap="none"/>
                    <a:lstStyle/>
                    <a:p>
                      <a:pPr algn="l"/>
                      <a:r>
                        <a:rPr sz="800" b="0">
                          <a:solidFill>
                            <a:srgbClr val="2E2E2E"/>
                          </a:solidFill>
                          <a:latin typeface="Calibri"/>
                        </a:rPr>
                        <a:t>0.08</a:t>
                      </a:r>
                    </a:p>
                  </a:txBody>
                  <a:tcPr marL="85725" marR="38100" marT="19050" marB="19050" anchor="ctr">
                    <a:solidFill>
                      <a:srgbClr val="F5F8FA"/>
                    </a:solidFill>
                  </a:tcPr>
                </a:tc>
                <a:tc>
                  <a:txBody>
                    <a:bodyPr wrap="none"/>
                    <a:lstStyle/>
                    <a:p>
                      <a:pPr algn="l"/>
                      <a:r>
                        <a:rPr sz="800" b="0">
                          <a:solidFill>
                            <a:srgbClr val="2E2E2E"/>
                          </a:solidFill>
                          <a:latin typeface="Calibri"/>
                        </a:rPr>
                        <a:t>0.11</a:t>
                      </a:r>
                    </a:p>
                  </a:txBody>
                  <a:tcPr marL="85725" marR="38100" marT="19050" marB="19050" anchor="ctr">
                    <a:solidFill>
                      <a:srgbClr val="F5F8FA"/>
                    </a:solidFill>
                  </a:tcPr>
                </a:tc>
                <a:tc>
                  <a:txBody>
                    <a:bodyPr wrap="none"/>
                    <a:lstStyle/>
                    <a:p>
                      <a:pPr algn="l"/>
                      <a:r>
                        <a:rPr sz="800" b="0">
                          <a:solidFill>
                            <a:srgbClr val="2E2E2E"/>
                          </a:solidFill>
                          <a:latin typeface="Calibri"/>
                        </a:rPr>
                        <a:t>0.14</a:t>
                      </a:r>
                    </a:p>
                  </a:txBody>
                  <a:tcPr marL="85725" marR="38100" marT="19050" marB="19050" anchor="ctr">
                    <a:solidFill>
                      <a:srgbClr val="F5F8FA"/>
                    </a:solidFill>
                  </a:tcPr>
                </a:tc>
                <a:tc>
                  <a:txBody>
                    <a:bodyPr wrap="none"/>
                    <a:lstStyle/>
                    <a:p>
                      <a:pPr algn="l"/>
                      <a:r>
                        <a:rPr sz="800" b="0">
                          <a:solidFill>
                            <a:srgbClr val="2E2E2E"/>
                          </a:solidFill>
                          <a:latin typeface="Calibri"/>
                        </a:rPr>
                        <a:t>0.17</a:t>
                      </a:r>
                    </a:p>
                  </a:txBody>
                  <a:tcPr marL="85725" marR="38100" marT="19050" marB="19050" anchor="ctr">
                    <a:solidFill>
                      <a:srgbClr val="F5F8FA"/>
                    </a:solidFill>
                  </a:tcPr>
                </a:tc>
                <a:tc>
                  <a:txBody>
                    <a:bodyPr wrap="none"/>
                    <a:lstStyle/>
                    <a:p>
                      <a:pPr algn="l"/>
                      <a:r>
                        <a:rPr sz="800" b="0">
                          <a:solidFill>
                            <a:srgbClr val="2E2E2E"/>
                          </a:solidFill>
                          <a:latin typeface="Calibri"/>
                        </a:rPr>
                        <a:t>0.20</a:t>
                      </a:r>
                    </a:p>
                  </a:txBody>
                  <a:tcPr marL="85725" marR="38100" marT="19050" marB="19050" anchor="ctr">
                    <a:solidFill>
                      <a:srgbClr val="F5F8FA"/>
                    </a:solidFill>
                  </a:tcPr>
                </a:tc>
                <a:tc>
                  <a:txBody>
                    <a:bodyPr wrap="none"/>
                    <a:lstStyle/>
                    <a:p>
                      <a:pPr algn="l"/>
                      <a:r>
                        <a:rPr sz="800" b="0">
                          <a:solidFill>
                            <a:srgbClr val="2E2E2E"/>
                          </a:solidFill>
                          <a:latin typeface="Calibri"/>
                        </a:rPr>
                        <a:t>0.24</a:t>
                      </a:r>
                    </a:p>
                  </a:txBody>
                  <a:tcPr marL="85725" marR="38100" marT="19050" marB="19050" anchor="ctr">
                    <a:solidFill>
                      <a:srgbClr val="F5F8FA"/>
                    </a:solidFill>
                  </a:tcPr>
                </a:tc>
                <a:tc>
                  <a:txBody>
                    <a:bodyPr wrap="none"/>
                    <a:lstStyle/>
                    <a:p>
                      <a:pPr algn="l"/>
                      <a:r>
                        <a:rPr sz="800" b="0">
                          <a:solidFill>
                            <a:srgbClr val="2E2E2E"/>
                          </a:solidFill>
                          <a:latin typeface="Calibri"/>
                        </a:rPr>
                        <a:t>0.28</a:t>
                      </a:r>
                    </a:p>
                  </a:txBody>
                  <a:tcPr marL="85725" marR="38100" marT="19050" marB="19050" anchor="ctr">
                    <a:solidFill>
                      <a:srgbClr val="F5F8FA"/>
                    </a:solidFill>
                  </a:tcPr>
                </a:tc>
                <a:tc>
                  <a:txBody>
                    <a:bodyPr wrap="none"/>
                    <a:lstStyle/>
                    <a:p>
                      <a:pPr algn="l"/>
                      <a:r>
                        <a:rPr sz="800" b="0">
                          <a:solidFill>
                            <a:srgbClr val="2E2E2E"/>
                          </a:solidFill>
                          <a:latin typeface="Calibri"/>
                        </a:rPr>
                        <a:t>0.33</a:t>
                      </a:r>
                    </a:p>
                  </a:txBody>
                  <a:tcPr marL="85725" marR="38100" marT="19050" marB="19050" anchor="ctr">
                    <a:solidFill>
                      <a:srgbClr val="F5F8FA"/>
                    </a:solidFill>
                  </a:tcPr>
                </a:tc>
                <a:tc>
                  <a:txBody>
                    <a:bodyPr wrap="none"/>
                    <a:lstStyle/>
                    <a:p>
                      <a:pPr algn="l"/>
                      <a:r>
                        <a:rPr sz="800" b="0">
                          <a:solidFill>
                            <a:srgbClr val="2E2E2E"/>
                          </a:solidFill>
                          <a:latin typeface="Calibri"/>
                        </a:rPr>
                        <a:t>0.38</a:t>
                      </a:r>
                    </a:p>
                  </a:txBody>
                  <a:tcPr marL="85725" marR="38100" marT="19050" marB="19050" anchor="ctr">
                    <a:solidFill>
                      <a:srgbClr val="F5F8FA"/>
                    </a:solidFill>
                  </a:tcPr>
                </a:tc>
                <a:tc>
                  <a:txBody>
                    <a:bodyPr wrap="none"/>
                    <a:lstStyle/>
                    <a:p>
                      <a:pPr algn="l"/>
                      <a:r>
                        <a:rPr sz="800" b="0">
                          <a:solidFill>
                            <a:srgbClr val="2E2E2E"/>
                          </a:solidFill>
                          <a:latin typeface="Calibri"/>
                        </a:rPr>
                        <a:t>0.43</a:t>
                      </a:r>
                    </a:p>
                  </a:txBody>
                  <a:tcPr marL="85725" marR="38100" marT="19050" marB="19050" anchor="ctr">
                    <a:solidFill>
                      <a:srgbClr val="F5F8FA"/>
                    </a:solidFill>
                  </a:tcPr>
                </a:tc>
                <a:tc>
                  <a:txBody>
                    <a:bodyPr wrap="none"/>
                    <a:lstStyle/>
                    <a:p>
                      <a:pPr algn="l"/>
                      <a:r>
                        <a:rPr sz="800" b="0">
                          <a:solidFill>
                            <a:srgbClr val="2E2E2E"/>
                          </a:solidFill>
                          <a:latin typeface="Calibri"/>
                        </a:rPr>
                        <a:t>0.48</a:t>
                      </a:r>
                    </a:p>
                  </a:txBody>
                  <a:tcPr marL="85725" marR="38100" marT="19050" marB="19050" anchor="ctr">
                    <a:solidFill>
                      <a:srgbClr val="F5F8FA"/>
                    </a:solidFill>
                  </a:tcPr>
                </a:tc>
                <a:tc>
                  <a:txBody>
                    <a:bodyPr wrap="none"/>
                    <a:lstStyle/>
                    <a:p>
                      <a:pPr algn="l"/>
                      <a:r>
                        <a:rPr sz="800" b="0">
                          <a:solidFill>
                            <a:srgbClr val="2E2E2E"/>
                          </a:solidFill>
                          <a:latin typeface="Calibri"/>
                        </a:rPr>
                        <a:t>0.54</a:t>
                      </a:r>
                    </a:p>
                  </a:txBody>
                  <a:tcPr marL="85725" marR="38100" marT="19050" marB="19050" anchor="ctr">
                    <a:solidFill>
                      <a:srgbClr val="F5F8FA"/>
                    </a:solidFill>
                  </a:tcPr>
                </a:tc>
                <a:tc>
                  <a:txBody>
                    <a:bodyPr wrap="none"/>
                    <a:lstStyle/>
                    <a:p>
                      <a:pPr algn="l"/>
                      <a:r>
                        <a:rPr sz="800" b="0">
                          <a:solidFill>
                            <a:srgbClr val="2E2E2E"/>
                          </a:solidFill>
                          <a:latin typeface="Calibri"/>
                        </a:rPr>
                        <a:t>0.60</a:t>
                      </a:r>
                    </a:p>
                  </a:txBody>
                  <a:tcPr marL="85725" marR="38100" marT="19050" marB="19050" anchor="ctr">
                    <a:solidFill>
                      <a:srgbClr val="F5F8FA"/>
                    </a:solidFill>
                  </a:tcPr>
                </a:tc>
                <a:tc>
                  <a:txBody>
                    <a:bodyPr wrap="none"/>
                    <a:lstStyle/>
                    <a:p>
                      <a:pPr algn="l"/>
                      <a:r>
                        <a:rPr sz="800" b="0">
                          <a:solidFill>
                            <a:srgbClr val="2E2E2E"/>
                          </a:solidFill>
                          <a:latin typeface="Calibri"/>
                        </a:rPr>
                        <a:t>0.67</a:t>
                      </a:r>
                    </a:p>
                  </a:txBody>
                  <a:tcPr marL="85725" marR="38100" marT="19050" marB="19050" anchor="ctr">
                    <a:solidFill>
                      <a:srgbClr val="F5F8FA"/>
                    </a:solidFill>
                  </a:tcPr>
                </a:tc>
                <a:tc>
                  <a:txBody>
                    <a:bodyPr wrap="none"/>
                    <a:lstStyle/>
                    <a:p>
                      <a:pPr algn="l"/>
                      <a:r>
                        <a:rPr sz="800" b="0">
                          <a:solidFill>
                            <a:srgbClr val="2E2E2E"/>
                          </a:solidFill>
                          <a:latin typeface="Calibri"/>
                        </a:rPr>
                        <a:t>14.8%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800" b="0">
                          <a:solidFill>
                            <a:srgbClr val="2E2E2E"/>
                          </a:solidFill>
                          <a:latin typeface="Calibri"/>
                        </a:rPr>
                        <a:t>0.11</a:t>
                      </a:r>
                    </a:p>
                  </a:txBody>
                  <a:tcPr marL="85725" marR="38100" marT="19050" marB="19050" anchor="ctr">
                    <a:solidFill>
                      <a:srgbClr val="FFFFFF"/>
                    </a:solidFill>
                  </a:tcPr>
                </a:tc>
                <a:tc>
                  <a:txBody>
                    <a:bodyPr wrap="none"/>
                    <a:lstStyle/>
                    <a:p>
                      <a:pPr algn="l"/>
                      <a:r>
                        <a:rPr sz="800" b="0">
                          <a:solidFill>
                            <a:srgbClr val="2E2E2E"/>
                          </a:solidFill>
                          <a:latin typeface="Calibri"/>
                        </a:rPr>
                        <a:t>0.13</a:t>
                      </a:r>
                    </a:p>
                  </a:txBody>
                  <a:tcPr marL="85725" marR="38100" marT="19050" marB="19050" anchor="ctr">
                    <a:solidFill>
                      <a:srgbClr val="FFFFFF"/>
                    </a:solidFill>
                  </a:tcPr>
                </a:tc>
                <a:tc>
                  <a:txBody>
                    <a:bodyPr wrap="none"/>
                    <a:lstStyle/>
                    <a:p>
                      <a:pPr algn="l"/>
                      <a:r>
                        <a:rPr sz="800" b="0">
                          <a:solidFill>
                            <a:srgbClr val="2E2E2E"/>
                          </a:solidFill>
                          <a:latin typeface="Calibri"/>
                        </a:rPr>
                        <a:t>0.16</a:t>
                      </a:r>
                    </a:p>
                  </a:txBody>
                  <a:tcPr marL="85725" marR="38100" marT="19050" marB="19050" anchor="ctr">
                    <a:solidFill>
                      <a:srgbClr val="FFFFFF"/>
                    </a:solidFill>
                  </a:tcPr>
                </a:tc>
                <a:tc>
                  <a:txBody>
                    <a:bodyPr wrap="none"/>
                    <a:lstStyle/>
                    <a:p>
                      <a:pPr algn="l"/>
                      <a:r>
                        <a:rPr sz="800" b="0">
                          <a:solidFill>
                            <a:srgbClr val="2E2E2E"/>
                          </a:solidFill>
                          <a:latin typeface="Calibri"/>
                        </a:rPr>
                        <a:t>0.20</a:t>
                      </a:r>
                    </a:p>
                  </a:txBody>
                  <a:tcPr marL="85725" marR="38100" marT="19050" marB="19050" anchor="ctr">
                    <a:solidFill>
                      <a:srgbClr val="FFFFFF"/>
                    </a:solidFill>
                  </a:tcPr>
                </a:tc>
                <a:tc>
                  <a:txBody>
                    <a:bodyPr wrap="none"/>
                    <a:lstStyle/>
                    <a:p>
                      <a:pPr algn="l"/>
                      <a:r>
                        <a:rPr sz="800" b="0">
                          <a:solidFill>
                            <a:srgbClr val="2E2E2E"/>
                          </a:solidFill>
                          <a:latin typeface="Calibri"/>
                        </a:rPr>
                        <a:t>0.25</a:t>
                      </a:r>
                    </a:p>
                  </a:txBody>
                  <a:tcPr marL="85725" marR="38100" marT="19050" marB="19050" anchor="ctr">
                    <a:solidFill>
                      <a:srgbClr val="FFFFFF"/>
                    </a:solidFill>
                  </a:tcPr>
                </a:tc>
                <a:tc>
                  <a:txBody>
                    <a:bodyPr wrap="none"/>
                    <a:lstStyle/>
                    <a:p>
                      <a:pPr algn="l"/>
                      <a:r>
                        <a:rPr sz="800" b="0">
                          <a:solidFill>
                            <a:srgbClr val="2E2E2E"/>
                          </a:solidFill>
                          <a:latin typeface="Calibri"/>
                        </a:rPr>
                        <a:t>0.30</a:t>
                      </a:r>
                    </a:p>
                  </a:txBody>
                  <a:tcPr marL="85725" marR="38100" marT="19050" marB="19050" anchor="ctr">
                    <a:solidFill>
                      <a:srgbClr val="FFFFFF"/>
                    </a:solidFill>
                  </a:tcPr>
                </a:tc>
                <a:tc>
                  <a:txBody>
                    <a:bodyPr wrap="none"/>
                    <a:lstStyle/>
                    <a:p>
                      <a:pPr algn="l"/>
                      <a:r>
                        <a:rPr sz="800" b="0">
                          <a:solidFill>
                            <a:srgbClr val="2E2E2E"/>
                          </a:solidFill>
                          <a:latin typeface="Calibri"/>
                        </a:rPr>
                        <a:t>0.36</a:t>
                      </a:r>
                    </a:p>
                  </a:txBody>
                  <a:tcPr marL="85725" marR="38100" marT="19050" marB="19050" anchor="ctr">
                    <a:solidFill>
                      <a:srgbClr val="FFFFFF"/>
                    </a:solidFill>
                  </a:tcPr>
                </a:tc>
                <a:tc>
                  <a:txBody>
                    <a:bodyPr wrap="none"/>
                    <a:lstStyle/>
                    <a:p>
                      <a:pPr algn="l"/>
                      <a:r>
                        <a:rPr sz="800" b="0">
                          <a:solidFill>
                            <a:srgbClr val="2E2E2E"/>
                          </a:solidFill>
                          <a:latin typeface="Calibri"/>
                        </a:rPr>
                        <a:t>0.42</a:t>
                      </a:r>
                    </a:p>
                  </a:txBody>
                  <a:tcPr marL="85725" marR="38100" marT="19050" marB="19050" anchor="ctr">
                    <a:solidFill>
                      <a:srgbClr val="FFFFFF"/>
                    </a:solidFill>
                  </a:tcPr>
                </a:tc>
                <a:tc>
                  <a:txBody>
                    <a:bodyPr wrap="none"/>
                    <a:lstStyle/>
                    <a:p>
                      <a:pPr algn="l"/>
                      <a:r>
                        <a:rPr sz="800" b="0">
                          <a:solidFill>
                            <a:srgbClr val="2E2E2E"/>
                          </a:solidFill>
                          <a:latin typeface="Calibri"/>
                        </a:rPr>
                        <a:t>0.49</a:t>
                      </a:r>
                    </a:p>
                  </a:txBody>
                  <a:tcPr marL="85725" marR="38100" marT="19050" marB="19050" anchor="ctr">
                    <a:solidFill>
                      <a:srgbClr val="FFFFFF"/>
                    </a:solidFill>
                  </a:tcPr>
                </a:tc>
                <a:tc>
                  <a:txBody>
                    <a:bodyPr wrap="none"/>
                    <a:lstStyle/>
                    <a:p>
                      <a:pPr algn="l"/>
                      <a:r>
                        <a:rPr sz="800" b="0">
                          <a:solidFill>
                            <a:srgbClr val="2E2E2E"/>
                          </a:solidFill>
                          <a:latin typeface="Calibri"/>
                        </a:rPr>
                        <a:t>0.55</a:t>
                      </a:r>
                    </a:p>
                  </a:txBody>
                  <a:tcPr marL="85725" marR="38100" marT="19050" marB="19050" anchor="ctr">
                    <a:solidFill>
                      <a:srgbClr val="FFFFFF"/>
                    </a:solidFill>
                  </a:tcPr>
                </a:tc>
                <a:tc>
                  <a:txBody>
                    <a:bodyPr wrap="none"/>
                    <a:lstStyle/>
                    <a:p>
                      <a:pPr algn="l"/>
                      <a:r>
                        <a:rPr sz="800" b="0">
                          <a:solidFill>
                            <a:srgbClr val="2E2E2E"/>
                          </a:solidFill>
                          <a:latin typeface="Calibri"/>
                        </a:rPr>
                        <a:t>0.62</a:t>
                      </a:r>
                    </a:p>
                  </a:txBody>
                  <a:tcPr marL="85725" marR="38100" marT="19050" marB="19050" anchor="ctr">
                    <a:solidFill>
                      <a:srgbClr val="FFFFFF"/>
                    </a:solidFill>
                  </a:tcPr>
                </a:tc>
                <a:tc>
                  <a:txBody>
                    <a:bodyPr wrap="none"/>
                    <a:lstStyle/>
                    <a:p>
                      <a:pPr algn="l"/>
                      <a:r>
                        <a:rPr sz="800" b="0">
                          <a:solidFill>
                            <a:srgbClr val="2E2E2E"/>
                          </a:solidFill>
                          <a:latin typeface="Calibri"/>
                        </a:rPr>
                        <a:t>0.69</a:t>
                      </a:r>
                    </a:p>
                  </a:txBody>
                  <a:tcPr marL="85725" marR="38100" marT="19050" marB="19050" anchor="ctr">
                    <a:solidFill>
                      <a:srgbClr val="FFFFFF"/>
                    </a:solidFill>
                  </a:tcPr>
                </a:tc>
                <a:tc>
                  <a:txBody>
                    <a:bodyPr wrap="none"/>
                    <a:lstStyle/>
                    <a:p>
                      <a:pPr algn="l"/>
                      <a:r>
                        <a:rPr sz="800" b="0">
                          <a:solidFill>
                            <a:srgbClr val="2E2E2E"/>
                          </a:solidFill>
                          <a:latin typeface="Calibri"/>
                        </a:rPr>
                        <a:t>0.77</a:t>
                      </a:r>
                    </a:p>
                  </a:txBody>
                  <a:tcPr marL="85725" marR="38100" marT="19050" marB="19050" anchor="ctr">
                    <a:solidFill>
                      <a:srgbClr val="FFFFFF"/>
                    </a:solidFill>
                  </a:tcPr>
                </a:tc>
                <a:tc>
                  <a:txBody>
                    <a:bodyPr wrap="none"/>
                    <a:lstStyle/>
                    <a:p>
                      <a:pPr algn="l"/>
                      <a:r>
                        <a:rPr sz="800" b="0">
                          <a:solidFill>
                            <a:srgbClr val="2E2E2E"/>
                          </a:solidFill>
                          <a:latin typeface="Calibri"/>
                        </a:rPr>
                        <a:t>0.84</a:t>
                      </a:r>
                    </a:p>
                  </a:txBody>
                  <a:tcPr marL="85725" marR="38100" marT="19050" marB="19050" anchor="ctr">
                    <a:solidFill>
                      <a:srgbClr val="FFFFFF"/>
                    </a:solidFill>
                  </a:tcPr>
                </a:tc>
                <a:tc>
                  <a:txBody>
                    <a:bodyPr wrap="none"/>
                    <a:lstStyle/>
                    <a:p>
                      <a:pPr algn="l"/>
                      <a:r>
                        <a:rPr sz="800" b="0">
                          <a:solidFill>
                            <a:srgbClr val="2E2E2E"/>
                          </a:solidFill>
                          <a:latin typeface="Calibri"/>
                        </a:rPr>
                        <a:t>0.92</a:t>
                      </a:r>
                    </a:p>
                  </a:txBody>
                  <a:tcPr marL="85725" marR="38100" marT="19050" marB="19050" anchor="ctr">
                    <a:solidFill>
                      <a:srgbClr val="FFFFFF"/>
                    </a:solidFill>
                  </a:tcPr>
                </a:tc>
                <a:tc>
                  <a:txBody>
                    <a:bodyPr wrap="none"/>
                    <a:lstStyle/>
                    <a:p>
                      <a:pPr algn="l"/>
                      <a:r>
                        <a:rPr sz="800" b="0">
                          <a:solidFill>
                            <a:srgbClr val="2E2E2E"/>
                          </a:solidFill>
                          <a:latin typeface="Calibri"/>
                        </a:rPr>
                        <a:t>1.00</a:t>
                      </a:r>
                    </a:p>
                  </a:txBody>
                  <a:tcPr marL="85725" marR="38100" marT="19050" marB="19050" anchor="ctr">
                    <a:solidFill>
                      <a:srgbClr val="FFFFFF"/>
                    </a:solidFill>
                  </a:tcPr>
                </a:tc>
                <a:tc>
                  <a:txBody>
                    <a:bodyPr wrap="none"/>
                    <a:lstStyle/>
                    <a:p>
                      <a:pPr algn="l"/>
                      <a:r>
                        <a:rPr sz="800" b="0">
                          <a:solidFill>
                            <a:srgbClr val="2E2E2E"/>
                          </a:solidFill>
                          <a:latin typeface="Calibri"/>
                        </a:rPr>
                        <a:t>12.6%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Yusimry</a:t>
                      </a:r>
                    </a:p>
                  </a:txBody>
                  <a:tcPr marL="85725" marR="38100" marT="19050" marB="19050" anchor="ctr">
                    <a:solidFill>
                      <a:srgbClr val="F5F8FA"/>
                    </a:solidFill>
                  </a:tcPr>
                </a:tc>
                <a:tc>
                  <a:txBody>
                    <a:bodyPr wrap="none"/>
                    <a:lstStyle/>
                    <a:p>
                      <a:pPr algn="l"/>
                      <a:r>
                        <a:rPr sz="800" b="0">
                          <a:solidFill>
                            <a:srgbClr val="2E2E2E"/>
                          </a:solidFill>
                          <a:latin typeface="Calibri"/>
                        </a:rPr>
                        <a:t>0.10</a:t>
                      </a:r>
                    </a:p>
                  </a:txBody>
                  <a:tcPr marL="85725" marR="38100" marT="19050" marB="19050" anchor="ctr">
                    <a:solidFill>
                      <a:srgbClr val="F5F8FA"/>
                    </a:solidFill>
                  </a:tcPr>
                </a:tc>
                <a:tc>
                  <a:txBody>
                    <a:bodyPr wrap="none"/>
                    <a:lstStyle/>
                    <a:p>
                      <a:pPr algn="l"/>
                      <a:r>
                        <a:rPr sz="800" b="0">
                          <a:solidFill>
                            <a:srgbClr val="2E2E2E"/>
                          </a:solidFill>
                          <a:latin typeface="Calibri"/>
                        </a:rPr>
                        <a:t>0.12</a:t>
                      </a:r>
                    </a:p>
                  </a:txBody>
                  <a:tcPr marL="85725" marR="38100" marT="19050" marB="19050" anchor="ctr">
                    <a:solidFill>
                      <a:srgbClr val="F5F8FA"/>
                    </a:solidFill>
                  </a:tcPr>
                </a:tc>
                <a:tc>
                  <a:txBody>
                    <a:bodyPr wrap="none"/>
                    <a:lstStyle/>
                    <a:p>
                      <a:pPr algn="l"/>
                      <a:r>
                        <a:rPr sz="800" b="0">
                          <a:solidFill>
                            <a:srgbClr val="2E2E2E"/>
                          </a:solidFill>
                          <a:latin typeface="Calibri"/>
                        </a:rPr>
                        <a:t>0.15</a:t>
                      </a:r>
                    </a:p>
                  </a:txBody>
                  <a:tcPr marL="85725" marR="38100" marT="19050" marB="19050" anchor="ctr">
                    <a:solidFill>
                      <a:srgbClr val="F5F8FA"/>
                    </a:solidFill>
                  </a:tcPr>
                </a:tc>
                <a:tc>
                  <a:txBody>
                    <a:bodyPr wrap="none"/>
                    <a:lstStyle/>
                    <a:p>
                      <a:pPr algn="l"/>
                      <a:r>
                        <a:rPr sz="800" b="0">
                          <a:solidFill>
                            <a:srgbClr val="2E2E2E"/>
                          </a:solidFill>
                          <a:latin typeface="Calibri"/>
                        </a:rPr>
                        <a:t>0.20</a:t>
                      </a:r>
                    </a:p>
                  </a:txBody>
                  <a:tcPr marL="85725" marR="38100" marT="19050" marB="19050" anchor="ctr">
                    <a:solidFill>
                      <a:srgbClr val="F5F8FA"/>
                    </a:solidFill>
                  </a:tcPr>
                </a:tc>
                <a:tc>
                  <a:txBody>
                    <a:bodyPr wrap="none"/>
                    <a:lstStyle/>
                    <a:p>
                      <a:pPr algn="l"/>
                      <a:r>
                        <a:rPr sz="800" b="0">
                          <a:solidFill>
                            <a:srgbClr val="2E2E2E"/>
                          </a:solidFill>
                          <a:latin typeface="Calibri"/>
                        </a:rPr>
                        <a:t>0.25</a:t>
                      </a:r>
                    </a:p>
                  </a:txBody>
                  <a:tcPr marL="85725" marR="38100" marT="19050" marB="19050" anchor="ctr">
                    <a:solidFill>
                      <a:srgbClr val="F5F8FA"/>
                    </a:solidFill>
                  </a:tcPr>
                </a:tc>
                <a:tc>
                  <a:txBody>
                    <a:bodyPr wrap="none"/>
                    <a:lstStyle/>
                    <a:p>
                      <a:pPr algn="l"/>
                      <a:r>
                        <a:rPr sz="800" b="0">
                          <a:solidFill>
                            <a:srgbClr val="2E2E2E"/>
                          </a:solidFill>
                          <a:latin typeface="Calibri"/>
                        </a:rPr>
                        <a:t>0.30</a:t>
                      </a:r>
                    </a:p>
                  </a:txBody>
                  <a:tcPr marL="85725" marR="38100" marT="19050" marB="19050" anchor="ctr">
                    <a:solidFill>
                      <a:srgbClr val="F5F8FA"/>
                    </a:solidFill>
                  </a:tcPr>
                </a:tc>
                <a:tc>
                  <a:txBody>
                    <a:bodyPr wrap="none"/>
                    <a:lstStyle/>
                    <a:p>
                      <a:pPr algn="l"/>
                      <a:r>
                        <a:rPr sz="800" b="0">
                          <a:solidFill>
                            <a:srgbClr val="2E2E2E"/>
                          </a:solidFill>
                          <a:latin typeface="Calibri"/>
                        </a:rPr>
                        <a:t>0.36</a:t>
                      </a:r>
                    </a:p>
                  </a:txBody>
                  <a:tcPr marL="85725" marR="38100" marT="19050" marB="19050" anchor="ctr">
                    <a:solidFill>
                      <a:srgbClr val="F5F8FA"/>
                    </a:solidFill>
                  </a:tcPr>
                </a:tc>
                <a:tc>
                  <a:txBody>
                    <a:bodyPr wrap="none"/>
                    <a:lstStyle/>
                    <a:p>
                      <a:pPr algn="l"/>
                      <a:r>
                        <a:rPr sz="800" b="0">
                          <a:solidFill>
                            <a:srgbClr val="2E2E2E"/>
                          </a:solidFill>
                          <a:latin typeface="Calibri"/>
                        </a:rPr>
                        <a:t>0.42</a:t>
                      </a:r>
                    </a:p>
                  </a:txBody>
                  <a:tcPr marL="85725" marR="38100" marT="19050" marB="19050" anchor="ctr">
                    <a:solidFill>
                      <a:srgbClr val="F5F8FA"/>
                    </a:solidFill>
                  </a:tcPr>
                </a:tc>
                <a:tc>
                  <a:txBody>
                    <a:bodyPr wrap="none"/>
                    <a:lstStyle/>
                    <a:p>
                      <a:pPr algn="l"/>
                      <a:r>
                        <a:rPr sz="800" b="0">
                          <a:solidFill>
                            <a:srgbClr val="2E2E2E"/>
                          </a:solidFill>
                          <a:latin typeface="Calibri"/>
                        </a:rPr>
                        <a:t>0.48</a:t>
                      </a:r>
                    </a:p>
                  </a:txBody>
                  <a:tcPr marL="85725" marR="38100" marT="19050" marB="19050" anchor="ctr">
                    <a:solidFill>
                      <a:srgbClr val="F5F8FA"/>
                    </a:solidFill>
                  </a:tcPr>
                </a:tc>
                <a:tc>
                  <a:txBody>
                    <a:bodyPr wrap="none"/>
                    <a:lstStyle/>
                    <a:p>
                      <a:pPr algn="l"/>
                      <a:r>
                        <a:rPr sz="800" b="0">
                          <a:solidFill>
                            <a:srgbClr val="2E2E2E"/>
                          </a:solidFill>
                          <a:latin typeface="Calibri"/>
                        </a:rPr>
                        <a:t>0.55</a:t>
                      </a:r>
                    </a:p>
                  </a:txBody>
                  <a:tcPr marL="85725" marR="38100" marT="19050" marB="19050" anchor="ctr">
                    <a:solidFill>
                      <a:srgbClr val="F5F8FA"/>
                    </a:solidFill>
                  </a:tcPr>
                </a:tc>
                <a:tc>
                  <a:txBody>
                    <a:bodyPr wrap="none"/>
                    <a:lstStyle/>
                    <a:p>
                      <a:pPr algn="l"/>
                      <a:r>
                        <a:rPr sz="800" b="0">
                          <a:solidFill>
                            <a:srgbClr val="2E2E2E"/>
                          </a:solidFill>
                          <a:latin typeface="Calibri"/>
                        </a:rPr>
                        <a:t>0.62</a:t>
                      </a:r>
                    </a:p>
                  </a:txBody>
                  <a:tcPr marL="85725" marR="38100" marT="19050" marB="19050" anchor="ctr">
                    <a:solidFill>
                      <a:srgbClr val="F5F8FA"/>
                    </a:solidFill>
                  </a:tcPr>
                </a:tc>
                <a:tc>
                  <a:txBody>
                    <a:bodyPr wrap="none"/>
                    <a:lstStyle/>
                    <a:p>
                      <a:pPr algn="l"/>
                      <a:r>
                        <a:rPr sz="800" b="0">
                          <a:solidFill>
                            <a:srgbClr val="2E2E2E"/>
                          </a:solidFill>
                          <a:latin typeface="Calibri"/>
                        </a:rPr>
                        <a:t>0.70</a:t>
                      </a:r>
                    </a:p>
                  </a:txBody>
                  <a:tcPr marL="85725" marR="38100" marT="19050" marB="19050" anchor="ctr">
                    <a:solidFill>
                      <a:srgbClr val="F5F8FA"/>
                    </a:solidFill>
                  </a:tcPr>
                </a:tc>
                <a:tc>
                  <a:txBody>
                    <a:bodyPr wrap="none"/>
                    <a:lstStyle/>
                    <a:p>
                      <a:pPr algn="l"/>
                      <a:r>
                        <a:rPr sz="800" b="0">
                          <a:solidFill>
                            <a:srgbClr val="2E2E2E"/>
                          </a:solidFill>
                          <a:latin typeface="Calibri"/>
                        </a:rPr>
                        <a:t>0.77</a:t>
                      </a:r>
                    </a:p>
                  </a:txBody>
                  <a:tcPr marL="85725" marR="38100" marT="19050" marB="19050" anchor="ctr">
                    <a:solidFill>
                      <a:srgbClr val="F5F8FA"/>
                    </a:solidFill>
                  </a:tcPr>
                </a:tc>
                <a:tc>
                  <a:txBody>
                    <a:bodyPr wrap="none"/>
                    <a:lstStyle/>
                    <a:p>
                      <a:pPr algn="l"/>
                      <a:r>
                        <a:rPr sz="800" b="0">
                          <a:solidFill>
                            <a:srgbClr val="2E2E2E"/>
                          </a:solidFill>
                          <a:latin typeface="Calibri"/>
                        </a:rPr>
                        <a:t>0.85</a:t>
                      </a:r>
                    </a:p>
                  </a:txBody>
                  <a:tcPr marL="85725" marR="38100" marT="19050" marB="19050" anchor="ctr">
                    <a:solidFill>
                      <a:srgbClr val="F5F8FA"/>
                    </a:solidFill>
                  </a:tcPr>
                </a:tc>
                <a:tc>
                  <a:txBody>
                    <a:bodyPr wrap="none"/>
                    <a:lstStyle/>
                    <a:p>
                      <a:pPr algn="l"/>
                      <a:r>
                        <a:rPr sz="800" b="0">
                          <a:solidFill>
                            <a:srgbClr val="2E2E2E"/>
                          </a:solidFill>
                          <a:latin typeface="Calibri"/>
                        </a:rPr>
                        <a:t>0.94</a:t>
                      </a:r>
                    </a:p>
                  </a:txBody>
                  <a:tcPr marL="85725" marR="38100" marT="19050" marB="19050" anchor="ctr">
                    <a:solidFill>
                      <a:srgbClr val="F5F8FA"/>
                    </a:solidFill>
                  </a:tcPr>
                </a:tc>
                <a:tc>
                  <a:txBody>
                    <a:bodyPr wrap="none"/>
                    <a:lstStyle/>
                    <a:p>
                      <a:pPr algn="l"/>
                      <a:r>
                        <a:rPr sz="800" b="0">
                          <a:solidFill>
                            <a:srgbClr val="2E2E2E"/>
                          </a:solidFill>
                          <a:latin typeface="Calibri"/>
                        </a:rPr>
                        <a:t>1.03</a:t>
                      </a:r>
                    </a:p>
                  </a:txBody>
                  <a:tcPr marL="85725" marR="38100" marT="19050" marB="19050" anchor="ctr">
                    <a:solidFill>
                      <a:srgbClr val="F5F8FA"/>
                    </a:solidFill>
                  </a:tcPr>
                </a:tc>
                <a:tc>
                  <a:txBody>
                    <a:bodyPr wrap="none"/>
                    <a:lstStyle/>
                    <a:p>
                      <a:pPr algn="l"/>
                      <a:r>
                        <a:rPr sz="800" b="0">
                          <a:solidFill>
                            <a:srgbClr val="2E2E2E"/>
                          </a:solidFill>
                          <a:latin typeface="Calibri"/>
                        </a:rPr>
                        <a:t>13.1%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Yuflyma</a:t>
                      </a:r>
                    </a:p>
                  </a:txBody>
                  <a:tcPr marL="85725" marR="38100" marT="19050" marB="19050" anchor="ctr">
                    <a:solidFill>
                      <a:srgbClr val="FFFFFF"/>
                    </a:solidFill>
                  </a:tcPr>
                </a:tc>
                <a:tc>
                  <a:txBody>
                    <a:bodyPr wrap="none"/>
                    <a:lstStyle/>
                    <a:p>
                      <a:pPr algn="l"/>
                      <a:r>
                        <a:rPr sz="800" b="0">
                          <a:solidFill>
                            <a:srgbClr val="2E2E2E"/>
                          </a:solidFill>
                          <a:latin typeface="Calibri"/>
                        </a:rPr>
                        <a:t>0.12</a:t>
                      </a:r>
                    </a:p>
                  </a:txBody>
                  <a:tcPr marL="85725" marR="38100" marT="19050" marB="19050" anchor="ctr">
                    <a:solidFill>
                      <a:srgbClr val="FFFFFF"/>
                    </a:solidFill>
                  </a:tcPr>
                </a:tc>
                <a:tc>
                  <a:txBody>
                    <a:bodyPr wrap="none"/>
                    <a:lstStyle/>
                    <a:p>
                      <a:pPr algn="l"/>
                      <a:r>
                        <a:rPr sz="800" b="0">
                          <a:solidFill>
                            <a:srgbClr val="2E2E2E"/>
                          </a:solidFill>
                          <a:latin typeface="Calibri"/>
                        </a:rPr>
                        <a:t>0.13</a:t>
                      </a:r>
                    </a:p>
                  </a:txBody>
                  <a:tcPr marL="85725" marR="38100" marT="19050" marB="19050" anchor="ctr">
                    <a:solidFill>
                      <a:srgbClr val="FFFFFF"/>
                    </a:solidFill>
                  </a:tcPr>
                </a:tc>
                <a:tc>
                  <a:txBody>
                    <a:bodyPr wrap="none"/>
                    <a:lstStyle/>
                    <a:p>
                      <a:pPr algn="l"/>
                      <a:r>
                        <a:rPr sz="800" b="0">
                          <a:solidFill>
                            <a:srgbClr val="2E2E2E"/>
                          </a:solidFill>
                          <a:latin typeface="Calibri"/>
                        </a:rPr>
                        <a:t>0.17</a:t>
                      </a:r>
                    </a:p>
                  </a:txBody>
                  <a:tcPr marL="85725" marR="38100" marT="19050" marB="19050" anchor="ctr">
                    <a:solidFill>
                      <a:srgbClr val="FFFFFF"/>
                    </a:solidFill>
                  </a:tcPr>
                </a:tc>
                <a:tc>
                  <a:txBody>
                    <a:bodyPr wrap="none"/>
                    <a:lstStyle/>
                    <a:p>
                      <a:pPr algn="l"/>
                      <a:r>
                        <a:rPr sz="800" b="0">
                          <a:solidFill>
                            <a:srgbClr val="2E2E2E"/>
                          </a:solidFill>
                          <a:latin typeface="Calibri"/>
                        </a:rPr>
                        <a:t>0.21</a:t>
                      </a:r>
                    </a:p>
                  </a:txBody>
                  <a:tcPr marL="85725" marR="38100" marT="19050" marB="19050" anchor="ctr">
                    <a:solidFill>
                      <a:srgbClr val="FFFFFF"/>
                    </a:solidFill>
                  </a:tcPr>
                </a:tc>
                <a:tc>
                  <a:txBody>
                    <a:bodyPr wrap="none"/>
                    <a:lstStyle/>
                    <a:p>
                      <a:pPr algn="l"/>
                      <a:r>
                        <a:rPr sz="800" b="0">
                          <a:solidFill>
                            <a:srgbClr val="2E2E2E"/>
                          </a:solidFill>
                          <a:latin typeface="Calibri"/>
                        </a:rPr>
                        <a:t>0.26</a:t>
                      </a:r>
                    </a:p>
                  </a:txBody>
                  <a:tcPr marL="85725" marR="38100" marT="19050" marB="19050" anchor="ctr">
                    <a:solidFill>
                      <a:srgbClr val="FFFFFF"/>
                    </a:solidFill>
                  </a:tcPr>
                </a:tc>
                <a:tc>
                  <a:txBody>
                    <a:bodyPr wrap="none"/>
                    <a:lstStyle/>
                    <a:p>
                      <a:pPr algn="l"/>
                      <a:r>
                        <a:rPr sz="800" b="0">
                          <a:solidFill>
                            <a:srgbClr val="2E2E2E"/>
                          </a:solidFill>
                          <a:latin typeface="Calibri"/>
                        </a:rPr>
                        <a:t>0.32</a:t>
                      </a:r>
                    </a:p>
                  </a:txBody>
                  <a:tcPr marL="85725" marR="38100" marT="19050" marB="19050" anchor="ctr">
                    <a:solidFill>
                      <a:srgbClr val="FFFFFF"/>
                    </a:solidFill>
                  </a:tcPr>
                </a:tc>
                <a:tc>
                  <a:txBody>
                    <a:bodyPr wrap="none"/>
                    <a:lstStyle/>
                    <a:p>
                      <a:pPr algn="l"/>
                      <a:r>
                        <a:rPr sz="800" b="0">
                          <a:solidFill>
                            <a:srgbClr val="2E2E2E"/>
                          </a:solidFill>
                          <a:latin typeface="Calibri"/>
                        </a:rPr>
                        <a:t>0.38</a:t>
                      </a:r>
                    </a:p>
                  </a:txBody>
                  <a:tcPr marL="85725" marR="38100" marT="19050" marB="19050" anchor="ctr">
                    <a:solidFill>
                      <a:srgbClr val="FFFFFF"/>
                    </a:solidFill>
                  </a:tcPr>
                </a:tc>
                <a:tc>
                  <a:txBody>
                    <a:bodyPr wrap="none"/>
                    <a:lstStyle/>
                    <a:p>
                      <a:pPr algn="l"/>
                      <a:r>
                        <a:rPr sz="800" b="0">
                          <a:solidFill>
                            <a:srgbClr val="2E2E2E"/>
                          </a:solidFill>
                          <a:latin typeface="Calibri"/>
                        </a:rPr>
                        <a:t>0.44</a:t>
                      </a:r>
                    </a:p>
                  </a:txBody>
                  <a:tcPr marL="85725" marR="38100" marT="19050" marB="19050" anchor="ctr">
                    <a:solidFill>
                      <a:srgbClr val="FFFFFF"/>
                    </a:solidFill>
                  </a:tcPr>
                </a:tc>
                <a:tc>
                  <a:txBody>
                    <a:bodyPr wrap="none"/>
                    <a:lstStyle/>
                    <a:p>
                      <a:pPr algn="l"/>
                      <a:r>
                        <a:rPr sz="800" b="0">
                          <a:solidFill>
                            <a:srgbClr val="2E2E2E"/>
                          </a:solidFill>
                          <a:latin typeface="Calibri"/>
                        </a:rPr>
                        <a:t>0.50</a:t>
                      </a:r>
                    </a:p>
                  </a:txBody>
                  <a:tcPr marL="85725" marR="38100" marT="19050" marB="19050" anchor="ctr">
                    <a:solidFill>
                      <a:srgbClr val="FFFFFF"/>
                    </a:solidFill>
                  </a:tcPr>
                </a:tc>
                <a:tc>
                  <a:txBody>
                    <a:bodyPr wrap="none"/>
                    <a:lstStyle/>
                    <a:p>
                      <a:pPr algn="l"/>
                      <a:r>
                        <a:rPr sz="800" b="0">
                          <a:solidFill>
                            <a:srgbClr val="2E2E2E"/>
                          </a:solidFill>
                          <a:latin typeface="Calibri"/>
                        </a:rPr>
                        <a:t>0.57</a:t>
                      </a:r>
                    </a:p>
                  </a:txBody>
                  <a:tcPr marL="85725" marR="38100" marT="19050" marB="19050" anchor="ctr">
                    <a:solidFill>
                      <a:srgbClr val="FFFFFF"/>
                    </a:solidFill>
                  </a:tcPr>
                </a:tc>
                <a:tc>
                  <a:txBody>
                    <a:bodyPr wrap="none"/>
                    <a:lstStyle/>
                    <a:p>
                      <a:pPr algn="l"/>
                      <a:r>
                        <a:rPr sz="800" b="0">
                          <a:solidFill>
                            <a:srgbClr val="2E2E2E"/>
                          </a:solidFill>
                          <a:latin typeface="Calibri"/>
                        </a:rPr>
                        <a:t>0.63</a:t>
                      </a:r>
                    </a:p>
                  </a:txBody>
                  <a:tcPr marL="85725" marR="38100" marT="19050" marB="19050" anchor="ctr">
                    <a:solidFill>
                      <a:srgbClr val="FFFFFF"/>
                    </a:solidFill>
                  </a:tcPr>
                </a:tc>
                <a:tc>
                  <a:txBody>
                    <a:bodyPr wrap="none"/>
                    <a:lstStyle/>
                    <a:p>
                      <a:pPr algn="l"/>
                      <a:r>
                        <a:rPr sz="800" b="0">
                          <a:solidFill>
                            <a:srgbClr val="2E2E2E"/>
                          </a:solidFill>
                          <a:latin typeface="Calibri"/>
                        </a:rPr>
                        <a:t>0.70</a:t>
                      </a:r>
                    </a:p>
                  </a:txBody>
                  <a:tcPr marL="85725" marR="38100" marT="19050" marB="19050" anchor="ctr">
                    <a:solidFill>
                      <a:srgbClr val="FFFFFF"/>
                    </a:solidFill>
                  </a:tcPr>
                </a:tc>
                <a:tc>
                  <a:txBody>
                    <a:bodyPr wrap="none"/>
                    <a:lstStyle/>
                    <a:p>
                      <a:pPr algn="l"/>
                      <a:r>
                        <a:rPr sz="800" b="0">
                          <a:solidFill>
                            <a:srgbClr val="2E2E2E"/>
                          </a:solidFill>
                          <a:latin typeface="Calibri"/>
                        </a:rPr>
                        <a:t>0.78</a:t>
                      </a:r>
                    </a:p>
                  </a:txBody>
                  <a:tcPr marL="85725" marR="38100" marT="19050" marB="19050" anchor="ctr">
                    <a:solidFill>
                      <a:srgbClr val="FFFFFF"/>
                    </a:solidFill>
                  </a:tcPr>
                </a:tc>
                <a:tc>
                  <a:txBody>
                    <a:bodyPr wrap="none"/>
                    <a:lstStyle/>
                    <a:p>
                      <a:pPr algn="l"/>
                      <a:r>
                        <a:rPr sz="800" b="0">
                          <a:solidFill>
                            <a:srgbClr val="2E2E2E"/>
                          </a:solidFill>
                          <a:latin typeface="Calibri"/>
                        </a:rPr>
                        <a:t>0.85</a:t>
                      </a:r>
                    </a:p>
                  </a:txBody>
                  <a:tcPr marL="85725" marR="38100" marT="19050" marB="19050" anchor="ctr">
                    <a:solidFill>
                      <a:srgbClr val="FFFFFF"/>
                    </a:solidFill>
                  </a:tcPr>
                </a:tc>
                <a:tc>
                  <a:txBody>
                    <a:bodyPr wrap="none"/>
                    <a:lstStyle/>
                    <a:p>
                      <a:pPr algn="l"/>
                      <a:r>
                        <a:rPr sz="800" b="0">
                          <a:solidFill>
                            <a:srgbClr val="2E2E2E"/>
                          </a:solidFill>
                          <a:latin typeface="Calibri"/>
                        </a:rPr>
                        <a:t>0.93</a:t>
                      </a:r>
                    </a:p>
                  </a:txBody>
                  <a:tcPr marL="85725" marR="38100" marT="19050" marB="19050" anchor="ctr">
                    <a:solidFill>
                      <a:srgbClr val="FFFFFF"/>
                    </a:solidFill>
                  </a:tcPr>
                </a:tc>
                <a:tc>
                  <a:txBody>
                    <a:bodyPr wrap="none"/>
                    <a:lstStyle/>
                    <a:p>
                      <a:pPr algn="l"/>
                      <a:r>
                        <a:rPr sz="800" b="0">
                          <a:solidFill>
                            <a:srgbClr val="2E2E2E"/>
                          </a:solidFill>
                          <a:latin typeface="Calibri"/>
                        </a:rPr>
                        <a:t>1.01</a:t>
                      </a:r>
                    </a:p>
                  </a:txBody>
                  <a:tcPr marL="85725" marR="38100" marT="19050" marB="19050" anchor="ctr">
                    <a:solidFill>
                      <a:srgbClr val="FFFFFF"/>
                    </a:solidFill>
                  </a:tcPr>
                </a:tc>
                <a:tc>
                  <a:txBody>
                    <a:bodyPr wrap="none"/>
                    <a:lstStyle/>
                    <a:p>
                      <a:pPr algn="l"/>
                      <a:r>
                        <a:rPr sz="800" b="0">
                          <a:solidFill>
                            <a:srgbClr val="2E2E2E"/>
                          </a:solidFill>
                          <a:latin typeface="Calibri"/>
                        </a:rPr>
                        <a:t>12.2%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Simlandi</a:t>
                      </a:r>
                    </a:p>
                  </a:txBody>
                  <a:tcPr marL="85725" marR="38100" marT="19050" marB="19050" anchor="ctr">
                    <a:solidFill>
                      <a:srgbClr val="F5F8FA"/>
                    </a:solidFill>
                  </a:tcPr>
                </a:tc>
                <a:tc>
                  <a:txBody>
                    <a:bodyPr wrap="none"/>
                    <a:lstStyle/>
                    <a:p>
                      <a:pPr algn="l"/>
                      <a:r>
                        <a:rPr sz="800" b="0">
                          <a:solidFill>
                            <a:srgbClr val="2E2E2E"/>
                          </a:solidFill>
                          <a:latin typeface="Calibri"/>
                        </a:rPr>
                        <a:t>0.12</a:t>
                      </a:r>
                    </a:p>
                  </a:txBody>
                  <a:tcPr marL="85725" marR="38100" marT="19050" marB="19050" anchor="ctr">
                    <a:solidFill>
                      <a:srgbClr val="F5F8FA"/>
                    </a:solidFill>
                  </a:tcPr>
                </a:tc>
                <a:tc>
                  <a:txBody>
                    <a:bodyPr wrap="none"/>
                    <a:lstStyle/>
                    <a:p>
                      <a:pPr algn="l"/>
                      <a:r>
                        <a:rPr sz="800" b="0">
                          <a:solidFill>
                            <a:srgbClr val="2E2E2E"/>
                          </a:solidFill>
                          <a:latin typeface="Calibri"/>
                        </a:rPr>
                        <a:t>0.14</a:t>
                      </a:r>
                    </a:p>
                  </a:txBody>
                  <a:tcPr marL="85725" marR="38100" marT="19050" marB="19050" anchor="ctr">
                    <a:solidFill>
                      <a:srgbClr val="F5F8FA"/>
                    </a:solidFill>
                  </a:tcPr>
                </a:tc>
                <a:tc>
                  <a:txBody>
                    <a:bodyPr wrap="none"/>
                    <a:lstStyle/>
                    <a:p>
                      <a:pPr algn="l"/>
                      <a:r>
                        <a:rPr sz="800" b="0">
                          <a:solidFill>
                            <a:srgbClr val="2E2E2E"/>
                          </a:solidFill>
                          <a:latin typeface="Calibri"/>
                        </a:rPr>
                        <a:t>0.18</a:t>
                      </a:r>
                    </a:p>
                  </a:txBody>
                  <a:tcPr marL="85725" marR="38100" marT="19050" marB="19050" anchor="ctr">
                    <a:solidFill>
                      <a:srgbClr val="F5F8FA"/>
                    </a:solidFill>
                  </a:tcPr>
                </a:tc>
                <a:tc>
                  <a:txBody>
                    <a:bodyPr wrap="none"/>
                    <a:lstStyle/>
                    <a:p>
                      <a:pPr algn="l"/>
                      <a:r>
                        <a:rPr sz="800" b="0">
                          <a:solidFill>
                            <a:srgbClr val="2E2E2E"/>
                          </a:solidFill>
                          <a:latin typeface="Calibri"/>
                        </a:rPr>
                        <a:t>0.23</a:t>
                      </a:r>
                    </a:p>
                  </a:txBody>
                  <a:tcPr marL="85725" marR="38100" marT="19050" marB="19050" anchor="ctr">
                    <a:solidFill>
                      <a:srgbClr val="F5F8FA"/>
                    </a:solidFill>
                  </a:tcPr>
                </a:tc>
                <a:tc>
                  <a:txBody>
                    <a:bodyPr wrap="none"/>
                    <a:lstStyle/>
                    <a:p>
                      <a:pPr algn="l"/>
                      <a:r>
                        <a:rPr sz="800" b="0">
                          <a:solidFill>
                            <a:srgbClr val="2E2E2E"/>
                          </a:solidFill>
                          <a:latin typeface="Calibri"/>
                        </a:rPr>
                        <a:t>0.29</a:t>
                      </a:r>
                    </a:p>
                  </a:txBody>
                  <a:tcPr marL="85725" marR="38100" marT="19050" marB="19050" anchor="ctr">
                    <a:solidFill>
                      <a:srgbClr val="F5F8FA"/>
                    </a:solidFill>
                  </a:tcPr>
                </a:tc>
                <a:tc>
                  <a:txBody>
                    <a:bodyPr wrap="none"/>
                    <a:lstStyle/>
                    <a:p>
                      <a:pPr algn="l"/>
                      <a:r>
                        <a:rPr sz="800" b="0">
                          <a:solidFill>
                            <a:srgbClr val="2E2E2E"/>
                          </a:solidFill>
                          <a:latin typeface="Calibri"/>
                        </a:rPr>
                        <a:t>0.35</a:t>
                      </a:r>
                    </a:p>
                  </a:txBody>
                  <a:tcPr marL="85725" marR="38100" marT="19050" marB="19050" anchor="ctr">
                    <a:solidFill>
                      <a:srgbClr val="F5F8FA"/>
                    </a:solidFill>
                  </a:tcPr>
                </a:tc>
                <a:tc>
                  <a:txBody>
                    <a:bodyPr wrap="none"/>
                    <a:lstStyle/>
                    <a:p>
                      <a:pPr algn="l"/>
                      <a:r>
                        <a:rPr sz="800" b="0">
                          <a:solidFill>
                            <a:srgbClr val="2E2E2E"/>
                          </a:solidFill>
                          <a:latin typeface="Calibri"/>
                        </a:rPr>
                        <a:t>0.42</a:t>
                      </a:r>
                    </a:p>
                  </a:txBody>
                  <a:tcPr marL="85725" marR="38100" marT="19050" marB="19050" anchor="ctr">
                    <a:solidFill>
                      <a:srgbClr val="F5F8FA"/>
                    </a:solidFill>
                  </a:tcPr>
                </a:tc>
                <a:tc>
                  <a:txBody>
                    <a:bodyPr wrap="none"/>
                    <a:lstStyle/>
                    <a:p>
                      <a:pPr algn="l"/>
                      <a:r>
                        <a:rPr sz="800" b="0">
                          <a:solidFill>
                            <a:srgbClr val="2E2E2E"/>
                          </a:solidFill>
                          <a:latin typeface="Calibri"/>
                        </a:rPr>
                        <a:t>0.50</a:t>
                      </a:r>
                    </a:p>
                  </a:txBody>
                  <a:tcPr marL="85725" marR="38100" marT="19050" marB="19050" anchor="ctr">
                    <a:solidFill>
                      <a:srgbClr val="F5F8FA"/>
                    </a:solidFill>
                  </a:tcPr>
                </a:tc>
                <a:tc>
                  <a:txBody>
                    <a:bodyPr wrap="none"/>
                    <a:lstStyle/>
                    <a:p>
                      <a:pPr algn="l"/>
                      <a:r>
                        <a:rPr sz="800" b="0">
                          <a:solidFill>
                            <a:srgbClr val="2E2E2E"/>
                          </a:solidFill>
                          <a:latin typeface="Calibri"/>
                        </a:rPr>
                        <a:t>0.57</a:t>
                      </a:r>
                    </a:p>
                  </a:txBody>
                  <a:tcPr marL="85725" marR="38100" marT="19050" marB="19050" anchor="ctr">
                    <a:solidFill>
                      <a:srgbClr val="F5F8FA"/>
                    </a:solidFill>
                  </a:tcPr>
                </a:tc>
                <a:tc>
                  <a:txBody>
                    <a:bodyPr wrap="none"/>
                    <a:lstStyle/>
                    <a:p>
                      <a:pPr algn="l"/>
                      <a:r>
                        <a:rPr sz="800" b="0">
                          <a:solidFill>
                            <a:srgbClr val="2E2E2E"/>
                          </a:solidFill>
                          <a:latin typeface="Calibri"/>
                        </a:rPr>
                        <a:t>0.66</a:t>
                      </a:r>
                    </a:p>
                  </a:txBody>
                  <a:tcPr marL="85725" marR="38100" marT="19050" marB="19050" anchor="ctr">
                    <a:solidFill>
                      <a:srgbClr val="F5F8FA"/>
                    </a:solidFill>
                  </a:tcPr>
                </a:tc>
                <a:tc>
                  <a:txBody>
                    <a:bodyPr wrap="none"/>
                    <a:lstStyle/>
                    <a:p>
                      <a:pPr algn="l"/>
                      <a:r>
                        <a:rPr sz="800" b="0">
                          <a:solidFill>
                            <a:srgbClr val="2E2E2E"/>
                          </a:solidFill>
                          <a:latin typeface="Calibri"/>
                        </a:rPr>
                        <a:t>0.75</a:t>
                      </a:r>
                    </a:p>
                  </a:txBody>
                  <a:tcPr marL="85725" marR="38100" marT="19050" marB="19050" anchor="ctr">
                    <a:solidFill>
                      <a:srgbClr val="F5F8FA"/>
                    </a:solidFill>
                  </a:tcPr>
                </a:tc>
                <a:tc>
                  <a:txBody>
                    <a:bodyPr wrap="none"/>
                    <a:lstStyle/>
                    <a:p>
                      <a:pPr algn="l"/>
                      <a:r>
                        <a:rPr sz="800" b="0">
                          <a:solidFill>
                            <a:srgbClr val="2E2E2E"/>
                          </a:solidFill>
                          <a:latin typeface="Calibri"/>
                        </a:rPr>
                        <a:t>0.84</a:t>
                      </a:r>
                    </a:p>
                  </a:txBody>
                  <a:tcPr marL="85725" marR="38100" marT="19050" marB="19050" anchor="ctr">
                    <a:solidFill>
                      <a:srgbClr val="F5F8FA"/>
                    </a:solidFill>
                  </a:tcPr>
                </a:tc>
                <a:tc>
                  <a:txBody>
                    <a:bodyPr wrap="none"/>
                    <a:lstStyle/>
                    <a:p>
                      <a:pPr algn="l"/>
                      <a:r>
                        <a:rPr sz="800" b="0">
                          <a:solidFill>
                            <a:srgbClr val="2E2E2E"/>
                          </a:solidFill>
                          <a:latin typeface="Calibri"/>
                        </a:rPr>
                        <a:t>0.93</a:t>
                      </a:r>
                    </a:p>
                  </a:txBody>
                  <a:tcPr marL="85725" marR="38100" marT="19050" marB="19050" anchor="ctr">
                    <a:solidFill>
                      <a:srgbClr val="F5F8FA"/>
                    </a:solidFill>
                  </a:tcPr>
                </a:tc>
                <a:tc>
                  <a:txBody>
                    <a:bodyPr wrap="none"/>
                    <a:lstStyle/>
                    <a:p>
                      <a:pPr algn="l"/>
                      <a:r>
                        <a:rPr sz="800" b="0">
                          <a:solidFill>
                            <a:srgbClr val="2E2E2E"/>
                          </a:solidFill>
                          <a:latin typeface="Calibri"/>
                        </a:rPr>
                        <a:t>1.04</a:t>
                      </a:r>
                    </a:p>
                  </a:txBody>
                  <a:tcPr marL="85725" marR="38100" marT="19050" marB="19050" anchor="ctr">
                    <a:solidFill>
                      <a:srgbClr val="F5F8FA"/>
                    </a:solidFill>
                  </a:tcPr>
                </a:tc>
                <a:tc>
                  <a:txBody>
                    <a:bodyPr wrap="none"/>
                    <a:lstStyle/>
                    <a:p>
                      <a:pPr algn="l"/>
                      <a:r>
                        <a:rPr sz="800" b="0">
                          <a:solidFill>
                            <a:srgbClr val="2E2E2E"/>
                          </a:solidFill>
                          <a:latin typeface="Calibri"/>
                        </a:rPr>
                        <a:t>1.14</a:t>
                      </a:r>
                    </a:p>
                  </a:txBody>
                  <a:tcPr marL="85725" marR="38100" marT="19050" marB="19050" anchor="ctr">
                    <a:solidFill>
                      <a:srgbClr val="F5F8FA"/>
                    </a:solidFill>
                  </a:tcPr>
                </a:tc>
                <a:tc>
                  <a:txBody>
                    <a:bodyPr wrap="none"/>
                    <a:lstStyle/>
                    <a:p>
                      <a:pPr algn="l"/>
                      <a:r>
                        <a:rPr sz="800" b="0">
                          <a:solidFill>
                            <a:srgbClr val="2E2E2E"/>
                          </a:solidFill>
                          <a:latin typeface="Calibri"/>
                        </a:rPr>
                        <a:t>1.25</a:t>
                      </a:r>
                    </a:p>
                  </a:txBody>
                  <a:tcPr marL="85725" marR="38100" marT="19050" marB="19050" anchor="ctr">
                    <a:solidFill>
                      <a:srgbClr val="F5F8FA"/>
                    </a:solidFill>
                  </a:tcPr>
                </a:tc>
                <a:tc>
                  <a:txBody>
                    <a:bodyPr wrap="none"/>
                    <a:lstStyle/>
                    <a:p>
                      <a:pPr algn="l"/>
                      <a:r>
                        <a:rPr sz="800" b="0">
                          <a:solidFill>
                            <a:srgbClr val="2E2E2E"/>
                          </a:solidFill>
                          <a:latin typeface="Calibri"/>
                        </a:rPr>
                        <a:t>13.6%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800" b="0">
                          <a:solidFill>
                            <a:srgbClr val="2E2E2E"/>
                          </a:solidFill>
                          <a:latin typeface="Calibri"/>
                        </a:rPr>
                        <a:t>0.08</a:t>
                      </a:r>
                    </a:p>
                  </a:txBody>
                  <a:tcPr marL="85725" marR="38100" marT="19050" marB="19050" anchor="ctr">
                    <a:solidFill>
                      <a:srgbClr val="FFFFFF"/>
                    </a:solidFill>
                  </a:tcPr>
                </a:tc>
                <a:tc>
                  <a:txBody>
                    <a:bodyPr wrap="none"/>
                    <a:lstStyle/>
                    <a:p>
                      <a:pPr algn="l"/>
                      <a:r>
                        <a:rPr sz="800" b="0">
                          <a:solidFill>
                            <a:srgbClr val="2E2E2E"/>
                          </a:solidFill>
                          <a:latin typeface="Calibri"/>
                        </a:rPr>
                        <a:t>0.09</a:t>
                      </a:r>
                    </a:p>
                  </a:txBody>
                  <a:tcPr marL="85725" marR="38100" marT="19050" marB="19050" anchor="ctr">
                    <a:solidFill>
                      <a:srgbClr val="FFFFFF"/>
                    </a:solidFill>
                  </a:tcPr>
                </a:tc>
                <a:tc>
                  <a:txBody>
                    <a:bodyPr wrap="none"/>
                    <a:lstStyle/>
                    <a:p>
                      <a:pPr algn="l"/>
                      <a:r>
                        <a:rPr sz="800" b="0">
                          <a:solidFill>
                            <a:srgbClr val="2E2E2E"/>
                          </a:solidFill>
                          <a:latin typeface="Calibri"/>
                        </a:rPr>
                        <a:t>0.11</a:t>
                      </a:r>
                    </a:p>
                  </a:txBody>
                  <a:tcPr marL="85725" marR="38100" marT="19050" marB="19050" anchor="ctr">
                    <a:solidFill>
                      <a:srgbClr val="FFFFFF"/>
                    </a:solidFill>
                  </a:tcPr>
                </a:tc>
                <a:tc>
                  <a:txBody>
                    <a:bodyPr wrap="none"/>
                    <a:lstStyle/>
                    <a:p>
                      <a:pPr algn="l"/>
                      <a:r>
                        <a:rPr sz="800" b="0">
                          <a:solidFill>
                            <a:srgbClr val="2E2E2E"/>
                          </a:solidFill>
                          <a:latin typeface="Calibri"/>
                        </a:rPr>
                        <a:t>0.15</a:t>
                      </a:r>
                    </a:p>
                  </a:txBody>
                  <a:tcPr marL="85725" marR="38100" marT="19050" marB="19050" anchor="ctr">
                    <a:solidFill>
                      <a:srgbClr val="FFFFFF"/>
                    </a:solidFill>
                  </a:tcPr>
                </a:tc>
                <a:tc>
                  <a:txBody>
                    <a:bodyPr wrap="none"/>
                    <a:lstStyle/>
                    <a:p>
                      <a:pPr algn="l"/>
                      <a:r>
                        <a:rPr sz="800" b="0">
                          <a:solidFill>
                            <a:srgbClr val="2E2E2E"/>
                          </a:solidFill>
                          <a:latin typeface="Calibri"/>
                        </a:rPr>
                        <a:t>0.18</a:t>
                      </a:r>
                    </a:p>
                  </a:txBody>
                  <a:tcPr marL="85725" marR="38100" marT="19050" marB="19050" anchor="ctr">
                    <a:solidFill>
                      <a:srgbClr val="FFFFFF"/>
                    </a:solidFill>
                  </a:tcPr>
                </a:tc>
                <a:tc>
                  <a:txBody>
                    <a:bodyPr wrap="none"/>
                    <a:lstStyle/>
                    <a:p>
                      <a:pPr algn="l"/>
                      <a:r>
                        <a:rPr sz="800" b="0">
                          <a:solidFill>
                            <a:srgbClr val="2E2E2E"/>
                          </a:solidFill>
                          <a:latin typeface="Calibri"/>
                        </a:rPr>
                        <a:t>0.22</a:t>
                      </a:r>
                    </a:p>
                  </a:txBody>
                  <a:tcPr marL="85725" marR="38100" marT="19050" marB="19050" anchor="ctr">
                    <a:solidFill>
                      <a:srgbClr val="FFFFFF"/>
                    </a:solidFill>
                  </a:tcPr>
                </a:tc>
                <a:tc>
                  <a:txBody>
                    <a:bodyPr wrap="none"/>
                    <a:lstStyle/>
                    <a:p>
                      <a:pPr algn="l"/>
                      <a:r>
                        <a:rPr sz="800" b="0">
                          <a:solidFill>
                            <a:srgbClr val="2E2E2E"/>
                          </a:solidFill>
                          <a:latin typeface="Calibri"/>
                        </a:rPr>
                        <a:t>0.26</a:t>
                      </a:r>
                    </a:p>
                  </a:txBody>
                  <a:tcPr marL="85725" marR="38100" marT="19050" marB="19050" anchor="ctr">
                    <a:solidFill>
                      <a:srgbClr val="FFFFFF"/>
                    </a:solidFill>
                  </a:tcPr>
                </a:tc>
                <a:tc>
                  <a:txBody>
                    <a:bodyPr wrap="none"/>
                    <a:lstStyle/>
                    <a:p>
                      <a:pPr algn="l"/>
                      <a:r>
                        <a:rPr sz="800" b="0">
                          <a:solidFill>
                            <a:srgbClr val="2E2E2E"/>
                          </a:solidFill>
                          <a:latin typeface="Calibri"/>
                        </a:rPr>
                        <a:t>0.31</a:t>
                      </a:r>
                    </a:p>
                  </a:txBody>
                  <a:tcPr marL="85725" marR="38100" marT="19050" marB="19050" anchor="ctr">
                    <a:solidFill>
                      <a:srgbClr val="FFFFFF"/>
                    </a:solidFill>
                  </a:tcPr>
                </a:tc>
                <a:tc>
                  <a:txBody>
                    <a:bodyPr wrap="none"/>
                    <a:lstStyle/>
                    <a:p>
                      <a:pPr algn="l"/>
                      <a:r>
                        <a:rPr sz="800" b="0">
                          <a:solidFill>
                            <a:srgbClr val="2E2E2E"/>
                          </a:solidFill>
                          <a:latin typeface="Calibri"/>
                        </a:rPr>
                        <a:t>0.36</a:t>
                      </a:r>
                    </a:p>
                  </a:txBody>
                  <a:tcPr marL="85725" marR="38100" marT="19050" marB="19050" anchor="ctr">
                    <a:solidFill>
                      <a:srgbClr val="FFFFFF"/>
                    </a:solidFill>
                  </a:tcPr>
                </a:tc>
                <a:tc>
                  <a:txBody>
                    <a:bodyPr wrap="none"/>
                    <a:lstStyle/>
                    <a:p>
                      <a:pPr algn="l"/>
                      <a:r>
                        <a:rPr sz="800" b="0">
                          <a:solidFill>
                            <a:srgbClr val="2E2E2E"/>
                          </a:solidFill>
                          <a:latin typeface="Calibri"/>
                        </a:rPr>
                        <a:t>0.40</a:t>
                      </a:r>
                    </a:p>
                  </a:txBody>
                  <a:tcPr marL="85725" marR="38100" marT="19050" marB="19050" anchor="ctr">
                    <a:solidFill>
                      <a:srgbClr val="FFFFFF"/>
                    </a:solidFill>
                  </a:tcPr>
                </a:tc>
                <a:tc>
                  <a:txBody>
                    <a:bodyPr wrap="none"/>
                    <a:lstStyle/>
                    <a:p>
                      <a:pPr algn="l"/>
                      <a:r>
                        <a:rPr sz="800" b="0">
                          <a:solidFill>
                            <a:srgbClr val="2E2E2E"/>
                          </a:solidFill>
                          <a:latin typeface="Calibri"/>
                        </a:rPr>
                        <a:t>0.45</a:t>
                      </a:r>
                    </a:p>
                  </a:txBody>
                  <a:tcPr marL="85725" marR="38100" marT="19050" marB="19050" anchor="ctr">
                    <a:solidFill>
                      <a:srgbClr val="FFFFFF"/>
                    </a:solidFill>
                  </a:tcPr>
                </a:tc>
                <a:tc>
                  <a:txBody>
                    <a:bodyPr wrap="none"/>
                    <a:lstStyle/>
                    <a:p>
                      <a:pPr algn="l"/>
                      <a:r>
                        <a:rPr sz="800" b="0">
                          <a:solidFill>
                            <a:srgbClr val="2E2E2E"/>
                          </a:solidFill>
                          <a:latin typeface="Calibri"/>
                        </a:rPr>
                        <a:t>0.51</a:t>
                      </a:r>
                    </a:p>
                  </a:txBody>
                  <a:tcPr marL="85725" marR="38100" marT="19050" marB="19050" anchor="ctr">
                    <a:solidFill>
                      <a:srgbClr val="FFFFFF"/>
                    </a:solidFill>
                  </a:tcPr>
                </a:tc>
                <a:tc>
                  <a:txBody>
                    <a:bodyPr wrap="none"/>
                    <a:lstStyle/>
                    <a:p>
                      <a:pPr algn="l"/>
                      <a:r>
                        <a:rPr sz="800" b="0">
                          <a:solidFill>
                            <a:srgbClr val="2E2E2E"/>
                          </a:solidFill>
                          <a:latin typeface="Calibri"/>
                        </a:rPr>
                        <a:t>0.56</a:t>
                      </a:r>
                    </a:p>
                  </a:txBody>
                  <a:tcPr marL="85725" marR="38100" marT="19050" marB="19050" anchor="ctr">
                    <a:solidFill>
                      <a:srgbClr val="FFFFFF"/>
                    </a:solidFill>
                  </a:tcPr>
                </a:tc>
                <a:tc>
                  <a:txBody>
                    <a:bodyPr wrap="none"/>
                    <a:lstStyle/>
                    <a:p>
                      <a:pPr algn="l"/>
                      <a:r>
                        <a:rPr sz="800" b="0">
                          <a:solidFill>
                            <a:srgbClr val="2E2E2E"/>
                          </a:solidFill>
                          <a:latin typeface="Calibri"/>
                        </a:rPr>
                        <a:t>0.62</a:t>
                      </a:r>
                    </a:p>
                  </a:txBody>
                  <a:tcPr marL="85725" marR="38100" marT="19050" marB="19050" anchor="ctr">
                    <a:solidFill>
                      <a:srgbClr val="FFFFFF"/>
                    </a:solidFill>
                  </a:tcPr>
                </a:tc>
                <a:tc>
                  <a:txBody>
                    <a:bodyPr wrap="none"/>
                    <a:lstStyle/>
                    <a:p>
                      <a:pPr algn="l"/>
                      <a:r>
                        <a:rPr sz="800" b="0">
                          <a:solidFill>
                            <a:srgbClr val="2E2E2E"/>
                          </a:solidFill>
                          <a:latin typeface="Calibri"/>
                        </a:rPr>
                        <a:t>0.68</a:t>
                      </a:r>
                    </a:p>
                  </a:txBody>
                  <a:tcPr marL="85725" marR="38100" marT="19050" marB="19050" anchor="ctr">
                    <a:solidFill>
                      <a:srgbClr val="FFFFFF"/>
                    </a:solidFill>
                  </a:tcPr>
                </a:tc>
                <a:tc>
                  <a:txBody>
                    <a:bodyPr wrap="none"/>
                    <a:lstStyle/>
                    <a:p>
                      <a:pPr algn="l"/>
                      <a:r>
                        <a:rPr sz="800" b="0">
                          <a:solidFill>
                            <a:srgbClr val="2E2E2E"/>
                          </a:solidFill>
                          <a:latin typeface="Calibri"/>
                        </a:rPr>
                        <a:t>0.74</a:t>
                      </a:r>
                    </a:p>
                  </a:txBody>
                  <a:tcPr marL="85725" marR="38100" marT="19050" marB="19050" anchor="ctr">
                    <a:solidFill>
                      <a:srgbClr val="FFFFFF"/>
                    </a:solidFill>
                  </a:tcPr>
                </a:tc>
                <a:tc>
                  <a:txBody>
                    <a:bodyPr wrap="none"/>
                    <a:lstStyle/>
                    <a:p>
                      <a:pPr algn="l"/>
                      <a:r>
                        <a:rPr sz="800" b="0">
                          <a:solidFill>
                            <a:srgbClr val="2E2E2E"/>
                          </a:solidFill>
                          <a:latin typeface="Calibri"/>
                        </a:rPr>
                        <a:t>12.7%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1.06</a:t>
                      </a:r>
                    </a:p>
                  </a:txBody>
                  <a:tcPr marL="85725" marR="38100" marT="19050" marB="19050" anchor="ctr">
                    <a:solidFill>
                      <a:srgbClr val="E0E8EF"/>
                    </a:solidFill>
                  </a:tcPr>
                </a:tc>
                <a:tc>
                  <a:txBody>
                    <a:bodyPr wrap="none"/>
                    <a:lstStyle/>
                    <a:p>
                      <a:pPr algn="l"/>
                      <a:r>
                        <a:rPr sz="800" b="1">
                          <a:solidFill>
                            <a:srgbClr val="2E2E2E"/>
                          </a:solidFill>
                          <a:latin typeface="Calibri"/>
                        </a:rPr>
                        <a:t>1.24</a:t>
                      </a:r>
                    </a:p>
                  </a:txBody>
                  <a:tcPr marL="85725" marR="38100" marT="19050" marB="19050" anchor="ctr">
                    <a:solidFill>
                      <a:srgbClr val="E0E8EF"/>
                    </a:solidFill>
                  </a:tcPr>
                </a:tc>
                <a:tc>
                  <a:txBody>
                    <a:bodyPr wrap="none"/>
                    <a:lstStyle/>
                    <a:p>
                      <a:pPr algn="l"/>
                      <a:r>
                        <a:rPr sz="800" b="1">
                          <a:solidFill>
                            <a:srgbClr val="2E2E2E"/>
                          </a:solidFill>
                          <a:latin typeface="Calibri"/>
                        </a:rPr>
                        <a:t>1.54</a:t>
                      </a:r>
                    </a:p>
                  </a:txBody>
                  <a:tcPr marL="85725" marR="38100" marT="19050" marB="19050" anchor="ctr">
                    <a:solidFill>
                      <a:srgbClr val="E0E8EF"/>
                    </a:solidFill>
                  </a:tcPr>
                </a:tc>
                <a:tc>
                  <a:txBody>
                    <a:bodyPr wrap="none"/>
                    <a:lstStyle/>
                    <a:p>
                      <a:pPr algn="l"/>
                      <a:r>
                        <a:rPr sz="800" b="1">
                          <a:solidFill>
                            <a:srgbClr val="2E2E2E"/>
                          </a:solidFill>
                          <a:latin typeface="Calibri"/>
                        </a:rPr>
                        <a:t>1.97</a:t>
                      </a:r>
                    </a:p>
                  </a:txBody>
                  <a:tcPr marL="85725" marR="38100" marT="19050" marB="19050" anchor="ctr">
                    <a:solidFill>
                      <a:srgbClr val="E0E8EF"/>
                    </a:solidFill>
                  </a:tcPr>
                </a:tc>
                <a:tc>
                  <a:txBody>
                    <a:bodyPr wrap="none"/>
                    <a:lstStyle/>
                    <a:p>
                      <a:pPr algn="l"/>
                      <a:r>
                        <a:rPr sz="800" b="1">
                          <a:solidFill>
                            <a:srgbClr val="2E2E2E"/>
                          </a:solidFill>
                          <a:latin typeface="Calibri"/>
                        </a:rPr>
                        <a:t>2.46</a:t>
                      </a:r>
                    </a:p>
                  </a:txBody>
                  <a:tcPr marL="85725" marR="38100" marT="19050" marB="19050" anchor="ctr">
                    <a:solidFill>
                      <a:srgbClr val="E0E8EF"/>
                    </a:solidFill>
                  </a:tcPr>
                </a:tc>
                <a:tc>
                  <a:txBody>
                    <a:bodyPr wrap="none"/>
                    <a:lstStyle/>
                    <a:p>
                      <a:pPr algn="l"/>
                      <a:r>
                        <a:rPr sz="800" b="1">
                          <a:solidFill>
                            <a:srgbClr val="2E2E2E"/>
                          </a:solidFill>
                          <a:latin typeface="Calibri"/>
                        </a:rPr>
                        <a:t>2.98</a:t>
                      </a:r>
                    </a:p>
                  </a:txBody>
                  <a:tcPr marL="85725" marR="38100" marT="19050" marB="19050" anchor="ctr">
                    <a:solidFill>
                      <a:srgbClr val="E0E8EF"/>
                    </a:solidFill>
                  </a:tcPr>
                </a:tc>
                <a:tc>
                  <a:txBody>
                    <a:bodyPr wrap="none"/>
                    <a:lstStyle/>
                    <a:p>
                      <a:pPr algn="l"/>
                      <a:r>
                        <a:rPr sz="800" b="1">
                          <a:solidFill>
                            <a:srgbClr val="2E2E2E"/>
                          </a:solidFill>
                          <a:latin typeface="Calibri"/>
                        </a:rPr>
                        <a:t>3.56</a:t>
                      </a:r>
                    </a:p>
                  </a:txBody>
                  <a:tcPr marL="85725" marR="38100" marT="19050" marB="19050" anchor="ctr">
                    <a:solidFill>
                      <a:srgbClr val="E0E8EF"/>
                    </a:solidFill>
                  </a:tcPr>
                </a:tc>
                <a:tc>
                  <a:txBody>
                    <a:bodyPr wrap="none"/>
                    <a:lstStyle/>
                    <a:p>
                      <a:pPr algn="l"/>
                      <a:r>
                        <a:rPr sz="800" b="1">
                          <a:solidFill>
                            <a:srgbClr val="2E2E2E"/>
                          </a:solidFill>
                          <a:latin typeface="Calibri"/>
                        </a:rPr>
                        <a:t>4.15</a:t>
                      </a:r>
                    </a:p>
                  </a:txBody>
                  <a:tcPr marL="85725" marR="38100" marT="19050" marB="19050" anchor="ctr">
                    <a:solidFill>
                      <a:srgbClr val="E0E8EF"/>
                    </a:solidFill>
                  </a:tcPr>
                </a:tc>
                <a:tc>
                  <a:txBody>
                    <a:bodyPr wrap="none"/>
                    <a:lstStyle/>
                    <a:p>
                      <a:pPr algn="l"/>
                      <a:r>
                        <a:rPr sz="800" b="1">
                          <a:solidFill>
                            <a:srgbClr val="2E2E2E"/>
                          </a:solidFill>
                          <a:latin typeface="Calibri"/>
                        </a:rPr>
                        <a:t>4.77</a:t>
                      </a:r>
                    </a:p>
                  </a:txBody>
                  <a:tcPr marL="85725" marR="38100" marT="19050" marB="19050" anchor="ctr">
                    <a:solidFill>
                      <a:srgbClr val="E0E8EF"/>
                    </a:solidFill>
                  </a:tcPr>
                </a:tc>
                <a:tc>
                  <a:txBody>
                    <a:bodyPr wrap="none"/>
                    <a:lstStyle/>
                    <a:p>
                      <a:pPr algn="l"/>
                      <a:r>
                        <a:rPr sz="800" b="1">
                          <a:solidFill>
                            <a:srgbClr val="2E2E2E"/>
                          </a:solidFill>
                          <a:latin typeface="Calibri"/>
                        </a:rPr>
                        <a:t>5.42</a:t>
                      </a:r>
                    </a:p>
                  </a:txBody>
                  <a:tcPr marL="85725" marR="38100" marT="19050" marB="19050" anchor="ctr">
                    <a:solidFill>
                      <a:srgbClr val="E0E8EF"/>
                    </a:solidFill>
                  </a:tcPr>
                </a:tc>
                <a:tc>
                  <a:txBody>
                    <a:bodyPr wrap="none"/>
                    <a:lstStyle/>
                    <a:p>
                      <a:pPr algn="l"/>
                      <a:r>
                        <a:rPr sz="800" b="1">
                          <a:solidFill>
                            <a:srgbClr val="2E2E2E"/>
                          </a:solidFill>
                          <a:latin typeface="Calibri"/>
                        </a:rPr>
                        <a:t>6.10</a:t>
                      </a:r>
                    </a:p>
                  </a:txBody>
                  <a:tcPr marL="85725" marR="38100" marT="19050" marB="19050" anchor="ctr">
                    <a:solidFill>
                      <a:srgbClr val="E0E8EF"/>
                    </a:solidFill>
                  </a:tcPr>
                </a:tc>
                <a:tc>
                  <a:txBody>
                    <a:bodyPr wrap="none"/>
                    <a:lstStyle/>
                    <a:p>
                      <a:pPr algn="l"/>
                      <a:r>
                        <a:rPr sz="800" b="1">
                          <a:solidFill>
                            <a:srgbClr val="2E2E2E"/>
                          </a:solidFill>
                          <a:latin typeface="Calibri"/>
                        </a:rPr>
                        <a:t>6.81</a:t>
                      </a:r>
                    </a:p>
                  </a:txBody>
                  <a:tcPr marL="85725" marR="38100" marT="19050" marB="19050" anchor="ctr">
                    <a:solidFill>
                      <a:srgbClr val="E0E8EF"/>
                    </a:solidFill>
                  </a:tcPr>
                </a:tc>
                <a:tc>
                  <a:txBody>
                    <a:bodyPr wrap="none"/>
                    <a:lstStyle/>
                    <a:p>
                      <a:pPr algn="l"/>
                      <a:r>
                        <a:rPr sz="800" b="1">
                          <a:solidFill>
                            <a:srgbClr val="2E2E2E"/>
                          </a:solidFill>
                          <a:latin typeface="Calibri"/>
                        </a:rPr>
                        <a:t>7.53</a:t>
                      </a:r>
                    </a:p>
                  </a:txBody>
                  <a:tcPr marL="85725" marR="38100" marT="19050" marB="19050" anchor="ctr">
                    <a:solidFill>
                      <a:srgbClr val="E0E8EF"/>
                    </a:solidFill>
                  </a:tcPr>
                </a:tc>
                <a:tc>
                  <a:txBody>
                    <a:bodyPr wrap="none"/>
                    <a:lstStyle/>
                    <a:p>
                      <a:pPr algn="l"/>
                      <a:r>
                        <a:rPr sz="800" b="1">
                          <a:solidFill>
                            <a:srgbClr val="2E2E2E"/>
                          </a:solidFill>
                          <a:latin typeface="Calibri"/>
                        </a:rPr>
                        <a:t>8.29</a:t>
                      </a:r>
                    </a:p>
                  </a:txBody>
                  <a:tcPr marL="85725" marR="38100" marT="19050" marB="19050" anchor="ctr">
                    <a:solidFill>
                      <a:srgbClr val="E0E8EF"/>
                    </a:solidFill>
                  </a:tcPr>
                </a:tc>
                <a:tc>
                  <a:txBody>
                    <a:bodyPr wrap="none"/>
                    <a:lstStyle/>
                    <a:p>
                      <a:pPr algn="l"/>
                      <a:r>
                        <a:rPr sz="800" b="1">
                          <a:solidFill>
                            <a:srgbClr val="2E2E2E"/>
                          </a:solidFill>
                          <a:latin typeface="Calibri"/>
                        </a:rPr>
                        <a:t>9.08</a:t>
                      </a:r>
                    </a:p>
                  </a:txBody>
                  <a:tcPr marL="85725" marR="38100" marT="19050" marB="19050" anchor="ctr">
                    <a:solidFill>
                      <a:srgbClr val="E0E8EF"/>
                    </a:solidFill>
                  </a:tcPr>
                </a:tc>
                <a:tc>
                  <a:txBody>
                    <a:bodyPr wrap="none"/>
                    <a:lstStyle/>
                    <a:p>
                      <a:pPr algn="l"/>
                      <a:r>
                        <a:rPr sz="800" b="1">
                          <a:solidFill>
                            <a:srgbClr val="2E2E2E"/>
                          </a:solidFill>
                          <a:latin typeface="Calibri"/>
                        </a:rPr>
                        <a:t>9.91</a:t>
                      </a:r>
                    </a:p>
                  </a:txBody>
                  <a:tcPr marL="85725" marR="38100" marT="19050" marB="19050" anchor="ctr">
                    <a:solidFill>
                      <a:srgbClr val="E0E8EF"/>
                    </a:solidFill>
                  </a:tcPr>
                </a:tc>
                <a:tc>
                  <a:txBody>
                    <a:bodyPr wrap="none"/>
                    <a:lstStyle/>
                    <a:p>
                      <a:pPr algn="l"/>
                      <a:r>
                        <a:rPr sz="800" b="1">
                          <a:solidFill>
                            <a:srgbClr val="2E2E2E"/>
                          </a:solidFill>
                          <a:latin typeface="Calibri"/>
                        </a:rPr>
                        <a:t>12.7%</a:t>
                      </a:r>
                    </a:p>
                  </a:txBody>
                  <a:tcPr marL="85725" marR="38100" marT="19050" marB="19050" anchor="ctr">
                    <a:solidFill>
                      <a:srgbClr val="E0E8EF"/>
                    </a:solidFill>
                  </a:tcPr>
                </a:tc>
              </a:tr>
            </a:tbl>
          </a:graphicData>
        </a:graphic>
      </p:graphicFrame>
      <p:sp>
        <p:nvSpPr>
          <p:cNvPr id="14" name="TextBox 13"/>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ectangle 1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7" name="Rounded Rectangle 1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9" name="Rounded Rectangle 1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Humira Biosimilars Market Tables Product Type x Therapeutic Application   ·   (continued 2/2)</a:t>
            </a:r>
          </a:p>
        </p:txBody>
      </p:sp>
      <p:sp>
        <p:nvSpPr>
          <p:cNvPr id="10" name="Rounded Rectangle 9"/>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Value, By Product Type x Therapeutic Application (US$ Mn)</a:t>
            </a:r>
          </a:p>
        </p:txBody>
      </p:sp>
      <p:graphicFrame>
        <p:nvGraphicFramePr>
          <p:cNvPr id="12" name="Table 11"/>
          <p:cNvGraphicFramePr>
            <a:graphicFrameLocks noGrp="1"/>
          </p:cNvGraphicFramePr>
          <p:nvPr/>
        </p:nvGraphicFramePr>
        <p:xfrm>
          <a:off x="238125" y="1143000"/>
          <a:ext cx="11715752" cy="2352675"/>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Product Type x Therapeutic Application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800" b="0">
                          <a:solidFill>
                            <a:srgbClr val="2E2E2E"/>
                          </a:solidFill>
                          <a:latin typeface="Calibri"/>
                        </a:rPr>
                        <a:t>84.9</a:t>
                      </a:r>
                    </a:p>
                  </a:txBody>
                  <a:tcPr marL="85725" marR="38100" marT="19050" marB="19050" anchor="ctr">
                    <a:solidFill>
                      <a:srgbClr val="FFFFFF"/>
                    </a:solidFill>
                  </a:tcPr>
                </a:tc>
                <a:tc>
                  <a:txBody>
                    <a:bodyPr wrap="none"/>
                    <a:lstStyle/>
                    <a:p>
                      <a:pPr algn="l"/>
                      <a:r>
                        <a:rPr sz="800" b="0">
                          <a:solidFill>
                            <a:srgbClr val="2E2E2E"/>
                          </a:solidFill>
                          <a:latin typeface="Calibri"/>
                        </a:rPr>
                        <a:t>95.7</a:t>
                      </a:r>
                    </a:p>
                  </a:txBody>
                  <a:tcPr marL="85725" marR="38100" marT="19050" marB="19050" anchor="ctr">
                    <a:solidFill>
                      <a:srgbClr val="FFFFFF"/>
                    </a:solidFill>
                  </a:tcPr>
                </a:tc>
                <a:tc>
                  <a:txBody>
                    <a:bodyPr wrap="none"/>
                    <a:lstStyle/>
                    <a:p>
                      <a:pPr algn="l"/>
                      <a:r>
                        <a:rPr sz="800" b="0">
                          <a:solidFill>
                            <a:srgbClr val="2E2E2E"/>
                          </a:solidFill>
                          <a:latin typeface="Calibri"/>
                        </a:rPr>
                        <a:t>114.5</a:t>
                      </a:r>
                    </a:p>
                  </a:txBody>
                  <a:tcPr marL="85725" marR="38100" marT="19050" marB="19050" anchor="ctr">
                    <a:solidFill>
                      <a:srgbClr val="FFFFFF"/>
                    </a:solidFill>
                  </a:tcPr>
                </a:tc>
                <a:tc>
                  <a:txBody>
                    <a:bodyPr wrap="none"/>
                    <a:lstStyle/>
                    <a:p>
                      <a:pPr algn="l"/>
                      <a:r>
                        <a:rPr sz="800" b="0">
                          <a:solidFill>
                            <a:srgbClr val="2E2E2E"/>
                          </a:solidFill>
                          <a:latin typeface="Calibri"/>
                        </a:rPr>
                        <a:t>141.2</a:t>
                      </a:r>
                    </a:p>
                  </a:txBody>
                  <a:tcPr marL="85725" marR="38100" marT="19050" marB="19050" anchor="ctr">
                    <a:solidFill>
                      <a:srgbClr val="FFFFFF"/>
                    </a:solidFill>
                  </a:tcPr>
                </a:tc>
                <a:tc>
                  <a:txBody>
                    <a:bodyPr wrap="none"/>
                    <a:lstStyle/>
                    <a:p>
                      <a:pPr algn="l"/>
                      <a:r>
                        <a:rPr sz="800" b="0">
                          <a:solidFill>
                            <a:srgbClr val="2E2E2E"/>
                          </a:solidFill>
                          <a:latin typeface="Calibri"/>
                        </a:rPr>
                        <a:t>170.5</a:t>
                      </a:r>
                    </a:p>
                  </a:txBody>
                  <a:tcPr marL="85725" marR="38100" marT="19050" marB="19050" anchor="ctr">
                    <a:solidFill>
                      <a:srgbClr val="FFFFFF"/>
                    </a:solidFill>
                  </a:tcPr>
                </a:tc>
                <a:tc>
                  <a:txBody>
                    <a:bodyPr wrap="none"/>
                    <a:lstStyle/>
                    <a:p>
                      <a:pPr algn="l"/>
                      <a:r>
                        <a:rPr sz="800" b="0">
                          <a:solidFill>
                            <a:srgbClr val="2E2E2E"/>
                          </a:solidFill>
                          <a:latin typeface="Calibri"/>
                        </a:rPr>
                        <a:t>199.6</a:t>
                      </a:r>
                    </a:p>
                  </a:txBody>
                  <a:tcPr marL="85725" marR="38100" marT="19050" marB="19050" anchor="ctr">
                    <a:solidFill>
                      <a:srgbClr val="FFFFFF"/>
                    </a:solidFill>
                  </a:tcPr>
                </a:tc>
                <a:tc>
                  <a:txBody>
                    <a:bodyPr wrap="none"/>
                    <a:lstStyle/>
                    <a:p>
                      <a:pPr algn="l"/>
                      <a:r>
                        <a:rPr sz="800" b="0">
                          <a:solidFill>
                            <a:srgbClr val="2E2E2E"/>
                          </a:solidFill>
                          <a:latin typeface="Calibri"/>
                        </a:rPr>
                        <a:t>229.4</a:t>
                      </a:r>
                    </a:p>
                  </a:txBody>
                  <a:tcPr marL="85725" marR="38100" marT="19050" marB="19050" anchor="ctr">
                    <a:solidFill>
                      <a:srgbClr val="FFFFFF"/>
                    </a:solidFill>
                  </a:tcPr>
                </a:tc>
                <a:tc>
                  <a:txBody>
                    <a:bodyPr wrap="none"/>
                    <a:lstStyle/>
                    <a:p>
                      <a:pPr algn="l"/>
                      <a:r>
                        <a:rPr sz="800" b="0">
                          <a:solidFill>
                            <a:srgbClr val="2E2E2E"/>
                          </a:solidFill>
                          <a:latin typeface="Calibri"/>
                        </a:rPr>
                        <a:t>258.2</a:t>
                      </a:r>
                    </a:p>
                  </a:txBody>
                  <a:tcPr marL="85725" marR="38100" marT="19050" marB="19050" anchor="ctr">
                    <a:solidFill>
                      <a:srgbClr val="FFFFFF"/>
                    </a:solidFill>
                  </a:tcPr>
                </a:tc>
                <a:tc>
                  <a:txBody>
                    <a:bodyPr wrap="none"/>
                    <a:lstStyle/>
                    <a:p>
                      <a:pPr algn="l"/>
                      <a:r>
                        <a:rPr sz="800" b="0">
                          <a:solidFill>
                            <a:srgbClr val="2E2E2E"/>
                          </a:solidFill>
                          <a:latin typeface="Calibri"/>
                        </a:rPr>
                        <a:t>286.5</a:t>
                      </a:r>
                    </a:p>
                  </a:txBody>
                  <a:tcPr marL="85725" marR="38100" marT="19050" marB="19050" anchor="ctr">
                    <a:solidFill>
                      <a:srgbClr val="FFFFFF"/>
                    </a:solidFill>
                  </a:tcPr>
                </a:tc>
                <a:tc>
                  <a:txBody>
                    <a:bodyPr wrap="none"/>
                    <a:lstStyle/>
                    <a:p>
                      <a:pPr algn="l"/>
                      <a:r>
                        <a:rPr sz="800" b="0">
                          <a:solidFill>
                            <a:srgbClr val="2E2E2E"/>
                          </a:solidFill>
                          <a:latin typeface="Calibri"/>
                        </a:rPr>
                        <a:t>314.0</a:t>
                      </a:r>
                    </a:p>
                  </a:txBody>
                  <a:tcPr marL="85725" marR="38100" marT="19050" marB="19050" anchor="ctr">
                    <a:solidFill>
                      <a:srgbClr val="FFFFFF"/>
                    </a:solidFill>
                  </a:tcPr>
                </a:tc>
                <a:tc>
                  <a:txBody>
                    <a:bodyPr wrap="none"/>
                    <a:lstStyle/>
                    <a:p>
                      <a:pPr algn="l"/>
                      <a:r>
                        <a:rPr sz="800" b="0">
                          <a:solidFill>
                            <a:srgbClr val="2E2E2E"/>
                          </a:solidFill>
                          <a:latin typeface="Calibri"/>
                        </a:rPr>
                        <a:t>340.6</a:t>
                      </a:r>
                    </a:p>
                  </a:txBody>
                  <a:tcPr marL="85725" marR="38100" marT="19050" marB="19050" anchor="ctr">
                    <a:solidFill>
                      <a:srgbClr val="FFFFFF"/>
                    </a:solidFill>
                  </a:tcPr>
                </a:tc>
                <a:tc>
                  <a:txBody>
                    <a:bodyPr wrap="none"/>
                    <a:lstStyle/>
                    <a:p>
                      <a:pPr algn="l"/>
                      <a:r>
                        <a:rPr sz="800" b="0">
                          <a:solidFill>
                            <a:srgbClr val="2E2E2E"/>
                          </a:solidFill>
                          <a:latin typeface="Calibri"/>
                        </a:rPr>
                        <a:t>366.3</a:t>
                      </a:r>
                    </a:p>
                  </a:txBody>
                  <a:tcPr marL="85725" marR="38100" marT="19050" marB="19050" anchor="ctr">
                    <a:solidFill>
                      <a:srgbClr val="FFFFFF"/>
                    </a:solidFill>
                  </a:tcPr>
                </a:tc>
                <a:tc>
                  <a:txBody>
                    <a:bodyPr wrap="none"/>
                    <a:lstStyle/>
                    <a:p>
                      <a:pPr algn="l"/>
                      <a:r>
                        <a:rPr sz="800" b="0">
                          <a:solidFill>
                            <a:srgbClr val="2E2E2E"/>
                          </a:solidFill>
                          <a:latin typeface="Calibri"/>
                        </a:rPr>
                        <a:t>390.9</a:t>
                      </a:r>
                    </a:p>
                  </a:txBody>
                  <a:tcPr marL="85725" marR="38100" marT="19050" marB="19050" anchor="ctr">
                    <a:solidFill>
                      <a:srgbClr val="FFFFFF"/>
                    </a:solidFill>
                  </a:tcPr>
                </a:tc>
                <a:tc>
                  <a:txBody>
                    <a:bodyPr wrap="none"/>
                    <a:lstStyle/>
                    <a:p>
                      <a:pPr algn="l"/>
                      <a:r>
                        <a:rPr sz="800" b="0">
                          <a:solidFill>
                            <a:srgbClr val="2E2E2E"/>
                          </a:solidFill>
                          <a:latin typeface="Calibri"/>
                        </a:rPr>
                        <a:t>414.6</a:t>
                      </a:r>
                    </a:p>
                  </a:txBody>
                  <a:tcPr marL="85725" marR="38100" marT="19050" marB="19050" anchor="ctr">
                    <a:solidFill>
                      <a:srgbClr val="FFFFFF"/>
                    </a:solidFill>
                  </a:tcPr>
                </a:tc>
                <a:tc>
                  <a:txBody>
                    <a:bodyPr wrap="none"/>
                    <a:lstStyle/>
                    <a:p>
                      <a:pPr algn="l"/>
                      <a:r>
                        <a:rPr sz="800" b="0">
                          <a:solidFill>
                            <a:srgbClr val="2E2E2E"/>
                          </a:solidFill>
                          <a:latin typeface="Calibri"/>
                        </a:rPr>
                        <a:t>437.7</a:t>
                      </a:r>
                    </a:p>
                  </a:txBody>
                  <a:tcPr marL="85725" marR="38100" marT="19050" marB="19050" anchor="ctr">
                    <a:solidFill>
                      <a:srgbClr val="FFFFFF"/>
                    </a:solidFill>
                  </a:tcPr>
                </a:tc>
                <a:tc>
                  <a:txBody>
                    <a:bodyPr wrap="none"/>
                    <a:lstStyle/>
                    <a:p>
                      <a:pPr algn="l"/>
                      <a:r>
                        <a:rPr sz="800" b="0">
                          <a:solidFill>
                            <a:srgbClr val="2E2E2E"/>
                          </a:solidFill>
                          <a:latin typeface="Calibri"/>
                        </a:rPr>
                        <a:t>460.1</a:t>
                      </a:r>
                    </a:p>
                  </a:txBody>
                  <a:tcPr marL="85725" marR="38100" marT="19050" marB="19050" anchor="ctr">
                    <a:solidFill>
                      <a:srgbClr val="FFFFFF"/>
                    </a:solidFill>
                  </a:tcPr>
                </a:tc>
                <a:tc>
                  <a:txBody>
                    <a:bodyPr wrap="none"/>
                    <a:lstStyle/>
                    <a:p>
                      <a:pPr algn="l"/>
                      <a:r>
                        <a:rPr sz="800" b="0">
                          <a:solidFill>
                            <a:srgbClr val="2E2E2E"/>
                          </a:solidFill>
                          <a:latin typeface="Calibri"/>
                        </a:rPr>
                        <a:t>8.7%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Cyltezo</a:t>
                      </a:r>
                    </a:p>
                  </a:txBody>
                  <a:tcPr marL="85725" marR="38100" marT="19050" marB="19050" anchor="ctr">
                    <a:solidFill>
                      <a:srgbClr val="F5F8FA"/>
                    </a:solidFill>
                  </a:tcPr>
                </a:tc>
                <a:tc>
                  <a:txBody>
                    <a:bodyPr wrap="none"/>
                    <a:lstStyle/>
                    <a:p>
                      <a:pPr algn="l"/>
                      <a:r>
                        <a:rPr sz="800" b="0">
                          <a:solidFill>
                            <a:srgbClr val="2E2E2E"/>
                          </a:solidFill>
                          <a:latin typeface="Calibri"/>
                        </a:rPr>
                        <a:t>71.4</a:t>
                      </a:r>
                    </a:p>
                  </a:txBody>
                  <a:tcPr marL="85725" marR="38100" marT="19050" marB="19050" anchor="ctr">
                    <a:solidFill>
                      <a:srgbClr val="F5F8FA"/>
                    </a:solidFill>
                  </a:tcPr>
                </a:tc>
                <a:tc>
                  <a:txBody>
                    <a:bodyPr wrap="none"/>
                    <a:lstStyle/>
                    <a:p>
                      <a:pPr algn="l"/>
                      <a:r>
                        <a:rPr sz="800" b="0">
                          <a:solidFill>
                            <a:srgbClr val="2E2E2E"/>
                          </a:solidFill>
                          <a:latin typeface="Calibri"/>
                        </a:rPr>
                        <a:t>80.3</a:t>
                      </a:r>
                    </a:p>
                  </a:txBody>
                  <a:tcPr marL="85725" marR="38100" marT="19050" marB="19050" anchor="ctr">
                    <a:solidFill>
                      <a:srgbClr val="F5F8FA"/>
                    </a:solidFill>
                  </a:tcPr>
                </a:tc>
                <a:tc>
                  <a:txBody>
                    <a:bodyPr wrap="none"/>
                    <a:lstStyle/>
                    <a:p>
                      <a:pPr algn="l"/>
                      <a:r>
                        <a:rPr sz="800" b="0">
                          <a:solidFill>
                            <a:srgbClr val="2E2E2E"/>
                          </a:solidFill>
                          <a:latin typeface="Calibri"/>
                        </a:rPr>
                        <a:t>95.9</a:t>
                      </a:r>
                    </a:p>
                  </a:txBody>
                  <a:tcPr marL="85725" marR="38100" marT="19050" marB="19050" anchor="ctr">
                    <a:solidFill>
                      <a:srgbClr val="F5F8FA"/>
                    </a:solidFill>
                  </a:tcPr>
                </a:tc>
                <a:tc>
                  <a:txBody>
                    <a:bodyPr wrap="none"/>
                    <a:lstStyle/>
                    <a:p>
                      <a:pPr algn="l"/>
                      <a:r>
                        <a:rPr sz="800" b="0">
                          <a:solidFill>
                            <a:srgbClr val="2E2E2E"/>
                          </a:solidFill>
                          <a:latin typeface="Calibri"/>
                        </a:rPr>
                        <a:t>118.2</a:t>
                      </a:r>
                    </a:p>
                  </a:txBody>
                  <a:tcPr marL="85725" marR="38100" marT="19050" marB="19050" anchor="ctr">
                    <a:solidFill>
                      <a:srgbClr val="F5F8FA"/>
                    </a:solidFill>
                  </a:tcPr>
                </a:tc>
                <a:tc>
                  <a:txBody>
                    <a:bodyPr wrap="none"/>
                    <a:lstStyle/>
                    <a:p>
                      <a:pPr algn="l"/>
                      <a:r>
                        <a:rPr sz="800" b="0">
                          <a:solidFill>
                            <a:srgbClr val="2E2E2E"/>
                          </a:solidFill>
                          <a:latin typeface="Calibri"/>
                        </a:rPr>
                        <a:t>142.5</a:t>
                      </a:r>
                    </a:p>
                  </a:txBody>
                  <a:tcPr marL="85725" marR="38100" marT="19050" marB="19050" anchor="ctr">
                    <a:solidFill>
                      <a:srgbClr val="F5F8FA"/>
                    </a:solidFill>
                  </a:tcPr>
                </a:tc>
                <a:tc>
                  <a:txBody>
                    <a:bodyPr wrap="none"/>
                    <a:lstStyle/>
                    <a:p>
                      <a:pPr algn="l"/>
                      <a:r>
                        <a:rPr sz="800" b="0">
                          <a:solidFill>
                            <a:srgbClr val="2E2E2E"/>
                          </a:solidFill>
                          <a:latin typeface="Calibri"/>
                        </a:rPr>
                        <a:t>166.6</a:t>
                      </a:r>
                    </a:p>
                  </a:txBody>
                  <a:tcPr marL="85725" marR="38100" marT="19050" marB="19050" anchor="ctr">
                    <a:solidFill>
                      <a:srgbClr val="F5F8FA"/>
                    </a:solidFill>
                  </a:tcPr>
                </a:tc>
                <a:tc>
                  <a:txBody>
                    <a:bodyPr wrap="none"/>
                    <a:lstStyle/>
                    <a:p>
                      <a:pPr algn="l"/>
                      <a:r>
                        <a:rPr sz="800" b="0">
                          <a:solidFill>
                            <a:srgbClr val="2E2E2E"/>
                          </a:solidFill>
                          <a:latin typeface="Calibri"/>
                        </a:rPr>
                        <a:t>191.2</a:t>
                      </a:r>
                    </a:p>
                  </a:txBody>
                  <a:tcPr marL="85725" marR="38100" marT="19050" marB="19050" anchor="ctr">
                    <a:solidFill>
                      <a:srgbClr val="F5F8FA"/>
                    </a:solidFill>
                  </a:tcPr>
                </a:tc>
                <a:tc>
                  <a:txBody>
                    <a:bodyPr wrap="none"/>
                    <a:lstStyle/>
                    <a:p>
                      <a:pPr algn="l"/>
                      <a:r>
                        <a:rPr sz="800" b="0">
                          <a:solidFill>
                            <a:srgbClr val="2E2E2E"/>
                          </a:solidFill>
                          <a:latin typeface="Calibri"/>
                        </a:rPr>
                        <a:t>215.0</a:t>
                      </a:r>
                    </a:p>
                  </a:txBody>
                  <a:tcPr marL="85725" marR="38100" marT="19050" marB="19050" anchor="ctr">
                    <a:solidFill>
                      <a:srgbClr val="F5F8FA"/>
                    </a:solidFill>
                  </a:tcPr>
                </a:tc>
                <a:tc>
                  <a:txBody>
                    <a:bodyPr wrap="none"/>
                    <a:lstStyle/>
                    <a:p>
                      <a:pPr algn="l"/>
                      <a:r>
                        <a:rPr sz="800" b="0">
                          <a:solidFill>
                            <a:srgbClr val="2E2E2E"/>
                          </a:solidFill>
                          <a:latin typeface="Calibri"/>
                        </a:rPr>
                        <a:t>238.2</a:t>
                      </a:r>
                    </a:p>
                  </a:txBody>
                  <a:tcPr marL="85725" marR="38100" marT="19050" marB="19050" anchor="ctr">
                    <a:solidFill>
                      <a:srgbClr val="F5F8FA"/>
                    </a:solidFill>
                  </a:tcPr>
                </a:tc>
                <a:tc>
                  <a:txBody>
                    <a:bodyPr wrap="none"/>
                    <a:lstStyle/>
                    <a:p>
                      <a:pPr algn="l"/>
                      <a:r>
                        <a:rPr sz="800" b="0">
                          <a:solidFill>
                            <a:srgbClr val="2E2E2E"/>
                          </a:solidFill>
                          <a:latin typeface="Calibri"/>
                        </a:rPr>
                        <a:t>260.7</a:t>
                      </a:r>
                    </a:p>
                  </a:txBody>
                  <a:tcPr marL="85725" marR="38100" marT="19050" marB="19050" anchor="ctr">
                    <a:solidFill>
                      <a:srgbClr val="F5F8FA"/>
                    </a:solidFill>
                  </a:tcPr>
                </a:tc>
                <a:tc>
                  <a:txBody>
                    <a:bodyPr wrap="none"/>
                    <a:lstStyle/>
                    <a:p>
                      <a:pPr algn="l"/>
                      <a:r>
                        <a:rPr sz="800" b="0">
                          <a:solidFill>
                            <a:srgbClr val="2E2E2E"/>
                          </a:solidFill>
                          <a:latin typeface="Calibri"/>
                        </a:rPr>
                        <a:t>282.4</a:t>
                      </a:r>
                    </a:p>
                  </a:txBody>
                  <a:tcPr marL="85725" marR="38100" marT="19050" marB="19050" anchor="ctr">
                    <a:solidFill>
                      <a:srgbClr val="F5F8FA"/>
                    </a:solidFill>
                  </a:tcPr>
                </a:tc>
                <a:tc>
                  <a:txBody>
                    <a:bodyPr wrap="none"/>
                    <a:lstStyle/>
                    <a:p>
                      <a:pPr algn="l"/>
                      <a:r>
                        <a:rPr sz="800" b="0">
                          <a:solidFill>
                            <a:srgbClr val="2E2E2E"/>
                          </a:solidFill>
                          <a:latin typeface="Calibri"/>
                        </a:rPr>
                        <a:t>303.3</a:t>
                      </a:r>
                    </a:p>
                  </a:txBody>
                  <a:tcPr marL="85725" marR="38100" marT="19050" marB="19050" anchor="ctr">
                    <a:solidFill>
                      <a:srgbClr val="F5F8FA"/>
                    </a:solidFill>
                  </a:tcPr>
                </a:tc>
                <a:tc>
                  <a:txBody>
                    <a:bodyPr wrap="none"/>
                    <a:lstStyle/>
                    <a:p>
                      <a:pPr algn="l"/>
                      <a:r>
                        <a:rPr sz="800" b="0">
                          <a:solidFill>
                            <a:srgbClr val="2E2E2E"/>
                          </a:solidFill>
                          <a:latin typeface="Calibri"/>
                        </a:rPr>
                        <a:t>323.3</a:t>
                      </a:r>
                    </a:p>
                  </a:txBody>
                  <a:tcPr marL="85725" marR="38100" marT="19050" marB="19050" anchor="ctr">
                    <a:solidFill>
                      <a:srgbClr val="F5F8FA"/>
                    </a:solidFill>
                  </a:tcPr>
                </a:tc>
                <a:tc>
                  <a:txBody>
                    <a:bodyPr wrap="none"/>
                    <a:lstStyle/>
                    <a:p>
                      <a:pPr algn="l"/>
                      <a:r>
                        <a:rPr sz="800" b="0">
                          <a:solidFill>
                            <a:srgbClr val="2E2E2E"/>
                          </a:solidFill>
                          <a:latin typeface="Calibri"/>
                        </a:rPr>
                        <a:t>342.5</a:t>
                      </a:r>
                    </a:p>
                  </a:txBody>
                  <a:tcPr marL="85725" marR="38100" marT="19050" marB="19050" anchor="ctr">
                    <a:solidFill>
                      <a:srgbClr val="F5F8FA"/>
                    </a:solidFill>
                  </a:tcPr>
                </a:tc>
                <a:tc>
                  <a:txBody>
                    <a:bodyPr wrap="none"/>
                    <a:lstStyle/>
                    <a:p>
                      <a:pPr algn="l"/>
                      <a:r>
                        <a:rPr sz="800" b="0">
                          <a:solidFill>
                            <a:srgbClr val="2E2E2E"/>
                          </a:solidFill>
                          <a:latin typeface="Calibri"/>
                        </a:rPr>
                        <a:t>361.0</a:t>
                      </a:r>
                    </a:p>
                  </a:txBody>
                  <a:tcPr marL="85725" marR="38100" marT="19050" marB="19050" anchor="ctr">
                    <a:solidFill>
                      <a:srgbClr val="F5F8FA"/>
                    </a:solidFill>
                  </a:tcPr>
                </a:tc>
                <a:tc>
                  <a:txBody>
                    <a:bodyPr wrap="none"/>
                    <a:lstStyle/>
                    <a:p>
                      <a:pPr algn="l"/>
                      <a:r>
                        <a:rPr sz="800" b="0">
                          <a:solidFill>
                            <a:srgbClr val="2E2E2E"/>
                          </a:solidFill>
                          <a:latin typeface="Calibri"/>
                        </a:rPr>
                        <a:t>379.0</a:t>
                      </a:r>
                    </a:p>
                  </a:txBody>
                  <a:tcPr marL="85725" marR="38100" marT="19050" marB="19050" anchor="ctr">
                    <a:solidFill>
                      <a:srgbClr val="F5F8FA"/>
                    </a:solidFill>
                  </a:tcPr>
                </a:tc>
                <a:tc>
                  <a:txBody>
                    <a:bodyPr wrap="none"/>
                    <a:lstStyle/>
                    <a:p>
                      <a:pPr algn="l"/>
                      <a:r>
                        <a:rPr sz="800" b="0">
                          <a:solidFill>
                            <a:srgbClr val="2E2E2E"/>
                          </a:solidFill>
                          <a:latin typeface="Calibri"/>
                        </a:rPr>
                        <a:t>8.6%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800" b="0">
                          <a:solidFill>
                            <a:srgbClr val="2E2E2E"/>
                          </a:solidFill>
                          <a:latin typeface="Calibri"/>
                        </a:rPr>
                        <a:t>30.5</a:t>
                      </a:r>
                    </a:p>
                  </a:txBody>
                  <a:tcPr marL="85725" marR="38100" marT="19050" marB="19050" anchor="ctr">
                    <a:solidFill>
                      <a:srgbClr val="FFFFFF"/>
                    </a:solidFill>
                  </a:tcPr>
                </a:tc>
                <a:tc>
                  <a:txBody>
                    <a:bodyPr wrap="none"/>
                    <a:lstStyle/>
                    <a:p>
                      <a:pPr algn="l"/>
                      <a:r>
                        <a:rPr sz="800" b="0">
                          <a:solidFill>
                            <a:srgbClr val="2E2E2E"/>
                          </a:solidFill>
                          <a:latin typeface="Calibri"/>
                        </a:rPr>
                        <a:t>34.4</a:t>
                      </a:r>
                    </a:p>
                  </a:txBody>
                  <a:tcPr marL="85725" marR="38100" marT="19050" marB="19050" anchor="ctr">
                    <a:solidFill>
                      <a:srgbClr val="FFFFFF"/>
                    </a:solidFill>
                  </a:tcPr>
                </a:tc>
                <a:tc>
                  <a:txBody>
                    <a:bodyPr wrap="none"/>
                    <a:lstStyle/>
                    <a:p>
                      <a:pPr algn="l"/>
                      <a:r>
                        <a:rPr sz="800" b="0">
                          <a:solidFill>
                            <a:srgbClr val="2E2E2E"/>
                          </a:solidFill>
                          <a:latin typeface="Calibri"/>
                        </a:rPr>
                        <a:t>41.3</a:t>
                      </a:r>
                    </a:p>
                  </a:txBody>
                  <a:tcPr marL="85725" marR="38100" marT="19050" marB="19050" anchor="ctr">
                    <a:solidFill>
                      <a:srgbClr val="FFFFFF"/>
                    </a:solidFill>
                  </a:tcPr>
                </a:tc>
                <a:tc>
                  <a:txBody>
                    <a:bodyPr wrap="none"/>
                    <a:lstStyle/>
                    <a:p>
                      <a:pPr algn="l"/>
                      <a:r>
                        <a:rPr sz="800" b="0">
                          <a:solidFill>
                            <a:srgbClr val="2E2E2E"/>
                          </a:solidFill>
                          <a:latin typeface="Calibri"/>
                        </a:rPr>
                        <a:t>51.0</a:t>
                      </a:r>
                    </a:p>
                  </a:txBody>
                  <a:tcPr marL="85725" marR="38100" marT="19050" marB="19050" anchor="ctr">
                    <a:solidFill>
                      <a:srgbClr val="FFFFFF"/>
                    </a:solidFill>
                  </a:tcPr>
                </a:tc>
                <a:tc>
                  <a:txBody>
                    <a:bodyPr wrap="none"/>
                    <a:lstStyle/>
                    <a:p>
                      <a:pPr algn="l"/>
                      <a:r>
                        <a:rPr sz="800" b="0">
                          <a:solidFill>
                            <a:srgbClr val="2E2E2E"/>
                          </a:solidFill>
                          <a:latin typeface="Calibri"/>
                        </a:rPr>
                        <a:t>61.8</a:t>
                      </a:r>
                    </a:p>
                  </a:txBody>
                  <a:tcPr marL="85725" marR="38100" marT="19050" marB="19050" anchor="ctr">
                    <a:solidFill>
                      <a:srgbClr val="FFFFFF"/>
                    </a:solidFill>
                  </a:tcPr>
                </a:tc>
                <a:tc>
                  <a:txBody>
                    <a:bodyPr wrap="none"/>
                    <a:lstStyle/>
                    <a:p>
                      <a:pPr algn="l"/>
                      <a:r>
                        <a:rPr sz="800" b="0">
                          <a:solidFill>
                            <a:srgbClr val="2E2E2E"/>
                          </a:solidFill>
                          <a:latin typeface="Calibri"/>
                        </a:rPr>
                        <a:t>72.5</a:t>
                      </a:r>
                    </a:p>
                  </a:txBody>
                  <a:tcPr marL="85725" marR="38100" marT="19050" marB="19050" anchor="ctr">
                    <a:solidFill>
                      <a:srgbClr val="FFFFFF"/>
                    </a:solidFill>
                  </a:tcPr>
                </a:tc>
                <a:tc>
                  <a:txBody>
                    <a:bodyPr wrap="none"/>
                    <a:lstStyle/>
                    <a:p>
                      <a:pPr algn="l"/>
                      <a:r>
                        <a:rPr sz="800" b="0">
                          <a:solidFill>
                            <a:srgbClr val="2E2E2E"/>
                          </a:solidFill>
                          <a:latin typeface="Calibri"/>
                        </a:rPr>
                        <a:t>83.5</a:t>
                      </a:r>
                    </a:p>
                  </a:txBody>
                  <a:tcPr marL="85725" marR="38100" marT="19050" marB="19050" anchor="ctr">
                    <a:solidFill>
                      <a:srgbClr val="FFFFFF"/>
                    </a:solidFill>
                  </a:tcPr>
                </a:tc>
                <a:tc>
                  <a:txBody>
                    <a:bodyPr wrap="none"/>
                    <a:lstStyle/>
                    <a:p>
                      <a:pPr algn="l"/>
                      <a:r>
                        <a:rPr sz="800" b="0">
                          <a:solidFill>
                            <a:srgbClr val="2E2E2E"/>
                          </a:solidFill>
                          <a:latin typeface="Calibri"/>
                        </a:rPr>
                        <a:t>94.2</a:t>
                      </a:r>
                    </a:p>
                  </a:txBody>
                  <a:tcPr marL="85725" marR="38100" marT="19050" marB="19050" anchor="ctr">
                    <a:solidFill>
                      <a:srgbClr val="FFFFFF"/>
                    </a:solidFill>
                  </a:tcPr>
                </a:tc>
                <a:tc>
                  <a:txBody>
                    <a:bodyPr wrap="none"/>
                    <a:lstStyle/>
                    <a:p>
                      <a:pPr algn="l"/>
                      <a:r>
                        <a:rPr sz="800" b="0">
                          <a:solidFill>
                            <a:srgbClr val="2E2E2E"/>
                          </a:solidFill>
                          <a:latin typeface="Calibri"/>
                        </a:rPr>
                        <a:t>104.8</a:t>
                      </a:r>
                    </a:p>
                  </a:txBody>
                  <a:tcPr marL="85725" marR="38100" marT="19050" marB="19050" anchor="ctr">
                    <a:solidFill>
                      <a:srgbClr val="FFFFFF"/>
                    </a:solidFill>
                  </a:tcPr>
                </a:tc>
                <a:tc>
                  <a:txBody>
                    <a:bodyPr wrap="none"/>
                    <a:lstStyle/>
                    <a:p>
                      <a:pPr algn="l"/>
                      <a:r>
                        <a:rPr sz="800" b="0">
                          <a:solidFill>
                            <a:srgbClr val="2E2E2E"/>
                          </a:solidFill>
                          <a:latin typeface="Calibri"/>
                        </a:rPr>
                        <a:t>115.2</a:t>
                      </a:r>
                    </a:p>
                  </a:txBody>
                  <a:tcPr marL="85725" marR="38100" marT="19050" marB="19050" anchor="ctr">
                    <a:solidFill>
                      <a:srgbClr val="FFFFFF"/>
                    </a:solidFill>
                  </a:tcPr>
                </a:tc>
                <a:tc>
                  <a:txBody>
                    <a:bodyPr wrap="none"/>
                    <a:lstStyle/>
                    <a:p>
                      <a:pPr algn="l"/>
                      <a:r>
                        <a:rPr sz="800" b="0">
                          <a:solidFill>
                            <a:srgbClr val="2E2E2E"/>
                          </a:solidFill>
                          <a:latin typeface="Calibri"/>
                        </a:rPr>
                        <a:t>125.2</a:t>
                      </a:r>
                    </a:p>
                  </a:txBody>
                  <a:tcPr marL="85725" marR="38100" marT="19050" marB="19050" anchor="ctr">
                    <a:solidFill>
                      <a:srgbClr val="FFFFFF"/>
                    </a:solidFill>
                  </a:tcPr>
                </a:tc>
                <a:tc>
                  <a:txBody>
                    <a:bodyPr wrap="none"/>
                    <a:lstStyle/>
                    <a:p>
                      <a:pPr algn="l"/>
                      <a:r>
                        <a:rPr sz="800" b="0">
                          <a:solidFill>
                            <a:srgbClr val="2E2E2E"/>
                          </a:solidFill>
                          <a:latin typeface="Calibri"/>
                        </a:rPr>
                        <a:t>135.0</a:t>
                      </a:r>
                    </a:p>
                  </a:txBody>
                  <a:tcPr marL="85725" marR="38100" marT="19050" marB="19050" anchor="ctr">
                    <a:solidFill>
                      <a:srgbClr val="FFFFFF"/>
                    </a:solidFill>
                  </a:tcPr>
                </a:tc>
                <a:tc>
                  <a:txBody>
                    <a:bodyPr wrap="none"/>
                    <a:lstStyle/>
                    <a:p>
                      <a:pPr algn="l"/>
                      <a:r>
                        <a:rPr sz="800" b="0">
                          <a:solidFill>
                            <a:srgbClr val="2E2E2E"/>
                          </a:solidFill>
                          <a:latin typeface="Calibri"/>
                        </a:rPr>
                        <a:t>144.4</a:t>
                      </a:r>
                    </a:p>
                  </a:txBody>
                  <a:tcPr marL="85725" marR="38100" marT="19050" marB="19050" anchor="ctr">
                    <a:solidFill>
                      <a:srgbClr val="FFFFFF"/>
                    </a:solidFill>
                  </a:tcPr>
                </a:tc>
                <a:tc>
                  <a:txBody>
                    <a:bodyPr wrap="none"/>
                    <a:lstStyle/>
                    <a:p>
                      <a:pPr algn="l"/>
                      <a:r>
                        <a:rPr sz="800" b="0">
                          <a:solidFill>
                            <a:srgbClr val="2E2E2E"/>
                          </a:solidFill>
                          <a:latin typeface="Calibri"/>
                        </a:rPr>
                        <a:t>153.6</a:t>
                      </a:r>
                    </a:p>
                  </a:txBody>
                  <a:tcPr marL="85725" marR="38100" marT="19050" marB="19050" anchor="ctr">
                    <a:solidFill>
                      <a:srgbClr val="FFFFFF"/>
                    </a:solidFill>
                  </a:tcPr>
                </a:tc>
                <a:tc>
                  <a:txBody>
                    <a:bodyPr wrap="none"/>
                    <a:lstStyle/>
                    <a:p>
                      <a:pPr algn="l"/>
                      <a:r>
                        <a:rPr sz="800" b="0">
                          <a:solidFill>
                            <a:srgbClr val="2E2E2E"/>
                          </a:solidFill>
                          <a:latin typeface="Calibri"/>
                        </a:rPr>
                        <a:t>162.5</a:t>
                      </a:r>
                    </a:p>
                  </a:txBody>
                  <a:tcPr marL="85725" marR="38100" marT="19050" marB="19050" anchor="ctr">
                    <a:solidFill>
                      <a:srgbClr val="FFFFFF"/>
                    </a:solidFill>
                  </a:tcPr>
                </a:tc>
                <a:tc>
                  <a:txBody>
                    <a:bodyPr wrap="none"/>
                    <a:lstStyle/>
                    <a:p>
                      <a:pPr algn="l"/>
                      <a:r>
                        <a:rPr sz="800" b="0">
                          <a:solidFill>
                            <a:srgbClr val="2E2E2E"/>
                          </a:solidFill>
                          <a:latin typeface="Calibri"/>
                        </a:rPr>
                        <a:t>171.3</a:t>
                      </a:r>
                    </a:p>
                  </a:txBody>
                  <a:tcPr marL="85725" marR="38100" marT="19050" marB="19050" anchor="ctr">
                    <a:solidFill>
                      <a:srgbClr val="FFFFFF"/>
                    </a:solidFill>
                  </a:tcPr>
                </a:tc>
                <a:tc>
                  <a:txBody>
                    <a:bodyPr wrap="none"/>
                    <a:lstStyle/>
                    <a:p>
                      <a:pPr algn="l"/>
                      <a:r>
                        <a:rPr sz="800" b="0">
                          <a:solidFill>
                            <a:srgbClr val="2E2E2E"/>
                          </a:solidFill>
                          <a:latin typeface="Calibri"/>
                        </a:rPr>
                        <a:t>9.0%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800" b="0">
                          <a:solidFill>
                            <a:srgbClr val="2E2E2E"/>
                          </a:solidFill>
                          <a:latin typeface="Calibri"/>
                        </a:rPr>
                        <a:t>49.6</a:t>
                      </a:r>
                    </a:p>
                  </a:txBody>
                  <a:tcPr marL="85725" marR="38100" marT="19050" marB="19050" anchor="ctr">
                    <a:solidFill>
                      <a:srgbClr val="F5F8FA"/>
                    </a:solidFill>
                  </a:tcPr>
                </a:tc>
                <a:tc>
                  <a:txBody>
                    <a:bodyPr wrap="none"/>
                    <a:lstStyle/>
                    <a:p>
                      <a:pPr algn="l"/>
                      <a:r>
                        <a:rPr sz="800" b="0">
                          <a:solidFill>
                            <a:srgbClr val="2E2E2E"/>
                          </a:solidFill>
                          <a:latin typeface="Calibri"/>
                        </a:rPr>
                        <a:t>55.3</a:t>
                      </a:r>
                    </a:p>
                  </a:txBody>
                  <a:tcPr marL="85725" marR="38100" marT="19050" marB="19050" anchor="ctr">
                    <a:solidFill>
                      <a:srgbClr val="F5F8FA"/>
                    </a:solidFill>
                  </a:tcPr>
                </a:tc>
                <a:tc>
                  <a:txBody>
                    <a:bodyPr wrap="none"/>
                    <a:lstStyle/>
                    <a:p>
                      <a:pPr algn="l"/>
                      <a:r>
                        <a:rPr sz="800" b="0">
                          <a:solidFill>
                            <a:srgbClr val="2E2E2E"/>
                          </a:solidFill>
                          <a:latin typeface="Calibri"/>
                        </a:rPr>
                        <a:t>65.4</a:t>
                      </a:r>
                    </a:p>
                  </a:txBody>
                  <a:tcPr marL="85725" marR="38100" marT="19050" marB="19050" anchor="ctr">
                    <a:solidFill>
                      <a:srgbClr val="F5F8FA"/>
                    </a:solidFill>
                  </a:tcPr>
                </a:tc>
                <a:tc>
                  <a:txBody>
                    <a:bodyPr wrap="none"/>
                    <a:lstStyle/>
                    <a:p>
                      <a:pPr algn="l"/>
                      <a:r>
                        <a:rPr sz="800" b="0">
                          <a:solidFill>
                            <a:srgbClr val="2E2E2E"/>
                          </a:solidFill>
                          <a:latin typeface="Calibri"/>
                        </a:rPr>
                        <a:t>79.8</a:t>
                      </a:r>
                    </a:p>
                  </a:txBody>
                  <a:tcPr marL="85725" marR="38100" marT="19050" marB="19050" anchor="ctr">
                    <a:solidFill>
                      <a:srgbClr val="F5F8FA"/>
                    </a:solidFill>
                  </a:tcPr>
                </a:tc>
                <a:tc>
                  <a:txBody>
                    <a:bodyPr wrap="none"/>
                    <a:lstStyle/>
                    <a:p>
                      <a:pPr algn="l"/>
                      <a:r>
                        <a:rPr sz="800" b="0">
                          <a:solidFill>
                            <a:srgbClr val="2E2E2E"/>
                          </a:solidFill>
                          <a:latin typeface="Calibri"/>
                        </a:rPr>
                        <a:t>95.2</a:t>
                      </a:r>
                    </a:p>
                  </a:txBody>
                  <a:tcPr marL="85725" marR="38100" marT="19050" marB="19050" anchor="ctr">
                    <a:solidFill>
                      <a:srgbClr val="F5F8FA"/>
                    </a:solidFill>
                  </a:tcPr>
                </a:tc>
                <a:tc>
                  <a:txBody>
                    <a:bodyPr wrap="none"/>
                    <a:lstStyle/>
                    <a:p>
                      <a:pPr algn="l"/>
                      <a:r>
                        <a:rPr sz="800" b="0">
                          <a:solidFill>
                            <a:srgbClr val="2E2E2E"/>
                          </a:solidFill>
                          <a:latin typeface="Calibri"/>
                        </a:rPr>
                        <a:t>110.2</a:t>
                      </a:r>
                    </a:p>
                  </a:txBody>
                  <a:tcPr marL="85725" marR="38100" marT="19050" marB="19050" anchor="ctr">
                    <a:solidFill>
                      <a:srgbClr val="F5F8FA"/>
                    </a:solidFill>
                  </a:tcPr>
                </a:tc>
                <a:tc>
                  <a:txBody>
                    <a:bodyPr wrap="none"/>
                    <a:lstStyle/>
                    <a:p>
                      <a:pPr algn="l"/>
                      <a:r>
                        <a:rPr sz="800" b="0">
                          <a:solidFill>
                            <a:srgbClr val="2E2E2E"/>
                          </a:solidFill>
                          <a:latin typeface="Calibri"/>
                        </a:rPr>
                        <a:t>125.3</a:t>
                      </a:r>
                    </a:p>
                  </a:txBody>
                  <a:tcPr marL="85725" marR="38100" marT="19050" marB="19050" anchor="ctr">
                    <a:solidFill>
                      <a:srgbClr val="F5F8FA"/>
                    </a:solidFill>
                  </a:tcPr>
                </a:tc>
                <a:tc>
                  <a:txBody>
                    <a:bodyPr wrap="none"/>
                    <a:lstStyle/>
                    <a:p>
                      <a:pPr algn="l"/>
                      <a:r>
                        <a:rPr sz="800" b="0">
                          <a:solidFill>
                            <a:srgbClr val="2E2E2E"/>
                          </a:solidFill>
                          <a:latin typeface="Calibri"/>
                        </a:rPr>
                        <a:t>139.4</a:t>
                      </a:r>
                    </a:p>
                  </a:txBody>
                  <a:tcPr marL="85725" marR="38100" marT="19050" marB="19050" anchor="ctr">
                    <a:solidFill>
                      <a:srgbClr val="F5F8FA"/>
                    </a:solidFill>
                  </a:tcPr>
                </a:tc>
                <a:tc>
                  <a:txBody>
                    <a:bodyPr wrap="none"/>
                    <a:lstStyle/>
                    <a:p>
                      <a:pPr algn="l"/>
                      <a:r>
                        <a:rPr sz="800" b="0">
                          <a:solidFill>
                            <a:srgbClr val="2E2E2E"/>
                          </a:solidFill>
                          <a:latin typeface="Calibri"/>
                        </a:rPr>
                        <a:t>153.0</a:t>
                      </a:r>
                    </a:p>
                  </a:txBody>
                  <a:tcPr marL="85725" marR="38100" marT="19050" marB="19050" anchor="ctr">
                    <a:solidFill>
                      <a:srgbClr val="F5F8FA"/>
                    </a:solidFill>
                  </a:tcPr>
                </a:tc>
                <a:tc>
                  <a:txBody>
                    <a:bodyPr wrap="none"/>
                    <a:lstStyle/>
                    <a:p>
                      <a:pPr algn="l"/>
                      <a:r>
                        <a:rPr sz="800" b="0">
                          <a:solidFill>
                            <a:srgbClr val="2E2E2E"/>
                          </a:solidFill>
                          <a:latin typeface="Calibri"/>
                        </a:rPr>
                        <a:t>165.8</a:t>
                      </a:r>
                    </a:p>
                  </a:txBody>
                  <a:tcPr marL="85725" marR="38100" marT="19050" marB="19050" anchor="ctr">
                    <a:solidFill>
                      <a:srgbClr val="F5F8FA"/>
                    </a:solidFill>
                  </a:tcPr>
                </a:tc>
                <a:tc>
                  <a:txBody>
                    <a:bodyPr wrap="none"/>
                    <a:lstStyle/>
                    <a:p>
                      <a:pPr algn="l"/>
                      <a:r>
                        <a:rPr sz="800" b="0">
                          <a:solidFill>
                            <a:srgbClr val="2E2E2E"/>
                          </a:solidFill>
                          <a:latin typeface="Calibri"/>
                        </a:rPr>
                        <a:t>177.8</a:t>
                      </a:r>
                    </a:p>
                  </a:txBody>
                  <a:tcPr marL="85725" marR="38100" marT="19050" marB="19050" anchor="ctr">
                    <a:solidFill>
                      <a:srgbClr val="F5F8FA"/>
                    </a:solidFill>
                  </a:tcPr>
                </a:tc>
                <a:tc>
                  <a:txBody>
                    <a:bodyPr wrap="none"/>
                    <a:lstStyle/>
                    <a:p>
                      <a:pPr algn="l"/>
                      <a:r>
                        <a:rPr sz="800" b="0">
                          <a:solidFill>
                            <a:srgbClr val="2E2E2E"/>
                          </a:solidFill>
                          <a:latin typeface="Calibri"/>
                        </a:rPr>
                        <a:t>189.1</a:t>
                      </a:r>
                    </a:p>
                  </a:txBody>
                  <a:tcPr marL="85725" marR="38100" marT="19050" marB="19050" anchor="ctr">
                    <a:solidFill>
                      <a:srgbClr val="F5F8FA"/>
                    </a:solidFill>
                  </a:tcPr>
                </a:tc>
                <a:tc>
                  <a:txBody>
                    <a:bodyPr wrap="none"/>
                    <a:lstStyle/>
                    <a:p>
                      <a:pPr algn="l"/>
                      <a:r>
                        <a:rPr sz="800" b="0">
                          <a:solidFill>
                            <a:srgbClr val="2E2E2E"/>
                          </a:solidFill>
                          <a:latin typeface="Calibri"/>
                        </a:rPr>
                        <a:t>199.6</a:t>
                      </a:r>
                    </a:p>
                  </a:txBody>
                  <a:tcPr marL="85725" marR="38100" marT="19050" marB="19050" anchor="ctr">
                    <a:solidFill>
                      <a:srgbClr val="F5F8FA"/>
                    </a:solidFill>
                  </a:tcPr>
                </a:tc>
                <a:tc>
                  <a:txBody>
                    <a:bodyPr wrap="none"/>
                    <a:lstStyle/>
                    <a:p>
                      <a:pPr algn="l"/>
                      <a:r>
                        <a:rPr sz="800" b="0">
                          <a:solidFill>
                            <a:srgbClr val="2E2E2E"/>
                          </a:solidFill>
                          <a:latin typeface="Calibri"/>
                        </a:rPr>
                        <a:t>209.3</a:t>
                      </a:r>
                    </a:p>
                  </a:txBody>
                  <a:tcPr marL="85725" marR="38100" marT="19050" marB="19050" anchor="ctr">
                    <a:solidFill>
                      <a:srgbClr val="F5F8FA"/>
                    </a:solidFill>
                  </a:tcPr>
                </a:tc>
                <a:tc>
                  <a:txBody>
                    <a:bodyPr wrap="none"/>
                    <a:lstStyle/>
                    <a:p>
                      <a:pPr algn="l"/>
                      <a:r>
                        <a:rPr sz="800" b="0">
                          <a:solidFill>
                            <a:srgbClr val="2E2E2E"/>
                          </a:solidFill>
                          <a:latin typeface="Calibri"/>
                        </a:rPr>
                        <a:t>218.5</a:t>
                      </a:r>
                    </a:p>
                  </a:txBody>
                  <a:tcPr marL="85725" marR="38100" marT="19050" marB="19050" anchor="ctr">
                    <a:solidFill>
                      <a:srgbClr val="F5F8FA"/>
                    </a:solidFill>
                  </a:tcPr>
                </a:tc>
                <a:tc>
                  <a:txBody>
                    <a:bodyPr wrap="none"/>
                    <a:lstStyle/>
                    <a:p>
                      <a:pPr algn="l"/>
                      <a:r>
                        <a:rPr sz="800" b="0">
                          <a:solidFill>
                            <a:srgbClr val="2E2E2E"/>
                          </a:solidFill>
                          <a:latin typeface="Calibri"/>
                        </a:rPr>
                        <a:t>227.1</a:t>
                      </a:r>
                    </a:p>
                  </a:txBody>
                  <a:tcPr marL="85725" marR="38100" marT="19050" marB="19050" anchor="ctr">
                    <a:solidFill>
                      <a:srgbClr val="F5F8FA"/>
                    </a:solidFill>
                  </a:tcPr>
                </a:tc>
                <a:tc>
                  <a:txBody>
                    <a:bodyPr wrap="none"/>
                    <a:lstStyle/>
                    <a:p>
                      <a:pPr algn="l"/>
                      <a:r>
                        <a:rPr sz="800" b="0">
                          <a:solidFill>
                            <a:srgbClr val="2E2E2E"/>
                          </a:solidFill>
                          <a:latin typeface="Calibri"/>
                        </a:rPr>
                        <a:t>7.5%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Idacio</a:t>
                      </a:r>
                    </a:p>
                  </a:txBody>
                  <a:tcPr marL="85725" marR="38100" marT="19050" marB="19050" anchor="ctr">
                    <a:solidFill>
                      <a:srgbClr val="FFFFFF"/>
                    </a:solidFill>
                  </a:tcPr>
                </a:tc>
                <a:tc>
                  <a:txBody>
                    <a:bodyPr wrap="none"/>
                    <a:lstStyle/>
                    <a:p>
                      <a:pPr algn="l"/>
                      <a:r>
                        <a:rPr sz="800" b="0">
                          <a:solidFill>
                            <a:srgbClr val="2E2E2E"/>
                          </a:solidFill>
                          <a:latin typeface="Calibri"/>
                        </a:rPr>
                        <a:t>30.8</a:t>
                      </a:r>
                    </a:p>
                  </a:txBody>
                  <a:tcPr marL="85725" marR="38100" marT="19050" marB="19050" anchor="ctr">
                    <a:solidFill>
                      <a:srgbClr val="FFFFFF"/>
                    </a:solidFill>
                  </a:tcPr>
                </a:tc>
                <a:tc>
                  <a:txBody>
                    <a:bodyPr wrap="none"/>
                    <a:lstStyle/>
                    <a:p>
                      <a:pPr algn="l"/>
                      <a:r>
                        <a:rPr sz="800" b="0">
                          <a:solidFill>
                            <a:srgbClr val="2E2E2E"/>
                          </a:solidFill>
                          <a:latin typeface="Calibri"/>
                        </a:rPr>
                        <a:t>34.7</a:t>
                      </a:r>
                    </a:p>
                  </a:txBody>
                  <a:tcPr marL="85725" marR="38100" marT="19050" marB="19050" anchor="ctr">
                    <a:solidFill>
                      <a:srgbClr val="FFFFFF"/>
                    </a:solidFill>
                  </a:tcPr>
                </a:tc>
                <a:tc>
                  <a:txBody>
                    <a:bodyPr wrap="none"/>
                    <a:lstStyle/>
                    <a:p>
                      <a:pPr algn="l"/>
                      <a:r>
                        <a:rPr sz="800" b="0">
                          <a:solidFill>
                            <a:srgbClr val="2E2E2E"/>
                          </a:solidFill>
                          <a:latin typeface="Calibri"/>
                        </a:rPr>
                        <a:t>41.4</a:t>
                      </a:r>
                    </a:p>
                  </a:txBody>
                  <a:tcPr marL="85725" marR="38100" marT="19050" marB="19050" anchor="ctr">
                    <a:solidFill>
                      <a:srgbClr val="FFFFFF"/>
                    </a:solidFill>
                  </a:tcPr>
                </a:tc>
                <a:tc>
                  <a:txBody>
                    <a:bodyPr wrap="none"/>
                    <a:lstStyle/>
                    <a:p>
                      <a:pPr algn="l"/>
                      <a:r>
                        <a:rPr sz="800" b="0">
                          <a:solidFill>
                            <a:srgbClr val="2E2E2E"/>
                          </a:solidFill>
                          <a:latin typeface="Calibri"/>
                        </a:rPr>
                        <a:t>51.0</a:t>
                      </a:r>
                    </a:p>
                  </a:txBody>
                  <a:tcPr marL="85725" marR="38100" marT="19050" marB="19050" anchor="ctr">
                    <a:solidFill>
                      <a:srgbClr val="FFFFFF"/>
                    </a:solidFill>
                  </a:tcPr>
                </a:tc>
                <a:tc>
                  <a:txBody>
                    <a:bodyPr wrap="none"/>
                    <a:lstStyle/>
                    <a:p>
                      <a:pPr algn="l"/>
                      <a:r>
                        <a:rPr sz="800" b="0">
                          <a:solidFill>
                            <a:srgbClr val="2E2E2E"/>
                          </a:solidFill>
                          <a:latin typeface="Calibri"/>
                        </a:rPr>
                        <a:t>61.4</a:t>
                      </a:r>
                    </a:p>
                  </a:txBody>
                  <a:tcPr marL="85725" marR="38100" marT="19050" marB="19050" anchor="ctr">
                    <a:solidFill>
                      <a:srgbClr val="FFFFFF"/>
                    </a:solidFill>
                  </a:tcPr>
                </a:tc>
                <a:tc>
                  <a:txBody>
                    <a:bodyPr wrap="none"/>
                    <a:lstStyle/>
                    <a:p>
                      <a:pPr algn="l"/>
                      <a:r>
                        <a:rPr sz="800" b="0">
                          <a:solidFill>
                            <a:srgbClr val="2E2E2E"/>
                          </a:solidFill>
                          <a:latin typeface="Calibri"/>
                        </a:rPr>
                        <a:t>71.8</a:t>
                      </a:r>
                    </a:p>
                  </a:txBody>
                  <a:tcPr marL="85725" marR="38100" marT="19050" marB="19050" anchor="ctr">
                    <a:solidFill>
                      <a:srgbClr val="FFFFFF"/>
                    </a:solidFill>
                  </a:tcPr>
                </a:tc>
                <a:tc>
                  <a:txBody>
                    <a:bodyPr wrap="none"/>
                    <a:lstStyle/>
                    <a:p>
                      <a:pPr algn="l"/>
                      <a:r>
                        <a:rPr sz="800" b="0">
                          <a:solidFill>
                            <a:srgbClr val="2E2E2E"/>
                          </a:solidFill>
                          <a:latin typeface="Calibri"/>
                        </a:rPr>
                        <a:t>82.3</a:t>
                      </a:r>
                    </a:p>
                  </a:txBody>
                  <a:tcPr marL="85725" marR="38100" marT="19050" marB="19050" anchor="ctr">
                    <a:solidFill>
                      <a:srgbClr val="FFFFFF"/>
                    </a:solidFill>
                  </a:tcPr>
                </a:tc>
                <a:tc>
                  <a:txBody>
                    <a:bodyPr wrap="none"/>
                    <a:lstStyle/>
                    <a:p>
                      <a:pPr algn="l"/>
                      <a:r>
                        <a:rPr sz="800" b="0">
                          <a:solidFill>
                            <a:srgbClr val="2E2E2E"/>
                          </a:solidFill>
                          <a:latin typeface="Calibri"/>
                        </a:rPr>
                        <a:t>92.5</a:t>
                      </a:r>
                    </a:p>
                  </a:txBody>
                  <a:tcPr marL="85725" marR="38100" marT="19050" marB="19050" anchor="ctr">
                    <a:solidFill>
                      <a:srgbClr val="FFFFFF"/>
                    </a:solidFill>
                  </a:tcPr>
                </a:tc>
                <a:tc>
                  <a:txBody>
                    <a:bodyPr wrap="none"/>
                    <a:lstStyle/>
                    <a:p>
                      <a:pPr algn="l"/>
                      <a:r>
                        <a:rPr sz="800" b="0">
                          <a:solidFill>
                            <a:srgbClr val="2E2E2E"/>
                          </a:solidFill>
                          <a:latin typeface="Calibri"/>
                        </a:rPr>
                        <a:t>102.5</a:t>
                      </a:r>
                    </a:p>
                  </a:txBody>
                  <a:tcPr marL="85725" marR="38100" marT="19050" marB="19050" anchor="ctr">
                    <a:solidFill>
                      <a:srgbClr val="FFFFFF"/>
                    </a:solidFill>
                  </a:tcPr>
                </a:tc>
                <a:tc>
                  <a:txBody>
                    <a:bodyPr wrap="none"/>
                    <a:lstStyle/>
                    <a:p>
                      <a:pPr algn="l"/>
                      <a:r>
                        <a:rPr sz="800" b="0">
                          <a:solidFill>
                            <a:srgbClr val="2E2E2E"/>
                          </a:solidFill>
                          <a:latin typeface="Calibri"/>
                        </a:rPr>
                        <a:t>112.1</a:t>
                      </a:r>
                    </a:p>
                  </a:txBody>
                  <a:tcPr marL="85725" marR="38100" marT="19050" marB="19050" anchor="ctr">
                    <a:solidFill>
                      <a:srgbClr val="FFFFFF"/>
                    </a:solidFill>
                  </a:tcPr>
                </a:tc>
                <a:tc>
                  <a:txBody>
                    <a:bodyPr wrap="none"/>
                    <a:lstStyle/>
                    <a:p>
                      <a:pPr algn="l"/>
                      <a:r>
                        <a:rPr sz="800" b="0">
                          <a:solidFill>
                            <a:srgbClr val="2E2E2E"/>
                          </a:solidFill>
                          <a:latin typeface="Calibri"/>
                        </a:rPr>
                        <a:t>121.4</a:t>
                      </a:r>
                    </a:p>
                  </a:txBody>
                  <a:tcPr marL="85725" marR="38100" marT="19050" marB="19050" anchor="ctr">
                    <a:solidFill>
                      <a:srgbClr val="FFFFFF"/>
                    </a:solidFill>
                  </a:tcPr>
                </a:tc>
                <a:tc>
                  <a:txBody>
                    <a:bodyPr wrap="none"/>
                    <a:lstStyle/>
                    <a:p>
                      <a:pPr algn="l"/>
                      <a:r>
                        <a:rPr sz="800" b="0">
                          <a:solidFill>
                            <a:srgbClr val="2E2E2E"/>
                          </a:solidFill>
                          <a:latin typeface="Calibri"/>
                        </a:rPr>
                        <a:t>130.3</a:t>
                      </a:r>
                    </a:p>
                  </a:txBody>
                  <a:tcPr marL="85725" marR="38100" marT="19050" marB="19050" anchor="ctr">
                    <a:solidFill>
                      <a:srgbClr val="FFFFFF"/>
                    </a:solidFill>
                  </a:tcPr>
                </a:tc>
                <a:tc>
                  <a:txBody>
                    <a:bodyPr wrap="none"/>
                    <a:lstStyle/>
                    <a:p>
                      <a:pPr algn="l"/>
                      <a:r>
                        <a:rPr sz="800" b="0">
                          <a:solidFill>
                            <a:srgbClr val="2E2E2E"/>
                          </a:solidFill>
                          <a:latin typeface="Calibri"/>
                        </a:rPr>
                        <a:t>138.8</a:t>
                      </a:r>
                    </a:p>
                  </a:txBody>
                  <a:tcPr marL="85725" marR="38100" marT="19050" marB="19050" anchor="ctr">
                    <a:solidFill>
                      <a:srgbClr val="FFFFFF"/>
                    </a:solidFill>
                  </a:tcPr>
                </a:tc>
                <a:tc>
                  <a:txBody>
                    <a:bodyPr wrap="none"/>
                    <a:lstStyle/>
                    <a:p>
                      <a:pPr algn="l"/>
                      <a:r>
                        <a:rPr sz="800" b="0">
                          <a:solidFill>
                            <a:srgbClr val="2E2E2E"/>
                          </a:solidFill>
                          <a:latin typeface="Calibri"/>
                        </a:rPr>
                        <a:t>146.9</a:t>
                      </a:r>
                    </a:p>
                  </a:txBody>
                  <a:tcPr marL="85725" marR="38100" marT="19050" marB="19050" anchor="ctr">
                    <a:solidFill>
                      <a:srgbClr val="FFFFFF"/>
                    </a:solidFill>
                  </a:tcPr>
                </a:tc>
                <a:tc>
                  <a:txBody>
                    <a:bodyPr wrap="none"/>
                    <a:lstStyle/>
                    <a:p>
                      <a:pPr algn="l"/>
                      <a:r>
                        <a:rPr sz="800" b="0">
                          <a:solidFill>
                            <a:srgbClr val="2E2E2E"/>
                          </a:solidFill>
                          <a:latin typeface="Calibri"/>
                        </a:rPr>
                        <a:t>154.8</a:t>
                      </a:r>
                    </a:p>
                  </a:txBody>
                  <a:tcPr marL="85725" marR="38100" marT="19050" marB="19050" anchor="ctr">
                    <a:solidFill>
                      <a:srgbClr val="FFFFFF"/>
                    </a:solidFill>
                  </a:tcPr>
                </a:tc>
                <a:tc>
                  <a:txBody>
                    <a:bodyPr wrap="none"/>
                    <a:lstStyle/>
                    <a:p>
                      <a:pPr algn="l"/>
                      <a:r>
                        <a:rPr sz="800" b="0">
                          <a:solidFill>
                            <a:srgbClr val="2E2E2E"/>
                          </a:solidFill>
                          <a:latin typeface="Calibri"/>
                        </a:rPr>
                        <a:t>162.4</a:t>
                      </a:r>
                    </a:p>
                  </a:txBody>
                  <a:tcPr marL="85725" marR="38100" marT="19050" marB="19050" anchor="ctr">
                    <a:solidFill>
                      <a:srgbClr val="FFFFFF"/>
                    </a:solidFill>
                  </a:tcPr>
                </a:tc>
                <a:tc>
                  <a:txBody>
                    <a:bodyPr wrap="none"/>
                    <a:lstStyle/>
                    <a:p>
                      <a:pPr algn="l"/>
                      <a:r>
                        <a:rPr sz="800" b="0">
                          <a:solidFill>
                            <a:srgbClr val="2E2E2E"/>
                          </a:solidFill>
                          <a:latin typeface="Calibri"/>
                        </a:rPr>
                        <a:t>8.5%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Hulio</a:t>
                      </a:r>
                    </a:p>
                  </a:txBody>
                  <a:tcPr marL="85725" marR="38100" marT="19050" marB="19050" anchor="ctr">
                    <a:solidFill>
                      <a:srgbClr val="F5F8FA"/>
                    </a:solidFill>
                  </a:tcPr>
                </a:tc>
                <a:tc>
                  <a:txBody>
                    <a:bodyPr wrap="none"/>
                    <a:lstStyle/>
                    <a:p>
                      <a:pPr algn="l"/>
                      <a:r>
                        <a:rPr sz="800" b="0">
                          <a:solidFill>
                            <a:srgbClr val="2E2E2E"/>
                          </a:solidFill>
                          <a:latin typeface="Calibri"/>
                        </a:rPr>
                        <a:t>44.0</a:t>
                      </a:r>
                    </a:p>
                  </a:txBody>
                  <a:tcPr marL="85725" marR="38100" marT="19050" marB="19050" anchor="ctr">
                    <a:solidFill>
                      <a:srgbClr val="F5F8FA"/>
                    </a:solidFill>
                  </a:tcPr>
                </a:tc>
                <a:tc>
                  <a:txBody>
                    <a:bodyPr wrap="none"/>
                    <a:lstStyle/>
                    <a:p>
                      <a:pPr algn="l"/>
                      <a:r>
                        <a:rPr sz="800" b="0">
                          <a:solidFill>
                            <a:srgbClr val="2E2E2E"/>
                          </a:solidFill>
                          <a:latin typeface="Calibri"/>
                        </a:rPr>
                        <a:t>50.8</a:t>
                      </a:r>
                    </a:p>
                  </a:txBody>
                  <a:tcPr marL="85725" marR="38100" marT="19050" marB="19050" anchor="ctr">
                    <a:solidFill>
                      <a:srgbClr val="F5F8FA"/>
                    </a:solidFill>
                  </a:tcPr>
                </a:tc>
                <a:tc>
                  <a:txBody>
                    <a:bodyPr wrap="none"/>
                    <a:lstStyle/>
                    <a:p>
                      <a:pPr algn="l"/>
                      <a:r>
                        <a:rPr sz="800" b="0">
                          <a:solidFill>
                            <a:srgbClr val="2E2E2E"/>
                          </a:solidFill>
                          <a:latin typeface="Calibri"/>
                        </a:rPr>
                        <a:t>62.2</a:t>
                      </a:r>
                    </a:p>
                  </a:txBody>
                  <a:tcPr marL="85725" marR="38100" marT="19050" marB="19050" anchor="ctr">
                    <a:solidFill>
                      <a:srgbClr val="F5F8FA"/>
                    </a:solidFill>
                  </a:tcPr>
                </a:tc>
                <a:tc>
                  <a:txBody>
                    <a:bodyPr wrap="none"/>
                    <a:lstStyle/>
                    <a:p>
                      <a:pPr algn="l"/>
                      <a:r>
                        <a:rPr sz="800" b="0">
                          <a:solidFill>
                            <a:srgbClr val="2E2E2E"/>
                          </a:solidFill>
                          <a:latin typeface="Calibri"/>
                        </a:rPr>
                        <a:t>78.6</a:t>
                      </a:r>
                    </a:p>
                  </a:txBody>
                  <a:tcPr marL="85725" marR="38100" marT="19050" marB="19050" anchor="ctr">
                    <a:solidFill>
                      <a:srgbClr val="F5F8FA"/>
                    </a:solidFill>
                  </a:tcPr>
                </a:tc>
                <a:tc>
                  <a:txBody>
                    <a:bodyPr wrap="none"/>
                    <a:lstStyle/>
                    <a:p>
                      <a:pPr algn="l"/>
                      <a:r>
                        <a:rPr sz="800" b="0">
                          <a:solidFill>
                            <a:srgbClr val="2E2E2E"/>
                          </a:solidFill>
                          <a:latin typeface="Calibri"/>
                        </a:rPr>
                        <a:t>97.3</a:t>
                      </a:r>
                    </a:p>
                  </a:txBody>
                  <a:tcPr marL="85725" marR="38100" marT="19050" marB="19050" anchor="ctr">
                    <a:solidFill>
                      <a:srgbClr val="F5F8FA"/>
                    </a:solidFill>
                  </a:tcPr>
                </a:tc>
                <a:tc>
                  <a:txBody>
                    <a:bodyPr wrap="none"/>
                    <a:lstStyle/>
                    <a:p>
                      <a:pPr algn="l"/>
                      <a:r>
                        <a:rPr sz="800" b="0">
                          <a:solidFill>
                            <a:srgbClr val="2E2E2E"/>
                          </a:solidFill>
                          <a:latin typeface="Calibri"/>
                        </a:rPr>
                        <a:t>116.6</a:t>
                      </a:r>
                    </a:p>
                  </a:txBody>
                  <a:tcPr marL="85725" marR="38100" marT="19050" marB="19050" anchor="ctr">
                    <a:solidFill>
                      <a:srgbClr val="F5F8FA"/>
                    </a:solidFill>
                  </a:tcPr>
                </a:tc>
                <a:tc>
                  <a:txBody>
                    <a:bodyPr wrap="none"/>
                    <a:lstStyle/>
                    <a:p>
                      <a:pPr algn="l"/>
                      <a:r>
                        <a:rPr sz="800" b="0">
                          <a:solidFill>
                            <a:srgbClr val="2E2E2E"/>
                          </a:solidFill>
                          <a:latin typeface="Calibri"/>
                        </a:rPr>
                        <a:t>137.4</a:t>
                      </a:r>
                    </a:p>
                  </a:txBody>
                  <a:tcPr marL="85725" marR="38100" marT="19050" marB="19050" anchor="ctr">
                    <a:solidFill>
                      <a:srgbClr val="F5F8FA"/>
                    </a:solidFill>
                  </a:tcPr>
                </a:tc>
                <a:tc>
                  <a:txBody>
                    <a:bodyPr wrap="none"/>
                    <a:lstStyle/>
                    <a:p>
                      <a:pPr algn="l"/>
                      <a:r>
                        <a:rPr sz="800" b="0">
                          <a:solidFill>
                            <a:srgbClr val="2E2E2E"/>
                          </a:solidFill>
                          <a:latin typeface="Calibri"/>
                        </a:rPr>
                        <a:t>158.4</a:t>
                      </a:r>
                    </a:p>
                  </a:txBody>
                  <a:tcPr marL="85725" marR="38100" marT="19050" marB="19050" anchor="ctr">
                    <a:solidFill>
                      <a:srgbClr val="F5F8FA"/>
                    </a:solidFill>
                  </a:tcPr>
                </a:tc>
                <a:tc>
                  <a:txBody>
                    <a:bodyPr wrap="none"/>
                    <a:lstStyle/>
                    <a:p>
                      <a:pPr algn="l"/>
                      <a:r>
                        <a:rPr sz="800" b="0">
                          <a:solidFill>
                            <a:srgbClr val="2E2E2E"/>
                          </a:solidFill>
                          <a:latin typeface="Calibri"/>
                        </a:rPr>
                        <a:t>180.1</a:t>
                      </a:r>
                    </a:p>
                  </a:txBody>
                  <a:tcPr marL="85725" marR="38100" marT="19050" marB="19050" anchor="ctr">
                    <a:solidFill>
                      <a:srgbClr val="F5F8FA"/>
                    </a:solidFill>
                  </a:tcPr>
                </a:tc>
                <a:tc>
                  <a:txBody>
                    <a:bodyPr wrap="none"/>
                    <a:lstStyle/>
                    <a:p>
                      <a:pPr algn="l"/>
                      <a:r>
                        <a:rPr sz="800" b="0">
                          <a:solidFill>
                            <a:srgbClr val="2E2E2E"/>
                          </a:solidFill>
                          <a:latin typeface="Calibri"/>
                        </a:rPr>
                        <a:t>202.2</a:t>
                      </a:r>
                    </a:p>
                  </a:txBody>
                  <a:tcPr marL="85725" marR="38100" marT="19050" marB="19050" anchor="ctr">
                    <a:solidFill>
                      <a:srgbClr val="F5F8FA"/>
                    </a:solidFill>
                  </a:tcPr>
                </a:tc>
                <a:tc>
                  <a:txBody>
                    <a:bodyPr wrap="none"/>
                    <a:lstStyle/>
                    <a:p>
                      <a:pPr algn="l"/>
                      <a:r>
                        <a:rPr sz="800" b="0">
                          <a:solidFill>
                            <a:srgbClr val="2E2E2E"/>
                          </a:solidFill>
                          <a:latin typeface="Calibri"/>
                        </a:rPr>
                        <a:t>224.7</a:t>
                      </a:r>
                    </a:p>
                  </a:txBody>
                  <a:tcPr marL="85725" marR="38100" marT="19050" marB="19050" anchor="ctr">
                    <a:solidFill>
                      <a:srgbClr val="F5F8FA"/>
                    </a:solidFill>
                  </a:tcPr>
                </a:tc>
                <a:tc>
                  <a:txBody>
                    <a:bodyPr wrap="none"/>
                    <a:lstStyle/>
                    <a:p>
                      <a:pPr algn="l"/>
                      <a:r>
                        <a:rPr sz="800" b="0">
                          <a:solidFill>
                            <a:srgbClr val="2E2E2E"/>
                          </a:solidFill>
                          <a:latin typeface="Calibri"/>
                        </a:rPr>
                        <a:t>247.6</a:t>
                      </a:r>
                    </a:p>
                  </a:txBody>
                  <a:tcPr marL="85725" marR="38100" marT="19050" marB="19050" anchor="ctr">
                    <a:solidFill>
                      <a:srgbClr val="F5F8FA"/>
                    </a:solidFill>
                  </a:tcPr>
                </a:tc>
                <a:tc>
                  <a:txBody>
                    <a:bodyPr wrap="none"/>
                    <a:lstStyle/>
                    <a:p>
                      <a:pPr algn="l"/>
                      <a:r>
                        <a:rPr sz="800" b="0">
                          <a:solidFill>
                            <a:srgbClr val="2E2E2E"/>
                          </a:solidFill>
                          <a:latin typeface="Calibri"/>
                        </a:rPr>
                        <a:t>270.7</a:t>
                      </a:r>
                    </a:p>
                  </a:txBody>
                  <a:tcPr marL="85725" marR="38100" marT="19050" marB="19050" anchor="ctr">
                    <a:solidFill>
                      <a:srgbClr val="F5F8FA"/>
                    </a:solidFill>
                  </a:tcPr>
                </a:tc>
                <a:tc>
                  <a:txBody>
                    <a:bodyPr wrap="none"/>
                    <a:lstStyle/>
                    <a:p>
                      <a:pPr algn="l"/>
                      <a:r>
                        <a:rPr sz="800" b="0">
                          <a:solidFill>
                            <a:srgbClr val="2E2E2E"/>
                          </a:solidFill>
                          <a:latin typeface="Calibri"/>
                        </a:rPr>
                        <a:t>294.3</a:t>
                      </a:r>
                    </a:p>
                  </a:txBody>
                  <a:tcPr marL="85725" marR="38100" marT="19050" marB="19050" anchor="ctr">
                    <a:solidFill>
                      <a:srgbClr val="F5F8FA"/>
                    </a:solidFill>
                  </a:tcPr>
                </a:tc>
                <a:tc>
                  <a:txBody>
                    <a:bodyPr wrap="none"/>
                    <a:lstStyle/>
                    <a:p>
                      <a:pPr algn="l"/>
                      <a:r>
                        <a:rPr sz="800" b="0">
                          <a:solidFill>
                            <a:srgbClr val="2E2E2E"/>
                          </a:solidFill>
                          <a:latin typeface="Calibri"/>
                        </a:rPr>
                        <a:t>318.2</a:t>
                      </a:r>
                    </a:p>
                  </a:txBody>
                  <a:tcPr marL="85725" marR="38100" marT="19050" marB="19050" anchor="ctr">
                    <a:solidFill>
                      <a:srgbClr val="F5F8FA"/>
                    </a:solidFill>
                  </a:tcPr>
                </a:tc>
                <a:tc>
                  <a:txBody>
                    <a:bodyPr wrap="none"/>
                    <a:lstStyle/>
                    <a:p>
                      <a:pPr algn="l"/>
                      <a:r>
                        <a:rPr sz="800" b="0">
                          <a:solidFill>
                            <a:srgbClr val="2E2E2E"/>
                          </a:solidFill>
                          <a:latin typeface="Calibri"/>
                        </a:rPr>
                        <a:t>342.8</a:t>
                      </a:r>
                    </a:p>
                  </a:txBody>
                  <a:tcPr marL="85725" marR="38100" marT="19050" marB="19050" anchor="ctr">
                    <a:solidFill>
                      <a:srgbClr val="F5F8FA"/>
                    </a:solidFill>
                  </a:tcPr>
                </a:tc>
                <a:tc>
                  <a:txBody>
                    <a:bodyPr wrap="none"/>
                    <a:lstStyle/>
                    <a:p>
                      <a:pPr algn="l"/>
                      <a:r>
                        <a:rPr sz="800" b="0">
                          <a:solidFill>
                            <a:srgbClr val="2E2E2E"/>
                          </a:solidFill>
                          <a:latin typeface="Calibri"/>
                        </a:rPr>
                        <a:t>11.4%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800" b="0">
                          <a:solidFill>
                            <a:srgbClr val="2E2E2E"/>
                          </a:solidFill>
                          <a:latin typeface="Calibri"/>
                        </a:rPr>
                        <a:t>44.9</a:t>
                      </a:r>
                    </a:p>
                  </a:txBody>
                  <a:tcPr marL="85725" marR="38100" marT="19050" marB="19050" anchor="ctr">
                    <a:solidFill>
                      <a:srgbClr val="FFFFFF"/>
                    </a:solidFill>
                  </a:tcPr>
                </a:tc>
                <a:tc>
                  <a:txBody>
                    <a:bodyPr wrap="none"/>
                    <a:lstStyle/>
                    <a:p>
                      <a:pPr algn="l"/>
                      <a:r>
                        <a:rPr sz="800" b="0">
                          <a:solidFill>
                            <a:srgbClr val="2E2E2E"/>
                          </a:solidFill>
                          <a:latin typeface="Calibri"/>
                        </a:rPr>
                        <a:t>51.1</a:t>
                      </a:r>
                    </a:p>
                  </a:txBody>
                  <a:tcPr marL="85725" marR="38100" marT="19050" marB="19050" anchor="ctr">
                    <a:solidFill>
                      <a:srgbClr val="FFFFFF"/>
                    </a:solidFill>
                  </a:tcPr>
                </a:tc>
                <a:tc>
                  <a:txBody>
                    <a:bodyPr wrap="none"/>
                    <a:lstStyle/>
                    <a:p>
                      <a:pPr algn="l"/>
                      <a:r>
                        <a:rPr sz="800" b="0">
                          <a:solidFill>
                            <a:srgbClr val="2E2E2E"/>
                          </a:solidFill>
                          <a:latin typeface="Calibri"/>
                        </a:rPr>
                        <a:t>61.5</a:t>
                      </a:r>
                    </a:p>
                  </a:txBody>
                  <a:tcPr marL="85725" marR="38100" marT="19050" marB="19050" anchor="ctr">
                    <a:solidFill>
                      <a:srgbClr val="FFFFFF"/>
                    </a:solidFill>
                  </a:tcPr>
                </a:tc>
                <a:tc>
                  <a:txBody>
                    <a:bodyPr wrap="none"/>
                    <a:lstStyle/>
                    <a:p>
                      <a:pPr algn="l"/>
                      <a:r>
                        <a:rPr sz="800" b="0">
                          <a:solidFill>
                            <a:srgbClr val="2E2E2E"/>
                          </a:solidFill>
                          <a:latin typeface="Calibri"/>
                        </a:rPr>
                        <a:t>76.5</a:t>
                      </a:r>
                    </a:p>
                  </a:txBody>
                  <a:tcPr marL="85725" marR="38100" marT="19050" marB="19050" anchor="ctr">
                    <a:solidFill>
                      <a:srgbClr val="FFFFFF"/>
                    </a:solidFill>
                  </a:tcPr>
                </a:tc>
                <a:tc>
                  <a:txBody>
                    <a:bodyPr wrap="none"/>
                    <a:lstStyle/>
                    <a:p>
                      <a:pPr algn="l"/>
                      <a:r>
                        <a:rPr sz="800" b="0">
                          <a:solidFill>
                            <a:srgbClr val="2E2E2E"/>
                          </a:solidFill>
                          <a:latin typeface="Calibri"/>
                        </a:rPr>
                        <a:t>93.1</a:t>
                      </a:r>
                    </a:p>
                  </a:txBody>
                  <a:tcPr marL="85725" marR="38100" marT="19050" marB="19050" anchor="ctr">
                    <a:solidFill>
                      <a:srgbClr val="FFFFFF"/>
                    </a:solidFill>
                  </a:tcPr>
                </a:tc>
                <a:tc>
                  <a:txBody>
                    <a:bodyPr wrap="none"/>
                    <a:lstStyle/>
                    <a:p>
                      <a:pPr algn="l"/>
                      <a:r>
                        <a:rPr sz="800" b="0">
                          <a:solidFill>
                            <a:srgbClr val="2E2E2E"/>
                          </a:solidFill>
                          <a:latin typeface="Calibri"/>
                        </a:rPr>
                        <a:t>109.9</a:t>
                      </a:r>
                    </a:p>
                  </a:txBody>
                  <a:tcPr marL="85725" marR="38100" marT="19050" marB="19050" anchor="ctr">
                    <a:solidFill>
                      <a:srgbClr val="FFFFFF"/>
                    </a:solidFill>
                  </a:tcPr>
                </a:tc>
                <a:tc>
                  <a:txBody>
                    <a:bodyPr wrap="none"/>
                    <a:lstStyle/>
                    <a:p>
                      <a:pPr algn="l"/>
                      <a:r>
                        <a:rPr sz="800" b="0">
                          <a:solidFill>
                            <a:srgbClr val="2E2E2E"/>
                          </a:solidFill>
                          <a:latin typeface="Calibri"/>
                        </a:rPr>
                        <a:t>127.3</a:t>
                      </a:r>
                    </a:p>
                  </a:txBody>
                  <a:tcPr marL="85725" marR="38100" marT="19050" marB="19050" anchor="ctr">
                    <a:solidFill>
                      <a:srgbClr val="FFFFFF"/>
                    </a:solidFill>
                  </a:tcPr>
                </a:tc>
                <a:tc>
                  <a:txBody>
                    <a:bodyPr wrap="none"/>
                    <a:lstStyle/>
                    <a:p>
                      <a:pPr algn="l"/>
                      <a:r>
                        <a:rPr sz="800" b="0">
                          <a:solidFill>
                            <a:srgbClr val="2E2E2E"/>
                          </a:solidFill>
                          <a:latin typeface="Calibri"/>
                        </a:rPr>
                        <a:t>144.5</a:t>
                      </a:r>
                    </a:p>
                  </a:txBody>
                  <a:tcPr marL="85725" marR="38100" marT="19050" marB="19050" anchor="ctr">
                    <a:solidFill>
                      <a:srgbClr val="FFFFFF"/>
                    </a:solidFill>
                  </a:tcPr>
                </a:tc>
                <a:tc>
                  <a:txBody>
                    <a:bodyPr wrap="none"/>
                    <a:lstStyle/>
                    <a:p>
                      <a:pPr algn="l"/>
                      <a:r>
                        <a:rPr sz="800" b="0">
                          <a:solidFill>
                            <a:srgbClr val="2E2E2E"/>
                          </a:solidFill>
                          <a:latin typeface="Calibri"/>
                        </a:rPr>
                        <a:t>161.6</a:t>
                      </a:r>
                    </a:p>
                  </a:txBody>
                  <a:tcPr marL="85725" marR="38100" marT="19050" marB="19050" anchor="ctr">
                    <a:solidFill>
                      <a:srgbClr val="FFFFFF"/>
                    </a:solidFill>
                  </a:tcPr>
                </a:tc>
                <a:tc>
                  <a:txBody>
                    <a:bodyPr wrap="none"/>
                    <a:lstStyle/>
                    <a:p>
                      <a:pPr algn="l"/>
                      <a:r>
                        <a:rPr sz="800" b="0">
                          <a:solidFill>
                            <a:srgbClr val="2E2E2E"/>
                          </a:solidFill>
                          <a:latin typeface="Calibri"/>
                        </a:rPr>
                        <a:t>178.5</a:t>
                      </a:r>
                    </a:p>
                  </a:txBody>
                  <a:tcPr marL="85725" marR="38100" marT="19050" marB="19050" anchor="ctr">
                    <a:solidFill>
                      <a:srgbClr val="FFFFFF"/>
                    </a:solidFill>
                  </a:tcPr>
                </a:tc>
                <a:tc>
                  <a:txBody>
                    <a:bodyPr wrap="none"/>
                    <a:lstStyle/>
                    <a:p>
                      <a:pPr algn="l"/>
                      <a:r>
                        <a:rPr sz="800" b="0">
                          <a:solidFill>
                            <a:srgbClr val="2E2E2E"/>
                          </a:solidFill>
                          <a:latin typeface="Calibri"/>
                        </a:rPr>
                        <a:t>195.2</a:t>
                      </a:r>
                    </a:p>
                  </a:txBody>
                  <a:tcPr marL="85725" marR="38100" marT="19050" marB="19050" anchor="ctr">
                    <a:solidFill>
                      <a:srgbClr val="FFFFFF"/>
                    </a:solidFill>
                  </a:tcPr>
                </a:tc>
                <a:tc>
                  <a:txBody>
                    <a:bodyPr wrap="none"/>
                    <a:lstStyle/>
                    <a:p>
                      <a:pPr algn="l"/>
                      <a:r>
                        <a:rPr sz="800" b="0">
                          <a:solidFill>
                            <a:srgbClr val="2E2E2E"/>
                          </a:solidFill>
                          <a:latin typeface="Calibri"/>
                        </a:rPr>
                        <a:t>211.6</a:t>
                      </a:r>
                    </a:p>
                  </a:txBody>
                  <a:tcPr marL="85725" marR="38100" marT="19050" marB="19050" anchor="ctr">
                    <a:solidFill>
                      <a:srgbClr val="FFFFFF"/>
                    </a:solidFill>
                  </a:tcPr>
                </a:tc>
                <a:tc>
                  <a:txBody>
                    <a:bodyPr wrap="none"/>
                    <a:lstStyle/>
                    <a:p>
                      <a:pPr algn="l"/>
                      <a:r>
                        <a:rPr sz="800" b="0">
                          <a:solidFill>
                            <a:srgbClr val="2E2E2E"/>
                          </a:solidFill>
                          <a:latin typeface="Calibri"/>
                        </a:rPr>
                        <a:t>227.7</a:t>
                      </a:r>
                    </a:p>
                  </a:txBody>
                  <a:tcPr marL="85725" marR="38100" marT="19050" marB="19050" anchor="ctr">
                    <a:solidFill>
                      <a:srgbClr val="FFFFFF"/>
                    </a:solidFill>
                  </a:tcPr>
                </a:tc>
                <a:tc>
                  <a:txBody>
                    <a:bodyPr wrap="none"/>
                    <a:lstStyle/>
                    <a:p>
                      <a:pPr algn="l"/>
                      <a:r>
                        <a:rPr sz="800" b="0">
                          <a:solidFill>
                            <a:srgbClr val="2E2E2E"/>
                          </a:solidFill>
                          <a:latin typeface="Calibri"/>
                        </a:rPr>
                        <a:t>243.5</a:t>
                      </a:r>
                    </a:p>
                  </a:txBody>
                  <a:tcPr marL="85725" marR="38100" marT="19050" marB="19050" anchor="ctr">
                    <a:solidFill>
                      <a:srgbClr val="FFFFFF"/>
                    </a:solidFill>
                  </a:tcPr>
                </a:tc>
                <a:tc>
                  <a:txBody>
                    <a:bodyPr wrap="none"/>
                    <a:lstStyle/>
                    <a:p>
                      <a:pPr algn="l"/>
                      <a:r>
                        <a:rPr sz="800" b="0">
                          <a:solidFill>
                            <a:srgbClr val="2E2E2E"/>
                          </a:solidFill>
                          <a:latin typeface="Calibri"/>
                        </a:rPr>
                        <a:t>259.0</a:t>
                      </a:r>
                    </a:p>
                  </a:txBody>
                  <a:tcPr marL="85725" marR="38100" marT="19050" marB="19050" anchor="ctr">
                    <a:solidFill>
                      <a:srgbClr val="FFFFFF"/>
                    </a:solidFill>
                  </a:tcPr>
                </a:tc>
                <a:tc>
                  <a:txBody>
                    <a:bodyPr wrap="none"/>
                    <a:lstStyle/>
                    <a:p>
                      <a:pPr algn="l"/>
                      <a:r>
                        <a:rPr sz="800" b="0">
                          <a:solidFill>
                            <a:srgbClr val="2E2E2E"/>
                          </a:solidFill>
                          <a:latin typeface="Calibri"/>
                        </a:rPr>
                        <a:t>274.5</a:t>
                      </a:r>
                    </a:p>
                  </a:txBody>
                  <a:tcPr marL="85725" marR="38100" marT="19050" marB="19050" anchor="ctr">
                    <a:solidFill>
                      <a:srgbClr val="FFFFFF"/>
                    </a:solidFill>
                  </a:tcPr>
                </a:tc>
                <a:tc>
                  <a:txBody>
                    <a:bodyPr wrap="none"/>
                    <a:lstStyle/>
                    <a:p>
                      <a:pPr algn="l"/>
                      <a:r>
                        <a:rPr sz="800" b="0">
                          <a:solidFill>
                            <a:srgbClr val="2E2E2E"/>
                          </a:solidFill>
                          <a:latin typeface="Calibri"/>
                        </a:rPr>
                        <a:t>9.6%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Yusimry</a:t>
                      </a:r>
                    </a:p>
                  </a:txBody>
                  <a:tcPr marL="85725" marR="38100" marT="19050" marB="19050" anchor="ctr">
                    <a:solidFill>
                      <a:srgbClr val="F5F8FA"/>
                    </a:solidFill>
                  </a:tcPr>
                </a:tc>
                <a:tc>
                  <a:txBody>
                    <a:bodyPr wrap="none"/>
                    <a:lstStyle/>
                    <a:p>
                      <a:pPr algn="l"/>
                      <a:r>
                        <a:rPr sz="800" b="0">
                          <a:solidFill>
                            <a:srgbClr val="2E2E2E"/>
                          </a:solidFill>
                          <a:latin typeface="Calibri"/>
                        </a:rPr>
                        <a:t>78.9</a:t>
                      </a:r>
                    </a:p>
                  </a:txBody>
                  <a:tcPr marL="85725" marR="38100" marT="19050" marB="19050" anchor="ctr">
                    <a:solidFill>
                      <a:srgbClr val="F5F8FA"/>
                    </a:solidFill>
                  </a:tcPr>
                </a:tc>
                <a:tc>
                  <a:txBody>
                    <a:bodyPr wrap="none"/>
                    <a:lstStyle/>
                    <a:p>
                      <a:pPr algn="l"/>
                      <a:r>
                        <a:rPr sz="800" b="0">
                          <a:solidFill>
                            <a:srgbClr val="2E2E2E"/>
                          </a:solidFill>
                          <a:latin typeface="Calibri"/>
                        </a:rPr>
                        <a:t>88.9</a:t>
                      </a:r>
                    </a:p>
                  </a:txBody>
                  <a:tcPr marL="85725" marR="38100" marT="19050" marB="19050" anchor="ctr">
                    <a:solidFill>
                      <a:srgbClr val="F5F8FA"/>
                    </a:solidFill>
                  </a:tcPr>
                </a:tc>
                <a:tc>
                  <a:txBody>
                    <a:bodyPr wrap="none"/>
                    <a:lstStyle/>
                    <a:p>
                      <a:pPr algn="l"/>
                      <a:r>
                        <a:rPr sz="800" b="0">
                          <a:solidFill>
                            <a:srgbClr val="2E2E2E"/>
                          </a:solidFill>
                          <a:latin typeface="Calibri"/>
                        </a:rPr>
                        <a:t>106.1</a:t>
                      </a:r>
                    </a:p>
                  </a:txBody>
                  <a:tcPr marL="85725" marR="38100" marT="19050" marB="19050" anchor="ctr">
                    <a:solidFill>
                      <a:srgbClr val="F5F8FA"/>
                    </a:solidFill>
                  </a:tcPr>
                </a:tc>
                <a:tc>
                  <a:txBody>
                    <a:bodyPr wrap="none"/>
                    <a:lstStyle/>
                    <a:p>
                      <a:pPr algn="l"/>
                      <a:r>
                        <a:rPr sz="800" b="0">
                          <a:solidFill>
                            <a:srgbClr val="2E2E2E"/>
                          </a:solidFill>
                          <a:latin typeface="Calibri"/>
                        </a:rPr>
                        <a:t>130.6</a:t>
                      </a:r>
                    </a:p>
                  </a:txBody>
                  <a:tcPr marL="85725" marR="38100" marT="19050" marB="19050" anchor="ctr">
                    <a:solidFill>
                      <a:srgbClr val="F5F8FA"/>
                    </a:solidFill>
                  </a:tcPr>
                </a:tc>
                <a:tc>
                  <a:txBody>
                    <a:bodyPr wrap="none"/>
                    <a:lstStyle/>
                    <a:p>
                      <a:pPr algn="l"/>
                      <a:r>
                        <a:rPr sz="800" b="0">
                          <a:solidFill>
                            <a:srgbClr val="2E2E2E"/>
                          </a:solidFill>
                          <a:latin typeface="Calibri"/>
                        </a:rPr>
                        <a:t>157.4</a:t>
                      </a:r>
                    </a:p>
                  </a:txBody>
                  <a:tcPr marL="85725" marR="38100" marT="19050" marB="19050" anchor="ctr">
                    <a:solidFill>
                      <a:srgbClr val="F5F8FA"/>
                    </a:solidFill>
                  </a:tcPr>
                </a:tc>
                <a:tc>
                  <a:txBody>
                    <a:bodyPr wrap="none"/>
                    <a:lstStyle/>
                    <a:p>
                      <a:pPr algn="l"/>
                      <a:r>
                        <a:rPr sz="800" b="0">
                          <a:solidFill>
                            <a:srgbClr val="2E2E2E"/>
                          </a:solidFill>
                          <a:latin typeface="Calibri"/>
                        </a:rPr>
                        <a:t>184.0</a:t>
                      </a:r>
                    </a:p>
                  </a:txBody>
                  <a:tcPr marL="85725" marR="38100" marT="19050" marB="19050" anchor="ctr">
                    <a:solidFill>
                      <a:srgbClr val="F5F8FA"/>
                    </a:solidFill>
                  </a:tcPr>
                </a:tc>
                <a:tc>
                  <a:txBody>
                    <a:bodyPr wrap="none"/>
                    <a:lstStyle/>
                    <a:p>
                      <a:pPr algn="l"/>
                      <a:r>
                        <a:rPr sz="800" b="0">
                          <a:solidFill>
                            <a:srgbClr val="2E2E2E"/>
                          </a:solidFill>
                          <a:latin typeface="Calibri"/>
                        </a:rPr>
                        <a:t>211.1</a:t>
                      </a:r>
                    </a:p>
                  </a:txBody>
                  <a:tcPr marL="85725" marR="38100" marT="19050" marB="19050" anchor="ctr">
                    <a:solidFill>
                      <a:srgbClr val="F5F8FA"/>
                    </a:solidFill>
                  </a:tcPr>
                </a:tc>
                <a:tc>
                  <a:txBody>
                    <a:bodyPr wrap="none"/>
                    <a:lstStyle/>
                    <a:p>
                      <a:pPr algn="l"/>
                      <a:r>
                        <a:rPr sz="800" b="0">
                          <a:solidFill>
                            <a:srgbClr val="2E2E2E"/>
                          </a:solidFill>
                          <a:latin typeface="Calibri"/>
                        </a:rPr>
                        <a:t>237.2</a:t>
                      </a:r>
                    </a:p>
                  </a:txBody>
                  <a:tcPr marL="85725" marR="38100" marT="19050" marB="19050" anchor="ctr">
                    <a:solidFill>
                      <a:srgbClr val="F5F8FA"/>
                    </a:solidFill>
                  </a:tcPr>
                </a:tc>
                <a:tc>
                  <a:txBody>
                    <a:bodyPr wrap="none"/>
                    <a:lstStyle/>
                    <a:p>
                      <a:pPr algn="l"/>
                      <a:r>
                        <a:rPr sz="800" b="0">
                          <a:solidFill>
                            <a:srgbClr val="2E2E2E"/>
                          </a:solidFill>
                          <a:latin typeface="Calibri"/>
                        </a:rPr>
                        <a:t>262.7</a:t>
                      </a:r>
                    </a:p>
                  </a:txBody>
                  <a:tcPr marL="85725" marR="38100" marT="19050" marB="19050" anchor="ctr">
                    <a:solidFill>
                      <a:srgbClr val="F5F8FA"/>
                    </a:solidFill>
                  </a:tcPr>
                </a:tc>
                <a:tc>
                  <a:txBody>
                    <a:bodyPr wrap="none"/>
                    <a:lstStyle/>
                    <a:p>
                      <a:pPr algn="l"/>
                      <a:r>
                        <a:rPr sz="800" b="0">
                          <a:solidFill>
                            <a:srgbClr val="2E2E2E"/>
                          </a:solidFill>
                          <a:latin typeface="Calibri"/>
                        </a:rPr>
                        <a:t>287.4</a:t>
                      </a:r>
                    </a:p>
                  </a:txBody>
                  <a:tcPr marL="85725" marR="38100" marT="19050" marB="19050" anchor="ctr">
                    <a:solidFill>
                      <a:srgbClr val="F5F8FA"/>
                    </a:solidFill>
                  </a:tcPr>
                </a:tc>
                <a:tc>
                  <a:txBody>
                    <a:bodyPr wrap="none"/>
                    <a:lstStyle/>
                    <a:p>
                      <a:pPr algn="l"/>
                      <a:r>
                        <a:rPr sz="800" b="0">
                          <a:solidFill>
                            <a:srgbClr val="2E2E2E"/>
                          </a:solidFill>
                          <a:latin typeface="Calibri"/>
                        </a:rPr>
                        <a:t>311.3</a:t>
                      </a:r>
                    </a:p>
                  </a:txBody>
                  <a:tcPr marL="85725" marR="38100" marT="19050" marB="19050" anchor="ctr">
                    <a:solidFill>
                      <a:srgbClr val="F5F8FA"/>
                    </a:solidFill>
                  </a:tcPr>
                </a:tc>
                <a:tc>
                  <a:txBody>
                    <a:bodyPr wrap="none"/>
                    <a:lstStyle/>
                    <a:p>
                      <a:pPr algn="l"/>
                      <a:r>
                        <a:rPr sz="800" b="0">
                          <a:solidFill>
                            <a:srgbClr val="2E2E2E"/>
                          </a:solidFill>
                          <a:latin typeface="Calibri"/>
                        </a:rPr>
                        <a:t>334.2</a:t>
                      </a:r>
                    </a:p>
                  </a:txBody>
                  <a:tcPr marL="85725" marR="38100" marT="19050" marB="19050" anchor="ctr">
                    <a:solidFill>
                      <a:srgbClr val="F5F8FA"/>
                    </a:solidFill>
                  </a:tcPr>
                </a:tc>
                <a:tc>
                  <a:txBody>
                    <a:bodyPr wrap="none"/>
                    <a:lstStyle/>
                    <a:p>
                      <a:pPr algn="l"/>
                      <a:r>
                        <a:rPr sz="800" b="0">
                          <a:solidFill>
                            <a:srgbClr val="2E2E2E"/>
                          </a:solidFill>
                          <a:latin typeface="Calibri"/>
                        </a:rPr>
                        <a:t>356.0</a:t>
                      </a:r>
                    </a:p>
                  </a:txBody>
                  <a:tcPr marL="85725" marR="38100" marT="19050" marB="19050" anchor="ctr">
                    <a:solidFill>
                      <a:srgbClr val="F5F8FA"/>
                    </a:solidFill>
                  </a:tcPr>
                </a:tc>
                <a:tc>
                  <a:txBody>
                    <a:bodyPr wrap="none"/>
                    <a:lstStyle/>
                    <a:p>
                      <a:pPr algn="l"/>
                      <a:r>
                        <a:rPr sz="800" b="0">
                          <a:solidFill>
                            <a:srgbClr val="2E2E2E"/>
                          </a:solidFill>
                          <a:latin typeface="Calibri"/>
                        </a:rPr>
                        <a:t>377.0</a:t>
                      </a:r>
                    </a:p>
                  </a:txBody>
                  <a:tcPr marL="85725" marR="38100" marT="19050" marB="19050" anchor="ctr">
                    <a:solidFill>
                      <a:srgbClr val="F5F8FA"/>
                    </a:solidFill>
                  </a:tcPr>
                </a:tc>
                <a:tc>
                  <a:txBody>
                    <a:bodyPr wrap="none"/>
                    <a:lstStyle/>
                    <a:p>
                      <a:pPr algn="l"/>
                      <a:r>
                        <a:rPr sz="800" b="0">
                          <a:solidFill>
                            <a:srgbClr val="2E2E2E"/>
                          </a:solidFill>
                          <a:latin typeface="Calibri"/>
                        </a:rPr>
                        <a:t>397.2</a:t>
                      </a:r>
                    </a:p>
                  </a:txBody>
                  <a:tcPr marL="85725" marR="38100" marT="19050" marB="19050" anchor="ctr">
                    <a:solidFill>
                      <a:srgbClr val="F5F8FA"/>
                    </a:solidFill>
                  </a:tcPr>
                </a:tc>
                <a:tc>
                  <a:txBody>
                    <a:bodyPr wrap="none"/>
                    <a:lstStyle/>
                    <a:p>
                      <a:pPr algn="l"/>
                      <a:r>
                        <a:rPr sz="800" b="0">
                          <a:solidFill>
                            <a:srgbClr val="2E2E2E"/>
                          </a:solidFill>
                          <a:latin typeface="Calibri"/>
                        </a:rPr>
                        <a:t>416.9</a:t>
                      </a:r>
                    </a:p>
                  </a:txBody>
                  <a:tcPr marL="85725" marR="38100" marT="19050" marB="19050" anchor="ctr">
                    <a:solidFill>
                      <a:srgbClr val="F5F8FA"/>
                    </a:solidFill>
                  </a:tcPr>
                </a:tc>
                <a:tc>
                  <a:txBody>
                    <a:bodyPr wrap="none"/>
                    <a:lstStyle/>
                    <a:p>
                      <a:pPr algn="l"/>
                      <a:r>
                        <a:rPr sz="800" b="0">
                          <a:solidFill>
                            <a:srgbClr val="2E2E2E"/>
                          </a:solidFill>
                          <a:latin typeface="Calibri"/>
                        </a:rPr>
                        <a:t>8.5%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Yuflyma</a:t>
                      </a:r>
                    </a:p>
                  </a:txBody>
                  <a:tcPr marL="85725" marR="38100" marT="19050" marB="19050" anchor="ctr">
                    <a:solidFill>
                      <a:srgbClr val="FFFFFF"/>
                    </a:solidFill>
                  </a:tcPr>
                </a:tc>
                <a:tc>
                  <a:txBody>
                    <a:bodyPr wrap="none"/>
                    <a:lstStyle/>
                    <a:p>
                      <a:pPr algn="l"/>
                      <a:r>
                        <a:rPr sz="800" b="0">
                          <a:solidFill>
                            <a:srgbClr val="2E2E2E"/>
                          </a:solidFill>
                          <a:latin typeface="Calibri"/>
                        </a:rPr>
                        <a:t>65.2</a:t>
                      </a:r>
                    </a:p>
                  </a:txBody>
                  <a:tcPr marL="85725" marR="38100" marT="19050" marB="19050" anchor="ctr">
                    <a:solidFill>
                      <a:srgbClr val="FFFFFF"/>
                    </a:solidFill>
                  </a:tcPr>
                </a:tc>
                <a:tc>
                  <a:txBody>
                    <a:bodyPr wrap="none"/>
                    <a:lstStyle/>
                    <a:p>
                      <a:pPr algn="l"/>
                      <a:r>
                        <a:rPr sz="800" b="0">
                          <a:solidFill>
                            <a:srgbClr val="2E2E2E"/>
                          </a:solidFill>
                          <a:latin typeface="Calibri"/>
                        </a:rPr>
                        <a:t>74.7</a:t>
                      </a:r>
                    </a:p>
                  </a:txBody>
                  <a:tcPr marL="85725" marR="38100" marT="19050" marB="19050" anchor="ctr">
                    <a:solidFill>
                      <a:srgbClr val="FFFFFF"/>
                    </a:solidFill>
                  </a:tcPr>
                </a:tc>
                <a:tc>
                  <a:txBody>
                    <a:bodyPr wrap="none"/>
                    <a:lstStyle/>
                    <a:p>
                      <a:pPr algn="l"/>
                      <a:r>
                        <a:rPr sz="800" b="0">
                          <a:solidFill>
                            <a:srgbClr val="2E2E2E"/>
                          </a:solidFill>
                          <a:latin typeface="Calibri"/>
                        </a:rPr>
                        <a:t>90.7</a:t>
                      </a:r>
                    </a:p>
                  </a:txBody>
                  <a:tcPr marL="85725" marR="38100" marT="19050" marB="19050" anchor="ctr">
                    <a:solidFill>
                      <a:srgbClr val="FFFFFF"/>
                    </a:solidFill>
                  </a:tcPr>
                </a:tc>
                <a:tc>
                  <a:txBody>
                    <a:bodyPr wrap="none"/>
                    <a:lstStyle/>
                    <a:p>
                      <a:pPr algn="l"/>
                      <a:r>
                        <a:rPr sz="800" b="0">
                          <a:solidFill>
                            <a:srgbClr val="2E2E2E"/>
                          </a:solidFill>
                          <a:latin typeface="Calibri"/>
                        </a:rPr>
                        <a:t>113.7</a:t>
                      </a:r>
                    </a:p>
                  </a:txBody>
                  <a:tcPr marL="85725" marR="38100" marT="19050" marB="19050" anchor="ctr">
                    <a:solidFill>
                      <a:srgbClr val="FFFFFF"/>
                    </a:solidFill>
                  </a:tcPr>
                </a:tc>
                <a:tc>
                  <a:txBody>
                    <a:bodyPr wrap="none"/>
                    <a:lstStyle/>
                    <a:p>
                      <a:pPr algn="l"/>
                      <a:r>
                        <a:rPr sz="800" b="0">
                          <a:solidFill>
                            <a:srgbClr val="2E2E2E"/>
                          </a:solidFill>
                          <a:latin typeface="Calibri"/>
                        </a:rPr>
                        <a:t>139.6</a:t>
                      </a:r>
                    </a:p>
                  </a:txBody>
                  <a:tcPr marL="85725" marR="38100" marT="19050" marB="19050" anchor="ctr">
                    <a:solidFill>
                      <a:srgbClr val="FFFFFF"/>
                    </a:solidFill>
                  </a:tcPr>
                </a:tc>
                <a:tc>
                  <a:txBody>
                    <a:bodyPr wrap="none"/>
                    <a:lstStyle/>
                    <a:p>
                      <a:pPr algn="l"/>
                      <a:r>
                        <a:rPr sz="800" b="0">
                          <a:solidFill>
                            <a:srgbClr val="2E2E2E"/>
                          </a:solidFill>
                          <a:latin typeface="Calibri"/>
                        </a:rPr>
                        <a:t>166.0</a:t>
                      </a:r>
                    </a:p>
                  </a:txBody>
                  <a:tcPr marL="85725" marR="38100" marT="19050" marB="19050" anchor="ctr">
                    <a:solidFill>
                      <a:srgbClr val="FFFFFF"/>
                    </a:solidFill>
                  </a:tcPr>
                </a:tc>
                <a:tc>
                  <a:txBody>
                    <a:bodyPr wrap="none"/>
                    <a:lstStyle/>
                    <a:p>
                      <a:pPr algn="l"/>
                      <a:r>
                        <a:rPr sz="800" b="0">
                          <a:solidFill>
                            <a:srgbClr val="2E2E2E"/>
                          </a:solidFill>
                          <a:latin typeface="Calibri"/>
                        </a:rPr>
                        <a:t>193.9</a:t>
                      </a:r>
                    </a:p>
                  </a:txBody>
                  <a:tcPr marL="85725" marR="38100" marT="19050" marB="19050" anchor="ctr">
                    <a:solidFill>
                      <a:srgbClr val="FFFFFF"/>
                    </a:solidFill>
                  </a:tcPr>
                </a:tc>
                <a:tc>
                  <a:txBody>
                    <a:bodyPr wrap="none"/>
                    <a:lstStyle/>
                    <a:p>
                      <a:pPr algn="l"/>
                      <a:r>
                        <a:rPr sz="800" b="0">
                          <a:solidFill>
                            <a:srgbClr val="2E2E2E"/>
                          </a:solidFill>
                          <a:latin typeface="Calibri"/>
                        </a:rPr>
                        <a:t>221.9</a:t>
                      </a:r>
                    </a:p>
                  </a:txBody>
                  <a:tcPr marL="85725" marR="38100" marT="19050" marB="19050" anchor="ctr">
                    <a:solidFill>
                      <a:srgbClr val="FFFFFF"/>
                    </a:solidFill>
                  </a:tcPr>
                </a:tc>
                <a:tc>
                  <a:txBody>
                    <a:bodyPr wrap="none"/>
                    <a:lstStyle/>
                    <a:p>
                      <a:pPr algn="l"/>
                      <a:r>
                        <a:rPr sz="800" b="0">
                          <a:solidFill>
                            <a:srgbClr val="2E2E2E"/>
                          </a:solidFill>
                          <a:latin typeface="Calibri"/>
                        </a:rPr>
                        <a:t>250.2</a:t>
                      </a:r>
                    </a:p>
                  </a:txBody>
                  <a:tcPr marL="85725" marR="38100" marT="19050" marB="19050" anchor="ctr">
                    <a:solidFill>
                      <a:srgbClr val="FFFFFF"/>
                    </a:solidFill>
                  </a:tcPr>
                </a:tc>
                <a:tc>
                  <a:txBody>
                    <a:bodyPr wrap="none"/>
                    <a:lstStyle/>
                    <a:p>
                      <a:pPr algn="l"/>
                      <a:r>
                        <a:rPr sz="800" b="0">
                          <a:solidFill>
                            <a:srgbClr val="2E2E2E"/>
                          </a:solidFill>
                          <a:latin typeface="Calibri"/>
                        </a:rPr>
                        <a:t>278.7</a:t>
                      </a:r>
                    </a:p>
                  </a:txBody>
                  <a:tcPr marL="85725" marR="38100" marT="19050" marB="19050" anchor="ctr">
                    <a:solidFill>
                      <a:srgbClr val="FFFFFF"/>
                    </a:solidFill>
                  </a:tcPr>
                </a:tc>
                <a:tc>
                  <a:txBody>
                    <a:bodyPr wrap="none"/>
                    <a:lstStyle/>
                    <a:p>
                      <a:pPr algn="l"/>
                      <a:r>
                        <a:rPr sz="800" b="0">
                          <a:solidFill>
                            <a:srgbClr val="2E2E2E"/>
                          </a:solidFill>
                          <a:latin typeface="Calibri"/>
                        </a:rPr>
                        <a:t>307.2</a:t>
                      </a:r>
                    </a:p>
                  </a:txBody>
                  <a:tcPr marL="85725" marR="38100" marT="19050" marB="19050" anchor="ctr">
                    <a:solidFill>
                      <a:srgbClr val="FFFFFF"/>
                    </a:solidFill>
                  </a:tcPr>
                </a:tc>
                <a:tc>
                  <a:txBody>
                    <a:bodyPr wrap="none"/>
                    <a:lstStyle/>
                    <a:p>
                      <a:pPr algn="l"/>
                      <a:r>
                        <a:rPr sz="800" b="0">
                          <a:solidFill>
                            <a:srgbClr val="2E2E2E"/>
                          </a:solidFill>
                          <a:latin typeface="Calibri"/>
                        </a:rPr>
                        <a:t>335.7</a:t>
                      </a:r>
                    </a:p>
                  </a:txBody>
                  <a:tcPr marL="85725" marR="38100" marT="19050" marB="19050" anchor="ctr">
                    <a:solidFill>
                      <a:srgbClr val="FFFFFF"/>
                    </a:solidFill>
                  </a:tcPr>
                </a:tc>
                <a:tc>
                  <a:txBody>
                    <a:bodyPr wrap="none"/>
                    <a:lstStyle/>
                    <a:p>
                      <a:pPr algn="l"/>
                      <a:r>
                        <a:rPr sz="800" b="0">
                          <a:solidFill>
                            <a:srgbClr val="2E2E2E"/>
                          </a:solidFill>
                          <a:latin typeface="Calibri"/>
                        </a:rPr>
                        <a:t>364.1</a:t>
                      </a:r>
                    </a:p>
                  </a:txBody>
                  <a:tcPr marL="85725" marR="38100" marT="19050" marB="19050" anchor="ctr">
                    <a:solidFill>
                      <a:srgbClr val="FFFFFF"/>
                    </a:solidFill>
                  </a:tcPr>
                </a:tc>
                <a:tc>
                  <a:txBody>
                    <a:bodyPr wrap="none"/>
                    <a:lstStyle/>
                    <a:p>
                      <a:pPr algn="l"/>
                      <a:r>
                        <a:rPr sz="800" b="0">
                          <a:solidFill>
                            <a:srgbClr val="2E2E2E"/>
                          </a:solidFill>
                          <a:latin typeface="Calibri"/>
                        </a:rPr>
                        <a:t>392.6</a:t>
                      </a:r>
                    </a:p>
                  </a:txBody>
                  <a:tcPr marL="85725" marR="38100" marT="19050" marB="19050" anchor="ctr">
                    <a:solidFill>
                      <a:srgbClr val="FFFFFF"/>
                    </a:solidFill>
                  </a:tcPr>
                </a:tc>
                <a:tc>
                  <a:txBody>
                    <a:bodyPr wrap="none"/>
                    <a:lstStyle/>
                    <a:p>
                      <a:pPr algn="l"/>
                      <a:r>
                        <a:rPr sz="800" b="0">
                          <a:solidFill>
                            <a:srgbClr val="2E2E2E"/>
                          </a:solidFill>
                          <a:latin typeface="Calibri"/>
                        </a:rPr>
                        <a:t>421.1</a:t>
                      </a:r>
                    </a:p>
                  </a:txBody>
                  <a:tcPr marL="85725" marR="38100" marT="19050" marB="19050" anchor="ctr">
                    <a:solidFill>
                      <a:srgbClr val="FFFFFF"/>
                    </a:solidFill>
                  </a:tcPr>
                </a:tc>
                <a:tc>
                  <a:txBody>
                    <a:bodyPr wrap="none"/>
                    <a:lstStyle/>
                    <a:p>
                      <a:pPr algn="l"/>
                      <a:r>
                        <a:rPr sz="800" b="0">
                          <a:solidFill>
                            <a:srgbClr val="2E2E2E"/>
                          </a:solidFill>
                          <a:latin typeface="Calibri"/>
                        </a:rPr>
                        <a:t>449.9</a:t>
                      </a:r>
                    </a:p>
                  </a:txBody>
                  <a:tcPr marL="85725" marR="38100" marT="19050" marB="19050" anchor="ctr">
                    <a:solidFill>
                      <a:srgbClr val="FFFFFF"/>
                    </a:solidFill>
                  </a:tcPr>
                </a:tc>
                <a:tc>
                  <a:txBody>
                    <a:bodyPr wrap="none"/>
                    <a:lstStyle/>
                    <a:p>
                      <a:pPr algn="l"/>
                      <a:r>
                        <a:rPr sz="800" b="0">
                          <a:solidFill>
                            <a:srgbClr val="2E2E2E"/>
                          </a:solidFill>
                          <a:latin typeface="Calibri"/>
                        </a:rPr>
                        <a:t>10.5%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Simlandi</a:t>
                      </a:r>
                    </a:p>
                  </a:txBody>
                  <a:tcPr marL="85725" marR="38100" marT="19050" marB="19050" anchor="ctr">
                    <a:solidFill>
                      <a:srgbClr val="F5F8FA"/>
                    </a:solidFill>
                  </a:tcPr>
                </a:tc>
                <a:tc>
                  <a:txBody>
                    <a:bodyPr wrap="none"/>
                    <a:lstStyle/>
                    <a:p>
                      <a:pPr algn="l"/>
                      <a:r>
                        <a:rPr sz="800" b="0">
                          <a:solidFill>
                            <a:srgbClr val="2E2E2E"/>
                          </a:solidFill>
                          <a:latin typeface="Calibri"/>
                        </a:rPr>
                        <a:t>58.3</a:t>
                      </a:r>
                    </a:p>
                  </a:txBody>
                  <a:tcPr marL="85725" marR="38100" marT="19050" marB="19050" anchor="ctr">
                    <a:solidFill>
                      <a:srgbClr val="F5F8FA"/>
                    </a:solidFill>
                  </a:tcPr>
                </a:tc>
                <a:tc>
                  <a:txBody>
                    <a:bodyPr wrap="none"/>
                    <a:lstStyle/>
                    <a:p>
                      <a:pPr algn="l"/>
                      <a:r>
                        <a:rPr sz="800" b="0">
                          <a:solidFill>
                            <a:srgbClr val="2E2E2E"/>
                          </a:solidFill>
                          <a:latin typeface="Calibri"/>
                        </a:rPr>
                        <a:t>64.8</a:t>
                      </a:r>
                    </a:p>
                  </a:txBody>
                  <a:tcPr marL="85725" marR="38100" marT="19050" marB="19050" anchor="ctr">
                    <a:solidFill>
                      <a:srgbClr val="F5F8FA"/>
                    </a:solidFill>
                  </a:tcPr>
                </a:tc>
                <a:tc>
                  <a:txBody>
                    <a:bodyPr wrap="none"/>
                    <a:lstStyle/>
                    <a:p>
                      <a:pPr algn="l"/>
                      <a:r>
                        <a:rPr sz="800" b="0">
                          <a:solidFill>
                            <a:srgbClr val="2E2E2E"/>
                          </a:solidFill>
                          <a:latin typeface="Calibri"/>
                        </a:rPr>
                        <a:t>76.4</a:t>
                      </a:r>
                    </a:p>
                  </a:txBody>
                  <a:tcPr marL="85725" marR="38100" marT="19050" marB="19050" anchor="ctr">
                    <a:solidFill>
                      <a:srgbClr val="F5F8FA"/>
                    </a:solidFill>
                  </a:tcPr>
                </a:tc>
                <a:tc>
                  <a:txBody>
                    <a:bodyPr wrap="none"/>
                    <a:lstStyle/>
                    <a:p>
                      <a:pPr algn="l"/>
                      <a:r>
                        <a:rPr sz="800" b="0">
                          <a:solidFill>
                            <a:srgbClr val="2E2E2E"/>
                          </a:solidFill>
                          <a:latin typeface="Calibri"/>
                        </a:rPr>
                        <a:t>93.0</a:t>
                      </a:r>
                    </a:p>
                  </a:txBody>
                  <a:tcPr marL="85725" marR="38100" marT="19050" marB="19050" anchor="ctr">
                    <a:solidFill>
                      <a:srgbClr val="F5F8FA"/>
                    </a:solidFill>
                  </a:tcPr>
                </a:tc>
                <a:tc>
                  <a:txBody>
                    <a:bodyPr wrap="none"/>
                    <a:lstStyle/>
                    <a:p>
                      <a:pPr algn="l"/>
                      <a:r>
                        <a:rPr sz="800" b="0">
                          <a:solidFill>
                            <a:srgbClr val="2E2E2E"/>
                          </a:solidFill>
                          <a:latin typeface="Calibri"/>
                        </a:rPr>
                        <a:t>110.7</a:t>
                      </a:r>
                    </a:p>
                  </a:txBody>
                  <a:tcPr marL="85725" marR="38100" marT="19050" marB="19050" anchor="ctr">
                    <a:solidFill>
                      <a:srgbClr val="F5F8FA"/>
                    </a:solidFill>
                  </a:tcPr>
                </a:tc>
                <a:tc>
                  <a:txBody>
                    <a:bodyPr wrap="none"/>
                    <a:lstStyle/>
                    <a:p>
                      <a:pPr algn="l"/>
                      <a:r>
                        <a:rPr sz="800" b="0">
                          <a:solidFill>
                            <a:srgbClr val="2E2E2E"/>
                          </a:solidFill>
                          <a:latin typeface="Calibri"/>
                        </a:rPr>
                        <a:t>127.9</a:t>
                      </a:r>
                    </a:p>
                  </a:txBody>
                  <a:tcPr marL="85725" marR="38100" marT="19050" marB="19050" anchor="ctr">
                    <a:solidFill>
                      <a:srgbClr val="F5F8FA"/>
                    </a:solidFill>
                  </a:tcPr>
                </a:tc>
                <a:tc>
                  <a:txBody>
                    <a:bodyPr wrap="none"/>
                    <a:lstStyle/>
                    <a:p>
                      <a:pPr algn="l"/>
                      <a:r>
                        <a:rPr sz="800" b="0">
                          <a:solidFill>
                            <a:srgbClr val="2E2E2E"/>
                          </a:solidFill>
                          <a:latin typeface="Calibri"/>
                        </a:rPr>
                        <a:t>145.0</a:t>
                      </a:r>
                    </a:p>
                  </a:txBody>
                  <a:tcPr marL="85725" marR="38100" marT="19050" marB="19050" anchor="ctr">
                    <a:solidFill>
                      <a:srgbClr val="F5F8FA"/>
                    </a:solidFill>
                  </a:tcPr>
                </a:tc>
                <a:tc>
                  <a:txBody>
                    <a:bodyPr wrap="none"/>
                    <a:lstStyle/>
                    <a:p>
                      <a:pPr algn="l"/>
                      <a:r>
                        <a:rPr sz="800" b="0">
                          <a:solidFill>
                            <a:srgbClr val="2E2E2E"/>
                          </a:solidFill>
                          <a:latin typeface="Calibri"/>
                        </a:rPr>
                        <a:t>161.0</a:t>
                      </a:r>
                    </a:p>
                  </a:txBody>
                  <a:tcPr marL="85725" marR="38100" marT="19050" marB="19050" anchor="ctr">
                    <a:solidFill>
                      <a:srgbClr val="F5F8FA"/>
                    </a:solidFill>
                  </a:tcPr>
                </a:tc>
                <a:tc>
                  <a:txBody>
                    <a:bodyPr wrap="none"/>
                    <a:lstStyle/>
                    <a:p>
                      <a:pPr algn="l"/>
                      <a:r>
                        <a:rPr sz="800" b="0">
                          <a:solidFill>
                            <a:srgbClr val="2E2E2E"/>
                          </a:solidFill>
                          <a:latin typeface="Calibri"/>
                        </a:rPr>
                        <a:t>176.1</a:t>
                      </a:r>
                    </a:p>
                  </a:txBody>
                  <a:tcPr marL="85725" marR="38100" marT="19050" marB="19050" anchor="ctr">
                    <a:solidFill>
                      <a:srgbClr val="F5F8FA"/>
                    </a:solidFill>
                  </a:tcPr>
                </a:tc>
                <a:tc>
                  <a:txBody>
                    <a:bodyPr wrap="none"/>
                    <a:lstStyle/>
                    <a:p>
                      <a:pPr algn="l"/>
                      <a:r>
                        <a:rPr sz="800" b="0">
                          <a:solidFill>
                            <a:srgbClr val="2E2E2E"/>
                          </a:solidFill>
                          <a:latin typeface="Calibri"/>
                        </a:rPr>
                        <a:t>190.4</a:t>
                      </a:r>
                    </a:p>
                  </a:txBody>
                  <a:tcPr marL="85725" marR="38100" marT="19050" marB="19050" anchor="ctr">
                    <a:solidFill>
                      <a:srgbClr val="F5F8FA"/>
                    </a:solidFill>
                  </a:tcPr>
                </a:tc>
                <a:tc>
                  <a:txBody>
                    <a:bodyPr wrap="none"/>
                    <a:lstStyle/>
                    <a:p>
                      <a:pPr algn="l"/>
                      <a:r>
                        <a:rPr sz="800" b="0">
                          <a:solidFill>
                            <a:srgbClr val="2E2E2E"/>
                          </a:solidFill>
                          <a:latin typeface="Calibri"/>
                        </a:rPr>
                        <a:t>203.8</a:t>
                      </a:r>
                    </a:p>
                  </a:txBody>
                  <a:tcPr marL="85725" marR="38100" marT="19050" marB="19050" anchor="ctr">
                    <a:solidFill>
                      <a:srgbClr val="F5F8FA"/>
                    </a:solidFill>
                  </a:tcPr>
                </a:tc>
                <a:tc>
                  <a:txBody>
                    <a:bodyPr wrap="none"/>
                    <a:lstStyle/>
                    <a:p>
                      <a:pPr algn="l"/>
                      <a:r>
                        <a:rPr sz="800" b="0">
                          <a:solidFill>
                            <a:srgbClr val="2E2E2E"/>
                          </a:solidFill>
                          <a:latin typeface="Calibri"/>
                        </a:rPr>
                        <a:t>216.1</a:t>
                      </a:r>
                    </a:p>
                  </a:txBody>
                  <a:tcPr marL="85725" marR="38100" marT="19050" marB="19050" anchor="ctr">
                    <a:solidFill>
                      <a:srgbClr val="F5F8FA"/>
                    </a:solidFill>
                  </a:tcPr>
                </a:tc>
                <a:tc>
                  <a:txBody>
                    <a:bodyPr wrap="none"/>
                    <a:lstStyle/>
                    <a:p>
                      <a:pPr algn="l"/>
                      <a:r>
                        <a:rPr sz="800" b="0">
                          <a:solidFill>
                            <a:srgbClr val="2E2E2E"/>
                          </a:solidFill>
                          <a:latin typeface="Calibri"/>
                        </a:rPr>
                        <a:t>227.5</a:t>
                      </a:r>
                    </a:p>
                  </a:txBody>
                  <a:tcPr marL="85725" marR="38100" marT="19050" marB="19050" anchor="ctr">
                    <a:solidFill>
                      <a:srgbClr val="F5F8FA"/>
                    </a:solidFill>
                  </a:tcPr>
                </a:tc>
                <a:tc>
                  <a:txBody>
                    <a:bodyPr wrap="none"/>
                    <a:lstStyle/>
                    <a:p>
                      <a:pPr algn="l"/>
                      <a:r>
                        <a:rPr sz="800" b="0">
                          <a:solidFill>
                            <a:srgbClr val="2E2E2E"/>
                          </a:solidFill>
                          <a:latin typeface="Calibri"/>
                        </a:rPr>
                        <a:t>238.1</a:t>
                      </a:r>
                    </a:p>
                  </a:txBody>
                  <a:tcPr marL="85725" marR="38100" marT="19050" marB="19050" anchor="ctr">
                    <a:solidFill>
                      <a:srgbClr val="F5F8FA"/>
                    </a:solidFill>
                  </a:tcPr>
                </a:tc>
                <a:tc>
                  <a:txBody>
                    <a:bodyPr wrap="none"/>
                    <a:lstStyle/>
                    <a:p>
                      <a:pPr algn="l"/>
                      <a:r>
                        <a:rPr sz="800" b="0">
                          <a:solidFill>
                            <a:srgbClr val="2E2E2E"/>
                          </a:solidFill>
                          <a:latin typeface="Calibri"/>
                        </a:rPr>
                        <a:t>247.9</a:t>
                      </a:r>
                    </a:p>
                  </a:txBody>
                  <a:tcPr marL="85725" marR="38100" marT="19050" marB="19050" anchor="ctr">
                    <a:solidFill>
                      <a:srgbClr val="F5F8FA"/>
                    </a:solidFill>
                  </a:tcPr>
                </a:tc>
                <a:tc>
                  <a:txBody>
                    <a:bodyPr wrap="none"/>
                    <a:lstStyle/>
                    <a:p>
                      <a:pPr algn="l"/>
                      <a:r>
                        <a:rPr sz="800" b="0">
                          <a:solidFill>
                            <a:srgbClr val="2E2E2E"/>
                          </a:solidFill>
                          <a:latin typeface="Calibri"/>
                        </a:rPr>
                        <a:t>257.0</a:t>
                      </a:r>
                    </a:p>
                  </a:txBody>
                  <a:tcPr marL="85725" marR="38100" marT="19050" marB="19050" anchor="ctr">
                    <a:solidFill>
                      <a:srgbClr val="F5F8FA"/>
                    </a:solidFill>
                  </a:tcPr>
                </a:tc>
                <a:tc>
                  <a:txBody>
                    <a:bodyPr wrap="none"/>
                    <a:lstStyle/>
                    <a:p>
                      <a:pPr algn="l"/>
                      <a:r>
                        <a:rPr sz="800" b="0">
                          <a:solidFill>
                            <a:srgbClr val="2E2E2E"/>
                          </a:solidFill>
                          <a:latin typeface="Calibri"/>
                        </a:rPr>
                        <a:t>7.2%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800" b="0">
                          <a:solidFill>
                            <a:srgbClr val="2E2E2E"/>
                          </a:solidFill>
                          <a:latin typeface="Calibri"/>
                        </a:rPr>
                        <a:t>53.3</a:t>
                      </a:r>
                    </a:p>
                  </a:txBody>
                  <a:tcPr marL="85725" marR="38100" marT="19050" marB="19050" anchor="ctr">
                    <a:solidFill>
                      <a:srgbClr val="FFFFFF"/>
                    </a:solidFill>
                  </a:tcPr>
                </a:tc>
                <a:tc>
                  <a:txBody>
                    <a:bodyPr wrap="none"/>
                    <a:lstStyle/>
                    <a:p>
                      <a:pPr algn="l"/>
                      <a:r>
                        <a:rPr sz="800" b="0">
                          <a:solidFill>
                            <a:srgbClr val="2E2E2E"/>
                          </a:solidFill>
                          <a:latin typeface="Calibri"/>
                        </a:rPr>
                        <a:t>60.3</a:t>
                      </a:r>
                    </a:p>
                  </a:txBody>
                  <a:tcPr marL="85725" marR="38100" marT="19050" marB="19050" anchor="ctr">
                    <a:solidFill>
                      <a:srgbClr val="FFFFFF"/>
                    </a:solidFill>
                  </a:tcPr>
                </a:tc>
                <a:tc>
                  <a:txBody>
                    <a:bodyPr wrap="none"/>
                    <a:lstStyle/>
                    <a:p>
                      <a:pPr algn="l"/>
                      <a:r>
                        <a:rPr sz="800" b="0">
                          <a:solidFill>
                            <a:srgbClr val="2E2E2E"/>
                          </a:solidFill>
                          <a:latin typeface="Calibri"/>
                        </a:rPr>
                        <a:t>72.4</a:t>
                      </a:r>
                    </a:p>
                  </a:txBody>
                  <a:tcPr marL="85725" marR="38100" marT="19050" marB="19050" anchor="ctr">
                    <a:solidFill>
                      <a:srgbClr val="FFFFFF"/>
                    </a:solidFill>
                  </a:tcPr>
                </a:tc>
                <a:tc>
                  <a:txBody>
                    <a:bodyPr wrap="none"/>
                    <a:lstStyle/>
                    <a:p>
                      <a:pPr algn="l"/>
                      <a:r>
                        <a:rPr sz="800" b="0">
                          <a:solidFill>
                            <a:srgbClr val="2E2E2E"/>
                          </a:solidFill>
                          <a:latin typeface="Calibri"/>
                        </a:rPr>
                        <a:t>89.7</a:t>
                      </a:r>
                    </a:p>
                  </a:txBody>
                  <a:tcPr marL="85725" marR="38100" marT="19050" marB="19050" anchor="ctr">
                    <a:solidFill>
                      <a:srgbClr val="FFFFFF"/>
                    </a:solidFill>
                  </a:tcPr>
                </a:tc>
                <a:tc>
                  <a:txBody>
                    <a:bodyPr wrap="none"/>
                    <a:lstStyle/>
                    <a:p>
                      <a:pPr algn="l"/>
                      <a:r>
                        <a:rPr sz="800" b="0">
                          <a:solidFill>
                            <a:srgbClr val="2E2E2E"/>
                          </a:solidFill>
                          <a:latin typeface="Calibri"/>
                        </a:rPr>
                        <a:t>108.6</a:t>
                      </a:r>
                    </a:p>
                  </a:txBody>
                  <a:tcPr marL="85725" marR="38100" marT="19050" marB="19050" anchor="ctr">
                    <a:solidFill>
                      <a:srgbClr val="FFFFFF"/>
                    </a:solidFill>
                  </a:tcPr>
                </a:tc>
                <a:tc>
                  <a:txBody>
                    <a:bodyPr wrap="none"/>
                    <a:lstStyle/>
                    <a:p>
                      <a:pPr algn="l"/>
                      <a:r>
                        <a:rPr sz="800" b="0">
                          <a:solidFill>
                            <a:srgbClr val="2E2E2E"/>
                          </a:solidFill>
                          <a:latin typeface="Calibri"/>
                        </a:rPr>
                        <a:t>127.7</a:t>
                      </a:r>
                    </a:p>
                  </a:txBody>
                  <a:tcPr marL="85725" marR="38100" marT="19050" marB="19050" anchor="ctr">
                    <a:solidFill>
                      <a:srgbClr val="FFFFFF"/>
                    </a:solidFill>
                  </a:tcPr>
                </a:tc>
                <a:tc>
                  <a:txBody>
                    <a:bodyPr wrap="none"/>
                    <a:lstStyle/>
                    <a:p>
                      <a:pPr algn="l"/>
                      <a:r>
                        <a:rPr sz="800" b="0">
                          <a:solidFill>
                            <a:srgbClr val="2E2E2E"/>
                          </a:solidFill>
                          <a:latin typeface="Calibri"/>
                        </a:rPr>
                        <a:t>147.3</a:t>
                      </a:r>
                    </a:p>
                  </a:txBody>
                  <a:tcPr marL="85725" marR="38100" marT="19050" marB="19050" anchor="ctr">
                    <a:solidFill>
                      <a:srgbClr val="FFFFFF"/>
                    </a:solidFill>
                  </a:tcPr>
                </a:tc>
                <a:tc>
                  <a:txBody>
                    <a:bodyPr wrap="none"/>
                    <a:lstStyle/>
                    <a:p>
                      <a:pPr algn="l"/>
                      <a:r>
                        <a:rPr sz="800" b="0">
                          <a:solidFill>
                            <a:srgbClr val="2E2E2E"/>
                          </a:solidFill>
                          <a:latin typeface="Calibri"/>
                        </a:rPr>
                        <a:t>166.4</a:t>
                      </a:r>
                    </a:p>
                  </a:txBody>
                  <a:tcPr marL="85725" marR="38100" marT="19050" marB="19050" anchor="ctr">
                    <a:solidFill>
                      <a:srgbClr val="FFFFFF"/>
                    </a:solidFill>
                  </a:tcPr>
                </a:tc>
                <a:tc>
                  <a:txBody>
                    <a:bodyPr wrap="none"/>
                    <a:lstStyle/>
                    <a:p>
                      <a:pPr algn="l"/>
                      <a:r>
                        <a:rPr sz="800" b="0">
                          <a:solidFill>
                            <a:srgbClr val="2E2E2E"/>
                          </a:solidFill>
                          <a:latin typeface="Calibri"/>
                        </a:rPr>
                        <a:t>185.3</a:t>
                      </a:r>
                    </a:p>
                  </a:txBody>
                  <a:tcPr marL="85725" marR="38100" marT="19050" marB="19050" anchor="ctr">
                    <a:solidFill>
                      <a:srgbClr val="FFFFFF"/>
                    </a:solidFill>
                  </a:tcPr>
                </a:tc>
                <a:tc>
                  <a:txBody>
                    <a:bodyPr wrap="none"/>
                    <a:lstStyle/>
                    <a:p>
                      <a:pPr algn="l"/>
                      <a:r>
                        <a:rPr sz="800" b="0">
                          <a:solidFill>
                            <a:srgbClr val="2E2E2E"/>
                          </a:solidFill>
                          <a:latin typeface="Calibri"/>
                        </a:rPr>
                        <a:t>203.9</a:t>
                      </a:r>
                    </a:p>
                  </a:txBody>
                  <a:tcPr marL="85725" marR="38100" marT="19050" marB="19050" anchor="ctr">
                    <a:solidFill>
                      <a:srgbClr val="FFFFFF"/>
                    </a:solidFill>
                  </a:tcPr>
                </a:tc>
                <a:tc>
                  <a:txBody>
                    <a:bodyPr wrap="none"/>
                    <a:lstStyle/>
                    <a:p>
                      <a:pPr algn="l"/>
                      <a:r>
                        <a:rPr sz="800" b="0">
                          <a:solidFill>
                            <a:srgbClr val="2E2E2E"/>
                          </a:solidFill>
                          <a:latin typeface="Calibri"/>
                        </a:rPr>
                        <a:t>222.0</a:t>
                      </a:r>
                    </a:p>
                  </a:txBody>
                  <a:tcPr marL="85725" marR="38100" marT="19050" marB="19050" anchor="ctr">
                    <a:solidFill>
                      <a:srgbClr val="FFFFFF"/>
                    </a:solidFill>
                  </a:tcPr>
                </a:tc>
                <a:tc>
                  <a:txBody>
                    <a:bodyPr wrap="none"/>
                    <a:lstStyle/>
                    <a:p>
                      <a:pPr algn="l"/>
                      <a:r>
                        <a:rPr sz="800" b="0">
                          <a:solidFill>
                            <a:srgbClr val="2E2E2E"/>
                          </a:solidFill>
                          <a:latin typeface="Calibri"/>
                        </a:rPr>
                        <a:t>239.7</a:t>
                      </a:r>
                    </a:p>
                  </a:txBody>
                  <a:tcPr marL="85725" marR="38100" marT="19050" marB="19050" anchor="ctr">
                    <a:solidFill>
                      <a:srgbClr val="FFFFFF"/>
                    </a:solidFill>
                  </a:tcPr>
                </a:tc>
                <a:tc>
                  <a:txBody>
                    <a:bodyPr wrap="none"/>
                    <a:lstStyle/>
                    <a:p>
                      <a:pPr algn="l"/>
                      <a:r>
                        <a:rPr sz="800" b="0">
                          <a:solidFill>
                            <a:srgbClr val="2E2E2E"/>
                          </a:solidFill>
                          <a:latin typeface="Calibri"/>
                        </a:rPr>
                        <a:t>256.7</a:t>
                      </a:r>
                    </a:p>
                  </a:txBody>
                  <a:tcPr marL="85725" marR="38100" marT="19050" marB="19050" anchor="ctr">
                    <a:solidFill>
                      <a:srgbClr val="FFFFFF"/>
                    </a:solidFill>
                  </a:tcPr>
                </a:tc>
                <a:tc>
                  <a:txBody>
                    <a:bodyPr wrap="none"/>
                    <a:lstStyle/>
                    <a:p>
                      <a:pPr algn="l"/>
                      <a:r>
                        <a:rPr sz="800" b="0">
                          <a:solidFill>
                            <a:srgbClr val="2E2E2E"/>
                          </a:solidFill>
                          <a:latin typeface="Calibri"/>
                        </a:rPr>
                        <a:t>273.4</a:t>
                      </a:r>
                    </a:p>
                  </a:txBody>
                  <a:tcPr marL="85725" marR="38100" marT="19050" marB="19050" anchor="ctr">
                    <a:solidFill>
                      <a:srgbClr val="FFFFFF"/>
                    </a:solidFill>
                  </a:tcPr>
                </a:tc>
                <a:tc>
                  <a:txBody>
                    <a:bodyPr wrap="none"/>
                    <a:lstStyle/>
                    <a:p>
                      <a:pPr algn="l"/>
                      <a:r>
                        <a:rPr sz="800" b="0">
                          <a:solidFill>
                            <a:srgbClr val="2E2E2E"/>
                          </a:solidFill>
                          <a:latin typeface="Calibri"/>
                        </a:rPr>
                        <a:t>289.7</a:t>
                      </a:r>
                    </a:p>
                  </a:txBody>
                  <a:tcPr marL="85725" marR="38100" marT="19050" marB="19050" anchor="ctr">
                    <a:solidFill>
                      <a:srgbClr val="FFFFFF"/>
                    </a:solidFill>
                  </a:tcPr>
                </a:tc>
                <a:tc>
                  <a:txBody>
                    <a:bodyPr wrap="none"/>
                    <a:lstStyle/>
                    <a:p>
                      <a:pPr algn="l"/>
                      <a:r>
                        <a:rPr sz="800" b="0">
                          <a:solidFill>
                            <a:srgbClr val="2E2E2E"/>
                          </a:solidFill>
                          <a:latin typeface="Calibri"/>
                        </a:rPr>
                        <a:t>305.7</a:t>
                      </a:r>
                    </a:p>
                  </a:txBody>
                  <a:tcPr marL="85725" marR="38100" marT="19050" marB="19050" anchor="ctr">
                    <a:solidFill>
                      <a:srgbClr val="FFFFFF"/>
                    </a:solidFill>
                  </a:tcPr>
                </a:tc>
                <a:tc>
                  <a:txBody>
                    <a:bodyPr wrap="none"/>
                    <a:lstStyle/>
                    <a:p>
                      <a:pPr algn="l"/>
                      <a:r>
                        <a:rPr sz="800" b="0">
                          <a:solidFill>
                            <a:srgbClr val="2E2E2E"/>
                          </a:solidFill>
                          <a:latin typeface="Calibri"/>
                        </a:rPr>
                        <a:t>9.1%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611.7</a:t>
                      </a:r>
                    </a:p>
                  </a:txBody>
                  <a:tcPr marL="85725" marR="38100" marT="19050" marB="19050" anchor="ctr">
                    <a:solidFill>
                      <a:srgbClr val="E0E8EF"/>
                    </a:solidFill>
                  </a:tcPr>
                </a:tc>
                <a:tc>
                  <a:txBody>
                    <a:bodyPr wrap="none"/>
                    <a:lstStyle/>
                    <a:p>
                      <a:pPr algn="l"/>
                      <a:r>
                        <a:rPr sz="800" b="1">
                          <a:solidFill>
                            <a:srgbClr val="2E2E2E"/>
                          </a:solidFill>
                          <a:latin typeface="Calibri"/>
                        </a:rPr>
                        <a:t>690.9</a:t>
                      </a:r>
                    </a:p>
                  </a:txBody>
                  <a:tcPr marL="85725" marR="38100" marT="19050" marB="19050" anchor="ctr">
                    <a:solidFill>
                      <a:srgbClr val="E0E8EF"/>
                    </a:solidFill>
                  </a:tcPr>
                </a:tc>
                <a:tc>
                  <a:txBody>
                    <a:bodyPr wrap="none"/>
                    <a:lstStyle/>
                    <a:p>
                      <a:pPr algn="l"/>
                      <a:r>
                        <a:rPr sz="800" b="1">
                          <a:solidFill>
                            <a:srgbClr val="2E2E2E"/>
                          </a:solidFill>
                          <a:latin typeface="Calibri"/>
                        </a:rPr>
                        <a:t>827.8</a:t>
                      </a:r>
                    </a:p>
                  </a:txBody>
                  <a:tcPr marL="85725" marR="38100" marT="19050" marB="19050" anchor="ctr">
                    <a:solidFill>
                      <a:srgbClr val="E0E8EF"/>
                    </a:solidFill>
                  </a:tcPr>
                </a:tc>
                <a:tc>
                  <a:txBody>
                    <a:bodyPr wrap="none"/>
                    <a:lstStyle/>
                    <a:p>
                      <a:pPr algn="l"/>
                      <a:r>
                        <a:rPr sz="800" b="1">
                          <a:solidFill>
                            <a:srgbClr val="2E2E2E"/>
                          </a:solidFill>
                          <a:latin typeface="Calibri"/>
                        </a:rPr>
                        <a:t>1,023</a:t>
                      </a:r>
                    </a:p>
                  </a:txBody>
                  <a:tcPr marL="85725" marR="38100" marT="19050" marB="19050" anchor="ctr">
                    <a:solidFill>
                      <a:srgbClr val="E0E8EF"/>
                    </a:solidFill>
                  </a:tcPr>
                </a:tc>
                <a:tc>
                  <a:txBody>
                    <a:bodyPr wrap="none"/>
                    <a:lstStyle/>
                    <a:p>
                      <a:pPr algn="l"/>
                      <a:r>
                        <a:rPr sz="800" b="1">
                          <a:solidFill>
                            <a:srgbClr val="2E2E2E"/>
                          </a:solidFill>
                          <a:latin typeface="Calibri"/>
                        </a:rPr>
                        <a:t>1,238</a:t>
                      </a:r>
                    </a:p>
                  </a:txBody>
                  <a:tcPr marL="85725" marR="38100" marT="19050" marB="19050" anchor="ctr">
                    <a:solidFill>
                      <a:srgbClr val="E0E8EF"/>
                    </a:solidFill>
                  </a:tcPr>
                </a:tc>
                <a:tc>
                  <a:txBody>
                    <a:bodyPr wrap="none"/>
                    <a:lstStyle/>
                    <a:p>
                      <a:pPr algn="l"/>
                      <a:r>
                        <a:rPr sz="800" b="1">
                          <a:solidFill>
                            <a:srgbClr val="2E2E2E"/>
                          </a:solidFill>
                          <a:latin typeface="Calibri"/>
                        </a:rPr>
                        <a:t>1,453</a:t>
                      </a:r>
                    </a:p>
                  </a:txBody>
                  <a:tcPr marL="85725" marR="38100" marT="19050" marB="19050" anchor="ctr">
                    <a:solidFill>
                      <a:srgbClr val="E0E8EF"/>
                    </a:solidFill>
                  </a:tcPr>
                </a:tc>
                <a:tc>
                  <a:txBody>
                    <a:bodyPr wrap="none"/>
                    <a:lstStyle/>
                    <a:p>
                      <a:pPr algn="l"/>
                      <a:r>
                        <a:rPr sz="800" b="1">
                          <a:solidFill>
                            <a:srgbClr val="2E2E2E"/>
                          </a:solidFill>
                          <a:latin typeface="Calibri"/>
                        </a:rPr>
                        <a:t>1,674</a:t>
                      </a:r>
                    </a:p>
                  </a:txBody>
                  <a:tcPr marL="85725" marR="38100" marT="19050" marB="19050" anchor="ctr">
                    <a:solidFill>
                      <a:srgbClr val="E0E8EF"/>
                    </a:solidFill>
                  </a:tcPr>
                </a:tc>
                <a:tc>
                  <a:txBody>
                    <a:bodyPr wrap="none"/>
                    <a:lstStyle/>
                    <a:p>
                      <a:pPr algn="l"/>
                      <a:r>
                        <a:rPr sz="800" b="1">
                          <a:solidFill>
                            <a:srgbClr val="2E2E2E"/>
                          </a:solidFill>
                          <a:latin typeface="Calibri"/>
                        </a:rPr>
                        <a:t>1,889</a:t>
                      </a:r>
                    </a:p>
                  </a:txBody>
                  <a:tcPr marL="85725" marR="38100" marT="19050" marB="19050" anchor="ctr">
                    <a:solidFill>
                      <a:srgbClr val="E0E8EF"/>
                    </a:solidFill>
                  </a:tcPr>
                </a:tc>
                <a:tc>
                  <a:txBody>
                    <a:bodyPr wrap="none"/>
                    <a:lstStyle/>
                    <a:p>
                      <a:pPr algn="l"/>
                      <a:r>
                        <a:rPr sz="800" b="1">
                          <a:solidFill>
                            <a:srgbClr val="2E2E2E"/>
                          </a:solidFill>
                          <a:latin typeface="Calibri"/>
                        </a:rPr>
                        <a:t>2,101</a:t>
                      </a:r>
                    </a:p>
                  </a:txBody>
                  <a:tcPr marL="85725" marR="38100" marT="19050" marB="19050" anchor="ctr">
                    <a:solidFill>
                      <a:srgbClr val="E0E8EF"/>
                    </a:solidFill>
                  </a:tcPr>
                </a:tc>
                <a:tc>
                  <a:txBody>
                    <a:bodyPr wrap="none"/>
                    <a:lstStyle/>
                    <a:p>
                      <a:pPr algn="l"/>
                      <a:r>
                        <a:rPr sz="800" b="1">
                          <a:solidFill>
                            <a:srgbClr val="2E2E2E"/>
                          </a:solidFill>
                          <a:latin typeface="Calibri"/>
                        </a:rPr>
                        <a:t>2,309</a:t>
                      </a:r>
                    </a:p>
                  </a:txBody>
                  <a:tcPr marL="85725" marR="38100" marT="19050" marB="19050" anchor="ctr">
                    <a:solidFill>
                      <a:srgbClr val="E0E8EF"/>
                    </a:solidFill>
                  </a:tcPr>
                </a:tc>
                <a:tc>
                  <a:txBody>
                    <a:bodyPr wrap="none"/>
                    <a:lstStyle/>
                    <a:p>
                      <a:pPr algn="l"/>
                      <a:r>
                        <a:rPr sz="800" b="1">
                          <a:solidFill>
                            <a:srgbClr val="2E2E2E"/>
                          </a:solidFill>
                          <a:latin typeface="Calibri"/>
                        </a:rPr>
                        <a:t>2,512</a:t>
                      </a:r>
                    </a:p>
                  </a:txBody>
                  <a:tcPr marL="85725" marR="38100" marT="19050" marB="19050" anchor="ctr">
                    <a:solidFill>
                      <a:srgbClr val="E0E8EF"/>
                    </a:solidFill>
                  </a:tcPr>
                </a:tc>
                <a:tc>
                  <a:txBody>
                    <a:bodyPr wrap="none"/>
                    <a:lstStyle/>
                    <a:p>
                      <a:pPr algn="l"/>
                      <a:r>
                        <a:rPr sz="800" b="1">
                          <a:solidFill>
                            <a:srgbClr val="2E2E2E"/>
                          </a:solidFill>
                          <a:latin typeface="Calibri"/>
                        </a:rPr>
                        <a:t>2,709</a:t>
                      </a:r>
                    </a:p>
                  </a:txBody>
                  <a:tcPr marL="85725" marR="38100" marT="19050" marB="19050" anchor="ctr">
                    <a:solidFill>
                      <a:srgbClr val="E0E8EF"/>
                    </a:solidFill>
                  </a:tcPr>
                </a:tc>
                <a:tc>
                  <a:txBody>
                    <a:bodyPr wrap="none"/>
                    <a:lstStyle/>
                    <a:p>
                      <a:pPr algn="l"/>
                      <a:r>
                        <a:rPr sz="800" b="1">
                          <a:solidFill>
                            <a:srgbClr val="2E2E2E"/>
                          </a:solidFill>
                          <a:latin typeface="Calibri"/>
                        </a:rPr>
                        <a:t>2,900</a:t>
                      </a:r>
                    </a:p>
                  </a:txBody>
                  <a:tcPr marL="85725" marR="38100" marT="19050" marB="19050" anchor="ctr">
                    <a:solidFill>
                      <a:srgbClr val="E0E8EF"/>
                    </a:solidFill>
                  </a:tcPr>
                </a:tc>
                <a:tc>
                  <a:txBody>
                    <a:bodyPr wrap="none"/>
                    <a:lstStyle/>
                    <a:p>
                      <a:pPr algn="l"/>
                      <a:r>
                        <a:rPr sz="800" b="1">
                          <a:solidFill>
                            <a:srgbClr val="2E2E2E"/>
                          </a:solidFill>
                          <a:latin typeface="Calibri"/>
                        </a:rPr>
                        <a:t>3,086</a:t>
                      </a:r>
                    </a:p>
                  </a:txBody>
                  <a:tcPr marL="85725" marR="38100" marT="19050" marB="19050" anchor="ctr">
                    <a:solidFill>
                      <a:srgbClr val="E0E8EF"/>
                    </a:solidFill>
                  </a:tcPr>
                </a:tc>
                <a:tc>
                  <a:txBody>
                    <a:bodyPr wrap="none"/>
                    <a:lstStyle/>
                    <a:p>
                      <a:pPr algn="l"/>
                      <a:r>
                        <a:rPr sz="800" b="1">
                          <a:solidFill>
                            <a:srgbClr val="2E2E2E"/>
                          </a:solidFill>
                          <a:latin typeface="Calibri"/>
                        </a:rPr>
                        <a:t>3,268</a:t>
                      </a:r>
                    </a:p>
                  </a:txBody>
                  <a:tcPr marL="85725" marR="38100" marT="19050" marB="19050" anchor="ctr">
                    <a:solidFill>
                      <a:srgbClr val="E0E8EF"/>
                    </a:solidFill>
                  </a:tcPr>
                </a:tc>
                <a:tc>
                  <a:txBody>
                    <a:bodyPr wrap="none"/>
                    <a:lstStyle/>
                    <a:p>
                      <a:pPr algn="l"/>
                      <a:r>
                        <a:rPr sz="800" b="1">
                          <a:solidFill>
                            <a:srgbClr val="2E2E2E"/>
                          </a:solidFill>
                          <a:latin typeface="Calibri"/>
                        </a:rPr>
                        <a:t>3,447</a:t>
                      </a:r>
                    </a:p>
                  </a:txBody>
                  <a:tcPr marL="85725" marR="38100" marT="19050" marB="19050" anchor="ctr">
                    <a:solidFill>
                      <a:srgbClr val="E0E8EF"/>
                    </a:solidFill>
                  </a:tcPr>
                </a:tc>
                <a:tc>
                  <a:txBody>
                    <a:bodyPr wrap="none"/>
                    <a:lstStyle/>
                    <a:p>
                      <a:pPr algn="l"/>
                      <a:r>
                        <a:rPr sz="800" b="1">
                          <a:solidFill>
                            <a:srgbClr val="2E2E2E"/>
                          </a:solidFill>
                          <a:latin typeface="Calibri"/>
                        </a:rPr>
                        <a:t>9.0%</a:t>
                      </a:r>
                    </a:p>
                  </a:txBody>
                  <a:tcPr marL="85725" marR="38100" marT="19050" marB="19050" anchor="ctr">
                    <a:solidFill>
                      <a:srgbClr val="E0E8EF"/>
                    </a:solidFill>
                  </a:tcPr>
                </a:tc>
              </a:tr>
            </a:tbl>
          </a:graphicData>
        </a:graphic>
      </p:graphicFrame>
      <p:sp>
        <p:nvSpPr>
          <p:cNvPr id="13" name="TextBox 12"/>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4" name="Rectangle 1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6" name="Rounded Rectangle 1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7" name="Rounded Rectangle 1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YoY Analysis Product Type x Therapeutic Application</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Canada</a:t>
            </a:r>
          </a:p>
        </p:txBody>
      </p:sp>
      <p:sp>
        <p:nvSpPr>
          <p:cNvPr id="11" name="Rounded Rectangle 10"/>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Volume YoY, By Product Type x Therapeutic Application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2171700"/>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Product Type x Therapeutic Application</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800" b="1">
                          <a:solidFill>
                            <a:srgbClr val="A86F00"/>
                          </a:solidFill>
                          <a:latin typeface="Calibri"/>
                        </a:rPr>
                        <a:t>▶ 16.5%</a:t>
                      </a:r>
                    </a:p>
                  </a:txBody>
                  <a:tcPr marL="85725" marR="38100" marT="19050" marB="19050" anchor="ctr">
                    <a:solidFill>
                      <a:srgbClr val="FFFFFF"/>
                    </a:solidFill>
                  </a:tcPr>
                </a:tc>
                <a:tc>
                  <a:txBody>
                    <a:bodyPr wrap="none"/>
                    <a:lstStyle/>
                    <a:p>
                      <a:pPr algn="l"/>
                      <a:r>
                        <a:rPr sz="800" b="1">
                          <a:solidFill>
                            <a:srgbClr val="A86F00"/>
                          </a:solidFill>
                          <a:latin typeface="Calibri"/>
                        </a:rPr>
                        <a:t>▶ 23.5%</a:t>
                      </a:r>
                    </a:p>
                  </a:txBody>
                  <a:tcPr marL="85725" marR="38100" marT="19050" marB="19050" anchor="ctr">
                    <a:solidFill>
                      <a:srgbClr val="FFFFFF"/>
                    </a:solidFill>
                  </a:tcPr>
                </a:tc>
                <a:tc>
                  <a:txBody>
                    <a:bodyPr wrap="none"/>
                    <a:lstStyle/>
                    <a:p>
                      <a:pPr algn="l"/>
                      <a:r>
                        <a:rPr sz="800" b="1">
                          <a:solidFill>
                            <a:srgbClr val="A86F00"/>
                          </a:solidFill>
                          <a:latin typeface="Calibri"/>
                        </a:rPr>
                        <a:t>▶ 27.4%</a:t>
                      </a:r>
                    </a:p>
                  </a:txBody>
                  <a:tcPr marL="85725" marR="38100" marT="19050" marB="19050" anchor="ctr">
                    <a:solidFill>
                      <a:srgbClr val="FFFFFF"/>
                    </a:solidFill>
                  </a:tcPr>
                </a:tc>
                <a:tc>
                  <a:txBody>
                    <a:bodyPr wrap="none"/>
                    <a:lstStyle/>
                    <a:p>
                      <a:pPr algn="l"/>
                      <a:r>
                        <a:rPr sz="800" b="1">
                          <a:solidFill>
                            <a:srgbClr val="A86F00"/>
                          </a:solidFill>
                          <a:latin typeface="Calibri"/>
                        </a:rPr>
                        <a:t>▶ 24.7%</a:t>
                      </a:r>
                    </a:p>
                  </a:txBody>
                  <a:tcPr marL="85725" marR="38100" marT="19050" marB="19050" anchor="ctr">
                    <a:solidFill>
                      <a:srgbClr val="FFFFFF"/>
                    </a:solidFill>
                  </a:tcPr>
                </a:tc>
                <a:tc>
                  <a:txBody>
                    <a:bodyPr wrap="none"/>
                    <a:lstStyle/>
                    <a:p>
                      <a:pPr algn="l"/>
                      <a:r>
                        <a:rPr sz="800" b="1">
                          <a:solidFill>
                            <a:srgbClr val="A86F00"/>
                          </a:solidFill>
                          <a:latin typeface="Calibri"/>
                        </a:rPr>
                        <a:t>▶ 20.9%</a:t>
                      </a:r>
                    </a:p>
                  </a:txBody>
                  <a:tcPr marL="85725" marR="38100" marT="19050" marB="19050" anchor="ctr">
                    <a:solidFill>
                      <a:srgbClr val="FFFFFF"/>
                    </a:solidFill>
                  </a:tcPr>
                </a:tc>
                <a:tc>
                  <a:txBody>
                    <a:bodyPr wrap="none"/>
                    <a:lstStyle/>
                    <a:p>
                      <a:pPr algn="l"/>
                      <a:r>
                        <a:rPr sz="800" b="1">
                          <a:solidFill>
                            <a:srgbClr val="A86F00"/>
                          </a:solidFill>
                          <a:latin typeface="Calibri"/>
                        </a:rPr>
                        <a:t>▶ 18.7%</a:t>
                      </a:r>
                    </a:p>
                  </a:txBody>
                  <a:tcPr marL="85725" marR="38100" marT="19050" marB="19050" anchor="ctr">
                    <a:solidFill>
                      <a:srgbClr val="FFFFFF"/>
                    </a:solidFill>
                  </a:tcPr>
                </a:tc>
                <a:tc>
                  <a:txBody>
                    <a:bodyPr wrap="none"/>
                    <a:lstStyle/>
                    <a:p>
                      <a:pPr algn="l"/>
                      <a:r>
                        <a:rPr sz="800" b="1">
                          <a:solidFill>
                            <a:srgbClr val="A86F00"/>
                          </a:solidFill>
                          <a:latin typeface="Calibri"/>
                        </a:rPr>
                        <a:t>▶ 16.3%</a:t>
                      </a:r>
                    </a:p>
                  </a:txBody>
                  <a:tcPr marL="85725" marR="38100" marT="19050" marB="19050" anchor="ctr">
                    <a:solidFill>
                      <a:srgbClr val="FFFFFF"/>
                    </a:solidFill>
                  </a:tcPr>
                </a:tc>
                <a:tc>
                  <a:txBody>
                    <a:bodyPr wrap="none"/>
                    <a:lstStyle/>
                    <a:p>
                      <a:pPr algn="l"/>
                      <a:r>
                        <a:rPr sz="800" b="1">
                          <a:solidFill>
                            <a:srgbClr val="A86F00"/>
                          </a:solidFill>
                          <a:latin typeface="Calibri"/>
                        </a:rPr>
                        <a:t>▶ 14.6%</a:t>
                      </a:r>
                    </a:p>
                  </a:txBody>
                  <a:tcPr marL="85725" marR="38100" marT="19050" marB="19050" anchor="ctr">
                    <a:solidFill>
                      <a:srgbClr val="FFFFFF"/>
                    </a:solidFill>
                  </a:tcPr>
                </a:tc>
                <a:tc>
                  <a:txBody>
                    <a:bodyPr wrap="none"/>
                    <a:lstStyle/>
                    <a:p>
                      <a:pPr algn="l"/>
                      <a:r>
                        <a:rPr sz="800" b="1">
                          <a:solidFill>
                            <a:srgbClr val="A86F00"/>
                          </a:solidFill>
                          <a:latin typeface="Calibri"/>
                        </a:rPr>
                        <a:t>▶ 13.3%</a:t>
                      </a:r>
                    </a:p>
                  </a:txBody>
                  <a:tcPr marL="85725" marR="38100" marT="19050" marB="19050" anchor="ctr">
                    <a:solidFill>
                      <a:srgbClr val="FFFFFF"/>
                    </a:solidFill>
                  </a:tcPr>
                </a:tc>
                <a:tc>
                  <a:txBody>
                    <a:bodyPr wrap="none"/>
                    <a:lstStyle/>
                    <a:p>
                      <a:pPr algn="l"/>
                      <a:r>
                        <a:rPr sz="800" b="1">
                          <a:solidFill>
                            <a:srgbClr val="A86F00"/>
                          </a:solidFill>
                          <a:latin typeface="Calibri"/>
                        </a:rPr>
                        <a:t>▶ 12.1%</a:t>
                      </a:r>
                    </a:p>
                  </a:txBody>
                  <a:tcPr marL="85725" marR="38100" marT="19050" marB="19050" anchor="ctr">
                    <a:solidFill>
                      <a:srgbClr val="FFFFFF"/>
                    </a:solidFill>
                  </a:tcPr>
                </a:tc>
                <a:tc>
                  <a:txBody>
                    <a:bodyPr wrap="none"/>
                    <a:lstStyle/>
                    <a:p>
                      <a:pPr algn="l"/>
                      <a:r>
                        <a:rPr sz="800" b="1">
                          <a:solidFill>
                            <a:srgbClr val="A86F00"/>
                          </a:solidFill>
                          <a:latin typeface="Calibri"/>
                        </a:rPr>
                        <a:t>▶ 11.1%</a:t>
                      </a:r>
                    </a:p>
                  </a:txBody>
                  <a:tcPr marL="85725" marR="38100" marT="19050" marB="19050" anchor="ctr">
                    <a:solidFill>
                      <a:srgbClr val="FFFFFF"/>
                    </a:solidFill>
                  </a:tcPr>
                </a:tc>
                <a:tc>
                  <a:txBody>
                    <a:bodyPr wrap="none"/>
                    <a:lstStyle/>
                    <a:p>
                      <a:pPr algn="l"/>
                      <a:r>
                        <a:rPr sz="800" b="1">
                          <a:solidFill>
                            <a:srgbClr val="A86F00"/>
                          </a:solidFill>
                          <a:latin typeface="Calibri"/>
                        </a:rPr>
                        <a:t>▶ 10.3%</a:t>
                      </a:r>
                    </a:p>
                  </a:txBody>
                  <a:tcPr marL="85725" marR="38100" marT="19050" marB="19050" anchor="ctr">
                    <a:solidFill>
                      <a:srgbClr val="FFFFFF"/>
                    </a:solidFill>
                  </a:tcPr>
                </a:tc>
                <a:tc>
                  <a:txBody>
                    <a:bodyPr wrap="none"/>
                    <a:lstStyle/>
                    <a:p>
                      <a:pPr algn="l"/>
                      <a:r>
                        <a:rPr sz="800" b="1">
                          <a:solidFill>
                            <a:srgbClr val="A86F00"/>
                          </a:solidFill>
                          <a:latin typeface="Calibri"/>
                        </a:rPr>
                        <a:t>▶ 9.6%</a:t>
                      </a:r>
                    </a:p>
                  </a:txBody>
                  <a:tcPr marL="85725" marR="38100" marT="19050" marB="19050" anchor="ctr">
                    <a:solidFill>
                      <a:srgbClr val="FFFFFF"/>
                    </a:solidFill>
                  </a:tcPr>
                </a:tc>
                <a:tc>
                  <a:txBody>
                    <a:bodyPr wrap="none"/>
                    <a:lstStyle/>
                    <a:p>
                      <a:pPr algn="l"/>
                      <a:r>
                        <a:rPr sz="800" b="1">
                          <a:solidFill>
                            <a:srgbClr val="A86F00"/>
                          </a:solidFill>
                          <a:latin typeface="Calibri"/>
                        </a:rPr>
                        <a:t>▶ 9.1%</a:t>
                      </a:r>
                    </a:p>
                  </a:txBody>
                  <a:tcPr marL="85725" marR="38100" marT="19050" marB="19050" anchor="ctr">
                    <a:solidFill>
                      <a:srgbClr val="FFFFFF"/>
                    </a:solidFill>
                  </a:tcPr>
                </a:tc>
                <a:tc>
                  <a:txBody>
                    <a:bodyPr wrap="none"/>
                    <a:lstStyle/>
                    <a:p>
                      <a:pPr algn="l"/>
                      <a:r>
                        <a:rPr sz="800" b="1">
                          <a:solidFill>
                            <a:srgbClr val="A86F00"/>
                          </a:solidFill>
                          <a:latin typeface="Calibri"/>
                        </a:rPr>
                        <a:t>▶ 8.7%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Cyltezo</a:t>
                      </a:r>
                    </a:p>
                  </a:txBody>
                  <a:tcPr marL="85725" marR="38100" marT="19050" marB="19050" anchor="ctr">
                    <a:solidFill>
                      <a:srgbClr val="F5F8FA"/>
                    </a:solidFill>
                  </a:tcPr>
                </a:tc>
                <a:tc>
                  <a:txBody>
                    <a:bodyPr wrap="none"/>
                    <a:lstStyle/>
                    <a:p>
                      <a:pPr algn="l"/>
                      <a:r>
                        <a:rPr sz="800" b="1">
                          <a:solidFill>
                            <a:srgbClr val="2E7D32"/>
                          </a:solidFill>
                          <a:latin typeface="Calibri"/>
                        </a:rPr>
                        <a:t>▲ 18.5%</a:t>
                      </a:r>
                    </a:p>
                  </a:txBody>
                  <a:tcPr marL="85725" marR="38100" marT="19050" marB="19050" anchor="ctr">
                    <a:solidFill>
                      <a:srgbClr val="F5F8FA"/>
                    </a:solidFill>
                  </a:tcPr>
                </a:tc>
                <a:tc>
                  <a:txBody>
                    <a:bodyPr wrap="none"/>
                    <a:lstStyle/>
                    <a:p>
                      <a:pPr algn="l"/>
                      <a:r>
                        <a:rPr sz="800" b="1">
                          <a:solidFill>
                            <a:srgbClr val="2E7D32"/>
                          </a:solidFill>
                          <a:latin typeface="Calibri"/>
                        </a:rPr>
                        <a:t>▲ 25.7%</a:t>
                      </a:r>
                    </a:p>
                  </a:txBody>
                  <a:tcPr marL="85725" marR="38100" marT="19050" marB="19050" anchor="ctr">
                    <a:solidFill>
                      <a:srgbClr val="F5F8FA"/>
                    </a:solidFill>
                  </a:tcPr>
                </a:tc>
                <a:tc>
                  <a:txBody>
                    <a:bodyPr wrap="none"/>
                    <a:lstStyle/>
                    <a:p>
                      <a:pPr algn="l"/>
                      <a:r>
                        <a:rPr sz="800" b="1">
                          <a:solidFill>
                            <a:srgbClr val="2E7D32"/>
                          </a:solidFill>
                          <a:latin typeface="Calibri"/>
                        </a:rPr>
                        <a:t>▲ 29.7%</a:t>
                      </a:r>
                    </a:p>
                  </a:txBody>
                  <a:tcPr marL="85725" marR="38100" marT="19050" marB="19050" anchor="ctr">
                    <a:solidFill>
                      <a:srgbClr val="F5F8FA"/>
                    </a:solidFill>
                  </a:tcPr>
                </a:tc>
                <a:tc>
                  <a:txBody>
                    <a:bodyPr wrap="none"/>
                    <a:lstStyle/>
                    <a:p>
                      <a:pPr algn="l"/>
                      <a:r>
                        <a:rPr sz="800" b="1">
                          <a:solidFill>
                            <a:srgbClr val="2E7D32"/>
                          </a:solidFill>
                          <a:latin typeface="Calibri"/>
                        </a:rPr>
                        <a:t>▲ 26.9%</a:t>
                      </a:r>
                    </a:p>
                  </a:txBody>
                  <a:tcPr marL="85725" marR="38100" marT="19050" marB="19050" anchor="ctr">
                    <a:solidFill>
                      <a:srgbClr val="F5F8FA"/>
                    </a:solidFill>
                  </a:tcPr>
                </a:tc>
                <a:tc>
                  <a:txBody>
                    <a:bodyPr wrap="none"/>
                    <a:lstStyle/>
                    <a:p>
                      <a:pPr algn="l"/>
                      <a:r>
                        <a:rPr sz="800" b="1">
                          <a:solidFill>
                            <a:srgbClr val="2E7D32"/>
                          </a:solidFill>
                          <a:latin typeface="Calibri"/>
                        </a:rPr>
                        <a:t>▲ 23.1%</a:t>
                      </a:r>
                    </a:p>
                  </a:txBody>
                  <a:tcPr marL="85725" marR="38100" marT="19050" marB="19050" anchor="ctr">
                    <a:solidFill>
                      <a:srgbClr val="F5F8FA"/>
                    </a:solidFill>
                  </a:tcPr>
                </a:tc>
                <a:tc>
                  <a:txBody>
                    <a:bodyPr wrap="none"/>
                    <a:lstStyle/>
                    <a:p>
                      <a:pPr algn="l"/>
                      <a:r>
                        <a:rPr sz="800" b="1">
                          <a:solidFill>
                            <a:srgbClr val="2E7D32"/>
                          </a:solidFill>
                          <a:latin typeface="Calibri"/>
                        </a:rPr>
                        <a:t>▲ 20.8%</a:t>
                      </a:r>
                    </a:p>
                  </a:txBody>
                  <a:tcPr marL="85725" marR="38100" marT="19050" marB="19050" anchor="ctr">
                    <a:solidFill>
                      <a:srgbClr val="F5F8FA"/>
                    </a:solidFill>
                  </a:tcPr>
                </a:tc>
                <a:tc>
                  <a:txBody>
                    <a:bodyPr wrap="none"/>
                    <a:lstStyle/>
                    <a:p>
                      <a:pPr algn="l"/>
                      <a:r>
                        <a:rPr sz="800" b="1">
                          <a:solidFill>
                            <a:srgbClr val="2E7D32"/>
                          </a:solidFill>
                          <a:latin typeface="Calibri"/>
                        </a:rPr>
                        <a:t>▲ 18.3%</a:t>
                      </a:r>
                    </a:p>
                  </a:txBody>
                  <a:tcPr marL="85725" marR="38100" marT="19050" marB="19050" anchor="ctr">
                    <a:solidFill>
                      <a:srgbClr val="F5F8FA"/>
                    </a:solidFill>
                  </a:tcPr>
                </a:tc>
                <a:tc>
                  <a:txBody>
                    <a:bodyPr wrap="none"/>
                    <a:lstStyle/>
                    <a:p>
                      <a:pPr algn="l"/>
                      <a:r>
                        <a:rPr sz="800" b="1">
                          <a:solidFill>
                            <a:srgbClr val="2E7D32"/>
                          </a:solidFill>
                          <a:latin typeface="Calibri"/>
                        </a:rPr>
                        <a:t>▲ 16.6%</a:t>
                      </a:r>
                    </a:p>
                  </a:txBody>
                  <a:tcPr marL="85725" marR="38100" marT="19050" marB="19050" anchor="ctr">
                    <a:solidFill>
                      <a:srgbClr val="F5F8FA"/>
                    </a:solidFill>
                  </a:tcPr>
                </a:tc>
                <a:tc>
                  <a:txBody>
                    <a:bodyPr wrap="none"/>
                    <a:lstStyle/>
                    <a:p>
                      <a:pPr algn="l"/>
                      <a:r>
                        <a:rPr sz="800" b="1">
                          <a:solidFill>
                            <a:srgbClr val="2E7D32"/>
                          </a:solidFill>
                          <a:latin typeface="Calibri"/>
                        </a:rPr>
                        <a:t>▲ 15.2%</a:t>
                      </a:r>
                    </a:p>
                  </a:txBody>
                  <a:tcPr marL="85725" marR="38100" marT="19050" marB="19050" anchor="ctr">
                    <a:solidFill>
                      <a:srgbClr val="F5F8FA"/>
                    </a:solidFill>
                  </a:tcPr>
                </a:tc>
                <a:tc>
                  <a:txBody>
                    <a:bodyPr wrap="none"/>
                    <a:lstStyle/>
                    <a:p>
                      <a:pPr algn="l"/>
                      <a:r>
                        <a:rPr sz="800" b="1">
                          <a:solidFill>
                            <a:srgbClr val="2E7D32"/>
                          </a:solidFill>
                          <a:latin typeface="Calibri"/>
                        </a:rPr>
                        <a:t>▲ 14.0%</a:t>
                      </a:r>
                    </a:p>
                  </a:txBody>
                  <a:tcPr marL="85725" marR="38100" marT="19050" marB="19050" anchor="ctr">
                    <a:solidFill>
                      <a:srgbClr val="F5F8FA"/>
                    </a:solidFill>
                  </a:tcPr>
                </a:tc>
                <a:tc>
                  <a:txBody>
                    <a:bodyPr wrap="none"/>
                    <a:lstStyle/>
                    <a:p>
                      <a:pPr algn="l"/>
                      <a:r>
                        <a:rPr sz="800" b="1">
                          <a:solidFill>
                            <a:srgbClr val="2E7D32"/>
                          </a:solidFill>
                          <a:latin typeface="Calibri"/>
                        </a:rPr>
                        <a:t>▲ 13.1%</a:t>
                      </a:r>
                    </a:p>
                  </a:txBody>
                  <a:tcPr marL="85725" marR="38100" marT="19050" marB="19050" anchor="ctr">
                    <a:solidFill>
                      <a:srgbClr val="F5F8FA"/>
                    </a:solidFill>
                  </a:tcPr>
                </a:tc>
                <a:tc>
                  <a:txBody>
                    <a:bodyPr wrap="none"/>
                    <a:lstStyle/>
                    <a:p>
                      <a:pPr algn="l"/>
                      <a:r>
                        <a:rPr sz="800" b="1">
                          <a:solidFill>
                            <a:srgbClr val="2E7D32"/>
                          </a:solidFill>
                          <a:latin typeface="Calibri"/>
                        </a:rPr>
                        <a:t>▲ 12.2%</a:t>
                      </a:r>
                    </a:p>
                  </a:txBody>
                  <a:tcPr marL="85725" marR="38100" marT="19050" marB="19050" anchor="ctr">
                    <a:solidFill>
                      <a:srgbClr val="F5F8FA"/>
                    </a:solidFill>
                  </a:tcPr>
                </a:tc>
                <a:tc>
                  <a:txBody>
                    <a:bodyPr wrap="none"/>
                    <a:lstStyle/>
                    <a:p>
                      <a:pPr algn="l"/>
                      <a:r>
                        <a:rPr sz="800" b="1">
                          <a:solidFill>
                            <a:srgbClr val="2E7D32"/>
                          </a:solidFill>
                          <a:latin typeface="Calibri"/>
                        </a:rPr>
                        <a:t>▲ 11.6%</a:t>
                      </a:r>
                    </a:p>
                  </a:txBody>
                  <a:tcPr marL="85725" marR="38100" marT="19050" marB="19050" anchor="ctr">
                    <a:solidFill>
                      <a:srgbClr val="F5F8FA"/>
                    </a:solidFill>
                  </a:tcPr>
                </a:tc>
                <a:tc>
                  <a:txBody>
                    <a:bodyPr wrap="none"/>
                    <a:lstStyle/>
                    <a:p>
                      <a:pPr algn="l"/>
                      <a:r>
                        <a:rPr sz="800" b="1">
                          <a:solidFill>
                            <a:srgbClr val="2E7D32"/>
                          </a:solidFill>
                          <a:latin typeface="Calibri"/>
                        </a:rPr>
                        <a:t>▲ 11.0%</a:t>
                      </a:r>
                    </a:p>
                  </a:txBody>
                  <a:tcPr marL="85725" marR="38100" marT="19050" marB="19050" anchor="ctr">
                    <a:solidFill>
                      <a:srgbClr val="F5F8FA"/>
                    </a:solidFill>
                  </a:tcPr>
                </a:tc>
                <a:tc>
                  <a:txBody>
                    <a:bodyPr wrap="none"/>
                    <a:lstStyle/>
                    <a:p>
                      <a:pPr algn="l"/>
                      <a:r>
                        <a:rPr sz="800" b="1">
                          <a:solidFill>
                            <a:srgbClr val="2E7D32"/>
                          </a:solidFill>
                          <a:latin typeface="Calibri"/>
                        </a:rPr>
                        <a:t>▲ 10.6%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800" b="1">
                          <a:solidFill>
                            <a:srgbClr val="A86F00"/>
                          </a:solidFill>
                          <a:latin typeface="Calibri"/>
                        </a:rPr>
                        <a:t>▶ 14.3%</a:t>
                      </a:r>
                    </a:p>
                  </a:txBody>
                  <a:tcPr marL="85725" marR="38100" marT="19050" marB="19050" anchor="ctr">
                    <a:solidFill>
                      <a:srgbClr val="FFFFFF"/>
                    </a:solidFill>
                  </a:tcPr>
                </a:tc>
                <a:tc>
                  <a:txBody>
                    <a:bodyPr wrap="none"/>
                    <a:lstStyle/>
                    <a:p>
                      <a:pPr algn="l"/>
                      <a:r>
                        <a:rPr sz="800" b="1">
                          <a:solidFill>
                            <a:srgbClr val="A86F00"/>
                          </a:solidFill>
                          <a:latin typeface="Calibri"/>
                        </a:rPr>
                        <a:t>▶ 21.3%</a:t>
                      </a:r>
                    </a:p>
                  </a:txBody>
                  <a:tcPr marL="85725" marR="38100" marT="19050" marB="19050" anchor="ctr">
                    <a:solidFill>
                      <a:srgbClr val="FFFFFF"/>
                    </a:solidFill>
                  </a:tcPr>
                </a:tc>
                <a:tc>
                  <a:txBody>
                    <a:bodyPr wrap="none"/>
                    <a:lstStyle/>
                    <a:p>
                      <a:pPr algn="l"/>
                      <a:r>
                        <a:rPr sz="800" b="1">
                          <a:solidFill>
                            <a:srgbClr val="A86F00"/>
                          </a:solidFill>
                          <a:latin typeface="Calibri"/>
                        </a:rPr>
                        <a:t>▶ 25.1%</a:t>
                      </a:r>
                    </a:p>
                  </a:txBody>
                  <a:tcPr marL="85725" marR="38100" marT="19050" marB="19050" anchor="ctr">
                    <a:solidFill>
                      <a:srgbClr val="FFFFFF"/>
                    </a:solidFill>
                  </a:tcPr>
                </a:tc>
                <a:tc>
                  <a:txBody>
                    <a:bodyPr wrap="none"/>
                    <a:lstStyle/>
                    <a:p>
                      <a:pPr algn="l"/>
                      <a:r>
                        <a:rPr sz="800" b="1">
                          <a:solidFill>
                            <a:srgbClr val="A86F00"/>
                          </a:solidFill>
                          <a:latin typeface="Calibri"/>
                        </a:rPr>
                        <a:t>▶ 22.5%</a:t>
                      </a:r>
                    </a:p>
                  </a:txBody>
                  <a:tcPr marL="85725" marR="38100" marT="19050" marB="19050" anchor="ctr">
                    <a:solidFill>
                      <a:srgbClr val="FFFFFF"/>
                    </a:solidFill>
                  </a:tcPr>
                </a:tc>
                <a:tc>
                  <a:txBody>
                    <a:bodyPr wrap="none"/>
                    <a:lstStyle/>
                    <a:p>
                      <a:pPr algn="l"/>
                      <a:r>
                        <a:rPr sz="800" b="1">
                          <a:solidFill>
                            <a:srgbClr val="A86F00"/>
                          </a:solidFill>
                          <a:latin typeface="Calibri"/>
                        </a:rPr>
                        <a:t>▶ 18.8%</a:t>
                      </a:r>
                    </a:p>
                  </a:txBody>
                  <a:tcPr marL="85725" marR="38100" marT="19050" marB="19050" anchor="ctr">
                    <a:solidFill>
                      <a:srgbClr val="FFFFFF"/>
                    </a:solidFill>
                  </a:tcPr>
                </a:tc>
                <a:tc>
                  <a:txBody>
                    <a:bodyPr wrap="none"/>
                    <a:lstStyle/>
                    <a:p>
                      <a:pPr algn="l"/>
                      <a:r>
                        <a:rPr sz="800" b="1">
                          <a:solidFill>
                            <a:srgbClr val="A86F00"/>
                          </a:solidFill>
                          <a:latin typeface="Calibri"/>
                        </a:rPr>
                        <a:t>▶ 16.6%</a:t>
                      </a:r>
                    </a:p>
                  </a:txBody>
                  <a:tcPr marL="85725" marR="38100" marT="19050" marB="19050" anchor="ctr">
                    <a:solidFill>
                      <a:srgbClr val="FFFFFF"/>
                    </a:solidFill>
                  </a:tcPr>
                </a:tc>
                <a:tc>
                  <a:txBody>
                    <a:bodyPr wrap="none"/>
                    <a:lstStyle/>
                    <a:p>
                      <a:pPr algn="l"/>
                      <a:r>
                        <a:rPr sz="800" b="1">
                          <a:solidFill>
                            <a:srgbClr val="A86F00"/>
                          </a:solidFill>
                          <a:latin typeface="Calibri"/>
                        </a:rPr>
                        <a:t>▶ 14.2%</a:t>
                      </a:r>
                    </a:p>
                  </a:txBody>
                  <a:tcPr marL="85725" marR="38100" marT="19050" marB="19050" anchor="ctr">
                    <a:solidFill>
                      <a:srgbClr val="FFFFFF"/>
                    </a:solidFill>
                  </a:tcPr>
                </a:tc>
                <a:tc>
                  <a:txBody>
                    <a:bodyPr wrap="none"/>
                    <a:lstStyle/>
                    <a:p>
                      <a:pPr algn="l"/>
                      <a:r>
                        <a:rPr sz="800" b="1">
                          <a:solidFill>
                            <a:srgbClr val="A86F00"/>
                          </a:solidFill>
                          <a:latin typeface="Calibri"/>
                        </a:rPr>
                        <a:t>▶ 12.6%</a:t>
                      </a:r>
                    </a:p>
                  </a:txBody>
                  <a:tcPr marL="85725" marR="38100" marT="19050" marB="19050" anchor="ctr">
                    <a:solidFill>
                      <a:srgbClr val="FFFFFF"/>
                    </a:solidFill>
                  </a:tcPr>
                </a:tc>
                <a:tc>
                  <a:txBody>
                    <a:bodyPr wrap="none"/>
                    <a:lstStyle/>
                    <a:p>
                      <a:pPr algn="l"/>
                      <a:r>
                        <a:rPr sz="800" b="1">
                          <a:solidFill>
                            <a:srgbClr val="A86F00"/>
                          </a:solidFill>
                          <a:latin typeface="Calibri"/>
                        </a:rPr>
                        <a:t>▶ 11.2%</a:t>
                      </a:r>
                    </a:p>
                  </a:txBody>
                  <a:tcPr marL="85725" marR="38100" marT="19050" marB="19050" anchor="ctr">
                    <a:solidFill>
                      <a:srgbClr val="FFFFFF"/>
                    </a:solidFill>
                  </a:tcPr>
                </a:tc>
                <a:tc>
                  <a:txBody>
                    <a:bodyPr wrap="none"/>
                    <a:lstStyle/>
                    <a:p>
                      <a:pPr algn="l"/>
                      <a:r>
                        <a:rPr sz="800" b="1">
                          <a:solidFill>
                            <a:srgbClr val="A86F00"/>
                          </a:solidFill>
                          <a:latin typeface="Calibri"/>
                        </a:rPr>
                        <a:t>▶ 10.1%</a:t>
                      </a:r>
                    </a:p>
                  </a:txBody>
                  <a:tcPr marL="85725" marR="38100" marT="19050" marB="19050" anchor="ctr">
                    <a:solidFill>
                      <a:srgbClr val="FFFFFF"/>
                    </a:solidFill>
                  </a:tcPr>
                </a:tc>
                <a:tc>
                  <a:txBody>
                    <a:bodyPr wrap="none"/>
                    <a:lstStyle/>
                    <a:p>
                      <a:pPr algn="l"/>
                      <a:r>
                        <a:rPr sz="800" b="1">
                          <a:solidFill>
                            <a:srgbClr val="A86F00"/>
                          </a:solidFill>
                          <a:latin typeface="Calibri"/>
                        </a:rPr>
                        <a:t>▶ 9.1%</a:t>
                      </a:r>
                    </a:p>
                  </a:txBody>
                  <a:tcPr marL="85725" marR="38100" marT="19050" marB="19050" anchor="ctr">
                    <a:solidFill>
                      <a:srgbClr val="FFFFFF"/>
                    </a:solidFill>
                  </a:tcPr>
                </a:tc>
                <a:tc>
                  <a:txBody>
                    <a:bodyPr wrap="none"/>
                    <a:lstStyle/>
                    <a:p>
                      <a:pPr algn="l"/>
                      <a:r>
                        <a:rPr sz="800" b="1">
                          <a:solidFill>
                            <a:srgbClr val="A86F00"/>
                          </a:solidFill>
                          <a:latin typeface="Calibri"/>
                        </a:rPr>
                        <a:t>▶ 8.3%</a:t>
                      </a:r>
                    </a:p>
                  </a:txBody>
                  <a:tcPr marL="85725" marR="38100" marT="19050" marB="19050" anchor="ctr">
                    <a:solidFill>
                      <a:srgbClr val="FFFFFF"/>
                    </a:solidFill>
                  </a:tcPr>
                </a:tc>
                <a:tc>
                  <a:txBody>
                    <a:bodyPr wrap="none"/>
                    <a:lstStyle/>
                    <a:p>
                      <a:pPr algn="l"/>
                      <a:r>
                        <a:rPr sz="800" b="1">
                          <a:solidFill>
                            <a:srgbClr val="A86F00"/>
                          </a:solidFill>
                          <a:latin typeface="Calibri"/>
                        </a:rPr>
                        <a:t>▶ 7.7%</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800" b="1">
                          <a:solidFill>
                            <a:srgbClr val="A86F00"/>
                          </a:solidFill>
                          <a:latin typeface="Calibri"/>
                        </a:rPr>
                        <a:t>▶ 16.1%</a:t>
                      </a:r>
                    </a:p>
                  </a:txBody>
                  <a:tcPr marL="85725" marR="38100" marT="19050" marB="19050" anchor="ctr">
                    <a:solidFill>
                      <a:srgbClr val="F5F8FA"/>
                    </a:solidFill>
                  </a:tcPr>
                </a:tc>
                <a:tc>
                  <a:txBody>
                    <a:bodyPr wrap="none"/>
                    <a:lstStyle/>
                    <a:p>
                      <a:pPr algn="l"/>
                      <a:r>
                        <a:rPr sz="800" b="1">
                          <a:solidFill>
                            <a:srgbClr val="A86F00"/>
                          </a:solidFill>
                          <a:latin typeface="Calibri"/>
                        </a:rPr>
                        <a:t>▶ 23.1%</a:t>
                      </a:r>
                    </a:p>
                  </a:txBody>
                  <a:tcPr marL="85725" marR="38100" marT="19050" marB="19050" anchor="ctr">
                    <a:solidFill>
                      <a:srgbClr val="F5F8FA"/>
                    </a:solidFill>
                  </a:tcPr>
                </a:tc>
                <a:tc>
                  <a:txBody>
                    <a:bodyPr wrap="none"/>
                    <a:lstStyle/>
                    <a:p>
                      <a:pPr algn="l"/>
                      <a:r>
                        <a:rPr sz="800" b="1">
                          <a:solidFill>
                            <a:srgbClr val="A86F00"/>
                          </a:solidFill>
                          <a:latin typeface="Calibri"/>
                        </a:rPr>
                        <a:t>▶ 27.1%</a:t>
                      </a:r>
                    </a:p>
                  </a:txBody>
                  <a:tcPr marL="85725" marR="38100" marT="19050" marB="19050" anchor="ctr">
                    <a:solidFill>
                      <a:srgbClr val="F5F8FA"/>
                    </a:solidFill>
                  </a:tcPr>
                </a:tc>
                <a:tc>
                  <a:txBody>
                    <a:bodyPr wrap="none"/>
                    <a:lstStyle/>
                    <a:p>
                      <a:pPr algn="l"/>
                      <a:r>
                        <a:rPr sz="800" b="1">
                          <a:solidFill>
                            <a:srgbClr val="A86F00"/>
                          </a:solidFill>
                          <a:latin typeface="Calibri"/>
                        </a:rPr>
                        <a:t>▶ 24.3%</a:t>
                      </a:r>
                    </a:p>
                  </a:txBody>
                  <a:tcPr marL="85725" marR="38100" marT="19050" marB="19050" anchor="ctr">
                    <a:solidFill>
                      <a:srgbClr val="F5F8FA"/>
                    </a:solidFill>
                  </a:tcPr>
                </a:tc>
                <a:tc>
                  <a:txBody>
                    <a:bodyPr wrap="none"/>
                    <a:lstStyle/>
                    <a:p>
                      <a:pPr algn="l"/>
                      <a:r>
                        <a:rPr sz="800" b="1">
                          <a:solidFill>
                            <a:srgbClr val="A86F00"/>
                          </a:solidFill>
                          <a:latin typeface="Calibri"/>
                        </a:rPr>
                        <a:t>▶ 20.6%</a:t>
                      </a:r>
                    </a:p>
                  </a:txBody>
                  <a:tcPr marL="85725" marR="38100" marT="19050" marB="19050" anchor="ctr">
                    <a:solidFill>
                      <a:srgbClr val="F5F8FA"/>
                    </a:solidFill>
                  </a:tcPr>
                </a:tc>
                <a:tc>
                  <a:txBody>
                    <a:bodyPr wrap="none"/>
                    <a:lstStyle/>
                    <a:p>
                      <a:pPr algn="l"/>
                      <a:r>
                        <a:rPr sz="800" b="1">
                          <a:solidFill>
                            <a:srgbClr val="A86F00"/>
                          </a:solidFill>
                          <a:latin typeface="Calibri"/>
                        </a:rPr>
                        <a:t>▶ 18.4%</a:t>
                      </a:r>
                    </a:p>
                  </a:txBody>
                  <a:tcPr marL="85725" marR="38100" marT="19050" marB="19050" anchor="ctr">
                    <a:solidFill>
                      <a:srgbClr val="F5F8FA"/>
                    </a:solidFill>
                  </a:tcPr>
                </a:tc>
                <a:tc>
                  <a:txBody>
                    <a:bodyPr wrap="none"/>
                    <a:lstStyle/>
                    <a:p>
                      <a:pPr algn="l"/>
                      <a:r>
                        <a:rPr sz="800" b="1">
                          <a:solidFill>
                            <a:srgbClr val="A86F00"/>
                          </a:solidFill>
                          <a:latin typeface="Calibri"/>
                        </a:rPr>
                        <a:t>▶ 16.0%</a:t>
                      </a:r>
                    </a:p>
                  </a:txBody>
                  <a:tcPr marL="85725" marR="38100" marT="19050" marB="19050" anchor="ctr">
                    <a:solidFill>
                      <a:srgbClr val="F5F8FA"/>
                    </a:solidFill>
                  </a:tcPr>
                </a:tc>
                <a:tc>
                  <a:txBody>
                    <a:bodyPr wrap="none"/>
                    <a:lstStyle/>
                    <a:p>
                      <a:pPr algn="l"/>
                      <a:r>
                        <a:rPr sz="800" b="1">
                          <a:solidFill>
                            <a:srgbClr val="A86F00"/>
                          </a:solidFill>
                          <a:latin typeface="Calibri"/>
                        </a:rPr>
                        <a:t>▶ 14.3%</a:t>
                      </a:r>
                    </a:p>
                  </a:txBody>
                  <a:tcPr marL="85725" marR="38100" marT="19050" marB="19050" anchor="ctr">
                    <a:solidFill>
                      <a:srgbClr val="F5F8FA"/>
                    </a:solidFill>
                  </a:tcPr>
                </a:tc>
                <a:tc>
                  <a:txBody>
                    <a:bodyPr wrap="none"/>
                    <a:lstStyle/>
                    <a:p>
                      <a:pPr algn="l"/>
                      <a:r>
                        <a:rPr sz="800" b="1">
                          <a:solidFill>
                            <a:srgbClr val="A86F00"/>
                          </a:solidFill>
                          <a:latin typeface="Calibri"/>
                        </a:rPr>
                        <a:t>▶ 12.9%</a:t>
                      </a:r>
                    </a:p>
                  </a:txBody>
                  <a:tcPr marL="85725" marR="38100" marT="19050" marB="19050" anchor="ctr">
                    <a:solidFill>
                      <a:srgbClr val="F5F8FA"/>
                    </a:solidFill>
                  </a:tcPr>
                </a:tc>
                <a:tc>
                  <a:txBody>
                    <a:bodyPr wrap="none"/>
                    <a:lstStyle/>
                    <a:p>
                      <a:pPr algn="l"/>
                      <a:r>
                        <a:rPr sz="800" b="1">
                          <a:solidFill>
                            <a:srgbClr val="A86F00"/>
                          </a:solidFill>
                          <a:latin typeface="Calibri"/>
                        </a:rPr>
                        <a:t>▶ 11.7%</a:t>
                      </a:r>
                    </a:p>
                  </a:txBody>
                  <a:tcPr marL="85725" marR="38100" marT="19050" marB="19050" anchor="ctr">
                    <a:solidFill>
                      <a:srgbClr val="F5F8FA"/>
                    </a:solidFill>
                  </a:tcPr>
                </a:tc>
                <a:tc>
                  <a:txBody>
                    <a:bodyPr wrap="none"/>
                    <a:lstStyle/>
                    <a:p>
                      <a:pPr algn="l"/>
                      <a:r>
                        <a:rPr sz="800" b="1">
                          <a:solidFill>
                            <a:srgbClr val="A86F00"/>
                          </a:solidFill>
                          <a:latin typeface="Calibri"/>
                        </a:rPr>
                        <a:t>▶ 10.8%</a:t>
                      </a:r>
                    </a:p>
                  </a:txBody>
                  <a:tcPr marL="85725" marR="38100" marT="19050" marB="19050" anchor="ctr">
                    <a:solidFill>
                      <a:srgbClr val="F5F8FA"/>
                    </a:solidFill>
                  </a:tcPr>
                </a:tc>
                <a:tc>
                  <a:txBody>
                    <a:bodyPr wrap="none"/>
                    <a:lstStyle/>
                    <a:p>
                      <a:pPr algn="l"/>
                      <a:r>
                        <a:rPr sz="800" b="1">
                          <a:solidFill>
                            <a:srgbClr val="A86F00"/>
                          </a:solidFill>
                          <a:latin typeface="Calibri"/>
                        </a:rPr>
                        <a:t>▶ 9.9%</a:t>
                      </a:r>
                    </a:p>
                  </a:txBody>
                  <a:tcPr marL="85725" marR="38100" marT="19050" marB="19050" anchor="ctr">
                    <a:solidFill>
                      <a:srgbClr val="F5F8FA"/>
                    </a:solidFill>
                  </a:tcPr>
                </a:tc>
                <a:tc>
                  <a:txBody>
                    <a:bodyPr wrap="none"/>
                    <a:lstStyle/>
                    <a:p>
                      <a:pPr algn="l"/>
                      <a:r>
                        <a:rPr sz="800" b="1">
                          <a:solidFill>
                            <a:srgbClr val="A86F00"/>
                          </a:solidFill>
                          <a:latin typeface="Calibri"/>
                        </a:rPr>
                        <a:t>▶ 9.3%</a:t>
                      </a:r>
                    </a:p>
                  </a:txBody>
                  <a:tcPr marL="85725" marR="38100" marT="19050" marB="19050" anchor="ctr">
                    <a:solidFill>
                      <a:srgbClr val="F5F8FA"/>
                    </a:solidFill>
                  </a:tcPr>
                </a:tc>
                <a:tc>
                  <a:txBody>
                    <a:bodyPr wrap="none"/>
                    <a:lstStyle/>
                    <a:p>
                      <a:pPr algn="l"/>
                      <a:r>
                        <a:rPr sz="800" b="1">
                          <a:solidFill>
                            <a:srgbClr val="A86F00"/>
                          </a:solidFill>
                          <a:latin typeface="Calibri"/>
                        </a:rPr>
                        <a:t>▶ 8.8%</a:t>
                      </a:r>
                    </a:p>
                  </a:txBody>
                  <a:tcPr marL="85725" marR="38100" marT="19050" marB="19050" anchor="ctr">
                    <a:solidFill>
                      <a:srgbClr val="F5F8FA"/>
                    </a:solidFill>
                  </a:tcPr>
                </a:tc>
                <a:tc>
                  <a:txBody>
                    <a:bodyPr wrap="none"/>
                    <a:lstStyle/>
                    <a:p>
                      <a:pPr algn="l"/>
                      <a:r>
                        <a:rPr sz="800" b="1">
                          <a:solidFill>
                            <a:srgbClr val="A86F00"/>
                          </a:solidFill>
                          <a:latin typeface="Calibri"/>
                        </a:rPr>
                        <a:t>▶ 8.3%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Idacio</a:t>
                      </a:r>
                    </a:p>
                  </a:txBody>
                  <a:tcPr marL="85725" marR="38100" marT="19050" marB="19050" anchor="ctr">
                    <a:solidFill>
                      <a:srgbClr val="FFFFFF"/>
                    </a:solidFill>
                  </a:tcPr>
                </a:tc>
                <a:tc>
                  <a:txBody>
                    <a:bodyPr wrap="none"/>
                    <a:lstStyle/>
                    <a:p>
                      <a:pPr algn="l"/>
                      <a:r>
                        <a:rPr sz="800" b="1">
                          <a:solidFill>
                            <a:srgbClr val="2E7D32"/>
                          </a:solidFill>
                          <a:latin typeface="Calibri"/>
                        </a:rPr>
                        <a:t>▲ 17.4%</a:t>
                      </a:r>
                    </a:p>
                  </a:txBody>
                  <a:tcPr marL="85725" marR="38100" marT="19050" marB="19050" anchor="ctr">
                    <a:solidFill>
                      <a:srgbClr val="FFFFFF"/>
                    </a:solidFill>
                  </a:tcPr>
                </a:tc>
                <a:tc>
                  <a:txBody>
                    <a:bodyPr wrap="none"/>
                    <a:lstStyle/>
                    <a:p>
                      <a:pPr algn="l"/>
                      <a:r>
                        <a:rPr sz="800" b="1">
                          <a:solidFill>
                            <a:srgbClr val="2E7D32"/>
                          </a:solidFill>
                          <a:latin typeface="Calibri"/>
                        </a:rPr>
                        <a:t>▲ 24.5%</a:t>
                      </a:r>
                    </a:p>
                  </a:txBody>
                  <a:tcPr marL="85725" marR="38100" marT="19050" marB="19050" anchor="ctr">
                    <a:solidFill>
                      <a:srgbClr val="FFFFFF"/>
                    </a:solidFill>
                  </a:tcPr>
                </a:tc>
                <a:tc>
                  <a:txBody>
                    <a:bodyPr wrap="none"/>
                    <a:lstStyle/>
                    <a:p>
                      <a:pPr algn="l"/>
                      <a:r>
                        <a:rPr sz="800" b="1">
                          <a:solidFill>
                            <a:srgbClr val="2E7D32"/>
                          </a:solidFill>
                          <a:latin typeface="Calibri"/>
                        </a:rPr>
                        <a:t>▲ 28.5%</a:t>
                      </a:r>
                    </a:p>
                  </a:txBody>
                  <a:tcPr marL="85725" marR="38100" marT="19050" marB="19050" anchor="ctr">
                    <a:solidFill>
                      <a:srgbClr val="FFFFFF"/>
                    </a:solidFill>
                  </a:tcPr>
                </a:tc>
                <a:tc>
                  <a:txBody>
                    <a:bodyPr wrap="none"/>
                    <a:lstStyle/>
                    <a:p>
                      <a:pPr algn="l"/>
                      <a:r>
                        <a:rPr sz="800" b="1">
                          <a:solidFill>
                            <a:srgbClr val="2E7D32"/>
                          </a:solidFill>
                          <a:latin typeface="Calibri"/>
                        </a:rPr>
                        <a:t>▲ 25.7%</a:t>
                      </a:r>
                    </a:p>
                  </a:txBody>
                  <a:tcPr marL="85725" marR="38100" marT="19050" marB="19050" anchor="ctr">
                    <a:solidFill>
                      <a:srgbClr val="FFFFFF"/>
                    </a:solidFill>
                  </a:tcPr>
                </a:tc>
                <a:tc>
                  <a:txBody>
                    <a:bodyPr wrap="none"/>
                    <a:lstStyle/>
                    <a:p>
                      <a:pPr algn="l"/>
                      <a:r>
                        <a:rPr sz="800" b="1">
                          <a:solidFill>
                            <a:srgbClr val="2E7D32"/>
                          </a:solidFill>
                          <a:latin typeface="Calibri"/>
                        </a:rPr>
                        <a:t>▲ 21.9%</a:t>
                      </a:r>
                    </a:p>
                  </a:txBody>
                  <a:tcPr marL="85725" marR="38100" marT="19050" marB="19050" anchor="ctr">
                    <a:solidFill>
                      <a:srgbClr val="FFFFFF"/>
                    </a:solidFill>
                  </a:tcPr>
                </a:tc>
                <a:tc>
                  <a:txBody>
                    <a:bodyPr wrap="none"/>
                    <a:lstStyle/>
                    <a:p>
                      <a:pPr algn="l"/>
                      <a:r>
                        <a:rPr sz="800" b="1">
                          <a:solidFill>
                            <a:srgbClr val="2E7D32"/>
                          </a:solidFill>
                          <a:latin typeface="Calibri"/>
                        </a:rPr>
                        <a:t>▲ 19.7%</a:t>
                      </a:r>
                    </a:p>
                  </a:txBody>
                  <a:tcPr marL="85725" marR="38100" marT="19050" marB="19050" anchor="ctr">
                    <a:solidFill>
                      <a:srgbClr val="FFFFFF"/>
                    </a:solidFill>
                  </a:tcPr>
                </a:tc>
                <a:tc>
                  <a:txBody>
                    <a:bodyPr wrap="none"/>
                    <a:lstStyle/>
                    <a:p>
                      <a:pPr algn="l"/>
                      <a:r>
                        <a:rPr sz="800" b="1">
                          <a:solidFill>
                            <a:srgbClr val="2E7D32"/>
                          </a:solidFill>
                          <a:latin typeface="Calibri"/>
                        </a:rPr>
                        <a:t>▲ 17.3%</a:t>
                      </a:r>
                    </a:p>
                  </a:txBody>
                  <a:tcPr marL="85725" marR="38100" marT="19050" marB="19050" anchor="ctr">
                    <a:solidFill>
                      <a:srgbClr val="FFFFFF"/>
                    </a:solidFill>
                  </a:tcPr>
                </a:tc>
                <a:tc>
                  <a:txBody>
                    <a:bodyPr wrap="none"/>
                    <a:lstStyle/>
                    <a:p>
                      <a:pPr algn="l"/>
                      <a:r>
                        <a:rPr sz="800" b="1">
                          <a:solidFill>
                            <a:srgbClr val="2E7D32"/>
                          </a:solidFill>
                          <a:latin typeface="Calibri"/>
                        </a:rPr>
                        <a:t>▲ 15.6%</a:t>
                      </a:r>
                    </a:p>
                  </a:txBody>
                  <a:tcPr marL="85725" marR="38100" marT="19050" marB="19050" anchor="ctr">
                    <a:solidFill>
                      <a:srgbClr val="FFFFFF"/>
                    </a:solidFill>
                  </a:tcPr>
                </a:tc>
                <a:tc>
                  <a:txBody>
                    <a:bodyPr wrap="none"/>
                    <a:lstStyle/>
                    <a:p>
                      <a:pPr algn="l"/>
                      <a:r>
                        <a:rPr sz="800" b="1">
                          <a:solidFill>
                            <a:srgbClr val="2E7D32"/>
                          </a:solidFill>
                          <a:latin typeface="Calibri"/>
                        </a:rPr>
                        <a:t>▲ 14.2%</a:t>
                      </a:r>
                    </a:p>
                  </a:txBody>
                  <a:tcPr marL="85725" marR="38100" marT="19050" marB="19050" anchor="ctr">
                    <a:solidFill>
                      <a:srgbClr val="FFFFFF"/>
                    </a:solidFill>
                  </a:tcPr>
                </a:tc>
                <a:tc>
                  <a:txBody>
                    <a:bodyPr wrap="none"/>
                    <a:lstStyle/>
                    <a:p>
                      <a:pPr algn="l"/>
                      <a:r>
                        <a:rPr sz="800" b="1">
                          <a:solidFill>
                            <a:srgbClr val="2E7D32"/>
                          </a:solidFill>
                          <a:latin typeface="Calibri"/>
                        </a:rPr>
                        <a:t>▲ 13.0%</a:t>
                      </a:r>
                    </a:p>
                  </a:txBody>
                  <a:tcPr marL="85725" marR="38100" marT="19050" marB="19050" anchor="ctr">
                    <a:solidFill>
                      <a:srgbClr val="FFFFFF"/>
                    </a:solidFill>
                  </a:tcPr>
                </a:tc>
                <a:tc>
                  <a:txBody>
                    <a:bodyPr wrap="none"/>
                    <a:lstStyle/>
                    <a:p>
                      <a:pPr algn="l"/>
                      <a:r>
                        <a:rPr sz="800" b="1">
                          <a:solidFill>
                            <a:srgbClr val="2E7D32"/>
                          </a:solidFill>
                          <a:latin typeface="Calibri"/>
                        </a:rPr>
                        <a:t>▲ 12.0%</a:t>
                      </a:r>
                    </a:p>
                  </a:txBody>
                  <a:tcPr marL="85725" marR="38100" marT="19050" marB="19050" anchor="ctr">
                    <a:solidFill>
                      <a:srgbClr val="FFFFFF"/>
                    </a:solidFill>
                  </a:tcPr>
                </a:tc>
                <a:tc>
                  <a:txBody>
                    <a:bodyPr wrap="none"/>
                    <a:lstStyle/>
                    <a:p>
                      <a:pPr algn="l"/>
                      <a:r>
                        <a:rPr sz="800" b="1">
                          <a:solidFill>
                            <a:srgbClr val="2E7D32"/>
                          </a:solidFill>
                          <a:latin typeface="Calibri"/>
                        </a:rPr>
                        <a:t>▲ 11.2%</a:t>
                      </a:r>
                    </a:p>
                  </a:txBody>
                  <a:tcPr marL="85725" marR="38100" marT="19050" marB="19050" anchor="ctr">
                    <a:solidFill>
                      <a:srgbClr val="FFFFFF"/>
                    </a:solidFill>
                  </a:tcPr>
                </a:tc>
                <a:tc>
                  <a:txBody>
                    <a:bodyPr wrap="none"/>
                    <a:lstStyle/>
                    <a:p>
                      <a:pPr algn="l"/>
                      <a:r>
                        <a:rPr sz="800" b="1">
                          <a:solidFill>
                            <a:srgbClr val="2E7D32"/>
                          </a:solidFill>
                          <a:latin typeface="Calibri"/>
                        </a:rPr>
                        <a:t>▲ 10.5%</a:t>
                      </a:r>
                    </a:p>
                  </a:txBody>
                  <a:tcPr marL="85725" marR="38100" marT="19050" marB="19050" anchor="ctr">
                    <a:solidFill>
                      <a:srgbClr val="FFFFFF"/>
                    </a:solidFill>
                  </a:tcPr>
                </a:tc>
                <a:tc>
                  <a:txBody>
                    <a:bodyPr wrap="none"/>
                    <a:lstStyle/>
                    <a:p>
                      <a:pPr algn="l"/>
                      <a:r>
                        <a:rPr sz="800" b="1">
                          <a:solidFill>
                            <a:srgbClr val="2E7D32"/>
                          </a:solidFill>
                          <a:latin typeface="Calibri"/>
                        </a:rPr>
                        <a:t>▲ 10.0%</a:t>
                      </a:r>
                    </a:p>
                  </a:txBody>
                  <a:tcPr marL="85725" marR="38100" marT="19050" marB="19050" anchor="ctr">
                    <a:solidFill>
                      <a:srgbClr val="FFFFFF"/>
                    </a:solidFill>
                  </a:tcPr>
                </a:tc>
                <a:tc>
                  <a:txBody>
                    <a:bodyPr wrap="none"/>
                    <a:lstStyle/>
                    <a:p>
                      <a:pPr algn="l"/>
                      <a:r>
                        <a:rPr sz="800" b="1">
                          <a:solidFill>
                            <a:srgbClr val="2E7D32"/>
                          </a:solidFill>
                          <a:latin typeface="Calibri"/>
                        </a:rPr>
                        <a:t>▲ 9.5%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Hulio</a:t>
                      </a:r>
                    </a:p>
                  </a:txBody>
                  <a:tcPr marL="85725" marR="38100" marT="19050" marB="19050" anchor="ctr">
                    <a:solidFill>
                      <a:srgbClr val="F5F8FA"/>
                    </a:solidFill>
                  </a:tcPr>
                </a:tc>
                <a:tc>
                  <a:txBody>
                    <a:bodyPr wrap="none"/>
                    <a:lstStyle/>
                    <a:p>
                      <a:pPr algn="l"/>
                      <a:r>
                        <a:rPr sz="800" b="1">
                          <a:solidFill>
                            <a:srgbClr val="2E7D32"/>
                          </a:solidFill>
                          <a:latin typeface="Calibri"/>
                        </a:rPr>
                        <a:t>▲ 19.0%</a:t>
                      </a:r>
                    </a:p>
                  </a:txBody>
                  <a:tcPr marL="85725" marR="38100" marT="19050" marB="19050" anchor="ctr">
                    <a:solidFill>
                      <a:srgbClr val="F5F8FA"/>
                    </a:solidFill>
                  </a:tcPr>
                </a:tc>
                <a:tc>
                  <a:txBody>
                    <a:bodyPr wrap="none"/>
                    <a:lstStyle/>
                    <a:p>
                      <a:pPr algn="l"/>
                      <a:r>
                        <a:rPr sz="800" b="1">
                          <a:solidFill>
                            <a:srgbClr val="2E7D32"/>
                          </a:solidFill>
                          <a:latin typeface="Calibri"/>
                        </a:rPr>
                        <a:t>▲ 26.2%</a:t>
                      </a:r>
                    </a:p>
                  </a:txBody>
                  <a:tcPr marL="85725" marR="38100" marT="19050" marB="19050" anchor="ctr">
                    <a:solidFill>
                      <a:srgbClr val="F5F8FA"/>
                    </a:solidFill>
                  </a:tcPr>
                </a:tc>
                <a:tc>
                  <a:txBody>
                    <a:bodyPr wrap="none"/>
                    <a:lstStyle/>
                    <a:p>
                      <a:pPr algn="l"/>
                      <a:r>
                        <a:rPr sz="800" b="1">
                          <a:solidFill>
                            <a:srgbClr val="2E7D32"/>
                          </a:solidFill>
                          <a:latin typeface="Calibri"/>
                        </a:rPr>
                        <a:t>▲ 30.2%</a:t>
                      </a:r>
                    </a:p>
                  </a:txBody>
                  <a:tcPr marL="85725" marR="38100" marT="19050" marB="19050" anchor="ctr">
                    <a:solidFill>
                      <a:srgbClr val="F5F8FA"/>
                    </a:solidFill>
                  </a:tcPr>
                </a:tc>
                <a:tc>
                  <a:txBody>
                    <a:bodyPr wrap="none"/>
                    <a:lstStyle/>
                    <a:p>
                      <a:pPr algn="l"/>
                      <a:r>
                        <a:rPr sz="800" b="1">
                          <a:solidFill>
                            <a:srgbClr val="2E7D32"/>
                          </a:solidFill>
                          <a:latin typeface="Calibri"/>
                        </a:rPr>
                        <a:t>▲ 27.4%</a:t>
                      </a:r>
                    </a:p>
                  </a:txBody>
                  <a:tcPr marL="85725" marR="38100" marT="19050" marB="19050" anchor="ctr">
                    <a:solidFill>
                      <a:srgbClr val="F5F8FA"/>
                    </a:solidFill>
                  </a:tcPr>
                </a:tc>
                <a:tc>
                  <a:txBody>
                    <a:bodyPr wrap="none"/>
                    <a:lstStyle/>
                    <a:p>
                      <a:pPr algn="l"/>
                      <a:r>
                        <a:rPr sz="800" b="1">
                          <a:solidFill>
                            <a:srgbClr val="2E7D32"/>
                          </a:solidFill>
                          <a:latin typeface="Calibri"/>
                        </a:rPr>
                        <a:t>▲ 23.6%</a:t>
                      </a:r>
                    </a:p>
                  </a:txBody>
                  <a:tcPr marL="85725" marR="38100" marT="19050" marB="19050" anchor="ctr">
                    <a:solidFill>
                      <a:srgbClr val="F5F8FA"/>
                    </a:solidFill>
                  </a:tcPr>
                </a:tc>
                <a:tc>
                  <a:txBody>
                    <a:bodyPr wrap="none"/>
                    <a:lstStyle/>
                    <a:p>
                      <a:pPr algn="l"/>
                      <a:r>
                        <a:rPr sz="800" b="1">
                          <a:solidFill>
                            <a:srgbClr val="2E7D32"/>
                          </a:solidFill>
                          <a:latin typeface="Calibri"/>
                        </a:rPr>
                        <a:t>▲ 21.3%</a:t>
                      </a:r>
                    </a:p>
                  </a:txBody>
                  <a:tcPr marL="85725" marR="38100" marT="19050" marB="19050" anchor="ctr">
                    <a:solidFill>
                      <a:srgbClr val="F5F8FA"/>
                    </a:solidFill>
                  </a:tcPr>
                </a:tc>
                <a:tc>
                  <a:txBody>
                    <a:bodyPr wrap="none"/>
                    <a:lstStyle/>
                    <a:p>
                      <a:pPr algn="l"/>
                      <a:r>
                        <a:rPr sz="800" b="1">
                          <a:solidFill>
                            <a:srgbClr val="2E7D32"/>
                          </a:solidFill>
                          <a:latin typeface="Calibri"/>
                        </a:rPr>
                        <a:t>▲ 18.8%</a:t>
                      </a:r>
                    </a:p>
                  </a:txBody>
                  <a:tcPr marL="85725" marR="38100" marT="19050" marB="19050" anchor="ctr">
                    <a:solidFill>
                      <a:srgbClr val="F5F8FA"/>
                    </a:solidFill>
                  </a:tcPr>
                </a:tc>
                <a:tc>
                  <a:txBody>
                    <a:bodyPr wrap="none"/>
                    <a:lstStyle/>
                    <a:p>
                      <a:pPr algn="l"/>
                      <a:r>
                        <a:rPr sz="800" b="1">
                          <a:solidFill>
                            <a:srgbClr val="2E7D32"/>
                          </a:solidFill>
                          <a:latin typeface="Calibri"/>
                        </a:rPr>
                        <a:t>▲ 17.1%</a:t>
                      </a:r>
                    </a:p>
                  </a:txBody>
                  <a:tcPr marL="85725" marR="38100" marT="19050" marB="19050" anchor="ctr">
                    <a:solidFill>
                      <a:srgbClr val="F5F8FA"/>
                    </a:solidFill>
                  </a:tcPr>
                </a:tc>
                <a:tc>
                  <a:txBody>
                    <a:bodyPr wrap="none"/>
                    <a:lstStyle/>
                    <a:p>
                      <a:pPr algn="l"/>
                      <a:r>
                        <a:rPr sz="800" b="1">
                          <a:solidFill>
                            <a:srgbClr val="2E7D32"/>
                          </a:solidFill>
                          <a:latin typeface="Calibri"/>
                        </a:rPr>
                        <a:t>▲ 15.7%</a:t>
                      </a:r>
                    </a:p>
                  </a:txBody>
                  <a:tcPr marL="85725" marR="38100" marT="19050" marB="19050" anchor="ctr">
                    <a:solidFill>
                      <a:srgbClr val="F5F8FA"/>
                    </a:solidFill>
                  </a:tcPr>
                </a:tc>
                <a:tc>
                  <a:txBody>
                    <a:bodyPr wrap="none"/>
                    <a:lstStyle/>
                    <a:p>
                      <a:pPr algn="l"/>
                      <a:r>
                        <a:rPr sz="800" b="1">
                          <a:solidFill>
                            <a:srgbClr val="2E7D32"/>
                          </a:solidFill>
                          <a:latin typeface="Calibri"/>
                        </a:rPr>
                        <a:t>▲ 14.5%</a:t>
                      </a:r>
                    </a:p>
                  </a:txBody>
                  <a:tcPr marL="85725" marR="38100" marT="19050" marB="19050" anchor="ctr">
                    <a:solidFill>
                      <a:srgbClr val="F5F8FA"/>
                    </a:solidFill>
                  </a:tcPr>
                </a:tc>
                <a:tc>
                  <a:txBody>
                    <a:bodyPr wrap="none"/>
                    <a:lstStyle/>
                    <a:p>
                      <a:pPr algn="l"/>
                      <a:r>
                        <a:rPr sz="800" b="1">
                          <a:solidFill>
                            <a:srgbClr val="2E7D32"/>
                          </a:solidFill>
                          <a:latin typeface="Calibri"/>
                        </a:rPr>
                        <a:t>▲ 13.5%</a:t>
                      </a:r>
                    </a:p>
                  </a:txBody>
                  <a:tcPr marL="85725" marR="38100" marT="19050" marB="19050" anchor="ctr">
                    <a:solidFill>
                      <a:srgbClr val="F5F8FA"/>
                    </a:solidFill>
                  </a:tcPr>
                </a:tc>
                <a:tc>
                  <a:txBody>
                    <a:bodyPr wrap="none"/>
                    <a:lstStyle/>
                    <a:p>
                      <a:pPr algn="l"/>
                      <a:r>
                        <a:rPr sz="800" b="1">
                          <a:solidFill>
                            <a:srgbClr val="2E7D32"/>
                          </a:solidFill>
                          <a:latin typeface="Calibri"/>
                        </a:rPr>
                        <a:t>▲ 12.7%</a:t>
                      </a:r>
                    </a:p>
                  </a:txBody>
                  <a:tcPr marL="85725" marR="38100" marT="19050" marB="19050" anchor="ctr">
                    <a:solidFill>
                      <a:srgbClr val="F5F8FA"/>
                    </a:solidFill>
                  </a:tcPr>
                </a:tc>
                <a:tc>
                  <a:txBody>
                    <a:bodyPr wrap="none"/>
                    <a:lstStyle/>
                    <a:p>
                      <a:pPr algn="l"/>
                      <a:r>
                        <a:rPr sz="800" b="1">
                          <a:solidFill>
                            <a:srgbClr val="2E7D32"/>
                          </a:solidFill>
                          <a:latin typeface="Calibri"/>
                        </a:rPr>
                        <a:t>▲ 12.0%</a:t>
                      </a:r>
                    </a:p>
                  </a:txBody>
                  <a:tcPr marL="85725" marR="38100" marT="19050" marB="19050" anchor="ctr">
                    <a:solidFill>
                      <a:srgbClr val="F5F8FA"/>
                    </a:solidFill>
                  </a:tcPr>
                </a:tc>
                <a:tc>
                  <a:txBody>
                    <a:bodyPr wrap="none"/>
                    <a:lstStyle/>
                    <a:p>
                      <a:pPr algn="l"/>
                      <a:r>
                        <a:rPr sz="800" b="1">
                          <a:solidFill>
                            <a:srgbClr val="2E7D32"/>
                          </a:solidFill>
                          <a:latin typeface="Calibri"/>
                        </a:rPr>
                        <a:t>▲ 11.4%</a:t>
                      </a:r>
                    </a:p>
                  </a:txBody>
                  <a:tcPr marL="85725" marR="38100" marT="19050" marB="19050" anchor="ctr">
                    <a:solidFill>
                      <a:srgbClr val="F5F8FA"/>
                    </a:solidFill>
                  </a:tcPr>
                </a:tc>
                <a:tc>
                  <a:txBody>
                    <a:bodyPr wrap="none"/>
                    <a:lstStyle/>
                    <a:p>
                      <a:pPr algn="l"/>
                      <a:r>
                        <a:rPr sz="800" b="1">
                          <a:solidFill>
                            <a:srgbClr val="2E7D32"/>
                          </a:solidFill>
                          <a:latin typeface="Calibri"/>
                        </a:rPr>
                        <a:t>▲ 11.0%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800" b="1">
                          <a:solidFill>
                            <a:srgbClr val="A86F00"/>
                          </a:solidFill>
                          <a:latin typeface="Calibri"/>
                        </a:rPr>
                        <a:t>▶ 16.8%</a:t>
                      </a:r>
                    </a:p>
                  </a:txBody>
                  <a:tcPr marL="85725" marR="38100" marT="19050" marB="19050" anchor="ctr">
                    <a:solidFill>
                      <a:srgbClr val="FFFFFF"/>
                    </a:solidFill>
                  </a:tcPr>
                </a:tc>
                <a:tc>
                  <a:txBody>
                    <a:bodyPr wrap="none"/>
                    <a:lstStyle/>
                    <a:p>
                      <a:pPr algn="l"/>
                      <a:r>
                        <a:rPr sz="800" b="1">
                          <a:solidFill>
                            <a:srgbClr val="A86F00"/>
                          </a:solidFill>
                          <a:latin typeface="Calibri"/>
                        </a:rPr>
                        <a:t>▶ 23.8%</a:t>
                      </a:r>
                    </a:p>
                  </a:txBody>
                  <a:tcPr marL="85725" marR="38100" marT="19050" marB="19050" anchor="ctr">
                    <a:solidFill>
                      <a:srgbClr val="FFFFFF"/>
                    </a:solidFill>
                  </a:tcPr>
                </a:tc>
                <a:tc>
                  <a:txBody>
                    <a:bodyPr wrap="none"/>
                    <a:lstStyle/>
                    <a:p>
                      <a:pPr algn="l"/>
                      <a:r>
                        <a:rPr sz="800" b="1">
                          <a:solidFill>
                            <a:srgbClr val="A86F00"/>
                          </a:solidFill>
                          <a:latin typeface="Calibri"/>
                        </a:rPr>
                        <a:t>▶ 27.8%</a:t>
                      </a:r>
                    </a:p>
                  </a:txBody>
                  <a:tcPr marL="85725" marR="38100" marT="19050" marB="19050" anchor="ctr">
                    <a:solidFill>
                      <a:srgbClr val="FFFFFF"/>
                    </a:solidFill>
                  </a:tcPr>
                </a:tc>
                <a:tc>
                  <a:txBody>
                    <a:bodyPr wrap="none"/>
                    <a:lstStyle/>
                    <a:p>
                      <a:pPr algn="l"/>
                      <a:r>
                        <a:rPr sz="800" b="1">
                          <a:solidFill>
                            <a:srgbClr val="A86F00"/>
                          </a:solidFill>
                          <a:latin typeface="Calibri"/>
                        </a:rPr>
                        <a:t>▶ 25.0%</a:t>
                      </a:r>
                    </a:p>
                  </a:txBody>
                  <a:tcPr marL="85725" marR="38100" marT="19050" marB="19050" anchor="ctr">
                    <a:solidFill>
                      <a:srgbClr val="FFFFFF"/>
                    </a:solidFill>
                  </a:tcPr>
                </a:tc>
                <a:tc>
                  <a:txBody>
                    <a:bodyPr wrap="none"/>
                    <a:lstStyle/>
                    <a:p>
                      <a:pPr algn="l"/>
                      <a:r>
                        <a:rPr sz="800" b="1">
                          <a:solidFill>
                            <a:srgbClr val="A86F00"/>
                          </a:solidFill>
                          <a:latin typeface="Calibri"/>
                        </a:rPr>
                        <a:t>▶ 21.3%</a:t>
                      </a:r>
                    </a:p>
                  </a:txBody>
                  <a:tcPr marL="85725" marR="38100" marT="19050" marB="19050" anchor="ctr">
                    <a:solidFill>
                      <a:srgbClr val="FFFFFF"/>
                    </a:solidFill>
                  </a:tcPr>
                </a:tc>
                <a:tc>
                  <a:txBody>
                    <a:bodyPr wrap="none"/>
                    <a:lstStyle/>
                    <a:p>
                      <a:pPr algn="l"/>
                      <a:r>
                        <a:rPr sz="800" b="1">
                          <a:solidFill>
                            <a:srgbClr val="A86F00"/>
                          </a:solidFill>
                          <a:latin typeface="Calibri"/>
                        </a:rPr>
                        <a:t>▶ 19.1%</a:t>
                      </a:r>
                    </a:p>
                  </a:txBody>
                  <a:tcPr marL="85725" marR="38100" marT="19050" marB="19050" anchor="ctr">
                    <a:solidFill>
                      <a:srgbClr val="FFFFFF"/>
                    </a:solidFill>
                  </a:tcPr>
                </a:tc>
                <a:tc>
                  <a:txBody>
                    <a:bodyPr wrap="none"/>
                    <a:lstStyle/>
                    <a:p>
                      <a:pPr algn="l"/>
                      <a:r>
                        <a:rPr sz="800" b="1">
                          <a:solidFill>
                            <a:srgbClr val="A86F00"/>
                          </a:solidFill>
                          <a:latin typeface="Calibri"/>
                        </a:rPr>
                        <a:t>▶ 16.6%</a:t>
                      </a:r>
                    </a:p>
                  </a:txBody>
                  <a:tcPr marL="85725" marR="38100" marT="19050" marB="19050" anchor="ctr">
                    <a:solidFill>
                      <a:srgbClr val="FFFFFF"/>
                    </a:solidFill>
                  </a:tcPr>
                </a:tc>
                <a:tc>
                  <a:txBody>
                    <a:bodyPr wrap="none"/>
                    <a:lstStyle/>
                    <a:p>
                      <a:pPr algn="l"/>
                      <a:r>
                        <a:rPr sz="800" b="1">
                          <a:solidFill>
                            <a:srgbClr val="A86F00"/>
                          </a:solidFill>
                          <a:latin typeface="Calibri"/>
                        </a:rPr>
                        <a:t>▶ 14.9%</a:t>
                      </a:r>
                    </a:p>
                  </a:txBody>
                  <a:tcPr marL="85725" marR="38100" marT="19050" marB="19050" anchor="ctr">
                    <a:solidFill>
                      <a:srgbClr val="FFFFFF"/>
                    </a:solidFill>
                  </a:tcPr>
                </a:tc>
                <a:tc>
                  <a:txBody>
                    <a:bodyPr wrap="none"/>
                    <a:lstStyle/>
                    <a:p>
                      <a:pPr algn="l"/>
                      <a:r>
                        <a:rPr sz="800" b="1">
                          <a:solidFill>
                            <a:srgbClr val="A86F00"/>
                          </a:solidFill>
                          <a:latin typeface="Calibri"/>
                        </a:rPr>
                        <a:t>▶ 13.6%</a:t>
                      </a:r>
                    </a:p>
                  </a:txBody>
                  <a:tcPr marL="85725" marR="38100" marT="19050" marB="19050" anchor="ctr">
                    <a:solidFill>
                      <a:srgbClr val="FFFFFF"/>
                    </a:solidFill>
                  </a:tcPr>
                </a:tc>
                <a:tc>
                  <a:txBody>
                    <a:bodyPr wrap="none"/>
                    <a:lstStyle/>
                    <a:p>
                      <a:pPr algn="l"/>
                      <a:r>
                        <a:rPr sz="800" b="1">
                          <a:solidFill>
                            <a:srgbClr val="A86F00"/>
                          </a:solidFill>
                          <a:latin typeface="Calibri"/>
                        </a:rPr>
                        <a:t>▶ 12.4%</a:t>
                      </a:r>
                    </a:p>
                  </a:txBody>
                  <a:tcPr marL="85725" marR="38100" marT="19050" marB="19050" anchor="ctr">
                    <a:solidFill>
                      <a:srgbClr val="FFFFFF"/>
                    </a:solidFill>
                  </a:tcPr>
                </a:tc>
                <a:tc>
                  <a:txBody>
                    <a:bodyPr wrap="none"/>
                    <a:lstStyle/>
                    <a:p>
                      <a:pPr algn="l"/>
                      <a:r>
                        <a:rPr sz="800" b="1">
                          <a:solidFill>
                            <a:srgbClr val="A86F00"/>
                          </a:solidFill>
                          <a:latin typeface="Calibri"/>
                        </a:rPr>
                        <a:t>▶ 11.4%</a:t>
                      </a:r>
                    </a:p>
                  </a:txBody>
                  <a:tcPr marL="85725" marR="38100" marT="19050" marB="19050" anchor="ctr">
                    <a:solidFill>
                      <a:srgbClr val="FFFFFF"/>
                    </a:solidFill>
                  </a:tcPr>
                </a:tc>
                <a:tc>
                  <a:txBody>
                    <a:bodyPr wrap="none"/>
                    <a:lstStyle/>
                    <a:p>
                      <a:pPr algn="l"/>
                      <a:r>
                        <a:rPr sz="800" b="1">
                          <a:solidFill>
                            <a:srgbClr val="A86F00"/>
                          </a:solidFill>
                          <a:latin typeface="Calibri"/>
                        </a:rPr>
                        <a:t>▶ 10.6%</a:t>
                      </a:r>
                    </a:p>
                  </a:txBody>
                  <a:tcPr marL="85725" marR="38100" marT="19050" marB="19050" anchor="ctr">
                    <a:solidFill>
                      <a:srgbClr val="FFFFFF"/>
                    </a:solidFill>
                  </a:tcPr>
                </a:tc>
                <a:tc>
                  <a:txBody>
                    <a:bodyPr wrap="none"/>
                    <a:lstStyle/>
                    <a:p>
                      <a:pPr algn="l"/>
                      <a:r>
                        <a:rPr sz="800" b="1">
                          <a:solidFill>
                            <a:srgbClr val="A86F00"/>
                          </a:solidFill>
                          <a:latin typeface="Calibri"/>
                        </a:rPr>
                        <a:t>▶ 9.9%</a:t>
                      </a:r>
                    </a:p>
                  </a:txBody>
                  <a:tcPr marL="85725" marR="38100" marT="19050" marB="19050" anchor="ctr">
                    <a:solidFill>
                      <a:srgbClr val="FFFFFF"/>
                    </a:solidFill>
                  </a:tcPr>
                </a:tc>
                <a:tc>
                  <a:txBody>
                    <a:bodyPr wrap="none"/>
                    <a:lstStyle/>
                    <a:p>
                      <a:pPr algn="l"/>
                      <a:r>
                        <a:rPr sz="800" b="1">
                          <a:solidFill>
                            <a:srgbClr val="A86F00"/>
                          </a:solidFill>
                          <a:latin typeface="Calibri"/>
                        </a:rPr>
                        <a:t>▶ 9.4%</a:t>
                      </a:r>
                    </a:p>
                  </a:txBody>
                  <a:tcPr marL="85725" marR="38100" marT="19050" marB="19050" anchor="ctr">
                    <a:solidFill>
                      <a:srgbClr val="FFFFFF"/>
                    </a:solidFill>
                  </a:tcPr>
                </a:tc>
                <a:tc>
                  <a:txBody>
                    <a:bodyPr wrap="none"/>
                    <a:lstStyle/>
                    <a:p>
                      <a:pPr algn="l"/>
                      <a:r>
                        <a:rPr sz="800" b="1">
                          <a:solidFill>
                            <a:srgbClr val="A86F00"/>
                          </a:solidFill>
                          <a:latin typeface="Calibri"/>
                        </a:rPr>
                        <a:t>▶ 9.0%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Yusimry</a:t>
                      </a:r>
                    </a:p>
                  </a:txBody>
                  <a:tcPr marL="85725" marR="38100" marT="19050" marB="19050" anchor="ctr">
                    <a:solidFill>
                      <a:srgbClr val="F5F8FA"/>
                    </a:solidFill>
                  </a:tcPr>
                </a:tc>
                <a:tc>
                  <a:txBody>
                    <a:bodyPr wrap="none"/>
                    <a:lstStyle/>
                    <a:p>
                      <a:pPr algn="l"/>
                      <a:r>
                        <a:rPr sz="800" b="1">
                          <a:solidFill>
                            <a:srgbClr val="2E7D32"/>
                          </a:solidFill>
                          <a:latin typeface="Calibri"/>
                        </a:rPr>
                        <a:t>▲ 17.2%</a:t>
                      </a:r>
                    </a:p>
                  </a:txBody>
                  <a:tcPr marL="85725" marR="38100" marT="19050" marB="19050" anchor="ctr">
                    <a:solidFill>
                      <a:srgbClr val="F5F8FA"/>
                    </a:solidFill>
                  </a:tcPr>
                </a:tc>
                <a:tc>
                  <a:txBody>
                    <a:bodyPr wrap="none"/>
                    <a:lstStyle/>
                    <a:p>
                      <a:pPr algn="l"/>
                      <a:r>
                        <a:rPr sz="800" b="1">
                          <a:solidFill>
                            <a:srgbClr val="2E7D32"/>
                          </a:solidFill>
                          <a:latin typeface="Calibri"/>
                        </a:rPr>
                        <a:t>▲ 24.3%</a:t>
                      </a:r>
                    </a:p>
                  </a:txBody>
                  <a:tcPr marL="85725" marR="38100" marT="19050" marB="19050" anchor="ctr">
                    <a:solidFill>
                      <a:srgbClr val="F5F8FA"/>
                    </a:solidFill>
                  </a:tcPr>
                </a:tc>
                <a:tc>
                  <a:txBody>
                    <a:bodyPr wrap="none"/>
                    <a:lstStyle/>
                    <a:p>
                      <a:pPr algn="l"/>
                      <a:r>
                        <a:rPr sz="800" b="1">
                          <a:solidFill>
                            <a:srgbClr val="2E7D32"/>
                          </a:solidFill>
                          <a:latin typeface="Calibri"/>
                        </a:rPr>
                        <a:t>▲ 28.3%</a:t>
                      </a:r>
                    </a:p>
                  </a:txBody>
                  <a:tcPr marL="85725" marR="38100" marT="19050" marB="19050" anchor="ctr">
                    <a:solidFill>
                      <a:srgbClr val="F5F8FA"/>
                    </a:solidFill>
                  </a:tcPr>
                </a:tc>
                <a:tc>
                  <a:txBody>
                    <a:bodyPr wrap="none"/>
                    <a:lstStyle/>
                    <a:p>
                      <a:pPr algn="l"/>
                      <a:r>
                        <a:rPr sz="800" b="1">
                          <a:solidFill>
                            <a:srgbClr val="2E7D32"/>
                          </a:solidFill>
                          <a:latin typeface="Calibri"/>
                        </a:rPr>
                        <a:t>▲ 25.6%</a:t>
                      </a:r>
                    </a:p>
                  </a:txBody>
                  <a:tcPr marL="85725" marR="38100" marT="19050" marB="19050" anchor="ctr">
                    <a:solidFill>
                      <a:srgbClr val="F5F8FA"/>
                    </a:solidFill>
                  </a:tcPr>
                </a:tc>
                <a:tc>
                  <a:txBody>
                    <a:bodyPr wrap="none"/>
                    <a:lstStyle/>
                    <a:p>
                      <a:pPr algn="l"/>
                      <a:r>
                        <a:rPr sz="800" b="1">
                          <a:solidFill>
                            <a:srgbClr val="2E7D32"/>
                          </a:solidFill>
                          <a:latin typeface="Calibri"/>
                        </a:rPr>
                        <a:t>▲ 21.8%</a:t>
                      </a:r>
                    </a:p>
                  </a:txBody>
                  <a:tcPr marL="85725" marR="38100" marT="19050" marB="19050" anchor="ctr">
                    <a:solidFill>
                      <a:srgbClr val="F5F8FA"/>
                    </a:solidFill>
                  </a:tcPr>
                </a:tc>
                <a:tc>
                  <a:txBody>
                    <a:bodyPr wrap="none"/>
                    <a:lstStyle/>
                    <a:p>
                      <a:pPr algn="l"/>
                      <a:r>
                        <a:rPr sz="800" b="1">
                          <a:solidFill>
                            <a:srgbClr val="2E7D32"/>
                          </a:solidFill>
                          <a:latin typeface="Calibri"/>
                        </a:rPr>
                        <a:t>▲ 19.5%</a:t>
                      </a:r>
                    </a:p>
                  </a:txBody>
                  <a:tcPr marL="85725" marR="38100" marT="19050" marB="19050" anchor="ctr">
                    <a:solidFill>
                      <a:srgbClr val="F5F8FA"/>
                    </a:solidFill>
                  </a:tcPr>
                </a:tc>
                <a:tc>
                  <a:txBody>
                    <a:bodyPr wrap="none"/>
                    <a:lstStyle/>
                    <a:p>
                      <a:pPr algn="l"/>
                      <a:r>
                        <a:rPr sz="800" b="1">
                          <a:solidFill>
                            <a:srgbClr val="2E7D32"/>
                          </a:solidFill>
                          <a:latin typeface="Calibri"/>
                        </a:rPr>
                        <a:t>▲ 17.1%</a:t>
                      </a:r>
                    </a:p>
                  </a:txBody>
                  <a:tcPr marL="85725" marR="38100" marT="19050" marB="19050" anchor="ctr">
                    <a:solidFill>
                      <a:srgbClr val="F5F8FA"/>
                    </a:solidFill>
                  </a:tcPr>
                </a:tc>
                <a:tc>
                  <a:txBody>
                    <a:bodyPr wrap="none"/>
                    <a:lstStyle/>
                    <a:p>
                      <a:pPr algn="l"/>
                      <a:r>
                        <a:rPr sz="800" b="1">
                          <a:solidFill>
                            <a:srgbClr val="2E7D32"/>
                          </a:solidFill>
                          <a:latin typeface="Calibri"/>
                        </a:rPr>
                        <a:t>▲ 15.4%</a:t>
                      </a:r>
                    </a:p>
                  </a:txBody>
                  <a:tcPr marL="85725" marR="38100" marT="19050" marB="19050" anchor="ctr">
                    <a:solidFill>
                      <a:srgbClr val="F5F8FA"/>
                    </a:solidFill>
                  </a:tcPr>
                </a:tc>
                <a:tc>
                  <a:txBody>
                    <a:bodyPr wrap="none"/>
                    <a:lstStyle/>
                    <a:p>
                      <a:pPr algn="l"/>
                      <a:r>
                        <a:rPr sz="800" b="1">
                          <a:solidFill>
                            <a:srgbClr val="2E7D32"/>
                          </a:solidFill>
                          <a:latin typeface="Calibri"/>
                        </a:rPr>
                        <a:t>▲ 14.0%</a:t>
                      </a:r>
                    </a:p>
                  </a:txBody>
                  <a:tcPr marL="85725" marR="38100" marT="19050" marB="19050" anchor="ctr">
                    <a:solidFill>
                      <a:srgbClr val="F5F8FA"/>
                    </a:solidFill>
                  </a:tcPr>
                </a:tc>
                <a:tc>
                  <a:txBody>
                    <a:bodyPr wrap="none"/>
                    <a:lstStyle/>
                    <a:p>
                      <a:pPr algn="l"/>
                      <a:r>
                        <a:rPr sz="800" b="1">
                          <a:solidFill>
                            <a:srgbClr val="2E7D32"/>
                          </a:solidFill>
                          <a:latin typeface="Calibri"/>
                        </a:rPr>
                        <a:t>▲ 12.8%</a:t>
                      </a:r>
                    </a:p>
                  </a:txBody>
                  <a:tcPr marL="85725" marR="38100" marT="19050" marB="19050" anchor="ctr">
                    <a:solidFill>
                      <a:srgbClr val="F5F8FA"/>
                    </a:solidFill>
                  </a:tcPr>
                </a:tc>
                <a:tc>
                  <a:txBody>
                    <a:bodyPr wrap="none"/>
                    <a:lstStyle/>
                    <a:p>
                      <a:pPr algn="l"/>
                      <a:r>
                        <a:rPr sz="800" b="1">
                          <a:solidFill>
                            <a:srgbClr val="2E7D32"/>
                          </a:solidFill>
                          <a:latin typeface="Calibri"/>
                        </a:rPr>
                        <a:t>▲ 11.9%</a:t>
                      </a:r>
                    </a:p>
                  </a:txBody>
                  <a:tcPr marL="85725" marR="38100" marT="19050" marB="19050" anchor="ctr">
                    <a:solidFill>
                      <a:srgbClr val="F5F8FA"/>
                    </a:solidFill>
                  </a:tcPr>
                </a:tc>
                <a:tc>
                  <a:txBody>
                    <a:bodyPr wrap="none"/>
                    <a:lstStyle/>
                    <a:p>
                      <a:pPr algn="l"/>
                      <a:r>
                        <a:rPr sz="800" b="1">
                          <a:solidFill>
                            <a:srgbClr val="2E7D32"/>
                          </a:solidFill>
                          <a:latin typeface="Calibri"/>
                        </a:rPr>
                        <a:t>▲ 11.0%</a:t>
                      </a:r>
                    </a:p>
                  </a:txBody>
                  <a:tcPr marL="85725" marR="38100" marT="19050" marB="19050" anchor="ctr">
                    <a:solidFill>
                      <a:srgbClr val="F5F8FA"/>
                    </a:solidFill>
                  </a:tcPr>
                </a:tc>
                <a:tc>
                  <a:txBody>
                    <a:bodyPr wrap="none"/>
                    <a:lstStyle/>
                    <a:p>
                      <a:pPr algn="l"/>
                      <a:r>
                        <a:rPr sz="800" b="1">
                          <a:solidFill>
                            <a:srgbClr val="2E7D32"/>
                          </a:solidFill>
                          <a:latin typeface="Calibri"/>
                        </a:rPr>
                        <a:t>▲ 10.4%</a:t>
                      </a:r>
                    </a:p>
                  </a:txBody>
                  <a:tcPr marL="85725" marR="38100" marT="19050" marB="19050" anchor="ctr">
                    <a:solidFill>
                      <a:srgbClr val="F5F8FA"/>
                    </a:solidFill>
                  </a:tcPr>
                </a:tc>
                <a:tc>
                  <a:txBody>
                    <a:bodyPr wrap="none"/>
                    <a:lstStyle/>
                    <a:p>
                      <a:pPr algn="l"/>
                      <a:r>
                        <a:rPr sz="800" b="1">
                          <a:solidFill>
                            <a:srgbClr val="2E7D32"/>
                          </a:solidFill>
                          <a:latin typeface="Calibri"/>
                        </a:rPr>
                        <a:t>▲ 9.8%</a:t>
                      </a:r>
                    </a:p>
                  </a:txBody>
                  <a:tcPr marL="85725" marR="38100" marT="19050" marB="19050" anchor="ctr">
                    <a:solidFill>
                      <a:srgbClr val="F5F8FA"/>
                    </a:solidFill>
                  </a:tcPr>
                </a:tc>
                <a:tc>
                  <a:txBody>
                    <a:bodyPr wrap="none"/>
                    <a:lstStyle/>
                    <a:p>
                      <a:pPr algn="l"/>
                      <a:r>
                        <a:rPr sz="800" b="1">
                          <a:solidFill>
                            <a:srgbClr val="2E7D32"/>
                          </a:solidFill>
                          <a:latin typeface="Calibri"/>
                        </a:rPr>
                        <a:t>▲ 9.4%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Yuflyma</a:t>
                      </a:r>
                    </a:p>
                  </a:txBody>
                  <a:tcPr marL="85725" marR="38100" marT="19050" marB="19050" anchor="ctr">
                    <a:solidFill>
                      <a:srgbClr val="FFFFFF"/>
                    </a:solidFill>
                  </a:tcPr>
                </a:tc>
                <a:tc>
                  <a:txBody>
                    <a:bodyPr wrap="none"/>
                    <a:lstStyle/>
                    <a:p>
                      <a:pPr algn="l"/>
                      <a:r>
                        <a:rPr sz="800" b="1">
                          <a:solidFill>
                            <a:srgbClr val="A86F00"/>
                          </a:solidFill>
                          <a:latin typeface="Calibri"/>
                        </a:rPr>
                        <a:t>▶ 16.4%</a:t>
                      </a:r>
                    </a:p>
                  </a:txBody>
                  <a:tcPr marL="85725" marR="38100" marT="19050" marB="19050" anchor="ctr">
                    <a:solidFill>
                      <a:srgbClr val="FFFFFF"/>
                    </a:solidFill>
                  </a:tcPr>
                </a:tc>
                <a:tc>
                  <a:txBody>
                    <a:bodyPr wrap="none"/>
                    <a:lstStyle/>
                    <a:p>
                      <a:pPr algn="l"/>
                      <a:r>
                        <a:rPr sz="800" b="1">
                          <a:solidFill>
                            <a:srgbClr val="A86F00"/>
                          </a:solidFill>
                          <a:latin typeface="Calibri"/>
                        </a:rPr>
                        <a:t>▶ 23.4%</a:t>
                      </a:r>
                    </a:p>
                  </a:txBody>
                  <a:tcPr marL="85725" marR="38100" marT="19050" marB="19050" anchor="ctr">
                    <a:solidFill>
                      <a:srgbClr val="FFFFFF"/>
                    </a:solidFill>
                  </a:tcPr>
                </a:tc>
                <a:tc>
                  <a:txBody>
                    <a:bodyPr wrap="none"/>
                    <a:lstStyle/>
                    <a:p>
                      <a:pPr algn="l"/>
                      <a:r>
                        <a:rPr sz="800" b="1">
                          <a:solidFill>
                            <a:srgbClr val="A86F00"/>
                          </a:solidFill>
                          <a:latin typeface="Calibri"/>
                        </a:rPr>
                        <a:t>▶ 27.3%</a:t>
                      </a:r>
                    </a:p>
                  </a:txBody>
                  <a:tcPr marL="85725" marR="38100" marT="19050" marB="19050" anchor="ctr">
                    <a:solidFill>
                      <a:srgbClr val="FFFFFF"/>
                    </a:solidFill>
                  </a:tcPr>
                </a:tc>
                <a:tc>
                  <a:txBody>
                    <a:bodyPr wrap="none"/>
                    <a:lstStyle/>
                    <a:p>
                      <a:pPr algn="l"/>
                      <a:r>
                        <a:rPr sz="800" b="1">
                          <a:solidFill>
                            <a:srgbClr val="A86F00"/>
                          </a:solidFill>
                          <a:latin typeface="Calibri"/>
                        </a:rPr>
                        <a:t>▶ 24.6%</a:t>
                      </a:r>
                    </a:p>
                  </a:txBody>
                  <a:tcPr marL="85725" marR="38100" marT="19050" marB="19050" anchor="ctr">
                    <a:solidFill>
                      <a:srgbClr val="FFFFFF"/>
                    </a:solidFill>
                  </a:tcPr>
                </a:tc>
                <a:tc>
                  <a:txBody>
                    <a:bodyPr wrap="none"/>
                    <a:lstStyle/>
                    <a:p>
                      <a:pPr algn="l"/>
                      <a:r>
                        <a:rPr sz="800" b="1">
                          <a:solidFill>
                            <a:srgbClr val="A86F00"/>
                          </a:solidFill>
                          <a:latin typeface="Calibri"/>
                        </a:rPr>
                        <a:t>▶ 20.8%</a:t>
                      </a:r>
                    </a:p>
                  </a:txBody>
                  <a:tcPr marL="85725" marR="38100" marT="19050" marB="19050" anchor="ctr">
                    <a:solidFill>
                      <a:srgbClr val="FFFFFF"/>
                    </a:solidFill>
                  </a:tcPr>
                </a:tc>
                <a:tc>
                  <a:txBody>
                    <a:bodyPr wrap="none"/>
                    <a:lstStyle/>
                    <a:p>
                      <a:pPr algn="l"/>
                      <a:r>
                        <a:rPr sz="800" b="1">
                          <a:solidFill>
                            <a:srgbClr val="A86F00"/>
                          </a:solidFill>
                          <a:latin typeface="Calibri"/>
                        </a:rPr>
                        <a:t>▶ 18.6%</a:t>
                      </a:r>
                    </a:p>
                  </a:txBody>
                  <a:tcPr marL="85725" marR="38100" marT="19050" marB="19050" anchor="ctr">
                    <a:solidFill>
                      <a:srgbClr val="FFFFFF"/>
                    </a:solidFill>
                  </a:tcPr>
                </a:tc>
                <a:tc>
                  <a:txBody>
                    <a:bodyPr wrap="none"/>
                    <a:lstStyle/>
                    <a:p>
                      <a:pPr algn="l"/>
                      <a:r>
                        <a:rPr sz="800" b="1">
                          <a:solidFill>
                            <a:srgbClr val="A86F00"/>
                          </a:solidFill>
                          <a:latin typeface="Calibri"/>
                        </a:rPr>
                        <a:t>▶ 16.2%</a:t>
                      </a:r>
                    </a:p>
                  </a:txBody>
                  <a:tcPr marL="85725" marR="38100" marT="19050" marB="19050" anchor="ctr">
                    <a:solidFill>
                      <a:srgbClr val="FFFFFF"/>
                    </a:solidFill>
                  </a:tcPr>
                </a:tc>
                <a:tc>
                  <a:txBody>
                    <a:bodyPr wrap="none"/>
                    <a:lstStyle/>
                    <a:p>
                      <a:pPr algn="l"/>
                      <a:r>
                        <a:rPr sz="800" b="1">
                          <a:solidFill>
                            <a:srgbClr val="A86F00"/>
                          </a:solidFill>
                          <a:latin typeface="Calibri"/>
                        </a:rPr>
                        <a:t>▶ 14.5%</a:t>
                      </a:r>
                    </a:p>
                  </a:txBody>
                  <a:tcPr marL="85725" marR="38100" marT="19050" marB="19050" anchor="ctr">
                    <a:solidFill>
                      <a:srgbClr val="FFFFFF"/>
                    </a:solidFill>
                  </a:tcPr>
                </a:tc>
                <a:tc>
                  <a:txBody>
                    <a:bodyPr wrap="none"/>
                    <a:lstStyle/>
                    <a:p>
                      <a:pPr algn="l"/>
                      <a:r>
                        <a:rPr sz="800" b="1">
                          <a:solidFill>
                            <a:srgbClr val="A86F00"/>
                          </a:solidFill>
                          <a:latin typeface="Calibri"/>
                        </a:rPr>
                        <a:t>▶ 13.2%</a:t>
                      </a:r>
                    </a:p>
                  </a:txBody>
                  <a:tcPr marL="85725" marR="38100" marT="19050" marB="19050" anchor="ctr">
                    <a:solidFill>
                      <a:srgbClr val="FFFFFF"/>
                    </a:solidFill>
                  </a:tcPr>
                </a:tc>
                <a:tc>
                  <a:txBody>
                    <a:bodyPr wrap="none"/>
                    <a:lstStyle/>
                    <a:p>
                      <a:pPr algn="l"/>
                      <a:r>
                        <a:rPr sz="800" b="1">
                          <a:solidFill>
                            <a:srgbClr val="A86F00"/>
                          </a:solidFill>
                          <a:latin typeface="Calibri"/>
                        </a:rPr>
                        <a:t>▶ 12.0%</a:t>
                      </a:r>
                    </a:p>
                  </a:txBody>
                  <a:tcPr marL="85725" marR="38100" marT="19050" marB="19050" anchor="ctr">
                    <a:solidFill>
                      <a:srgbClr val="FFFFFF"/>
                    </a:solidFill>
                  </a:tcPr>
                </a:tc>
                <a:tc>
                  <a:txBody>
                    <a:bodyPr wrap="none"/>
                    <a:lstStyle/>
                    <a:p>
                      <a:pPr algn="l"/>
                      <a:r>
                        <a:rPr sz="800" b="1">
                          <a:solidFill>
                            <a:srgbClr val="A86F00"/>
                          </a:solidFill>
                          <a:latin typeface="Calibri"/>
                        </a:rPr>
                        <a:t>▶ 11.0%</a:t>
                      </a:r>
                    </a:p>
                  </a:txBody>
                  <a:tcPr marL="85725" marR="38100" marT="19050" marB="19050" anchor="ctr">
                    <a:solidFill>
                      <a:srgbClr val="FFFFFF"/>
                    </a:solidFill>
                  </a:tcPr>
                </a:tc>
                <a:tc>
                  <a:txBody>
                    <a:bodyPr wrap="none"/>
                    <a:lstStyle/>
                    <a:p>
                      <a:pPr algn="l"/>
                      <a:r>
                        <a:rPr sz="800" b="1">
                          <a:solidFill>
                            <a:srgbClr val="A86F00"/>
                          </a:solidFill>
                          <a:latin typeface="Calibri"/>
                        </a:rPr>
                        <a:t>▶ 10.2%</a:t>
                      </a:r>
                    </a:p>
                  </a:txBody>
                  <a:tcPr marL="85725" marR="38100" marT="19050" marB="19050" anchor="ctr">
                    <a:solidFill>
                      <a:srgbClr val="FFFFFF"/>
                    </a:solidFill>
                  </a:tcPr>
                </a:tc>
                <a:tc>
                  <a:txBody>
                    <a:bodyPr wrap="none"/>
                    <a:lstStyle/>
                    <a:p>
                      <a:pPr algn="l"/>
                      <a:r>
                        <a:rPr sz="800" b="1">
                          <a:solidFill>
                            <a:srgbClr val="A86F00"/>
                          </a:solidFill>
                          <a:latin typeface="Calibri"/>
                        </a:rPr>
                        <a:t>▶ 9.5%</a:t>
                      </a:r>
                    </a:p>
                  </a:txBody>
                  <a:tcPr marL="85725" marR="38100" marT="19050" marB="19050" anchor="ctr">
                    <a:solidFill>
                      <a:srgbClr val="FFFFFF"/>
                    </a:solidFill>
                  </a:tcPr>
                </a:tc>
                <a:tc>
                  <a:txBody>
                    <a:bodyPr wrap="none"/>
                    <a:lstStyle/>
                    <a:p>
                      <a:pPr algn="l"/>
                      <a:r>
                        <a:rPr sz="800" b="1">
                          <a:solidFill>
                            <a:srgbClr val="A86F00"/>
                          </a:solidFill>
                          <a:latin typeface="Calibri"/>
                        </a:rPr>
                        <a:t>▶ 9.0%</a:t>
                      </a:r>
                    </a:p>
                  </a:txBody>
                  <a:tcPr marL="85725" marR="38100" marT="19050" marB="19050" anchor="ctr">
                    <a:solidFill>
                      <a:srgbClr val="FFFFFF"/>
                    </a:solidFill>
                  </a:tcPr>
                </a:tc>
                <a:tc>
                  <a:txBody>
                    <a:bodyPr wrap="none"/>
                    <a:lstStyle/>
                    <a:p>
                      <a:pPr algn="l"/>
                      <a:r>
                        <a:rPr sz="800" b="1">
                          <a:solidFill>
                            <a:srgbClr val="A86F00"/>
                          </a:solidFill>
                          <a:latin typeface="Calibri"/>
                        </a:rPr>
                        <a:t>▶ 8.6%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Simlandi</a:t>
                      </a:r>
                    </a:p>
                  </a:txBody>
                  <a:tcPr marL="85725" marR="38100" marT="19050" marB="19050" anchor="ctr">
                    <a:solidFill>
                      <a:srgbClr val="F5F8FA"/>
                    </a:solidFill>
                  </a:tcPr>
                </a:tc>
                <a:tc>
                  <a:txBody>
                    <a:bodyPr wrap="none"/>
                    <a:lstStyle/>
                    <a:p>
                      <a:pPr algn="l"/>
                      <a:r>
                        <a:rPr sz="800" b="1">
                          <a:solidFill>
                            <a:srgbClr val="2E7D32"/>
                          </a:solidFill>
                          <a:latin typeface="Calibri"/>
                        </a:rPr>
                        <a:t>▲ 17.8%</a:t>
                      </a:r>
                    </a:p>
                  </a:txBody>
                  <a:tcPr marL="85725" marR="38100" marT="19050" marB="19050" anchor="ctr">
                    <a:solidFill>
                      <a:srgbClr val="F5F8FA"/>
                    </a:solidFill>
                  </a:tcPr>
                </a:tc>
                <a:tc>
                  <a:txBody>
                    <a:bodyPr wrap="none"/>
                    <a:lstStyle/>
                    <a:p>
                      <a:pPr algn="l"/>
                      <a:r>
                        <a:rPr sz="800" b="1">
                          <a:solidFill>
                            <a:srgbClr val="2E7D32"/>
                          </a:solidFill>
                          <a:latin typeface="Calibri"/>
                        </a:rPr>
                        <a:t>▲ 24.9%</a:t>
                      </a:r>
                    </a:p>
                  </a:txBody>
                  <a:tcPr marL="85725" marR="38100" marT="19050" marB="19050" anchor="ctr">
                    <a:solidFill>
                      <a:srgbClr val="F5F8FA"/>
                    </a:solidFill>
                  </a:tcPr>
                </a:tc>
                <a:tc>
                  <a:txBody>
                    <a:bodyPr wrap="none"/>
                    <a:lstStyle/>
                    <a:p>
                      <a:pPr algn="l"/>
                      <a:r>
                        <a:rPr sz="800" b="1">
                          <a:solidFill>
                            <a:srgbClr val="2E7D32"/>
                          </a:solidFill>
                          <a:latin typeface="Calibri"/>
                        </a:rPr>
                        <a:t>▲ 28.9%</a:t>
                      </a:r>
                    </a:p>
                  </a:txBody>
                  <a:tcPr marL="85725" marR="38100" marT="19050" marB="19050" anchor="ctr">
                    <a:solidFill>
                      <a:srgbClr val="F5F8FA"/>
                    </a:solidFill>
                  </a:tcPr>
                </a:tc>
                <a:tc>
                  <a:txBody>
                    <a:bodyPr wrap="none"/>
                    <a:lstStyle/>
                    <a:p>
                      <a:pPr algn="l"/>
                      <a:r>
                        <a:rPr sz="800" b="1">
                          <a:solidFill>
                            <a:srgbClr val="2E7D32"/>
                          </a:solidFill>
                          <a:latin typeface="Calibri"/>
                        </a:rPr>
                        <a:t>▲ 26.1%</a:t>
                      </a:r>
                    </a:p>
                  </a:txBody>
                  <a:tcPr marL="85725" marR="38100" marT="19050" marB="19050" anchor="ctr">
                    <a:solidFill>
                      <a:srgbClr val="F5F8FA"/>
                    </a:solidFill>
                  </a:tcPr>
                </a:tc>
                <a:tc>
                  <a:txBody>
                    <a:bodyPr wrap="none"/>
                    <a:lstStyle/>
                    <a:p>
                      <a:pPr algn="l"/>
                      <a:r>
                        <a:rPr sz="800" b="1">
                          <a:solidFill>
                            <a:srgbClr val="2E7D32"/>
                          </a:solidFill>
                          <a:latin typeface="Calibri"/>
                        </a:rPr>
                        <a:t>▲ 22.3%</a:t>
                      </a:r>
                    </a:p>
                  </a:txBody>
                  <a:tcPr marL="85725" marR="38100" marT="19050" marB="19050" anchor="ctr">
                    <a:solidFill>
                      <a:srgbClr val="F5F8FA"/>
                    </a:solidFill>
                  </a:tcPr>
                </a:tc>
                <a:tc>
                  <a:txBody>
                    <a:bodyPr wrap="none"/>
                    <a:lstStyle/>
                    <a:p>
                      <a:pPr algn="l"/>
                      <a:r>
                        <a:rPr sz="800" b="1">
                          <a:solidFill>
                            <a:srgbClr val="2E7D32"/>
                          </a:solidFill>
                          <a:latin typeface="Calibri"/>
                        </a:rPr>
                        <a:t>▲ 20.1%</a:t>
                      </a:r>
                    </a:p>
                  </a:txBody>
                  <a:tcPr marL="85725" marR="38100" marT="19050" marB="19050" anchor="ctr">
                    <a:solidFill>
                      <a:srgbClr val="F5F8FA"/>
                    </a:solidFill>
                  </a:tcPr>
                </a:tc>
                <a:tc>
                  <a:txBody>
                    <a:bodyPr wrap="none"/>
                    <a:lstStyle/>
                    <a:p>
                      <a:pPr algn="l"/>
                      <a:r>
                        <a:rPr sz="800" b="1">
                          <a:solidFill>
                            <a:srgbClr val="2E7D32"/>
                          </a:solidFill>
                          <a:latin typeface="Calibri"/>
                        </a:rPr>
                        <a:t>▲ 17.6%</a:t>
                      </a:r>
                    </a:p>
                  </a:txBody>
                  <a:tcPr marL="85725" marR="38100" marT="19050" marB="19050" anchor="ctr">
                    <a:solidFill>
                      <a:srgbClr val="F5F8FA"/>
                    </a:solidFill>
                  </a:tcPr>
                </a:tc>
                <a:tc>
                  <a:txBody>
                    <a:bodyPr wrap="none"/>
                    <a:lstStyle/>
                    <a:p>
                      <a:pPr algn="l"/>
                      <a:r>
                        <a:rPr sz="800" b="1">
                          <a:solidFill>
                            <a:srgbClr val="2E7D32"/>
                          </a:solidFill>
                          <a:latin typeface="Calibri"/>
                        </a:rPr>
                        <a:t>▲ 15.9%</a:t>
                      </a:r>
                    </a:p>
                  </a:txBody>
                  <a:tcPr marL="85725" marR="38100" marT="19050" marB="19050" anchor="ctr">
                    <a:solidFill>
                      <a:srgbClr val="F5F8FA"/>
                    </a:solidFill>
                  </a:tcPr>
                </a:tc>
                <a:tc>
                  <a:txBody>
                    <a:bodyPr wrap="none"/>
                    <a:lstStyle/>
                    <a:p>
                      <a:pPr algn="l"/>
                      <a:r>
                        <a:rPr sz="800" b="1">
                          <a:solidFill>
                            <a:srgbClr val="2E7D32"/>
                          </a:solidFill>
                          <a:latin typeface="Calibri"/>
                        </a:rPr>
                        <a:t>▲ 14.5%</a:t>
                      </a:r>
                    </a:p>
                  </a:txBody>
                  <a:tcPr marL="85725" marR="38100" marT="19050" marB="19050" anchor="ctr">
                    <a:solidFill>
                      <a:srgbClr val="F5F8FA"/>
                    </a:solidFill>
                  </a:tcPr>
                </a:tc>
                <a:tc>
                  <a:txBody>
                    <a:bodyPr wrap="none"/>
                    <a:lstStyle/>
                    <a:p>
                      <a:pPr algn="l"/>
                      <a:r>
                        <a:rPr sz="800" b="1">
                          <a:solidFill>
                            <a:srgbClr val="2E7D32"/>
                          </a:solidFill>
                          <a:latin typeface="Calibri"/>
                        </a:rPr>
                        <a:t>▲ 13.3%</a:t>
                      </a:r>
                    </a:p>
                  </a:txBody>
                  <a:tcPr marL="85725" marR="38100" marT="19050" marB="19050" anchor="ctr">
                    <a:solidFill>
                      <a:srgbClr val="F5F8FA"/>
                    </a:solidFill>
                  </a:tcPr>
                </a:tc>
                <a:tc>
                  <a:txBody>
                    <a:bodyPr wrap="none"/>
                    <a:lstStyle/>
                    <a:p>
                      <a:pPr algn="l"/>
                      <a:r>
                        <a:rPr sz="800" b="1">
                          <a:solidFill>
                            <a:srgbClr val="2E7D32"/>
                          </a:solidFill>
                          <a:latin typeface="Calibri"/>
                        </a:rPr>
                        <a:t>▲ 12.4%</a:t>
                      </a:r>
                    </a:p>
                  </a:txBody>
                  <a:tcPr marL="85725" marR="38100" marT="19050" marB="19050" anchor="ctr">
                    <a:solidFill>
                      <a:srgbClr val="F5F8FA"/>
                    </a:solidFill>
                  </a:tcPr>
                </a:tc>
                <a:tc>
                  <a:txBody>
                    <a:bodyPr wrap="none"/>
                    <a:lstStyle/>
                    <a:p>
                      <a:pPr algn="l"/>
                      <a:r>
                        <a:rPr sz="800" b="1">
                          <a:solidFill>
                            <a:srgbClr val="2E7D32"/>
                          </a:solidFill>
                          <a:latin typeface="Calibri"/>
                        </a:rPr>
                        <a:t>▲ 11.5%</a:t>
                      </a:r>
                    </a:p>
                  </a:txBody>
                  <a:tcPr marL="85725" marR="38100" marT="19050" marB="19050" anchor="ctr">
                    <a:solidFill>
                      <a:srgbClr val="F5F8FA"/>
                    </a:solidFill>
                  </a:tcPr>
                </a:tc>
                <a:tc>
                  <a:txBody>
                    <a:bodyPr wrap="none"/>
                    <a:lstStyle/>
                    <a:p>
                      <a:pPr algn="l"/>
                      <a:r>
                        <a:rPr sz="800" b="1">
                          <a:solidFill>
                            <a:srgbClr val="2E7D32"/>
                          </a:solidFill>
                          <a:latin typeface="Calibri"/>
                        </a:rPr>
                        <a:t>▲ 10.9%</a:t>
                      </a:r>
                    </a:p>
                  </a:txBody>
                  <a:tcPr marL="85725" marR="38100" marT="19050" marB="19050" anchor="ctr">
                    <a:solidFill>
                      <a:srgbClr val="F5F8FA"/>
                    </a:solidFill>
                  </a:tcPr>
                </a:tc>
                <a:tc>
                  <a:txBody>
                    <a:bodyPr wrap="none"/>
                    <a:lstStyle/>
                    <a:p>
                      <a:pPr algn="l"/>
                      <a:r>
                        <a:rPr sz="800" b="1">
                          <a:solidFill>
                            <a:srgbClr val="2E7D32"/>
                          </a:solidFill>
                          <a:latin typeface="Calibri"/>
                        </a:rPr>
                        <a:t>▲ 10.3%</a:t>
                      </a:r>
                    </a:p>
                  </a:txBody>
                  <a:tcPr marL="85725" marR="38100" marT="19050" marB="19050" anchor="ctr">
                    <a:solidFill>
                      <a:srgbClr val="F5F8FA"/>
                    </a:solidFill>
                  </a:tcPr>
                </a:tc>
                <a:tc>
                  <a:txBody>
                    <a:bodyPr wrap="none"/>
                    <a:lstStyle/>
                    <a:p>
                      <a:pPr algn="l"/>
                      <a:r>
                        <a:rPr sz="800" b="1">
                          <a:solidFill>
                            <a:srgbClr val="2E7D32"/>
                          </a:solidFill>
                          <a:latin typeface="Calibri"/>
                        </a:rPr>
                        <a:t>▲ 9.9%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800" b="1">
                          <a:solidFill>
                            <a:srgbClr val="2E7D32"/>
                          </a:solidFill>
                          <a:latin typeface="Calibri"/>
                        </a:rPr>
                        <a:t>▲ 16.9%</a:t>
                      </a:r>
                    </a:p>
                  </a:txBody>
                  <a:tcPr marL="85725" marR="38100" marT="19050" marB="19050" anchor="ctr">
                    <a:solidFill>
                      <a:srgbClr val="FFFFFF"/>
                    </a:solidFill>
                  </a:tcPr>
                </a:tc>
                <a:tc>
                  <a:txBody>
                    <a:bodyPr wrap="none"/>
                    <a:lstStyle/>
                    <a:p>
                      <a:pPr algn="l"/>
                      <a:r>
                        <a:rPr sz="800" b="1">
                          <a:solidFill>
                            <a:srgbClr val="2E7D32"/>
                          </a:solidFill>
                          <a:latin typeface="Calibri"/>
                        </a:rPr>
                        <a:t>▲ 23.9%</a:t>
                      </a:r>
                    </a:p>
                  </a:txBody>
                  <a:tcPr marL="85725" marR="38100" marT="19050" marB="19050" anchor="ctr">
                    <a:solidFill>
                      <a:srgbClr val="FFFFFF"/>
                    </a:solidFill>
                  </a:tcPr>
                </a:tc>
                <a:tc>
                  <a:txBody>
                    <a:bodyPr wrap="none"/>
                    <a:lstStyle/>
                    <a:p>
                      <a:pPr algn="l"/>
                      <a:r>
                        <a:rPr sz="800" b="1">
                          <a:solidFill>
                            <a:srgbClr val="2E7D32"/>
                          </a:solidFill>
                          <a:latin typeface="Calibri"/>
                        </a:rPr>
                        <a:t>▲ 27.9%</a:t>
                      </a:r>
                    </a:p>
                  </a:txBody>
                  <a:tcPr marL="85725" marR="38100" marT="19050" marB="19050" anchor="ctr">
                    <a:solidFill>
                      <a:srgbClr val="FFFFFF"/>
                    </a:solidFill>
                  </a:tcPr>
                </a:tc>
                <a:tc>
                  <a:txBody>
                    <a:bodyPr wrap="none"/>
                    <a:lstStyle/>
                    <a:p>
                      <a:pPr algn="l"/>
                      <a:r>
                        <a:rPr sz="800" b="1">
                          <a:solidFill>
                            <a:srgbClr val="2E7D32"/>
                          </a:solidFill>
                          <a:latin typeface="Calibri"/>
                        </a:rPr>
                        <a:t>▲ 25.1%</a:t>
                      </a:r>
                    </a:p>
                  </a:txBody>
                  <a:tcPr marL="85725" marR="38100" marT="19050" marB="19050" anchor="ctr">
                    <a:solidFill>
                      <a:srgbClr val="FFFFFF"/>
                    </a:solidFill>
                  </a:tcPr>
                </a:tc>
                <a:tc>
                  <a:txBody>
                    <a:bodyPr wrap="none"/>
                    <a:lstStyle/>
                    <a:p>
                      <a:pPr algn="l"/>
                      <a:r>
                        <a:rPr sz="800" b="1">
                          <a:solidFill>
                            <a:srgbClr val="2E7D32"/>
                          </a:solidFill>
                          <a:latin typeface="Calibri"/>
                        </a:rPr>
                        <a:t>▲ 21.4%</a:t>
                      </a:r>
                    </a:p>
                  </a:txBody>
                  <a:tcPr marL="85725" marR="38100" marT="19050" marB="19050" anchor="ctr">
                    <a:solidFill>
                      <a:srgbClr val="FFFFFF"/>
                    </a:solidFill>
                  </a:tcPr>
                </a:tc>
                <a:tc>
                  <a:txBody>
                    <a:bodyPr wrap="none"/>
                    <a:lstStyle/>
                    <a:p>
                      <a:pPr algn="l"/>
                      <a:r>
                        <a:rPr sz="800" b="1">
                          <a:solidFill>
                            <a:srgbClr val="2E7D32"/>
                          </a:solidFill>
                          <a:latin typeface="Calibri"/>
                        </a:rPr>
                        <a:t>▲ 19.1%</a:t>
                      </a:r>
                    </a:p>
                  </a:txBody>
                  <a:tcPr marL="85725" marR="38100" marT="19050" marB="19050" anchor="ctr">
                    <a:solidFill>
                      <a:srgbClr val="FFFFFF"/>
                    </a:solidFill>
                  </a:tcPr>
                </a:tc>
                <a:tc>
                  <a:txBody>
                    <a:bodyPr wrap="none"/>
                    <a:lstStyle/>
                    <a:p>
                      <a:pPr algn="l"/>
                      <a:r>
                        <a:rPr sz="800" b="1">
                          <a:solidFill>
                            <a:srgbClr val="2E7D32"/>
                          </a:solidFill>
                          <a:latin typeface="Calibri"/>
                        </a:rPr>
                        <a:t>▲ 16.7%</a:t>
                      </a:r>
                    </a:p>
                  </a:txBody>
                  <a:tcPr marL="85725" marR="38100" marT="19050" marB="19050" anchor="ctr">
                    <a:solidFill>
                      <a:srgbClr val="FFFFFF"/>
                    </a:solidFill>
                  </a:tcPr>
                </a:tc>
                <a:tc>
                  <a:txBody>
                    <a:bodyPr wrap="none"/>
                    <a:lstStyle/>
                    <a:p>
                      <a:pPr algn="l"/>
                      <a:r>
                        <a:rPr sz="800" b="1">
                          <a:solidFill>
                            <a:srgbClr val="2E7D32"/>
                          </a:solidFill>
                          <a:latin typeface="Calibri"/>
                        </a:rPr>
                        <a:t>▲ 15.0%</a:t>
                      </a:r>
                    </a:p>
                  </a:txBody>
                  <a:tcPr marL="85725" marR="38100" marT="19050" marB="19050" anchor="ctr">
                    <a:solidFill>
                      <a:srgbClr val="FFFFFF"/>
                    </a:solidFill>
                  </a:tcPr>
                </a:tc>
                <a:tc>
                  <a:txBody>
                    <a:bodyPr wrap="none"/>
                    <a:lstStyle/>
                    <a:p>
                      <a:pPr algn="l"/>
                      <a:r>
                        <a:rPr sz="800" b="1">
                          <a:solidFill>
                            <a:srgbClr val="A86F00"/>
                          </a:solidFill>
                          <a:latin typeface="Calibri"/>
                        </a:rPr>
                        <a:t>▶ 13.6%</a:t>
                      </a:r>
                    </a:p>
                  </a:txBody>
                  <a:tcPr marL="85725" marR="38100" marT="19050" marB="19050" anchor="ctr">
                    <a:solidFill>
                      <a:srgbClr val="FFFFFF"/>
                    </a:solidFill>
                  </a:tcPr>
                </a:tc>
                <a:tc>
                  <a:txBody>
                    <a:bodyPr wrap="none"/>
                    <a:lstStyle/>
                    <a:p>
                      <a:pPr algn="l"/>
                      <a:r>
                        <a:rPr sz="800" b="1">
                          <a:solidFill>
                            <a:srgbClr val="A86F00"/>
                          </a:solidFill>
                          <a:latin typeface="Calibri"/>
                        </a:rPr>
                        <a:t>▶ 12.5%</a:t>
                      </a:r>
                    </a:p>
                  </a:txBody>
                  <a:tcPr marL="85725" marR="38100" marT="19050" marB="19050" anchor="ctr">
                    <a:solidFill>
                      <a:srgbClr val="FFFFFF"/>
                    </a:solidFill>
                  </a:tcPr>
                </a:tc>
                <a:tc>
                  <a:txBody>
                    <a:bodyPr wrap="none"/>
                    <a:lstStyle/>
                    <a:p>
                      <a:pPr algn="l"/>
                      <a:r>
                        <a:rPr sz="800" b="1">
                          <a:solidFill>
                            <a:srgbClr val="A86F00"/>
                          </a:solidFill>
                          <a:latin typeface="Calibri"/>
                        </a:rPr>
                        <a:t>▶ 11.5%</a:t>
                      </a:r>
                    </a:p>
                  </a:txBody>
                  <a:tcPr marL="85725" marR="38100" marT="19050" marB="19050" anchor="ctr">
                    <a:solidFill>
                      <a:srgbClr val="FFFFFF"/>
                    </a:solidFill>
                  </a:tcPr>
                </a:tc>
                <a:tc>
                  <a:txBody>
                    <a:bodyPr wrap="none"/>
                    <a:lstStyle/>
                    <a:p>
                      <a:pPr algn="l"/>
                      <a:r>
                        <a:rPr sz="800" b="1">
                          <a:solidFill>
                            <a:srgbClr val="A86F00"/>
                          </a:solidFill>
                          <a:latin typeface="Calibri"/>
                        </a:rPr>
                        <a:t>▶ 10.7%</a:t>
                      </a:r>
                    </a:p>
                  </a:txBody>
                  <a:tcPr marL="85725" marR="38100" marT="19050" marB="19050" anchor="ctr">
                    <a:solidFill>
                      <a:srgbClr val="FFFFFF"/>
                    </a:solidFill>
                  </a:tcPr>
                </a:tc>
                <a:tc>
                  <a:txBody>
                    <a:bodyPr wrap="none"/>
                    <a:lstStyle/>
                    <a:p>
                      <a:pPr algn="l"/>
                      <a:r>
                        <a:rPr sz="800" b="1">
                          <a:solidFill>
                            <a:srgbClr val="A86F00"/>
                          </a:solidFill>
                          <a:latin typeface="Calibri"/>
                        </a:rPr>
                        <a:t>▶ 10.0%</a:t>
                      </a:r>
                    </a:p>
                  </a:txBody>
                  <a:tcPr marL="85725" marR="38100" marT="19050" marB="19050" anchor="ctr">
                    <a:solidFill>
                      <a:srgbClr val="FFFFFF"/>
                    </a:solidFill>
                  </a:tcPr>
                </a:tc>
                <a:tc>
                  <a:txBody>
                    <a:bodyPr wrap="none"/>
                    <a:lstStyle/>
                    <a:p>
                      <a:pPr algn="l"/>
                      <a:r>
                        <a:rPr sz="800" b="1">
                          <a:solidFill>
                            <a:srgbClr val="A86F00"/>
                          </a:solidFill>
                          <a:latin typeface="Calibri"/>
                        </a:rPr>
                        <a:t>▶ 9.5%</a:t>
                      </a:r>
                    </a:p>
                  </a:txBody>
                  <a:tcPr marL="85725" marR="38100" marT="19050" marB="19050" anchor="ctr">
                    <a:solidFill>
                      <a:srgbClr val="FFFFFF"/>
                    </a:solidFill>
                  </a:tcPr>
                </a:tc>
                <a:tc>
                  <a:txBody>
                    <a:bodyPr wrap="none"/>
                    <a:lstStyle/>
                    <a:p>
                      <a:pPr algn="l"/>
                      <a:r>
                        <a:rPr sz="800" b="1">
                          <a:solidFill>
                            <a:srgbClr val="A86F00"/>
                          </a:solidFill>
                          <a:latin typeface="Calibri"/>
                        </a:rPr>
                        <a:t>▶ 9.0%</a:t>
                      </a:r>
                    </a:p>
                  </a:txBody>
                  <a:tcPr marL="85725" marR="38100" marT="19050" marB="19050" anchor="ctr">
                    <a:solidFill>
                      <a:srgbClr val="FFFFFF"/>
                    </a:solidFill>
                  </a:tcPr>
                </a:tc>
              </a:tr>
            </a:tbl>
          </a:graphicData>
        </a:graphic>
      </p:graphicFrame>
      <p:sp>
        <p:nvSpPr>
          <p:cNvPr id="14" name="TextBox 13"/>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ectangle 1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7" name="Rounded Rectangle 1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9" name="Rounded Rectangle 1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Canada YoY Analysis Product Type x Therapeutic Application   ·   (continued 2/2)</a:t>
            </a:r>
          </a:p>
        </p:txBody>
      </p:sp>
      <p:sp>
        <p:nvSpPr>
          <p:cNvPr id="10" name="Rounded Rectangle 9"/>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Canada Value YoY, By Product Type x Therapeutic Application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2" name="Table 11"/>
          <p:cNvGraphicFramePr>
            <a:graphicFrameLocks noGrp="1"/>
          </p:cNvGraphicFramePr>
          <p:nvPr/>
        </p:nvGraphicFramePr>
        <p:xfrm>
          <a:off x="238125" y="1143000"/>
          <a:ext cx="11715750" cy="2171700"/>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Product Type x Therapeutic Application</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Amjevita / Amgevita</a:t>
                      </a:r>
                    </a:p>
                  </a:txBody>
                  <a:tcPr marL="85725" marR="38100" marT="19050" marB="19050" anchor="ctr">
                    <a:solidFill>
                      <a:srgbClr val="FFFFFF"/>
                    </a:solidFill>
                  </a:tcPr>
                </a:tc>
                <a:tc>
                  <a:txBody>
                    <a:bodyPr wrap="none"/>
                    <a:lstStyle/>
                    <a:p>
                      <a:pPr algn="l"/>
                      <a:r>
                        <a:rPr sz="800" b="1">
                          <a:solidFill>
                            <a:srgbClr val="A86F00"/>
                          </a:solidFill>
                          <a:latin typeface="Calibri"/>
                        </a:rPr>
                        <a:t>▶ 12.7%</a:t>
                      </a:r>
                    </a:p>
                  </a:txBody>
                  <a:tcPr marL="85725" marR="38100" marT="19050" marB="19050" anchor="ctr">
                    <a:solidFill>
                      <a:srgbClr val="FFFFFF"/>
                    </a:solidFill>
                  </a:tcPr>
                </a:tc>
                <a:tc>
                  <a:txBody>
                    <a:bodyPr wrap="none"/>
                    <a:lstStyle/>
                    <a:p>
                      <a:pPr algn="l"/>
                      <a:r>
                        <a:rPr sz="800" b="1">
                          <a:solidFill>
                            <a:srgbClr val="A86F00"/>
                          </a:solidFill>
                          <a:latin typeface="Calibri"/>
                        </a:rPr>
                        <a:t>▶ 19.6%</a:t>
                      </a:r>
                    </a:p>
                  </a:txBody>
                  <a:tcPr marL="85725" marR="38100" marT="19050" marB="19050" anchor="ctr">
                    <a:solidFill>
                      <a:srgbClr val="FFFFFF"/>
                    </a:solidFill>
                  </a:tcPr>
                </a:tc>
                <a:tc>
                  <a:txBody>
                    <a:bodyPr wrap="none"/>
                    <a:lstStyle/>
                    <a:p>
                      <a:pPr algn="l"/>
                      <a:r>
                        <a:rPr sz="800" b="1">
                          <a:solidFill>
                            <a:srgbClr val="A86F00"/>
                          </a:solidFill>
                          <a:latin typeface="Calibri"/>
                        </a:rPr>
                        <a:t>▶ 23.4%</a:t>
                      </a:r>
                    </a:p>
                  </a:txBody>
                  <a:tcPr marL="85725" marR="38100" marT="19050" marB="19050" anchor="ctr">
                    <a:solidFill>
                      <a:srgbClr val="FFFFFF"/>
                    </a:solidFill>
                  </a:tcPr>
                </a:tc>
                <a:tc>
                  <a:txBody>
                    <a:bodyPr wrap="none"/>
                    <a:lstStyle/>
                    <a:p>
                      <a:pPr algn="l"/>
                      <a:r>
                        <a:rPr sz="800" b="1">
                          <a:solidFill>
                            <a:srgbClr val="A86F00"/>
                          </a:solidFill>
                          <a:latin typeface="Calibri"/>
                        </a:rPr>
                        <a:t>▶ 20.7%</a:t>
                      </a:r>
                    </a:p>
                  </a:txBody>
                  <a:tcPr marL="85725" marR="38100" marT="19050" marB="19050" anchor="ctr">
                    <a:solidFill>
                      <a:srgbClr val="FFFFFF"/>
                    </a:solidFill>
                  </a:tcPr>
                </a:tc>
                <a:tc>
                  <a:txBody>
                    <a:bodyPr wrap="none"/>
                    <a:lstStyle/>
                    <a:p>
                      <a:pPr algn="l"/>
                      <a:r>
                        <a:rPr sz="800" b="1">
                          <a:solidFill>
                            <a:srgbClr val="A86F00"/>
                          </a:solidFill>
                          <a:latin typeface="Calibri"/>
                        </a:rPr>
                        <a:t>▶ 17.1%</a:t>
                      </a:r>
                    </a:p>
                  </a:txBody>
                  <a:tcPr marL="85725" marR="38100" marT="19050" marB="19050" anchor="ctr">
                    <a:solidFill>
                      <a:srgbClr val="FFFFFF"/>
                    </a:solidFill>
                  </a:tcPr>
                </a:tc>
                <a:tc>
                  <a:txBody>
                    <a:bodyPr wrap="none"/>
                    <a:lstStyle/>
                    <a:p>
                      <a:pPr algn="l"/>
                      <a:r>
                        <a:rPr sz="800" b="1">
                          <a:solidFill>
                            <a:srgbClr val="A86F00"/>
                          </a:solidFill>
                          <a:latin typeface="Calibri"/>
                        </a:rPr>
                        <a:t>▶ 14.9%</a:t>
                      </a:r>
                    </a:p>
                  </a:txBody>
                  <a:tcPr marL="85725" marR="38100" marT="19050" marB="19050" anchor="ctr">
                    <a:solidFill>
                      <a:srgbClr val="FFFFFF"/>
                    </a:solidFill>
                  </a:tcPr>
                </a:tc>
                <a:tc>
                  <a:txBody>
                    <a:bodyPr wrap="none"/>
                    <a:lstStyle/>
                    <a:p>
                      <a:pPr algn="l"/>
                      <a:r>
                        <a:rPr sz="800" b="1">
                          <a:solidFill>
                            <a:srgbClr val="A86F00"/>
                          </a:solidFill>
                          <a:latin typeface="Calibri"/>
                        </a:rPr>
                        <a:t>▶ 12.6%</a:t>
                      </a:r>
                    </a:p>
                  </a:txBody>
                  <a:tcPr marL="85725" marR="38100" marT="19050" marB="19050" anchor="ctr">
                    <a:solidFill>
                      <a:srgbClr val="FFFFFF"/>
                    </a:solidFill>
                  </a:tcPr>
                </a:tc>
                <a:tc>
                  <a:txBody>
                    <a:bodyPr wrap="none"/>
                    <a:lstStyle/>
                    <a:p>
                      <a:pPr algn="l"/>
                      <a:r>
                        <a:rPr sz="800" b="1">
                          <a:solidFill>
                            <a:srgbClr val="A86F00"/>
                          </a:solidFill>
                          <a:latin typeface="Calibri"/>
                        </a:rPr>
                        <a:t>▶ 10.9%</a:t>
                      </a:r>
                    </a:p>
                  </a:txBody>
                  <a:tcPr marL="85725" marR="38100" marT="19050" marB="19050" anchor="ctr">
                    <a:solidFill>
                      <a:srgbClr val="FFFFFF"/>
                    </a:solidFill>
                  </a:tcPr>
                </a:tc>
                <a:tc>
                  <a:txBody>
                    <a:bodyPr wrap="none"/>
                    <a:lstStyle/>
                    <a:p>
                      <a:pPr algn="l"/>
                      <a:r>
                        <a:rPr sz="800" b="1">
                          <a:solidFill>
                            <a:srgbClr val="A86F00"/>
                          </a:solidFill>
                          <a:latin typeface="Calibri"/>
                        </a:rPr>
                        <a:t>▶ 9.6%</a:t>
                      </a:r>
                    </a:p>
                  </a:txBody>
                  <a:tcPr marL="85725" marR="38100" marT="19050" marB="19050" anchor="ctr">
                    <a:solidFill>
                      <a:srgbClr val="FFFFFF"/>
                    </a:solidFill>
                  </a:tcPr>
                </a:tc>
                <a:tc>
                  <a:txBody>
                    <a:bodyPr wrap="none"/>
                    <a:lstStyle/>
                    <a:p>
                      <a:pPr algn="l"/>
                      <a:r>
                        <a:rPr sz="800" b="1">
                          <a:solidFill>
                            <a:srgbClr val="A86F00"/>
                          </a:solidFill>
                          <a:latin typeface="Calibri"/>
                        </a:rPr>
                        <a:t>▶ 8.5%</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6.1%</a:t>
                      </a:r>
                    </a:p>
                  </a:txBody>
                  <a:tcPr marL="85725" marR="38100" marT="19050" marB="19050" anchor="ctr">
                    <a:solidFill>
                      <a:srgbClr val="FFFFFF"/>
                    </a:solidFill>
                  </a:tcPr>
                </a:tc>
                <a:tc>
                  <a:txBody>
                    <a:bodyPr wrap="none"/>
                    <a:lstStyle/>
                    <a:p>
                      <a:pPr algn="l"/>
                      <a:r>
                        <a:rPr sz="800" b="1">
                          <a:solidFill>
                            <a:srgbClr val="A86F00"/>
                          </a:solidFill>
                          <a:latin typeface="Calibri"/>
                        </a:rPr>
                        <a:t>▶ 5.6%</a:t>
                      </a:r>
                    </a:p>
                  </a:txBody>
                  <a:tcPr marL="85725" marR="38100" marT="19050" marB="19050" anchor="ctr">
                    <a:solidFill>
                      <a:srgbClr val="FFFFFF"/>
                    </a:solidFill>
                  </a:tcPr>
                </a:tc>
                <a:tc>
                  <a:txBody>
                    <a:bodyPr wrap="none"/>
                    <a:lstStyle/>
                    <a:p>
                      <a:pPr algn="l"/>
                      <a:r>
                        <a:rPr sz="800" b="1">
                          <a:solidFill>
                            <a:srgbClr val="A86F00"/>
                          </a:solidFill>
                          <a:latin typeface="Calibri"/>
                        </a:rPr>
                        <a:t>▶ 5.1%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Cyltezo</a:t>
                      </a:r>
                    </a:p>
                  </a:txBody>
                  <a:tcPr marL="85725" marR="38100" marT="19050" marB="19050" anchor="ctr">
                    <a:solidFill>
                      <a:srgbClr val="F5F8FA"/>
                    </a:solidFill>
                  </a:tcPr>
                </a:tc>
                <a:tc>
                  <a:txBody>
                    <a:bodyPr wrap="none"/>
                    <a:lstStyle/>
                    <a:p>
                      <a:pPr algn="l"/>
                      <a:r>
                        <a:rPr sz="800" b="1">
                          <a:solidFill>
                            <a:srgbClr val="A86F00"/>
                          </a:solidFill>
                          <a:latin typeface="Calibri"/>
                        </a:rPr>
                        <a:t>▶ 12.6%</a:t>
                      </a:r>
                    </a:p>
                  </a:txBody>
                  <a:tcPr marL="85725" marR="38100" marT="19050" marB="19050" anchor="ctr">
                    <a:solidFill>
                      <a:srgbClr val="F5F8FA"/>
                    </a:solidFill>
                  </a:tcPr>
                </a:tc>
                <a:tc>
                  <a:txBody>
                    <a:bodyPr wrap="none"/>
                    <a:lstStyle/>
                    <a:p>
                      <a:pPr algn="l"/>
                      <a:r>
                        <a:rPr sz="800" b="1">
                          <a:solidFill>
                            <a:srgbClr val="A86F00"/>
                          </a:solidFill>
                          <a:latin typeface="Calibri"/>
                        </a:rPr>
                        <a:t>▶ 19.4%</a:t>
                      </a:r>
                    </a:p>
                  </a:txBody>
                  <a:tcPr marL="85725" marR="38100" marT="19050" marB="19050" anchor="ctr">
                    <a:solidFill>
                      <a:srgbClr val="F5F8FA"/>
                    </a:solidFill>
                  </a:tcPr>
                </a:tc>
                <a:tc>
                  <a:txBody>
                    <a:bodyPr wrap="none"/>
                    <a:lstStyle/>
                    <a:p>
                      <a:pPr algn="l"/>
                      <a:r>
                        <a:rPr sz="800" b="1">
                          <a:solidFill>
                            <a:srgbClr val="A86F00"/>
                          </a:solidFill>
                          <a:latin typeface="Calibri"/>
                        </a:rPr>
                        <a:t>▶ 23.2%</a:t>
                      </a:r>
                    </a:p>
                  </a:txBody>
                  <a:tcPr marL="85725" marR="38100" marT="19050" marB="19050" anchor="ctr">
                    <a:solidFill>
                      <a:srgbClr val="F5F8FA"/>
                    </a:solidFill>
                  </a:tcPr>
                </a:tc>
                <a:tc>
                  <a:txBody>
                    <a:bodyPr wrap="none"/>
                    <a:lstStyle/>
                    <a:p>
                      <a:pPr algn="l"/>
                      <a:r>
                        <a:rPr sz="800" b="1">
                          <a:solidFill>
                            <a:srgbClr val="A86F00"/>
                          </a:solidFill>
                          <a:latin typeface="Calibri"/>
                        </a:rPr>
                        <a:t>▶ 20.6%</a:t>
                      </a:r>
                    </a:p>
                  </a:txBody>
                  <a:tcPr marL="85725" marR="38100" marT="19050" marB="19050" anchor="ctr">
                    <a:solidFill>
                      <a:srgbClr val="F5F8FA"/>
                    </a:solidFill>
                  </a:tcPr>
                </a:tc>
                <a:tc>
                  <a:txBody>
                    <a:bodyPr wrap="none"/>
                    <a:lstStyle/>
                    <a:p>
                      <a:pPr algn="l"/>
                      <a:r>
                        <a:rPr sz="800" b="1">
                          <a:solidFill>
                            <a:srgbClr val="A86F00"/>
                          </a:solidFill>
                          <a:latin typeface="Calibri"/>
                        </a:rPr>
                        <a:t>▶ 16.9%</a:t>
                      </a:r>
                    </a:p>
                  </a:txBody>
                  <a:tcPr marL="85725" marR="38100" marT="19050" marB="19050" anchor="ctr">
                    <a:solidFill>
                      <a:srgbClr val="F5F8FA"/>
                    </a:solidFill>
                  </a:tcPr>
                </a:tc>
                <a:tc>
                  <a:txBody>
                    <a:bodyPr wrap="none"/>
                    <a:lstStyle/>
                    <a:p>
                      <a:pPr algn="l"/>
                      <a:r>
                        <a:rPr sz="800" b="1">
                          <a:solidFill>
                            <a:srgbClr val="A86F00"/>
                          </a:solidFill>
                          <a:latin typeface="Calibri"/>
                        </a:rPr>
                        <a:t>▶ 14.8%</a:t>
                      </a:r>
                    </a:p>
                  </a:txBody>
                  <a:tcPr marL="85725" marR="38100" marT="19050" marB="19050" anchor="ctr">
                    <a:solidFill>
                      <a:srgbClr val="F5F8FA"/>
                    </a:solidFill>
                  </a:tcPr>
                </a:tc>
                <a:tc>
                  <a:txBody>
                    <a:bodyPr wrap="none"/>
                    <a:lstStyle/>
                    <a:p>
                      <a:pPr algn="l"/>
                      <a:r>
                        <a:rPr sz="800" b="1">
                          <a:solidFill>
                            <a:srgbClr val="A86F00"/>
                          </a:solidFill>
                          <a:latin typeface="Calibri"/>
                        </a:rPr>
                        <a:t>▶ 12.4%</a:t>
                      </a:r>
                    </a:p>
                  </a:txBody>
                  <a:tcPr marL="85725" marR="38100" marT="19050" marB="19050" anchor="ctr">
                    <a:solidFill>
                      <a:srgbClr val="F5F8FA"/>
                    </a:solidFill>
                  </a:tcPr>
                </a:tc>
                <a:tc>
                  <a:txBody>
                    <a:bodyPr wrap="none"/>
                    <a:lstStyle/>
                    <a:p>
                      <a:pPr algn="l"/>
                      <a:r>
                        <a:rPr sz="800" b="1">
                          <a:solidFill>
                            <a:srgbClr val="A86F00"/>
                          </a:solidFill>
                          <a:latin typeface="Calibri"/>
                        </a:rPr>
                        <a:t>▶ 10.8%</a:t>
                      </a:r>
                    </a:p>
                  </a:txBody>
                  <a:tcPr marL="85725" marR="38100" marT="19050" marB="19050" anchor="ctr">
                    <a:solidFill>
                      <a:srgbClr val="F5F8FA"/>
                    </a:solidFill>
                  </a:tcPr>
                </a:tc>
                <a:tc>
                  <a:txBody>
                    <a:bodyPr wrap="none"/>
                    <a:lstStyle/>
                    <a:p>
                      <a:pPr algn="l"/>
                      <a:r>
                        <a:rPr sz="800" b="1">
                          <a:solidFill>
                            <a:srgbClr val="A86F00"/>
                          </a:solidFill>
                          <a:latin typeface="Calibri"/>
                        </a:rPr>
                        <a:t>▶ 9.5%</a:t>
                      </a:r>
                    </a:p>
                  </a:txBody>
                  <a:tcPr marL="85725" marR="38100" marT="19050" marB="19050" anchor="ctr">
                    <a:solidFill>
                      <a:srgbClr val="F5F8FA"/>
                    </a:solidFill>
                  </a:tcPr>
                </a:tc>
                <a:tc>
                  <a:txBody>
                    <a:bodyPr wrap="none"/>
                    <a:lstStyle/>
                    <a:p>
                      <a:pPr algn="l"/>
                      <a:r>
                        <a:rPr sz="800" b="1">
                          <a:solidFill>
                            <a:srgbClr val="A86F00"/>
                          </a:solidFill>
                          <a:latin typeface="Calibri"/>
                        </a:rPr>
                        <a:t>▶ 8.3%</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6.6%</a:t>
                      </a:r>
                    </a:p>
                  </a:txBody>
                  <a:tcPr marL="85725" marR="38100" marT="19050" marB="19050" anchor="ctr">
                    <a:solidFill>
                      <a:srgbClr val="F5F8FA"/>
                    </a:solidFill>
                  </a:tcPr>
                </a:tc>
                <a:tc>
                  <a:txBody>
                    <a:bodyPr wrap="none"/>
                    <a:lstStyle/>
                    <a:p>
                      <a:pPr algn="l"/>
                      <a:r>
                        <a:rPr sz="800" b="1">
                          <a:solidFill>
                            <a:srgbClr val="A86F00"/>
                          </a:solidFill>
                          <a:latin typeface="Calibri"/>
                        </a:rPr>
                        <a:t>▶ 5.9%</a:t>
                      </a:r>
                    </a:p>
                  </a:txBody>
                  <a:tcPr marL="85725" marR="38100" marT="19050" marB="19050" anchor="ctr">
                    <a:solidFill>
                      <a:srgbClr val="F5F8FA"/>
                    </a:solidFill>
                  </a:tcPr>
                </a:tc>
                <a:tc>
                  <a:txBody>
                    <a:bodyPr wrap="none"/>
                    <a:lstStyle/>
                    <a:p>
                      <a:pPr algn="l"/>
                      <a:r>
                        <a:rPr sz="800" b="1">
                          <a:solidFill>
                            <a:srgbClr val="A86F00"/>
                          </a:solidFill>
                          <a:latin typeface="Calibri"/>
                        </a:rPr>
                        <a:t>▶ 5.4%</a:t>
                      </a:r>
                    </a:p>
                  </a:txBody>
                  <a:tcPr marL="85725" marR="38100" marT="19050" marB="19050" anchor="ctr">
                    <a:solidFill>
                      <a:srgbClr val="F5F8FA"/>
                    </a:solidFill>
                  </a:tcPr>
                </a:tc>
                <a:tc>
                  <a:txBody>
                    <a:bodyPr wrap="none"/>
                    <a:lstStyle/>
                    <a:p>
                      <a:pPr algn="l"/>
                      <a:r>
                        <a:rPr sz="800" b="1">
                          <a:solidFill>
                            <a:srgbClr val="A86F00"/>
                          </a:solidFill>
                          <a:latin typeface="Calibri"/>
                        </a:rPr>
                        <a:t>▶ 5.0%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Hadlima / Imraldi</a:t>
                      </a:r>
                    </a:p>
                  </a:txBody>
                  <a:tcPr marL="85725" marR="38100" marT="19050" marB="19050" anchor="ctr">
                    <a:solidFill>
                      <a:srgbClr val="FFFFFF"/>
                    </a:solidFill>
                  </a:tcPr>
                </a:tc>
                <a:tc>
                  <a:txBody>
                    <a:bodyPr wrap="none"/>
                    <a:lstStyle/>
                    <a:p>
                      <a:pPr algn="l"/>
                      <a:r>
                        <a:rPr sz="800" b="1">
                          <a:solidFill>
                            <a:srgbClr val="2E7D32"/>
                          </a:solidFill>
                          <a:latin typeface="Calibri"/>
                        </a:rPr>
                        <a:t>▲ 13.0%</a:t>
                      </a:r>
                    </a:p>
                  </a:txBody>
                  <a:tcPr marL="85725" marR="38100" marT="19050" marB="19050" anchor="ctr">
                    <a:solidFill>
                      <a:srgbClr val="FFFFFF"/>
                    </a:solidFill>
                  </a:tcPr>
                </a:tc>
                <a:tc>
                  <a:txBody>
                    <a:bodyPr wrap="none"/>
                    <a:lstStyle/>
                    <a:p>
                      <a:pPr algn="l"/>
                      <a:r>
                        <a:rPr sz="800" b="1">
                          <a:solidFill>
                            <a:srgbClr val="2E7D32"/>
                          </a:solidFill>
                          <a:latin typeface="Calibri"/>
                        </a:rPr>
                        <a:t>▲ 19.9%</a:t>
                      </a:r>
                    </a:p>
                  </a:txBody>
                  <a:tcPr marL="85725" marR="38100" marT="19050" marB="19050" anchor="ctr">
                    <a:solidFill>
                      <a:srgbClr val="FFFFFF"/>
                    </a:solidFill>
                  </a:tcPr>
                </a:tc>
                <a:tc>
                  <a:txBody>
                    <a:bodyPr wrap="none"/>
                    <a:lstStyle/>
                    <a:p>
                      <a:pPr algn="l"/>
                      <a:r>
                        <a:rPr sz="800" b="1">
                          <a:solidFill>
                            <a:srgbClr val="2E7D32"/>
                          </a:solidFill>
                          <a:latin typeface="Calibri"/>
                        </a:rPr>
                        <a:t>▲ 23.7%</a:t>
                      </a:r>
                    </a:p>
                  </a:txBody>
                  <a:tcPr marL="85725" marR="38100" marT="19050" marB="19050" anchor="ctr">
                    <a:solidFill>
                      <a:srgbClr val="FFFFFF"/>
                    </a:solidFill>
                  </a:tcPr>
                </a:tc>
                <a:tc>
                  <a:txBody>
                    <a:bodyPr wrap="none"/>
                    <a:lstStyle/>
                    <a:p>
                      <a:pPr algn="l"/>
                      <a:r>
                        <a:rPr sz="800" b="1">
                          <a:solidFill>
                            <a:srgbClr val="2E7D32"/>
                          </a:solidFill>
                          <a:latin typeface="Calibri"/>
                        </a:rPr>
                        <a:t>▲ 21.0%</a:t>
                      </a:r>
                    </a:p>
                  </a:txBody>
                  <a:tcPr marL="85725" marR="38100" marT="19050" marB="19050" anchor="ctr">
                    <a:solidFill>
                      <a:srgbClr val="FFFFFF"/>
                    </a:solidFill>
                  </a:tcPr>
                </a:tc>
                <a:tc>
                  <a:txBody>
                    <a:bodyPr wrap="none"/>
                    <a:lstStyle/>
                    <a:p>
                      <a:pPr algn="l"/>
                      <a:r>
                        <a:rPr sz="800" b="1">
                          <a:solidFill>
                            <a:srgbClr val="2E7D32"/>
                          </a:solidFill>
                          <a:latin typeface="Calibri"/>
                        </a:rPr>
                        <a:t>▲ 17.4%</a:t>
                      </a:r>
                    </a:p>
                  </a:txBody>
                  <a:tcPr marL="85725" marR="38100" marT="19050" marB="19050" anchor="ctr">
                    <a:solidFill>
                      <a:srgbClr val="FFFFFF"/>
                    </a:solidFill>
                  </a:tcPr>
                </a:tc>
                <a:tc>
                  <a:txBody>
                    <a:bodyPr wrap="none"/>
                    <a:lstStyle/>
                    <a:p>
                      <a:pPr algn="l"/>
                      <a:r>
                        <a:rPr sz="800" b="1">
                          <a:solidFill>
                            <a:srgbClr val="2E7D32"/>
                          </a:solidFill>
                          <a:latin typeface="Calibri"/>
                        </a:rPr>
                        <a:t>▲ 15.2%</a:t>
                      </a:r>
                    </a:p>
                  </a:txBody>
                  <a:tcPr marL="85725" marR="38100" marT="19050" marB="19050" anchor="ctr">
                    <a:solidFill>
                      <a:srgbClr val="FFFFFF"/>
                    </a:solidFill>
                  </a:tcPr>
                </a:tc>
                <a:tc>
                  <a:txBody>
                    <a:bodyPr wrap="none"/>
                    <a:lstStyle/>
                    <a:p>
                      <a:pPr algn="l"/>
                      <a:r>
                        <a:rPr sz="800" b="1">
                          <a:solidFill>
                            <a:srgbClr val="A86F00"/>
                          </a:solidFill>
                          <a:latin typeface="Calibri"/>
                        </a:rPr>
                        <a:t>▶ 12.9%</a:t>
                      </a:r>
                    </a:p>
                  </a:txBody>
                  <a:tcPr marL="85725" marR="38100" marT="19050" marB="19050" anchor="ctr">
                    <a:solidFill>
                      <a:srgbClr val="FFFFFF"/>
                    </a:solidFill>
                  </a:tcPr>
                </a:tc>
                <a:tc>
                  <a:txBody>
                    <a:bodyPr wrap="none"/>
                    <a:lstStyle/>
                    <a:p>
                      <a:pPr algn="l"/>
                      <a:r>
                        <a:rPr sz="800" b="1">
                          <a:solidFill>
                            <a:srgbClr val="A86F00"/>
                          </a:solidFill>
                          <a:latin typeface="Calibri"/>
                        </a:rPr>
                        <a:t>▶ 11.2%</a:t>
                      </a:r>
                    </a:p>
                  </a:txBody>
                  <a:tcPr marL="85725" marR="38100" marT="19050" marB="19050" anchor="ctr">
                    <a:solidFill>
                      <a:srgbClr val="FFFFFF"/>
                    </a:solidFill>
                  </a:tcPr>
                </a:tc>
                <a:tc>
                  <a:txBody>
                    <a:bodyPr wrap="none"/>
                    <a:lstStyle/>
                    <a:p>
                      <a:pPr algn="l"/>
                      <a:r>
                        <a:rPr sz="800" b="1">
                          <a:solidFill>
                            <a:srgbClr val="A86F00"/>
                          </a:solidFill>
                          <a:latin typeface="Calibri"/>
                        </a:rPr>
                        <a:t>▶ 9.9%</a:t>
                      </a:r>
                    </a:p>
                  </a:txBody>
                  <a:tcPr marL="85725" marR="38100" marT="19050" marB="19050" anchor="ctr">
                    <a:solidFill>
                      <a:srgbClr val="FFFFFF"/>
                    </a:solidFill>
                  </a:tcPr>
                </a:tc>
                <a:tc>
                  <a:txBody>
                    <a:bodyPr wrap="none"/>
                    <a:lstStyle/>
                    <a:p>
                      <a:pPr algn="l"/>
                      <a:r>
                        <a:rPr sz="800" b="1">
                          <a:solidFill>
                            <a:srgbClr val="A86F00"/>
                          </a:solidFill>
                          <a:latin typeface="Calibri"/>
                        </a:rPr>
                        <a:t>▶ 8.7%</a:t>
                      </a:r>
                    </a:p>
                  </a:txBody>
                  <a:tcPr marL="85725" marR="38100" marT="19050" marB="19050" anchor="ctr">
                    <a:solidFill>
                      <a:srgbClr val="FFFFFF"/>
                    </a:solidFill>
                  </a:tcPr>
                </a:tc>
                <a:tc>
                  <a:txBody>
                    <a:bodyPr wrap="none"/>
                    <a:lstStyle/>
                    <a:p>
                      <a:pPr algn="l"/>
                      <a:r>
                        <a:rPr sz="800" b="1">
                          <a:solidFill>
                            <a:srgbClr val="A86F00"/>
                          </a:solidFill>
                          <a:latin typeface="Calibri"/>
                        </a:rPr>
                        <a:t>▶ 7.8%</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c>
                  <a:txBody>
                    <a:bodyPr wrap="none"/>
                    <a:lstStyle/>
                    <a:p>
                      <a:pPr algn="l"/>
                      <a:r>
                        <a:rPr sz="800" b="1">
                          <a:solidFill>
                            <a:srgbClr val="A86F00"/>
                          </a:solidFill>
                          <a:latin typeface="Calibri"/>
                        </a:rPr>
                        <a:t>▶ 5.4%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Hyrimoz / Halimatoz / Hefiya</a:t>
                      </a:r>
                    </a:p>
                  </a:txBody>
                  <a:tcPr marL="85725" marR="38100" marT="19050" marB="19050" anchor="ctr">
                    <a:solidFill>
                      <a:srgbClr val="F5F8FA"/>
                    </a:solidFill>
                  </a:tcPr>
                </a:tc>
                <a:tc>
                  <a:txBody>
                    <a:bodyPr wrap="none"/>
                    <a:lstStyle/>
                    <a:p>
                      <a:pPr algn="l"/>
                      <a:r>
                        <a:rPr sz="800" b="1">
                          <a:solidFill>
                            <a:srgbClr val="A86F00"/>
                          </a:solidFill>
                          <a:latin typeface="Calibri"/>
                        </a:rPr>
                        <a:t>▶ 11.5%</a:t>
                      </a:r>
                    </a:p>
                  </a:txBody>
                  <a:tcPr marL="85725" marR="38100" marT="19050" marB="19050" anchor="ctr">
                    <a:solidFill>
                      <a:srgbClr val="F5F8FA"/>
                    </a:solidFill>
                  </a:tcPr>
                </a:tc>
                <a:tc>
                  <a:txBody>
                    <a:bodyPr wrap="none"/>
                    <a:lstStyle/>
                    <a:p>
                      <a:pPr algn="l"/>
                      <a:r>
                        <a:rPr sz="800" b="1">
                          <a:solidFill>
                            <a:srgbClr val="A86F00"/>
                          </a:solidFill>
                          <a:latin typeface="Calibri"/>
                        </a:rPr>
                        <a:t>▶ 18.2%</a:t>
                      </a:r>
                    </a:p>
                  </a:txBody>
                  <a:tcPr marL="85725" marR="38100" marT="19050" marB="19050" anchor="ctr">
                    <a:solidFill>
                      <a:srgbClr val="F5F8FA"/>
                    </a:solidFill>
                  </a:tcPr>
                </a:tc>
                <a:tc>
                  <a:txBody>
                    <a:bodyPr wrap="none"/>
                    <a:lstStyle/>
                    <a:p>
                      <a:pPr algn="l"/>
                      <a:r>
                        <a:rPr sz="800" b="1">
                          <a:solidFill>
                            <a:srgbClr val="A86F00"/>
                          </a:solidFill>
                          <a:latin typeface="Calibri"/>
                        </a:rPr>
                        <a:t>▶ 22.0%</a:t>
                      </a:r>
                    </a:p>
                  </a:txBody>
                  <a:tcPr marL="85725" marR="38100" marT="19050" marB="19050" anchor="ctr">
                    <a:solidFill>
                      <a:srgbClr val="F5F8FA"/>
                    </a:solidFill>
                  </a:tcPr>
                </a:tc>
                <a:tc>
                  <a:txBody>
                    <a:bodyPr wrap="none"/>
                    <a:lstStyle/>
                    <a:p>
                      <a:pPr algn="l"/>
                      <a:r>
                        <a:rPr sz="800" b="1">
                          <a:solidFill>
                            <a:srgbClr val="A86F00"/>
                          </a:solidFill>
                          <a:latin typeface="Calibri"/>
                        </a:rPr>
                        <a:t>▶ 19.4%</a:t>
                      </a:r>
                    </a:p>
                  </a:txBody>
                  <a:tcPr marL="85725" marR="38100" marT="19050" marB="19050" anchor="ctr">
                    <a:solidFill>
                      <a:srgbClr val="F5F8FA"/>
                    </a:solidFill>
                  </a:tcPr>
                </a:tc>
                <a:tc>
                  <a:txBody>
                    <a:bodyPr wrap="none"/>
                    <a:lstStyle/>
                    <a:p>
                      <a:pPr algn="l"/>
                      <a:r>
                        <a:rPr sz="800" b="1">
                          <a:solidFill>
                            <a:srgbClr val="A86F00"/>
                          </a:solidFill>
                          <a:latin typeface="Calibri"/>
                        </a:rPr>
                        <a:t>▶ 15.8%</a:t>
                      </a:r>
                    </a:p>
                  </a:txBody>
                  <a:tcPr marL="85725" marR="38100" marT="19050" marB="19050" anchor="ctr">
                    <a:solidFill>
                      <a:srgbClr val="F5F8FA"/>
                    </a:solidFill>
                  </a:tcPr>
                </a:tc>
                <a:tc>
                  <a:txBody>
                    <a:bodyPr wrap="none"/>
                    <a:lstStyle/>
                    <a:p>
                      <a:pPr algn="l"/>
                      <a:r>
                        <a:rPr sz="800" b="1">
                          <a:solidFill>
                            <a:srgbClr val="A86F00"/>
                          </a:solidFill>
                          <a:latin typeface="Calibri"/>
                        </a:rPr>
                        <a:t>▶ 13.6%</a:t>
                      </a:r>
                    </a:p>
                  </a:txBody>
                  <a:tcPr marL="85725" marR="38100" marT="19050" marB="19050" anchor="ctr">
                    <a:solidFill>
                      <a:srgbClr val="F5F8FA"/>
                    </a:solidFill>
                  </a:tcPr>
                </a:tc>
                <a:tc>
                  <a:txBody>
                    <a:bodyPr wrap="none"/>
                    <a:lstStyle/>
                    <a:p>
                      <a:pPr algn="l"/>
                      <a:r>
                        <a:rPr sz="800" b="1">
                          <a:solidFill>
                            <a:srgbClr val="A86F00"/>
                          </a:solidFill>
                          <a:latin typeface="Calibri"/>
                        </a:rPr>
                        <a:t>▶ 11.3%</a:t>
                      </a:r>
                    </a:p>
                  </a:txBody>
                  <a:tcPr marL="85725" marR="38100" marT="19050" marB="19050" anchor="ctr">
                    <a:solidFill>
                      <a:srgbClr val="F5F8FA"/>
                    </a:solidFill>
                  </a:tcPr>
                </a:tc>
                <a:tc>
                  <a:txBody>
                    <a:bodyPr wrap="none"/>
                    <a:lstStyle/>
                    <a:p>
                      <a:pPr algn="l"/>
                      <a:r>
                        <a:rPr sz="800" b="1">
                          <a:solidFill>
                            <a:srgbClr val="A86F00"/>
                          </a:solidFill>
                          <a:latin typeface="Calibri"/>
                        </a:rPr>
                        <a:t>▶ 9.7%</a:t>
                      </a:r>
                    </a:p>
                  </a:txBody>
                  <a:tcPr marL="85725" marR="38100" marT="19050" marB="19050" anchor="ctr">
                    <a:solidFill>
                      <a:srgbClr val="F5F8FA"/>
                    </a:solidFill>
                  </a:tcPr>
                </a:tc>
                <a:tc>
                  <a:txBody>
                    <a:bodyPr wrap="none"/>
                    <a:lstStyle/>
                    <a:p>
                      <a:pPr algn="l"/>
                      <a:r>
                        <a:rPr sz="800" b="1">
                          <a:solidFill>
                            <a:srgbClr val="A86F00"/>
                          </a:solidFill>
                          <a:latin typeface="Calibri"/>
                        </a:rPr>
                        <a:t>▶ 8.4%</a:t>
                      </a:r>
                    </a:p>
                  </a:txBody>
                  <a:tcPr marL="85725" marR="38100" marT="19050" marB="19050" anchor="ctr">
                    <a:solidFill>
                      <a:srgbClr val="F5F8FA"/>
                    </a:solidFill>
                  </a:tcPr>
                </a:tc>
                <a:tc>
                  <a:txBody>
                    <a:bodyPr wrap="none"/>
                    <a:lstStyle/>
                    <a:p>
                      <a:pPr algn="l"/>
                      <a:r>
                        <a:rPr sz="800" b="1">
                          <a:solidFill>
                            <a:srgbClr val="A86F00"/>
                          </a:solidFill>
                          <a:latin typeface="Calibri"/>
                        </a:rPr>
                        <a:t>▶ 7.3%</a:t>
                      </a:r>
                    </a:p>
                  </a:txBody>
                  <a:tcPr marL="85725" marR="38100" marT="19050" marB="19050" anchor="ctr">
                    <a:solidFill>
                      <a:srgbClr val="F5F8FA"/>
                    </a:solidFill>
                  </a:tcPr>
                </a:tc>
                <a:tc>
                  <a:txBody>
                    <a:bodyPr wrap="none"/>
                    <a:lstStyle/>
                    <a:p>
                      <a:pPr algn="l"/>
                      <a:r>
                        <a:rPr sz="800" b="1">
                          <a:solidFill>
                            <a:srgbClr val="A86F00"/>
                          </a:solidFill>
                          <a:latin typeface="Calibri"/>
                        </a:rPr>
                        <a:t>▶ 6.3%</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4.9%</a:t>
                      </a:r>
                    </a:p>
                  </a:txBody>
                  <a:tcPr marL="85725" marR="38100" marT="19050" marB="19050" anchor="ctr">
                    <a:solidFill>
                      <a:srgbClr val="F5F8FA"/>
                    </a:solidFill>
                  </a:tcPr>
                </a:tc>
                <a:tc>
                  <a:txBody>
                    <a:bodyPr wrap="none"/>
                    <a:lstStyle/>
                    <a:p>
                      <a:pPr algn="l"/>
                      <a:r>
                        <a:rPr sz="800" b="1">
                          <a:solidFill>
                            <a:srgbClr val="A86F00"/>
                          </a:solidFill>
                          <a:latin typeface="Calibri"/>
                        </a:rPr>
                        <a:t>▶ 4.4%</a:t>
                      </a:r>
                    </a:p>
                  </a:txBody>
                  <a:tcPr marL="85725" marR="38100" marT="19050" marB="19050" anchor="ctr">
                    <a:solidFill>
                      <a:srgbClr val="F5F8FA"/>
                    </a:solidFill>
                  </a:tcPr>
                </a:tc>
                <a:tc>
                  <a:txBody>
                    <a:bodyPr wrap="none"/>
                    <a:lstStyle/>
                    <a:p>
                      <a:pPr algn="l"/>
                      <a:r>
                        <a:rPr sz="800" b="1">
                          <a:solidFill>
                            <a:srgbClr val="A86F00"/>
                          </a:solidFill>
                          <a:latin typeface="Calibri"/>
                        </a:rPr>
                        <a:t>▶ 4.0%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Idacio</a:t>
                      </a:r>
                    </a:p>
                  </a:txBody>
                  <a:tcPr marL="85725" marR="38100" marT="19050" marB="19050" anchor="ctr">
                    <a:solidFill>
                      <a:srgbClr val="FFFFFF"/>
                    </a:solidFill>
                  </a:tcPr>
                </a:tc>
                <a:tc>
                  <a:txBody>
                    <a:bodyPr wrap="none"/>
                    <a:lstStyle/>
                    <a:p>
                      <a:pPr algn="l"/>
                      <a:r>
                        <a:rPr sz="800" b="1">
                          <a:solidFill>
                            <a:srgbClr val="A86F00"/>
                          </a:solidFill>
                          <a:latin typeface="Calibri"/>
                        </a:rPr>
                        <a:t>▶ 12.5%</a:t>
                      </a:r>
                    </a:p>
                  </a:txBody>
                  <a:tcPr marL="85725" marR="38100" marT="19050" marB="19050" anchor="ctr">
                    <a:solidFill>
                      <a:srgbClr val="FFFFFF"/>
                    </a:solidFill>
                  </a:tcPr>
                </a:tc>
                <a:tc>
                  <a:txBody>
                    <a:bodyPr wrap="none"/>
                    <a:lstStyle/>
                    <a:p>
                      <a:pPr algn="l"/>
                      <a:r>
                        <a:rPr sz="800" b="1">
                          <a:solidFill>
                            <a:srgbClr val="A86F00"/>
                          </a:solidFill>
                          <a:latin typeface="Calibri"/>
                        </a:rPr>
                        <a:t>▶ 19.3%</a:t>
                      </a:r>
                    </a:p>
                  </a:txBody>
                  <a:tcPr marL="85725" marR="38100" marT="19050" marB="19050" anchor="ctr">
                    <a:solidFill>
                      <a:srgbClr val="FFFFFF"/>
                    </a:solidFill>
                  </a:tcPr>
                </a:tc>
                <a:tc>
                  <a:txBody>
                    <a:bodyPr wrap="none"/>
                    <a:lstStyle/>
                    <a:p>
                      <a:pPr algn="l"/>
                      <a:r>
                        <a:rPr sz="800" b="1">
                          <a:solidFill>
                            <a:srgbClr val="A86F00"/>
                          </a:solidFill>
                          <a:latin typeface="Calibri"/>
                        </a:rPr>
                        <a:t>▶ 23.1%</a:t>
                      </a:r>
                    </a:p>
                  </a:txBody>
                  <a:tcPr marL="85725" marR="38100" marT="19050" marB="19050" anchor="ctr">
                    <a:solidFill>
                      <a:srgbClr val="FFFFFF"/>
                    </a:solidFill>
                  </a:tcPr>
                </a:tc>
                <a:tc>
                  <a:txBody>
                    <a:bodyPr wrap="none"/>
                    <a:lstStyle/>
                    <a:p>
                      <a:pPr algn="l"/>
                      <a:r>
                        <a:rPr sz="800" b="1">
                          <a:solidFill>
                            <a:srgbClr val="A86F00"/>
                          </a:solidFill>
                          <a:latin typeface="Calibri"/>
                        </a:rPr>
                        <a:t>▶ 20.5%</a:t>
                      </a:r>
                    </a:p>
                  </a:txBody>
                  <a:tcPr marL="85725" marR="38100" marT="19050" marB="19050" anchor="ctr">
                    <a:solidFill>
                      <a:srgbClr val="FFFFFF"/>
                    </a:solidFill>
                  </a:tcPr>
                </a:tc>
                <a:tc>
                  <a:txBody>
                    <a:bodyPr wrap="none"/>
                    <a:lstStyle/>
                    <a:p>
                      <a:pPr algn="l"/>
                      <a:r>
                        <a:rPr sz="800" b="1">
                          <a:solidFill>
                            <a:srgbClr val="A86F00"/>
                          </a:solidFill>
                          <a:latin typeface="Calibri"/>
                        </a:rPr>
                        <a:t>▶ 16.9%</a:t>
                      </a:r>
                    </a:p>
                  </a:txBody>
                  <a:tcPr marL="85725" marR="38100" marT="19050" marB="19050" anchor="ctr">
                    <a:solidFill>
                      <a:srgbClr val="FFFFFF"/>
                    </a:solidFill>
                  </a:tcPr>
                </a:tc>
                <a:tc>
                  <a:txBody>
                    <a:bodyPr wrap="none"/>
                    <a:lstStyle/>
                    <a:p>
                      <a:pPr algn="l"/>
                      <a:r>
                        <a:rPr sz="800" b="1">
                          <a:solidFill>
                            <a:srgbClr val="A86F00"/>
                          </a:solidFill>
                          <a:latin typeface="Calibri"/>
                        </a:rPr>
                        <a:t>▶ 14.7%</a:t>
                      </a:r>
                    </a:p>
                  </a:txBody>
                  <a:tcPr marL="85725" marR="38100" marT="19050" marB="19050" anchor="ctr">
                    <a:solidFill>
                      <a:srgbClr val="FFFFFF"/>
                    </a:solidFill>
                  </a:tcPr>
                </a:tc>
                <a:tc>
                  <a:txBody>
                    <a:bodyPr wrap="none"/>
                    <a:lstStyle/>
                    <a:p>
                      <a:pPr algn="l"/>
                      <a:r>
                        <a:rPr sz="800" b="1">
                          <a:solidFill>
                            <a:srgbClr val="A86F00"/>
                          </a:solidFill>
                          <a:latin typeface="Calibri"/>
                        </a:rPr>
                        <a:t>▶ 12.4%</a:t>
                      </a:r>
                    </a:p>
                  </a:txBody>
                  <a:tcPr marL="85725" marR="38100" marT="19050" marB="19050" anchor="ctr">
                    <a:solidFill>
                      <a:srgbClr val="FFFFFF"/>
                    </a:solidFill>
                  </a:tcPr>
                </a:tc>
                <a:tc>
                  <a:txBody>
                    <a:bodyPr wrap="none"/>
                    <a:lstStyle/>
                    <a:p>
                      <a:pPr algn="l"/>
                      <a:r>
                        <a:rPr sz="800" b="1">
                          <a:solidFill>
                            <a:srgbClr val="A86F00"/>
                          </a:solidFill>
                          <a:latin typeface="Calibri"/>
                        </a:rPr>
                        <a:t>▶ 10.7%</a:t>
                      </a:r>
                    </a:p>
                  </a:txBody>
                  <a:tcPr marL="85725" marR="38100" marT="19050" marB="19050" anchor="ctr">
                    <a:solidFill>
                      <a:srgbClr val="FFFFFF"/>
                    </a:solidFill>
                  </a:tcPr>
                </a:tc>
                <a:tc>
                  <a:txBody>
                    <a:bodyPr wrap="none"/>
                    <a:lstStyle/>
                    <a:p>
                      <a:pPr algn="l"/>
                      <a:r>
                        <a:rPr sz="800" b="1">
                          <a:solidFill>
                            <a:srgbClr val="A86F00"/>
                          </a:solidFill>
                          <a:latin typeface="Calibri"/>
                        </a:rPr>
                        <a:t>▶ 9.4%</a:t>
                      </a:r>
                    </a:p>
                  </a:txBody>
                  <a:tcPr marL="85725" marR="38100" marT="19050" marB="19050" anchor="ctr">
                    <a:solidFill>
                      <a:srgbClr val="FFFFFF"/>
                    </a:solidFill>
                  </a:tcPr>
                </a:tc>
                <a:tc>
                  <a:txBody>
                    <a:bodyPr wrap="none"/>
                    <a:lstStyle/>
                    <a:p>
                      <a:pPr algn="l"/>
                      <a:r>
                        <a:rPr sz="800" b="1">
                          <a:solidFill>
                            <a:srgbClr val="A86F00"/>
                          </a:solidFill>
                          <a:latin typeface="Calibri"/>
                        </a:rPr>
                        <a:t>▶ 8.3%</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5.9%</a:t>
                      </a:r>
                    </a:p>
                  </a:txBody>
                  <a:tcPr marL="85725" marR="38100" marT="19050" marB="19050" anchor="ctr">
                    <a:solidFill>
                      <a:srgbClr val="FFFFFF"/>
                    </a:solidFill>
                  </a:tcPr>
                </a:tc>
                <a:tc>
                  <a:txBody>
                    <a:bodyPr wrap="none"/>
                    <a:lstStyle/>
                    <a:p>
                      <a:pPr algn="l"/>
                      <a:r>
                        <a:rPr sz="800" b="1">
                          <a:solidFill>
                            <a:srgbClr val="A86F00"/>
                          </a:solidFill>
                          <a:latin typeface="Calibri"/>
                        </a:rPr>
                        <a:t>▶ 5.4%</a:t>
                      </a:r>
                    </a:p>
                  </a:txBody>
                  <a:tcPr marL="85725" marR="38100" marT="19050" marB="19050" anchor="ctr">
                    <a:solidFill>
                      <a:srgbClr val="FFFFFF"/>
                    </a:solidFill>
                  </a:tcPr>
                </a:tc>
                <a:tc>
                  <a:txBody>
                    <a:bodyPr wrap="none"/>
                    <a:lstStyle/>
                    <a:p>
                      <a:pPr algn="l"/>
                      <a:r>
                        <a:rPr sz="800" b="1">
                          <a:solidFill>
                            <a:srgbClr val="A86F00"/>
                          </a:solidFill>
                          <a:latin typeface="Calibri"/>
                        </a:rPr>
                        <a:t>▶ 4.9%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Hulio</a:t>
                      </a:r>
                    </a:p>
                  </a:txBody>
                  <a:tcPr marL="85725" marR="38100" marT="19050" marB="19050" anchor="ctr">
                    <a:solidFill>
                      <a:srgbClr val="F5F8FA"/>
                    </a:solidFill>
                  </a:tcPr>
                </a:tc>
                <a:tc>
                  <a:txBody>
                    <a:bodyPr wrap="none"/>
                    <a:lstStyle/>
                    <a:p>
                      <a:pPr algn="l"/>
                      <a:r>
                        <a:rPr sz="800" b="1">
                          <a:solidFill>
                            <a:srgbClr val="2E7D32"/>
                          </a:solidFill>
                          <a:latin typeface="Calibri"/>
                        </a:rPr>
                        <a:t>▲ 15.5%</a:t>
                      </a:r>
                    </a:p>
                  </a:txBody>
                  <a:tcPr marL="85725" marR="38100" marT="19050" marB="19050" anchor="ctr">
                    <a:solidFill>
                      <a:srgbClr val="F5F8FA"/>
                    </a:solidFill>
                  </a:tcPr>
                </a:tc>
                <a:tc>
                  <a:txBody>
                    <a:bodyPr wrap="none"/>
                    <a:lstStyle/>
                    <a:p>
                      <a:pPr algn="l"/>
                      <a:r>
                        <a:rPr sz="800" b="1">
                          <a:solidFill>
                            <a:srgbClr val="2E7D32"/>
                          </a:solidFill>
                          <a:latin typeface="Calibri"/>
                        </a:rPr>
                        <a:t>▲ 22.5%</a:t>
                      </a:r>
                    </a:p>
                  </a:txBody>
                  <a:tcPr marL="85725" marR="38100" marT="19050" marB="19050" anchor="ctr">
                    <a:solidFill>
                      <a:srgbClr val="F5F8FA"/>
                    </a:solidFill>
                  </a:tcPr>
                </a:tc>
                <a:tc>
                  <a:txBody>
                    <a:bodyPr wrap="none"/>
                    <a:lstStyle/>
                    <a:p>
                      <a:pPr algn="l"/>
                      <a:r>
                        <a:rPr sz="800" b="1">
                          <a:solidFill>
                            <a:srgbClr val="2E7D32"/>
                          </a:solidFill>
                          <a:latin typeface="Calibri"/>
                        </a:rPr>
                        <a:t>▲ 26.4%</a:t>
                      </a:r>
                    </a:p>
                  </a:txBody>
                  <a:tcPr marL="85725" marR="38100" marT="19050" marB="19050" anchor="ctr">
                    <a:solidFill>
                      <a:srgbClr val="F5F8FA"/>
                    </a:solidFill>
                  </a:tcPr>
                </a:tc>
                <a:tc>
                  <a:txBody>
                    <a:bodyPr wrap="none"/>
                    <a:lstStyle/>
                    <a:p>
                      <a:pPr algn="l"/>
                      <a:r>
                        <a:rPr sz="800" b="1">
                          <a:solidFill>
                            <a:srgbClr val="2E7D32"/>
                          </a:solidFill>
                          <a:latin typeface="Calibri"/>
                        </a:rPr>
                        <a:t>▲ 23.7%</a:t>
                      </a:r>
                    </a:p>
                  </a:txBody>
                  <a:tcPr marL="85725" marR="38100" marT="19050" marB="19050" anchor="ctr">
                    <a:solidFill>
                      <a:srgbClr val="F5F8FA"/>
                    </a:solidFill>
                  </a:tcPr>
                </a:tc>
                <a:tc>
                  <a:txBody>
                    <a:bodyPr wrap="none"/>
                    <a:lstStyle/>
                    <a:p>
                      <a:pPr algn="l"/>
                      <a:r>
                        <a:rPr sz="800" b="1">
                          <a:solidFill>
                            <a:srgbClr val="2E7D32"/>
                          </a:solidFill>
                          <a:latin typeface="Calibri"/>
                        </a:rPr>
                        <a:t>▲ 19.9%</a:t>
                      </a:r>
                    </a:p>
                  </a:txBody>
                  <a:tcPr marL="85725" marR="38100" marT="19050" marB="19050" anchor="ctr">
                    <a:solidFill>
                      <a:srgbClr val="F5F8FA"/>
                    </a:solidFill>
                  </a:tcPr>
                </a:tc>
                <a:tc>
                  <a:txBody>
                    <a:bodyPr wrap="none"/>
                    <a:lstStyle/>
                    <a:p>
                      <a:pPr algn="l"/>
                      <a:r>
                        <a:rPr sz="800" b="1">
                          <a:solidFill>
                            <a:srgbClr val="2E7D32"/>
                          </a:solidFill>
                          <a:latin typeface="Calibri"/>
                        </a:rPr>
                        <a:t>▲ 17.7%</a:t>
                      </a:r>
                    </a:p>
                  </a:txBody>
                  <a:tcPr marL="85725" marR="38100" marT="19050" marB="19050" anchor="ctr">
                    <a:solidFill>
                      <a:srgbClr val="F5F8FA"/>
                    </a:solidFill>
                  </a:tcPr>
                </a:tc>
                <a:tc>
                  <a:txBody>
                    <a:bodyPr wrap="none"/>
                    <a:lstStyle/>
                    <a:p>
                      <a:pPr algn="l"/>
                      <a:r>
                        <a:rPr sz="800" b="1">
                          <a:solidFill>
                            <a:srgbClr val="2E7D32"/>
                          </a:solidFill>
                          <a:latin typeface="Calibri"/>
                        </a:rPr>
                        <a:t>▲ 15.3%</a:t>
                      </a:r>
                    </a:p>
                  </a:txBody>
                  <a:tcPr marL="85725" marR="38100" marT="19050" marB="19050" anchor="ctr">
                    <a:solidFill>
                      <a:srgbClr val="F5F8FA"/>
                    </a:solidFill>
                  </a:tcPr>
                </a:tc>
                <a:tc>
                  <a:txBody>
                    <a:bodyPr wrap="none"/>
                    <a:lstStyle/>
                    <a:p>
                      <a:pPr algn="l"/>
                      <a:r>
                        <a:rPr sz="800" b="1">
                          <a:solidFill>
                            <a:srgbClr val="2E7D32"/>
                          </a:solidFill>
                          <a:latin typeface="Calibri"/>
                        </a:rPr>
                        <a:t>▲ 13.7%</a:t>
                      </a:r>
                    </a:p>
                  </a:txBody>
                  <a:tcPr marL="85725" marR="38100" marT="19050" marB="19050" anchor="ctr">
                    <a:solidFill>
                      <a:srgbClr val="F5F8FA"/>
                    </a:solidFill>
                  </a:tcPr>
                </a:tc>
                <a:tc>
                  <a:txBody>
                    <a:bodyPr wrap="none"/>
                    <a:lstStyle/>
                    <a:p>
                      <a:pPr algn="l"/>
                      <a:r>
                        <a:rPr sz="800" b="1">
                          <a:solidFill>
                            <a:srgbClr val="2E7D32"/>
                          </a:solidFill>
                          <a:latin typeface="Calibri"/>
                        </a:rPr>
                        <a:t>▲ 12.3%</a:t>
                      </a:r>
                    </a:p>
                  </a:txBody>
                  <a:tcPr marL="85725" marR="38100" marT="19050" marB="19050" anchor="ctr">
                    <a:solidFill>
                      <a:srgbClr val="F5F8FA"/>
                    </a:solidFill>
                  </a:tcPr>
                </a:tc>
                <a:tc>
                  <a:txBody>
                    <a:bodyPr wrap="none"/>
                    <a:lstStyle/>
                    <a:p>
                      <a:pPr algn="l"/>
                      <a:r>
                        <a:rPr sz="800" b="1">
                          <a:solidFill>
                            <a:srgbClr val="2E7D32"/>
                          </a:solidFill>
                          <a:latin typeface="Calibri"/>
                        </a:rPr>
                        <a:t>▲ 11.1%</a:t>
                      </a:r>
                    </a:p>
                  </a:txBody>
                  <a:tcPr marL="85725" marR="38100" marT="19050" marB="19050" anchor="ctr">
                    <a:solidFill>
                      <a:srgbClr val="F5F8FA"/>
                    </a:solidFill>
                  </a:tcPr>
                </a:tc>
                <a:tc>
                  <a:txBody>
                    <a:bodyPr wrap="none"/>
                    <a:lstStyle/>
                    <a:p>
                      <a:pPr algn="l"/>
                      <a:r>
                        <a:rPr sz="800" b="1">
                          <a:solidFill>
                            <a:srgbClr val="2E7D32"/>
                          </a:solidFill>
                          <a:latin typeface="Calibri"/>
                        </a:rPr>
                        <a:t>▲ 10.2%</a:t>
                      </a:r>
                    </a:p>
                  </a:txBody>
                  <a:tcPr marL="85725" marR="38100" marT="19050" marB="19050" anchor="ctr">
                    <a:solidFill>
                      <a:srgbClr val="F5F8FA"/>
                    </a:solidFill>
                  </a:tcPr>
                </a:tc>
                <a:tc>
                  <a:txBody>
                    <a:bodyPr wrap="none"/>
                    <a:lstStyle/>
                    <a:p>
                      <a:pPr algn="l"/>
                      <a:r>
                        <a:rPr sz="800" b="1">
                          <a:solidFill>
                            <a:srgbClr val="2E7D32"/>
                          </a:solidFill>
                          <a:latin typeface="Calibri"/>
                        </a:rPr>
                        <a:t>▲ 9.3%</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8.1%</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Abrilada / Amsparity</a:t>
                      </a:r>
                    </a:p>
                  </a:txBody>
                  <a:tcPr marL="85725" marR="38100" marT="19050" marB="19050" anchor="ctr">
                    <a:solidFill>
                      <a:srgbClr val="FFFFFF"/>
                    </a:solidFill>
                  </a:tcPr>
                </a:tc>
                <a:tc>
                  <a:txBody>
                    <a:bodyPr wrap="none"/>
                    <a:lstStyle/>
                    <a:p>
                      <a:pPr algn="l"/>
                      <a:r>
                        <a:rPr sz="800" b="1">
                          <a:solidFill>
                            <a:srgbClr val="2E7D32"/>
                          </a:solidFill>
                          <a:latin typeface="Calibri"/>
                        </a:rPr>
                        <a:t>▲ 13.7%</a:t>
                      </a:r>
                    </a:p>
                  </a:txBody>
                  <a:tcPr marL="85725" marR="38100" marT="19050" marB="19050" anchor="ctr">
                    <a:solidFill>
                      <a:srgbClr val="FFFFFF"/>
                    </a:solidFill>
                  </a:tcPr>
                </a:tc>
                <a:tc>
                  <a:txBody>
                    <a:bodyPr wrap="none"/>
                    <a:lstStyle/>
                    <a:p>
                      <a:pPr algn="l"/>
                      <a:r>
                        <a:rPr sz="800" b="1">
                          <a:solidFill>
                            <a:srgbClr val="2E7D32"/>
                          </a:solidFill>
                          <a:latin typeface="Calibri"/>
                        </a:rPr>
                        <a:t>▲ 20.5%</a:t>
                      </a:r>
                    </a:p>
                  </a:txBody>
                  <a:tcPr marL="85725" marR="38100" marT="19050" marB="19050" anchor="ctr">
                    <a:solidFill>
                      <a:srgbClr val="FFFFFF"/>
                    </a:solidFill>
                  </a:tcPr>
                </a:tc>
                <a:tc>
                  <a:txBody>
                    <a:bodyPr wrap="none"/>
                    <a:lstStyle/>
                    <a:p>
                      <a:pPr algn="l"/>
                      <a:r>
                        <a:rPr sz="800" b="1">
                          <a:solidFill>
                            <a:srgbClr val="2E7D32"/>
                          </a:solidFill>
                          <a:latin typeface="Calibri"/>
                        </a:rPr>
                        <a:t>▲ 24.4%</a:t>
                      </a:r>
                    </a:p>
                  </a:txBody>
                  <a:tcPr marL="85725" marR="38100" marT="19050" marB="19050" anchor="ctr">
                    <a:solidFill>
                      <a:srgbClr val="FFFFFF"/>
                    </a:solidFill>
                  </a:tcPr>
                </a:tc>
                <a:tc>
                  <a:txBody>
                    <a:bodyPr wrap="none"/>
                    <a:lstStyle/>
                    <a:p>
                      <a:pPr algn="l"/>
                      <a:r>
                        <a:rPr sz="800" b="1">
                          <a:solidFill>
                            <a:srgbClr val="2E7D32"/>
                          </a:solidFill>
                          <a:latin typeface="Calibri"/>
                        </a:rPr>
                        <a:t>▲ 21.7%</a:t>
                      </a:r>
                    </a:p>
                  </a:txBody>
                  <a:tcPr marL="85725" marR="38100" marT="19050" marB="19050" anchor="ctr">
                    <a:solidFill>
                      <a:srgbClr val="FFFFFF"/>
                    </a:solidFill>
                  </a:tcPr>
                </a:tc>
                <a:tc>
                  <a:txBody>
                    <a:bodyPr wrap="none"/>
                    <a:lstStyle/>
                    <a:p>
                      <a:pPr algn="l"/>
                      <a:r>
                        <a:rPr sz="800" b="1">
                          <a:solidFill>
                            <a:srgbClr val="2E7D32"/>
                          </a:solidFill>
                          <a:latin typeface="Calibri"/>
                        </a:rPr>
                        <a:t>▲ 18.0%</a:t>
                      </a:r>
                    </a:p>
                  </a:txBody>
                  <a:tcPr marL="85725" marR="38100" marT="19050" marB="19050" anchor="ctr">
                    <a:solidFill>
                      <a:srgbClr val="FFFFFF"/>
                    </a:solidFill>
                  </a:tcPr>
                </a:tc>
                <a:tc>
                  <a:txBody>
                    <a:bodyPr wrap="none"/>
                    <a:lstStyle/>
                    <a:p>
                      <a:pPr algn="l"/>
                      <a:r>
                        <a:rPr sz="800" b="1">
                          <a:solidFill>
                            <a:srgbClr val="2E7D32"/>
                          </a:solidFill>
                          <a:latin typeface="Calibri"/>
                        </a:rPr>
                        <a:t>▲ 15.9%</a:t>
                      </a:r>
                    </a:p>
                  </a:txBody>
                  <a:tcPr marL="85725" marR="38100" marT="19050" marB="19050" anchor="ctr">
                    <a:solidFill>
                      <a:srgbClr val="FFFFFF"/>
                    </a:solidFill>
                  </a:tcPr>
                </a:tc>
                <a:tc>
                  <a:txBody>
                    <a:bodyPr wrap="none"/>
                    <a:lstStyle/>
                    <a:p>
                      <a:pPr algn="l"/>
                      <a:r>
                        <a:rPr sz="800" b="1">
                          <a:solidFill>
                            <a:srgbClr val="2E7D32"/>
                          </a:solidFill>
                          <a:latin typeface="Calibri"/>
                        </a:rPr>
                        <a:t>▲ 13.5%</a:t>
                      </a:r>
                    </a:p>
                  </a:txBody>
                  <a:tcPr marL="85725" marR="38100" marT="19050" marB="19050" anchor="ctr">
                    <a:solidFill>
                      <a:srgbClr val="FFFFFF"/>
                    </a:solidFill>
                  </a:tcPr>
                </a:tc>
                <a:tc>
                  <a:txBody>
                    <a:bodyPr wrap="none"/>
                    <a:lstStyle/>
                    <a:p>
                      <a:pPr algn="l"/>
                      <a:r>
                        <a:rPr sz="800" b="1">
                          <a:solidFill>
                            <a:srgbClr val="2E7D32"/>
                          </a:solidFill>
                          <a:latin typeface="Calibri"/>
                        </a:rPr>
                        <a:t>▲ 11.8%</a:t>
                      </a:r>
                    </a:p>
                  </a:txBody>
                  <a:tcPr marL="85725" marR="38100" marT="19050" marB="19050" anchor="ctr">
                    <a:solidFill>
                      <a:srgbClr val="FFFFFF"/>
                    </a:solidFill>
                  </a:tcPr>
                </a:tc>
                <a:tc>
                  <a:txBody>
                    <a:bodyPr wrap="none"/>
                    <a:lstStyle/>
                    <a:p>
                      <a:pPr algn="l"/>
                      <a:r>
                        <a:rPr sz="800" b="1">
                          <a:solidFill>
                            <a:srgbClr val="2E7D32"/>
                          </a:solidFill>
                          <a:latin typeface="Calibri"/>
                        </a:rPr>
                        <a:t>▲ 10.5%</a:t>
                      </a:r>
                    </a:p>
                  </a:txBody>
                  <a:tcPr marL="85725" marR="38100" marT="19050" marB="19050" anchor="ctr">
                    <a:solidFill>
                      <a:srgbClr val="FFFFFF"/>
                    </a:solidFill>
                  </a:tcPr>
                </a:tc>
                <a:tc>
                  <a:txBody>
                    <a:bodyPr wrap="none"/>
                    <a:lstStyle/>
                    <a:p>
                      <a:pPr algn="l"/>
                      <a:r>
                        <a:rPr sz="800" b="1">
                          <a:solidFill>
                            <a:srgbClr val="2E7D32"/>
                          </a:solidFill>
                          <a:latin typeface="Calibri"/>
                        </a:rPr>
                        <a:t>▲ 9.3%</a:t>
                      </a:r>
                    </a:p>
                  </a:txBody>
                  <a:tcPr marL="85725" marR="38100" marT="19050" marB="19050" anchor="ctr">
                    <a:solidFill>
                      <a:srgbClr val="FFFFFF"/>
                    </a:solidFill>
                  </a:tcPr>
                </a:tc>
                <a:tc>
                  <a:txBody>
                    <a:bodyPr wrap="none"/>
                    <a:lstStyle/>
                    <a:p>
                      <a:pPr algn="l"/>
                      <a:r>
                        <a:rPr sz="800" b="1">
                          <a:solidFill>
                            <a:srgbClr val="2E7D32"/>
                          </a:solidFill>
                          <a:latin typeface="Calibri"/>
                        </a:rPr>
                        <a:t>▲ 8.4%</a:t>
                      </a:r>
                    </a:p>
                  </a:txBody>
                  <a:tcPr marL="85725" marR="38100" marT="19050" marB="19050" anchor="ctr">
                    <a:solidFill>
                      <a:srgbClr val="FFFFFF"/>
                    </a:solidFill>
                  </a:tcPr>
                </a:tc>
                <a:tc>
                  <a:txBody>
                    <a:bodyPr wrap="none"/>
                    <a:lstStyle/>
                    <a:p>
                      <a:pPr algn="l"/>
                      <a:r>
                        <a:rPr sz="800" b="1">
                          <a:solidFill>
                            <a:srgbClr val="2E7D32"/>
                          </a:solidFill>
                          <a:latin typeface="Calibri"/>
                        </a:rPr>
                        <a:t>▲ 7.6%</a:t>
                      </a:r>
                    </a:p>
                  </a:txBody>
                  <a:tcPr marL="85725" marR="38100" marT="19050" marB="19050" anchor="ctr">
                    <a:solidFill>
                      <a:srgbClr val="FFFFFF"/>
                    </a:solidFill>
                  </a:tcPr>
                </a:tc>
                <a:tc>
                  <a:txBody>
                    <a:bodyPr wrap="none"/>
                    <a:lstStyle/>
                    <a:p>
                      <a:pPr algn="l"/>
                      <a:r>
                        <a:rPr sz="800" b="1">
                          <a:solidFill>
                            <a:srgbClr val="2E7D32"/>
                          </a:solidFill>
                          <a:latin typeface="Calibri"/>
                        </a:rPr>
                        <a:t>▲ 6.9%</a:t>
                      </a:r>
                    </a:p>
                  </a:txBody>
                  <a:tcPr marL="85725" marR="38100" marT="19050" marB="19050" anchor="ctr">
                    <a:solidFill>
                      <a:srgbClr val="FFFFFF"/>
                    </a:solidFill>
                  </a:tcPr>
                </a:tc>
                <a:tc>
                  <a:txBody>
                    <a:bodyPr wrap="none"/>
                    <a:lstStyle/>
                    <a:p>
                      <a:pPr algn="l"/>
                      <a:r>
                        <a:rPr sz="800" b="1">
                          <a:solidFill>
                            <a:srgbClr val="2E7D32"/>
                          </a:solidFill>
                          <a:latin typeface="Calibri"/>
                        </a:rPr>
                        <a:t>▲ 6.4%</a:t>
                      </a:r>
                    </a:p>
                  </a:txBody>
                  <a:tcPr marL="85725" marR="38100" marT="19050" marB="19050" anchor="ctr">
                    <a:solidFill>
                      <a:srgbClr val="FFFFFF"/>
                    </a:solidFill>
                  </a:tcPr>
                </a:tc>
                <a:tc>
                  <a:txBody>
                    <a:bodyPr wrap="none"/>
                    <a:lstStyle/>
                    <a:p>
                      <a:pPr algn="l"/>
                      <a:r>
                        <a:rPr sz="800" b="1">
                          <a:solidFill>
                            <a:srgbClr val="2E7D32"/>
                          </a:solidFill>
                          <a:latin typeface="Calibri"/>
                        </a:rPr>
                        <a:t>▲ 6.0%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Yusimry</a:t>
                      </a:r>
                    </a:p>
                  </a:txBody>
                  <a:tcPr marL="85725" marR="38100" marT="19050" marB="19050" anchor="ctr">
                    <a:solidFill>
                      <a:srgbClr val="F5F8FA"/>
                    </a:solidFill>
                  </a:tcPr>
                </a:tc>
                <a:tc>
                  <a:txBody>
                    <a:bodyPr wrap="none"/>
                    <a:lstStyle/>
                    <a:p>
                      <a:pPr algn="l"/>
                      <a:r>
                        <a:rPr sz="800" b="1">
                          <a:solidFill>
                            <a:srgbClr val="A86F00"/>
                          </a:solidFill>
                          <a:latin typeface="Calibri"/>
                        </a:rPr>
                        <a:t>▶ 12.5%</a:t>
                      </a:r>
                    </a:p>
                  </a:txBody>
                  <a:tcPr marL="85725" marR="38100" marT="19050" marB="19050" anchor="ctr">
                    <a:solidFill>
                      <a:srgbClr val="F5F8FA"/>
                    </a:solidFill>
                  </a:tcPr>
                </a:tc>
                <a:tc>
                  <a:txBody>
                    <a:bodyPr wrap="none"/>
                    <a:lstStyle/>
                    <a:p>
                      <a:pPr algn="l"/>
                      <a:r>
                        <a:rPr sz="800" b="1">
                          <a:solidFill>
                            <a:srgbClr val="A86F00"/>
                          </a:solidFill>
                          <a:latin typeface="Calibri"/>
                        </a:rPr>
                        <a:t>▶ 19.4%</a:t>
                      </a:r>
                    </a:p>
                  </a:txBody>
                  <a:tcPr marL="85725" marR="38100" marT="19050" marB="19050" anchor="ctr">
                    <a:solidFill>
                      <a:srgbClr val="F5F8FA"/>
                    </a:solidFill>
                  </a:tcPr>
                </a:tc>
                <a:tc>
                  <a:txBody>
                    <a:bodyPr wrap="none"/>
                    <a:lstStyle/>
                    <a:p>
                      <a:pPr algn="l"/>
                      <a:r>
                        <a:rPr sz="800" b="1">
                          <a:solidFill>
                            <a:srgbClr val="A86F00"/>
                          </a:solidFill>
                          <a:latin typeface="Calibri"/>
                        </a:rPr>
                        <a:t>▶ 23.2%</a:t>
                      </a:r>
                    </a:p>
                  </a:txBody>
                  <a:tcPr marL="85725" marR="38100" marT="19050" marB="19050" anchor="ctr">
                    <a:solidFill>
                      <a:srgbClr val="F5F8FA"/>
                    </a:solidFill>
                  </a:tcPr>
                </a:tc>
                <a:tc>
                  <a:txBody>
                    <a:bodyPr wrap="none"/>
                    <a:lstStyle/>
                    <a:p>
                      <a:pPr algn="l"/>
                      <a:r>
                        <a:rPr sz="800" b="1">
                          <a:solidFill>
                            <a:srgbClr val="A86F00"/>
                          </a:solidFill>
                          <a:latin typeface="Calibri"/>
                        </a:rPr>
                        <a:t>▶ 20.5%</a:t>
                      </a:r>
                    </a:p>
                  </a:txBody>
                  <a:tcPr marL="85725" marR="38100" marT="19050" marB="19050" anchor="ctr">
                    <a:solidFill>
                      <a:srgbClr val="F5F8FA"/>
                    </a:solidFill>
                  </a:tcPr>
                </a:tc>
                <a:tc>
                  <a:txBody>
                    <a:bodyPr wrap="none"/>
                    <a:lstStyle/>
                    <a:p>
                      <a:pPr algn="l"/>
                      <a:r>
                        <a:rPr sz="800" b="1">
                          <a:solidFill>
                            <a:srgbClr val="A86F00"/>
                          </a:solidFill>
                          <a:latin typeface="Calibri"/>
                        </a:rPr>
                        <a:t>▶ 16.9%</a:t>
                      </a:r>
                    </a:p>
                  </a:txBody>
                  <a:tcPr marL="85725" marR="38100" marT="19050" marB="19050" anchor="ctr">
                    <a:solidFill>
                      <a:srgbClr val="F5F8FA"/>
                    </a:solidFill>
                  </a:tcPr>
                </a:tc>
                <a:tc>
                  <a:txBody>
                    <a:bodyPr wrap="none"/>
                    <a:lstStyle/>
                    <a:p>
                      <a:pPr algn="l"/>
                      <a:r>
                        <a:rPr sz="800" b="1">
                          <a:solidFill>
                            <a:srgbClr val="A86F00"/>
                          </a:solidFill>
                          <a:latin typeface="Calibri"/>
                        </a:rPr>
                        <a:t>▶ 14.7%</a:t>
                      </a:r>
                    </a:p>
                  </a:txBody>
                  <a:tcPr marL="85725" marR="38100" marT="19050" marB="19050" anchor="ctr">
                    <a:solidFill>
                      <a:srgbClr val="F5F8FA"/>
                    </a:solidFill>
                  </a:tcPr>
                </a:tc>
                <a:tc>
                  <a:txBody>
                    <a:bodyPr wrap="none"/>
                    <a:lstStyle/>
                    <a:p>
                      <a:pPr algn="l"/>
                      <a:r>
                        <a:rPr sz="800" b="1">
                          <a:solidFill>
                            <a:srgbClr val="A86F00"/>
                          </a:solidFill>
                          <a:latin typeface="Calibri"/>
                        </a:rPr>
                        <a:t>▶ 12.4%</a:t>
                      </a:r>
                    </a:p>
                  </a:txBody>
                  <a:tcPr marL="85725" marR="38100" marT="19050" marB="19050" anchor="ctr">
                    <a:solidFill>
                      <a:srgbClr val="F5F8FA"/>
                    </a:solidFill>
                  </a:tcPr>
                </a:tc>
                <a:tc>
                  <a:txBody>
                    <a:bodyPr wrap="none"/>
                    <a:lstStyle/>
                    <a:p>
                      <a:pPr algn="l"/>
                      <a:r>
                        <a:rPr sz="800" b="1">
                          <a:solidFill>
                            <a:srgbClr val="A86F00"/>
                          </a:solidFill>
                          <a:latin typeface="Calibri"/>
                        </a:rPr>
                        <a:t>▶ 10.8%</a:t>
                      </a:r>
                    </a:p>
                  </a:txBody>
                  <a:tcPr marL="85725" marR="38100" marT="19050" marB="19050" anchor="ctr">
                    <a:solidFill>
                      <a:srgbClr val="F5F8FA"/>
                    </a:solidFill>
                  </a:tcPr>
                </a:tc>
                <a:tc>
                  <a:txBody>
                    <a:bodyPr wrap="none"/>
                    <a:lstStyle/>
                    <a:p>
                      <a:pPr algn="l"/>
                      <a:r>
                        <a:rPr sz="800" b="1">
                          <a:solidFill>
                            <a:srgbClr val="A86F00"/>
                          </a:solidFill>
                          <a:latin typeface="Calibri"/>
                        </a:rPr>
                        <a:t>▶ 9.4%</a:t>
                      </a:r>
                    </a:p>
                  </a:txBody>
                  <a:tcPr marL="85725" marR="38100" marT="19050" marB="19050" anchor="ctr">
                    <a:solidFill>
                      <a:srgbClr val="F5F8FA"/>
                    </a:solidFill>
                  </a:tcPr>
                </a:tc>
                <a:tc>
                  <a:txBody>
                    <a:bodyPr wrap="none"/>
                    <a:lstStyle/>
                    <a:p>
                      <a:pPr algn="l"/>
                      <a:r>
                        <a:rPr sz="800" b="1">
                          <a:solidFill>
                            <a:srgbClr val="A86F00"/>
                          </a:solidFill>
                          <a:latin typeface="Calibri"/>
                        </a:rPr>
                        <a:t>▶ 8.3%</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c>
                  <a:txBody>
                    <a:bodyPr wrap="none"/>
                    <a:lstStyle/>
                    <a:p>
                      <a:pPr algn="l"/>
                      <a:r>
                        <a:rPr sz="800" b="1">
                          <a:solidFill>
                            <a:srgbClr val="A86F00"/>
                          </a:solidFill>
                          <a:latin typeface="Calibri"/>
                        </a:rPr>
                        <a:t>▶ 5.9%</a:t>
                      </a:r>
                    </a:p>
                  </a:txBody>
                  <a:tcPr marL="85725" marR="38100" marT="19050" marB="19050" anchor="ctr">
                    <a:solidFill>
                      <a:srgbClr val="F5F8FA"/>
                    </a:solidFill>
                  </a:tcPr>
                </a:tc>
                <a:tc>
                  <a:txBody>
                    <a:bodyPr wrap="none"/>
                    <a:lstStyle/>
                    <a:p>
                      <a:pPr algn="l"/>
                      <a:r>
                        <a:rPr sz="800" b="1">
                          <a:solidFill>
                            <a:srgbClr val="A86F00"/>
                          </a:solidFill>
                          <a:latin typeface="Calibri"/>
                        </a:rPr>
                        <a:t>▶ 5.4%</a:t>
                      </a:r>
                    </a:p>
                  </a:txBody>
                  <a:tcPr marL="85725" marR="38100" marT="19050" marB="19050" anchor="ctr">
                    <a:solidFill>
                      <a:srgbClr val="F5F8FA"/>
                    </a:solidFill>
                  </a:tcPr>
                </a:tc>
                <a:tc>
                  <a:txBody>
                    <a:bodyPr wrap="none"/>
                    <a:lstStyle/>
                    <a:p>
                      <a:pPr algn="l"/>
                      <a:r>
                        <a:rPr sz="800" b="1">
                          <a:solidFill>
                            <a:srgbClr val="A86F00"/>
                          </a:solidFill>
                          <a:latin typeface="Calibri"/>
                        </a:rPr>
                        <a:t>▶ 4.9%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Yuflyma</a:t>
                      </a:r>
                    </a:p>
                  </a:txBody>
                  <a:tcPr marL="85725" marR="38100" marT="19050" marB="19050" anchor="ctr">
                    <a:solidFill>
                      <a:srgbClr val="FFFFFF"/>
                    </a:solidFill>
                  </a:tcPr>
                </a:tc>
                <a:tc>
                  <a:txBody>
                    <a:bodyPr wrap="none"/>
                    <a:lstStyle/>
                    <a:p>
                      <a:pPr algn="l"/>
                      <a:r>
                        <a:rPr sz="800" b="1">
                          <a:solidFill>
                            <a:srgbClr val="2E7D32"/>
                          </a:solidFill>
                          <a:latin typeface="Calibri"/>
                        </a:rPr>
                        <a:t>▲ 14.6%</a:t>
                      </a:r>
                    </a:p>
                  </a:txBody>
                  <a:tcPr marL="85725" marR="38100" marT="19050" marB="19050" anchor="ctr">
                    <a:solidFill>
                      <a:srgbClr val="FFFFFF"/>
                    </a:solidFill>
                  </a:tcPr>
                </a:tc>
                <a:tc>
                  <a:txBody>
                    <a:bodyPr wrap="none"/>
                    <a:lstStyle/>
                    <a:p>
                      <a:pPr algn="l"/>
                      <a:r>
                        <a:rPr sz="800" b="1">
                          <a:solidFill>
                            <a:srgbClr val="2E7D32"/>
                          </a:solidFill>
                          <a:latin typeface="Calibri"/>
                        </a:rPr>
                        <a:t>▲ 21.5%</a:t>
                      </a:r>
                    </a:p>
                  </a:txBody>
                  <a:tcPr marL="85725" marR="38100" marT="19050" marB="19050" anchor="ctr">
                    <a:solidFill>
                      <a:srgbClr val="FFFFFF"/>
                    </a:solidFill>
                  </a:tcPr>
                </a:tc>
                <a:tc>
                  <a:txBody>
                    <a:bodyPr wrap="none"/>
                    <a:lstStyle/>
                    <a:p>
                      <a:pPr algn="l"/>
                      <a:r>
                        <a:rPr sz="800" b="1">
                          <a:solidFill>
                            <a:srgbClr val="2E7D32"/>
                          </a:solidFill>
                          <a:latin typeface="Calibri"/>
                        </a:rPr>
                        <a:t>▲ 25.4%</a:t>
                      </a:r>
                    </a:p>
                  </a:txBody>
                  <a:tcPr marL="85725" marR="38100" marT="19050" marB="19050" anchor="ctr">
                    <a:solidFill>
                      <a:srgbClr val="FFFFFF"/>
                    </a:solidFill>
                  </a:tcPr>
                </a:tc>
                <a:tc>
                  <a:txBody>
                    <a:bodyPr wrap="none"/>
                    <a:lstStyle/>
                    <a:p>
                      <a:pPr algn="l"/>
                      <a:r>
                        <a:rPr sz="800" b="1">
                          <a:solidFill>
                            <a:srgbClr val="2E7D32"/>
                          </a:solidFill>
                          <a:latin typeface="Calibri"/>
                        </a:rPr>
                        <a:t>▲ 22.7%</a:t>
                      </a:r>
                    </a:p>
                  </a:txBody>
                  <a:tcPr marL="85725" marR="38100" marT="19050" marB="19050" anchor="ctr">
                    <a:solidFill>
                      <a:srgbClr val="FFFFFF"/>
                    </a:solidFill>
                  </a:tcPr>
                </a:tc>
                <a:tc>
                  <a:txBody>
                    <a:bodyPr wrap="none"/>
                    <a:lstStyle/>
                    <a:p>
                      <a:pPr algn="l"/>
                      <a:r>
                        <a:rPr sz="800" b="1">
                          <a:solidFill>
                            <a:srgbClr val="2E7D32"/>
                          </a:solidFill>
                          <a:latin typeface="Calibri"/>
                        </a:rPr>
                        <a:t>▲ 19.0%</a:t>
                      </a:r>
                    </a:p>
                  </a:txBody>
                  <a:tcPr marL="85725" marR="38100" marT="19050" marB="19050" anchor="ctr">
                    <a:solidFill>
                      <a:srgbClr val="FFFFFF"/>
                    </a:solidFill>
                  </a:tcPr>
                </a:tc>
                <a:tc>
                  <a:txBody>
                    <a:bodyPr wrap="none"/>
                    <a:lstStyle/>
                    <a:p>
                      <a:pPr algn="l"/>
                      <a:r>
                        <a:rPr sz="800" b="1">
                          <a:solidFill>
                            <a:srgbClr val="2E7D32"/>
                          </a:solidFill>
                          <a:latin typeface="Calibri"/>
                        </a:rPr>
                        <a:t>▲ 16.8%</a:t>
                      </a:r>
                    </a:p>
                  </a:txBody>
                  <a:tcPr marL="85725" marR="38100" marT="19050" marB="19050" anchor="ctr">
                    <a:solidFill>
                      <a:srgbClr val="FFFFFF"/>
                    </a:solidFill>
                  </a:tcPr>
                </a:tc>
                <a:tc>
                  <a:txBody>
                    <a:bodyPr wrap="none"/>
                    <a:lstStyle/>
                    <a:p>
                      <a:pPr algn="l"/>
                      <a:r>
                        <a:rPr sz="800" b="1">
                          <a:solidFill>
                            <a:srgbClr val="2E7D32"/>
                          </a:solidFill>
                          <a:latin typeface="Calibri"/>
                        </a:rPr>
                        <a:t>▲ 14.4%</a:t>
                      </a:r>
                    </a:p>
                  </a:txBody>
                  <a:tcPr marL="85725" marR="38100" marT="19050" marB="19050" anchor="ctr">
                    <a:solidFill>
                      <a:srgbClr val="FFFFFF"/>
                    </a:solidFill>
                  </a:tcPr>
                </a:tc>
                <a:tc>
                  <a:txBody>
                    <a:bodyPr wrap="none"/>
                    <a:lstStyle/>
                    <a:p>
                      <a:pPr algn="l"/>
                      <a:r>
                        <a:rPr sz="800" b="1">
                          <a:solidFill>
                            <a:srgbClr val="2E7D32"/>
                          </a:solidFill>
                          <a:latin typeface="Calibri"/>
                        </a:rPr>
                        <a:t>▲ 12.7%</a:t>
                      </a:r>
                    </a:p>
                  </a:txBody>
                  <a:tcPr marL="85725" marR="38100" marT="19050" marB="19050" anchor="ctr">
                    <a:solidFill>
                      <a:srgbClr val="FFFFFF"/>
                    </a:solidFill>
                  </a:tcPr>
                </a:tc>
                <a:tc>
                  <a:txBody>
                    <a:bodyPr wrap="none"/>
                    <a:lstStyle/>
                    <a:p>
                      <a:pPr algn="l"/>
                      <a:r>
                        <a:rPr sz="800" b="1">
                          <a:solidFill>
                            <a:srgbClr val="2E7D32"/>
                          </a:solidFill>
                          <a:latin typeface="Calibri"/>
                        </a:rPr>
                        <a:t>▲ 11.4%</a:t>
                      </a:r>
                    </a:p>
                  </a:txBody>
                  <a:tcPr marL="85725" marR="38100" marT="19050" marB="19050" anchor="ctr">
                    <a:solidFill>
                      <a:srgbClr val="FFFFFF"/>
                    </a:solidFill>
                  </a:tcPr>
                </a:tc>
                <a:tc>
                  <a:txBody>
                    <a:bodyPr wrap="none"/>
                    <a:lstStyle/>
                    <a:p>
                      <a:pPr algn="l"/>
                      <a:r>
                        <a:rPr sz="800" b="1">
                          <a:solidFill>
                            <a:srgbClr val="2E7D32"/>
                          </a:solidFill>
                          <a:latin typeface="Calibri"/>
                        </a:rPr>
                        <a:t>▲ 10.2%</a:t>
                      </a:r>
                    </a:p>
                  </a:txBody>
                  <a:tcPr marL="85725" marR="38100" marT="19050" marB="19050" anchor="ctr">
                    <a:solidFill>
                      <a:srgbClr val="FFFFFF"/>
                    </a:solidFill>
                  </a:tcPr>
                </a:tc>
                <a:tc>
                  <a:txBody>
                    <a:bodyPr wrap="none"/>
                    <a:lstStyle/>
                    <a:p>
                      <a:pPr algn="l"/>
                      <a:r>
                        <a:rPr sz="800" b="1">
                          <a:solidFill>
                            <a:srgbClr val="2E7D32"/>
                          </a:solidFill>
                          <a:latin typeface="Calibri"/>
                        </a:rPr>
                        <a:t>▲ 9.3%</a:t>
                      </a:r>
                    </a:p>
                  </a:txBody>
                  <a:tcPr marL="85725" marR="38100" marT="19050" marB="19050" anchor="ctr">
                    <a:solidFill>
                      <a:srgbClr val="FFFFFF"/>
                    </a:solidFill>
                  </a:tcPr>
                </a:tc>
                <a:tc>
                  <a:txBody>
                    <a:bodyPr wrap="none"/>
                    <a:lstStyle/>
                    <a:p>
                      <a:pPr algn="l"/>
                      <a:r>
                        <a:rPr sz="800" b="1">
                          <a:solidFill>
                            <a:srgbClr val="2E7D32"/>
                          </a:solidFill>
                          <a:latin typeface="Calibri"/>
                        </a:rPr>
                        <a:t>▲ 8.5%</a:t>
                      </a:r>
                    </a:p>
                  </a:txBody>
                  <a:tcPr marL="85725" marR="38100" marT="19050" marB="19050" anchor="ctr">
                    <a:solidFill>
                      <a:srgbClr val="FFFFFF"/>
                    </a:solidFill>
                  </a:tcPr>
                </a:tc>
                <a:tc>
                  <a:txBody>
                    <a:bodyPr wrap="none"/>
                    <a:lstStyle/>
                    <a:p>
                      <a:pPr algn="l"/>
                      <a:r>
                        <a:rPr sz="800" b="1">
                          <a:solidFill>
                            <a:srgbClr val="2E7D32"/>
                          </a:solidFill>
                          <a:latin typeface="Calibri"/>
                        </a:rPr>
                        <a:t>▲ 7.8%</a:t>
                      </a:r>
                    </a:p>
                  </a:txBody>
                  <a:tcPr marL="85725" marR="38100" marT="19050" marB="19050" anchor="ctr">
                    <a:solidFill>
                      <a:srgbClr val="FFFFFF"/>
                    </a:solidFill>
                  </a:tcPr>
                </a:tc>
                <a:tc>
                  <a:txBody>
                    <a:bodyPr wrap="none"/>
                    <a:lstStyle/>
                    <a:p>
                      <a:pPr algn="l"/>
                      <a:r>
                        <a:rPr sz="800" b="1">
                          <a:solidFill>
                            <a:srgbClr val="2E7D32"/>
                          </a:solidFill>
                          <a:latin typeface="Calibri"/>
                        </a:rPr>
                        <a:t>▲ 7.3%</a:t>
                      </a:r>
                    </a:p>
                  </a:txBody>
                  <a:tcPr marL="85725" marR="38100" marT="19050" marB="19050" anchor="ctr">
                    <a:solidFill>
                      <a:srgbClr val="FFFFFF"/>
                    </a:solidFill>
                  </a:tcPr>
                </a:tc>
                <a:tc>
                  <a:txBody>
                    <a:bodyPr wrap="none"/>
                    <a:lstStyle/>
                    <a:p>
                      <a:pPr algn="l"/>
                      <a:r>
                        <a:rPr sz="800" b="1">
                          <a:solidFill>
                            <a:srgbClr val="2E7D32"/>
                          </a:solidFill>
                          <a:latin typeface="Calibri"/>
                        </a:rPr>
                        <a:t>▲ 6.8%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Simlandi</a:t>
                      </a:r>
                    </a:p>
                  </a:txBody>
                  <a:tcPr marL="85725" marR="38100" marT="19050" marB="19050" anchor="ctr">
                    <a:solidFill>
                      <a:srgbClr val="F5F8FA"/>
                    </a:solidFill>
                  </a:tcPr>
                </a:tc>
                <a:tc>
                  <a:txBody>
                    <a:bodyPr wrap="none"/>
                    <a:lstStyle/>
                    <a:p>
                      <a:pPr algn="l"/>
                      <a:r>
                        <a:rPr sz="800" b="1">
                          <a:solidFill>
                            <a:srgbClr val="A86F00"/>
                          </a:solidFill>
                          <a:latin typeface="Calibri"/>
                        </a:rPr>
                        <a:t>▶ 11.2%</a:t>
                      </a:r>
                    </a:p>
                  </a:txBody>
                  <a:tcPr marL="85725" marR="38100" marT="19050" marB="19050" anchor="ctr">
                    <a:solidFill>
                      <a:srgbClr val="F5F8FA"/>
                    </a:solidFill>
                  </a:tcPr>
                </a:tc>
                <a:tc>
                  <a:txBody>
                    <a:bodyPr wrap="none"/>
                    <a:lstStyle/>
                    <a:p>
                      <a:pPr algn="l"/>
                      <a:r>
                        <a:rPr sz="800" b="1">
                          <a:solidFill>
                            <a:srgbClr val="A86F00"/>
                          </a:solidFill>
                          <a:latin typeface="Calibri"/>
                        </a:rPr>
                        <a:t>▶ 17.9%</a:t>
                      </a:r>
                    </a:p>
                  </a:txBody>
                  <a:tcPr marL="85725" marR="38100" marT="19050" marB="19050" anchor="ctr">
                    <a:solidFill>
                      <a:srgbClr val="F5F8FA"/>
                    </a:solidFill>
                  </a:tcPr>
                </a:tc>
                <a:tc>
                  <a:txBody>
                    <a:bodyPr wrap="none"/>
                    <a:lstStyle/>
                    <a:p>
                      <a:pPr algn="l"/>
                      <a:r>
                        <a:rPr sz="800" b="1">
                          <a:solidFill>
                            <a:srgbClr val="A86F00"/>
                          </a:solidFill>
                          <a:latin typeface="Calibri"/>
                        </a:rPr>
                        <a:t>▶ 21.7%</a:t>
                      </a:r>
                    </a:p>
                  </a:txBody>
                  <a:tcPr marL="85725" marR="38100" marT="19050" marB="19050" anchor="ctr">
                    <a:solidFill>
                      <a:srgbClr val="F5F8FA"/>
                    </a:solidFill>
                  </a:tcPr>
                </a:tc>
                <a:tc>
                  <a:txBody>
                    <a:bodyPr wrap="none"/>
                    <a:lstStyle/>
                    <a:p>
                      <a:pPr algn="l"/>
                      <a:r>
                        <a:rPr sz="800" b="1">
                          <a:solidFill>
                            <a:srgbClr val="A86F00"/>
                          </a:solidFill>
                          <a:latin typeface="Calibri"/>
                        </a:rPr>
                        <a:t>▶ 19.1%</a:t>
                      </a:r>
                    </a:p>
                  </a:txBody>
                  <a:tcPr marL="85725" marR="38100" marT="19050" marB="19050" anchor="ctr">
                    <a:solidFill>
                      <a:srgbClr val="F5F8FA"/>
                    </a:solidFill>
                  </a:tcPr>
                </a:tc>
                <a:tc>
                  <a:txBody>
                    <a:bodyPr wrap="none"/>
                    <a:lstStyle/>
                    <a:p>
                      <a:pPr algn="l"/>
                      <a:r>
                        <a:rPr sz="800" b="1">
                          <a:solidFill>
                            <a:srgbClr val="A86F00"/>
                          </a:solidFill>
                          <a:latin typeface="Calibri"/>
                        </a:rPr>
                        <a:t>▶ 15.5%</a:t>
                      </a:r>
                    </a:p>
                  </a:txBody>
                  <a:tcPr marL="85725" marR="38100" marT="19050" marB="19050" anchor="ctr">
                    <a:solidFill>
                      <a:srgbClr val="F5F8FA"/>
                    </a:solidFill>
                  </a:tcPr>
                </a:tc>
                <a:tc>
                  <a:txBody>
                    <a:bodyPr wrap="none"/>
                    <a:lstStyle/>
                    <a:p>
                      <a:pPr algn="l"/>
                      <a:r>
                        <a:rPr sz="800" b="1">
                          <a:solidFill>
                            <a:srgbClr val="A86F00"/>
                          </a:solidFill>
                          <a:latin typeface="Calibri"/>
                        </a:rPr>
                        <a:t>▶ 13.4%</a:t>
                      </a:r>
                    </a:p>
                  </a:txBody>
                  <a:tcPr marL="85725" marR="38100" marT="19050" marB="19050" anchor="ctr">
                    <a:solidFill>
                      <a:srgbClr val="F5F8FA"/>
                    </a:solidFill>
                  </a:tcPr>
                </a:tc>
                <a:tc>
                  <a:txBody>
                    <a:bodyPr wrap="none"/>
                    <a:lstStyle/>
                    <a:p>
                      <a:pPr algn="l"/>
                      <a:r>
                        <a:rPr sz="800" b="1">
                          <a:solidFill>
                            <a:srgbClr val="A86F00"/>
                          </a:solidFill>
                          <a:latin typeface="Calibri"/>
                        </a:rPr>
                        <a:t>▶ 11.0%</a:t>
                      </a:r>
                    </a:p>
                  </a:txBody>
                  <a:tcPr marL="85725" marR="38100" marT="19050" marB="19050" anchor="ctr">
                    <a:solidFill>
                      <a:srgbClr val="F5F8FA"/>
                    </a:solidFill>
                  </a:tcPr>
                </a:tc>
                <a:tc>
                  <a:txBody>
                    <a:bodyPr wrap="none"/>
                    <a:lstStyle/>
                    <a:p>
                      <a:pPr algn="l"/>
                      <a:r>
                        <a:rPr sz="800" b="1">
                          <a:solidFill>
                            <a:srgbClr val="A86F00"/>
                          </a:solidFill>
                          <a:latin typeface="Calibri"/>
                        </a:rPr>
                        <a:t>▶ 9.4%</a:t>
                      </a:r>
                    </a:p>
                  </a:txBody>
                  <a:tcPr marL="85725" marR="38100" marT="19050" marB="19050" anchor="ctr">
                    <a:solidFill>
                      <a:srgbClr val="F5F8FA"/>
                    </a:solidFill>
                  </a:tcPr>
                </a:tc>
                <a:tc>
                  <a:txBody>
                    <a:bodyPr wrap="none"/>
                    <a:lstStyle/>
                    <a:p>
                      <a:pPr algn="l"/>
                      <a:r>
                        <a:rPr sz="800" b="1">
                          <a:solidFill>
                            <a:srgbClr val="A86F00"/>
                          </a:solidFill>
                          <a:latin typeface="Calibri"/>
                        </a:rPr>
                        <a:t>▶ 8.1%</a:t>
                      </a:r>
                    </a:p>
                  </a:txBody>
                  <a:tcPr marL="85725" marR="38100" marT="19050" marB="19050" anchor="ctr">
                    <a:solidFill>
                      <a:srgbClr val="F5F8FA"/>
                    </a:solidFill>
                  </a:tcPr>
                </a:tc>
                <a:tc>
                  <a:txBody>
                    <a:bodyPr wrap="none"/>
                    <a:lstStyle/>
                    <a:p>
                      <a:pPr algn="l"/>
                      <a:r>
                        <a:rPr sz="800" b="1">
                          <a:solidFill>
                            <a:srgbClr val="A86F00"/>
                          </a:solidFill>
                          <a:latin typeface="Calibri"/>
                        </a:rPr>
                        <a:t>▶ 7.0%</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5.3%</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c>
                  <a:txBody>
                    <a:bodyPr wrap="none"/>
                    <a:lstStyle/>
                    <a:p>
                      <a:pPr algn="l"/>
                      <a:r>
                        <a:rPr sz="800" b="1">
                          <a:solidFill>
                            <a:srgbClr val="A86F00"/>
                          </a:solidFill>
                          <a:latin typeface="Calibri"/>
                        </a:rPr>
                        <a:t>▶ 4.1%</a:t>
                      </a:r>
                    </a:p>
                  </a:txBody>
                  <a:tcPr marL="85725" marR="38100" marT="19050" marB="19050" anchor="ctr">
                    <a:solidFill>
                      <a:srgbClr val="F5F8FA"/>
                    </a:solidFill>
                  </a:tcPr>
                </a:tc>
                <a:tc>
                  <a:txBody>
                    <a:bodyPr wrap="none"/>
                    <a:lstStyle/>
                    <a:p>
                      <a:pPr algn="l"/>
                      <a:r>
                        <a:rPr sz="800" b="1">
                          <a:solidFill>
                            <a:srgbClr val="A86F00"/>
                          </a:solidFill>
                          <a:latin typeface="Calibri"/>
                        </a:rPr>
                        <a:t>▶ 3.7%</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Other approved adalimumab biosimilars</a:t>
                      </a:r>
                    </a:p>
                  </a:txBody>
                  <a:tcPr marL="85725" marR="38100" marT="19050" marB="19050" anchor="ctr">
                    <a:solidFill>
                      <a:srgbClr val="FFFFFF"/>
                    </a:solidFill>
                  </a:tcPr>
                </a:tc>
                <a:tc>
                  <a:txBody>
                    <a:bodyPr wrap="none"/>
                    <a:lstStyle/>
                    <a:p>
                      <a:pPr algn="l"/>
                      <a:r>
                        <a:rPr sz="800" b="1">
                          <a:solidFill>
                            <a:srgbClr val="2E7D32"/>
                          </a:solidFill>
                          <a:latin typeface="Calibri"/>
                        </a:rPr>
                        <a:t>▲ 13.2%</a:t>
                      </a:r>
                    </a:p>
                  </a:txBody>
                  <a:tcPr marL="85725" marR="38100" marT="19050" marB="19050" anchor="ctr">
                    <a:solidFill>
                      <a:srgbClr val="FFFFFF"/>
                    </a:solidFill>
                  </a:tcPr>
                </a:tc>
                <a:tc>
                  <a:txBody>
                    <a:bodyPr wrap="none"/>
                    <a:lstStyle/>
                    <a:p>
                      <a:pPr algn="l"/>
                      <a:r>
                        <a:rPr sz="800" b="1">
                          <a:solidFill>
                            <a:srgbClr val="2E7D32"/>
                          </a:solidFill>
                          <a:latin typeface="Calibri"/>
                        </a:rPr>
                        <a:t>▲ 20.0%</a:t>
                      </a:r>
                    </a:p>
                  </a:txBody>
                  <a:tcPr marL="85725" marR="38100" marT="19050" marB="19050" anchor="ctr">
                    <a:solidFill>
                      <a:srgbClr val="FFFFFF"/>
                    </a:solidFill>
                  </a:tcPr>
                </a:tc>
                <a:tc>
                  <a:txBody>
                    <a:bodyPr wrap="none"/>
                    <a:lstStyle/>
                    <a:p>
                      <a:pPr algn="l"/>
                      <a:r>
                        <a:rPr sz="800" b="1">
                          <a:solidFill>
                            <a:srgbClr val="2E7D32"/>
                          </a:solidFill>
                          <a:latin typeface="Calibri"/>
                        </a:rPr>
                        <a:t>▲ 23.8%</a:t>
                      </a:r>
                    </a:p>
                  </a:txBody>
                  <a:tcPr marL="85725" marR="38100" marT="19050" marB="19050" anchor="ctr">
                    <a:solidFill>
                      <a:srgbClr val="FFFFFF"/>
                    </a:solidFill>
                  </a:tcPr>
                </a:tc>
                <a:tc>
                  <a:txBody>
                    <a:bodyPr wrap="none"/>
                    <a:lstStyle/>
                    <a:p>
                      <a:pPr algn="l"/>
                      <a:r>
                        <a:rPr sz="800" b="1">
                          <a:solidFill>
                            <a:srgbClr val="2E7D32"/>
                          </a:solidFill>
                          <a:latin typeface="Calibri"/>
                        </a:rPr>
                        <a:t>▲ 21.2%</a:t>
                      </a:r>
                    </a:p>
                  </a:txBody>
                  <a:tcPr marL="85725" marR="38100" marT="19050" marB="19050" anchor="ctr">
                    <a:solidFill>
                      <a:srgbClr val="FFFFFF"/>
                    </a:solidFill>
                  </a:tcPr>
                </a:tc>
                <a:tc>
                  <a:txBody>
                    <a:bodyPr wrap="none"/>
                    <a:lstStyle/>
                    <a:p>
                      <a:pPr algn="l"/>
                      <a:r>
                        <a:rPr sz="800" b="1">
                          <a:solidFill>
                            <a:srgbClr val="2E7D32"/>
                          </a:solidFill>
                          <a:latin typeface="Calibri"/>
                        </a:rPr>
                        <a:t>▲ 17.5%</a:t>
                      </a:r>
                    </a:p>
                  </a:txBody>
                  <a:tcPr marL="85725" marR="38100" marT="19050" marB="19050" anchor="ctr">
                    <a:solidFill>
                      <a:srgbClr val="FFFFFF"/>
                    </a:solidFill>
                  </a:tcPr>
                </a:tc>
                <a:tc>
                  <a:txBody>
                    <a:bodyPr wrap="none"/>
                    <a:lstStyle/>
                    <a:p>
                      <a:pPr algn="l"/>
                      <a:r>
                        <a:rPr sz="800" b="1">
                          <a:solidFill>
                            <a:srgbClr val="2E7D32"/>
                          </a:solidFill>
                          <a:latin typeface="Calibri"/>
                        </a:rPr>
                        <a:t>▲ 15.4%</a:t>
                      </a:r>
                    </a:p>
                  </a:txBody>
                  <a:tcPr marL="85725" marR="38100" marT="19050" marB="19050" anchor="ctr">
                    <a:solidFill>
                      <a:srgbClr val="FFFFFF"/>
                    </a:solidFill>
                  </a:tcPr>
                </a:tc>
                <a:tc>
                  <a:txBody>
                    <a:bodyPr wrap="none"/>
                    <a:lstStyle/>
                    <a:p>
                      <a:pPr algn="l"/>
                      <a:r>
                        <a:rPr sz="800" b="1">
                          <a:solidFill>
                            <a:srgbClr val="2E7D32"/>
                          </a:solidFill>
                          <a:latin typeface="Calibri"/>
                        </a:rPr>
                        <a:t>▲ 13.0%</a:t>
                      </a:r>
                    </a:p>
                  </a:txBody>
                  <a:tcPr marL="85725" marR="38100" marT="19050" marB="19050" anchor="ctr">
                    <a:solidFill>
                      <a:srgbClr val="FFFFFF"/>
                    </a:solidFill>
                  </a:tcPr>
                </a:tc>
                <a:tc>
                  <a:txBody>
                    <a:bodyPr wrap="none"/>
                    <a:lstStyle/>
                    <a:p>
                      <a:pPr algn="l"/>
                      <a:r>
                        <a:rPr sz="800" b="1">
                          <a:solidFill>
                            <a:srgbClr val="2E7D32"/>
                          </a:solidFill>
                          <a:latin typeface="Calibri"/>
                        </a:rPr>
                        <a:t>▲ 11.4%</a:t>
                      </a:r>
                    </a:p>
                  </a:txBody>
                  <a:tcPr marL="85725" marR="38100" marT="19050" marB="19050" anchor="ctr">
                    <a:solidFill>
                      <a:srgbClr val="FFFFFF"/>
                    </a:solidFill>
                  </a:tcPr>
                </a:tc>
                <a:tc>
                  <a:txBody>
                    <a:bodyPr wrap="none"/>
                    <a:lstStyle/>
                    <a:p>
                      <a:pPr algn="l"/>
                      <a:r>
                        <a:rPr sz="800" b="1">
                          <a:solidFill>
                            <a:srgbClr val="2E7D32"/>
                          </a:solidFill>
                          <a:latin typeface="Calibri"/>
                        </a:rPr>
                        <a:t>▲ 10.0%</a:t>
                      </a:r>
                    </a:p>
                  </a:txBody>
                  <a:tcPr marL="85725" marR="38100" marT="19050" marB="19050" anchor="ctr">
                    <a:solidFill>
                      <a:srgbClr val="FFFFFF"/>
                    </a:solidFill>
                  </a:tcPr>
                </a:tc>
                <a:tc>
                  <a:txBody>
                    <a:bodyPr wrap="none"/>
                    <a:lstStyle/>
                    <a:p>
                      <a:pPr algn="l"/>
                      <a:r>
                        <a:rPr sz="800" b="1">
                          <a:solidFill>
                            <a:srgbClr val="2E7D32"/>
                          </a:solidFill>
                          <a:latin typeface="Calibri"/>
                        </a:rPr>
                        <a:t>▲ 8.9%</a:t>
                      </a:r>
                    </a:p>
                  </a:txBody>
                  <a:tcPr marL="85725" marR="38100" marT="19050" marB="19050" anchor="ctr">
                    <a:solidFill>
                      <a:srgbClr val="FFFFFF"/>
                    </a:solidFill>
                  </a:tcPr>
                </a:tc>
                <a:tc>
                  <a:txBody>
                    <a:bodyPr wrap="none"/>
                    <a:lstStyle/>
                    <a:p>
                      <a:pPr algn="l"/>
                      <a:r>
                        <a:rPr sz="800" b="1">
                          <a:solidFill>
                            <a:srgbClr val="2E7D32"/>
                          </a:solidFill>
                          <a:latin typeface="Calibri"/>
                        </a:rPr>
                        <a:t>▲ 8.0%</a:t>
                      </a:r>
                    </a:p>
                  </a:txBody>
                  <a:tcPr marL="85725" marR="38100" marT="19050" marB="19050" anchor="ctr">
                    <a:solidFill>
                      <a:srgbClr val="FFFFFF"/>
                    </a:solidFill>
                  </a:tcPr>
                </a:tc>
                <a:tc>
                  <a:txBody>
                    <a:bodyPr wrap="none"/>
                    <a:lstStyle/>
                    <a:p>
                      <a:pPr algn="l"/>
                      <a:r>
                        <a:rPr sz="800" b="1">
                          <a:solidFill>
                            <a:srgbClr val="2E7D32"/>
                          </a:solidFill>
                          <a:latin typeface="Calibri"/>
                        </a:rPr>
                        <a:t>▲ 7.1%</a:t>
                      </a:r>
                    </a:p>
                  </a:txBody>
                  <a:tcPr marL="85725" marR="38100" marT="19050" marB="19050" anchor="ctr">
                    <a:solidFill>
                      <a:srgbClr val="FFFFFF"/>
                    </a:solidFill>
                  </a:tcPr>
                </a:tc>
                <a:tc>
                  <a:txBody>
                    <a:bodyPr wrap="none"/>
                    <a:lstStyle/>
                    <a:p>
                      <a:pPr algn="l"/>
                      <a:r>
                        <a:rPr sz="800" b="1">
                          <a:solidFill>
                            <a:srgbClr val="2E7D32"/>
                          </a:solidFill>
                          <a:latin typeface="Calibri"/>
                        </a:rPr>
                        <a:t>▲ 6.5%</a:t>
                      </a:r>
                    </a:p>
                  </a:txBody>
                  <a:tcPr marL="85725" marR="38100" marT="19050" marB="19050" anchor="ctr">
                    <a:solidFill>
                      <a:srgbClr val="FFFFFF"/>
                    </a:solidFill>
                  </a:tcPr>
                </a:tc>
                <a:tc>
                  <a:txBody>
                    <a:bodyPr wrap="none"/>
                    <a:lstStyle/>
                    <a:p>
                      <a:pPr algn="l"/>
                      <a:r>
                        <a:rPr sz="800" b="1">
                          <a:solidFill>
                            <a:srgbClr val="2E7D32"/>
                          </a:solidFill>
                          <a:latin typeface="Calibri"/>
                        </a:rPr>
                        <a:t>▲ 6.0%</a:t>
                      </a:r>
                    </a:p>
                  </a:txBody>
                  <a:tcPr marL="85725" marR="38100" marT="19050" marB="19050" anchor="ctr">
                    <a:solidFill>
                      <a:srgbClr val="FFFFFF"/>
                    </a:solidFill>
                  </a:tcPr>
                </a:tc>
                <a:tc>
                  <a:txBody>
                    <a:bodyPr wrap="none"/>
                    <a:lstStyle/>
                    <a:p>
                      <a:pPr algn="l"/>
                      <a:r>
                        <a:rPr sz="800" b="1">
                          <a:solidFill>
                            <a:srgbClr val="2E7D32"/>
                          </a:solidFill>
                          <a:latin typeface="Calibri"/>
                        </a:rPr>
                        <a:t>▲ 5.5%</a:t>
                      </a:r>
                    </a:p>
                  </a:txBody>
                  <a:tcPr marL="85725" marR="38100" marT="19050" marB="19050" anchor="ctr">
                    <a:solidFill>
                      <a:srgbClr val="FFFFFF"/>
                    </a:solidFill>
                  </a:tcPr>
                </a:tc>
              </a:tr>
            </a:tbl>
          </a:graphicData>
        </a:graphic>
      </p:graphicFrame>
      <p:sp>
        <p:nvSpPr>
          <p:cNvPr id="13" name="TextBox 12"/>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4" name="Rectangle 1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6" name="Rounded Rectangle 1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7" name="Rounded Rectangle 1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 Market Dynamics</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North America Driving Factors</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Dynamics by Geography</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Driving Factors Supply Side (1/2)</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Driving Factors Demand Side (2/2)</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22</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Market Dynamics by Country</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Demand Dynamics by Country  ·  ranked by 2036 value</a:t>
            </a:r>
          </a:p>
        </p:txBody>
      </p:sp>
      <p:graphicFrame>
        <p:nvGraphicFramePr>
          <p:cNvPr id="13" name="Table 12"/>
          <p:cNvGraphicFramePr>
            <a:graphicFrameLocks noGrp="1"/>
          </p:cNvGraphicFramePr>
          <p:nvPr/>
        </p:nvGraphicFramePr>
        <p:xfrm>
          <a:off x="238125" y="1143000"/>
          <a:ext cx="11715750" cy="542925"/>
        </p:xfrm>
        <a:graphic>
          <a:graphicData uri="http://schemas.openxmlformats.org/drawingml/2006/table">
            <a:tbl>
              <a:tblPr>
                <a:tableStyleId>{5C22544A-7EE6-4342-B048-85BDC9FD1C3A}</a:tableStyleId>
              </a:tblPr>
              <a:tblGrid>
                <a:gridCol w="3514725"/>
                <a:gridCol w="2733675"/>
                <a:gridCol w="2733675"/>
                <a:gridCol w="2733675"/>
              </a:tblGrid>
              <a:tr h="180975">
                <a:tc>
                  <a:txBody>
                    <a:bodyPr wrap="none"/>
                    <a:lstStyle/>
                    <a:p>
                      <a:pPr algn="l"/>
                      <a:r>
                        <a:rPr sz="900" b="1">
                          <a:solidFill>
                            <a:srgbClr val="0B2E4A"/>
                          </a:solidFill>
                          <a:latin typeface="Calibri"/>
                        </a:rPr>
                        <a:t>Country</a:t>
                      </a:r>
                    </a:p>
                  </a:txBody>
                  <a:tcPr marL="85725" marR="38100" marT="19050" marB="19050" anchor="ctr">
                    <a:solidFill>
                      <a:srgbClr val="E0E8EF"/>
                    </a:solidFill>
                  </a:tcPr>
                </a:tc>
                <a:tc>
                  <a:txBody>
                    <a:bodyPr wrap="none"/>
                    <a:lstStyle/>
                    <a:p>
                      <a:pPr algn="l"/>
                      <a:r>
                        <a:rPr sz="900" b="1">
                          <a:solidFill>
                            <a:srgbClr val="0B2E4A"/>
                          </a:solidFill>
                          <a:latin typeface="Calibri"/>
                        </a:rPr>
                        <a:t>Growth Drivers</a:t>
                      </a:r>
                    </a:p>
                  </a:txBody>
                  <a:tcPr marL="85725" marR="38100" marT="19050" marB="19050" anchor="ctr">
                    <a:solidFill>
                      <a:srgbClr val="E0E8EF"/>
                    </a:solidFill>
                  </a:tcPr>
                </a:tc>
                <a:tc>
                  <a:txBody>
                    <a:bodyPr wrap="none"/>
                    <a:lstStyle/>
                    <a:p>
                      <a:pPr algn="l"/>
                      <a:r>
                        <a:rPr sz="900" b="1">
                          <a:solidFill>
                            <a:srgbClr val="0B2E4A"/>
                          </a:solidFill>
                          <a:latin typeface="Calibri"/>
                        </a:rPr>
                        <a:t>Restraints</a:t>
                      </a:r>
                    </a:p>
                  </a:txBody>
                  <a:tcPr marL="85725" marR="38100" marT="19050" marB="19050" anchor="ctr">
                    <a:solidFill>
                      <a:srgbClr val="E0E8EF"/>
                    </a:solidFill>
                  </a:tcPr>
                </a:tc>
                <a:tc>
                  <a:txBody>
                    <a:bodyPr wrap="none"/>
                    <a:lstStyle/>
                    <a:p>
                      <a:pPr algn="l"/>
                      <a:r>
                        <a:rPr sz="900" b="1">
                          <a:solidFill>
                            <a:srgbClr val="0B2E4A"/>
                          </a:solidFill>
                          <a:latin typeface="Calibri"/>
                        </a:rPr>
                        <a:t>Priority Opportunities</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Canada</a:t>
                      </a:r>
                    </a:p>
                  </a:txBody>
                  <a:tcPr marL="85725" marR="38100" marT="19050" marB="19050" anchor="ctr">
                    <a:solidFill>
                      <a:srgbClr val="FFFFFF"/>
                    </a:solidFill>
                  </a:tcPr>
                </a:tc>
                <a:tc>
                  <a:txBody>
                    <a:bodyPr wrap="none"/>
                    <a:lstStyle/>
                    <a:p>
                      <a:pPr algn="l"/>
                      <a:r>
                        <a:rPr sz="900" b="0">
                          <a:solidFill>
                            <a:srgbClr val="2E2E2E"/>
                          </a:solidFill>
                          <a:latin typeface="Calibri"/>
                        </a:rPr>
                        <a:t>Scale base (77.0% share), Above-market pace (9.0%), Amjevita…</a:t>
                      </a:r>
                    </a:p>
                  </a:txBody>
                  <a:tcPr marL="85725" marR="38100" marT="19050" marB="19050" anchor="ctr">
                    <a:solidFill>
                      <a:srgbClr val="FFFFFF"/>
                    </a:solidFill>
                  </a:tcPr>
                </a:tc>
                <a:tc>
                  <a:txBody>
                    <a:bodyPr wrap="none"/>
                    <a:lstStyle/>
                    <a:p>
                      <a:pPr algn="l"/>
                      <a:r>
                        <a:rPr sz="900" b="0">
                          <a:solidFill>
                            <a:srgbClr val="2E2E2E"/>
                          </a:solidFill>
                          <a:latin typeface="Calibri"/>
                        </a:rPr>
                        <a:t>Price erosion (-3.3%), Growth moderating vs history</a:t>
                      </a:r>
                    </a:p>
                  </a:txBody>
                  <a:tcPr marL="85725" marR="38100" marT="19050" marB="19050" anchor="ctr">
                    <a:solidFill>
                      <a:srgbClr val="FFFFFF"/>
                    </a:solidFill>
                  </a:tcPr>
                </a:tc>
                <a:tc>
                  <a:txBody>
                    <a:bodyPr wrap="none"/>
                    <a:lstStyle/>
                    <a:p>
                      <a:pPr algn="l"/>
                      <a:r>
                        <a:rPr sz="900" b="0">
                          <a:solidFill>
                            <a:srgbClr val="2E2E2E"/>
                          </a:solidFill>
                          <a:latin typeface="Calibri"/>
                        </a:rPr>
                        <a:t>Scale Hulio (11.4%), 1,994 US$ Mn headroom</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U.S.</a:t>
                      </a:r>
                    </a:p>
                  </a:txBody>
                  <a:tcPr marL="85725" marR="38100" marT="19050" marB="19050" anchor="ctr">
                    <a:solidFill>
                      <a:srgbClr val="F5F8FA"/>
                    </a:solidFill>
                  </a:tcPr>
                </a:tc>
                <a:tc>
                  <a:txBody>
                    <a:bodyPr wrap="none"/>
                    <a:lstStyle/>
                    <a:p>
                      <a:pPr algn="l"/>
                      <a:r>
                        <a:rPr sz="900" b="0">
                          <a:solidFill>
                            <a:srgbClr val="2E2E2E"/>
                          </a:solidFill>
                          <a:latin typeface="Calibri"/>
                        </a:rPr>
                        <a:t>Scale base (23.0% share), Installed demand (7.0% CAGR), Simla…</a:t>
                      </a:r>
                    </a:p>
                  </a:txBody>
                  <a:tcPr marL="85725" marR="38100" marT="19050" marB="19050" anchor="ctr">
                    <a:solidFill>
                      <a:srgbClr val="F5F8FA"/>
                    </a:solidFill>
                  </a:tcPr>
                </a:tc>
                <a:tc>
                  <a:txBody>
                    <a:bodyPr wrap="none"/>
                    <a:lstStyle/>
                    <a:p>
                      <a:pPr algn="l"/>
                      <a:r>
                        <a:rPr sz="900" b="0">
                          <a:solidFill>
                            <a:srgbClr val="2E2E2E"/>
                          </a:solidFill>
                          <a:latin typeface="Calibri"/>
                        </a:rPr>
                        <a:t>Trails market pace by 151 BPS, Price erosion (-5.8%)</a:t>
                      </a:r>
                    </a:p>
                  </a:txBody>
                  <a:tcPr marL="85725" marR="38100" marT="19050" marB="19050" anchor="ctr">
                    <a:solidFill>
                      <a:srgbClr val="F5F8FA"/>
                    </a:solidFill>
                  </a:tcPr>
                </a:tc>
                <a:tc>
                  <a:txBody>
                    <a:bodyPr wrap="none"/>
                    <a:lstStyle/>
                    <a:p>
                      <a:pPr algn="l"/>
                      <a:r>
                        <a:rPr sz="900" b="0">
                          <a:solidFill>
                            <a:srgbClr val="2E2E2E"/>
                          </a:solidFill>
                          <a:latin typeface="Calibri"/>
                        </a:rPr>
                        <a:t>Scale Simlandi (8.9%), 506.4 US$ Mn headroom</a:t>
                      </a:r>
                    </a:p>
                  </a:txBody>
                  <a:tcPr marL="85725" marR="38100" marT="19050" marB="19050" anchor="ctr">
                    <a:solidFill>
                      <a:srgbClr val="F5F8FA"/>
                    </a:solidFill>
                  </a:tcPr>
                </a:tc>
              </a:tr>
            </a:tbl>
          </a:graphicData>
        </a:graphic>
      </p:graphicFrame>
      <p:sp>
        <p:nvSpPr>
          <p:cNvPr id="14" name="TextBox 13"/>
          <p:cNvSpPr txBox="1"/>
          <p:nvPr/>
        </p:nvSpPr>
        <p:spPr>
          <a:xfrm>
            <a:off x="219075" y="40386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4314825"/>
            <a:ext cx="11906250" cy="2409825"/>
          </a:xfrm>
          <a:prstGeom prst="roundRect">
            <a:avLst>
              <a:gd name="adj" fmla="val 31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400550"/>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a:t>
            </a:r>
          </a:p>
        </p:txBody>
      </p:sp>
      <p:sp>
        <p:nvSpPr>
          <p:cNvPr id="17" name="Rectangle 16"/>
          <p:cNvSpPr/>
          <p:nvPr/>
        </p:nvSpPr>
        <p:spPr>
          <a:xfrm>
            <a:off x="276225" y="4638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724400"/>
            <a:ext cx="11639550" cy="19240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Canada, U.S. anchor scale with a combined 100.0% of North America value in 2036, while 'Canada' offers the steepest upside at 9.0% CAGR against a market pace of 8.5%. 1 of 2 countries grow at or above that pace, so entry logic has to differ by country scale defence in the leaders, mix and premiumisation in the mid-tier, and availability-led expansion in the fastest movers.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Driving Factors (1/2)</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76300"/>
            <a:ext cx="6400800" cy="5772150"/>
          </a:xfrm>
          <a:prstGeom prst="roundRect">
            <a:avLst>
              <a:gd name="adj" fmla="val 13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33450"/>
            <a:ext cx="6210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Economic and Supply-side Factors  ·  impact score (0–10)</a:t>
            </a:r>
          </a:p>
        </p:txBody>
      </p:sp>
      <p:sp>
        <p:nvSpPr>
          <p:cNvPr id="13" name="Freeform 12"/>
          <p:cNvSpPr/>
          <p:nvPr/>
        </p:nvSpPr>
        <p:spPr>
          <a:xfrm>
            <a:off x="2914650" y="3448050"/>
            <a:ext cx="857250" cy="857250"/>
          </a:xfrm>
          <a:custGeom>
            <a:avLst/>
            <a:gdLst/>
            <a:ahLst/>
            <a:cxnLst/>
            <a:rect l="l" t="t" r="r" b="b"/>
            <a:pathLst>
              <a:path w="90" h="90">
                <a:moveTo>
                  <a:pt x="45" y="0"/>
                </a:moveTo>
                <a:lnTo>
                  <a:pt x="77" y="13"/>
                </a:lnTo>
                <a:lnTo>
                  <a:pt x="90" y="45"/>
                </a:lnTo>
                <a:lnTo>
                  <a:pt x="77" y="77"/>
                </a:lnTo>
                <a:lnTo>
                  <a:pt x="45" y="90"/>
                </a:lnTo>
                <a:lnTo>
                  <a:pt x="13" y="77"/>
                </a:lnTo>
                <a:lnTo>
                  <a:pt x="0" y="45"/>
                </a:lnTo>
                <a:lnTo>
                  <a:pt x="13" y="1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476500" y="3009900"/>
            <a:ext cx="1733550" cy="1733550"/>
          </a:xfrm>
          <a:custGeom>
            <a:avLst/>
            <a:gdLst/>
            <a:ahLst/>
            <a:cxnLst/>
            <a:rect l="l" t="t" r="r" b="b"/>
            <a:pathLst>
              <a:path w="182" h="182">
                <a:moveTo>
                  <a:pt x="91" y="0"/>
                </a:moveTo>
                <a:lnTo>
                  <a:pt x="155" y="27"/>
                </a:lnTo>
                <a:lnTo>
                  <a:pt x="182" y="91"/>
                </a:lnTo>
                <a:lnTo>
                  <a:pt x="155" y="155"/>
                </a:lnTo>
                <a:lnTo>
                  <a:pt x="91" y="182"/>
                </a:lnTo>
                <a:lnTo>
                  <a:pt x="27" y="155"/>
                </a:lnTo>
                <a:lnTo>
                  <a:pt x="0" y="91"/>
                </a:lnTo>
                <a:lnTo>
                  <a:pt x="27" y="2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47875" y="2581275"/>
            <a:ext cx="2590800" cy="2590800"/>
          </a:xfrm>
          <a:custGeom>
            <a:avLst/>
            <a:gdLst/>
            <a:ahLst/>
            <a:cxnLst/>
            <a:rect l="l" t="t" r="r" b="b"/>
            <a:pathLst>
              <a:path w="272" h="272">
                <a:moveTo>
                  <a:pt x="136" y="0"/>
                </a:moveTo>
                <a:lnTo>
                  <a:pt x="232" y="40"/>
                </a:lnTo>
                <a:lnTo>
                  <a:pt x="272" y="136"/>
                </a:lnTo>
                <a:lnTo>
                  <a:pt x="232" y="232"/>
                </a:lnTo>
                <a:lnTo>
                  <a:pt x="136" y="272"/>
                </a:lnTo>
                <a:lnTo>
                  <a:pt x="40" y="232"/>
                </a:lnTo>
                <a:lnTo>
                  <a:pt x="0" y="136"/>
                </a:lnTo>
                <a:lnTo>
                  <a:pt x="40" y="4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1609725" y="2143125"/>
            <a:ext cx="3467100" cy="3467100"/>
          </a:xfrm>
          <a:custGeom>
            <a:avLst/>
            <a:gdLst/>
            <a:ahLst/>
            <a:cxnLst/>
            <a:rect l="l" t="t" r="r" b="b"/>
            <a:pathLst>
              <a:path w="364" h="364">
                <a:moveTo>
                  <a:pt x="182" y="0"/>
                </a:moveTo>
                <a:lnTo>
                  <a:pt x="310" y="54"/>
                </a:lnTo>
                <a:lnTo>
                  <a:pt x="364" y="182"/>
                </a:lnTo>
                <a:lnTo>
                  <a:pt x="310" y="310"/>
                </a:lnTo>
                <a:lnTo>
                  <a:pt x="182" y="364"/>
                </a:lnTo>
                <a:lnTo>
                  <a:pt x="54" y="310"/>
                </a:lnTo>
                <a:lnTo>
                  <a:pt x="0" y="182"/>
                </a:lnTo>
                <a:lnTo>
                  <a:pt x="54" y="54"/>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181100" y="1714500"/>
            <a:ext cx="4324350" cy="4324350"/>
          </a:xfrm>
          <a:custGeom>
            <a:avLst/>
            <a:gdLst/>
            <a:ahLst/>
            <a:cxnLst/>
            <a:rect l="l" t="t" r="r" b="b"/>
            <a:pathLst>
              <a:path w="454" h="454">
                <a:moveTo>
                  <a:pt x="227" y="0"/>
                </a:moveTo>
                <a:lnTo>
                  <a:pt x="388" y="66"/>
                </a:lnTo>
                <a:lnTo>
                  <a:pt x="454" y="227"/>
                </a:lnTo>
                <a:lnTo>
                  <a:pt x="388" y="388"/>
                </a:lnTo>
                <a:lnTo>
                  <a:pt x="227" y="454"/>
                </a:lnTo>
                <a:lnTo>
                  <a:pt x="66" y="388"/>
                </a:lnTo>
                <a:lnTo>
                  <a:pt x="0" y="227"/>
                </a:lnTo>
                <a:lnTo>
                  <a:pt x="66" y="66"/>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3343275" y="1714500"/>
            <a:ext cx="0" cy="2162175"/>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343275" y="2347786"/>
            <a:ext cx="1528889" cy="152888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343275" y="3876675"/>
            <a:ext cx="2162175"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343275" y="3876675"/>
            <a:ext cx="1528889" cy="152888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343275" y="3876675"/>
            <a:ext cx="0" cy="2162175"/>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1814386" y="3876675"/>
            <a:ext cx="1528889" cy="152888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181100" y="3876675"/>
            <a:ext cx="2162175"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1814386" y="2347786"/>
            <a:ext cx="1528889" cy="152888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1809750" y="1714500"/>
            <a:ext cx="3695700" cy="4324350"/>
          </a:xfrm>
          <a:custGeom>
            <a:avLst/>
            <a:gdLst/>
            <a:ahLst/>
            <a:cxnLst/>
            <a:rect l="l" t="t" r="r" b="b"/>
            <a:pathLst>
              <a:path w="388" h="454">
                <a:moveTo>
                  <a:pt x="161" y="0"/>
                </a:moveTo>
                <a:lnTo>
                  <a:pt x="161" y="227"/>
                </a:lnTo>
                <a:lnTo>
                  <a:pt x="388" y="227"/>
                </a:lnTo>
                <a:lnTo>
                  <a:pt x="322" y="388"/>
                </a:lnTo>
                <a:lnTo>
                  <a:pt x="161" y="454"/>
                </a:lnTo>
                <a:lnTo>
                  <a:pt x="0" y="388"/>
                </a:lnTo>
                <a:lnTo>
                  <a:pt x="76" y="227"/>
                </a:lnTo>
                <a:lnTo>
                  <a:pt x="161" y="227"/>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309938" y="168116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309938" y="384333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472112" y="384333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838826" y="53722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309938" y="600551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781049" y="53722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499122" y="384333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309938" y="384333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71850" y="3377565"/>
            <a:ext cx="285750" cy="123825"/>
          </a:xfrm>
          <a:prstGeom prst="rect">
            <a:avLst/>
          </a:prstGeom>
          <a:noFill/>
        </p:spPr>
        <p:txBody>
          <a:bodyPr wrap="none" lIns="0" rIns="0" tIns="0" bIns="0" anchor="ctr">
            <a:spAutoFit/>
          </a:bodyPr>
          <a:lstStyle/>
          <a:p>
            <a:pPr algn="l"/>
            <a:r>
              <a:rPr sz="700" b="0">
                <a:solidFill>
                  <a:srgbClr val="6C7A89"/>
                </a:solidFill>
                <a:latin typeface="Calibri"/>
              </a:rPr>
              <a:t>2</a:t>
            </a:r>
          </a:p>
        </p:txBody>
      </p:sp>
      <p:sp>
        <p:nvSpPr>
          <p:cNvPr id="36" name="TextBox 35"/>
          <p:cNvSpPr txBox="1"/>
          <p:nvPr/>
        </p:nvSpPr>
        <p:spPr>
          <a:xfrm>
            <a:off x="3371850" y="2945130"/>
            <a:ext cx="285750" cy="123825"/>
          </a:xfrm>
          <a:prstGeom prst="rect">
            <a:avLst/>
          </a:prstGeom>
          <a:noFill/>
        </p:spPr>
        <p:txBody>
          <a:bodyPr wrap="none" lIns="0" rIns="0" tIns="0" bIns="0" anchor="ctr">
            <a:spAutoFit/>
          </a:bodyPr>
          <a:lstStyle/>
          <a:p>
            <a:pPr algn="l"/>
            <a:r>
              <a:rPr sz="700" b="0">
                <a:solidFill>
                  <a:srgbClr val="6C7A89"/>
                </a:solidFill>
                <a:latin typeface="Calibri"/>
              </a:rPr>
              <a:t>4</a:t>
            </a:r>
          </a:p>
        </p:txBody>
      </p:sp>
      <p:sp>
        <p:nvSpPr>
          <p:cNvPr id="37" name="TextBox 36"/>
          <p:cNvSpPr txBox="1"/>
          <p:nvPr/>
        </p:nvSpPr>
        <p:spPr>
          <a:xfrm>
            <a:off x="3371850" y="2512695"/>
            <a:ext cx="285750" cy="123825"/>
          </a:xfrm>
          <a:prstGeom prst="rect">
            <a:avLst/>
          </a:prstGeom>
          <a:noFill/>
        </p:spPr>
        <p:txBody>
          <a:bodyPr wrap="none" lIns="0" rIns="0" tIns="0" bIns="0" anchor="ctr">
            <a:spAutoFit/>
          </a:bodyPr>
          <a:lstStyle/>
          <a:p>
            <a:pPr algn="l"/>
            <a:r>
              <a:rPr sz="700" b="0">
                <a:solidFill>
                  <a:srgbClr val="6C7A89"/>
                </a:solidFill>
                <a:latin typeface="Calibri"/>
              </a:rPr>
              <a:t>6</a:t>
            </a:r>
          </a:p>
        </p:txBody>
      </p:sp>
      <p:sp>
        <p:nvSpPr>
          <p:cNvPr id="38" name="TextBox 37"/>
          <p:cNvSpPr txBox="1"/>
          <p:nvPr/>
        </p:nvSpPr>
        <p:spPr>
          <a:xfrm>
            <a:off x="3371850" y="2080260"/>
            <a:ext cx="285750" cy="123825"/>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39" name="TextBox 38"/>
          <p:cNvSpPr txBox="1"/>
          <p:nvPr/>
        </p:nvSpPr>
        <p:spPr>
          <a:xfrm>
            <a:off x="3371850" y="1647825"/>
            <a:ext cx="285750" cy="123825"/>
          </a:xfrm>
          <a:prstGeom prst="rect">
            <a:avLst/>
          </a:prstGeom>
          <a:noFill/>
        </p:spPr>
        <p:txBody>
          <a:bodyPr wrap="none" lIns="0" rIns="0" tIns="0" bIns="0" anchor="ctr">
            <a:spAutoFit/>
          </a:bodyPr>
          <a:lstStyle/>
          <a:p>
            <a:pPr algn="l"/>
            <a:r>
              <a:rPr sz="700" b="0">
                <a:solidFill>
                  <a:srgbClr val="6C7A89"/>
                </a:solidFill>
                <a:latin typeface="Calibri"/>
              </a:rPr>
              <a:t>10</a:t>
            </a:r>
          </a:p>
        </p:txBody>
      </p:sp>
      <p:sp>
        <p:nvSpPr>
          <p:cNvPr id="40" name="TextBox 39"/>
          <p:cNvSpPr txBox="1"/>
          <p:nvPr/>
        </p:nvSpPr>
        <p:spPr>
          <a:xfrm>
            <a:off x="2686050" y="1362075"/>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Production Scale-up  18.6%</a:t>
            </a:r>
          </a:p>
        </p:txBody>
      </p:sp>
      <p:sp>
        <p:nvSpPr>
          <p:cNvPr id="41" name="TextBox 40"/>
          <p:cNvSpPr txBox="1"/>
          <p:nvPr/>
        </p:nvSpPr>
        <p:spPr>
          <a:xfrm>
            <a:off x="4363113" y="2056737"/>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Input Cost Pressure  0.0%</a:t>
            </a:r>
          </a:p>
        </p:txBody>
      </p:sp>
      <p:sp>
        <p:nvSpPr>
          <p:cNvPr id="42" name="TextBox 41"/>
          <p:cNvSpPr txBox="1"/>
          <p:nvPr/>
        </p:nvSpPr>
        <p:spPr>
          <a:xfrm>
            <a:off x="5057775" y="3733800"/>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Capacity Add  18.6%</a:t>
            </a:r>
          </a:p>
        </p:txBody>
      </p:sp>
      <p:sp>
        <p:nvSpPr>
          <p:cNvPr id="43" name="TextBox 42"/>
          <p:cNvSpPr txBox="1"/>
          <p:nvPr/>
        </p:nvSpPr>
        <p:spPr>
          <a:xfrm>
            <a:off x="4363113" y="5410863"/>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Supply Concentration  18.6%</a:t>
            </a:r>
          </a:p>
        </p:txBody>
      </p:sp>
      <p:sp>
        <p:nvSpPr>
          <p:cNvPr id="44" name="TextBox 43"/>
          <p:cNvSpPr txBox="1"/>
          <p:nvPr/>
        </p:nvSpPr>
        <p:spPr>
          <a:xfrm>
            <a:off x="2686050" y="6105525"/>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Geographic Spread  18.6%</a:t>
            </a:r>
          </a:p>
        </p:txBody>
      </p:sp>
      <p:sp>
        <p:nvSpPr>
          <p:cNvPr id="45" name="TextBox 44"/>
          <p:cNvSpPr txBox="1"/>
          <p:nvPr/>
        </p:nvSpPr>
        <p:spPr>
          <a:xfrm>
            <a:off x="1008987" y="5410863"/>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Portfolio Breadth  18.6%</a:t>
            </a:r>
          </a:p>
        </p:txBody>
      </p:sp>
      <p:sp>
        <p:nvSpPr>
          <p:cNvPr id="46" name="TextBox 45"/>
          <p:cNvSpPr txBox="1"/>
          <p:nvPr/>
        </p:nvSpPr>
        <p:spPr>
          <a:xfrm>
            <a:off x="314325" y="3733800"/>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Route Depth  7.0%</a:t>
            </a:r>
          </a:p>
        </p:txBody>
      </p:sp>
      <p:sp>
        <p:nvSpPr>
          <p:cNvPr id="47" name="TextBox 46"/>
          <p:cNvSpPr txBox="1"/>
          <p:nvPr/>
        </p:nvSpPr>
        <p:spPr>
          <a:xfrm>
            <a:off x="1008987" y="2056737"/>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Value Realisation  0.0%</a:t>
            </a:r>
          </a:p>
        </p:txBody>
      </p:sp>
      <p:sp>
        <p:nvSpPr>
          <p:cNvPr id="48" name="Rounded Rectangle 47"/>
          <p:cNvSpPr/>
          <p:nvPr/>
        </p:nvSpPr>
        <p:spPr>
          <a:xfrm>
            <a:off x="6657975" y="876300"/>
            <a:ext cx="5391150" cy="5772150"/>
          </a:xfrm>
          <a:prstGeom prst="roundRect">
            <a:avLst>
              <a:gd name="adj" fmla="val 1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91325" y="962025"/>
            <a:ext cx="5124450" cy="209550"/>
          </a:xfrm>
          <a:prstGeom prst="rect">
            <a:avLst/>
          </a:prstGeom>
          <a:noFill/>
        </p:spPr>
        <p:txBody>
          <a:bodyPr wrap="square" lIns="0" rIns="19050" tIns="9525" bIns="9525">
            <a:spAutoFit/>
          </a:bodyPr>
          <a:lstStyle/>
          <a:p>
            <a:pPr algn="l"/>
            <a:r>
              <a:rPr sz="1300" b="1">
                <a:solidFill>
                  <a:srgbClr val="0B2E4A"/>
                </a:solidFill>
                <a:latin typeface="Calibri"/>
              </a:rPr>
              <a:t>Economic and Supply-side Factors</a:t>
            </a:r>
          </a:p>
        </p:txBody>
      </p:sp>
      <p:sp>
        <p:nvSpPr>
          <p:cNvPr id="50" name="Rectangle 49"/>
          <p:cNvSpPr/>
          <p:nvPr/>
        </p:nvSpPr>
        <p:spPr>
          <a:xfrm>
            <a:off x="6791325" y="1200150"/>
            <a:ext cx="5124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91325" y="1285875"/>
            <a:ext cx="5124450" cy="52863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Supply-side conditions are led by Production Scale-up (10.0/10), Capacity Add (10.0/10), Supply Concentration (10.0/10) on a 0-10 scale scored from the north america dataset itself.</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Volume expands at 13.0% CAGR (2026–2036) while average realisation moves -4.0% a year the balance of those two sets the cost-pass-through picture.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Supply is concentrated: 'Canada' holds 77.0% of 2036 value across 2 countries.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Portfolio breadth spans 11 product type lines and 4 therapeutic application routes, giving producers wide reformulation and channel latitude.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Capacity added between 2026 and 2036 is worth 2,500 US$ Mn, a 2.3× expansion on the 2026 base.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Note: the dynamics framing is indicative factors, impact ratings and narrative are generated from the loaded dataset's own values.</a:t>
            </a:r>
          </a:p>
        </p:txBody>
      </p:sp>
      <p:sp>
        <p:nvSpPr>
          <p:cNvPr id="52" name="Rectangle 5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54" name="Rounded Rectangle 53">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5" name="Rounded Rectangle 54">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6" name="Rounded Rectangle 55">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Driving Factors (2/2)</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76300"/>
            <a:ext cx="6400800" cy="5772150"/>
          </a:xfrm>
          <a:prstGeom prst="roundRect">
            <a:avLst>
              <a:gd name="adj" fmla="val 13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33450"/>
            <a:ext cx="6210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Demand-side Factors  ·  impact score (0–10)</a:t>
            </a:r>
          </a:p>
        </p:txBody>
      </p:sp>
      <p:sp>
        <p:nvSpPr>
          <p:cNvPr id="13" name="Freeform 12"/>
          <p:cNvSpPr/>
          <p:nvPr/>
        </p:nvSpPr>
        <p:spPr>
          <a:xfrm>
            <a:off x="2914650" y="3448050"/>
            <a:ext cx="857250" cy="857250"/>
          </a:xfrm>
          <a:custGeom>
            <a:avLst/>
            <a:gdLst/>
            <a:ahLst/>
            <a:cxnLst/>
            <a:rect l="l" t="t" r="r" b="b"/>
            <a:pathLst>
              <a:path w="90" h="90">
                <a:moveTo>
                  <a:pt x="45" y="0"/>
                </a:moveTo>
                <a:lnTo>
                  <a:pt x="77" y="13"/>
                </a:lnTo>
                <a:lnTo>
                  <a:pt x="90" y="45"/>
                </a:lnTo>
                <a:lnTo>
                  <a:pt x="77" y="77"/>
                </a:lnTo>
                <a:lnTo>
                  <a:pt x="45" y="90"/>
                </a:lnTo>
                <a:lnTo>
                  <a:pt x="13" y="77"/>
                </a:lnTo>
                <a:lnTo>
                  <a:pt x="0" y="45"/>
                </a:lnTo>
                <a:lnTo>
                  <a:pt x="13" y="1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476500" y="3009900"/>
            <a:ext cx="1733550" cy="1733550"/>
          </a:xfrm>
          <a:custGeom>
            <a:avLst/>
            <a:gdLst/>
            <a:ahLst/>
            <a:cxnLst/>
            <a:rect l="l" t="t" r="r" b="b"/>
            <a:pathLst>
              <a:path w="182" h="182">
                <a:moveTo>
                  <a:pt x="91" y="0"/>
                </a:moveTo>
                <a:lnTo>
                  <a:pt x="155" y="27"/>
                </a:lnTo>
                <a:lnTo>
                  <a:pt x="182" y="91"/>
                </a:lnTo>
                <a:lnTo>
                  <a:pt x="155" y="155"/>
                </a:lnTo>
                <a:lnTo>
                  <a:pt x="91" y="182"/>
                </a:lnTo>
                <a:lnTo>
                  <a:pt x="27" y="155"/>
                </a:lnTo>
                <a:lnTo>
                  <a:pt x="0" y="91"/>
                </a:lnTo>
                <a:lnTo>
                  <a:pt x="27" y="2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47875" y="2581275"/>
            <a:ext cx="2590800" cy="2590800"/>
          </a:xfrm>
          <a:custGeom>
            <a:avLst/>
            <a:gdLst/>
            <a:ahLst/>
            <a:cxnLst/>
            <a:rect l="l" t="t" r="r" b="b"/>
            <a:pathLst>
              <a:path w="272" h="272">
                <a:moveTo>
                  <a:pt x="136" y="0"/>
                </a:moveTo>
                <a:lnTo>
                  <a:pt x="232" y="40"/>
                </a:lnTo>
                <a:lnTo>
                  <a:pt x="272" y="136"/>
                </a:lnTo>
                <a:lnTo>
                  <a:pt x="232" y="232"/>
                </a:lnTo>
                <a:lnTo>
                  <a:pt x="136" y="272"/>
                </a:lnTo>
                <a:lnTo>
                  <a:pt x="40" y="232"/>
                </a:lnTo>
                <a:lnTo>
                  <a:pt x="0" y="136"/>
                </a:lnTo>
                <a:lnTo>
                  <a:pt x="40" y="4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1609725" y="2143125"/>
            <a:ext cx="3467100" cy="3467100"/>
          </a:xfrm>
          <a:custGeom>
            <a:avLst/>
            <a:gdLst/>
            <a:ahLst/>
            <a:cxnLst/>
            <a:rect l="l" t="t" r="r" b="b"/>
            <a:pathLst>
              <a:path w="364" h="364">
                <a:moveTo>
                  <a:pt x="182" y="0"/>
                </a:moveTo>
                <a:lnTo>
                  <a:pt x="310" y="54"/>
                </a:lnTo>
                <a:lnTo>
                  <a:pt x="364" y="182"/>
                </a:lnTo>
                <a:lnTo>
                  <a:pt x="310" y="310"/>
                </a:lnTo>
                <a:lnTo>
                  <a:pt x="182" y="364"/>
                </a:lnTo>
                <a:lnTo>
                  <a:pt x="54" y="310"/>
                </a:lnTo>
                <a:lnTo>
                  <a:pt x="0" y="182"/>
                </a:lnTo>
                <a:lnTo>
                  <a:pt x="54" y="54"/>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181100" y="1714500"/>
            <a:ext cx="4324350" cy="4324350"/>
          </a:xfrm>
          <a:custGeom>
            <a:avLst/>
            <a:gdLst/>
            <a:ahLst/>
            <a:cxnLst/>
            <a:rect l="l" t="t" r="r" b="b"/>
            <a:pathLst>
              <a:path w="454" h="454">
                <a:moveTo>
                  <a:pt x="227" y="0"/>
                </a:moveTo>
                <a:lnTo>
                  <a:pt x="388" y="66"/>
                </a:lnTo>
                <a:lnTo>
                  <a:pt x="454" y="227"/>
                </a:lnTo>
                <a:lnTo>
                  <a:pt x="388" y="388"/>
                </a:lnTo>
                <a:lnTo>
                  <a:pt x="227" y="454"/>
                </a:lnTo>
                <a:lnTo>
                  <a:pt x="66" y="388"/>
                </a:lnTo>
                <a:lnTo>
                  <a:pt x="0" y="227"/>
                </a:lnTo>
                <a:lnTo>
                  <a:pt x="66" y="66"/>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3343275" y="1714500"/>
            <a:ext cx="0" cy="2162175"/>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343275" y="2347786"/>
            <a:ext cx="1528889" cy="152888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343275" y="3876675"/>
            <a:ext cx="2162175"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343275" y="3876675"/>
            <a:ext cx="1528889" cy="152888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343275" y="3876675"/>
            <a:ext cx="0" cy="2162175"/>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1814386" y="3876675"/>
            <a:ext cx="1528889" cy="152888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181100" y="3876675"/>
            <a:ext cx="2162175"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1814386" y="2347786"/>
            <a:ext cx="1528889" cy="152888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1809750" y="2028825"/>
            <a:ext cx="2343150" cy="3381375"/>
          </a:xfrm>
          <a:custGeom>
            <a:avLst/>
            <a:gdLst/>
            <a:ahLst/>
            <a:cxnLst/>
            <a:rect l="l" t="t" r="r" b="b"/>
            <a:pathLst>
              <a:path w="246" h="355">
                <a:moveTo>
                  <a:pt x="161" y="0"/>
                </a:moveTo>
                <a:lnTo>
                  <a:pt x="161" y="194"/>
                </a:lnTo>
                <a:lnTo>
                  <a:pt x="246" y="194"/>
                </a:lnTo>
                <a:lnTo>
                  <a:pt x="214" y="247"/>
                </a:lnTo>
                <a:lnTo>
                  <a:pt x="161" y="194"/>
                </a:lnTo>
                <a:lnTo>
                  <a:pt x="0" y="355"/>
                </a:lnTo>
                <a:lnTo>
                  <a:pt x="135" y="194"/>
                </a:lnTo>
                <a:lnTo>
                  <a:pt x="42" y="75"/>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309938" y="199977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309938" y="384333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120753" y="384333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818903" y="435230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309938" y="384333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781049" y="53722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066694" y="384333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175004" y="270840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71850" y="3377565"/>
            <a:ext cx="285750" cy="123825"/>
          </a:xfrm>
          <a:prstGeom prst="rect">
            <a:avLst/>
          </a:prstGeom>
          <a:noFill/>
        </p:spPr>
        <p:txBody>
          <a:bodyPr wrap="none" lIns="0" rIns="0" tIns="0" bIns="0" anchor="ctr">
            <a:spAutoFit/>
          </a:bodyPr>
          <a:lstStyle/>
          <a:p>
            <a:pPr algn="l"/>
            <a:r>
              <a:rPr sz="700" b="0">
                <a:solidFill>
                  <a:srgbClr val="6C7A89"/>
                </a:solidFill>
                <a:latin typeface="Calibri"/>
              </a:rPr>
              <a:t>2</a:t>
            </a:r>
          </a:p>
        </p:txBody>
      </p:sp>
      <p:sp>
        <p:nvSpPr>
          <p:cNvPr id="36" name="TextBox 35"/>
          <p:cNvSpPr txBox="1"/>
          <p:nvPr/>
        </p:nvSpPr>
        <p:spPr>
          <a:xfrm>
            <a:off x="3371850" y="2945130"/>
            <a:ext cx="285750" cy="123825"/>
          </a:xfrm>
          <a:prstGeom prst="rect">
            <a:avLst/>
          </a:prstGeom>
          <a:noFill/>
        </p:spPr>
        <p:txBody>
          <a:bodyPr wrap="none" lIns="0" rIns="0" tIns="0" bIns="0" anchor="ctr">
            <a:spAutoFit/>
          </a:bodyPr>
          <a:lstStyle/>
          <a:p>
            <a:pPr algn="l"/>
            <a:r>
              <a:rPr sz="700" b="0">
                <a:solidFill>
                  <a:srgbClr val="6C7A89"/>
                </a:solidFill>
                <a:latin typeface="Calibri"/>
              </a:rPr>
              <a:t>4</a:t>
            </a:r>
          </a:p>
        </p:txBody>
      </p:sp>
      <p:sp>
        <p:nvSpPr>
          <p:cNvPr id="37" name="TextBox 36"/>
          <p:cNvSpPr txBox="1"/>
          <p:nvPr/>
        </p:nvSpPr>
        <p:spPr>
          <a:xfrm>
            <a:off x="3371850" y="2512695"/>
            <a:ext cx="285750" cy="123825"/>
          </a:xfrm>
          <a:prstGeom prst="rect">
            <a:avLst/>
          </a:prstGeom>
          <a:noFill/>
        </p:spPr>
        <p:txBody>
          <a:bodyPr wrap="none" lIns="0" rIns="0" tIns="0" bIns="0" anchor="ctr">
            <a:spAutoFit/>
          </a:bodyPr>
          <a:lstStyle/>
          <a:p>
            <a:pPr algn="l"/>
            <a:r>
              <a:rPr sz="700" b="0">
                <a:solidFill>
                  <a:srgbClr val="6C7A89"/>
                </a:solidFill>
                <a:latin typeface="Calibri"/>
              </a:rPr>
              <a:t>6</a:t>
            </a:r>
          </a:p>
        </p:txBody>
      </p:sp>
      <p:sp>
        <p:nvSpPr>
          <p:cNvPr id="38" name="TextBox 37"/>
          <p:cNvSpPr txBox="1"/>
          <p:nvPr/>
        </p:nvSpPr>
        <p:spPr>
          <a:xfrm>
            <a:off x="3371850" y="2080260"/>
            <a:ext cx="285750" cy="123825"/>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39" name="TextBox 38"/>
          <p:cNvSpPr txBox="1"/>
          <p:nvPr/>
        </p:nvSpPr>
        <p:spPr>
          <a:xfrm>
            <a:off x="3371850" y="1647825"/>
            <a:ext cx="285750" cy="123825"/>
          </a:xfrm>
          <a:prstGeom prst="rect">
            <a:avLst/>
          </a:prstGeom>
          <a:noFill/>
        </p:spPr>
        <p:txBody>
          <a:bodyPr wrap="none" lIns="0" rIns="0" tIns="0" bIns="0" anchor="ctr">
            <a:spAutoFit/>
          </a:bodyPr>
          <a:lstStyle/>
          <a:p>
            <a:pPr algn="l"/>
            <a:r>
              <a:rPr sz="700" b="0">
                <a:solidFill>
                  <a:srgbClr val="6C7A89"/>
                </a:solidFill>
                <a:latin typeface="Calibri"/>
              </a:rPr>
              <a:t>10</a:t>
            </a:r>
          </a:p>
        </p:txBody>
      </p:sp>
      <p:sp>
        <p:nvSpPr>
          <p:cNvPr id="40" name="TextBox 39"/>
          <p:cNvSpPr txBox="1"/>
          <p:nvPr/>
        </p:nvSpPr>
        <p:spPr>
          <a:xfrm>
            <a:off x="2686050" y="1362075"/>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Demand Growth  25.0%</a:t>
            </a:r>
          </a:p>
        </p:txBody>
      </p:sp>
      <p:sp>
        <p:nvSpPr>
          <p:cNvPr id="41" name="TextBox 40"/>
          <p:cNvSpPr txBox="1"/>
          <p:nvPr/>
        </p:nvSpPr>
        <p:spPr>
          <a:xfrm>
            <a:off x="4363113" y="2056737"/>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Premiumisation  0.0%</a:t>
            </a:r>
          </a:p>
        </p:txBody>
      </p:sp>
      <p:sp>
        <p:nvSpPr>
          <p:cNvPr id="42" name="TextBox 41"/>
          <p:cNvSpPr txBox="1"/>
          <p:nvPr/>
        </p:nvSpPr>
        <p:spPr>
          <a:xfrm>
            <a:off x="5057775" y="3733800"/>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App. Breadth  11.0%</a:t>
            </a:r>
          </a:p>
        </p:txBody>
      </p:sp>
      <p:sp>
        <p:nvSpPr>
          <p:cNvPr id="43" name="TextBox 42"/>
          <p:cNvSpPr txBox="1"/>
          <p:nvPr/>
        </p:nvSpPr>
        <p:spPr>
          <a:xfrm>
            <a:off x="4363113" y="5410863"/>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Emerging Pull  9.7%</a:t>
            </a:r>
          </a:p>
        </p:txBody>
      </p:sp>
      <p:sp>
        <p:nvSpPr>
          <p:cNvPr id="44" name="TextBox 43"/>
          <p:cNvSpPr txBox="1"/>
          <p:nvPr/>
        </p:nvSpPr>
        <p:spPr>
          <a:xfrm>
            <a:off x="2686050" y="6105525"/>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Volume Momentum  0.0%</a:t>
            </a:r>
          </a:p>
        </p:txBody>
      </p:sp>
      <p:sp>
        <p:nvSpPr>
          <p:cNvPr id="45" name="TextBox 44"/>
          <p:cNvSpPr txBox="1"/>
          <p:nvPr/>
        </p:nvSpPr>
        <p:spPr>
          <a:xfrm>
            <a:off x="1008987" y="5410863"/>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Category Maturity  29.3%</a:t>
            </a:r>
          </a:p>
        </p:txBody>
      </p:sp>
      <p:sp>
        <p:nvSpPr>
          <p:cNvPr id="46" name="TextBox 45"/>
          <p:cNvSpPr txBox="1"/>
          <p:nvPr/>
        </p:nvSpPr>
        <p:spPr>
          <a:xfrm>
            <a:off x="314325" y="3733800"/>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Adoption Depth  3.3%</a:t>
            </a:r>
          </a:p>
        </p:txBody>
      </p:sp>
      <p:sp>
        <p:nvSpPr>
          <p:cNvPr id="47" name="TextBox 46"/>
          <p:cNvSpPr txBox="1"/>
          <p:nvPr/>
        </p:nvSpPr>
        <p:spPr>
          <a:xfrm>
            <a:off x="1008987" y="2056737"/>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Consumer Reach  21.7%</a:t>
            </a:r>
          </a:p>
        </p:txBody>
      </p:sp>
      <p:sp>
        <p:nvSpPr>
          <p:cNvPr id="48" name="Rounded Rectangle 47"/>
          <p:cNvSpPr/>
          <p:nvPr/>
        </p:nvSpPr>
        <p:spPr>
          <a:xfrm>
            <a:off x="6657975" y="876300"/>
            <a:ext cx="5391150" cy="5772150"/>
          </a:xfrm>
          <a:prstGeom prst="roundRect">
            <a:avLst>
              <a:gd name="adj" fmla="val 1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91325" y="962025"/>
            <a:ext cx="5124450" cy="209550"/>
          </a:xfrm>
          <a:prstGeom prst="rect">
            <a:avLst/>
          </a:prstGeom>
          <a:noFill/>
        </p:spPr>
        <p:txBody>
          <a:bodyPr wrap="square" lIns="0" rIns="19050" tIns="9525" bIns="9525">
            <a:spAutoFit/>
          </a:bodyPr>
          <a:lstStyle/>
          <a:p>
            <a:pPr algn="l"/>
            <a:r>
              <a:rPr sz="1300" b="1">
                <a:solidFill>
                  <a:srgbClr val="0B2E4A"/>
                </a:solidFill>
                <a:latin typeface="Calibri"/>
              </a:rPr>
              <a:t>Demand-side Factors</a:t>
            </a:r>
          </a:p>
        </p:txBody>
      </p:sp>
      <p:sp>
        <p:nvSpPr>
          <p:cNvPr id="50" name="Rectangle 49"/>
          <p:cNvSpPr/>
          <p:nvPr/>
        </p:nvSpPr>
        <p:spPr>
          <a:xfrm>
            <a:off x="6791325" y="1200150"/>
            <a:ext cx="5124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91325" y="1285875"/>
            <a:ext cx="5124450" cy="52863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Demand-side conditions are led by Category Maturity (10.0/10), Demand Growth (8.5/10), Consumer Reach (7.4/10) on a 0-10 scale scored from the north america dataset itself.</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Value grows at 8.5% against volume at 13.0% a value-seeking market through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'Idacio' carries 11.7% of product type demand while 'Cyltezo' compounds fastest at 10.1%.</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Pull is strongest in 'Canada' (9.0% CAGR, +50 BPS versus the market), with 1 of 2 countries at or above pace.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Reach runs through 4 therapeutic application routes, led by 'Rheumatology' at 43.7% and with 'Gastroenterology' growing fastest at 9.7%.</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Note: the dynamics framing is indicative factors, impact ratings and narrative are generated from the loaded dataset's own values.</a:t>
            </a:r>
          </a:p>
        </p:txBody>
      </p:sp>
      <p:sp>
        <p:nvSpPr>
          <p:cNvPr id="52" name="Rectangle 5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54" name="Rounded Rectangle 53">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5" name="Rounded Rectangle 54">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6" name="Rounded Rectangle 55">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 Market Dynamics</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Market Dynamics &amp; Forces</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Drivers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Restraints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Opportunities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Recent Developments &amp; Milestones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Five Forces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23</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Market Drivers</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76300"/>
            <a:ext cx="2038350" cy="266700"/>
          </a:xfrm>
          <a:prstGeom prst="roundRect">
            <a:avLst>
              <a:gd name="adj" fmla="val 1869"/>
            </a:avLst>
          </a:prstGeom>
          <a:solidFill>
            <a:srgbClr val="1668A8"/>
          </a:solidFill>
          <a:ln w="12700">
            <a:solidFill>
              <a:srgbClr val="1668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2875" y="876300"/>
            <a:ext cx="2038350" cy="266700"/>
          </a:xfrm>
          <a:prstGeom prst="rect">
            <a:avLst/>
          </a:prstGeom>
          <a:noFill/>
        </p:spPr>
        <p:txBody>
          <a:bodyPr wrap="square" lIns="28575" rIns="28575" tIns="9525" bIns="9525" anchor="ctr">
            <a:spAutoFit/>
          </a:bodyPr>
          <a:lstStyle/>
          <a:p>
            <a:pPr algn="ctr"/>
            <a:r>
              <a:rPr sz="1050" b="1">
                <a:solidFill>
                  <a:srgbClr val="FFFFFF"/>
                </a:solidFill>
                <a:latin typeface="Calibri"/>
              </a:rPr>
              <a:t>Market Drivers</a:t>
            </a:r>
          </a:p>
        </p:txBody>
      </p:sp>
      <p:sp>
        <p:nvSpPr>
          <p:cNvPr id="13" name="Rounded Rectangle 12"/>
          <p:cNvSpPr/>
          <p:nvPr/>
        </p:nvSpPr>
        <p:spPr>
          <a:xfrm>
            <a:off x="2266950" y="876300"/>
            <a:ext cx="2038350" cy="266700"/>
          </a:xfrm>
          <a:prstGeom prst="roundRect">
            <a:avLst>
              <a:gd name="adj" fmla="val 1869"/>
            </a:avLst>
          </a:prstGeom>
          <a:solidFill>
            <a:srgbClr val="ECEFF1"/>
          </a:solidFill>
          <a:ln w="12700">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66950" y="876300"/>
            <a:ext cx="2038350" cy="266700"/>
          </a:xfrm>
          <a:prstGeom prst="rect">
            <a:avLst/>
          </a:prstGeom>
          <a:noFill/>
        </p:spPr>
        <p:txBody>
          <a:bodyPr wrap="square" lIns="28575" rIns="28575" tIns="9525" bIns="9525" anchor="ctr">
            <a:spAutoFit/>
          </a:bodyPr>
          <a:lstStyle/>
          <a:p>
            <a:pPr algn="ctr"/>
            <a:r>
              <a:rPr sz="1050" b="1">
                <a:solidFill>
                  <a:srgbClr val="8A9096"/>
                </a:solidFill>
                <a:latin typeface="Calibri"/>
              </a:rPr>
              <a:t>Market Restraints</a:t>
            </a:r>
          </a:p>
        </p:txBody>
      </p:sp>
      <p:sp>
        <p:nvSpPr>
          <p:cNvPr id="15" name="Rounded Rectangle 14"/>
          <p:cNvSpPr/>
          <p:nvPr/>
        </p:nvSpPr>
        <p:spPr>
          <a:xfrm>
            <a:off x="4391025" y="876300"/>
            <a:ext cx="2038350" cy="266700"/>
          </a:xfrm>
          <a:prstGeom prst="roundRect">
            <a:avLst>
              <a:gd name="adj" fmla="val 1869"/>
            </a:avLst>
          </a:prstGeom>
          <a:solidFill>
            <a:srgbClr val="ECEFF1"/>
          </a:solidFill>
          <a:ln w="12700">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1025" y="876300"/>
            <a:ext cx="2038350" cy="266700"/>
          </a:xfrm>
          <a:prstGeom prst="rect">
            <a:avLst/>
          </a:prstGeom>
          <a:noFill/>
        </p:spPr>
        <p:txBody>
          <a:bodyPr wrap="square" lIns="28575" rIns="28575" tIns="9525" bIns="9525" anchor="ctr">
            <a:spAutoFit/>
          </a:bodyPr>
          <a:lstStyle/>
          <a:p>
            <a:pPr algn="ctr"/>
            <a:r>
              <a:rPr sz="1050" b="1">
                <a:solidFill>
                  <a:srgbClr val="8A9096"/>
                </a:solidFill>
                <a:latin typeface="Calibri"/>
              </a:rPr>
              <a:t>Market Opportunities</a:t>
            </a:r>
          </a:p>
        </p:txBody>
      </p:sp>
      <p:sp>
        <p:nvSpPr>
          <p:cNvPr id="17" name="Rectangle 16"/>
          <p:cNvSpPr/>
          <p:nvPr/>
        </p:nvSpPr>
        <p:spPr>
          <a:xfrm>
            <a:off x="142875" y="1257300"/>
            <a:ext cx="9496425" cy="266700"/>
          </a:xfrm>
          <a:prstGeom prst="rect">
            <a:avLst/>
          </a:prstGeom>
          <a:solidFill>
            <a:srgbClr val="DC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2875" y="1257300"/>
            <a:ext cx="47625" cy="266700"/>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12573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Cyltezo Compounds Fastest Across the Product Type Mix</a:t>
            </a:r>
          </a:p>
        </p:txBody>
      </p:sp>
      <p:sp>
        <p:nvSpPr>
          <p:cNvPr id="20" name="TextBox 19"/>
          <p:cNvSpPr txBox="1"/>
          <p:nvPr/>
        </p:nvSpPr>
        <p:spPr>
          <a:xfrm>
            <a:off x="161925" y="1581150"/>
            <a:ext cx="9439275" cy="85725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'Cyltezo' is the fastest-compounding product type line in the north america market, growing at 10.1% CAGR between 2026 and 2036 against a market pace of 8.5%. It adds 312.9 US$ Mn of incremental value over the horizon and moves +152 BPS of share where mix shifts in its favour. With 11 lines competing inside product type, that concentration of growth makes it the single clearest demand driver for the category producers weighting capacity and promotion toward it capture a disproportionate share of the 2,500 US$ Mn the market adds in total.</a:t>
            </a:r>
          </a:p>
        </p:txBody>
      </p:sp>
      <p:sp>
        <p:nvSpPr>
          <p:cNvPr id="21" name="TextBox 20"/>
          <p:cNvSpPr txBox="1"/>
          <p:nvPr/>
        </p:nvSpPr>
        <p:spPr>
          <a:xfrm>
            <a:off x="9810750" y="12573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22" name="TextBox 21"/>
          <p:cNvSpPr txBox="1"/>
          <p:nvPr/>
        </p:nvSpPr>
        <p:spPr>
          <a:xfrm>
            <a:off x="9810750" y="15240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23" name="Rectangle 22"/>
          <p:cNvSpPr/>
          <p:nvPr/>
        </p:nvSpPr>
        <p:spPr>
          <a:xfrm>
            <a:off x="9810750" y="16573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16573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25" name="TextBox 24"/>
          <p:cNvSpPr txBox="1"/>
          <p:nvPr/>
        </p:nvSpPr>
        <p:spPr>
          <a:xfrm>
            <a:off x="10896600" y="15240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26" name="Rectangle 25"/>
          <p:cNvSpPr/>
          <p:nvPr/>
        </p:nvSpPr>
        <p:spPr>
          <a:xfrm>
            <a:off x="10896600" y="16573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16573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28" name="TextBox 27"/>
          <p:cNvSpPr txBox="1"/>
          <p:nvPr/>
        </p:nvSpPr>
        <p:spPr>
          <a:xfrm>
            <a:off x="9810750" y="20955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29" name="Rectangle 28"/>
          <p:cNvSpPr/>
          <p:nvPr/>
        </p:nvSpPr>
        <p:spPr>
          <a:xfrm>
            <a:off x="9810750" y="22288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10750" y="22288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31" name="TextBox 30"/>
          <p:cNvSpPr txBox="1"/>
          <p:nvPr/>
        </p:nvSpPr>
        <p:spPr>
          <a:xfrm>
            <a:off x="10896600" y="20955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32" name="Rectangle 31"/>
          <p:cNvSpPr/>
          <p:nvPr/>
        </p:nvSpPr>
        <p:spPr>
          <a:xfrm>
            <a:off x="10896600" y="22288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896600" y="22288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cxnSp>
        <p:nvCxnSpPr>
          <p:cNvPr id="34" name="Connector 33"/>
          <p:cNvCxnSpPr/>
          <p:nvPr/>
        </p:nvCxnSpPr>
        <p:spPr>
          <a:xfrm>
            <a:off x="142875" y="3028950"/>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42875" y="3086100"/>
            <a:ext cx="9496425" cy="266700"/>
          </a:xfrm>
          <a:prstGeom prst="rect">
            <a:avLst/>
          </a:prstGeom>
          <a:solidFill>
            <a:srgbClr val="DC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42875" y="3086100"/>
            <a:ext cx="47625" cy="266700"/>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6225" y="30861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Canada Emerges as the Growth Engine Among Countries</a:t>
            </a:r>
          </a:p>
        </p:txBody>
      </p:sp>
      <p:sp>
        <p:nvSpPr>
          <p:cNvPr id="38" name="TextBox 37"/>
          <p:cNvSpPr txBox="1"/>
          <p:nvPr/>
        </p:nvSpPr>
        <p:spPr>
          <a:xfrm>
            <a:off x="161925" y="3409950"/>
            <a:ext cx="9439275" cy="64770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'Canada' expands at 9.0% CAGR (2026–2036), running +50 BPS ahead of the north america market and adding 1,994 US$ Mn. 1 of 2 countries grow at or above the market pace, so growth is broad rather than isolated, but the leaders compound from a materially larger base 'Canada' alone holds 77.0% of 2036 value. The combination sustains volume through the forecast period and pulls investment toward the faster countries.</a:t>
            </a:r>
          </a:p>
        </p:txBody>
      </p:sp>
      <p:sp>
        <p:nvSpPr>
          <p:cNvPr id="39" name="TextBox 38"/>
          <p:cNvSpPr txBox="1"/>
          <p:nvPr/>
        </p:nvSpPr>
        <p:spPr>
          <a:xfrm>
            <a:off x="9810750" y="30861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40" name="TextBox 39"/>
          <p:cNvSpPr txBox="1"/>
          <p:nvPr/>
        </p:nvSpPr>
        <p:spPr>
          <a:xfrm>
            <a:off x="9810750" y="33528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41" name="Rectangle 40"/>
          <p:cNvSpPr/>
          <p:nvPr/>
        </p:nvSpPr>
        <p:spPr>
          <a:xfrm>
            <a:off x="9810750" y="34861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10750" y="34861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43" name="TextBox 42"/>
          <p:cNvSpPr txBox="1"/>
          <p:nvPr/>
        </p:nvSpPr>
        <p:spPr>
          <a:xfrm>
            <a:off x="10896600" y="33528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44" name="Rectangle 43"/>
          <p:cNvSpPr/>
          <p:nvPr/>
        </p:nvSpPr>
        <p:spPr>
          <a:xfrm>
            <a:off x="10896600" y="34861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896600" y="34861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46" name="TextBox 45"/>
          <p:cNvSpPr txBox="1"/>
          <p:nvPr/>
        </p:nvSpPr>
        <p:spPr>
          <a:xfrm>
            <a:off x="9810750" y="39243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47" name="Rectangle 46"/>
          <p:cNvSpPr/>
          <p:nvPr/>
        </p:nvSpPr>
        <p:spPr>
          <a:xfrm>
            <a:off x="9810750" y="40576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10750" y="40576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49" name="TextBox 48"/>
          <p:cNvSpPr txBox="1"/>
          <p:nvPr/>
        </p:nvSpPr>
        <p:spPr>
          <a:xfrm>
            <a:off x="10896600" y="39243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50" name="Rectangle 49"/>
          <p:cNvSpPr/>
          <p:nvPr/>
        </p:nvSpPr>
        <p:spPr>
          <a:xfrm>
            <a:off x="10896600" y="40576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896600" y="40576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cxnSp>
        <p:nvCxnSpPr>
          <p:cNvPr id="52" name="Connector 51"/>
          <p:cNvCxnSpPr/>
          <p:nvPr/>
        </p:nvCxnSpPr>
        <p:spPr>
          <a:xfrm>
            <a:off x="142875" y="4857750"/>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42875" y="4914900"/>
            <a:ext cx="9496425" cy="266700"/>
          </a:xfrm>
          <a:prstGeom prst="rect">
            <a:avLst/>
          </a:prstGeom>
          <a:solidFill>
            <a:srgbClr val="DC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42875" y="4914900"/>
            <a:ext cx="47625" cy="266700"/>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76225" y="49149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Volume-Led Expansion Broadens the Addressable Base</a:t>
            </a:r>
          </a:p>
        </p:txBody>
      </p:sp>
      <p:sp>
        <p:nvSpPr>
          <p:cNvPr id="56" name="TextBox 55"/>
          <p:cNvSpPr txBox="1"/>
          <p:nvPr/>
        </p:nvSpPr>
        <p:spPr>
          <a:xfrm>
            <a:off x="161925" y="5238750"/>
            <a:ext cx="9439275" cy="64770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Volume compounds at 13.0% against value at 8.5%, so growth is being carried by units rather than price average realisation moves -4.0% a year to 316.55 US$/unit by 2036. 'Rheumatology' carries 43.7% of therapeutic application demand and 'Gastroenterology' grows fastest at 9.7%, giving suppliers a route to convert that shift into margin across 4 therapeutic application routes.</a:t>
            </a:r>
          </a:p>
        </p:txBody>
      </p:sp>
      <p:sp>
        <p:nvSpPr>
          <p:cNvPr id="57" name="TextBox 56"/>
          <p:cNvSpPr txBox="1"/>
          <p:nvPr/>
        </p:nvSpPr>
        <p:spPr>
          <a:xfrm>
            <a:off x="9810750" y="49149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58" name="TextBox 57"/>
          <p:cNvSpPr txBox="1"/>
          <p:nvPr/>
        </p:nvSpPr>
        <p:spPr>
          <a:xfrm>
            <a:off x="9810750" y="51816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59" name="Rectangle 58"/>
          <p:cNvSpPr/>
          <p:nvPr/>
        </p:nvSpPr>
        <p:spPr>
          <a:xfrm>
            <a:off x="9810750" y="53149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810750" y="53149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61" name="TextBox 60"/>
          <p:cNvSpPr txBox="1"/>
          <p:nvPr/>
        </p:nvSpPr>
        <p:spPr>
          <a:xfrm>
            <a:off x="10896600" y="51816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62" name="Rectangle 61"/>
          <p:cNvSpPr/>
          <p:nvPr/>
        </p:nvSpPr>
        <p:spPr>
          <a:xfrm>
            <a:off x="10896600" y="53149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896600" y="53149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64" name="TextBox 63"/>
          <p:cNvSpPr txBox="1"/>
          <p:nvPr/>
        </p:nvSpPr>
        <p:spPr>
          <a:xfrm>
            <a:off x="9810750" y="57531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65" name="Rectangle 64"/>
          <p:cNvSpPr/>
          <p:nvPr/>
        </p:nvSpPr>
        <p:spPr>
          <a:xfrm>
            <a:off x="9810750" y="58864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810750" y="58864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67" name="TextBox 66"/>
          <p:cNvSpPr txBox="1"/>
          <p:nvPr/>
        </p:nvSpPr>
        <p:spPr>
          <a:xfrm>
            <a:off x="10896600" y="57531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68" name="Rectangle 67"/>
          <p:cNvSpPr/>
          <p:nvPr/>
        </p:nvSpPr>
        <p:spPr>
          <a:xfrm>
            <a:off x="10896600" y="58864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896600" y="58864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70" name="Rectangle 6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72" name="Rounded Rectangle 7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73" name="Rounded Rectangle 7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74" name="Rounded Rectangle 7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Market Restraints</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76300"/>
            <a:ext cx="2038350" cy="266700"/>
          </a:xfrm>
          <a:prstGeom prst="roundRect">
            <a:avLst>
              <a:gd name="adj" fmla="val 1869"/>
            </a:avLst>
          </a:prstGeom>
          <a:solidFill>
            <a:srgbClr val="ECEFF1"/>
          </a:solidFill>
          <a:ln w="12700">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2875" y="876300"/>
            <a:ext cx="2038350" cy="266700"/>
          </a:xfrm>
          <a:prstGeom prst="rect">
            <a:avLst/>
          </a:prstGeom>
          <a:noFill/>
        </p:spPr>
        <p:txBody>
          <a:bodyPr wrap="square" lIns="28575" rIns="28575" tIns="9525" bIns="9525" anchor="ctr">
            <a:spAutoFit/>
          </a:bodyPr>
          <a:lstStyle/>
          <a:p>
            <a:pPr algn="ctr"/>
            <a:r>
              <a:rPr sz="1050" b="1">
                <a:solidFill>
                  <a:srgbClr val="8A9096"/>
                </a:solidFill>
                <a:latin typeface="Calibri"/>
              </a:rPr>
              <a:t>Market Drivers</a:t>
            </a:r>
          </a:p>
        </p:txBody>
      </p:sp>
      <p:sp>
        <p:nvSpPr>
          <p:cNvPr id="13" name="Rounded Rectangle 12"/>
          <p:cNvSpPr/>
          <p:nvPr/>
        </p:nvSpPr>
        <p:spPr>
          <a:xfrm>
            <a:off x="2266950" y="876300"/>
            <a:ext cx="2038350" cy="266700"/>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66950" y="876300"/>
            <a:ext cx="2038350" cy="266700"/>
          </a:xfrm>
          <a:prstGeom prst="rect">
            <a:avLst/>
          </a:prstGeom>
          <a:noFill/>
        </p:spPr>
        <p:txBody>
          <a:bodyPr wrap="square" lIns="28575" rIns="28575" tIns="9525" bIns="9525" anchor="ctr">
            <a:spAutoFit/>
          </a:bodyPr>
          <a:lstStyle/>
          <a:p>
            <a:pPr algn="ctr"/>
            <a:r>
              <a:rPr sz="1050" b="1">
                <a:solidFill>
                  <a:srgbClr val="FFFFFF"/>
                </a:solidFill>
                <a:latin typeface="Calibri"/>
              </a:rPr>
              <a:t>Market Restraints</a:t>
            </a:r>
          </a:p>
        </p:txBody>
      </p:sp>
      <p:sp>
        <p:nvSpPr>
          <p:cNvPr id="15" name="Rounded Rectangle 14"/>
          <p:cNvSpPr/>
          <p:nvPr/>
        </p:nvSpPr>
        <p:spPr>
          <a:xfrm>
            <a:off x="4391025" y="876300"/>
            <a:ext cx="2038350" cy="266700"/>
          </a:xfrm>
          <a:prstGeom prst="roundRect">
            <a:avLst>
              <a:gd name="adj" fmla="val 1869"/>
            </a:avLst>
          </a:prstGeom>
          <a:solidFill>
            <a:srgbClr val="ECEFF1"/>
          </a:solidFill>
          <a:ln w="12700">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1025" y="876300"/>
            <a:ext cx="2038350" cy="266700"/>
          </a:xfrm>
          <a:prstGeom prst="rect">
            <a:avLst/>
          </a:prstGeom>
          <a:noFill/>
        </p:spPr>
        <p:txBody>
          <a:bodyPr wrap="square" lIns="28575" rIns="28575" tIns="9525" bIns="9525" anchor="ctr">
            <a:spAutoFit/>
          </a:bodyPr>
          <a:lstStyle/>
          <a:p>
            <a:pPr algn="ctr"/>
            <a:r>
              <a:rPr sz="1050" b="1">
                <a:solidFill>
                  <a:srgbClr val="8A9096"/>
                </a:solidFill>
                <a:latin typeface="Calibri"/>
              </a:rPr>
              <a:t>Market Opportunities</a:t>
            </a:r>
          </a:p>
        </p:txBody>
      </p:sp>
      <p:sp>
        <p:nvSpPr>
          <p:cNvPr id="17" name="Rectangle 16"/>
          <p:cNvSpPr/>
          <p:nvPr/>
        </p:nvSpPr>
        <p:spPr>
          <a:xfrm>
            <a:off x="142875" y="1257300"/>
            <a:ext cx="9496425" cy="266700"/>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2875" y="1257300"/>
            <a:ext cx="47625" cy="266700"/>
          </a:xfrm>
          <a:prstGeom prst="rect">
            <a:avLst/>
          </a:prstGeom>
          <a:solidFill>
            <a:srgbClr val="C0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12573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Yusimry Lags the Category and Dilutes Blended Growth</a:t>
            </a:r>
          </a:p>
        </p:txBody>
      </p:sp>
      <p:sp>
        <p:nvSpPr>
          <p:cNvPr id="20" name="TextBox 19"/>
          <p:cNvSpPr txBox="1"/>
          <p:nvPr/>
        </p:nvSpPr>
        <p:spPr>
          <a:xfrm>
            <a:off x="161925" y="1581150"/>
            <a:ext cx="9439275" cy="64770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'Yusimry' grows at only 6.3% CAGR against the market's 8.5%, a -220 BPS gap, and 'Yusimry' surrenders 177 BPS of product type share between 2026 and 2036. Because these lines still carry meaningful volume, the drag is absorbed by the whole category: blended growth sits below what the leading lines achieve on their own. Rationalising or repositioning the lagging end of a 11-line portfolio is therefore a precondition for realising the headline forecast.</a:t>
            </a:r>
          </a:p>
        </p:txBody>
      </p:sp>
      <p:sp>
        <p:nvSpPr>
          <p:cNvPr id="21" name="TextBox 20"/>
          <p:cNvSpPr txBox="1"/>
          <p:nvPr/>
        </p:nvSpPr>
        <p:spPr>
          <a:xfrm>
            <a:off x="9810750" y="12573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22" name="TextBox 21"/>
          <p:cNvSpPr txBox="1"/>
          <p:nvPr/>
        </p:nvSpPr>
        <p:spPr>
          <a:xfrm>
            <a:off x="9810750" y="15240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23" name="Rectangle 22"/>
          <p:cNvSpPr/>
          <p:nvPr/>
        </p:nvSpPr>
        <p:spPr>
          <a:xfrm>
            <a:off x="9810750" y="16573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16573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25" name="TextBox 24"/>
          <p:cNvSpPr txBox="1"/>
          <p:nvPr/>
        </p:nvSpPr>
        <p:spPr>
          <a:xfrm>
            <a:off x="10896600" y="15240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26" name="Rectangle 25"/>
          <p:cNvSpPr/>
          <p:nvPr/>
        </p:nvSpPr>
        <p:spPr>
          <a:xfrm>
            <a:off x="10896600" y="16573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16573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28" name="TextBox 27"/>
          <p:cNvSpPr txBox="1"/>
          <p:nvPr/>
        </p:nvSpPr>
        <p:spPr>
          <a:xfrm>
            <a:off x="9810750" y="20955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29" name="Rectangle 28"/>
          <p:cNvSpPr/>
          <p:nvPr/>
        </p:nvSpPr>
        <p:spPr>
          <a:xfrm>
            <a:off x="9810750" y="22288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10750" y="22288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31" name="TextBox 30"/>
          <p:cNvSpPr txBox="1"/>
          <p:nvPr/>
        </p:nvSpPr>
        <p:spPr>
          <a:xfrm>
            <a:off x="10896600" y="20955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32" name="Rectangle 31"/>
          <p:cNvSpPr/>
          <p:nvPr/>
        </p:nvSpPr>
        <p:spPr>
          <a:xfrm>
            <a:off x="10896600" y="22288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896600" y="22288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cxnSp>
        <p:nvCxnSpPr>
          <p:cNvPr id="34" name="Connector 33"/>
          <p:cNvCxnSpPr/>
          <p:nvPr/>
        </p:nvCxnSpPr>
        <p:spPr>
          <a:xfrm>
            <a:off x="142875" y="3028950"/>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42875" y="3086100"/>
            <a:ext cx="9496425" cy="266700"/>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42875" y="3086100"/>
            <a:ext cx="47625" cy="266700"/>
          </a:xfrm>
          <a:prstGeom prst="rect">
            <a:avLst/>
          </a:prstGeom>
          <a:solidFill>
            <a:srgbClr val="C0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6225" y="30861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Uneven Country Performance Caps the Blended Rate</a:t>
            </a:r>
          </a:p>
        </p:txBody>
      </p:sp>
      <p:sp>
        <p:nvSpPr>
          <p:cNvPr id="38" name="TextBox 37"/>
          <p:cNvSpPr txBox="1"/>
          <p:nvPr/>
        </p:nvSpPr>
        <p:spPr>
          <a:xfrm>
            <a:off x="161925" y="3409950"/>
            <a:ext cx="9439275" cy="64770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'U.S.' grows at just 7.0% CAGR -151 BPS against the market and 1 of 2 countries sit below the market pace altogether. Demand is therefore not uniformly available: suppliers carrying a broad geographic footprint fund presence in slow countries out of returns earned in the fast ones. With 'Canada' at 77.0% of value, a shortfall in a single leading country is difficult to offset elsewhere in the forecast window.</a:t>
            </a:r>
          </a:p>
        </p:txBody>
      </p:sp>
      <p:sp>
        <p:nvSpPr>
          <p:cNvPr id="39" name="TextBox 38"/>
          <p:cNvSpPr txBox="1"/>
          <p:nvPr/>
        </p:nvSpPr>
        <p:spPr>
          <a:xfrm>
            <a:off x="9810750" y="30861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40" name="TextBox 39"/>
          <p:cNvSpPr txBox="1"/>
          <p:nvPr/>
        </p:nvSpPr>
        <p:spPr>
          <a:xfrm>
            <a:off x="9810750" y="33528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41" name="Rectangle 40"/>
          <p:cNvSpPr/>
          <p:nvPr/>
        </p:nvSpPr>
        <p:spPr>
          <a:xfrm>
            <a:off x="9810750" y="34861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10750" y="34861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43" name="TextBox 42"/>
          <p:cNvSpPr txBox="1"/>
          <p:nvPr/>
        </p:nvSpPr>
        <p:spPr>
          <a:xfrm>
            <a:off x="10896600" y="33528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44" name="Rectangle 43"/>
          <p:cNvSpPr/>
          <p:nvPr/>
        </p:nvSpPr>
        <p:spPr>
          <a:xfrm>
            <a:off x="10896600" y="34861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896600" y="34861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46" name="TextBox 45"/>
          <p:cNvSpPr txBox="1"/>
          <p:nvPr/>
        </p:nvSpPr>
        <p:spPr>
          <a:xfrm>
            <a:off x="9810750" y="39243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47" name="Rectangle 46"/>
          <p:cNvSpPr/>
          <p:nvPr/>
        </p:nvSpPr>
        <p:spPr>
          <a:xfrm>
            <a:off x="9810750" y="40576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10750" y="40576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49" name="TextBox 48"/>
          <p:cNvSpPr txBox="1"/>
          <p:nvPr/>
        </p:nvSpPr>
        <p:spPr>
          <a:xfrm>
            <a:off x="10896600" y="39243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50" name="Rectangle 49"/>
          <p:cNvSpPr/>
          <p:nvPr/>
        </p:nvSpPr>
        <p:spPr>
          <a:xfrm>
            <a:off x="10896600" y="40576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896600" y="40576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cxnSp>
        <p:nvCxnSpPr>
          <p:cNvPr id="52" name="Connector 51"/>
          <p:cNvCxnSpPr/>
          <p:nvPr/>
        </p:nvCxnSpPr>
        <p:spPr>
          <a:xfrm>
            <a:off x="142875" y="4857750"/>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42875" y="4914900"/>
            <a:ext cx="9496425" cy="266700"/>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42875" y="4914900"/>
            <a:ext cx="47625" cy="266700"/>
          </a:xfrm>
          <a:prstGeom prst="rect">
            <a:avLst/>
          </a:prstGeom>
          <a:solidFill>
            <a:srgbClr val="C0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76225" y="49149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Concentration Risk Limits Pricing and Sourcing Flexibility</a:t>
            </a:r>
          </a:p>
        </p:txBody>
      </p:sp>
      <p:sp>
        <p:nvSpPr>
          <p:cNvPr id="56" name="TextBox 55"/>
          <p:cNvSpPr txBox="1"/>
          <p:nvPr/>
        </p:nvSpPr>
        <p:spPr>
          <a:xfrm>
            <a:off x="161925" y="5238750"/>
            <a:ext cx="9439275" cy="64770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The market is concentrated: 'Canada' accounts for 77.0% of 2036 value and the leading product type line for 11.7% of its segment. Average realisation moves -4.0% a year, so cost movements cannot be passed on evenly across 2 countries. The practical constraint is the same in either case commercial terms set for the market as a whole underserve part of it, and margin is lost in the mismatch rather than in the headline growth rate.</a:t>
            </a:r>
          </a:p>
        </p:txBody>
      </p:sp>
      <p:sp>
        <p:nvSpPr>
          <p:cNvPr id="57" name="TextBox 56"/>
          <p:cNvSpPr txBox="1"/>
          <p:nvPr/>
        </p:nvSpPr>
        <p:spPr>
          <a:xfrm>
            <a:off x="9810750" y="49149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58" name="TextBox 57"/>
          <p:cNvSpPr txBox="1"/>
          <p:nvPr/>
        </p:nvSpPr>
        <p:spPr>
          <a:xfrm>
            <a:off x="9810750" y="51816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59" name="Rectangle 58"/>
          <p:cNvSpPr/>
          <p:nvPr/>
        </p:nvSpPr>
        <p:spPr>
          <a:xfrm>
            <a:off x="9810750" y="53149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810750" y="53149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61" name="TextBox 60"/>
          <p:cNvSpPr txBox="1"/>
          <p:nvPr/>
        </p:nvSpPr>
        <p:spPr>
          <a:xfrm>
            <a:off x="10896600" y="51816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62" name="Rectangle 61"/>
          <p:cNvSpPr/>
          <p:nvPr/>
        </p:nvSpPr>
        <p:spPr>
          <a:xfrm>
            <a:off x="10896600" y="53149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896600" y="53149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64" name="TextBox 63"/>
          <p:cNvSpPr txBox="1"/>
          <p:nvPr/>
        </p:nvSpPr>
        <p:spPr>
          <a:xfrm>
            <a:off x="9810750" y="57531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65" name="Rectangle 64"/>
          <p:cNvSpPr/>
          <p:nvPr/>
        </p:nvSpPr>
        <p:spPr>
          <a:xfrm>
            <a:off x="9810750" y="58864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810750" y="58864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67" name="TextBox 66"/>
          <p:cNvSpPr txBox="1"/>
          <p:nvPr/>
        </p:nvSpPr>
        <p:spPr>
          <a:xfrm>
            <a:off x="10896600" y="57531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68" name="Rectangle 67"/>
          <p:cNvSpPr/>
          <p:nvPr/>
        </p:nvSpPr>
        <p:spPr>
          <a:xfrm>
            <a:off x="10896600" y="58864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896600" y="58864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70" name="Rectangle 6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72" name="Rounded Rectangle 7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73" name="Rounded Rectangle 7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74" name="Rounded Rectangle 7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Market Opportunities</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76300"/>
            <a:ext cx="2038350" cy="266700"/>
          </a:xfrm>
          <a:prstGeom prst="roundRect">
            <a:avLst>
              <a:gd name="adj" fmla="val 1869"/>
            </a:avLst>
          </a:prstGeom>
          <a:solidFill>
            <a:srgbClr val="ECEFF1"/>
          </a:solidFill>
          <a:ln w="12700">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2875" y="876300"/>
            <a:ext cx="2038350" cy="266700"/>
          </a:xfrm>
          <a:prstGeom prst="rect">
            <a:avLst/>
          </a:prstGeom>
          <a:noFill/>
        </p:spPr>
        <p:txBody>
          <a:bodyPr wrap="square" lIns="28575" rIns="28575" tIns="9525" bIns="9525" anchor="ctr">
            <a:spAutoFit/>
          </a:bodyPr>
          <a:lstStyle/>
          <a:p>
            <a:pPr algn="ctr"/>
            <a:r>
              <a:rPr sz="1050" b="1">
                <a:solidFill>
                  <a:srgbClr val="8A9096"/>
                </a:solidFill>
                <a:latin typeface="Calibri"/>
              </a:rPr>
              <a:t>Market Drivers</a:t>
            </a:r>
          </a:p>
        </p:txBody>
      </p:sp>
      <p:sp>
        <p:nvSpPr>
          <p:cNvPr id="13" name="Rounded Rectangle 12"/>
          <p:cNvSpPr/>
          <p:nvPr/>
        </p:nvSpPr>
        <p:spPr>
          <a:xfrm>
            <a:off x="2266950" y="876300"/>
            <a:ext cx="2038350" cy="266700"/>
          </a:xfrm>
          <a:prstGeom prst="roundRect">
            <a:avLst>
              <a:gd name="adj" fmla="val 1869"/>
            </a:avLst>
          </a:prstGeom>
          <a:solidFill>
            <a:srgbClr val="ECEFF1"/>
          </a:solidFill>
          <a:ln w="12700">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66950" y="876300"/>
            <a:ext cx="2038350" cy="266700"/>
          </a:xfrm>
          <a:prstGeom prst="rect">
            <a:avLst/>
          </a:prstGeom>
          <a:noFill/>
        </p:spPr>
        <p:txBody>
          <a:bodyPr wrap="square" lIns="28575" rIns="28575" tIns="9525" bIns="9525" anchor="ctr">
            <a:spAutoFit/>
          </a:bodyPr>
          <a:lstStyle/>
          <a:p>
            <a:pPr algn="ctr"/>
            <a:r>
              <a:rPr sz="1050" b="1">
                <a:solidFill>
                  <a:srgbClr val="8A9096"/>
                </a:solidFill>
                <a:latin typeface="Calibri"/>
              </a:rPr>
              <a:t>Market Restraints</a:t>
            </a:r>
          </a:p>
        </p:txBody>
      </p:sp>
      <p:sp>
        <p:nvSpPr>
          <p:cNvPr id="15" name="Rounded Rectangle 14"/>
          <p:cNvSpPr/>
          <p:nvPr/>
        </p:nvSpPr>
        <p:spPr>
          <a:xfrm>
            <a:off x="4391025" y="876300"/>
            <a:ext cx="2038350" cy="266700"/>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1025" y="876300"/>
            <a:ext cx="2038350" cy="266700"/>
          </a:xfrm>
          <a:prstGeom prst="rect">
            <a:avLst/>
          </a:prstGeom>
          <a:noFill/>
        </p:spPr>
        <p:txBody>
          <a:bodyPr wrap="square" lIns="28575" rIns="28575" tIns="9525" bIns="9525" anchor="ctr">
            <a:spAutoFit/>
          </a:bodyPr>
          <a:lstStyle/>
          <a:p>
            <a:pPr algn="ctr"/>
            <a:r>
              <a:rPr sz="1050" b="1">
                <a:solidFill>
                  <a:srgbClr val="FFFFFF"/>
                </a:solidFill>
                <a:latin typeface="Calibri"/>
              </a:rPr>
              <a:t>Market Opportunities</a:t>
            </a:r>
          </a:p>
        </p:txBody>
      </p:sp>
      <p:sp>
        <p:nvSpPr>
          <p:cNvPr id="17" name="Rectangle 16"/>
          <p:cNvSpPr/>
          <p:nvPr/>
        </p:nvSpPr>
        <p:spPr>
          <a:xfrm>
            <a:off x="142875" y="1257300"/>
            <a:ext cx="9496425" cy="266700"/>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2875" y="1257300"/>
            <a:ext cx="47625" cy="266700"/>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12573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Canada Carries the Largest Absolute Opportunity</a:t>
            </a:r>
          </a:p>
        </p:txBody>
      </p:sp>
      <p:sp>
        <p:nvSpPr>
          <p:cNvPr id="20" name="TextBox 19"/>
          <p:cNvSpPr txBox="1"/>
          <p:nvPr/>
        </p:nvSpPr>
        <p:spPr>
          <a:xfrm>
            <a:off x="161925" y="1581150"/>
            <a:ext cx="9439275" cy="64770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'Canada' adds 1,994 US$ Mn between 2026 and 2036 the single largest absolute increment of any geography in the dataset. Capturing it is a question of scale execution rather than market creation: demand already exists and grows at 8.5% at the market level. Prioritising supply, channel coverage and service levels there converts the largest share of the 2,500 US$ Mn the whole market adds over the forecast period.</a:t>
            </a:r>
          </a:p>
        </p:txBody>
      </p:sp>
      <p:sp>
        <p:nvSpPr>
          <p:cNvPr id="21" name="TextBox 20"/>
          <p:cNvSpPr txBox="1"/>
          <p:nvPr/>
        </p:nvSpPr>
        <p:spPr>
          <a:xfrm>
            <a:off x="9810750" y="12573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22" name="TextBox 21"/>
          <p:cNvSpPr txBox="1"/>
          <p:nvPr/>
        </p:nvSpPr>
        <p:spPr>
          <a:xfrm>
            <a:off x="9810750" y="15240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23" name="Rectangle 22"/>
          <p:cNvSpPr/>
          <p:nvPr/>
        </p:nvSpPr>
        <p:spPr>
          <a:xfrm>
            <a:off x="9810750" y="16573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16573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25" name="TextBox 24"/>
          <p:cNvSpPr txBox="1"/>
          <p:nvPr/>
        </p:nvSpPr>
        <p:spPr>
          <a:xfrm>
            <a:off x="10896600" y="15240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26" name="Rectangle 25"/>
          <p:cNvSpPr/>
          <p:nvPr/>
        </p:nvSpPr>
        <p:spPr>
          <a:xfrm>
            <a:off x="10896600" y="16573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16573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28" name="TextBox 27"/>
          <p:cNvSpPr txBox="1"/>
          <p:nvPr/>
        </p:nvSpPr>
        <p:spPr>
          <a:xfrm>
            <a:off x="9810750" y="20955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29" name="Rectangle 28"/>
          <p:cNvSpPr/>
          <p:nvPr/>
        </p:nvSpPr>
        <p:spPr>
          <a:xfrm>
            <a:off x="9810750" y="22288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10750" y="22288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31" name="TextBox 30"/>
          <p:cNvSpPr txBox="1"/>
          <p:nvPr/>
        </p:nvSpPr>
        <p:spPr>
          <a:xfrm>
            <a:off x="10896600" y="20955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32" name="Rectangle 31"/>
          <p:cNvSpPr/>
          <p:nvPr/>
        </p:nvSpPr>
        <p:spPr>
          <a:xfrm>
            <a:off x="10896600" y="22288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896600" y="22288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cxnSp>
        <p:nvCxnSpPr>
          <p:cNvPr id="34" name="Connector 33"/>
          <p:cNvCxnSpPr/>
          <p:nvPr/>
        </p:nvCxnSpPr>
        <p:spPr>
          <a:xfrm>
            <a:off x="142875" y="3028950"/>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42875" y="3086100"/>
            <a:ext cx="9496425" cy="266700"/>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42875" y="3086100"/>
            <a:ext cx="47625" cy="266700"/>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6225" y="30861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Canada Offers Under-penetrated, Above-pace Headroom</a:t>
            </a:r>
          </a:p>
        </p:txBody>
      </p:sp>
      <p:sp>
        <p:nvSpPr>
          <p:cNvPr id="38" name="TextBox 37"/>
          <p:cNvSpPr txBox="1"/>
          <p:nvPr/>
        </p:nvSpPr>
        <p:spPr>
          <a:xfrm>
            <a:off x="161925" y="3409950"/>
            <a:ext cx="9439275" cy="64770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'Canada' compounds at 9.0% CAGR from a below-median base one of 1 geographies in the dataset combining above-median growth with below-median size. That profile is where share is cheapest to buy: competitive intensity is lower than in the 77.0%-share leaders, while growth runs +50 BPS ahead of the market. Early distribution and reference accounts established here compound through 2036.</a:t>
            </a:r>
          </a:p>
        </p:txBody>
      </p:sp>
      <p:sp>
        <p:nvSpPr>
          <p:cNvPr id="39" name="TextBox 38"/>
          <p:cNvSpPr txBox="1"/>
          <p:nvPr/>
        </p:nvSpPr>
        <p:spPr>
          <a:xfrm>
            <a:off x="9810750" y="30861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40" name="TextBox 39"/>
          <p:cNvSpPr txBox="1"/>
          <p:nvPr/>
        </p:nvSpPr>
        <p:spPr>
          <a:xfrm>
            <a:off x="9810750" y="33528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41" name="Rectangle 40"/>
          <p:cNvSpPr/>
          <p:nvPr/>
        </p:nvSpPr>
        <p:spPr>
          <a:xfrm>
            <a:off x="9810750" y="34861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10750" y="34861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43" name="TextBox 42"/>
          <p:cNvSpPr txBox="1"/>
          <p:nvPr/>
        </p:nvSpPr>
        <p:spPr>
          <a:xfrm>
            <a:off x="10896600" y="33528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44" name="Rectangle 43"/>
          <p:cNvSpPr/>
          <p:nvPr/>
        </p:nvSpPr>
        <p:spPr>
          <a:xfrm>
            <a:off x="10896600" y="34861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896600" y="34861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46" name="TextBox 45"/>
          <p:cNvSpPr txBox="1"/>
          <p:nvPr/>
        </p:nvSpPr>
        <p:spPr>
          <a:xfrm>
            <a:off x="9810750" y="39243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47" name="Rectangle 46"/>
          <p:cNvSpPr/>
          <p:nvPr/>
        </p:nvSpPr>
        <p:spPr>
          <a:xfrm>
            <a:off x="9810750" y="40576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10750" y="40576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49" name="TextBox 48"/>
          <p:cNvSpPr txBox="1"/>
          <p:nvPr/>
        </p:nvSpPr>
        <p:spPr>
          <a:xfrm>
            <a:off x="10896600" y="39243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50" name="Rectangle 49"/>
          <p:cNvSpPr/>
          <p:nvPr/>
        </p:nvSpPr>
        <p:spPr>
          <a:xfrm>
            <a:off x="10896600" y="40576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896600" y="40576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cxnSp>
        <p:nvCxnSpPr>
          <p:cNvPr id="52" name="Connector 51"/>
          <p:cNvCxnSpPr/>
          <p:nvPr/>
        </p:nvCxnSpPr>
        <p:spPr>
          <a:xfrm>
            <a:off x="142875" y="4857750"/>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42875" y="4914900"/>
            <a:ext cx="9496425" cy="266700"/>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42875" y="4914900"/>
            <a:ext cx="47625" cy="266700"/>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76225" y="49149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Gastroenterology Opens the Fastest Route to Market</a:t>
            </a:r>
          </a:p>
        </p:txBody>
      </p:sp>
      <p:sp>
        <p:nvSpPr>
          <p:cNvPr id="56" name="TextBox 55"/>
          <p:cNvSpPr txBox="1"/>
          <p:nvPr/>
        </p:nvSpPr>
        <p:spPr>
          <a:xfrm>
            <a:off x="161925" y="5238750"/>
            <a:ext cx="9439275" cy="64770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'Gastroenterology' grows at 9.7% CAGR, the fastest of 4 therapeutic application routes, and adds 663.2 US$ Mn over the forecast period while 'Rheumatology' still carries 43.7% of demand today. Pairing the incumbent route for volume with the fastest route for growth and leading with 'Cyltezo' at 10.1% is the highest-yield combination the dataset supports.</a:t>
            </a:r>
          </a:p>
        </p:txBody>
      </p:sp>
      <p:sp>
        <p:nvSpPr>
          <p:cNvPr id="57" name="TextBox 56"/>
          <p:cNvSpPr txBox="1"/>
          <p:nvPr/>
        </p:nvSpPr>
        <p:spPr>
          <a:xfrm>
            <a:off x="9810750" y="49149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58" name="TextBox 57"/>
          <p:cNvSpPr txBox="1"/>
          <p:nvPr/>
        </p:nvSpPr>
        <p:spPr>
          <a:xfrm>
            <a:off x="9810750" y="51816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59" name="Rectangle 58"/>
          <p:cNvSpPr/>
          <p:nvPr/>
        </p:nvSpPr>
        <p:spPr>
          <a:xfrm>
            <a:off x="9810750" y="53149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810750" y="53149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61" name="TextBox 60"/>
          <p:cNvSpPr txBox="1"/>
          <p:nvPr/>
        </p:nvSpPr>
        <p:spPr>
          <a:xfrm>
            <a:off x="10896600" y="51816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62" name="Rectangle 61"/>
          <p:cNvSpPr/>
          <p:nvPr/>
        </p:nvSpPr>
        <p:spPr>
          <a:xfrm>
            <a:off x="10896600" y="53149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896600" y="53149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64" name="TextBox 63"/>
          <p:cNvSpPr txBox="1"/>
          <p:nvPr/>
        </p:nvSpPr>
        <p:spPr>
          <a:xfrm>
            <a:off x="9810750" y="57531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65" name="Rectangle 64"/>
          <p:cNvSpPr/>
          <p:nvPr/>
        </p:nvSpPr>
        <p:spPr>
          <a:xfrm>
            <a:off x="9810750" y="58864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810750" y="58864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67" name="TextBox 66"/>
          <p:cNvSpPr txBox="1"/>
          <p:nvPr/>
        </p:nvSpPr>
        <p:spPr>
          <a:xfrm>
            <a:off x="10896600" y="57531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68" name="Rectangle 67"/>
          <p:cNvSpPr/>
          <p:nvPr/>
        </p:nvSpPr>
        <p:spPr>
          <a:xfrm>
            <a:off x="10896600" y="58864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896600" y="58864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70" name="Rectangle 6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72" name="Rounded Rectangle 7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73" name="Rounded Rectangle 7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74" name="Rounded Rectangle 7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North America Humira Biosimilars Market Recent Developments &amp; Milestones</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ectangle 10"/>
          <p:cNvSpPr/>
          <p:nvPr/>
        </p:nvSpPr>
        <p:spPr>
          <a:xfrm>
            <a:off x="142875" y="876300"/>
            <a:ext cx="11906250" cy="3048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2875" y="876300"/>
            <a:ext cx="1428750" cy="304800"/>
          </a:xfrm>
          <a:prstGeom prst="rect">
            <a:avLst/>
          </a:prstGeom>
          <a:noFill/>
        </p:spPr>
        <p:txBody>
          <a:bodyPr wrap="square" lIns="28575" rIns="28575" tIns="9525" bIns="9525" anchor="ctr">
            <a:spAutoFit/>
          </a:bodyPr>
          <a:lstStyle/>
          <a:p>
            <a:pPr algn="ctr"/>
            <a:r>
              <a:rPr sz="1150" b="1">
                <a:solidFill>
                  <a:srgbClr val="FFFFFF"/>
                </a:solidFill>
                <a:latin typeface="Calibri"/>
              </a:rPr>
              <a:t>Year</a:t>
            </a:r>
          </a:p>
        </p:txBody>
      </p:sp>
      <p:sp>
        <p:nvSpPr>
          <p:cNvPr id="13" name="TextBox 12"/>
          <p:cNvSpPr txBox="1"/>
          <p:nvPr/>
        </p:nvSpPr>
        <p:spPr>
          <a:xfrm>
            <a:off x="1714500" y="876300"/>
            <a:ext cx="10239375" cy="304800"/>
          </a:xfrm>
          <a:prstGeom prst="rect">
            <a:avLst/>
          </a:prstGeom>
          <a:noFill/>
        </p:spPr>
        <p:txBody>
          <a:bodyPr wrap="square" lIns="28575" rIns="28575" tIns="9525" bIns="9525" anchor="ctr">
            <a:spAutoFit/>
          </a:bodyPr>
          <a:lstStyle/>
          <a:p>
            <a:pPr algn="ctr"/>
            <a:r>
              <a:rPr sz="1150" b="1">
                <a:solidFill>
                  <a:srgbClr val="FFFFFF"/>
                </a:solidFill>
                <a:latin typeface="Calibri"/>
              </a:rPr>
              <a:t>Recent Development</a:t>
            </a:r>
          </a:p>
        </p:txBody>
      </p:sp>
      <p:sp>
        <p:nvSpPr>
          <p:cNvPr id="14" name="Rectangle 13"/>
          <p:cNvSpPr/>
          <p:nvPr/>
        </p:nvSpPr>
        <p:spPr>
          <a:xfrm>
            <a:off x="142875" y="1181100"/>
            <a:ext cx="11906250" cy="1095375"/>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875" y="1181100"/>
            <a:ext cx="1428750" cy="1095375"/>
          </a:xfrm>
          <a:prstGeom prst="rect">
            <a:avLst/>
          </a:prstGeom>
          <a:noFill/>
        </p:spPr>
        <p:txBody>
          <a:bodyPr wrap="square" lIns="28575" rIns="28575" tIns="9525" bIns="9525" anchor="ctr">
            <a:spAutoFit/>
          </a:bodyPr>
          <a:lstStyle/>
          <a:p>
            <a:pPr algn="ctr"/>
            <a:r>
              <a:rPr sz="1250" b="1">
                <a:solidFill>
                  <a:srgbClr val="0B2E4A"/>
                </a:solidFill>
                <a:latin typeface="Calibri"/>
              </a:rPr>
              <a:t>2024</a:t>
            </a:r>
          </a:p>
        </p:txBody>
      </p:sp>
      <p:cxnSp>
        <p:nvCxnSpPr>
          <p:cNvPr id="16" name="Connector 15"/>
          <p:cNvCxnSpPr/>
          <p:nvPr/>
        </p:nvCxnSpPr>
        <p:spPr>
          <a:xfrm>
            <a:off x="1571625" y="1181100"/>
            <a:ext cx="0" cy="1095375"/>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714500" y="1509712"/>
            <a:ext cx="10210800" cy="438150"/>
          </a:xfrm>
          <a:prstGeom prst="rect">
            <a:avLst/>
          </a:prstGeom>
          <a:noFill/>
        </p:spPr>
        <p:txBody>
          <a:bodyPr wrap="square" lIns="28575" rIns="28575" tIns="9525" bIns="9525" anchor="ctr">
            <a:spAutoFit/>
          </a:bodyPr>
          <a:lstStyle/>
          <a:p>
            <a:pPr algn="l">
              <a:lnSpc>
                <a:spcPct val="115000"/>
              </a:lnSpc>
            </a:pPr>
            <a:r>
              <a:rPr sz="940" b="0">
                <a:solidFill>
                  <a:srgbClr val="2E2E2E"/>
                </a:solidFill>
                <a:latin typeface="Calibri"/>
              </a:rPr>
              <a:t>Strongest historical expansion on record: North America value rose +23.0% year on year to 1,405 US$ Mn, the steepest single-year move of the 2021–2025 period. Demand for 'Idacio' 11.7% of product type value by 2036 set the pace, and the 4 therapeutic application routes tracked here all carried volume through the year.</a:t>
            </a:r>
          </a:p>
        </p:txBody>
      </p:sp>
      <p:sp>
        <p:nvSpPr>
          <p:cNvPr id="18" name="Rectangle 17"/>
          <p:cNvSpPr/>
          <p:nvPr/>
        </p:nvSpPr>
        <p:spPr>
          <a:xfrm>
            <a:off x="142875" y="2276475"/>
            <a:ext cx="11906250" cy="1095375"/>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2875" y="2276475"/>
            <a:ext cx="1428750" cy="1095375"/>
          </a:xfrm>
          <a:prstGeom prst="rect">
            <a:avLst/>
          </a:prstGeom>
          <a:noFill/>
        </p:spPr>
        <p:txBody>
          <a:bodyPr wrap="square" lIns="28575" rIns="28575" tIns="9525" bIns="9525" anchor="ctr">
            <a:spAutoFit/>
          </a:bodyPr>
          <a:lstStyle/>
          <a:p>
            <a:pPr algn="ctr"/>
            <a:r>
              <a:rPr sz="1250" b="1">
                <a:solidFill>
                  <a:srgbClr val="0B2E4A"/>
                </a:solidFill>
                <a:latin typeface="Calibri"/>
              </a:rPr>
              <a:t>2026</a:t>
            </a:r>
          </a:p>
        </p:txBody>
      </p:sp>
      <p:cxnSp>
        <p:nvCxnSpPr>
          <p:cNvPr id="20" name="Connector 19"/>
          <p:cNvCxnSpPr/>
          <p:nvPr/>
        </p:nvCxnSpPr>
        <p:spPr>
          <a:xfrm>
            <a:off x="1571625" y="2276475"/>
            <a:ext cx="0" cy="1095375"/>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714500" y="2605088"/>
            <a:ext cx="10210800" cy="438150"/>
          </a:xfrm>
          <a:prstGeom prst="rect">
            <a:avLst/>
          </a:prstGeom>
          <a:noFill/>
        </p:spPr>
        <p:txBody>
          <a:bodyPr wrap="square" lIns="28575" rIns="28575" tIns="9525" bIns="9525" anchor="ctr">
            <a:spAutoFit/>
          </a:bodyPr>
          <a:lstStyle/>
          <a:p>
            <a:pPr algn="l">
              <a:lnSpc>
                <a:spcPct val="115000"/>
              </a:lnSpc>
            </a:pPr>
            <a:r>
              <a:rPr sz="940" b="0">
                <a:solidFill>
                  <a:srgbClr val="2E2E2E"/>
                </a:solidFill>
                <a:latin typeface="Calibri"/>
              </a:rPr>
              <a:t>Base year for the forecast: the north america market is estimated at 1,974 US$ Mn, having compounded at 18.7% across 2021–2025. 'Canada' holds 77.0% of value across 2 countries, and the forecast is built from 7 segment breakdowns covering 11 product type lines.</a:t>
            </a:r>
          </a:p>
        </p:txBody>
      </p:sp>
      <p:sp>
        <p:nvSpPr>
          <p:cNvPr id="22" name="Rectangle 21"/>
          <p:cNvSpPr/>
          <p:nvPr/>
        </p:nvSpPr>
        <p:spPr>
          <a:xfrm>
            <a:off x="142875" y="3371850"/>
            <a:ext cx="11906250" cy="1095375"/>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2875" y="3371850"/>
            <a:ext cx="1428750" cy="1095375"/>
          </a:xfrm>
          <a:prstGeom prst="rect">
            <a:avLst/>
          </a:prstGeom>
          <a:noFill/>
        </p:spPr>
        <p:txBody>
          <a:bodyPr wrap="square" lIns="28575" rIns="28575" tIns="9525" bIns="9525" anchor="ctr">
            <a:spAutoFit/>
          </a:bodyPr>
          <a:lstStyle/>
          <a:p>
            <a:pPr algn="ctr"/>
            <a:r>
              <a:rPr sz="1250" b="1">
                <a:solidFill>
                  <a:srgbClr val="0B2E4A"/>
                </a:solidFill>
                <a:latin typeface="Calibri"/>
              </a:rPr>
              <a:t>2030</a:t>
            </a:r>
          </a:p>
        </p:txBody>
      </p:sp>
      <p:cxnSp>
        <p:nvCxnSpPr>
          <p:cNvPr id="24" name="Connector 23"/>
          <p:cNvCxnSpPr/>
          <p:nvPr/>
        </p:nvCxnSpPr>
        <p:spPr>
          <a:xfrm>
            <a:off x="1571625" y="3371850"/>
            <a:ext cx="0" cy="1095375"/>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714500" y="3700462"/>
            <a:ext cx="10210800" cy="438150"/>
          </a:xfrm>
          <a:prstGeom prst="rect">
            <a:avLst/>
          </a:prstGeom>
          <a:noFill/>
        </p:spPr>
        <p:txBody>
          <a:bodyPr wrap="square" lIns="28575" rIns="28575" tIns="9525" bIns="9525" anchor="ctr">
            <a:spAutoFit/>
          </a:bodyPr>
          <a:lstStyle/>
          <a:p>
            <a:pPr algn="l">
              <a:lnSpc>
                <a:spcPct val="115000"/>
              </a:lnSpc>
            </a:pPr>
            <a:r>
              <a:rPr sz="940" b="0">
                <a:solidFill>
                  <a:srgbClr val="2E2E2E"/>
                </a:solidFill>
                <a:latin typeface="Calibri"/>
              </a:rPr>
              <a:t>The market passes 2,961 US$ Mn one and a half times the 2026 base reaching 3,079 US$ Mn. Growth by this point is led by 'Cyltezo' at 10.1% CAGR and by 'Canada' among countries at 9.0%, with 1 of 2 countries running at or above the market rate.</a:t>
            </a:r>
          </a:p>
        </p:txBody>
      </p:sp>
      <p:sp>
        <p:nvSpPr>
          <p:cNvPr id="26" name="Rectangle 25"/>
          <p:cNvSpPr/>
          <p:nvPr/>
        </p:nvSpPr>
        <p:spPr>
          <a:xfrm>
            <a:off x="142875" y="4467225"/>
            <a:ext cx="11906250" cy="1095375"/>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2875" y="4467225"/>
            <a:ext cx="1428750" cy="1095375"/>
          </a:xfrm>
          <a:prstGeom prst="rect">
            <a:avLst/>
          </a:prstGeom>
          <a:noFill/>
        </p:spPr>
        <p:txBody>
          <a:bodyPr wrap="square" lIns="28575" rIns="28575" tIns="9525" bIns="9525" anchor="ctr">
            <a:spAutoFit/>
          </a:bodyPr>
          <a:lstStyle/>
          <a:p>
            <a:pPr algn="ctr"/>
            <a:r>
              <a:rPr sz="1250" b="1">
                <a:solidFill>
                  <a:srgbClr val="0B2E4A"/>
                </a:solidFill>
                <a:latin typeface="Calibri"/>
              </a:rPr>
              <a:t>2031</a:t>
            </a:r>
          </a:p>
        </p:txBody>
      </p:sp>
      <p:cxnSp>
        <p:nvCxnSpPr>
          <p:cNvPr id="28" name="Connector 27"/>
          <p:cNvCxnSpPr/>
          <p:nvPr/>
        </p:nvCxnSpPr>
        <p:spPr>
          <a:xfrm>
            <a:off x="1571625" y="4467225"/>
            <a:ext cx="0" cy="1095375"/>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714500" y="4795838"/>
            <a:ext cx="10210800" cy="438150"/>
          </a:xfrm>
          <a:prstGeom prst="rect">
            <a:avLst/>
          </a:prstGeom>
          <a:noFill/>
        </p:spPr>
        <p:txBody>
          <a:bodyPr wrap="square" lIns="28575" rIns="28575" tIns="9525" bIns="9525" anchor="ctr">
            <a:spAutoFit/>
          </a:bodyPr>
          <a:lstStyle/>
          <a:p>
            <a:pPr algn="l">
              <a:lnSpc>
                <a:spcPct val="115000"/>
              </a:lnSpc>
            </a:pPr>
            <a:r>
              <a:rPr sz="940" b="0">
                <a:solidFill>
                  <a:srgbClr val="2E2E2E"/>
                </a:solidFill>
                <a:latin typeface="Calibri"/>
              </a:rPr>
              <a:t>Mid-horizon checkpoint: value reaches 3,334 US$ Mn, 1.69× the 2026 base. Average realisation stands at 387.43 US$/unit, and mix has moved +152 BPS toward 'Cyltezo' while 'Yusimry' gives up 177 BPS.</a:t>
            </a:r>
          </a:p>
        </p:txBody>
      </p:sp>
      <p:sp>
        <p:nvSpPr>
          <p:cNvPr id="30" name="Rectangle 29"/>
          <p:cNvSpPr/>
          <p:nvPr/>
        </p:nvSpPr>
        <p:spPr>
          <a:xfrm>
            <a:off x="142875" y="5562600"/>
            <a:ext cx="11906250" cy="1095375"/>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2875" y="5562600"/>
            <a:ext cx="1428750" cy="1095375"/>
          </a:xfrm>
          <a:prstGeom prst="rect">
            <a:avLst/>
          </a:prstGeom>
          <a:noFill/>
        </p:spPr>
        <p:txBody>
          <a:bodyPr wrap="square" lIns="28575" rIns="28575" tIns="9525" bIns="9525" anchor="ctr">
            <a:spAutoFit/>
          </a:bodyPr>
          <a:lstStyle/>
          <a:p>
            <a:pPr algn="ctr"/>
            <a:r>
              <a:rPr sz="1250" b="1">
                <a:solidFill>
                  <a:srgbClr val="0B2E4A"/>
                </a:solidFill>
                <a:latin typeface="Calibri"/>
              </a:rPr>
              <a:t>2036</a:t>
            </a:r>
          </a:p>
        </p:txBody>
      </p:sp>
      <p:cxnSp>
        <p:nvCxnSpPr>
          <p:cNvPr id="32" name="Connector 31"/>
          <p:cNvCxnSpPr/>
          <p:nvPr/>
        </p:nvCxnSpPr>
        <p:spPr>
          <a:xfrm>
            <a:off x="1571625" y="5562600"/>
            <a:ext cx="0" cy="1095375"/>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714500" y="5891212"/>
            <a:ext cx="10210800" cy="438150"/>
          </a:xfrm>
          <a:prstGeom prst="rect">
            <a:avLst/>
          </a:prstGeom>
          <a:noFill/>
        </p:spPr>
        <p:txBody>
          <a:bodyPr wrap="square" lIns="28575" rIns="28575" tIns="9525" bIns="9525" anchor="ctr">
            <a:spAutoFit/>
          </a:bodyPr>
          <a:lstStyle/>
          <a:p>
            <a:pPr algn="l">
              <a:lnSpc>
                <a:spcPct val="115000"/>
              </a:lnSpc>
            </a:pPr>
            <a:r>
              <a:rPr sz="940" b="0">
                <a:solidFill>
                  <a:srgbClr val="2E2E2E"/>
                </a:solidFill>
                <a:latin typeface="Calibri"/>
              </a:rPr>
              <a:t>Forecast outcome: the north america market reaches 4,475 US$ Mn, a 2.3× expansion on 2026 and 2,500 US$ Mn of incremental value at 8.5% CAGR. Volume compounds at 13.0% over the same window, leaving realisation -4.0% a year the gap between the two is the premiumisation the forecast assumes.</a:t>
            </a:r>
          </a:p>
        </p:txBody>
      </p:sp>
      <p:sp>
        <p:nvSpPr>
          <p:cNvPr id="34" name="Rectangle 3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6" name="Rounded Rectangle 3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7" name="Rounded Rectangle 3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8" name="Rounded Rectangle 3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Porter's Five Forces Analysis North America Humira Biosimilars Market</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TextBox 10"/>
          <p:cNvSpPr txBox="1"/>
          <p:nvPr/>
        </p:nvSpPr>
        <p:spPr>
          <a:xfrm>
            <a:off x="142875" y="838200"/>
            <a:ext cx="11906250" cy="323850"/>
          </a:xfrm>
          <a:prstGeom prst="rect">
            <a:avLst/>
          </a:prstGeom>
          <a:noFill/>
        </p:spPr>
        <p:txBody>
          <a:bodyPr wrap="square" lIns="28575" rIns="28575" tIns="9525" bIns="9525" anchor="ctr">
            <a:spAutoFit/>
          </a:bodyPr>
          <a:lstStyle/>
          <a:p>
            <a:pPr algn="l">
              <a:lnSpc>
                <a:spcPct val="115000"/>
              </a:lnSpc>
            </a:pPr>
            <a:r>
              <a:rPr sz="980" b="0">
                <a:solidFill>
                  <a:srgbClr val="6C7A89"/>
                </a:solidFill>
                <a:latin typeface="Calibri"/>
              </a:rPr>
              <a:t>Supplier power, buyer power, competitive intensity, substitution and entry barriers scored from the north america dataset 11 product type lines, 4 therapeutic application routes and 2 countries at 8.5% CAGR.</a:t>
            </a:r>
          </a:p>
        </p:txBody>
      </p:sp>
      <p:sp>
        <p:nvSpPr>
          <p:cNvPr id="12" name="Oval 11"/>
          <p:cNvSpPr/>
          <p:nvPr/>
        </p:nvSpPr>
        <p:spPr>
          <a:xfrm>
            <a:off x="771525" y="1419225"/>
            <a:ext cx="1123950" cy="1123950"/>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1771650"/>
            <a:ext cx="571500" cy="419100"/>
          </a:xfrm>
          <a:prstGeom prst="rect">
            <a:avLst/>
          </a:prstGeom>
          <a:noFill/>
        </p:spPr>
        <p:txBody>
          <a:bodyPr wrap="none" lIns="0" rIns="0" tIns="0" bIns="0" anchor="ctr">
            <a:spAutoFit/>
          </a:bodyPr>
          <a:lstStyle/>
          <a:p>
            <a:pPr algn="ctr"/>
            <a:r>
              <a:rPr sz="3400" b="1">
                <a:solidFill>
                  <a:srgbClr val="8A6A00"/>
                </a:solidFill>
                <a:latin typeface="Calibri"/>
              </a:rPr>
              <a:t>$</a:t>
            </a:r>
          </a:p>
        </p:txBody>
      </p:sp>
      <p:sp>
        <p:nvSpPr>
          <p:cNvPr id="14" name="TextBox 13"/>
          <p:cNvSpPr txBox="1"/>
          <p:nvPr/>
        </p:nvSpPr>
        <p:spPr>
          <a:xfrm>
            <a:off x="219075" y="2628900"/>
            <a:ext cx="2228850" cy="381000"/>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Suppliers</a:t>
            </a:r>
          </a:p>
        </p:txBody>
      </p:sp>
      <p:sp>
        <p:nvSpPr>
          <p:cNvPr id="15" name="TextBox 14"/>
          <p:cNvSpPr txBox="1"/>
          <p:nvPr/>
        </p:nvSpPr>
        <p:spPr>
          <a:xfrm>
            <a:off x="247650" y="3105150"/>
            <a:ext cx="2171700" cy="771525"/>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Assessed moderate to high. 'Canada' supplies 77.0% of 2036 value across 2 countries, concentrating upstream leverage.</a:t>
            </a:r>
          </a:p>
        </p:txBody>
      </p:sp>
      <p:sp>
        <p:nvSpPr>
          <p:cNvPr id="16" name="TextBox 15"/>
          <p:cNvSpPr txBox="1"/>
          <p:nvPr/>
        </p:nvSpPr>
        <p:spPr>
          <a:xfrm>
            <a:off x="247650" y="3971925"/>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Average realisation moves -4.0% a year (2026–2036), indicating limited pass-through.</a:t>
            </a:r>
          </a:p>
        </p:txBody>
      </p:sp>
      <p:sp>
        <p:nvSpPr>
          <p:cNvPr id="17" name="TextBox 16"/>
          <p:cNvSpPr txBox="1"/>
          <p:nvPr/>
        </p:nvSpPr>
        <p:spPr>
          <a:xfrm>
            <a:off x="247650" y="4657725"/>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Buyers can rebalance across 11 product type lines, which caps supplier leverage in commodity grades.</a:t>
            </a:r>
          </a:p>
        </p:txBody>
      </p:sp>
      <p:sp>
        <p:nvSpPr>
          <p:cNvPr id="18" name="Oval 17"/>
          <p:cNvSpPr/>
          <p:nvPr/>
        </p:nvSpPr>
        <p:spPr>
          <a:xfrm>
            <a:off x="3152775" y="1419225"/>
            <a:ext cx="1123950" cy="1123950"/>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3476625" y="1819275"/>
            <a:ext cx="152400" cy="219075"/>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609975" y="1895475"/>
            <a:ext cx="342900" cy="161925"/>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648075" y="2105025"/>
            <a:ext cx="76200" cy="76200"/>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829050" y="2105025"/>
            <a:ext cx="76200" cy="76200"/>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00325" y="2628900"/>
            <a:ext cx="2228850" cy="381000"/>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Buyers</a:t>
            </a:r>
          </a:p>
        </p:txBody>
      </p:sp>
      <p:sp>
        <p:nvSpPr>
          <p:cNvPr id="24" name="TextBox 23"/>
          <p:cNvSpPr txBox="1"/>
          <p:nvPr/>
        </p:nvSpPr>
        <p:spPr>
          <a:xfrm>
            <a:off x="2628900" y="3105150"/>
            <a:ext cx="2171700" cy="771525"/>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Assessed high. Demand routes through 4 therapeutic application channels led by 'Rheumatology' at 43.7%, giving large buyers scale.</a:t>
            </a:r>
          </a:p>
        </p:txBody>
      </p:sp>
      <p:sp>
        <p:nvSpPr>
          <p:cNvPr id="25" name="TextBox 24"/>
          <p:cNvSpPr txBox="1"/>
          <p:nvPr/>
        </p:nvSpPr>
        <p:spPr>
          <a:xfrm>
            <a:off x="2628900" y="3971925"/>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Price sensitivity tracks realisation moving -4.0% a year against volume growth of 13.0%.</a:t>
            </a:r>
          </a:p>
        </p:txBody>
      </p:sp>
      <p:sp>
        <p:nvSpPr>
          <p:cNvPr id="26" name="TextBox 25"/>
          <p:cNvSpPr txBox="1"/>
          <p:nvPr/>
        </p:nvSpPr>
        <p:spPr>
          <a:xfrm>
            <a:off x="2628900" y="4657725"/>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Switching is easiest where 11 comparable product type lines compete for the same demand.</a:t>
            </a:r>
          </a:p>
        </p:txBody>
      </p:sp>
      <p:sp>
        <p:nvSpPr>
          <p:cNvPr id="27" name="Oval 26"/>
          <p:cNvSpPr/>
          <p:nvPr/>
        </p:nvSpPr>
        <p:spPr>
          <a:xfrm>
            <a:off x="5534025" y="1419225"/>
            <a:ext cx="1123950" cy="1123950"/>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76925" y="1762125"/>
            <a:ext cx="438150" cy="438150"/>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943600" y="1828800"/>
            <a:ext cx="304800" cy="304800"/>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10275" y="1895475"/>
            <a:ext cx="171450" cy="171450"/>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062662" y="1947862"/>
            <a:ext cx="66675" cy="66675"/>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134100" y="1733550"/>
            <a:ext cx="209550" cy="209550"/>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6267450" y="1695450"/>
            <a:ext cx="114300" cy="114300"/>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81575" y="2628900"/>
            <a:ext cx="2228850" cy="381000"/>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Intensity of Competition</a:t>
            </a:r>
          </a:p>
        </p:txBody>
      </p:sp>
      <p:sp>
        <p:nvSpPr>
          <p:cNvPr id="35" name="TextBox 34"/>
          <p:cNvSpPr txBox="1"/>
          <p:nvPr/>
        </p:nvSpPr>
        <p:spPr>
          <a:xfrm>
            <a:off x="5010150" y="3105150"/>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Assessed high. 11 product type lines compete inside the segment; the leader holds 11.7%.</a:t>
            </a:r>
          </a:p>
        </p:txBody>
      </p:sp>
      <p:sp>
        <p:nvSpPr>
          <p:cNvPr id="36" name="TextBox 35"/>
          <p:cNvSpPr txBox="1"/>
          <p:nvPr/>
        </p:nvSpPr>
        <p:spPr>
          <a:xfrm>
            <a:off x="5010150" y="3790950"/>
            <a:ext cx="2171700" cy="4000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Growth is unevenly distributed 'Cyltezo' at 10.1% against 'Yusimry' at 6.3%.</a:t>
            </a:r>
          </a:p>
        </p:txBody>
      </p:sp>
      <p:sp>
        <p:nvSpPr>
          <p:cNvPr id="37" name="TextBox 36"/>
          <p:cNvSpPr txBox="1"/>
          <p:nvPr/>
        </p:nvSpPr>
        <p:spPr>
          <a:xfrm>
            <a:off x="5010150" y="4286250"/>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1 of 2 countries grow at or above the 8.5% market pace, keeping share contested.</a:t>
            </a:r>
          </a:p>
        </p:txBody>
      </p:sp>
      <p:sp>
        <p:nvSpPr>
          <p:cNvPr id="38" name="Oval 37"/>
          <p:cNvSpPr/>
          <p:nvPr/>
        </p:nvSpPr>
        <p:spPr>
          <a:xfrm>
            <a:off x="7915275" y="1419225"/>
            <a:ext cx="1123950" cy="1123950"/>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382000" y="1743075"/>
            <a:ext cx="190500" cy="190500"/>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248650" y="1990725"/>
            <a:ext cx="190500" cy="190500"/>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515350" y="1990725"/>
            <a:ext cx="190500" cy="190500"/>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62825" y="2628900"/>
            <a:ext cx="2228850" cy="381000"/>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Substitutes</a:t>
            </a:r>
          </a:p>
        </p:txBody>
      </p:sp>
      <p:sp>
        <p:nvSpPr>
          <p:cNvPr id="43" name="TextBox 42"/>
          <p:cNvSpPr txBox="1"/>
          <p:nvPr/>
        </p:nvSpPr>
        <p:spPr>
          <a:xfrm>
            <a:off x="7391400" y="3105150"/>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Assessed low. 'Yusimry' loses 177 BPS of share to 'Cyltezo' (+152 BPS) by 2036 substitution is visible inside the mix.</a:t>
            </a:r>
          </a:p>
        </p:txBody>
      </p:sp>
      <p:sp>
        <p:nvSpPr>
          <p:cNvPr id="44" name="TextBox 43"/>
          <p:cNvSpPr txBox="1"/>
          <p:nvPr/>
        </p:nvSpPr>
        <p:spPr>
          <a:xfrm>
            <a:off x="7391400" y="3790950"/>
            <a:ext cx="2171700" cy="4000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The slowest line grows at 6.3%, -220 BPS against the market.</a:t>
            </a:r>
          </a:p>
        </p:txBody>
      </p:sp>
      <p:sp>
        <p:nvSpPr>
          <p:cNvPr id="45" name="TextBox 44"/>
          <p:cNvSpPr txBox="1"/>
          <p:nvPr/>
        </p:nvSpPr>
        <p:spPr>
          <a:xfrm>
            <a:off x="7391400" y="4286250"/>
            <a:ext cx="2171700" cy="4000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Realisation moving -4.0% a year narrows the price gap substitutes must close.</a:t>
            </a:r>
          </a:p>
        </p:txBody>
      </p:sp>
      <p:sp>
        <p:nvSpPr>
          <p:cNvPr id="46" name="Oval 45"/>
          <p:cNvSpPr/>
          <p:nvPr/>
        </p:nvSpPr>
        <p:spPr>
          <a:xfrm>
            <a:off x="10296525" y="1419225"/>
            <a:ext cx="1123950" cy="1123950"/>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610850" y="1809750"/>
            <a:ext cx="114300" cy="11430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10563225" y="1952625"/>
            <a:ext cx="209550" cy="190500"/>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991850" y="1809750"/>
            <a:ext cx="114300" cy="11430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10944225" y="1952625"/>
            <a:ext cx="209550" cy="190500"/>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782300" y="1714500"/>
            <a:ext cx="152400" cy="15240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10715625" y="1895475"/>
            <a:ext cx="285750" cy="266700"/>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44075" y="2628900"/>
            <a:ext cx="2228850" cy="381000"/>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New Entrants</a:t>
            </a:r>
          </a:p>
        </p:txBody>
      </p:sp>
      <p:sp>
        <p:nvSpPr>
          <p:cNvPr id="54" name="TextBox 53"/>
          <p:cNvSpPr txBox="1"/>
          <p:nvPr/>
        </p:nvSpPr>
        <p:spPr>
          <a:xfrm>
            <a:off x="9772650" y="3105150"/>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Assessed moderate to high. The market grows at 8.5% CAGR and adds 2,500 US$ Mn by 2036, attracting entry.</a:t>
            </a:r>
          </a:p>
        </p:txBody>
      </p:sp>
      <p:sp>
        <p:nvSpPr>
          <p:cNvPr id="55" name="TextBox 54"/>
          <p:cNvSpPr txBox="1"/>
          <p:nvPr/>
        </p:nvSpPr>
        <p:spPr>
          <a:xfrm>
            <a:off x="9772650" y="3790950"/>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Demand spreads over 2 countries with no single one above 77.0%, so regional entry is feasible.</a:t>
            </a:r>
          </a:p>
        </p:txBody>
      </p:sp>
      <p:sp>
        <p:nvSpPr>
          <p:cNvPr id="56" name="TextBox 55"/>
          <p:cNvSpPr txBox="1"/>
          <p:nvPr/>
        </p:nvSpPr>
        <p:spPr>
          <a:xfrm>
            <a:off x="9772650" y="4476750"/>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Incumbent scale in 'Canada' and 'Idacio' (11.7% of segment) remains the principal barrier.</a:t>
            </a:r>
          </a:p>
        </p:txBody>
      </p:sp>
      <p:sp>
        <p:nvSpPr>
          <p:cNvPr id="57" name="Rectangle 5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59" name="Rounded Rectangle 58">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0" name="Rounded Rectangle 59">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1" name="Rounded Rectangle 60">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114550"/>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 Competitor</a:t>
            </a:r>
          </a:p>
        </p:txBody>
      </p:sp>
      <p:sp>
        <p:nvSpPr>
          <p:cNvPr id="7" name="TextBox 6"/>
          <p:cNvSpPr txBox="1"/>
          <p:nvPr/>
        </p:nvSpPr>
        <p:spPr>
          <a:xfrm>
            <a:off x="1219200" y="2362200"/>
            <a:ext cx="6667500" cy="371475"/>
          </a:xfrm>
          <a:prstGeom prst="rect">
            <a:avLst/>
          </a:prstGeom>
          <a:noFill/>
        </p:spPr>
        <p:txBody>
          <a:bodyPr wrap="square" lIns="0" rIns="19050" tIns="0" bIns="0" anchor="t">
            <a:spAutoFit/>
          </a:bodyPr>
          <a:lstStyle/>
          <a:p>
            <a:pPr algn="l">
              <a:lnSpc>
                <a:spcPct val="102000"/>
              </a:lnSpc>
            </a:pPr>
            <a:r>
              <a:rPr sz="2500" b="1">
                <a:solidFill>
                  <a:srgbClr val="0B2E4A"/>
                </a:solidFill>
                <a:latin typeface="Calibri"/>
              </a:rPr>
              <a:t>Market Share by Leading Players</a:t>
            </a:r>
          </a:p>
        </p:txBody>
      </p:sp>
      <p:sp>
        <p:nvSpPr>
          <p:cNvPr id="8" name="TextBox 7"/>
          <p:cNvSpPr txBox="1"/>
          <p:nvPr/>
        </p:nvSpPr>
        <p:spPr>
          <a:xfrm>
            <a:off x="1219200" y="2886075"/>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Industry Structure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Advice for Vendors &amp; Suppliers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Value Share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Share by Product Type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Share by Region</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24</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Industry Structure Landscape</a:t>
            </a:r>
          </a:p>
        </p:txBody>
      </p:sp>
      <p:sp>
        <p:nvSpPr>
          <p:cNvPr id="10" name="Rounded Rectangle 9"/>
          <p:cNvSpPr/>
          <p:nvPr/>
        </p:nvSpPr>
        <p:spPr>
          <a:xfrm>
            <a:off x="142875" y="904875"/>
            <a:ext cx="7543800" cy="5762625"/>
          </a:xfrm>
          <a:prstGeom prst="roundRect">
            <a:avLst>
              <a:gd name="adj" fmla="val 132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962025"/>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Industry Structure Market Size by Tier (US$ Mn)  2026</a:t>
            </a:r>
          </a:p>
        </p:txBody>
      </p:sp>
      <p:sp>
        <p:nvSpPr>
          <p:cNvPr id="12" name="Freeform 11"/>
          <p:cNvSpPr/>
          <p:nvPr/>
        </p:nvSpPr>
        <p:spPr>
          <a:xfrm>
            <a:off x="828675" y="1285875"/>
            <a:ext cx="6172200" cy="5248275"/>
          </a:xfrm>
          <a:custGeom>
            <a:avLst/>
            <a:gdLst/>
            <a:ahLst/>
            <a:cxnLst/>
            <a:rect l="l" t="t" r="r" b="b"/>
            <a:pathLst>
              <a:path w="648" h="551">
                <a:moveTo>
                  <a:pt x="648" y="0"/>
                </a:moveTo>
                <a:lnTo>
                  <a:pt x="648" y="27"/>
                </a:lnTo>
                <a:lnTo>
                  <a:pt x="648" y="83"/>
                </a:lnTo>
                <a:lnTo>
                  <a:pt x="583" y="138"/>
                </a:lnTo>
                <a:lnTo>
                  <a:pt x="583" y="193"/>
                </a:lnTo>
                <a:lnTo>
                  <a:pt x="519" y="248"/>
                </a:lnTo>
                <a:lnTo>
                  <a:pt x="519" y="303"/>
                </a:lnTo>
                <a:lnTo>
                  <a:pt x="467" y="358"/>
                </a:lnTo>
                <a:lnTo>
                  <a:pt x="467" y="413"/>
                </a:lnTo>
                <a:lnTo>
                  <a:pt x="421" y="468"/>
                </a:lnTo>
                <a:lnTo>
                  <a:pt x="421" y="524"/>
                </a:lnTo>
                <a:lnTo>
                  <a:pt x="421" y="551"/>
                </a:lnTo>
                <a:lnTo>
                  <a:pt x="227" y="551"/>
                </a:lnTo>
                <a:lnTo>
                  <a:pt x="227" y="524"/>
                </a:lnTo>
                <a:lnTo>
                  <a:pt x="227" y="468"/>
                </a:lnTo>
                <a:lnTo>
                  <a:pt x="181" y="413"/>
                </a:lnTo>
                <a:lnTo>
                  <a:pt x="181" y="358"/>
                </a:lnTo>
                <a:lnTo>
                  <a:pt x="129" y="303"/>
                </a:lnTo>
                <a:lnTo>
                  <a:pt x="129" y="248"/>
                </a:lnTo>
                <a:lnTo>
                  <a:pt x="65" y="193"/>
                </a:lnTo>
                <a:lnTo>
                  <a:pt x="65" y="138"/>
                </a:lnTo>
                <a:lnTo>
                  <a:pt x="0" y="83"/>
                </a:lnTo>
                <a:lnTo>
                  <a:pt x="0" y="27"/>
                </a:lnTo>
                <a:lnTo>
                  <a:pt x="0" y="0"/>
                </a:lnTo>
                <a:close/>
              </a:path>
            </a:pathLst>
          </a:custGeom>
          <a:solidFill>
            <a:srgbClr val="DC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6389" y="1632261"/>
            <a:ext cx="6176772" cy="356883"/>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6389" y="1903419"/>
            <a:ext cx="6176772" cy="17145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6389" y="1546536"/>
            <a:ext cx="6176772" cy="171450"/>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389" y="1222686"/>
            <a:ext cx="6176772" cy="304800"/>
          </a:xfrm>
          <a:prstGeom prst="rect">
            <a:avLst/>
          </a:prstGeom>
          <a:noFill/>
        </p:spPr>
        <p:txBody>
          <a:bodyPr wrap="square" lIns="28575" rIns="28575" tIns="9525" bIns="9525" anchor="b">
            <a:spAutoFit/>
          </a:bodyPr>
          <a:lstStyle/>
          <a:p>
            <a:pPr algn="ctr">
              <a:lnSpc>
                <a:spcPct val="100000"/>
              </a:lnSpc>
            </a:pPr>
            <a:r>
              <a:rPr sz="1050" b="1">
                <a:solidFill>
                  <a:srgbClr val="0B2E4A"/>
                </a:solidFill>
                <a:latin typeface="Calibri"/>
              </a:rPr>
              <a:t>Total Market</a:t>
            </a:r>
          </a:p>
          <a:p>
            <a:pPr algn="ctr">
              <a:lnSpc>
                <a:spcPct val="100000"/>
              </a:lnSpc>
            </a:pPr>
            <a:r>
              <a:rPr sz="950" b="0">
                <a:solidFill>
                  <a:srgbClr val="0B2E4A"/>
                </a:solidFill>
                <a:latin typeface="Calibri"/>
              </a:rPr>
              <a:t>~5,003 US$ Mn</a:t>
            </a:r>
          </a:p>
        </p:txBody>
      </p:sp>
      <p:sp>
        <p:nvSpPr>
          <p:cNvPr id="17" name="TextBox 16"/>
          <p:cNvSpPr txBox="1"/>
          <p:nvPr/>
        </p:nvSpPr>
        <p:spPr>
          <a:xfrm>
            <a:off x="826389" y="1632261"/>
            <a:ext cx="6176772" cy="356883"/>
          </a:xfrm>
          <a:prstGeom prst="rect">
            <a:avLst/>
          </a:prstGeom>
          <a:noFill/>
        </p:spPr>
        <p:txBody>
          <a:bodyPr wrap="square" lIns="28575" rIns="28575" tIns="9525" bIns="9525" anchor="ctr">
            <a:spAutoFit/>
          </a:bodyPr>
          <a:lstStyle/>
          <a:p>
            <a:pPr algn="ctr"/>
            <a:r>
              <a:rPr sz="950" b="1">
                <a:solidFill>
                  <a:srgbClr val="FFFFFF"/>
                </a:solidFill>
                <a:latin typeface="Calibri"/>
              </a:rPr>
              <a:t>100%</a:t>
            </a:r>
          </a:p>
        </p:txBody>
      </p:sp>
      <p:sp>
        <p:nvSpPr>
          <p:cNvPr id="18" name="Rectangle 17"/>
          <p:cNvSpPr/>
          <p:nvPr/>
        </p:nvSpPr>
        <p:spPr>
          <a:xfrm>
            <a:off x="1444066" y="2681916"/>
            <a:ext cx="4941418" cy="356883"/>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444066" y="2953074"/>
            <a:ext cx="4941418" cy="17145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444066" y="2596191"/>
            <a:ext cx="4941418" cy="171450"/>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6389" y="2272341"/>
            <a:ext cx="6176772" cy="304800"/>
          </a:xfrm>
          <a:prstGeom prst="rect">
            <a:avLst/>
          </a:prstGeom>
          <a:noFill/>
        </p:spPr>
        <p:txBody>
          <a:bodyPr wrap="square" lIns="28575" rIns="28575" tIns="9525" bIns="9525" anchor="b">
            <a:spAutoFit/>
          </a:bodyPr>
          <a:lstStyle/>
          <a:p>
            <a:pPr algn="ctr">
              <a:lnSpc>
                <a:spcPct val="100000"/>
              </a:lnSpc>
            </a:pPr>
            <a:r>
              <a:rPr sz="1050" b="1">
                <a:solidFill>
                  <a:srgbClr val="0B2E4A"/>
                </a:solidFill>
                <a:latin typeface="Calibri"/>
              </a:rPr>
              <a:t>Tier 1</a:t>
            </a:r>
          </a:p>
          <a:p>
            <a:pPr algn="ctr">
              <a:lnSpc>
                <a:spcPct val="100000"/>
              </a:lnSpc>
            </a:pPr>
            <a:r>
              <a:rPr sz="950" b="0">
                <a:solidFill>
                  <a:srgbClr val="0B2E4A"/>
                </a:solidFill>
                <a:latin typeface="Calibri"/>
              </a:rPr>
              <a:t>~2,602 US$ Mn</a:t>
            </a:r>
          </a:p>
        </p:txBody>
      </p:sp>
      <p:sp>
        <p:nvSpPr>
          <p:cNvPr id="22" name="TextBox 21"/>
          <p:cNvSpPr txBox="1"/>
          <p:nvPr/>
        </p:nvSpPr>
        <p:spPr>
          <a:xfrm>
            <a:off x="1444066" y="2681916"/>
            <a:ext cx="4941418" cy="356883"/>
          </a:xfrm>
          <a:prstGeom prst="rect">
            <a:avLst/>
          </a:prstGeom>
          <a:noFill/>
        </p:spPr>
        <p:txBody>
          <a:bodyPr wrap="square" lIns="28575" rIns="28575" tIns="9525" bIns="9525" anchor="ctr">
            <a:spAutoFit/>
          </a:bodyPr>
          <a:lstStyle/>
          <a:p>
            <a:pPr algn="ctr"/>
            <a:r>
              <a:rPr sz="950" b="1">
                <a:solidFill>
                  <a:srgbClr val="FFFFFF"/>
                </a:solidFill>
                <a:latin typeface="Calibri"/>
              </a:rPr>
              <a:t>~51-53%</a:t>
            </a:r>
          </a:p>
        </p:txBody>
      </p:sp>
      <p:sp>
        <p:nvSpPr>
          <p:cNvPr id="23" name="Rectangle 22"/>
          <p:cNvSpPr/>
          <p:nvPr/>
        </p:nvSpPr>
        <p:spPr>
          <a:xfrm>
            <a:off x="2061743" y="3731571"/>
            <a:ext cx="3706063" cy="356883"/>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061743" y="4002729"/>
            <a:ext cx="3706063" cy="17145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061743" y="3645846"/>
            <a:ext cx="3706063" cy="171450"/>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6389" y="3321996"/>
            <a:ext cx="6176772" cy="304800"/>
          </a:xfrm>
          <a:prstGeom prst="rect">
            <a:avLst/>
          </a:prstGeom>
          <a:noFill/>
        </p:spPr>
        <p:txBody>
          <a:bodyPr wrap="square" lIns="28575" rIns="28575" tIns="9525" bIns="9525" anchor="b">
            <a:spAutoFit/>
          </a:bodyPr>
          <a:lstStyle/>
          <a:p>
            <a:pPr algn="ctr">
              <a:lnSpc>
                <a:spcPct val="100000"/>
              </a:lnSpc>
            </a:pPr>
            <a:r>
              <a:rPr sz="1050" b="1">
                <a:solidFill>
                  <a:srgbClr val="0B2E4A"/>
                </a:solidFill>
                <a:latin typeface="Calibri"/>
              </a:rPr>
              <a:t>Tier 2</a:t>
            </a:r>
          </a:p>
          <a:p>
            <a:pPr algn="ctr">
              <a:lnSpc>
                <a:spcPct val="100000"/>
              </a:lnSpc>
            </a:pPr>
            <a:r>
              <a:rPr sz="950" b="0">
                <a:solidFill>
                  <a:srgbClr val="0B2E4A"/>
                </a:solidFill>
                <a:latin typeface="Calibri"/>
              </a:rPr>
              <a:t>~1,101 US$ Mn</a:t>
            </a:r>
          </a:p>
        </p:txBody>
      </p:sp>
      <p:sp>
        <p:nvSpPr>
          <p:cNvPr id="27" name="TextBox 26"/>
          <p:cNvSpPr txBox="1"/>
          <p:nvPr/>
        </p:nvSpPr>
        <p:spPr>
          <a:xfrm>
            <a:off x="2061743" y="3731571"/>
            <a:ext cx="3706063" cy="356883"/>
          </a:xfrm>
          <a:prstGeom prst="rect">
            <a:avLst/>
          </a:prstGeom>
          <a:noFill/>
        </p:spPr>
        <p:txBody>
          <a:bodyPr wrap="square" lIns="28575" rIns="28575" tIns="9525" bIns="9525" anchor="ctr">
            <a:spAutoFit/>
          </a:bodyPr>
          <a:lstStyle/>
          <a:p>
            <a:pPr algn="ctr"/>
            <a:r>
              <a:rPr sz="950" b="1">
                <a:solidFill>
                  <a:srgbClr val="FFFFFF"/>
                </a:solidFill>
                <a:latin typeface="Calibri"/>
              </a:rPr>
              <a:t>~21-23%</a:t>
            </a:r>
          </a:p>
        </p:txBody>
      </p:sp>
      <p:sp>
        <p:nvSpPr>
          <p:cNvPr id="28" name="Rectangle 27"/>
          <p:cNvSpPr/>
          <p:nvPr/>
        </p:nvSpPr>
        <p:spPr>
          <a:xfrm>
            <a:off x="2555885" y="4781226"/>
            <a:ext cx="2717780" cy="356883"/>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555885" y="5052384"/>
            <a:ext cx="2717780" cy="17145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555885" y="4695501"/>
            <a:ext cx="2717780" cy="171450"/>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6389" y="4371651"/>
            <a:ext cx="6176772" cy="304800"/>
          </a:xfrm>
          <a:prstGeom prst="rect">
            <a:avLst/>
          </a:prstGeom>
          <a:noFill/>
        </p:spPr>
        <p:txBody>
          <a:bodyPr wrap="square" lIns="28575" rIns="28575" tIns="9525" bIns="9525" anchor="b">
            <a:spAutoFit/>
          </a:bodyPr>
          <a:lstStyle/>
          <a:p>
            <a:pPr algn="ctr">
              <a:lnSpc>
                <a:spcPct val="100000"/>
              </a:lnSpc>
            </a:pPr>
            <a:r>
              <a:rPr sz="1050" b="1">
                <a:solidFill>
                  <a:srgbClr val="0B2E4A"/>
                </a:solidFill>
                <a:latin typeface="Calibri"/>
              </a:rPr>
              <a:t>Tier 3</a:t>
            </a:r>
          </a:p>
          <a:p>
            <a:pPr algn="ctr">
              <a:lnSpc>
                <a:spcPct val="100000"/>
              </a:lnSpc>
            </a:pPr>
            <a:r>
              <a:rPr sz="950" b="0">
                <a:solidFill>
                  <a:srgbClr val="0B2E4A"/>
                </a:solidFill>
                <a:latin typeface="Calibri"/>
              </a:rPr>
              <a:t>~500.3 US$ Mn</a:t>
            </a:r>
          </a:p>
        </p:txBody>
      </p:sp>
      <p:sp>
        <p:nvSpPr>
          <p:cNvPr id="32" name="TextBox 31"/>
          <p:cNvSpPr txBox="1"/>
          <p:nvPr/>
        </p:nvSpPr>
        <p:spPr>
          <a:xfrm>
            <a:off x="2555885" y="4781226"/>
            <a:ext cx="2717780" cy="356883"/>
          </a:xfrm>
          <a:prstGeom prst="rect">
            <a:avLst/>
          </a:prstGeom>
          <a:noFill/>
        </p:spPr>
        <p:txBody>
          <a:bodyPr wrap="square" lIns="28575" rIns="28575" tIns="9525" bIns="9525" anchor="ctr">
            <a:spAutoFit/>
          </a:bodyPr>
          <a:lstStyle/>
          <a:p>
            <a:pPr algn="ctr"/>
            <a:r>
              <a:rPr sz="950" b="1">
                <a:solidFill>
                  <a:srgbClr val="FFFFFF"/>
                </a:solidFill>
                <a:latin typeface="Calibri"/>
              </a:rPr>
              <a:t>~9-11%</a:t>
            </a:r>
          </a:p>
        </p:txBody>
      </p:sp>
      <p:sp>
        <p:nvSpPr>
          <p:cNvPr id="33" name="Rectangle 32"/>
          <p:cNvSpPr/>
          <p:nvPr/>
        </p:nvSpPr>
        <p:spPr>
          <a:xfrm>
            <a:off x="2988259" y="5830881"/>
            <a:ext cx="1853032" cy="356883"/>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988259" y="6102039"/>
            <a:ext cx="1853032" cy="17145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988259" y="5745156"/>
            <a:ext cx="1853032" cy="171450"/>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6389" y="5421306"/>
            <a:ext cx="6176772" cy="304800"/>
          </a:xfrm>
          <a:prstGeom prst="rect">
            <a:avLst/>
          </a:prstGeom>
          <a:noFill/>
        </p:spPr>
        <p:txBody>
          <a:bodyPr wrap="square" lIns="28575" rIns="28575" tIns="9525" bIns="9525" anchor="b">
            <a:spAutoFit/>
          </a:bodyPr>
          <a:lstStyle/>
          <a:p>
            <a:pPr algn="ctr">
              <a:lnSpc>
                <a:spcPct val="100000"/>
              </a:lnSpc>
            </a:pPr>
            <a:r>
              <a:rPr sz="1050" b="1">
                <a:solidFill>
                  <a:srgbClr val="0B2E4A"/>
                </a:solidFill>
                <a:latin typeface="Calibri"/>
              </a:rPr>
              <a:t>Others</a:t>
            </a:r>
          </a:p>
          <a:p>
            <a:pPr algn="ctr">
              <a:lnSpc>
                <a:spcPct val="100000"/>
              </a:lnSpc>
            </a:pPr>
            <a:r>
              <a:rPr sz="950" b="0">
                <a:solidFill>
                  <a:srgbClr val="0B2E4A"/>
                </a:solidFill>
                <a:latin typeface="Calibri"/>
              </a:rPr>
              <a:t>~800.5 US$ Mn</a:t>
            </a:r>
          </a:p>
        </p:txBody>
      </p:sp>
      <p:sp>
        <p:nvSpPr>
          <p:cNvPr id="37" name="TextBox 36"/>
          <p:cNvSpPr txBox="1"/>
          <p:nvPr/>
        </p:nvSpPr>
        <p:spPr>
          <a:xfrm>
            <a:off x="2988259" y="5830881"/>
            <a:ext cx="1853032" cy="356883"/>
          </a:xfrm>
          <a:prstGeom prst="rect">
            <a:avLst/>
          </a:prstGeom>
          <a:noFill/>
        </p:spPr>
        <p:txBody>
          <a:bodyPr wrap="square" lIns="28575" rIns="28575" tIns="9525" bIns="9525" anchor="ctr">
            <a:spAutoFit/>
          </a:bodyPr>
          <a:lstStyle/>
          <a:p>
            <a:pPr algn="ctr"/>
            <a:r>
              <a:rPr sz="950" b="1">
                <a:solidFill>
                  <a:srgbClr val="FFFFFF"/>
                </a:solidFill>
                <a:latin typeface="Calibri"/>
              </a:rPr>
              <a:t>~15-17%</a:t>
            </a:r>
          </a:p>
        </p:txBody>
      </p:sp>
      <p:sp>
        <p:nvSpPr>
          <p:cNvPr id="38" name="Rounded Rectangle 37"/>
          <p:cNvSpPr/>
          <p:nvPr/>
        </p:nvSpPr>
        <p:spPr>
          <a:xfrm>
            <a:off x="7800975" y="904875"/>
            <a:ext cx="4248150" cy="2857500"/>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34325" y="990600"/>
            <a:ext cx="3981450" cy="209550"/>
          </a:xfrm>
          <a:prstGeom prst="rect">
            <a:avLst/>
          </a:prstGeom>
          <a:noFill/>
        </p:spPr>
        <p:txBody>
          <a:bodyPr wrap="square" lIns="0" rIns="19050" tIns="9525" bIns="9525">
            <a:spAutoFit/>
          </a:bodyPr>
          <a:lstStyle/>
          <a:p>
            <a:pPr algn="l"/>
            <a:r>
              <a:rPr sz="1300" b="1">
                <a:solidFill>
                  <a:srgbClr val="0B2E4A"/>
                </a:solidFill>
                <a:latin typeface="Calibri"/>
              </a:rPr>
              <a:t>Tier Composition</a:t>
            </a:r>
          </a:p>
        </p:txBody>
      </p:sp>
      <p:sp>
        <p:nvSpPr>
          <p:cNvPr id="40" name="Rectangle 39"/>
          <p:cNvSpPr/>
          <p:nvPr/>
        </p:nvSpPr>
        <p:spPr>
          <a:xfrm>
            <a:off x="7934325" y="1228725"/>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34325" y="1314450"/>
            <a:ext cx="3981450" cy="23717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Tier 1 (~51-53%): Company A, Company B, Company C, Company D.</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Tier 2 (~21-23%): Company E, Company F.</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Tier 3 (~9-11%): Company G, Company H.</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Others (~15-17%): a long tail of regional and niche suppliers.</a:t>
            </a:r>
          </a:p>
        </p:txBody>
      </p:sp>
      <p:sp>
        <p:nvSpPr>
          <p:cNvPr id="42" name="Rounded Rectangle 41"/>
          <p:cNvSpPr/>
          <p:nvPr/>
        </p:nvSpPr>
        <p:spPr>
          <a:xfrm>
            <a:off x="7800975" y="3876675"/>
            <a:ext cx="4248150" cy="2790825"/>
          </a:xfrm>
          <a:prstGeom prst="roundRect">
            <a:avLst>
              <a:gd name="adj" fmla="val 27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34325" y="3962400"/>
            <a:ext cx="3981450" cy="209550"/>
          </a:xfrm>
          <a:prstGeom prst="rect">
            <a:avLst/>
          </a:prstGeom>
          <a:noFill/>
        </p:spPr>
        <p:txBody>
          <a:bodyPr wrap="square" lIns="0" rIns="19050" tIns="9525" bIns="9525">
            <a:spAutoFit/>
          </a:bodyPr>
          <a:lstStyle/>
          <a:p>
            <a:pPr algn="l"/>
            <a:r>
              <a:rPr sz="1300" b="1">
                <a:solidFill>
                  <a:srgbClr val="0B2E4A"/>
                </a:solidFill>
                <a:latin typeface="Calibri"/>
              </a:rPr>
              <a:t>How the Industry Is Structured</a:t>
            </a:r>
          </a:p>
        </p:txBody>
      </p:sp>
      <p:sp>
        <p:nvSpPr>
          <p:cNvPr id="44" name="Rectangle 43"/>
          <p:cNvSpPr/>
          <p:nvPr/>
        </p:nvSpPr>
        <p:spPr>
          <a:xfrm>
            <a:off x="7934325" y="4200525"/>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34325" y="4286250"/>
            <a:ext cx="3981450" cy="2305050"/>
          </a:xfrm>
          <a:prstGeom prst="rect">
            <a:avLst/>
          </a:prstGeom>
          <a:noFill/>
        </p:spPr>
        <p:txBody>
          <a:bodyPr wrap="square" lIns="0" rIns="19050" tIns="9525" bIns="9525">
            <a:spAutoFit/>
          </a:bodyPr>
          <a:lstStyle/>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The Humira Biosimilars Market is structured across three competitive tiers plus a long tail, on a ~5,003 US$ Mn base (2026).</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Tier 1 (~51-53%) top / global players sets pricing and innovation benchmarks and holds the largest single block of value.</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Tier 2 (~21-23%) competes on niche strengths and regional depth; Tier 3 (~9-11%) is emerging and local.</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Tier sizing is derived from market modelling and expert validation; totals may differ from headline figures due to rounding.</a:t>
            </a:r>
          </a:p>
        </p:txBody>
      </p:sp>
      <p:sp>
        <p:nvSpPr>
          <p:cNvPr id="46" name="Rectangle 4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48" name="Rounded Rectangle 47">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49" name="Rounded Rectangle 48">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0" name="Rounded Rectangle 49">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Advice for Market Vendors / Suppliers</a:t>
            </a:r>
          </a:p>
        </p:txBody>
      </p:sp>
      <p:sp>
        <p:nvSpPr>
          <p:cNvPr id="10" name="Rounded Rectangle 9"/>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Strategic advice for vendors and suppliers where to compete, how to price, and which risks to manage across the Humira Biosimilars Market.</a:t>
            </a:r>
          </a:p>
        </p:txBody>
      </p:sp>
      <p:sp>
        <p:nvSpPr>
          <p:cNvPr id="11" name="Rounded Rectangle 10"/>
          <p:cNvSpPr/>
          <p:nvPr/>
        </p:nvSpPr>
        <p:spPr>
          <a:xfrm>
            <a:off x="142875" y="1219200"/>
            <a:ext cx="5857875" cy="2714625"/>
          </a:xfrm>
          <a:prstGeom prst="roundRect">
            <a:avLst>
              <a:gd name="adj" fmla="val 28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1304925"/>
            <a:ext cx="5591175" cy="209550"/>
          </a:xfrm>
          <a:prstGeom prst="rect">
            <a:avLst/>
          </a:prstGeom>
          <a:noFill/>
        </p:spPr>
        <p:txBody>
          <a:bodyPr wrap="square" lIns="0" rIns="19050" tIns="9525" bIns="9525">
            <a:spAutoFit/>
          </a:bodyPr>
          <a:lstStyle/>
          <a:p>
            <a:pPr algn="l"/>
            <a:r>
              <a:rPr sz="1300" b="1">
                <a:solidFill>
                  <a:srgbClr val="0B2E4A"/>
                </a:solidFill>
                <a:latin typeface="Calibri"/>
              </a:rPr>
              <a:t>Pricing &amp; Margin Strategy</a:t>
            </a:r>
          </a:p>
        </p:txBody>
      </p:sp>
      <p:sp>
        <p:nvSpPr>
          <p:cNvPr id="13" name="Rectangle 12"/>
          <p:cNvSpPr/>
          <p:nvPr/>
        </p:nvSpPr>
        <p:spPr>
          <a:xfrm>
            <a:off x="276225" y="1543050"/>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628775"/>
            <a:ext cx="5591175" cy="22288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Hold price discipline: with the top three players at ~41% share, avoid value-destructive discounting compete on mix and service, not headline price.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Premiumise toward higher-value formulations (e.g. 'Simlandi') to lift blended ASP and defend margin as input costs move.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Set transparent, corridor-based regional pricing to limit grey-market arbitrage.</a:t>
            </a:r>
          </a:p>
        </p:txBody>
      </p:sp>
      <p:sp>
        <p:nvSpPr>
          <p:cNvPr id="15" name="Rounded Rectangle 14"/>
          <p:cNvSpPr/>
          <p:nvPr/>
        </p:nvSpPr>
        <p:spPr>
          <a:xfrm>
            <a:off x="6191250" y="1219200"/>
            <a:ext cx="5857875" cy="2714625"/>
          </a:xfrm>
          <a:prstGeom prst="roundRect">
            <a:avLst>
              <a:gd name="adj" fmla="val 28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4600" y="1304925"/>
            <a:ext cx="5591175" cy="209550"/>
          </a:xfrm>
          <a:prstGeom prst="rect">
            <a:avLst/>
          </a:prstGeom>
          <a:noFill/>
        </p:spPr>
        <p:txBody>
          <a:bodyPr wrap="square" lIns="0" rIns="19050" tIns="9525" bIns="9525">
            <a:spAutoFit/>
          </a:bodyPr>
          <a:lstStyle/>
          <a:p>
            <a:pPr algn="l"/>
            <a:r>
              <a:rPr sz="1300" b="1">
                <a:solidFill>
                  <a:srgbClr val="0B2E4A"/>
                </a:solidFill>
                <a:latin typeface="Calibri"/>
              </a:rPr>
              <a:t>Product &amp; Innovation</a:t>
            </a:r>
          </a:p>
        </p:txBody>
      </p:sp>
      <p:sp>
        <p:nvSpPr>
          <p:cNvPr id="17" name="Rectangle 16"/>
          <p:cNvSpPr/>
          <p:nvPr/>
        </p:nvSpPr>
        <p:spPr>
          <a:xfrm>
            <a:off x="6324600" y="1543050"/>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600" y="1628775"/>
            <a:ext cx="5591175" cy="22288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Prioritise R&amp;D in the fastest-growing formulations a differentiated portfolio is the clearest route to out-growing the ~8.0% market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Pursue certification and clinical validation to build switching costs and support premium positioning.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Localise formats and pack sizes to each channel and geography.</a:t>
            </a:r>
          </a:p>
        </p:txBody>
      </p:sp>
      <p:sp>
        <p:nvSpPr>
          <p:cNvPr id="19" name="Rounded Rectangle 18"/>
          <p:cNvSpPr/>
          <p:nvPr/>
        </p:nvSpPr>
        <p:spPr>
          <a:xfrm>
            <a:off x="142875" y="4029075"/>
            <a:ext cx="5857875" cy="2619375"/>
          </a:xfrm>
          <a:prstGeom prst="roundRect">
            <a:avLst>
              <a:gd name="adj" fmla="val 29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114800"/>
            <a:ext cx="5591175" cy="209550"/>
          </a:xfrm>
          <a:prstGeom prst="rect">
            <a:avLst/>
          </a:prstGeom>
          <a:noFill/>
        </p:spPr>
        <p:txBody>
          <a:bodyPr wrap="square" lIns="0" rIns="19050" tIns="9525" bIns="9525">
            <a:spAutoFit/>
          </a:bodyPr>
          <a:lstStyle/>
          <a:p>
            <a:pPr algn="l"/>
            <a:r>
              <a:rPr sz="1300" b="1">
                <a:solidFill>
                  <a:srgbClr val="0B2E4A"/>
                </a:solidFill>
                <a:latin typeface="Calibri"/>
              </a:rPr>
              <a:t>Geographic &amp; Channel Expansion</a:t>
            </a:r>
          </a:p>
        </p:txBody>
      </p:sp>
      <p:sp>
        <p:nvSpPr>
          <p:cNvPr id="21" name="Rectangle 20"/>
          <p:cNvSpPr/>
          <p:nvPr/>
        </p:nvSpPr>
        <p:spPr>
          <a:xfrm>
            <a:off x="276225" y="4352925"/>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438650"/>
            <a:ext cx="5591175" cy="213360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Build reliable distribution and logistics partnerships to convert demand into fulfilled volume.</a:t>
            </a:r>
          </a:p>
        </p:txBody>
      </p:sp>
      <p:sp>
        <p:nvSpPr>
          <p:cNvPr id="23" name="Rounded Rectangle 22"/>
          <p:cNvSpPr/>
          <p:nvPr/>
        </p:nvSpPr>
        <p:spPr>
          <a:xfrm>
            <a:off x="6191250" y="4029075"/>
            <a:ext cx="5857875" cy="2619375"/>
          </a:xfrm>
          <a:prstGeom prst="roundRect">
            <a:avLst>
              <a:gd name="adj" fmla="val 29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0" y="4114800"/>
            <a:ext cx="5591175" cy="209550"/>
          </a:xfrm>
          <a:prstGeom prst="rect">
            <a:avLst/>
          </a:prstGeom>
          <a:noFill/>
        </p:spPr>
        <p:txBody>
          <a:bodyPr wrap="square" lIns="0" rIns="19050" tIns="9525" bIns="9525">
            <a:spAutoFit/>
          </a:bodyPr>
          <a:lstStyle/>
          <a:p>
            <a:pPr algn="l"/>
            <a:r>
              <a:rPr sz="1300" b="1">
                <a:solidFill>
                  <a:srgbClr val="0B2E4A"/>
                </a:solidFill>
                <a:latin typeface="Calibri"/>
              </a:rPr>
              <a:t>Competitive &amp; Risk Positioning</a:t>
            </a:r>
          </a:p>
        </p:txBody>
      </p:sp>
      <p:sp>
        <p:nvSpPr>
          <p:cNvPr id="25" name="Rectangle 24"/>
          <p:cNvSpPr/>
          <p:nvPr/>
        </p:nvSpPr>
        <p:spPr>
          <a:xfrm>
            <a:off x="6324600" y="4352925"/>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4600" y="4438650"/>
            <a:ext cx="5591175" cy="213360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Benchmark relentlessly against 'Company A' (~16.4% share) match on service and lead on innovation to take share.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Diversify the customer base to cut dependence on a few large accounts and single-region exposure.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Stress-test for regulatory, currency and supply shocks; keep flexible capacity and dual sourcing.</a:t>
            </a:r>
          </a:p>
        </p:txBody>
      </p:sp>
      <p:sp>
        <p:nvSpPr>
          <p:cNvPr id="27" name="Rectangle 2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9" name="Rounded Rectangle 28">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0" name="Rounded Rectangle 29">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1" name="Rounded Rectangle 30">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Company Value Share (North America)</a:t>
            </a:r>
          </a:p>
        </p:txBody>
      </p:sp>
      <p:sp>
        <p:nvSpPr>
          <p:cNvPr id="10" name="Rounded Rectangle 9"/>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North America</a:t>
            </a:r>
          </a:p>
        </p:txBody>
      </p:sp>
      <p:sp>
        <p:nvSpPr>
          <p:cNvPr id="11" name="Rounded Rectangle 10"/>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Target market value share by key companies leadership, concentration and how the competitive mix shifts by region.</a:t>
            </a:r>
          </a:p>
        </p:txBody>
      </p:sp>
      <p:sp>
        <p:nvSpPr>
          <p:cNvPr id="12" name="Rounded Rectangle 11"/>
          <p:cNvSpPr/>
          <p:nvPr/>
        </p:nvSpPr>
        <p:spPr>
          <a:xfrm>
            <a:off x="142875" y="1219200"/>
            <a:ext cx="7543800" cy="5448300"/>
          </a:xfrm>
          <a:prstGeom prst="roundRect">
            <a:avLst>
              <a:gd name="adj" fmla="val 13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276350"/>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by Key Company (US$ Mn, 2026)</a:t>
            </a:r>
          </a:p>
        </p:txBody>
      </p:sp>
      <p:graphicFrame>
        <p:nvGraphicFramePr>
          <p:cNvPr id="14" name="Chart 13"/>
          <p:cNvGraphicFramePr>
            <a:graphicFrameLocks noGrp="1"/>
          </p:cNvGraphicFramePr>
          <p:nvPr/>
        </p:nvGraphicFramePr>
        <p:xfrm>
          <a:off x="238125" y="1504950"/>
          <a:ext cx="7353300" cy="5105400"/>
        </p:xfrm>
        <a:graphic>
          <a:graphicData uri="http://schemas.openxmlformats.org/drawingml/2006/chart">
            <c:chart xmlns:c="http://schemas.openxmlformats.org/drawingml/2006/chart" r:id="rId3"/>
          </a:graphicData>
        </a:graphic>
      </p:graphicFrame>
      <p:sp>
        <p:nvSpPr>
          <p:cNvPr id="15" name="TextBox 14"/>
          <p:cNvSpPr txBox="1"/>
          <p:nvPr/>
        </p:nvSpPr>
        <p:spPr>
          <a:xfrm>
            <a:off x="2049780" y="3857625"/>
            <a:ext cx="1524000" cy="400050"/>
          </a:xfrm>
          <a:prstGeom prst="rect">
            <a:avLst/>
          </a:prstGeom>
          <a:noFill/>
        </p:spPr>
        <p:txBody>
          <a:bodyPr wrap="square" lIns="28575" rIns="28575" tIns="9525" bIns="9525" anchor="ctr">
            <a:spAutoFit/>
          </a:bodyPr>
          <a:lstStyle/>
          <a:p>
            <a:pPr algn="ctr"/>
            <a:r>
              <a:rPr sz="1300" b="1">
                <a:solidFill>
                  <a:srgbClr val="2E2E2E"/>
                </a:solidFill>
                <a:latin typeface="Calibri"/>
              </a:rPr>
              <a:t>100% =</a:t>
            </a:r>
          </a:p>
          <a:p>
            <a:pPr algn="ctr"/>
            <a:r>
              <a:rPr sz="1300" b="1">
                <a:solidFill>
                  <a:srgbClr val="2E2E2E"/>
                </a:solidFill>
                <a:latin typeface="Calibri"/>
              </a:rPr>
              <a:t>1,974 US$ Mn</a:t>
            </a:r>
          </a:p>
        </p:txBody>
      </p:sp>
      <p:sp>
        <p:nvSpPr>
          <p:cNvPr id="16" name="Rounded Rectangle 15"/>
          <p:cNvSpPr/>
          <p:nvPr/>
        </p:nvSpPr>
        <p:spPr>
          <a:xfrm>
            <a:off x="7800975" y="1219200"/>
            <a:ext cx="4248150" cy="5448300"/>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34325" y="1304925"/>
            <a:ext cx="39814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8" name="Rectangle 17"/>
          <p:cNvSpPr/>
          <p:nvPr/>
        </p:nvSpPr>
        <p:spPr>
          <a:xfrm>
            <a:off x="7934325" y="1543050"/>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34325" y="1628775"/>
            <a:ext cx="3981450" cy="49625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Humira Biosimilars Market is moderately consolidated in North America: the top three players hold ~41% of value, while a long tail ('Others') accounts for ~27%.</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'Company A' leads with ~18.4% share, ahead of 'Company B' at ~13.5% the two set the competitive benchmark for pricing and innovation.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Tier 1 players collectively command ~52% of the market, underlining meaningful barriers to entry.</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Regional share differs from the overall picture use the region selector to see how leadership shifts across geographies.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gains in North America are being driven by capacity expansion, product development and selective M&amp;A among the leading players.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Company Share by Product Type (Top 3)</a:t>
            </a:r>
          </a:p>
        </p:txBody>
      </p:sp>
      <p:sp>
        <p:nvSpPr>
          <p:cNvPr id="10" name="Rounded Rectangle 9"/>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Company value share within each of the leading product types where each player concentrates, and how leadership varies by formulation.</a:t>
            </a:r>
          </a:p>
        </p:txBody>
      </p:sp>
      <p:sp>
        <p:nvSpPr>
          <p:cNvPr id="11" name="Rounded Rectangle 10"/>
          <p:cNvSpPr/>
          <p:nvPr/>
        </p:nvSpPr>
        <p:spPr>
          <a:xfrm>
            <a:off x="142875" y="1162050"/>
            <a:ext cx="3829050" cy="3352800"/>
          </a:xfrm>
          <a:prstGeom prst="roundRect">
            <a:avLst>
              <a:gd name="adj" fmla="val 22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2192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Simlandi</a:t>
            </a:r>
          </a:p>
        </p:txBody>
      </p:sp>
      <p:graphicFrame>
        <p:nvGraphicFramePr>
          <p:cNvPr id="13" name="Chart 12"/>
          <p:cNvGraphicFramePr>
            <a:graphicFrameLocks noGrp="1"/>
          </p:cNvGraphicFramePr>
          <p:nvPr/>
        </p:nvGraphicFramePr>
        <p:xfrm>
          <a:off x="238125" y="1447800"/>
          <a:ext cx="3638550" cy="3009900"/>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162050"/>
            <a:ext cx="3829050" cy="3352800"/>
          </a:xfrm>
          <a:prstGeom prst="roundRect">
            <a:avLst>
              <a:gd name="adj" fmla="val 22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2192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Cyltezo</a:t>
            </a:r>
          </a:p>
        </p:txBody>
      </p:sp>
      <p:graphicFrame>
        <p:nvGraphicFramePr>
          <p:cNvPr id="16" name="Chart 15"/>
          <p:cNvGraphicFramePr>
            <a:graphicFrameLocks noGrp="1"/>
          </p:cNvGraphicFramePr>
          <p:nvPr/>
        </p:nvGraphicFramePr>
        <p:xfrm>
          <a:off x="4219575" y="1447800"/>
          <a:ext cx="3638550" cy="3009900"/>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162050"/>
            <a:ext cx="3943350" cy="3352800"/>
          </a:xfrm>
          <a:prstGeom prst="roundRect">
            <a:avLst>
              <a:gd name="adj" fmla="val 22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21920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Hulio</a:t>
            </a:r>
          </a:p>
        </p:txBody>
      </p:sp>
      <p:graphicFrame>
        <p:nvGraphicFramePr>
          <p:cNvPr id="19" name="Chart 18"/>
          <p:cNvGraphicFramePr>
            <a:graphicFrameLocks noGrp="1"/>
          </p:cNvGraphicFramePr>
          <p:nvPr/>
        </p:nvGraphicFramePr>
        <p:xfrm>
          <a:off x="8201025" y="1447800"/>
          <a:ext cx="3752850" cy="3009900"/>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1010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9582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339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967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Simlandi: 'Company A' leads at ~12.8%, ahead of 'Company D' (~12.7%); the top three hold ~38% and a long tail ('Others') ~27%.</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Cyltezo: 'Company C' leads at ~14.9%, ahead of 'Company B' (~14.8%); the top three hold ~43% and a long tail ('Others') ~23%.</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Hulio: 'Company A' leads at ~17.8%, ahead of 'Company B' (~16.9%); the top three hold ~48% and a long tail ('Others') ~20%.</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Leadership shifts across formulations a strong position in one product type does not carry over to the others, so product-level targeting is essential.</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Note: competitor figures are indicative derived from market modelling and expert validation, not company disclosures.</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Company Share by Region (Top 3)</a:t>
            </a:r>
          </a:p>
        </p:txBody>
      </p:sp>
      <p:sp>
        <p:nvSpPr>
          <p:cNvPr id="10" name="Rounded Rectangle 9"/>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Company value share within each of the largest regions where each player concentrates, and how leadership varies by geography.</a:t>
            </a:r>
          </a:p>
        </p:txBody>
      </p:sp>
      <p:sp>
        <p:nvSpPr>
          <p:cNvPr id="11" name="Rounded Rectangle 10"/>
          <p:cNvSpPr/>
          <p:nvPr/>
        </p:nvSpPr>
        <p:spPr>
          <a:xfrm>
            <a:off x="142875" y="1162050"/>
            <a:ext cx="3829050" cy="3352800"/>
          </a:xfrm>
          <a:prstGeom prst="roundRect">
            <a:avLst>
              <a:gd name="adj" fmla="val 22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2192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a:t>
            </a:r>
          </a:p>
        </p:txBody>
      </p:sp>
      <p:graphicFrame>
        <p:nvGraphicFramePr>
          <p:cNvPr id="13" name="Chart 12"/>
          <p:cNvGraphicFramePr>
            <a:graphicFrameLocks noGrp="1"/>
          </p:cNvGraphicFramePr>
          <p:nvPr/>
        </p:nvGraphicFramePr>
        <p:xfrm>
          <a:off x="238125" y="1447800"/>
          <a:ext cx="3638550" cy="3009900"/>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162050"/>
            <a:ext cx="3829050" cy="3352800"/>
          </a:xfrm>
          <a:prstGeom prst="roundRect">
            <a:avLst>
              <a:gd name="adj" fmla="val 22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2192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a:t>
            </a:r>
          </a:p>
        </p:txBody>
      </p:sp>
      <p:graphicFrame>
        <p:nvGraphicFramePr>
          <p:cNvPr id="16" name="Chart 15"/>
          <p:cNvGraphicFramePr>
            <a:graphicFrameLocks noGrp="1"/>
          </p:cNvGraphicFramePr>
          <p:nvPr/>
        </p:nvGraphicFramePr>
        <p:xfrm>
          <a:off x="4219575" y="1447800"/>
          <a:ext cx="3638550" cy="3009900"/>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162050"/>
            <a:ext cx="3943350" cy="3352800"/>
          </a:xfrm>
          <a:prstGeom prst="roundRect">
            <a:avLst>
              <a:gd name="adj" fmla="val 22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21920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East Asia</a:t>
            </a:r>
          </a:p>
        </p:txBody>
      </p:sp>
      <p:graphicFrame>
        <p:nvGraphicFramePr>
          <p:cNvPr id="19" name="Chart 18"/>
          <p:cNvGraphicFramePr>
            <a:graphicFrameLocks noGrp="1"/>
          </p:cNvGraphicFramePr>
          <p:nvPr/>
        </p:nvGraphicFramePr>
        <p:xfrm>
          <a:off x="8201025" y="1447800"/>
          <a:ext cx="3752850" cy="3009900"/>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1010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9582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339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967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North America: 'Company A' leads at ~18.4%, ahead of 'Company B' (~13.5%); the top three hold ~41% and a long tail ('Others') ~27%.</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Europe: 'Company A' leads at ~17.1%, ahead of 'Company D' (~12.6%); the top three hold ~41% and a long tail ('Others') ~21%.</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East Asia: 'Company A' leads at ~14.5%, ahead of 'Company C' (~13.7%); the top three hold ~42% and a long tail ('Others') ~21%.</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Leadership is not uniform across geographies a strong position in one region does not carry over to the others, so region-level go-to-market planning is essential.</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Note: competitor figures are indicative derived from market modelling and expert validation, not company disclosures.</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Who Shaped Growth</a:t>
            </a:r>
          </a:p>
        </p:txBody>
      </p:sp>
      <p:sp>
        <p:nvSpPr>
          <p:cNvPr id="10" name="TextBox 9"/>
          <p:cNvSpPr txBox="1"/>
          <p:nvPr/>
        </p:nvSpPr>
        <p:spPr>
          <a:xfrm>
            <a:off x="142875" y="819150"/>
            <a:ext cx="11906250" cy="171450"/>
          </a:xfrm>
          <a:prstGeom prst="rect">
            <a:avLst/>
          </a:prstGeom>
          <a:noFill/>
        </p:spPr>
        <p:txBody>
          <a:bodyPr wrap="square" lIns="28575" rIns="28575" tIns="9525" bIns="9525" anchor="ctr">
            <a:spAutoFit/>
          </a:bodyPr>
          <a:lstStyle/>
          <a:p>
            <a:pPr algn="l"/>
            <a:r>
              <a:rPr sz="1050" b="0">
                <a:solidFill>
                  <a:srgbClr val="6C7A89"/>
                </a:solidFill>
                <a:latin typeface="Calibri"/>
              </a:rPr>
              <a:t>A framework to identify the companies that most influenced annual Humira Biosimilars Market growth, ranked by growth-shaping impact.</a:t>
            </a:r>
          </a:p>
        </p:txBody>
      </p:sp>
      <p:sp>
        <p:nvSpPr>
          <p:cNvPr id="11" name="Rounded Rectangle 10"/>
          <p:cNvSpPr/>
          <p:nvPr/>
        </p:nvSpPr>
        <p:spPr>
          <a:xfrm>
            <a:off x="3857625" y="1028700"/>
            <a:ext cx="4476750" cy="419100"/>
          </a:xfrm>
          <a:prstGeom prst="roundRect">
            <a:avLst>
              <a:gd name="adj" fmla="val 1702"/>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1925" y="1085850"/>
            <a:ext cx="4248150" cy="152400"/>
          </a:xfrm>
          <a:prstGeom prst="rect">
            <a:avLst/>
          </a:prstGeom>
          <a:noFill/>
        </p:spPr>
        <p:txBody>
          <a:bodyPr wrap="square" lIns="28575" rIns="28575" tIns="9525" bIns="9525" anchor="ctr">
            <a:spAutoFit/>
          </a:bodyPr>
          <a:lstStyle/>
          <a:p>
            <a:pPr algn="ctr"/>
            <a:r>
              <a:rPr sz="1000" b="1">
                <a:solidFill>
                  <a:srgbClr val="0B2E4A"/>
                </a:solidFill>
                <a:latin typeface="Calibri"/>
              </a:rPr>
              <a:t>RANKED BY GROWTH-SHAPING IMPACT</a:t>
            </a:r>
          </a:p>
        </p:txBody>
      </p:sp>
      <p:sp>
        <p:nvSpPr>
          <p:cNvPr id="13" name="TextBox 12"/>
          <p:cNvSpPr txBox="1"/>
          <p:nvPr/>
        </p:nvSpPr>
        <p:spPr>
          <a:xfrm>
            <a:off x="3971925" y="1247775"/>
            <a:ext cx="4248150" cy="152400"/>
          </a:xfrm>
          <a:prstGeom prst="rect">
            <a:avLst/>
          </a:prstGeom>
          <a:noFill/>
        </p:spPr>
        <p:txBody>
          <a:bodyPr wrap="square" lIns="28575" rIns="28575" tIns="9525" bIns="9525" anchor="ctr">
            <a:spAutoFit/>
          </a:bodyPr>
          <a:lstStyle/>
          <a:p>
            <a:pPr algn="ctr"/>
            <a:r>
              <a:rPr sz="850" b="0">
                <a:solidFill>
                  <a:srgbClr val="6C7A89"/>
                </a:solidFill>
                <a:latin typeface="Calibri"/>
              </a:rPr>
              <a:t>Ranked by overall contribution to category growth, not share alone.</a:t>
            </a:r>
          </a:p>
        </p:txBody>
      </p:sp>
      <p:cxnSp>
        <p:nvCxnSpPr>
          <p:cNvPr id="14" name="Connector 13"/>
          <p:cNvCxnSpPr/>
          <p:nvPr/>
        </p:nvCxnSpPr>
        <p:spPr>
          <a:xfrm>
            <a:off x="428625" y="1238250"/>
            <a:ext cx="3257550"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505825" y="1238250"/>
            <a:ext cx="3257550"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3875" y="167640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11630025" y="1609725"/>
            <a:ext cx="171450" cy="133350"/>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52525" y="1533525"/>
            <a:ext cx="285750" cy="285750"/>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2525" y="1590675"/>
            <a:ext cx="285750" cy="171450"/>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0" name="Rounded Rectangle 19"/>
          <p:cNvSpPr/>
          <p:nvPr/>
        </p:nvSpPr>
        <p:spPr>
          <a:xfrm>
            <a:off x="142875" y="1885950"/>
            <a:ext cx="2305050" cy="2038350"/>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42875" y="1885950"/>
            <a:ext cx="2305050" cy="323850"/>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7175" y="1933575"/>
            <a:ext cx="228600" cy="228600"/>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7175" y="1962150"/>
            <a:ext cx="228600" cy="171450"/>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24" name="TextBox 23"/>
          <p:cNvSpPr txBox="1"/>
          <p:nvPr/>
        </p:nvSpPr>
        <p:spPr>
          <a:xfrm>
            <a:off x="523875" y="1971675"/>
            <a:ext cx="1828800" cy="171450"/>
          </a:xfrm>
          <a:prstGeom prst="rect">
            <a:avLst/>
          </a:prstGeom>
          <a:noFill/>
        </p:spPr>
        <p:txBody>
          <a:bodyPr wrap="square" lIns="28575" rIns="28575" tIns="9525" bIns="9525" anchor="ctr">
            <a:spAutoFit/>
          </a:bodyPr>
          <a:lstStyle/>
          <a:p>
            <a:pPr algn="ctr"/>
            <a:r>
              <a:rPr sz="1050" b="1">
                <a:solidFill>
                  <a:srgbClr val="FFFFFF"/>
                </a:solidFill>
                <a:latin typeface="Calibri"/>
              </a:rPr>
              <a:t>Company A</a:t>
            </a:r>
          </a:p>
        </p:txBody>
      </p:sp>
      <p:sp>
        <p:nvSpPr>
          <p:cNvPr id="25" name="TextBox 24"/>
          <p:cNvSpPr txBox="1"/>
          <p:nvPr/>
        </p:nvSpPr>
        <p:spPr>
          <a:xfrm>
            <a:off x="238125" y="228600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26" name="TextBox 25"/>
          <p:cNvSpPr txBox="1"/>
          <p:nvPr/>
        </p:nvSpPr>
        <p:spPr>
          <a:xfrm>
            <a:off x="428625" y="2286000"/>
            <a:ext cx="1924050" cy="142875"/>
          </a:xfrm>
          <a:prstGeom prst="rect">
            <a:avLst/>
          </a:prstGeom>
          <a:noFill/>
        </p:spPr>
        <p:txBody>
          <a:bodyPr wrap="square" lIns="28575" rIns="28575" tIns="9525" bIns="9525" anchor="ctr">
            <a:spAutoFit/>
          </a:bodyPr>
          <a:lstStyle/>
          <a:p>
            <a:pPr algn="l"/>
            <a:r>
              <a:rPr sz="900" b="1">
                <a:solidFill>
                  <a:srgbClr val="2E2E2E"/>
                </a:solidFill>
                <a:latin typeface="Calibri"/>
              </a:rPr>
              <a:t>Value share:  16.4%</a:t>
            </a:r>
          </a:p>
        </p:txBody>
      </p:sp>
      <p:cxnSp>
        <p:nvCxnSpPr>
          <p:cNvPr id="27" name="Connector 26"/>
          <p:cNvCxnSpPr/>
          <p:nvPr/>
        </p:nvCxnSpPr>
        <p:spPr>
          <a:xfrm>
            <a:off x="238125" y="2476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38125" y="2571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29" name="TextBox 28"/>
          <p:cNvSpPr txBox="1"/>
          <p:nvPr/>
        </p:nvSpPr>
        <p:spPr>
          <a:xfrm>
            <a:off x="428625" y="2533650"/>
            <a:ext cx="1924050" cy="142875"/>
          </a:xfrm>
          <a:prstGeom prst="rect">
            <a:avLst/>
          </a:prstGeom>
          <a:noFill/>
        </p:spPr>
        <p:txBody>
          <a:bodyPr wrap="square" lIns="28575" rIns="28575" tIns="9525" bIns="9525" anchor="ctr">
            <a:spAutoFit/>
          </a:bodyPr>
          <a:lstStyle/>
          <a:p>
            <a:pPr algn="l"/>
            <a:r>
              <a:rPr sz="850" b="0">
                <a:solidFill>
                  <a:srgbClr val="6C7A89"/>
                </a:solidFill>
                <a:latin typeface="Calibri"/>
              </a:rPr>
              <a:t>Growth role:</a:t>
            </a:r>
          </a:p>
        </p:txBody>
      </p:sp>
      <p:sp>
        <p:nvSpPr>
          <p:cNvPr id="30" name="TextBox 29"/>
          <p:cNvSpPr txBox="1"/>
          <p:nvPr/>
        </p:nvSpPr>
        <p:spPr>
          <a:xfrm>
            <a:off x="428625" y="2667000"/>
            <a:ext cx="1924050" cy="142875"/>
          </a:xfrm>
          <a:prstGeom prst="rect">
            <a:avLst/>
          </a:prstGeom>
          <a:noFill/>
        </p:spPr>
        <p:txBody>
          <a:bodyPr wrap="square" lIns="28575" rIns="28575" tIns="9525" bIns="9525" anchor="ctr">
            <a:spAutoFit/>
          </a:bodyPr>
          <a:lstStyle/>
          <a:p>
            <a:pPr algn="l"/>
            <a:r>
              <a:rPr sz="900" b="1">
                <a:solidFill>
                  <a:srgbClr val="0E72AE"/>
                </a:solidFill>
                <a:latin typeface="Calibri"/>
              </a:rPr>
              <a:t>Market leader</a:t>
            </a:r>
          </a:p>
        </p:txBody>
      </p:sp>
      <p:cxnSp>
        <p:nvCxnSpPr>
          <p:cNvPr id="31" name="Connector 30"/>
          <p:cNvCxnSpPr/>
          <p:nvPr/>
        </p:nvCxnSpPr>
        <p:spPr>
          <a:xfrm>
            <a:off x="238125" y="2857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38125" y="2952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33" name="TextBox 32"/>
          <p:cNvSpPr txBox="1"/>
          <p:nvPr/>
        </p:nvSpPr>
        <p:spPr>
          <a:xfrm>
            <a:off x="428625" y="2914650"/>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Why it shaped growth:</a:t>
            </a:r>
          </a:p>
        </p:txBody>
      </p:sp>
      <p:sp>
        <p:nvSpPr>
          <p:cNvPr id="34" name="TextBox 33"/>
          <p:cNvSpPr txBox="1"/>
          <p:nvPr/>
        </p:nvSpPr>
        <p:spPr>
          <a:xfrm>
            <a:off x="428625" y="3057525"/>
            <a:ext cx="1924050" cy="3810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Expanded reach across its core segment</a:t>
            </a:r>
          </a:p>
        </p:txBody>
      </p:sp>
      <p:cxnSp>
        <p:nvCxnSpPr>
          <p:cNvPr id="35" name="Connector 34"/>
          <p:cNvCxnSpPr/>
          <p:nvPr/>
        </p:nvCxnSpPr>
        <p:spPr>
          <a:xfrm>
            <a:off x="238125" y="3457575"/>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38125" y="3552825"/>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37" name="TextBox 36"/>
          <p:cNvSpPr txBox="1"/>
          <p:nvPr/>
        </p:nvSpPr>
        <p:spPr>
          <a:xfrm>
            <a:off x="428625" y="3514725"/>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Signature move:</a:t>
            </a:r>
          </a:p>
        </p:txBody>
      </p:sp>
      <p:sp>
        <p:nvSpPr>
          <p:cNvPr id="38" name="TextBox 37"/>
          <p:cNvSpPr txBox="1"/>
          <p:nvPr/>
        </p:nvSpPr>
        <p:spPr>
          <a:xfrm>
            <a:off x="428625" y="3657600"/>
            <a:ext cx="1924050" cy="2286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New launch</a:t>
            </a:r>
          </a:p>
        </p:txBody>
      </p:sp>
      <p:sp>
        <p:nvSpPr>
          <p:cNvPr id="39" name="Oval 38"/>
          <p:cNvSpPr/>
          <p:nvPr/>
        </p:nvSpPr>
        <p:spPr>
          <a:xfrm>
            <a:off x="3552825" y="1533525"/>
            <a:ext cx="285750" cy="285750"/>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52825" y="1590675"/>
            <a:ext cx="285750" cy="171450"/>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Rounded Rectangle 40"/>
          <p:cNvSpPr/>
          <p:nvPr/>
        </p:nvSpPr>
        <p:spPr>
          <a:xfrm>
            <a:off x="2543175" y="1885950"/>
            <a:ext cx="2305050" cy="2038350"/>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543175" y="1885950"/>
            <a:ext cx="2305050" cy="323850"/>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657475" y="1933575"/>
            <a:ext cx="228600" cy="228600"/>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57475" y="1962150"/>
            <a:ext cx="228600" cy="171450"/>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45" name="TextBox 44"/>
          <p:cNvSpPr txBox="1"/>
          <p:nvPr/>
        </p:nvSpPr>
        <p:spPr>
          <a:xfrm>
            <a:off x="2924175" y="1971675"/>
            <a:ext cx="1828800" cy="171450"/>
          </a:xfrm>
          <a:prstGeom prst="rect">
            <a:avLst/>
          </a:prstGeom>
          <a:noFill/>
        </p:spPr>
        <p:txBody>
          <a:bodyPr wrap="square" lIns="28575" rIns="28575" tIns="9525" bIns="9525" anchor="ctr">
            <a:spAutoFit/>
          </a:bodyPr>
          <a:lstStyle/>
          <a:p>
            <a:pPr algn="ctr"/>
            <a:r>
              <a:rPr sz="1050" b="1">
                <a:solidFill>
                  <a:srgbClr val="FFFFFF"/>
                </a:solidFill>
                <a:latin typeface="Calibri"/>
              </a:rPr>
              <a:t>Company B</a:t>
            </a:r>
          </a:p>
        </p:txBody>
      </p:sp>
      <p:sp>
        <p:nvSpPr>
          <p:cNvPr id="46" name="TextBox 45"/>
          <p:cNvSpPr txBox="1"/>
          <p:nvPr/>
        </p:nvSpPr>
        <p:spPr>
          <a:xfrm>
            <a:off x="2638425" y="228600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47" name="TextBox 46"/>
          <p:cNvSpPr txBox="1"/>
          <p:nvPr/>
        </p:nvSpPr>
        <p:spPr>
          <a:xfrm>
            <a:off x="2828925" y="2286000"/>
            <a:ext cx="1924050" cy="142875"/>
          </a:xfrm>
          <a:prstGeom prst="rect">
            <a:avLst/>
          </a:prstGeom>
          <a:noFill/>
        </p:spPr>
        <p:txBody>
          <a:bodyPr wrap="square" lIns="28575" rIns="28575" tIns="9525" bIns="9525" anchor="ctr">
            <a:spAutoFit/>
          </a:bodyPr>
          <a:lstStyle/>
          <a:p>
            <a:pPr algn="l"/>
            <a:r>
              <a:rPr sz="900" b="1">
                <a:solidFill>
                  <a:srgbClr val="2E2E2E"/>
                </a:solidFill>
                <a:latin typeface="Calibri"/>
              </a:rPr>
              <a:t>Value share:  14.4%</a:t>
            </a:r>
          </a:p>
        </p:txBody>
      </p:sp>
      <p:cxnSp>
        <p:nvCxnSpPr>
          <p:cNvPr id="48" name="Connector 47"/>
          <p:cNvCxnSpPr/>
          <p:nvPr/>
        </p:nvCxnSpPr>
        <p:spPr>
          <a:xfrm>
            <a:off x="2638425" y="2476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638425" y="2571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50" name="TextBox 49"/>
          <p:cNvSpPr txBox="1"/>
          <p:nvPr/>
        </p:nvSpPr>
        <p:spPr>
          <a:xfrm>
            <a:off x="2828925" y="2533650"/>
            <a:ext cx="1924050" cy="142875"/>
          </a:xfrm>
          <a:prstGeom prst="rect">
            <a:avLst/>
          </a:prstGeom>
          <a:noFill/>
        </p:spPr>
        <p:txBody>
          <a:bodyPr wrap="square" lIns="28575" rIns="28575" tIns="9525" bIns="9525" anchor="ctr">
            <a:spAutoFit/>
          </a:bodyPr>
          <a:lstStyle/>
          <a:p>
            <a:pPr algn="l"/>
            <a:r>
              <a:rPr sz="850" b="0">
                <a:solidFill>
                  <a:srgbClr val="6C7A89"/>
                </a:solidFill>
                <a:latin typeface="Calibri"/>
              </a:rPr>
              <a:t>Growth role:</a:t>
            </a:r>
          </a:p>
        </p:txBody>
      </p:sp>
      <p:sp>
        <p:nvSpPr>
          <p:cNvPr id="51" name="TextBox 50"/>
          <p:cNvSpPr txBox="1"/>
          <p:nvPr/>
        </p:nvSpPr>
        <p:spPr>
          <a:xfrm>
            <a:off x="2828925" y="2667000"/>
            <a:ext cx="1924050" cy="142875"/>
          </a:xfrm>
          <a:prstGeom prst="rect">
            <a:avLst/>
          </a:prstGeom>
          <a:noFill/>
        </p:spPr>
        <p:txBody>
          <a:bodyPr wrap="square" lIns="28575" rIns="28575" tIns="9525" bIns="9525" anchor="ctr">
            <a:spAutoFit/>
          </a:bodyPr>
          <a:lstStyle/>
          <a:p>
            <a:pPr algn="l"/>
            <a:r>
              <a:rPr sz="900" b="1">
                <a:solidFill>
                  <a:srgbClr val="A35313"/>
                </a:solidFill>
                <a:latin typeface="Calibri"/>
              </a:rPr>
              <a:t>Portfolio expander</a:t>
            </a:r>
          </a:p>
        </p:txBody>
      </p:sp>
      <p:cxnSp>
        <p:nvCxnSpPr>
          <p:cNvPr id="52" name="Connector 51"/>
          <p:cNvCxnSpPr/>
          <p:nvPr/>
        </p:nvCxnSpPr>
        <p:spPr>
          <a:xfrm>
            <a:off x="2638425" y="2857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2638425" y="2952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54" name="TextBox 53"/>
          <p:cNvSpPr txBox="1"/>
          <p:nvPr/>
        </p:nvSpPr>
        <p:spPr>
          <a:xfrm>
            <a:off x="2828925" y="2914650"/>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Why it shaped growth:</a:t>
            </a:r>
          </a:p>
        </p:txBody>
      </p:sp>
      <p:sp>
        <p:nvSpPr>
          <p:cNvPr id="55" name="TextBox 54"/>
          <p:cNvSpPr txBox="1"/>
          <p:nvPr/>
        </p:nvSpPr>
        <p:spPr>
          <a:xfrm>
            <a:off x="2828925" y="3057525"/>
            <a:ext cx="1924050" cy="3810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Drove new customer adoption</a:t>
            </a:r>
          </a:p>
        </p:txBody>
      </p:sp>
      <p:cxnSp>
        <p:nvCxnSpPr>
          <p:cNvPr id="56" name="Connector 55"/>
          <p:cNvCxnSpPr/>
          <p:nvPr/>
        </p:nvCxnSpPr>
        <p:spPr>
          <a:xfrm>
            <a:off x="2638425" y="3457575"/>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638425" y="3552825"/>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58" name="TextBox 57"/>
          <p:cNvSpPr txBox="1"/>
          <p:nvPr/>
        </p:nvSpPr>
        <p:spPr>
          <a:xfrm>
            <a:off x="2828925" y="3514725"/>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Signature move:</a:t>
            </a:r>
          </a:p>
        </p:txBody>
      </p:sp>
      <p:sp>
        <p:nvSpPr>
          <p:cNvPr id="59" name="TextBox 58"/>
          <p:cNvSpPr txBox="1"/>
          <p:nvPr/>
        </p:nvSpPr>
        <p:spPr>
          <a:xfrm>
            <a:off x="2828925" y="3657600"/>
            <a:ext cx="1924050" cy="2286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Channel expansion</a:t>
            </a:r>
          </a:p>
        </p:txBody>
      </p:sp>
      <p:sp>
        <p:nvSpPr>
          <p:cNvPr id="60" name="Oval 59"/>
          <p:cNvSpPr/>
          <p:nvPr/>
        </p:nvSpPr>
        <p:spPr>
          <a:xfrm>
            <a:off x="5953125" y="1533525"/>
            <a:ext cx="285750" cy="285750"/>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53125" y="1590675"/>
            <a:ext cx="285750" cy="171450"/>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62" name="Rounded Rectangle 61"/>
          <p:cNvSpPr/>
          <p:nvPr/>
        </p:nvSpPr>
        <p:spPr>
          <a:xfrm>
            <a:off x="4943475" y="1885950"/>
            <a:ext cx="2305050" cy="2038350"/>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943475" y="1885950"/>
            <a:ext cx="2305050" cy="323850"/>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5057775" y="1933575"/>
            <a:ext cx="228600" cy="228600"/>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57775" y="1962150"/>
            <a:ext cx="228600" cy="171450"/>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66" name="TextBox 65"/>
          <p:cNvSpPr txBox="1"/>
          <p:nvPr/>
        </p:nvSpPr>
        <p:spPr>
          <a:xfrm>
            <a:off x="5324475" y="1971675"/>
            <a:ext cx="1828800" cy="171450"/>
          </a:xfrm>
          <a:prstGeom prst="rect">
            <a:avLst/>
          </a:prstGeom>
          <a:noFill/>
        </p:spPr>
        <p:txBody>
          <a:bodyPr wrap="square" lIns="28575" rIns="28575" tIns="9525" bIns="9525" anchor="ctr">
            <a:spAutoFit/>
          </a:bodyPr>
          <a:lstStyle/>
          <a:p>
            <a:pPr algn="ctr"/>
            <a:r>
              <a:rPr sz="1050" b="1">
                <a:solidFill>
                  <a:srgbClr val="FFFFFF"/>
                </a:solidFill>
                <a:latin typeface="Calibri"/>
              </a:rPr>
              <a:t>Company C</a:t>
            </a:r>
          </a:p>
        </p:txBody>
      </p:sp>
      <p:sp>
        <p:nvSpPr>
          <p:cNvPr id="67" name="TextBox 66"/>
          <p:cNvSpPr txBox="1"/>
          <p:nvPr/>
        </p:nvSpPr>
        <p:spPr>
          <a:xfrm>
            <a:off x="5038725" y="228600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68" name="TextBox 67"/>
          <p:cNvSpPr txBox="1"/>
          <p:nvPr/>
        </p:nvSpPr>
        <p:spPr>
          <a:xfrm>
            <a:off x="5229225" y="2286000"/>
            <a:ext cx="1924050" cy="142875"/>
          </a:xfrm>
          <a:prstGeom prst="rect">
            <a:avLst/>
          </a:prstGeom>
          <a:noFill/>
        </p:spPr>
        <p:txBody>
          <a:bodyPr wrap="square" lIns="28575" rIns="28575" tIns="9525" bIns="9525" anchor="ctr">
            <a:spAutoFit/>
          </a:bodyPr>
          <a:lstStyle/>
          <a:p>
            <a:pPr algn="l"/>
            <a:r>
              <a:rPr sz="900" b="1">
                <a:solidFill>
                  <a:srgbClr val="2E2E2E"/>
                </a:solidFill>
                <a:latin typeface="Calibri"/>
              </a:rPr>
              <a:t>Value share:  9.9%</a:t>
            </a:r>
          </a:p>
        </p:txBody>
      </p:sp>
      <p:cxnSp>
        <p:nvCxnSpPr>
          <p:cNvPr id="69" name="Connector 68"/>
          <p:cNvCxnSpPr/>
          <p:nvPr/>
        </p:nvCxnSpPr>
        <p:spPr>
          <a:xfrm>
            <a:off x="5038725" y="2476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038725" y="2571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71" name="TextBox 70"/>
          <p:cNvSpPr txBox="1"/>
          <p:nvPr/>
        </p:nvSpPr>
        <p:spPr>
          <a:xfrm>
            <a:off x="5229225" y="2533650"/>
            <a:ext cx="1924050" cy="142875"/>
          </a:xfrm>
          <a:prstGeom prst="rect">
            <a:avLst/>
          </a:prstGeom>
          <a:noFill/>
        </p:spPr>
        <p:txBody>
          <a:bodyPr wrap="square" lIns="28575" rIns="28575" tIns="9525" bIns="9525" anchor="ctr">
            <a:spAutoFit/>
          </a:bodyPr>
          <a:lstStyle/>
          <a:p>
            <a:pPr algn="l"/>
            <a:r>
              <a:rPr sz="850" b="0">
                <a:solidFill>
                  <a:srgbClr val="6C7A89"/>
                </a:solidFill>
                <a:latin typeface="Calibri"/>
              </a:rPr>
              <a:t>Growth role:</a:t>
            </a:r>
          </a:p>
        </p:txBody>
      </p:sp>
      <p:sp>
        <p:nvSpPr>
          <p:cNvPr id="72" name="TextBox 71"/>
          <p:cNvSpPr txBox="1"/>
          <p:nvPr/>
        </p:nvSpPr>
        <p:spPr>
          <a:xfrm>
            <a:off x="5229225" y="2667000"/>
            <a:ext cx="1924050" cy="142875"/>
          </a:xfrm>
          <a:prstGeom prst="rect">
            <a:avLst/>
          </a:prstGeom>
          <a:noFill/>
        </p:spPr>
        <p:txBody>
          <a:bodyPr wrap="square" lIns="28575" rIns="28575" tIns="9525" bIns="9525" anchor="ctr">
            <a:spAutoFit/>
          </a:bodyPr>
          <a:lstStyle/>
          <a:p>
            <a:pPr algn="l"/>
            <a:r>
              <a:rPr sz="900" b="1">
                <a:solidFill>
                  <a:srgbClr val="69B1E0"/>
                </a:solidFill>
                <a:latin typeface="Calibri"/>
              </a:rPr>
              <a:t>Access builder</a:t>
            </a:r>
          </a:p>
        </p:txBody>
      </p:sp>
      <p:cxnSp>
        <p:nvCxnSpPr>
          <p:cNvPr id="73" name="Connector 72"/>
          <p:cNvCxnSpPr/>
          <p:nvPr/>
        </p:nvCxnSpPr>
        <p:spPr>
          <a:xfrm>
            <a:off x="5038725" y="2857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38725" y="2952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75" name="TextBox 74"/>
          <p:cNvSpPr txBox="1"/>
          <p:nvPr/>
        </p:nvSpPr>
        <p:spPr>
          <a:xfrm>
            <a:off x="5229225" y="2914650"/>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Why it shaped growth:</a:t>
            </a:r>
          </a:p>
        </p:txBody>
      </p:sp>
      <p:sp>
        <p:nvSpPr>
          <p:cNvPr id="76" name="TextBox 75"/>
          <p:cNvSpPr txBox="1"/>
          <p:nvPr/>
        </p:nvSpPr>
        <p:spPr>
          <a:xfrm>
            <a:off x="5229225" y="3057525"/>
            <a:ext cx="1924050" cy="3810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Won through wider channel availability</a:t>
            </a:r>
          </a:p>
        </p:txBody>
      </p:sp>
      <p:cxnSp>
        <p:nvCxnSpPr>
          <p:cNvPr id="77" name="Connector 76"/>
          <p:cNvCxnSpPr/>
          <p:nvPr/>
        </p:nvCxnSpPr>
        <p:spPr>
          <a:xfrm>
            <a:off x="5038725" y="3457575"/>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038725" y="3552825"/>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79" name="TextBox 78"/>
          <p:cNvSpPr txBox="1"/>
          <p:nvPr/>
        </p:nvSpPr>
        <p:spPr>
          <a:xfrm>
            <a:off x="5229225" y="3514725"/>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Signature move:</a:t>
            </a:r>
          </a:p>
        </p:txBody>
      </p:sp>
      <p:sp>
        <p:nvSpPr>
          <p:cNvPr id="80" name="TextBox 79"/>
          <p:cNvSpPr txBox="1"/>
          <p:nvPr/>
        </p:nvSpPr>
        <p:spPr>
          <a:xfrm>
            <a:off x="5229225" y="3657600"/>
            <a:ext cx="1924050" cy="2286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Pricing strategy</a:t>
            </a:r>
          </a:p>
        </p:txBody>
      </p:sp>
      <p:sp>
        <p:nvSpPr>
          <p:cNvPr id="81" name="Oval 80"/>
          <p:cNvSpPr/>
          <p:nvPr/>
        </p:nvSpPr>
        <p:spPr>
          <a:xfrm>
            <a:off x="8353425" y="1533525"/>
            <a:ext cx="285750" cy="285750"/>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53425" y="1590675"/>
            <a:ext cx="285750" cy="171450"/>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83" name="Rounded Rectangle 82"/>
          <p:cNvSpPr/>
          <p:nvPr/>
        </p:nvSpPr>
        <p:spPr>
          <a:xfrm>
            <a:off x="7343775" y="1885950"/>
            <a:ext cx="2305050" cy="2038350"/>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7343775" y="1885950"/>
            <a:ext cx="2305050" cy="323850"/>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458075" y="1933575"/>
            <a:ext cx="228600" cy="228600"/>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458075" y="1962150"/>
            <a:ext cx="228600" cy="171450"/>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87" name="TextBox 86"/>
          <p:cNvSpPr txBox="1"/>
          <p:nvPr/>
        </p:nvSpPr>
        <p:spPr>
          <a:xfrm>
            <a:off x="7724775" y="1971675"/>
            <a:ext cx="1828800" cy="171450"/>
          </a:xfrm>
          <a:prstGeom prst="rect">
            <a:avLst/>
          </a:prstGeom>
          <a:noFill/>
        </p:spPr>
        <p:txBody>
          <a:bodyPr wrap="square" lIns="28575" rIns="28575" tIns="9525" bIns="9525" anchor="ctr">
            <a:spAutoFit/>
          </a:bodyPr>
          <a:lstStyle/>
          <a:p>
            <a:pPr algn="ctr"/>
            <a:r>
              <a:rPr sz="1050" b="1">
                <a:solidFill>
                  <a:srgbClr val="FFFFFF"/>
                </a:solidFill>
                <a:latin typeface="Calibri"/>
              </a:rPr>
              <a:t>Company D</a:t>
            </a:r>
          </a:p>
        </p:txBody>
      </p:sp>
      <p:sp>
        <p:nvSpPr>
          <p:cNvPr id="88" name="TextBox 87"/>
          <p:cNvSpPr txBox="1"/>
          <p:nvPr/>
        </p:nvSpPr>
        <p:spPr>
          <a:xfrm>
            <a:off x="7439025" y="228600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89" name="TextBox 88"/>
          <p:cNvSpPr txBox="1"/>
          <p:nvPr/>
        </p:nvSpPr>
        <p:spPr>
          <a:xfrm>
            <a:off x="7629525" y="2286000"/>
            <a:ext cx="1924050" cy="142875"/>
          </a:xfrm>
          <a:prstGeom prst="rect">
            <a:avLst/>
          </a:prstGeom>
          <a:noFill/>
        </p:spPr>
        <p:txBody>
          <a:bodyPr wrap="square" lIns="28575" rIns="28575" tIns="9525" bIns="9525" anchor="ctr">
            <a:spAutoFit/>
          </a:bodyPr>
          <a:lstStyle/>
          <a:p>
            <a:pPr algn="l"/>
            <a:r>
              <a:rPr sz="900" b="1">
                <a:solidFill>
                  <a:srgbClr val="2E2E2E"/>
                </a:solidFill>
                <a:latin typeface="Calibri"/>
              </a:rPr>
              <a:t>Value share:  7.0%</a:t>
            </a:r>
          </a:p>
        </p:txBody>
      </p:sp>
      <p:cxnSp>
        <p:nvCxnSpPr>
          <p:cNvPr id="90" name="Connector 89"/>
          <p:cNvCxnSpPr/>
          <p:nvPr/>
        </p:nvCxnSpPr>
        <p:spPr>
          <a:xfrm>
            <a:off x="7439025" y="2476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7439025" y="2571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92" name="TextBox 91"/>
          <p:cNvSpPr txBox="1"/>
          <p:nvPr/>
        </p:nvSpPr>
        <p:spPr>
          <a:xfrm>
            <a:off x="7629525" y="2533650"/>
            <a:ext cx="1924050" cy="142875"/>
          </a:xfrm>
          <a:prstGeom prst="rect">
            <a:avLst/>
          </a:prstGeom>
          <a:noFill/>
        </p:spPr>
        <p:txBody>
          <a:bodyPr wrap="square" lIns="28575" rIns="28575" tIns="9525" bIns="9525" anchor="ctr">
            <a:spAutoFit/>
          </a:bodyPr>
          <a:lstStyle/>
          <a:p>
            <a:pPr algn="l"/>
            <a:r>
              <a:rPr sz="850" b="0">
                <a:solidFill>
                  <a:srgbClr val="6C7A89"/>
                </a:solidFill>
                <a:latin typeface="Calibri"/>
              </a:rPr>
              <a:t>Growth role:</a:t>
            </a:r>
          </a:p>
        </p:txBody>
      </p:sp>
      <p:sp>
        <p:nvSpPr>
          <p:cNvPr id="93" name="TextBox 92"/>
          <p:cNvSpPr txBox="1"/>
          <p:nvPr/>
        </p:nvSpPr>
        <p:spPr>
          <a:xfrm>
            <a:off x="7629525" y="2667000"/>
            <a:ext cx="1924050" cy="142875"/>
          </a:xfrm>
          <a:prstGeom prst="rect">
            <a:avLst/>
          </a:prstGeom>
          <a:noFill/>
        </p:spPr>
        <p:txBody>
          <a:bodyPr wrap="square" lIns="28575" rIns="28575" tIns="9525" bIns="9525" anchor="ctr">
            <a:spAutoFit/>
          </a:bodyPr>
          <a:lstStyle/>
          <a:p>
            <a:pPr algn="l"/>
            <a:r>
              <a:rPr sz="900" b="1">
                <a:solidFill>
                  <a:srgbClr val="6F3CC2"/>
                </a:solidFill>
                <a:latin typeface="Calibri"/>
              </a:rPr>
              <a:t>Premiumiser</a:t>
            </a:r>
          </a:p>
        </p:txBody>
      </p:sp>
      <p:cxnSp>
        <p:nvCxnSpPr>
          <p:cNvPr id="94" name="Connector 93"/>
          <p:cNvCxnSpPr/>
          <p:nvPr/>
        </p:nvCxnSpPr>
        <p:spPr>
          <a:xfrm>
            <a:off x="7439025" y="2857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7439025" y="2952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96" name="TextBox 95"/>
          <p:cNvSpPr txBox="1"/>
          <p:nvPr/>
        </p:nvSpPr>
        <p:spPr>
          <a:xfrm>
            <a:off x="7629525" y="2914650"/>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Why it shaped growth:</a:t>
            </a:r>
          </a:p>
        </p:txBody>
      </p:sp>
      <p:sp>
        <p:nvSpPr>
          <p:cNvPr id="97" name="TextBox 96"/>
          <p:cNvSpPr txBox="1"/>
          <p:nvPr/>
        </p:nvSpPr>
        <p:spPr>
          <a:xfrm>
            <a:off x="7629525" y="3057525"/>
            <a:ext cx="1924050" cy="3810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Supported premium SKU growth</a:t>
            </a:r>
          </a:p>
        </p:txBody>
      </p:sp>
      <p:cxnSp>
        <p:nvCxnSpPr>
          <p:cNvPr id="98" name="Connector 97"/>
          <p:cNvCxnSpPr/>
          <p:nvPr/>
        </p:nvCxnSpPr>
        <p:spPr>
          <a:xfrm>
            <a:off x="7439025" y="3457575"/>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7439025" y="3552825"/>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100" name="TextBox 99"/>
          <p:cNvSpPr txBox="1"/>
          <p:nvPr/>
        </p:nvSpPr>
        <p:spPr>
          <a:xfrm>
            <a:off x="7629525" y="3514725"/>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Signature move:</a:t>
            </a:r>
          </a:p>
        </p:txBody>
      </p:sp>
      <p:sp>
        <p:nvSpPr>
          <p:cNvPr id="101" name="TextBox 100"/>
          <p:cNvSpPr txBox="1"/>
          <p:nvPr/>
        </p:nvSpPr>
        <p:spPr>
          <a:xfrm>
            <a:off x="7629525" y="3657600"/>
            <a:ext cx="1924050" cy="2286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Portfolio/brand investment</a:t>
            </a:r>
          </a:p>
        </p:txBody>
      </p:sp>
      <p:sp>
        <p:nvSpPr>
          <p:cNvPr id="102" name="Oval 101"/>
          <p:cNvSpPr/>
          <p:nvPr/>
        </p:nvSpPr>
        <p:spPr>
          <a:xfrm>
            <a:off x="10753725" y="1533525"/>
            <a:ext cx="285750" cy="285750"/>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753725" y="1590675"/>
            <a:ext cx="285750" cy="171450"/>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104" name="Rounded Rectangle 103"/>
          <p:cNvSpPr/>
          <p:nvPr/>
        </p:nvSpPr>
        <p:spPr>
          <a:xfrm>
            <a:off x="9744075" y="1885950"/>
            <a:ext cx="2305050" cy="2038350"/>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9744075" y="1885950"/>
            <a:ext cx="2305050" cy="323850"/>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858375" y="1933575"/>
            <a:ext cx="228600" cy="228600"/>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58375" y="1962150"/>
            <a:ext cx="228600" cy="171450"/>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108" name="TextBox 107"/>
          <p:cNvSpPr txBox="1"/>
          <p:nvPr/>
        </p:nvSpPr>
        <p:spPr>
          <a:xfrm>
            <a:off x="10125075" y="1971675"/>
            <a:ext cx="1828800" cy="171450"/>
          </a:xfrm>
          <a:prstGeom prst="rect">
            <a:avLst/>
          </a:prstGeom>
          <a:noFill/>
        </p:spPr>
        <p:txBody>
          <a:bodyPr wrap="square" lIns="28575" rIns="28575" tIns="9525" bIns="9525" anchor="ctr">
            <a:spAutoFit/>
          </a:bodyPr>
          <a:lstStyle/>
          <a:p>
            <a:pPr algn="ctr"/>
            <a:r>
              <a:rPr sz="1050" b="1">
                <a:solidFill>
                  <a:srgbClr val="FFFFFF"/>
                </a:solidFill>
                <a:latin typeface="Calibri"/>
              </a:rPr>
              <a:t>Company E</a:t>
            </a:r>
          </a:p>
        </p:txBody>
      </p:sp>
      <p:sp>
        <p:nvSpPr>
          <p:cNvPr id="109" name="TextBox 108"/>
          <p:cNvSpPr txBox="1"/>
          <p:nvPr/>
        </p:nvSpPr>
        <p:spPr>
          <a:xfrm>
            <a:off x="9839325" y="228600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110" name="TextBox 109"/>
          <p:cNvSpPr txBox="1"/>
          <p:nvPr/>
        </p:nvSpPr>
        <p:spPr>
          <a:xfrm>
            <a:off x="10029825" y="2286000"/>
            <a:ext cx="1924050" cy="142875"/>
          </a:xfrm>
          <a:prstGeom prst="rect">
            <a:avLst/>
          </a:prstGeom>
          <a:noFill/>
        </p:spPr>
        <p:txBody>
          <a:bodyPr wrap="square" lIns="28575" rIns="28575" tIns="9525" bIns="9525" anchor="ctr">
            <a:spAutoFit/>
          </a:bodyPr>
          <a:lstStyle/>
          <a:p>
            <a:pPr algn="l"/>
            <a:r>
              <a:rPr sz="900" b="1">
                <a:solidFill>
                  <a:srgbClr val="2E2E2E"/>
                </a:solidFill>
                <a:latin typeface="Calibri"/>
              </a:rPr>
              <a:t>Value share:  6.9%</a:t>
            </a:r>
          </a:p>
        </p:txBody>
      </p:sp>
      <p:cxnSp>
        <p:nvCxnSpPr>
          <p:cNvPr id="111" name="Connector 110"/>
          <p:cNvCxnSpPr/>
          <p:nvPr/>
        </p:nvCxnSpPr>
        <p:spPr>
          <a:xfrm>
            <a:off x="9839325" y="2476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9839325" y="2571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113" name="TextBox 112"/>
          <p:cNvSpPr txBox="1"/>
          <p:nvPr/>
        </p:nvSpPr>
        <p:spPr>
          <a:xfrm>
            <a:off x="10029825" y="2533650"/>
            <a:ext cx="1924050" cy="142875"/>
          </a:xfrm>
          <a:prstGeom prst="rect">
            <a:avLst/>
          </a:prstGeom>
          <a:noFill/>
        </p:spPr>
        <p:txBody>
          <a:bodyPr wrap="square" lIns="28575" rIns="28575" tIns="9525" bIns="9525" anchor="ctr">
            <a:spAutoFit/>
          </a:bodyPr>
          <a:lstStyle/>
          <a:p>
            <a:pPr algn="l"/>
            <a:r>
              <a:rPr sz="850" b="0">
                <a:solidFill>
                  <a:srgbClr val="6C7A89"/>
                </a:solidFill>
                <a:latin typeface="Calibri"/>
              </a:rPr>
              <a:t>Growth role:</a:t>
            </a:r>
          </a:p>
        </p:txBody>
      </p:sp>
      <p:sp>
        <p:nvSpPr>
          <p:cNvPr id="114" name="TextBox 113"/>
          <p:cNvSpPr txBox="1"/>
          <p:nvPr/>
        </p:nvSpPr>
        <p:spPr>
          <a:xfrm>
            <a:off x="10029825" y="2667000"/>
            <a:ext cx="1924050" cy="142875"/>
          </a:xfrm>
          <a:prstGeom prst="rect">
            <a:avLst/>
          </a:prstGeom>
          <a:noFill/>
        </p:spPr>
        <p:txBody>
          <a:bodyPr wrap="square" lIns="28575" rIns="28575" tIns="9525" bIns="9525" anchor="ctr">
            <a:spAutoFit/>
          </a:bodyPr>
          <a:lstStyle/>
          <a:p>
            <a:pPr algn="l"/>
            <a:r>
              <a:rPr sz="900" b="1">
                <a:solidFill>
                  <a:srgbClr val="A86F00"/>
                </a:solidFill>
                <a:latin typeface="Calibri"/>
              </a:rPr>
              <a:t>Disruptor</a:t>
            </a:r>
          </a:p>
        </p:txBody>
      </p:sp>
      <p:cxnSp>
        <p:nvCxnSpPr>
          <p:cNvPr id="115" name="Connector 114"/>
          <p:cNvCxnSpPr/>
          <p:nvPr/>
        </p:nvCxnSpPr>
        <p:spPr>
          <a:xfrm>
            <a:off x="9839325" y="2857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839325" y="2952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117" name="TextBox 116"/>
          <p:cNvSpPr txBox="1"/>
          <p:nvPr/>
        </p:nvSpPr>
        <p:spPr>
          <a:xfrm>
            <a:off x="10029825" y="2914650"/>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Why it shaped growth:</a:t>
            </a:r>
          </a:p>
        </p:txBody>
      </p:sp>
      <p:sp>
        <p:nvSpPr>
          <p:cNvPr id="118" name="TextBox 117"/>
          <p:cNvSpPr txBox="1"/>
          <p:nvPr/>
        </p:nvSpPr>
        <p:spPr>
          <a:xfrm>
            <a:off x="10029825" y="3057525"/>
            <a:ext cx="1924050" cy="3810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Strengthened end-user and specifier pull</a:t>
            </a:r>
          </a:p>
        </p:txBody>
      </p:sp>
      <p:cxnSp>
        <p:nvCxnSpPr>
          <p:cNvPr id="119" name="Connector 118"/>
          <p:cNvCxnSpPr/>
          <p:nvPr/>
        </p:nvCxnSpPr>
        <p:spPr>
          <a:xfrm>
            <a:off x="9839325" y="3457575"/>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9839325" y="3552825"/>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121" name="TextBox 120"/>
          <p:cNvSpPr txBox="1"/>
          <p:nvPr/>
        </p:nvSpPr>
        <p:spPr>
          <a:xfrm>
            <a:off x="10029825" y="3514725"/>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Signature move:</a:t>
            </a:r>
          </a:p>
        </p:txBody>
      </p:sp>
      <p:sp>
        <p:nvSpPr>
          <p:cNvPr id="122" name="TextBox 121"/>
          <p:cNvSpPr txBox="1"/>
          <p:nvPr/>
        </p:nvSpPr>
        <p:spPr>
          <a:xfrm>
            <a:off x="10029825" y="3657600"/>
            <a:ext cx="1924050" cy="2286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Partnership / acquisition</a:t>
            </a:r>
          </a:p>
        </p:txBody>
      </p:sp>
      <p:sp>
        <p:nvSpPr>
          <p:cNvPr id="123" name="Rounded Rectangle 122"/>
          <p:cNvSpPr/>
          <p:nvPr/>
        </p:nvSpPr>
        <p:spPr>
          <a:xfrm>
            <a:off x="142875" y="4057650"/>
            <a:ext cx="7886700" cy="2667000"/>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42875" y="4152900"/>
            <a:ext cx="7886700" cy="171450"/>
          </a:xfrm>
          <a:prstGeom prst="rect">
            <a:avLst/>
          </a:prstGeom>
          <a:noFill/>
        </p:spPr>
        <p:txBody>
          <a:bodyPr wrap="square" lIns="28575" rIns="28575" tIns="9525" bIns="9525" anchor="ctr">
            <a:spAutoFit/>
          </a:bodyPr>
          <a:lstStyle/>
          <a:p>
            <a:pPr algn="ctr"/>
            <a:r>
              <a:rPr sz="1000" b="1">
                <a:solidFill>
                  <a:srgbClr val="0B2E4A"/>
                </a:solidFill>
                <a:latin typeface="Calibri"/>
              </a:rPr>
              <a:t>HOW TO DECIDE WHO SHAPED GROWTH</a:t>
            </a:r>
          </a:p>
        </p:txBody>
      </p:sp>
      <p:sp>
        <p:nvSpPr>
          <p:cNvPr id="125" name="Oval 124"/>
          <p:cNvSpPr/>
          <p:nvPr/>
        </p:nvSpPr>
        <p:spPr>
          <a:xfrm>
            <a:off x="815340" y="4429125"/>
            <a:ext cx="400050" cy="400050"/>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15340" y="4524375"/>
            <a:ext cx="400050" cy="209550"/>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27" name="TextBox 126"/>
          <p:cNvSpPr txBox="1"/>
          <p:nvPr/>
        </p:nvSpPr>
        <p:spPr>
          <a:xfrm>
            <a:off x="276225" y="4895850"/>
            <a:ext cx="1478280" cy="285750"/>
          </a:xfrm>
          <a:prstGeom prst="rect">
            <a:avLst/>
          </a:prstGeom>
          <a:noFill/>
        </p:spPr>
        <p:txBody>
          <a:bodyPr wrap="square" lIns="28575" rIns="28575" tIns="9525" bIns="9525" anchor="ctr">
            <a:spAutoFit/>
          </a:bodyPr>
          <a:lstStyle/>
          <a:p>
            <a:pPr algn="ctr">
              <a:lnSpc>
                <a:spcPct val="115000"/>
              </a:lnSpc>
            </a:pPr>
            <a:r>
              <a:rPr sz="850" b="1">
                <a:solidFill>
                  <a:srgbClr val="0E72AE"/>
                </a:solidFill>
                <a:latin typeface="Calibri"/>
              </a:rPr>
              <a:t>1. SHARE GAIN</a:t>
            </a:r>
          </a:p>
        </p:txBody>
      </p:sp>
      <p:sp>
        <p:nvSpPr>
          <p:cNvPr id="128" name="TextBox 127"/>
          <p:cNvSpPr txBox="1"/>
          <p:nvPr/>
        </p:nvSpPr>
        <p:spPr>
          <a:xfrm>
            <a:off x="276225" y="5219700"/>
            <a:ext cx="1478280" cy="590550"/>
          </a:xfrm>
          <a:prstGeom prst="rect">
            <a:avLst/>
          </a:prstGeom>
          <a:noFill/>
        </p:spPr>
        <p:txBody>
          <a:bodyPr wrap="square" lIns="28575" rIns="28575" tIns="9525" bIns="9525" anchor="ctr">
            <a:spAutoFit/>
          </a:bodyPr>
          <a:lstStyle/>
          <a:p>
            <a:pPr algn="ctr">
              <a:lnSpc>
                <a:spcPct val="115000"/>
              </a:lnSpc>
            </a:pPr>
            <a:r>
              <a:rPr sz="800" b="0">
                <a:solidFill>
                  <a:srgbClr val="6C7A89"/>
                </a:solidFill>
                <a:latin typeface="Calibri"/>
              </a:rPr>
              <a:t>Company gained value or volume share</a:t>
            </a:r>
          </a:p>
        </p:txBody>
      </p:sp>
      <p:sp>
        <p:nvSpPr>
          <p:cNvPr id="129" name="Rounded Rectangle 128"/>
          <p:cNvSpPr/>
          <p:nvPr/>
        </p:nvSpPr>
        <p:spPr>
          <a:xfrm>
            <a:off x="558165" y="5924550"/>
            <a:ext cx="914400" cy="228600"/>
          </a:xfrm>
          <a:prstGeom prst="roundRect">
            <a:avLst>
              <a:gd name="adj" fmla="val 12500"/>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58165" y="5981700"/>
            <a:ext cx="914400" cy="133350"/>
          </a:xfrm>
          <a:prstGeom prst="rect">
            <a:avLst/>
          </a:prstGeom>
          <a:noFill/>
        </p:spPr>
        <p:txBody>
          <a:bodyPr wrap="square" lIns="28575" rIns="28575" tIns="9525" bIns="9525" anchor="ctr">
            <a:spAutoFit/>
          </a:bodyPr>
          <a:lstStyle/>
          <a:p>
            <a:pPr algn="ctr"/>
            <a:r>
              <a:rPr sz="800" b="1">
                <a:solidFill>
                  <a:srgbClr val="0E72AE"/>
                </a:solidFill>
                <a:latin typeface="Calibri"/>
              </a:rPr>
              <a:t>0–5 POINTS</a:t>
            </a:r>
          </a:p>
        </p:txBody>
      </p:sp>
      <p:sp>
        <p:nvSpPr>
          <p:cNvPr id="131" name="TextBox 130"/>
          <p:cNvSpPr txBox="1"/>
          <p:nvPr/>
        </p:nvSpPr>
        <p:spPr>
          <a:xfrm>
            <a:off x="1754505" y="4552950"/>
            <a:ext cx="57150" cy="171450"/>
          </a:xfrm>
          <a:prstGeom prst="rect">
            <a:avLst/>
          </a:prstGeom>
          <a:noFill/>
        </p:spPr>
        <p:txBody>
          <a:bodyPr wrap="none" lIns="0" rIns="0" tIns="0" bIns="0" anchor="ctr">
            <a:spAutoFit/>
          </a:bodyPr>
          <a:lstStyle/>
          <a:p>
            <a:pPr algn="ctr"/>
            <a:r>
              <a:rPr sz="700" b="1">
                <a:solidFill>
                  <a:srgbClr val="6C7A89"/>
                </a:solidFill>
                <a:latin typeface="Calibri"/>
              </a:rPr>
              <a:t>+</a:t>
            </a:r>
          </a:p>
        </p:txBody>
      </p:sp>
      <p:sp>
        <p:nvSpPr>
          <p:cNvPr id="132" name="Oval 131"/>
          <p:cNvSpPr/>
          <p:nvPr/>
        </p:nvSpPr>
        <p:spPr>
          <a:xfrm>
            <a:off x="2350770" y="4429125"/>
            <a:ext cx="400050" cy="400050"/>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350770" y="4524375"/>
            <a:ext cx="400050" cy="209550"/>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4" name="TextBox 133"/>
          <p:cNvSpPr txBox="1"/>
          <p:nvPr/>
        </p:nvSpPr>
        <p:spPr>
          <a:xfrm>
            <a:off x="1811655" y="4895850"/>
            <a:ext cx="1478280" cy="285750"/>
          </a:xfrm>
          <a:prstGeom prst="rect">
            <a:avLst/>
          </a:prstGeom>
          <a:noFill/>
        </p:spPr>
        <p:txBody>
          <a:bodyPr wrap="square" lIns="28575" rIns="28575" tIns="9525" bIns="9525" anchor="ctr">
            <a:spAutoFit/>
          </a:bodyPr>
          <a:lstStyle/>
          <a:p>
            <a:pPr algn="ctr">
              <a:lnSpc>
                <a:spcPct val="115000"/>
              </a:lnSpc>
            </a:pPr>
            <a:r>
              <a:rPr sz="850" b="1">
                <a:solidFill>
                  <a:srgbClr val="A35313"/>
                </a:solidFill>
                <a:latin typeface="Calibri"/>
              </a:rPr>
              <a:t>2. DISTRIBUTION EXPANSION</a:t>
            </a:r>
          </a:p>
        </p:txBody>
      </p:sp>
      <p:sp>
        <p:nvSpPr>
          <p:cNvPr id="135" name="TextBox 134"/>
          <p:cNvSpPr txBox="1"/>
          <p:nvPr/>
        </p:nvSpPr>
        <p:spPr>
          <a:xfrm>
            <a:off x="1811655" y="5219700"/>
            <a:ext cx="1478280" cy="590550"/>
          </a:xfrm>
          <a:prstGeom prst="rect">
            <a:avLst/>
          </a:prstGeom>
          <a:noFill/>
        </p:spPr>
        <p:txBody>
          <a:bodyPr wrap="square" lIns="28575" rIns="28575" tIns="9525" bIns="9525" anchor="ctr">
            <a:spAutoFit/>
          </a:bodyPr>
          <a:lstStyle/>
          <a:p>
            <a:pPr algn="ctr">
              <a:lnSpc>
                <a:spcPct val="115000"/>
              </a:lnSpc>
            </a:pPr>
            <a:r>
              <a:rPr sz="800" b="0">
                <a:solidFill>
                  <a:srgbClr val="6C7A89"/>
                </a:solidFill>
                <a:latin typeface="Calibri"/>
              </a:rPr>
              <a:t>Expanded channel, retail or e-commerce reach</a:t>
            </a:r>
          </a:p>
        </p:txBody>
      </p:sp>
      <p:sp>
        <p:nvSpPr>
          <p:cNvPr id="136" name="Rounded Rectangle 135"/>
          <p:cNvSpPr/>
          <p:nvPr/>
        </p:nvSpPr>
        <p:spPr>
          <a:xfrm>
            <a:off x="2093595" y="5924550"/>
            <a:ext cx="914400" cy="228600"/>
          </a:xfrm>
          <a:prstGeom prst="roundRect">
            <a:avLst>
              <a:gd name="adj" fmla="val 12500"/>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093595" y="5981700"/>
            <a:ext cx="914400" cy="133350"/>
          </a:xfrm>
          <a:prstGeom prst="rect">
            <a:avLst/>
          </a:prstGeom>
          <a:noFill/>
        </p:spPr>
        <p:txBody>
          <a:bodyPr wrap="square" lIns="28575" rIns="28575" tIns="9525" bIns="9525" anchor="ctr">
            <a:spAutoFit/>
          </a:bodyPr>
          <a:lstStyle/>
          <a:p>
            <a:pPr algn="ctr"/>
            <a:r>
              <a:rPr sz="800" b="1">
                <a:solidFill>
                  <a:srgbClr val="A35313"/>
                </a:solidFill>
                <a:latin typeface="Calibri"/>
              </a:rPr>
              <a:t>0–5 POINTS</a:t>
            </a:r>
          </a:p>
        </p:txBody>
      </p:sp>
      <p:sp>
        <p:nvSpPr>
          <p:cNvPr id="138" name="TextBox 137"/>
          <p:cNvSpPr txBox="1"/>
          <p:nvPr/>
        </p:nvSpPr>
        <p:spPr>
          <a:xfrm>
            <a:off x="3289935" y="4552950"/>
            <a:ext cx="57150" cy="171450"/>
          </a:xfrm>
          <a:prstGeom prst="rect">
            <a:avLst/>
          </a:prstGeom>
          <a:noFill/>
        </p:spPr>
        <p:txBody>
          <a:bodyPr wrap="none" lIns="0" rIns="0" tIns="0" bIns="0" anchor="ctr">
            <a:spAutoFit/>
          </a:bodyPr>
          <a:lstStyle/>
          <a:p>
            <a:pPr algn="ctr"/>
            <a:r>
              <a:rPr sz="700" b="1">
                <a:solidFill>
                  <a:srgbClr val="6C7A89"/>
                </a:solidFill>
                <a:latin typeface="Calibri"/>
              </a:rPr>
              <a:t>+</a:t>
            </a:r>
          </a:p>
        </p:txBody>
      </p:sp>
      <p:sp>
        <p:nvSpPr>
          <p:cNvPr id="139" name="Oval 138"/>
          <p:cNvSpPr/>
          <p:nvPr/>
        </p:nvSpPr>
        <p:spPr>
          <a:xfrm>
            <a:off x="3886200" y="4429125"/>
            <a:ext cx="400050" cy="400050"/>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3886200" y="4524375"/>
            <a:ext cx="400050" cy="209550"/>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1" name="TextBox 140"/>
          <p:cNvSpPr txBox="1"/>
          <p:nvPr/>
        </p:nvSpPr>
        <p:spPr>
          <a:xfrm>
            <a:off x="3347085" y="4895850"/>
            <a:ext cx="1478280" cy="285750"/>
          </a:xfrm>
          <a:prstGeom prst="rect">
            <a:avLst/>
          </a:prstGeom>
          <a:noFill/>
        </p:spPr>
        <p:txBody>
          <a:bodyPr wrap="square" lIns="28575" rIns="28575" tIns="9525" bIns="9525" anchor="ctr">
            <a:spAutoFit/>
          </a:bodyPr>
          <a:lstStyle/>
          <a:p>
            <a:pPr algn="ctr">
              <a:lnSpc>
                <a:spcPct val="115000"/>
              </a:lnSpc>
            </a:pPr>
            <a:r>
              <a:rPr sz="850" b="1">
                <a:solidFill>
                  <a:srgbClr val="69B1E0"/>
                </a:solidFill>
                <a:latin typeface="Calibri"/>
              </a:rPr>
              <a:t>3. INNOVATION / LAUNCHES</a:t>
            </a:r>
          </a:p>
        </p:txBody>
      </p:sp>
      <p:sp>
        <p:nvSpPr>
          <p:cNvPr id="142" name="TextBox 141"/>
          <p:cNvSpPr txBox="1"/>
          <p:nvPr/>
        </p:nvSpPr>
        <p:spPr>
          <a:xfrm>
            <a:off x="3347085" y="5219700"/>
            <a:ext cx="1478280" cy="590550"/>
          </a:xfrm>
          <a:prstGeom prst="rect">
            <a:avLst/>
          </a:prstGeom>
          <a:noFill/>
        </p:spPr>
        <p:txBody>
          <a:bodyPr wrap="square" lIns="28575" rIns="28575" tIns="9525" bIns="9525" anchor="ctr">
            <a:spAutoFit/>
          </a:bodyPr>
          <a:lstStyle/>
          <a:p>
            <a:pPr algn="ctr">
              <a:lnSpc>
                <a:spcPct val="115000"/>
              </a:lnSpc>
            </a:pPr>
            <a:r>
              <a:rPr sz="800" b="0">
                <a:solidFill>
                  <a:srgbClr val="6C7A89"/>
                </a:solidFill>
                <a:latin typeface="Calibri"/>
              </a:rPr>
              <a:t>New SKUs, pack sizes or product improvements</a:t>
            </a:r>
          </a:p>
        </p:txBody>
      </p:sp>
      <p:sp>
        <p:nvSpPr>
          <p:cNvPr id="143" name="Rounded Rectangle 142"/>
          <p:cNvSpPr/>
          <p:nvPr/>
        </p:nvSpPr>
        <p:spPr>
          <a:xfrm>
            <a:off x="3629025" y="5924550"/>
            <a:ext cx="914400" cy="228600"/>
          </a:xfrm>
          <a:prstGeom prst="roundRect">
            <a:avLst>
              <a:gd name="adj" fmla="val 12500"/>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629025" y="5981700"/>
            <a:ext cx="914400" cy="133350"/>
          </a:xfrm>
          <a:prstGeom prst="rect">
            <a:avLst/>
          </a:prstGeom>
          <a:noFill/>
        </p:spPr>
        <p:txBody>
          <a:bodyPr wrap="square" lIns="28575" rIns="28575" tIns="9525" bIns="9525" anchor="ctr">
            <a:spAutoFit/>
          </a:bodyPr>
          <a:lstStyle/>
          <a:p>
            <a:pPr algn="ctr"/>
            <a:r>
              <a:rPr sz="800" b="1">
                <a:solidFill>
                  <a:srgbClr val="69B1E0"/>
                </a:solidFill>
                <a:latin typeface="Calibri"/>
              </a:rPr>
              <a:t>0–5 POINTS</a:t>
            </a:r>
          </a:p>
        </p:txBody>
      </p:sp>
      <p:sp>
        <p:nvSpPr>
          <p:cNvPr id="145" name="TextBox 144"/>
          <p:cNvSpPr txBox="1"/>
          <p:nvPr/>
        </p:nvSpPr>
        <p:spPr>
          <a:xfrm>
            <a:off x="4825365" y="4552950"/>
            <a:ext cx="57150" cy="171450"/>
          </a:xfrm>
          <a:prstGeom prst="rect">
            <a:avLst/>
          </a:prstGeom>
          <a:noFill/>
        </p:spPr>
        <p:txBody>
          <a:bodyPr wrap="none" lIns="0" rIns="0" tIns="0" bIns="0" anchor="ctr">
            <a:spAutoFit/>
          </a:bodyPr>
          <a:lstStyle/>
          <a:p>
            <a:pPr algn="ctr"/>
            <a:r>
              <a:rPr sz="700" b="1">
                <a:solidFill>
                  <a:srgbClr val="6C7A89"/>
                </a:solidFill>
                <a:latin typeface="Calibri"/>
              </a:rPr>
              <a:t>+</a:t>
            </a:r>
          </a:p>
        </p:txBody>
      </p:sp>
      <p:sp>
        <p:nvSpPr>
          <p:cNvPr id="146" name="Oval 145"/>
          <p:cNvSpPr/>
          <p:nvPr/>
        </p:nvSpPr>
        <p:spPr>
          <a:xfrm>
            <a:off x="5421630" y="4429125"/>
            <a:ext cx="400050" cy="400050"/>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421630" y="4524375"/>
            <a:ext cx="400050" cy="209550"/>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8" name="TextBox 147"/>
          <p:cNvSpPr txBox="1"/>
          <p:nvPr/>
        </p:nvSpPr>
        <p:spPr>
          <a:xfrm>
            <a:off x="4882515" y="4895850"/>
            <a:ext cx="1478280" cy="285750"/>
          </a:xfrm>
          <a:prstGeom prst="rect">
            <a:avLst/>
          </a:prstGeom>
          <a:noFill/>
        </p:spPr>
        <p:txBody>
          <a:bodyPr wrap="square" lIns="28575" rIns="28575" tIns="9525" bIns="9525" anchor="ctr">
            <a:spAutoFit/>
          </a:bodyPr>
          <a:lstStyle/>
          <a:p>
            <a:pPr algn="ctr">
              <a:lnSpc>
                <a:spcPct val="115000"/>
              </a:lnSpc>
            </a:pPr>
            <a:r>
              <a:rPr sz="850" b="1">
                <a:solidFill>
                  <a:srgbClr val="6F3CC2"/>
                </a:solidFill>
                <a:latin typeface="Calibri"/>
              </a:rPr>
              <a:t>4. BUYER INFLUENCE</a:t>
            </a:r>
          </a:p>
        </p:txBody>
      </p:sp>
      <p:sp>
        <p:nvSpPr>
          <p:cNvPr id="149" name="TextBox 148"/>
          <p:cNvSpPr txBox="1"/>
          <p:nvPr/>
        </p:nvSpPr>
        <p:spPr>
          <a:xfrm>
            <a:off x="4882515" y="5219700"/>
            <a:ext cx="1478280" cy="590550"/>
          </a:xfrm>
          <a:prstGeom prst="rect">
            <a:avLst/>
          </a:prstGeom>
          <a:noFill/>
        </p:spPr>
        <p:txBody>
          <a:bodyPr wrap="square" lIns="28575" rIns="28575" tIns="9525" bIns="9525" anchor="ctr">
            <a:spAutoFit/>
          </a:bodyPr>
          <a:lstStyle/>
          <a:p>
            <a:pPr algn="ctr">
              <a:lnSpc>
                <a:spcPct val="115000"/>
              </a:lnSpc>
            </a:pPr>
            <a:r>
              <a:rPr sz="800" b="0">
                <a:solidFill>
                  <a:srgbClr val="6C7A89"/>
                </a:solidFill>
                <a:latin typeface="Calibri"/>
              </a:rPr>
              <a:t>Stronger specifier, channel or end-user pull</a:t>
            </a:r>
          </a:p>
        </p:txBody>
      </p:sp>
      <p:sp>
        <p:nvSpPr>
          <p:cNvPr id="150" name="Rounded Rectangle 149"/>
          <p:cNvSpPr/>
          <p:nvPr/>
        </p:nvSpPr>
        <p:spPr>
          <a:xfrm>
            <a:off x="5164455" y="5924550"/>
            <a:ext cx="914400" cy="228600"/>
          </a:xfrm>
          <a:prstGeom prst="roundRect">
            <a:avLst>
              <a:gd name="adj" fmla="val 12500"/>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164455" y="5981700"/>
            <a:ext cx="914400" cy="133350"/>
          </a:xfrm>
          <a:prstGeom prst="rect">
            <a:avLst/>
          </a:prstGeom>
          <a:noFill/>
        </p:spPr>
        <p:txBody>
          <a:bodyPr wrap="square" lIns="28575" rIns="28575" tIns="9525" bIns="9525" anchor="ctr">
            <a:spAutoFit/>
          </a:bodyPr>
          <a:lstStyle/>
          <a:p>
            <a:pPr algn="ctr"/>
            <a:r>
              <a:rPr sz="800" b="1">
                <a:solidFill>
                  <a:srgbClr val="6F3CC2"/>
                </a:solidFill>
                <a:latin typeface="Calibri"/>
              </a:rPr>
              <a:t>0–5 POINTS</a:t>
            </a:r>
          </a:p>
        </p:txBody>
      </p:sp>
      <p:sp>
        <p:nvSpPr>
          <p:cNvPr id="152" name="TextBox 151"/>
          <p:cNvSpPr txBox="1"/>
          <p:nvPr/>
        </p:nvSpPr>
        <p:spPr>
          <a:xfrm>
            <a:off x="6360795" y="4552950"/>
            <a:ext cx="57150" cy="171450"/>
          </a:xfrm>
          <a:prstGeom prst="rect">
            <a:avLst/>
          </a:prstGeom>
          <a:noFill/>
        </p:spPr>
        <p:txBody>
          <a:bodyPr wrap="none" lIns="0" rIns="0" tIns="0" bIns="0" anchor="ctr">
            <a:spAutoFit/>
          </a:bodyPr>
          <a:lstStyle/>
          <a:p>
            <a:pPr algn="ctr"/>
            <a:r>
              <a:rPr sz="700" b="1">
                <a:solidFill>
                  <a:srgbClr val="6C7A89"/>
                </a:solidFill>
                <a:latin typeface="Calibri"/>
              </a:rPr>
              <a:t>+</a:t>
            </a:r>
          </a:p>
        </p:txBody>
      </p:sp>
      <p:sp>
        <p:nvSpPr>
          <p:cNvPr id="153" name="Oval 152"/>
          <p:cNvSpPr/>
          <p:nvPr/>
        </p:nvSpPr>
        <p:spPr>
          <a:xfrm>
            <a:off x="6957060" y="4429125"/>
            <a:ext cx="400050" cy="400050"/>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957060" y="4524375"/>
            <a:ext cx="400050" cy="209550"/>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55" name="TextBox 154"/>
          <p:cNvSpPr txBox="1"/>
          <p:nvPr/>
        </p:nvSpPr>
        <p:spPr>
          <a:xfrm>
            <a:off x="6417945" y="4895850"/>
            <a:ext cx="1478280" cy="285750"/>
          </a:xfrm>
          <a:prstGeom prst="rect">
            <a:avLst/>
          </a:prstGeom>
          <a:noFill/>
        </p:spPr>
        <p:txBody>
          <a:bodyPr wrap="square" lIns="28575" rIns="28575" tIns="9525" bIns="9525" anchor="ctr">
            <a:spAutoFit/>
          </a:bodyPr>
          <a:lstStyle/>
          <a:p>
            <a:pPr algn="ctr">
              <a:lnSpc>
                <a:spcPct val="115000"/>
              </a:lnSpc>
            </a:pPr>
            <a:r>
              <a:rPr sz="850" b="1">
                <a:solidFill>
                  <a:srgbClr val="A86F00"/>
                </a:solidFill>
                <a:latin typeface="Calibri"/>
              </a:rPr>
              <a:t>5. BRAND / PRICING POWER</a:t>
            </a:r>
          </a:p>
        </p:txBody>
      </p:sp>
      <p:sp>
        <p:nvSpPr>
          <p:cNvPr id="156" name="TextBox 155"/>
          <p:cNvSpPr txBox="1"/>
          <p:nvPr/>
        </p:nvSpPr>
        <p:spPr>
          <a:xfrm>
            <a:off x="6417945" y="5219700"/>
            <a:ext cx="1478280" cy="590550"/>
          </a:xfrm>
          <a:prstGeom prst="rect">
            <a:avLst/>
          </a:prstGeom>
          <a:noFill/>
        </p:spPr>
        <p:txBody>
          <a:bodyPr wrap="square" lIns="28575" rIns="28575" tIns="9525" bIns="9525" anchor="ctr">
            <a:spAutoFit/>
          </a:bodyPr>
          <a:lstStyle/>
          <a:p>
            <a:pPr algn="ctr">
              <a:lnSpc>
                <a:spcPct val="115000"/>
              </a:lnSpc>
            </a:pPr>
            <a:r>
              <a:rPr sz="800" b="0">
                <a:solidFill>
                  <a:srgbClr val="6C7A89"/>
                </a:solidFill>
                <a:latin typeface="Calibri"/>
              </a:rPr>
              <a:t>Premiumisation, positioning or pricing execution</a:t>
            </a:r>
          </a:p>
        </p:txBody>
      </p:sp>
      <p:sp>
        <p:nvSpPr>
          <p:cNvPr id="157" name="Rounded Rectangle 156"/>
          <p:cNvSpPr/>
          <p:nvPr/>
        </p:nvSpPr>
        <p:spPr>
          <a:xfrm>
            <a:off x="6699885" y="5924550"/>
            <a:ext cx="914400" cy="228600"/>
          </a:xfrm>
          <a:prstGeom prst="roundRect">
            <a:avLst>
              <a:gd name="adj" fmla="val 12500"/>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699885" y="5981700"/>
            <a:ext cx="914400" cy="133350"/>
          </a:xfrm>
          <a:prstGeom prst="rect">
            <a:avLst/>
          </a:prstGeom>
          <a:noFill/>
        </p:spPr>
        <p:txBody>
          <a:bodyPr wrap="square" lIns="28575" rIns="28575" tIns="9525" bIns="9525" anchor="ctr">
            <a:spAutoFit/>
          </a:bodyPr>
          <a:lstStyle/>
          <a:p>
            <a:pPr algn="ctr"/>
            <a:r>
              <a:rPr sz="800" b="1">
                <a:solidFill>
                  <a:srgbClr val="A86F00"/>
                </a:solidFill>
                <a:latin typeface="Calibri"/>
              </a:rPr>
              <a:t>0–5 POINTS</a:t>
            </a:r>
          </a:p>
        </p:txBody>
      </p:sp>
      <p:sp>
        <p:nvSpPr>
          <p:cNvPr id="159" name="Rounded Rectangle 158"/>
          <p:cNvSpPr/>
          <p:nvPr/>
        </p:nvSpPr>
        <p:spPr>
          <a:xfrm>
            <a:off x="8191500" y="4057650"/>
            <a:ext cx="3857625" cy="2667000"/>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191500" y="4152900"/>
            <a:ext cx="3857625" cy="171450"/>
          </a:xfrm>
          <a:prstGeom prst="rect">
            <a:avLst/>
          </a:prstGeom>
          <a:noFill/>
        </p:spPr>
        <p:txBody>
          <a:bodyPr wrap="square" lIns="28575" rIns="28575" tIns="9525" bIns="9525" anchor="ctr">
            <a:spAutoFit/>
          </a:bodyPr>
          <a:lstStyle/>
          <a:p>
            <a:pPr algn="ctr"/>
            <a:r>
              <a:rPr sz="1000" b="1">
                <a:solidFill>
                  <a:srgbClr val="1F6F63"/>
                </a:solidFill>
                <a:latin typeface="Calibri"/>
              </a:rPr>
              <a:t>BEST WAY TO USE THIS SLIDE</a:t>
            </a:r>
          </a:p>
        </p:txBody>
      </p:sp>
      <p:cxnSp>
        <p:nvCxnSpPr>
          <p:cNvPr id="161" name="Connector 160"/>
          <p:cNvCxnSpPr/>
          <p:nvPr/>
        </p:nvCxnSpPr>
        <p:spPr>
          <a:xfrm>
            <a:off x="8343900" y="4381500"/>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62" name="Oval 161"/>
          <p:cNvSpPr/>
          <p:nvPr/>
        </p:nvSpPr>
        <p:spPr>
          <a:xfrm>
            <a:off x="8372475" y="4619625"/>
            <a:ext cx="285750" cy="285750"/>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372475" y="4667250"/>
            <a:ext cx="285750" cy="190500"/>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4" name="TextBox 163"/>
          <p:cNvSpPr txBox="1"/>
          <p:nvPr/>
        </p:nvSpPr>
        <p:spPr>
          <a:xfrm>
            <a:off x="8743950" y="4610100"/>
            <a:ext cx="3152775" cy="476250"/>
          </a:xfrm>
          <a:prstGeom prst="rect">
            <a:avLst/>
          </a:prstGeom>
          <a:noFill/>
        </p:spPr>
        <p:txBody>
          <a:bodyPr wrap="square" lIns="28575" rIns="28575" tIns="9525" bIns="9525" anchor="ctr">
            <a:spAutoFit/>
          </a:bodyPr>
          <a:lstStyle/>
          <a:p>
            <a:pPr algn="l">
              <a:lnSpc>
                <a:spcPct val="115000"/>
              </a:lnSpc>
            </a:pPr>
            <a:r>
              <a:rPr sz="950" b="0">
                <a:solidFill>
                  <a:srgbClr val="2E2E2E"/>
                </a:solidFill>
                <a:latin typeface="Calibri"/>
              </a:rPr>
              <a:t>Rank companies by impact on category growth</a:t>
            </a:r>
          </a:p>
        </p:txBody>
      </p:sp>
      <p:sp>
        <p:nvSpPr>
          <p:cNvPr id="165" name="Oval 164"/>
          <p:cNvSpPr/>
          <p:nvPr/>
        </p:nvSpPr>
        <p:spPr>
          <a:xfrm>
            <a:off x="8372475" y="5324475"/>
            <a:ext cx="285750" cy="285750"/>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372475" y="5372100"/>
            <a:ext cx="285750" cy="190500"/>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7" name="TextBox 166"/>
          <p:cNvSpPr txBox="1"/>
          <p:nvPr/>
        </p:nvSpPr>
        <p:spPr>
          <a:xfrm>
            <a:off x="8743950" y="5314950"/>
            <a:ext cx="3152775" cy="476250"/>
          </a:xfrm>
          <a:prstGeom prst="rect">
            <a:avLst/>
          </a:prstGeom>
          <a:noFill/>
        </p:spPr>
        <p:txBody>
          <a:bodyPr wrap="square" lIns="28575" rIns="28575" tIns="9525" bIns="9525" anchor="ctr">
            <a:spAutoFit/>
          </a:bodyPr>
          <a:lstStyle/>
          <a:p>
            <a:pPr algn="l">
              <a:lnSpc>
                <a:spcPct val="115000"/>
              </a:lnSpc>
            </a:pPr>
            <a:r>
              <a:rPr sz="950" b="0">
                <a:solidFill>
                  <a:srgbClr val="2E2E2E"/>
                </a:solidFill>
                <a:latin typeface="Calibri"/>
              </a:rPr>
              <a:t>Mention the one move that explains their impact</a:t>
            </a:r>
          </a:p>
        </p:txBody>
      </p:sp>
      <p:sp>
        <p:nvSpPr>
          <p:cNvPr id="168" name="Oval 167"/>
          <p:cNvSpPr/>
          <p:nvPr/>
        </p:nvSpPr>
        <p:spPr>
          <a:xfrm>
            <a:off x="8372475" y="6029325"/>
            <a:ext cx="285750" cy="285750"/>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372475" y="6076950"/>
            <a:ext cx="285750" cy="190500"/>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70" name="TextBox 169"/>
          <p:cNvSpPr txBox="1"/>
          <p:nvPr/>
        </p:nvSpPr>
        <p:spPr>
          <a:xfrm>
            <a:off x="8743950" y="6019800"/>
            <a:ext cx="3152775" cy="476250"/>
          </a:xfrm>
          <a:prstGeom prst="rect">
            <a:avLst/>
          </a:prstGeom>
          <a:noFill/>
        </p:spPr>
        <p:txBody>
          <a:bodyPr wrap="square" lIns="28575" rIns="28575" tIns="9525" bIns="9525" anchor="ctr">
            <a:spAutoFit/>
          </a:bodyPr>
          <a:lstStyle/>
          <a:p>
            <a:pPr algn="l">
              <a:lnSpc>
                <a:spcPct val="115000"/>
              </a:lnSpc>
            </a:pPr>
            <a:r>
              <a:rPr sz="950" b="0">
                <a:solidFill>
                  <a:srgbClr val="2E2E2E"/>
                </a:solidFill>
                <a:latin typeface="Calibri"/>
              </a:rPr>
              <a:t>Do not rely on market share alone</a:t>
            </a:r>
          </a:p>
        </p:txBody>
      </p:sp>
      <p:sp>
        <p:nvSpPr>
          <p:cNvPr id="171" name="Rectangle 17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73" name="Rounded Rectangle 172">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74" name="Rounded Rectangle 173">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75" name="Rounded Rectangle 174">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Humira Biosimilars Market Competitive Dashboard View (2026)</a:t>
            </a:r>
          </a:p>
        </p:txBody>
      </p:sp>
      <p:sp>
        <p:nvSpPr>
          <p:cNvPr id="10" name="TextBox 9"/>
          <p:cNvSpPr txBox="1"/>
          <p:nvPr/>
        </p:nvSpPr>
        <p:spPr>
          <a:xfrm>
            <a:off x="285750" y="819150"/>
            <a:ext cx="10477500" cy="171450"/>
          </a:xfrm>
          <a:prstGeom prst="rect">
            <a:avLst/>
          </a:prstGeom>
          <a:noFill/>
        </p:spPr>
        <p:txBody>
          <a:bodyPr wrap="square" lIns="0" rIns="19050" tIns="0" bIns="0">
            <a:spAutoFit/>
          </a:bodyPr>
          <a:lstStyle/>
          <a:p>
            <a:pPr algn="l"/>
            <a:r>
              <a:rPr sz="950" b="0">
                <a:solidFill>
                  <a:srgbClr val="6C7A89"/>
                </a:solidFill>
                <a:latin typeface="Calibri"/>
              </a:rPr>
              <a:t>Intensified competition across the leading players portfolio, revenue, share, regional presence and strategy.  All figures 2026.</a:t>
            </a:r>
          </a:p>
        </p:txBody>
      </p:sp>
      <p:sp>
        <p:nvSpPr>
          <p:cNvPr id="11" name="Rounded Rectangle 10"/>
          <p:cNvSpPr/>
          <p:nvPr/>
        </p:nvSpPr>
        <p:spPr>
          <a:xfrm>
            <a:off x="133350" y="1009650"/>
            <a:ext cx="11925300" cy="5219700"/>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3350" y="1028700"/>
            <a:ext cx="11925300" cy="36195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3350" y="1028700"/>
            <a:ext cx="1143000" cy="518160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33350" y="139065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167640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259080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291465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323850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3350" y="411480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3350" y="506730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3350"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2058650"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95400"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640806"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986212"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331619"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677025"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022431"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67838"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713244"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2058650"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3350" y="621030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71450" y="1390650"/>
            <a:ext cx="1085850" cy="285750"/>
          </a:xfrm>
          <a:prstGeom prst="rect">
            <a:avLst/>
          </a:prstGeom>
          <a:noFill/>
        </p:spPr>
        <p:txBody>
          <a:bodyPr wrap="square" lIns="19050" rIns="19050" tIns="9525" bIns="9525" anchor="ctr">
            <a:spAutoFit/>
          </a:bodyPr>
          <a:lstStyle/>
          <a:p>
            <a:pPr algn="l">
              <a:lnSpc>
                <a:spcPct val="100000"/>
              </a:lnSpc>
            </a:pPr>
            <a:r>
              <a:rPr sz="800" b="1">
                <a:solidFill>
                  <a:srgbClr val="0B2E4A"/>
                </a:solidFill>
                <a:latin typeface="Calibri"/>
              </a:rPr>
              <a:t>Company / Brand</a:t>
            </a:r>
          </a:p>
        </p:txBody>
      </p:sp>
      <p:sp>
        <p:nvSpPr>
          <p:cNvPr id="34" name="TextBox 33"/>
          <p:cNvSpPr txBox="1"/>
          <p:nvPr/>
        </p:nvSpPr>
        <p:spPr>
          <a:xfrm>
            <a:off x="171450" y="1676400"/>
            <a:ext cx="1085850" cy="914400"/>
          </a:xfrm>
          <a:prstGeom prst="rect">
            <a:avLst/>
          </a:prstGeom>
          <a:noFill/>
        </p:spPr>
        <p:txBody>
          <a:bodyPr wrap="square" lIns="19050" rIns="19050" tIns="9525" bIns="9525" anchor="ctr">
            <a:spAutoFit/>
          </a:bodyPr>
          <a:lstStyle/>
          <a:p>
            <a:pPr algn="l">
              <a:lnSpc>
                <a:spcPct val="100000"/>
              </a:lnSpc>
            </a:pPr>
            <a:r>
              <a:rPr sz="800" b="1">
                <a:solidFill>
                  <a:srgbClr val="0B2E4A"/>
                </a:solidFill>
                <a:latin typeface="Calibri"/>
              </a:rPr>
              <a:t>Product Portfolio</a:t>
            </a:r>
          </a:p>
        </p:txBody>
      </p:sp>
      <p:sp>
        <p:nvSpPr>
          <p:cNvPr id="35" name="TextBox 34"/>
          <p:cNvSpPr txBox="1"/>
          <p:nvPr/>
        </p:nvSpPr>
        <p:spPr>
          <a:xfrm>
            <a:off x="171450" y="2590800"/>
            <a:ext cx="1085850" cy="323850"/>
          </a:xfrm>
          <a:prstGeom prst="rect">
            <a:avLst/>
          </a:prstGeom>
          <a:noFill/>
        </p:spPr>
        <p:txBody>
          <a:bodyPr wrap="square" lIns="19050" rIns="19050" tIns="9525" bIns="9525" anchor="ctr">
            <a:spAutoFit/>
          </a:bodyPr>
          <a:lstStyle/>
          <a:p>
            <a:pPr algn="l">
              <a:lnSpc>
                <a:spcPct val="100000"/>
              </a:lnSpc>
            </a:pPr>
            <a:r>
              <a:rPr sz="800" b="1">
                <a:solidFill>
                  <a:srgbClr val="0B2E4A"/>
                </a:solidFill>
                <a:latin typeface="Calibri"/>
              </a:rPr>
              <a:t>Overall Rev (US$ Mn)</a:t>
            </a:r>
          </a:p>
        </p:txBody>
      </p:sp>
      <p:sp>
        <p:nvSpPr>
          <p:cNvPr id="36" name="TextBox 35"/>
          <p:cNvSpPr txBox="1"/>
          <p:nvPr/>
        </p:nvSpPr>
        <p:spPr>
          <a:xfrm>
            <a:off x="171450" y="2914650"/>
            <a:ext cx="1085850" cy="323850"/>
          </a:xfrm>
          <a:prstGeom prst="rect">
            <a:avLst/>
          </a:prstGeom>
          <a:noFill/>
        </p:spPr>
        <p:txBody>
          <a:bodyPr wrap="square" lIns="19050" rIns="19050" tIns="9525" bIns="9525" anchor="ctr">
            <a:spAutoFit/>
          </a:bodyPr>
          <a:lstStyle/>
          <a:p>
            <a:pPr algn="l">
              <a:lnSpc>
                <a:spcPct val="100000"/>
              </a:lnSpc>
            </a:pPr>
            <a:r>
              <a:rPr sz="800" b="1">
                <a:solidFill>
                  <a:srgbClr val="0B2E4A"/>
                </a:solidFill>
                <a:latin typeface="Calibri"/>
              </a:rPr>
              <a:t>Target Rev (US$ Mn)</a:t>
            </a:r>
          </a:p>
        </p:txBody>
      </p:sp>
      <p:sp>
        <p:nvSpPr>
          <p:cNvPr id="37" name="TextBox 36"/>
          <p:cNvSpPr txBox="1"/>
          <p:nvPr/>
        </p:nvSpPr>
        <p:spPr>
          <a:xfrm>
            <a:off x="171450" y="3238500"/>
            <a:ext cx="1085850" cy="876300"/>
          </a:xfrm>
          <a:prstGeom prst="rect">
            <a:avLst/>
          </a:prstGeom>
          <a:noFill/>
        </p:spPr>
        <p:txBody>
          <a:bodyPr wrap="square" lIns="19050" rIns="19050" tIns="9525" bIns="9525" anchor="ctr">
            <a:spAutoFit/>
          </a:bodyPr>
          <a:lstStyle/>
          <a:p>
            <a:pPr algn="l">
              <a:lnSpc>
                <a:spcPct val="100000"/>
              </a:lnSpc>
            </a:pPr>
            <a:r>
              <a:rPr sz="800" b="1">
                <a:solidFill>
                  <a:srgbClr val="0B2E4A"/>
                </a:solidFill>
                <a:latin typeface="Calibri"/>
              </a:rPr>
              <a:t>Market Share (%)</a:t>
            </a:r>
          </a:p>
        </p:txBody>
      </p:sp>
      <p:sp>
        <p:nvSpPr>
          <p:cNvPr id="38" name="TextBox 37"/>
          <p:cNvSpPr txBox="1"/>
          <p:nvPr/>
        </p:nvSpPr>
        <p:spPr>
          <a:xfrm>
            <a:off x="171450" y="4114800"/>
            <a:ext cx="1085850" cy="952500"/>
          </a:xfrm>
          <a:prstGeom prst="rect">
            <a:avLst/>
          </a:prstGeom>
          <a:noFill/>
        </p:spPr>
        <p:txBody>
          <a:bodyPr wrap="square" lIns="19050" rIns="19050" tIns="9525" bIns="9525" anchor="ctr">
            <a:spAutoFit/>
          </a:bodyPr>
          <a:lstStyle/>
          <a:p>
            <a:pPr algn="l">
              <a:lnSpc>
                <a:spcPct val="100000"/>
              </a:lnSpc>
            </a:pPr>
            <a:r>
              <a:rPr sz="800" b="1">
                <a:solidFill>
                  <a:srgbClr val="0B2E4A"/>
                </a:solidFill>
                <a:latin typeface="Calibri"/>
              </a:rPr>
              <a:t>Regional Presence</a:t>
            </a:r>
          </a:p>
        </p:txBody>
      </p:sp>
      <p:sp>
        <p:nvSpPr>
          <p:cNvPr id="39" name="TextBox 38"/>
          <p:cNvSpPr txBox="1"/>
          <p:nvPr/>
        </p:nvSpPr>
        <p:spPr>
          <a:xfrm>
            <a:off x="171450" y="5067300"/>
            <a:ext cx="1085850" cy="1143000"/>
          </a:xfrm>
          <a:prstGeom prst="rect">
            <a:avLst/>
          </a:prstGeom>
          <a:noFill/>
        </p:spPr>
        <p:txBody>
          <a:bodyPr wrap="square" lIns="19050" rIns="19050" tIns="9525" bIns="9525" anchor="ctr">
            <a:spAutoFit/>
          </a:bodyPr>
          <a:lstStyle/>
          <a:p>
            <a:pPr algn="l">
              <a:lnSpc>
                <a:spcPct val="100000"/>
              </a:lnSpc>
            </a:pPr>
            <a:r>
              <a:rPr sz="800" b="1">
                <a:solidFill>
                  <a:srgbClr val="0B2E4A"/>
                </a:solidFill>
                <a:latin typeface="Calibri"/>
              </a:rPr>
              <a:t>Strategies</a:t>
            </a:r>
          </a:p>
        </p:txBody>
      </p:sp>
      <p:sp>
        <p:nvSpPr>
          <p:cNvPr id="40" name="TextBox 39"/>
          <p:cNvSpPr txBox="1"/>
          <p:nvPr/>
        </p:nvSpPr>
        <p:spPr>
          <a:xfrm>
            <a:off x="1323975" y="1047750"/>
            <a:ext cx="1288256" cy="323850"/>
          </a:xfrm>
          <a:prstGeom prst="rect">
            <a:avLst/>
          </a:prstGeom>
          <a:noFill/>
        </p:spPr>
        <p:txBody>
          <a:bodyPr wrap="square" lIns="9525" rIns="9525" tIns="9525" bIns="9525" anchor="ctr">
            <a:spAutoFit/>
          </a:bodyPr>
          <a:lstStyle/>
          <a:p>
            <a:pPr algn="ctr">
              <a:lnSpc>
                <a:spcPct val="95000"/>
              </a:lnSpc>
            </a:pPr>
            <a:r>
              <a:rPr sz="850" b="1">
                <a:solidFill>
                  <a:srgbClr val="2E2E2E"/>
                </a:solidFill>
                <a:latin typeface="Calibri"/>
              </a:rPr>
              <a:t>Company A</a:t>
            </a:r>
          </a:p>
        </p:txBody>
      </p:sp>
      <p:cxnSp>
        <p:nvCxnSpPr>
          <p:cNvPr id="41" name="Connector 40"/>
          <p:cNvCxnSpPr/>
          <p:nvPr/>
        </p:nvCxnSpPr>
        <p:spPr>
          <a:xfrm>
            <a:off x="1739503" y="1362075"/>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323975" y="1390650"/>
            <a:ext cx="1288256" cy="285750"/>
          </a:xfrm>
          <a:prstGeom prst="rect">
            <a:avLst/>
          </a:prstGeom>
          <a:noFill/>
        </p:spPr>
        <p:txBody>
          <a:bodyPr wrap="square" lIns="28575" rIns="28575" tIns="9525" bIns="9525" anchor="ctr">
            <a:spAutoFit/>
          </a:bodyPr>
          <a:lstStyle/>
          <a:p>
            <a:pPr algn="ctr"/>
            <a:r>
              <a:rPr sz="750" b="0">
                <a:solidFill>
                  <a:srgbClr val="AFB4B9"/>
                </a:solidFill>
                <a:latin typeface="Calibri"/>
              </a:rPr>
              <a:t>Brand A</a:t>
            </a:r>
          </a:p>
        </p:txBody>
      </p:sp>
      <p:sp>
        <p:nvSpPr>
          <p:cNvPr id="43" name="TextBox 42"/>
          <p:cNvSpPr txBox="1"/>
          <p:nvPr/>
        </p:nvSpPr>
        <p:spPr>
          <a:xfrm>
            <a:off x="1314450" y="1714500"/>
            <a:ext cx="1307306" cy="209550"/>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44" name="TextBox 43"/>
          <p:cNvSpPr txBox="1"/>
          <p:nvPr/>
        </p:nvSpPr>
        <p:spPr>
          <a:xfrm>
            <a:off x="1314450" y="1943100"/>
            <a:ext cx="1307306" cy="190500"/>
          </a:xfrm>
          <a:prstGeom prst="rect">
            <a:avLst/>
          </a:prstGeom>
          <a:noFill/>
        </p:spPr>
        <p:txBody>
          <a:bodyPr wrap="square" lIns="28575" rIns="28575" tIns="9525" bIns="9525" anchor="ctr">
            <a:spAutoFit/>
          </a:bodyPr>
          <a:lstStyle/>
          <a:p>
            <a:pPr algn="ctr"/>
            <a:r>
              <a:rPr sz="1000" b="1">
                <a:solidFill>
                  <a:srgbClr val="008189"/>
                </a:solidFill>
                <a:latin typeface="Calibri"/>
              </a:rPr>
              <a:t>✔ </a:t>
            </a:r>
            <a:r>
              <a:rPr sz="1000" b="1">
                <a:solidFill>
                  <a:srgbClr val="008189"/>
                </a:solidFill>
                <a:latin typeface="Calibri"/>
              </a:rPr>
              <a:t>✔ </a:t>
            </a:r>
            <a:r>
              <a:rPr sz="1000" b="1">
                <a:solidFill>
                  <a:srgbClr val="E44D3A"/>
                </a:solidFill>
                <a:latin typeface="Calibri"/>
              </a:rPr>
              <a:t>✘ </a:t>
            </a:r>
          </a:p>
        </p:txBody>
      </p:sp>
      <p:sp>
        <p:nvSpPr>
          <p:cNvPr id="45" name="Rectangle 44"/>
          <p:cNvSpPr/>
          <p:nvPr/>
        </p:nvSpPr>
        <p:spPr>
          <a:xfrm>
            <a:off x="1739503" y="2209800"/>
            <a:ext cx="114300" cy="1143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910953" y="2209800"/>
            <a:ext cx="114300" cy="114300"/>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082403" y="2209800"/>
            <a:ext cx="114300" cy="1143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23975" y="259080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2,463</a:t>
            </a:r>
          </a:p>
        </p:txBody>
      </p:sp>
      <p:sp>
        <p:nvSpPr>
          <p:cNvPr id="49" name="TextBox 48"/>
          <p:cNvSpPr txBox="1"/>
          <p:nvPr/>
        </p:nvSpPr>
        <p:spPr>
          <a:xfrm>
            <a:off x="1323975" y="291465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820.9</a:t>
            </a:r>
          </a:p>
        </p:txBody>
      </p:sp>
      <p:sp>
        <p:nvSpPr>
          <p:cNvPr id="50" name="Oval 49"/>
          <p:cNvSpPr/>
          <p:nvPr/>
        </p:nvSpPr>
        <p:spPr>
          <a:xfrm>
            <a:off x="1720453" y="3409950"/>
            <a:ext cx="495300" cy="495300"/>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724025" y="3409950"/>
            <a:ext cx="495300" cy="495300"/>
          </a:xfrm>
          <a:custGeom>
            <a:avLst/>
            <a:gdLst/>
            <a:ahLst/>
            <a:cxnLst/>
            <a:rect l="l" t="t" r="r" b="b"/>
            <a:pathLst>
              <a:path w="52" h="52">
                <a:moveTo>
                  <a:pt x="26" y="26"/>
                </a:moveTo>
                <a:lnTo>
                  <a:pt x="26" y="0"/>
                </a:lnTo>
                <a:lnTo>
                  <a:pt x="29" y="0"/>
                </a:lnTo>
                <a:lnTo>
                  <a:pt x="32" y="1"/>
                </a:lnTo>
                <a:lnTo>
                  <a:pt x="36" y="2"/>
                </a:lnTo>
                <a:lnTo>
                  <a:pt x="39" y="3"/>
                </a:lnTo>
                <a:lnTo>
                  <a:pt x="41" y="5"/>
                </a:lnTo>
                <a:lnTo>
                  <a:pt x="44" y="8"/>
                </a:lnTo>
                <a:lnTo>
                  <a:pt x="46" y="10"/>
                </a:lnTo>
                <a:lnTo>
                  <a:pt x="48" y="13"/>
                </a:lnTo>
                <a:lnTo>
                  <a:pt x="50" y="16"/>
                </a:lnTo>
                <a:lnTo>
                  <a:pt x="51" y="19"/>
                </a:lnTo>
                <a:lnTo>
                  <a:pt x="51" y="23"/>
                </a:lnTo>
                <a:lnTo>
                  <a:pt x="52" y="26"/>
                </a:lnTo>
                <a:lnTo>
                  <a:pt x="51" y="29"/>
                </a:lnTo>
                <a:lnTo>
                  <a:pt x="51" y="33"/>
                </a:lnTo>
                <a:lnTo>
                  <a:pt x="50" y="36"/>
                </a:lnTo>
                <a:lnTo>
                  <a:pt x="48" y="39"/>
                </a:lnTo>
                <a:lnTo>
                  <a:pt x="46" y="42"/>
                </a:lnTo>
                <a:lnTo>
                  <a:pt x="44" y="44"/>
                </a:lnTo>
                <a:lnTo>
                  <a:pt x="41" y="47"/>
                </a:lnTo>
                <a:lnTo>
                  <a:pt x="39" y="49"/>
                </a:lnTo>
                <a:lnTo>
                  <a:pt x="36" y="50"/>
                </a:lnTo>
                <a:lnTo>
                  <a:pt x="32" y="51"/>
                </a:lnTo>
                <a:lnTo>
                  <a:pt x="29" y="52"/>
                </a:lnTo>
                <a:lnTo>
                  <a:pt x="26" y="52"/>
                </a:lnTo>
                <a:lnTo>
                  <a:pt x="22" y="52"/>
                </a:lnTo>
                <a:lnTo>
                  <a:pt x="19" y="51"/>
                </a:lnTo>
                <a:lnTo>
                  <a:pt x="16" y="50"/>
                </a:lnTo>
                <a:lnTo>
                  <a:pt x="13" y="49"/>
                </a:lnTo>
                <a:lnTo>
                  <a:pt x="10" y="47"/>
                </a:lnTo>
                <a:lnTo>
                  <a:pt x="7" y="44"/>
                </a:lnTo>
                <a:lnTo>
                  <a:pt x="5" y="42"/>
                </a:lnTo>
                <a:lnTo>
                  <a:pt x="3" y="39"/>
                </a:lnTo>
                <a:lnTo>
                  <a:pt x="2" y="36"/>
                </a:lnTo>
                <a:lnTo>
                  <a:pt x="1" y="33"/>
                </a:lnTo>
                <a:lnTo>
                  <a:pt x="0" y="29"/>
                </a:lnTo>
                <a:lnTo>
                  <a:pt x="0" y="26"/>
                </a:lnTo>
                <a:lnTo>
                  <a:pt x="0" y="23"/>
                </a:lnTo>
                <a:lnTo>
                  <a:pt x="1" y="19"/>
                </a:lnTo>
                <a:lnTo>
                  <a:pt x="2" y="16"/>
                </a:lnTo>
                <a:lnTo>
                  <a:pt x="3" y="13"/>
                </a:lnTo>
                <a:lnTo>
                  <a:pt x="5" y="10"/>
                </a:lnTo>
                <a:lnTo>
                  <a:pt x="7" y="8"/>
                </a:lnTo>
                <a:lnTo>
                  <a:pt x="10" y="5"/>
                </a:lnTo>
                <a:lnTo>
                  <a:pt x="13" y="3"/>
                </a:lnTo>
                <a:lnTo>
                  <a:pt x="16" y="2"/>
                </a:lnTo>
                <a:lnTo>
                  <a:pt x="19" y="1"/>
                </a:lnTo>
                <a:lnTo>
                  <a:pt x="22" y="0"/>
                </a:lnTo>
                <a:lnTo>
                  <a:pt x="26"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829419" y="3518916"/>
            <a:ext cx="277368" cy="277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720453" y="3590925"/>
            <a:ext cx="495300" cy="133350"/>
          </a:xfrm>
          <a:prstGeom prst="rect">
            <a:avLst/>
          </a:prstGeom>
          <a:noFill/>
        </p:spPr>
        <p:txBody>
          <a:bodyPr wrap="square" lIns="28575" rIns="28575" tIns="9525" bIns="9525" anchor="ctr">
            <a:spAutoFit/>
          </a:bodyPr>
          <a:lstStyle/>
          <a:p>
            <a:pPr algn="ctr"/>
            <a:r>
              <a:rPr sz="750" b="1">
                <a:solidFill>
                  <a:srgbClr val="0B2E4A"/>
                </a:solidFill>
                <a:latin typeface="Calibri"/>
              </a:rPr>
              <a:t>16.4%</a:t>
            </a:r>
          </a:p>
        </p:txBody>
      </p:sp>
      <p:sp>
        <p:nvSpPr>
          <p:cNvPr id="54" name="TextBox 53"/>
          <p:cNvSpPr txBox="1"/>
          <p:nvPr/>
        </p:nvSpPr>
        <p:spPr>
          <a:xfrm>
            <a:off x="1343025" y="4152900"/>
            <a:ext cx="1259681" cy="876300"/>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750" b="0">
                <a:solidFill>
                  <a:srgbClr val="2E2E2E"/>
                </a:solidFill>
                <a:latin typeface="Calibri"/>
              </a:rPr>
              <a:t>North America  </a:t>
            </a:r>
            <a:r>
              <a:rPr sz="850" b="1">
                <a:solidFill>
                  <a:srgbClr val="0E72AE"/>
                </a:solidFill>
                <a:latin typeface="Calibri"/>
              </a:rPr>
              <a:t>▲</a:t>
            </a:r>
          </a:p>
          <a:p>
            <a:pPr algn="l">
              <a:lnSpc>
                <a:spcPct val="100000"/>
              </a:lnSpc>
              <a:spcBef>
                <a:spcPts val="0"/>
              </a:spcBef>
              <a:spcAft>
                <a:spcPts val="300"/>
              </a:spcAft>
            </a:pPr>
            <a:r>
              <a:rPr sz="750" b="0">
                <a:solidFill>
                  <a:srgbClr val="2E2E2E"/>
                </a:solidFill>
                <a:latin typeface="Calibri"/>
              </a:rPr>
              <a:t>Latin America  </a:t>
            </a:r>
            <a:r>
              <a:rPr sz="850" b="1">
                <a:solidFill>
                  <a:srgbClr val="A86F00"/>
                </a:solidFill>
                <a:latin typeface="Calibri"/>
              </a:rPr>
              <a:t>▲</a:t>
            </a:r>
          </a:p>
          <a:p>
            <a:pPr algn="l">
              <a:lnSpc>
                <a:spcPct val="100000"/>
              </a:lnSpc>
              <a:spcBef>
                <a:spcPts val="0"/>
              </a:spcBef>
              <a:spcAft>
                <a:spcPts val="300"/>
              </a:spcAft>
            </a:pPr>
            <a:r>
              <a:rPr sz="750" b="0">
                <a:solidFill>
                  <a:srgbClr val="2E2E2E"/>
                </a:solidFill>
                <a:latin typeface="Calibri"/>
              </a:rPr>
              <a:t>Europe  </a:t>
            </a:r>
            <a:r>
              <a:rPr sz="850" b="1">
                <a:solidFill>
                  <a:srgbClr val="9AA3A8"/>
                </a:solidFill>
                <a:latin typeface="Calibri"/>
              </a:rPr>
              <a:t>▲</a:t>
            </a:r>
          </a:p>
        </p:txBody>
      </p:sp>
      <p:sp>
        <p:nvSpPr>
          <p:cNvPr id="55" name="Oval 54"/>
          <p:cNvSpPr/>
          <p:nvPr/>
        </p:nvSpPr>
        <p:spPr>
          <a:xfrm>
            <a:off x="1606153"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606153"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57" name="Oval 56"/>
          <p:cNvSpPr/>
          <p:nvPr/>
        </p:nvSpPr>
        <p:spPr>
          <a:xfrm>
            <a:off x="1796653"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796653"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59" name="Oval 58"/>
          <p:cNvSpPr/>
          <p:nvPr/>
        </p:nvSpPr>
        <p:spPr>
          <a:xfrm>
            <a:off x="1987153"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987153"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61" name="Oval 60"/>
          <p:cNvSpPr/>
          <p:nvPr/>
        </p:nvSpPr>
        <p:spPr>
          <a:xfrm>
            <a:off x="2177653" y="545782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177653"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63" name="Oval 62"/>
          <p:cNvSpPr/>
          <p:nvPr/>
        </p:nvSpPr>
        <p:spPr>
          <a:xfrm>
            <a:off x="1701403"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701403"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65" name="Oval 64"/>
          <p:cNvSpPr/>
          <p:nvPr/>
        </p:nvSpPr>
        <p:spPr>
          <a:xfrm>
            <a:off x="1891903"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891903"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67" name="Oval 66"/>
          <p:cNvSpPr/>
          <p:nvPr/>
        </p:nvSpPr>
        <p:spPr>
          <a:xfrm>
            <a:off x="2082403"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082403"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69" name="TextBox 68"/>
          <p:cNvSpPr txBox="1"/>
          <p:nvPr/>
        </p:nvSpPr>
        <p:spPr>
          <a:xfrm>
            <a:off x="2669381" y="1047750"/>
            <a:ext cx="1288256" cy="323850"/>
          </a:xfrm>
          <a:prstGeom prst="rect">
            <a:avLst/>
          </a:prstGeom>
          <a:noFill/>
        </p:spPr>
        <p:txBody>
          <a:bodyPr wrap="square" lIns="9525" rIns="9525" tIns="9525" bIns="9525" anchor="ctr">
            <a:spAutoFit/>
          </a:bodyPr>
          <a:lstStyle/>
          <a:p>
            <a:pPr algn="ctr">
              <a:lnSpc>
                <a:spcPct val="95000"/>
              </a:lnSpc>
            </a:pPr>
            <a:r>
              <a:rPr sz="850" b="1">
                <a:solidFill>
                  <a:srgbClr val="2E2E2E"/>
                </a:solidFill>
                <a:latin typeface="Calibri"/>
              </a:rPr>
              <a:t>Company B</a:t>
            </a:r>
          </a:p>
        </p:txBody>
      </p:sp>
      <p:cxnSp>
        <p:nvCxnSpPr>
          <p:cNvPr id="70" name="Connector 69"/>
          <p:cNvCxnSpPr/>
          <p:nvPr/>
        </p:nvCxnSpPr>
        <p:spPr>
          <a:xfrm>
            <a:off x="3084909" y="1362075"/>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2669381" y="1390650"/>
            <a:ext cx="1288256" cy="285750"/>
          </a:xfrm>
          <a:prstGeom prst="rect">
            <a:avLst/>
          </a:prstGeom>
          <a:noFill/>
        </p:spPr>
        <p:txBody>
          <a:bodyPr wrap="square" lIns="28575" rIns="28575" tIns="9525" bIns="9525" anchor="ctr">
            <a:spAutoFit/>
          </a:bodyPr>
          <a:lstStyle/>
          <a:p>
            <a:pPr algn="ctr"/>
            <a:r>
              <a:rPr sz="750" b="0">
                <a:solidFill>
                  <a:srgbClr val="AFB4B9"/>
                </a:solidFill>
                <a:latin typeface="Calibri"/>
              </a:rPr>
              <a:t>Brand B</a:t>
            </a:r>
          </a:p>
        </p:txBody>
      </p:sp>
      <p:sp>
        <p:nvSpPr>
          <p:cNvPr id="72" name="TextBox 71"/>
          <p:cNvSpPr txBox="1"/>
          <p:nvPr/>
        </p:nvSpPr>
        <p:spPr>
          <a:xfrm>
            <a:off x="2659856" y="1714500"/>
            <a:ext cx="1307306" cy="209550"/>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3" name="TextBox 72"/>
          <p:cNvSpPr txBox="1"/>
          <p:nvPr/>
        </p:nvSpPr>
        <p:spPr>
          <a:xfrm>
            <a:off x="2659856" y="1943100"/>
            <a:ext cx="1307306" cy="190500"/>
          </a:xfrm>
          <a:prstGeom prst="rect">
            <a:avLst/>
          </a:prstGeom>
          <a:noFill/>
        </p:spPr>
        <p:txBody>
          <a:bodyPr wrap="square" lIns="28575" rIns="28575" tIns="9525" bIns="9525" anchor="ctr">
            <a:spAutoFit/>
          </a:bodyPr>
          <a:lstStyle/>
          <a:p>
            <a:pPr algn="ctr"/>
            <a:r>
              <a:rPr sz="1000" b="1">
                <a:solidFill>
                  <a:srgbClr val="008189"/>
                </a:solidFill>
                <a:latin typeface="Calibri"/>
              </a:rPr>
              <a:t>✔ </a:t>
            </a:r>
            <a:r>
              <a:rPr sz="1000" b="1">
                <a:solidFill>
                  <a:srgbClr val="E44D3A"/>
                </a:solidFill>
                <a:latin typeface="Calibri"/>
              </a:rPr>
              <a:t>✘ </a:t>
            </a:r>
            <a:r>
              <a:rPr sz="1000" b="1">
                <a:solidFill>
                  <a:srgbClr val="008189"/>
                </a:solidFill>
                <a:latin typeface="Calibri"/>
              </a:rPr>
              <a:t>✔ </a:t>
            </a:r>
          </a:p>
        </p:txBody>
      </p:sp>
      <p:sp>
        <p:nvSpPr>
          <p:cNvPr id="74" name="Rectangle 73"/>
          <p:cNvSpPr/>
          <p:nvPr/>
        </p:nvSpPr>
        <p:spPr>
          <a:xfrm>
            <a:off x="3084909" y="2209800"/>
            <a:ext cx="114300" cy="1143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256359" y="2209800"/>
            <a:ext cx="114300" cy="114300"/>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3427809" y="2209800"/>
            <a:ext cx="114300" cy="114300"/>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669381" y="259080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2,479</a:t>
            </a:r>
          </a:p>
        </p:txBody>
      </p:sp>
      <p:sp>
        <p:nvSpPr>
          <p:cNvPr id="78" name="TextBox 77"/>
          <p:cNvSpPr txBox="1"/>
          <p:nvPr/>
        </p:nvSpPr>
        <p:spPr>
          <a:xfrm>
            <a:off x="2669381" y="291465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718.7</a:t>
            </a:r>
          </a:p>
        </p:txBody>
      </p:sp>
      <p:sp>
        <p:nvSpPr>
          <p:cNvPr id="79" name="Oval 78"/>
          <p:cNvSpPr/>
          <p:nvPr/>
        </p:nvSpPr>
        <p:spPr>
          <a:xfrm>
            <a:off x="3065859" y="3409950"/>
            <a:ext cx="495300" cy="495300"/>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3067050" y="3409950"/>
            <a:ext cx="495300" cy="495300"/>
          </a:xfrm>
          <a:custGeom>
            <a:avLst/>
            <a:gdLst/>
            <a:ahLst/>
            <a:cxnLst/>
            <a:rect l="l" t="t" r="r" b="b"/>
            <a:pathLst>
              <a:path w="52" h="52">
                <a:moveTo>
                  <a:pt x="26" y="26"/>
                </a:moveTo>
                <a:lnTo>
                  <a:pt x="26" y="0"/>
                </a:lnTo>
                <a:lnTo>
                  <a:pt x="29" y="0"/>
                </a:lnTo>
                <a:lnTo>
                  <a:pt x="33" y="1"/>
                </a:lnTo>
                <a:lnTo>
                  <a:pt x="36" y="2"/>
                </a:lnTo>
                <a:lnTo>
                  <a:pt x="39" y="3"/>
                </a:lnTo>
                <a:lnTo>
                  <a:pt x="42" y="5"/>
                </a:lnTo>
                <a:lnTo>
                  <a:pt x="44" y="8"/>
                </a:lnTo>
                <a:lnTo>
                  <a:pt x="47" y="10"/>
                </a:lnTo>
                <a:lnTo>
                  <a:pt x="48" y="13"/>
                </a:lnTo>
                <a:lnTo>
                  <a:pt x="50" y="16"/>
                </a:lnTo>
                <a:lnTo>
                  <a:pt x="51" y="19"/>
                </a:lnTo>
                <a:lnTo>
                  <a:pt x="52" y="23"/>
                </a:lnTo>
                <a:lnTo>
                  <a:pt x="52" y="26"/>
                </a:lnTo>
                <a:lnTo>
                  <a:pt x="52" y="29"/>
                </a:lnTo>
                <a:lnTo>
                  <a:pt x="51" y="33"/>
                </a:lnTo>
                <a:lnTo>
                  <a:pt x="50" y="36"/>
                </a:lnTo>
                <a:lnTo>
                  <a:pt x="48" y="39"/>
                </a:lnTo>
                <a:lnTo>
                  <a:pt x="46" y="42"/>
                </a:lnTo>
                <a:lnTo>
                  <a:pt x="44" y="44"/>
                </a:lnTo>
                <a:lnTo>
                  <a:pt x="42" y="47"/>
                </a:lnTo>
                <a:lnTo>
                  <a:pt x="39" y="49"/>
                </a:lnTo>
                <a:lnTo>
                  <a:pt x="36" y="50"/>
                </a:lnTo>
                <a:lnTo>
                  <a:pt x="33" y="51"/>
                </a:lnTo>
                <a:lnTo>
                  <a:pt x="29" y="52"/>
                </a:lnTo>
                <a:lnTo>
                  <a:pt x="26" y="52"/>
                </a:lnTo>
                <a:lnTo>
                  <a:pt x="22" y="52"/>
                </a:lnTo>
                <a:lnTo>
                  <a:pt x="19" y="51"/>
                </a:lnTo>
                <a:lnTo>
                  <a:pt x="16" y="50"/>
                </a:lnTo>
                <a:lnTo>
                  <a:pt x="13" y="48"/>
                </a:lnTo>
                <a:lnTo>
                  <a:pt x="10" y="47"/>
                </a:lnTo>
                <a:lnTo>
                  <a:pt x="7" y="44"/>
                </a:lnTo>
                <a:lnTo>
                  <a:pt x="5" y="42"/>
                </a:lnTo>
                <a:lnTo>
                  <a:pt x="3" y="39"/>
                </a:lnTo>
                <a:lnTo>
                  <a:pt x="2" y="36"/>
                </a:lnTo>
                <a:lnTo>
                  <a:pt x="1" y="33"/>
                </a:lnTo>
                <a:lnTo>
                  <a:pt x="0" y="29"/>
                </a:lnTo>
                <a:lnTo>
                  <a:pt x="0" y="26"/>
                </a:lnTo>
                <a:lnTo>
                  <a:pt x="0" y="23"/>
                </a:lnTo>
                <a:lnTo>
                  <a:pt x="1" y="19"/>
                </a:lnTo>
                <a:lnTo>
                  <a:pt x="2" y="16"/>
                </a:lnTo>
                <a:lnTo>
                  <a:pt x="3" y="13"/>
                </a:lnTo>
                <a:lnTo>
                  <a:pt x="5" y="10"/>
                </a:lnTo>
                <a:lnTo>
                  <a:pt x="8" y="8"/>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174825" y="3518916"/>
            <a:ext cx="277368" cy="277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065859" y="3590925"/>
            <a:ext cx="495300" cy="133350"/>
          </a:xfrm>
          <a:prstGeom prst="rect">
            <a:avLst/>
          </a:prstGeom>
          <a:noFill/>
        </p:spPr>
        <p:txBody>
          <a:bodyPr wrap="square" lIns="28575" rIns="28575" tIns="9525" bIns="9525" anchor="ctr">
            <a:spAutoFit/>
          </a:bodyPr>
          <a:lstStyle/>
          <a:p>
            <a:pPr algn="ctr"/>
            <a:r>
              <a:rPr sz="750" b="1">
                <a:solidFill>
                  <a:srgbClr val="0B2E4A"/>
                </a:solidFill>
                <a:latin typeface="Calibri"/>
              </a:rPr>
              <a:t>14.4%</a:t>
            </a:r>
          </a:p>
        </p:txBody>
      </p:sp>
      <p:sp>
        <p:nvSpPr>
          <p:cNvPr id="83" name="TextBox 82"/>
          <p:cNvSpPr txBox="1"/>
          <p:nvPr/>
        </p:nvSpPr>
        <p:spPr>
          <a:xfrm>
            <a:off x="2688431" y="4152900"/>
            <a:ext cx="1259681" cy="876300"/>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750" b="0">
                <a:solidFill>
                  <a:srgbClr val="2E2E2E"/>
                </a:solidFill>
                <a:latin typeface="Calibri"/>
              </a:rPr>
              <a:t>Latin America  </a:t>
            </a:r>
            <a:r>
              <a:rPr sz="850" b="1">
                <a:solidFill>
                  <a:srgbClr val="0E72AE"/>
                </a:solidFill>
                <a:latin typeface="Calibri"/>
              </a:rPr>
              <a:t>▲</a:t>
            </a:r>
          </a:p>
          <a:p>
            <a:pPr algn="l">
              <a:lnSpc>
                <a:spcPct val="100000"/>
              </a:lnSpc>
              <a:spcBef>
                <a:spcPts val="0"/>
              </a:spcBef>
              <a:spcAft>
                <a:spcPts val="300"/>
              </a:spcAft>
            </a:pPr>
            <a:r>
              <a:rPr sz="750" b="0">
                <a:solidFill>
                  <a:srgbClr val="2E2E2E"/>
                </a:solidFill>
                <a:latin typeface="Calibri"/>
              </a:rPr>
              <a:t>Europe  </a:t>
            </a:r>
            <a:r>
              <a:rPr sz="850" b="1">
                <a:solidFill>
                  <a:srgbClr val="A86F00"/>
                </a:solidFill>
                <a:latin typeface="Calibri"/>
              </a:rPr>
              <a:t>▲</a:t>
            </a:r>
          </a:p>
          <a:p>
            <a:pPr algn="l">
              <a:lnSpc>
                <a:spcPct val="100000"/>
              </a:lnSpc>
              <a:spcBef>
                <a:spcPts val="0"/>
              </a:spcBef>
              <a:spcAft>
                <a:spcPts val="300"/>
              </a:spcAft>
            </a:pPr>
            <a:r>
              <a:rPr sz="750" b="0">
                <a:solidFill>
                  <a:srgbClr val="2E2E2E"/>
                </a:solidFill>
                <a:latin typeface="Calibri"/>
              </a:rPr>
              <a:t>East Asia  </a:t>
            </a:r>
            <a:r>
              <a:rPr sz="850" b="1">
                <a:solidFill>
                  <a:srgbClr val="9AA3A8"/>
                </a:solidFill>
                <a:latin typeface="Calibri"/>
              </a:rPr>
              <a:t>▲</a:t>
            </a:r>
          </a:p>
        </p:txBody>
      </p:sp>
      <p:sp>
        <p:nvSpPr>
          <p:cNvPr id="84" name="Oval 83"/>
          <p:cNvSpPr/>
          <p:nvPr/>
        </p:nvSpPr>
        <p:spPr>
          <a:xfrm>
            <a:off x="2951559"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951559"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86" name="Oval 85"/>
          <p:cNvSpPr/>
          <p:nvPr/>
        </p:nvSpPr>
        <p:spPr>
          <a:xfrm>
            <a:off x="3142059"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142059"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88" name="Oval 87"/>
          <p:cNvSpPr/>
          <p:nvPr/>
        </p:nvSpPr>
        <p:spPr>
          <a:xfrm>
            <a:off x="3332559"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332559"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90" name="Oval 89"/>
          <p:cNvSpPr/>
          <p:nvPr/>
        </p:nvSpPr>
        <p:spPr>
          <a:xfrm>
            <a:off x="3523059"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523059"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92" name="Oval 91"/>
          <p:cNvSpPr/>
          <p:nvPr/>
        </p:nvSpPr>
        <p:spPr>
          <a:xfrm>
            <a:off x="3046809"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046809"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94" name="Oval 93"/>
          <p:cNvSpPr/>
          <p:nvPr/>
        </p:nvSpPr>
        <p:spPr>
          <a:xfrm>
            <a:off x="3237309"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237309"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96" name="Oval 95"/>
          <p:cNvSpPr/>
          <p:nvPr/>
        </p:nvSpPr>
        <p:spPr>
          <a:xfrm>
            <a:off x="3427809"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427809"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98" name="TextBox 97"/>
          <p:cNvSpPr txBox="1"/>
          <p:nvPr/>
        </p:nvSpPr>
        <p:spPr>
          <a:xfrm>
            <a:off x="4014788" y="1047750"/>
            <a:ext cx="1288256" cy="323850"/>
          </a:xfrm>
          <a:prstGeom prst="rect">
            <a:avLst/>
          </a:prstGeom>
          <a:noFill/>
        </p:spPr>
        <p:txBody>
          <a:bodyPr wrap="square" lIns="9525" rIns="9525" tIns="9525" bIns="9525" anchor="ctr">
            <a:spAutoFit/>
          </a:bodyPr>
          <a:lstStyle/>
          <a:p>
            <a:pPr algn="ctr">
              <a:lnSpc>
                <a:spcPct val="95000"/>
              </a:lnSpc>
            </a:pPr>
            <a:r>
              <a:rPr sz="850" b="1">
                <a:solidFill>
                  <a:srgbClr val="2E2E2E"/>
                </a:solidFill>
                <a:latin typeface="Calibri"/>
              </a:rPr>
              <a:t>Company C</a:t>
            </a:r>
          </a:p>
        </p:txBody>
      </p:sp>
      <p:cxnSp>
        <p:nvCxnSpPr>
          <p:cNvPr id="99" name="Connector 98"/>
          <p:cNvCxnSpPr/>
          <p:nvPr/>
        </p:nvCxnSpPr>
        <p:spPr>
          <a:xfrm>
            <a:off x="4430316" y="1362075"/>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4014788" y="1390650"/>
            <a:ext cx="1288256" cy="285750"/>
          </a:xfrm>
          <a:prstGeom prst="rect">
            <a:avLst/>
          </a:prstGeom>
          <a:noFill/>
        </p:spPr>
        <p:txBody>
          <a:bodyPr wrap="square" lIns="28575" rIns="28575" tIns="9525" bIns="9525" anchor="ctr">
            <a:spAutoFit/>
          </a:bodyPr>
          <a:lstStyle/>
          <a:p>
            <a:pPr algn="ctr"/>
            <a:r>
              <a:rPr sz="750" b="0">
                <a:solidFill>
                  <a:srgbClr val="AFB4B9"/>
                </a:solidFill>
                <a:latin typeface="Calibri"/>
              </a:rPr>
              <a:t>Brand C</a:t>
            </a:r>
          </a:p>
        </p:txBody>
      </p:sp>
      <p:sp>
        <p:nvSpPr>
          <p:cNvPr id="101" name="TextBox 100"/>
          <p:cNvSpPr txBox="1"/>
          <p:nvPr/>
        </p:nvSpPr>
        <p:spPr>
          <a:xfrm>
            <a:off x="4005262" y="1714500"/>
            <a:ext cx="1307306" cy="209550"/>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2" name="TextBox 101"/>
          <p:cNvSpPr txBox="1"/>
          <p:nvPr/>
        </p:nvSpPr>
        <p:spPr>
          <a:xfrm>
            <a:off x="4005262" y="1943100"/>
            <a:ext cx="1307306" cy="190500"/>
          </a:xfrm>
          <a:prstGeom prst="rect">
            <a:avLst/>
          </a:prstGeom>
          <a:noFill/>
        </p:spPr>
        <p:txBody>
          <a:bodyPr wrap="square" lIns="28575" rIns="28575" tIns="9525" bIns="9525" anchor="ctr">
            <a:spAutoFit/>
          </a:bodyPr>
          <a:lstStyle/>
          <a:p>
            <a:pPr algn="ctr"/>
            <a:r>
              <a:rPr sz="1000" b="1">
                <a:solidFill>
                  <a:srgbClr val="E44D3A"/>
                </a:solidFill>
                <a:latin typeface="Calibri"/>
              </a:rPr>
              <a:t>✘ </a:t>
            </a:r>
            <a:r>
              <a:rPr sz="1000" b="1">
                <a:solidFill>
                  <a:srgbClr val="008189"/>
                </a:solidFill>
                <a:latin typeface="Calibri"/>
              </a:rPr>
              <a:t>✔ </a:t>
            </a:r>
            <a:r>
              <a:rPr sz="1000" b="1">
                <a:solidFill>
                  <a:srgbClr val="008189"/>
                </a:solidFill>
                <a:latin typeface="Calibri"/>
              </a:rPr>
              <a:t>✔ </a:t>
            </a:r>
          </a:p>
        </p:txBody>
      </p:sp>
      <p:sp>
        <p:nvSpPr>
          <p:cNvPr id="103" name="Rectangle 102"/>
          <p:cNvSpPr/>
          <p:nvPr/>
        </p:nvSpPr>
        <p:spPr>
          <a:xfrm>
            <a:off x="4430316" y="2209800"/>
            <a:ext cx="114300" cy="1143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4601766" y="2209800"/>
            <a:ext cx="114300" cy="114300"/>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4773216" y="2209800"/>
            <a:ext cx="114300" cy="1143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014788" y="259080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1,933</a:t>
            </a:r>
          </a:p>
        </p:txBody>
      </p:sp>
      <p:sp>
        <p:nvSpPr>
          <p:cNvPr id="107" name="TextBox 106"/>
          <p:cNvSpPr txBox="1"/>
          <p:nvPr/>
        </p:nvSpPr>
        <p:spPr>
          <a:xfrm>
            <a:off x="4014788" y="291465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495.7</a:t>
            </a:r>
          </a:p>
        </p:txBody>
      </p:sp>
      <p:sp>
        <p:nvSpPr>
          <p:cNvPr id="108" name="Oval 107"/>
          <p:cNvSpPr/>
          <p:nvPr/>
        </p:nvSpPr>
        <p:spPr>
          <a:xfrm>
            <a:off x="4411266" y="3409950"/>
            <a:ext cx="495300" cy="495300"/>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reeform 108"/>
          <p:cNvSpPr/>
          <p:nvPr/>
        </p:nvSpPr>
        <p:spPr>
          <a:xfrm>
            <a:off x="4505325" y="3409950"/>
            <a:ext cx="400050" cy="495300"/>
          </a:xfrm>
          <a:custGeom>
            <a:avLst/>
            <a:gdLst/>
            <a:ahLst/>
            <a:cxnLst/>
            <a:rect l="l" t="t" r="r" b="b"/>
            <a:pathLst>
              <a:path w="42" h="52">
                <a:moveTo>
                  <a:pt x="16" y="26"/>
                </a:moveTo>
                <a:lnTo>
                  <a:pt x="16" y="0"/>
                </a:lnTo>
                <a:lnTo>
                  <a:pt x="20" y="0"/>
                </a:lnTo>
                <a:lnTo>
                  <a:pt x="23" y="1"/>
                </a:lnTo>
                <a:lnTo>
                  <a:pt x="26" y="2"/>
                </a:lnTo>
                <a:lnTo>
                  <a:pt x="30" y="4"/>
                </a:lnTo>
                <a:lnTo>
                  <a:pt x="32" y="6"/>
                </a:lnTo>
                <a:lnTo>
                  <a:pt x="35" y="8"/>
                </a:lnTo>
                <a:lnTo>
                  <a:pt x="37" y="11"/>
                </a:lnTo>
                <a:lnTo>
                  <a:pt x="39" y="14"/>
                </a:lnTo>
                <a:lnTo>
                  <a:pt x="41" y="17"/>
                </a:lnTo>
                <a:lnTo>
                  <a:pt x="42" y="20"/>
                </a:lnTo>
                <a:lnTo>
                  <a:pt x="42" y="24"/>
                </a:lnTo>
                <a:lnTo>
                  <a:pt x="42" y="27"/>
                </a:lnTo>
                <a:lnTo>
                  <a:pt x="42" y="31"/>
                </a:lnTo>
                <a:lnTo>
                  <a:pt x="41" y="34"/>
                </a:lnTo>
                <a:lnTo>
                  <a:pt x="39" y="38"/>
                </a:lnTo>
                <a:lnTo>
                  <a:pt x="38" y="41"/>
                </a:lnTo>
                <a:lnTo>
                  <a:pt x="35" y="43"/>
                </a:lnTo>
                <a:lnTo>
                  <a:pt x="33" y="46"/>
                </a:lnTo>
                <a:lnTo>
                  <a:pt x="30" y="48"/>
                </a:lnTo>
                <a:lnTo>
                  <a:pt x="27" y="50"/>
                </a:lnTo>
                <a:lnTo>
                  <a:pt x="24" y="51"/>
                </a:lnTo>
                <a:lnTo>
                  <a:pt x="20" y="52"/>
                </a:lnTo>
                <a:lnTo>
                  <a:pt x="17" y="52"/>
                </a:lnTo>
                <a:lnTo>
                  <a:pt x="13" y="52"/>
                </a:lnTo>
                <a:lnTo>
                  <a:pt x="10" y="51"/>
                </a:lnTo>
                <a:lnTo>
                  <a:pt x="6" y="50"/>
                </a:lnTo>
                <a:lnTo>
                  <a:pt x="3" y="49"/>
                </a:lnTo>
                <a:lnTo>
                  <a:pt x="0" y="47"/>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4520232" y="3518916"/>
            <a:ext cx="277368" cy="277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411266" y="3590925"/>
            <a:ext cx="495300" cy="133350"/>
          </a:xfrm>
          <a:prstGeom prst="rect">
            <a:avLst/>
          </a:prstGeom>
          <a:noFill/>
        </p:spPr>
        <p:txBody>
          <a:bodyPr wrap="none" lIns="0" rIns="0" tIns="0" bIns="0" anchor="ctr">
            <a:spAutoFit/>
          </a:bodyPr>
          <a:lstStyle/>
          <a:p>
            <a:pPr algn="ctr"/>
            <a:r>
              <a:rPr sz="750" b="1">
                <a:solidFill>
                  <a:srgbClr val="0B2E4A"/>
                </a:solidFill>
                <a:latin typeface="Calibri"/>
              </a:rPr>
              <a:t>9.9%</a:t>
            </a:r>
          </a:p>
        </p:txBody>
      </p:sp>
      <p:sp>
        <p:nvSpPr>
          <p:cNvPr id="112" name="TextBox 111"/>
          <p:cNvSpPr txBox="1"/>
          <p:nvPr/>
        </p:nvSpPr>
        <p:spPr>
          <a:xfrm>
            <a:off x="4033838" y="4152900"/>
            <a:ext cx="1259681" cy="876300"/>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750" b="0">
                <a:solidFill>
                  <a:srgbClr val="2E2E2E"/>
                </a:solidFill>
                <a:latin typeface="Calibri"/>
              </a:rPr>
              <a:t>Europe  </a:t>
            </a:r>
            <a:r>
              <a:rPr sz="850" b="1">
                <a:solidFill>
                  <a:srgbClr val="0E72AE"/>
                </a:solidFill>
                <a:latin typeface="Calibri"/>
              </a:rPr>
              <a:t>▲</a:t>
            </a:r>
          </a:p>
          <a:p>
            <a:pPr algn="l">
              <a:lnSpc>
                <a:spcPct val="100000"/>
              </a:lnSpc>
              <a:spcBef>
                <a:spcPts val="0"/>
              </a:spcBef>
              <a:spcAft>
                <a:spcPts val="300"/>
              </a:spcAft>
            </a:pPr>
            <a:r>
              <a:rPr sz="750" b="0">
                <a:solidFill>
                  <a:srgbClr val="2E2E2E"/>
                </a:solidFill>
                <a:latin typeface="Calibri"/>
              </a:rPr>
              <a:t>East Asia  </a:t>
            </a:r>
            <a:r>
              <a:rPr sz="850" b="1">
                <a:solidFill>
                  <a:srgbClr val="A86F00"/>
                </a:solidFill>
                <a:latin typeface="Calibri"/>
              </a:rPr>
              <a:t>▲</a:t>
            </a:r>
          </a:p>
          <a:p>
            <a:pPr algn="l">
              <a:lnSpc>
                <a:spcPct val="100000"/>
              </a:lnSpc>
              <a:spcBef>
                <a:spcPts val="0"/>
              </a:spcBef>
              <a:spcAft>
                <a:spcPts val="300"/>
              </a:spcAft>
            </a:pPr>
            <a:r>
              <a:rPr sz="750" b="0">
                <a:solidFill>
                  <a:srgbClr val="2E2E2E"/>
                </a:solidFill>
                <a:latin typeface="Calibri"/>
              </a:rPr>
              <a:t>South Asia &amp; Pacific  </a:t>
            </a:r>
            <a:r>
              <a:rPr sz="850" b="1">
                <a:solidFill>
                  <a:srgbClr val="9AA3A8"/>
                </a:solidFill>
                <a:latin typeface="Calibri"/>
              </a:rPr>
              <a:t>▲</a:t>
            </a:r>
          </a:p>
        </p:txBody>
      </p:sp>
      <p:sp>
        <p:nvSpPr>
          <p:cNvPr id="113" name="Oval 112"/>
          <p:cNvSpPr/>
          <p:nvPr/>
        </p:nvSpPr>
        <p:spPr>
          <a:xfrm>
            <a:off x="4296966"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4296966"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115" name="Oval 114"/>
          <p:cNvSpPr/>
          <p:nvPr/>
        </p:nvSpPr>
        <p:spPr>
          <a:xfrm>
            <a:off x="4487466"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487466"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117" name="Oval 116"/>
          <p:cNvSpPr/>
          <p:nvPr/>
        </p:nvSpPr>
        <p:spPr>
          <a:xfrm>
            <a:off x="4677966"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4677966"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119" name="Oval 118"/>
          <p:cNvSpPr/>
          <p:nvPr/>
        </p:nvSpPr>
        <p:spPr>
          <a:xfrm>
            <a:off x="4868466" y="545782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868466"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121" name="Oval 120"/>
          <p:cNvSpPr/>
          <p:nvPr/>
        </p:nvSpPr>
        <p:spPr>
          <a:xfrm>
            <a:off x="4392216"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392216"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123" name="Oval 122"/>
          <p:cNvSpPr/>
          <p:nvPr/>
        </p:nvSpPr>
        <p:spPr>
          <a:xfrm>
            <a:off x="4582716"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582716"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125" name="Oval 124"/>
          <p:cNvSpPr/>
          <p:nvPr/>
        </p:nvSpPr>
        <p:spPr>
          <a:xfrm>
            <a:off x="4773216"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4773216"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127" name="TextBox 126"/>
          <p:cNvSpPr txBox="1"/>
          <p:nvPr/>
        </p:nvSpPr>
        <p:spPr>
          <a:xfrm>
            <a:off x="5360194" y="1047750"/>
            <a:ext cx="1288256" cy="323850"/>
          </a:xfrm>
          <a:prstGeom prst="rect">
            <a:avLst/>
          </a:prstGeom>
          <a:noFill/>
        </p:spPr>
        <p:txBody>
          <a:bodyPr wrap="square" lIns="9525" rIns="9525" tIns="9525" bIns="9525" anchor="ctr">
            <a:spAutoFit/>
          </a:bodyPr>
          <a:lstStyle/>
          <a:p>
            <a:pPr algn="ctr">
              <a:lnSpc>
                <a:spcPct val="95000"/>
              </a:lnSpc>
            </a:pPr>
            <a:r>
              <a:rPr sz="850" b="1">
                <a:solidFill>
                  <a:srgbClr val="2E2E2E"/>
                </a:solidFill>
                <a:latin typeface="Calibri"/>
              </a:rPr>
              <a:t>Company D</a:t>
            </a:r>
          </a:p>
        </p:txBody>
      </p:sp>
      <p:cxnSp>
        <p:nvCxnSpPr>
          <p:cNvPr id="128" name="Connector 127"/>
          <p:cNvCxnSpPr/>
          <p:nvPr/>
        </p:nvCxnSpPr>
        <p:spPr>
          <a:xfrm>
            <a:off x="5775722" y="1362075"/>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5360194" y="1390650"/>
            <a:ext cx="1288256" cy="285750"/>
          </a:xfrm>
          <a:prstGeom prst="rect">
            <a:avLst/>
          </a:prstGeom>
          <a:noFill/>
        </p:spPr>
        <p:txBody>
          <a:bodyPr wrap="square" lIns="28575" rIns="28575" tIns="9525" bIns="9525" anchor="ctr">
            <a:spAutoFit/>
          </a:bodyPr>
          <a:lstStyle/>
          <a:p>
            <a:pPr algn="ctr"/>
            <a:r>
              <a:rPr sz="750" b="0">
                <a:solidFill>
                  <a:srgbClr val="AFB4B9"/>
                </a:solidFill>
                <a:latin typeface="Calibri"/>
              </a:rPr>
              <a:t>Brand D</a:t>
            </a:r>
          </a:p>
        </p:txBody>
      </p:sp>
      <p:sp>
        <p:nvSpPr>
          <p:cNvPr id="130" name="TextBox 129"/>
          <p:cNvSpPr txBox="1"/>
          <p:nvPr/>
        </p:nvSpPr>
        <p:spPr>
          <a:xfrm>
            <a:off x="5350669" y="1714500"/>
            <a:ext cx="1307306" cy="209550"/>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131" name="TextBox 130"/>
          <p:cNvSpPr txBox="1"/>
          <p:nvPr/>
        </p:nvSpPr>
        <p:spPr>
          <a:xfrm>
            <a:off x="5350669" y="1943100"/>
            <a:ext cx="1307306" cy="190500"/>
          </a:xfrm>
          <a:prstGeom prst="rect">
            <a:avLst/>
          </a:prstGeom>
          <a:noFill/>
        </p:spPr>
        <p:txBody>
          <a:bodyPr wrap="square" lIns="28575" rIns="28575" tIns="9525" bIns="9525" anchor="ctr">
            <a:spAutoFit/>
          </a:bodyPr>
          <a:lstStyle/>
          <a:p>
            <a:pPr algn="ctr"/>
            <a:r>
              <a:rPr sz="1000" b="1">
                <a:solidFill>
                  <a:srgbClr val="008189"/>
                </a:solidFill>
                <a:latin typeface="Calibri"/>
              </a:rPr>
              <a:t>✔ </a:t>
            </a:r>
            <a:r>
              <a:rPr sz="1000" b="1">
                <a:solidFill>
                  <a:srgbClr val="008189"/>
                </a:solidFill>
                <a:latin typeface="Calibri"/>
              </a:rPr>
              <a:t>✔ </a:t>
            </a:r>
            <a:r>
              <a:rPr sz="1000" b="1">
                <a:solidFill>
                  <a:srgbClr val="E44D3A"/>
                </a:solidFill>
                <a:latin typeface="Calibri"/>
              </a:rPr>
              <a:t>✘ </a:t>
            </a:r>
          </a:p>
        </p:txBody>
      </p:sp>
      <p:sp>
        <p:nvSpPr>
          <p:cNvPr id="132" name="Rectangle 131"/>
          <p:cNvSpPr/>
          <p:nvPr/>
        </p:nvSpPr>
        <p:spPr>
          <a:xfrm>
            <a:off x="5775722" y="2209800"/>
            <a:ext cx="114300" cy="114300"/>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947172" y="2209800"/>
            <a:ext cx="114300" cy="114300"/>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6118622" y="2209800"/>
            <a:ext cx="114300" cy="1143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360194" y="259080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1,515</a:t>
            </a:r>
          </a:p>
        </p:txBody>
      </p:sp>
      <p:sp>
        <p:nvSpPr>
          <p:cNvPr id="136" name="TextBox 135"/>
          <p:cNvSpPr txBox="1"/>
          <p:nvPr/>
        </p:nvSpPr>
        <p:spPr>
          <a:xfrm>
            <a:off x="5360194" y="291465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348.2</a:t>
            </a:r>
          </a:p>
        </p:txBody>
      </p:sp>
      <p:sp>
        <p:nvSpPr>
          <p:cNvPr id="137" name="Oval 136"/>
          <p:cNvSpPr/>
          <p:nvPr/>
        </p:nvSpPr>
        <p:spPr>
          <a:xfrm>
            <a:off x="5756672" y="3409950"/>
            <a:ext cx="495300" cy="495300"/>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6000750" y="3409950"/>
            <a:ext cx="247650" cy="466725"/>
          </a:xfrm>
          <a:custGeom>
            <a:avLst/>
            <a:gdLst/>
            <a:ahLst/>
            <a:cxnLst/>
            <a:rect l="l" t="t" r="r" b="b"/>
            <a:pathLst>
              <a:path w="26" h="49">
                <a:moveTo>
                  <a:pt x="0" y="26"/>
                </a:moveTo>
                <a:lnTo>
                  <a:pt x="0" y="0"/>
                </a:lnTo>
                <a:lnTo>
                  <a:pt x="4" y="0"/>
                </a:lnTo>
                <a:lnTo>
                  <a:pt x="7" y="1"/>
                </a:lnTo>
                <a:lnTo>
                  <a:pt x="10" y="2"/>
                </a:lnTo>
                <a:lnTo>
                  <a:pt x="14" y="4"/>
                </a:lnTo>
                <a:lnTo>
                  <a:pt x="16" y="6"/>
                </a:lnTo>
                <a:lnTo>
                  <a:pt x="19" y="8"/>
                </a:lnTo>
                <a:lnTo>
                  <a:pt x="21" y="11"/>
                </a:lnTo>
                <a:lnTo>
                  <a:pt x="23" y="13"/>
                </a:lnTo>
                <a:lnTo>
                  <a:pt x="25" y="17"/>
                </a:lnTo>
                <a:lnTo>
                  <a:pt x="26" y="20"/>
                </a:lnTo>
                <a:lnTo>
                  <a:pt x="26" y="23"/>
                </a:lnTo>
                <a:lnTo>
                  <a:pt x="26" y="27"/>
                </a:lnTo>
                <a:lnTo>
                  <a:pt x="26" y="30"/>
                </a:lnTo>
                <a:lnTo>
                  <a:pt x="25" y="34"/>
                </a:lnTo>
                <a:lnTo>
                  <a:pt x="24" y="37"/>
                </a:lnTo>
                <a:lnTo>
                  <a:pt x="22" y="40"/>
                </a:lnTo>
                <a:lnTo>
                  <a:pt x="20" y="43"/>
                </a:lnTo>
                <a:lnTo>
                  <a:pt x="18" y="45"/>
                </a:lnTo>
                <a:lnTo>
                  <a:pt x="15" y="47"/>
                </a:lnTo>
                <a:lnTo>
                  <a:pt x="12" y="4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5865638" y="3518916"/>
            <a:ext cx="277368" cy="277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756672" y="3590925"/>
            <a:ext cx="495300" cy="133350"/>
          </a:xfrm>
          <a:prstGeom prst="rect">
            <a:avLst/>
          </a:prstGeom>
          <a:noFill/>
        </p:spPr>
        <p:txBody>
          <a:bodyPr wrap="none" lIns="0" rIns="0" tIns="0" bIns="0" anchor="ctr">
            <a:spAutoFit/>
          </a:bodyPr>
          <a:lstStyle/>
          <a:p>
            <a:pPr algn="ctr"/>
            <a:r>
              <a:rPr sz="750" b="1">
                <a:solidFill>
                  <a:srgbClr val="0B2E4A"/>
                </a:solidFill>
                <a:latin typeface="Calibri"/>
              </a:rPr>
              <a:t>7.0%</a:t>
            </a:r>
          </a:p>
        </p:txBody>
      </p:sp>
      <p:sp>
        <p:nvSpPr>
          <p:cNvPr id="141" name="TextBox 140"/>
          <p:cNvSpPr txBox="1"/>
          <p:nvPr/>
        </p:nvSpPr>
        <p:spPr>
          <a:xfrm>
            <a:off x="5379244" y="4152900"/>
            <a:ext cx="1259681" cy="876300"/>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750" b="0">
                <a:solidFill>
                  <a:srgbClr val="2E2E2E"/>
                </a:solidFill>
                <a:latin typeface="Calibri"/>
              </a:rPr>
              <a:t>East Asia  </a:t>
            </a:r>
            <a:r>
              <a:rPr sz="850" b="1">
                <a:solidFill>
                  <a:srgbClr val="0E72AE"/>
                </a:solidFill>
                <a:latin typeface="Calibri"/>
              </a:rPr>
              <a:t>▲</a:t>
            </a:r>
          </a:p>
          <a:p>
            <a:pPr algn="l">
              <a:lnSpc>
                <a:spcPct val="100000"/>
              </a:lnSpc>
              <a:spcBef>
                <a:spcPts val="0"/>
              </a:spcBef>
              <a:spcAft>
                <a:spcPts val="300"/>
              </a:spcAft>
            </a:pPr>
            <a:r>
              <a:rPr sz="750" b="0">
                <a:solidFill>
                  <a:srgbClr val="2E2E2E"/>
                </a:solidFill>
                <a:latin typeface="Calibri"/>
              </a:rPr>
              <a:t>South Asia &amp; Pacific  </a:t>
            </a:r>
            <a:r>
              <a:rPr sz="850" b="1">
                <a:solidFill>
                  <a:srgbClr val="A86F00"/>
                </a:solidFill>
                <a:latin typeface="Calibri"/>
              </a:rPr>
              <a:t>▲</a:t>
            </a:r>
          </a:p>
          <a:p>
            <a:pPr algn="l">
              <a:lnSpc>
                <a:spcPct val="100000"/>
              </a:lnSpc>
              <a:spcBef>
                <a:spcPts val="0"/>
              </a:spcBef>
              <a:spcAft>
                <a:spcPts val="300"/>
              </a:spcAft>
            </a:pPr>
            <a:r>
              <a:rPr sz="750" b="0">
                <a:solidFill>
                  <a:srgbClr val="2E2E2E"/>
                </a:solidFill>
                <a:latin typeface="Calibri"/>
              </a:rPr>
              <a:t>Middle East &amp; Africa  </a:t>
            </a:r>
            <a:r>
              <a:rPr sz="850" b="1">
                <a:solidFill>
                  <a:srgbClr val="9AA3A8"/>
                </a:solidFill>
                <a:latin typeface="Calibri"/>
              </a:rPr>
              <a:t>▲</a:t>
            </a:r>
          </a:p>
        </p:txBody>
      </p:sp>
      <p:sp>
        <p:nvSpPr>
          <p:cNvPr id="142" name="Oval 141"/>
          <p:cNvSpPr/>
          <p:nvPr/>
        </p:nvSpPr>
        <p:spPr>
          <a:xfrm>
            <a:off x="5642372"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5642372"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144" name="Oval 143"/>
          <p:cNvSpPr/>
          <p:nvPr/>
        </p:nvSpPr>
        <p:spPr>
          <a:xfrm>
            <a:off x="5832872"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832872"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146" name="Oval 145"/>
          <p:cNvSpPr/>
          <p:nvPr/>
        </p:nvSpPr>
        <p:spPr>
          <a:xfrm>
            <a:off x="6023372"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023372"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148" name="Oval 147"/>
          <p:cNvSpPr/>
          <p:nvPr/>
        </p:nvSpPr>
        <p:spPr>
          <a:xfrm>
            <a:off x="6213872"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213872"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150" name="Oval 149"/>
          <p:cNvSpPr/>
          <p:nvPr/>
        </p:nvSpPr>
        <p:spPr>
          <a:xfrm>
            <a:off x="5737622"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737622"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152" name="Oval 151"/>
          <p:cNvSpPr/>
          <p:nvPr/>
        </p:nvSpPr>
        <p:spPr>
          <a:xfrm>
            <a:off x="5928122"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5928122"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154" name="Oval 153"/>
          <p:cNvSpPr/>
          <p:nvPr/>
        </p:nvSpPr>
        <p:spPr>
          <a:xfrm>
            <a:off x="6118622"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118622"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156" name="TextBox 155"/>
          <p:cNvSpPr txBox="1"/>
          <p:nvPr/>
        </p:nvSpPr>
        <p:spPr>
          <a:xfrm>
            <a:off x="6705600" y="1047750"/>
            <a:ext cx="1288256" cy="323850"/>
          </a:xfrm>
          <a:prstGeom prst="rect">
            <a:avLst/>
          </a:prstGeom>
          <a:noFill/>
        </p:spPr>
        <p:txBody>
          <a:bodyPr wrap="square" lIns="9525" rIns="9525" tIns="9525" bIns="9525" anchor="ctr">
            <a:spAutoFit/>
          </a:bodyPr>
          <a:lstStyle/>
          <a:p>
            <a:pPr algn="ctr">
              <a:lnSpc>
                <a:spcPct val="95000"/>
              </a:lnSpc>
            </a:pPr>
            <a:r>
              <a:rPr sz="850" b="1">
                <a:solidFill>
                  <a:srgbClr val="2E2E2E"/>
                </a:solidFill>
                <a:latin typeface="Calibri"/>
              </a:rPr>
              <a:t>Company E</a:t>
            </a:r>
          </a:p>
        </p:txBody>
      </p:sp>
      <p:cxnSp>
        <p:nvCxnSpPr>
          <p:cNvPr id="157" name="Connector 156"/>
          <p:cNvCxnSpPr/>
          <p:nvPr/>
        </p:nvCxnSpPr>
        <p:spPr>
          <a:xfrm>
            <a:off x="7121128" y="1362075"/>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6705600" y="1390650"/>
            <a:ext cx="1288256" cy="285750"/>
          </a:xfrm>
          <a:prstGeom prst="rect">
            <a:avLst/>
          </a:prstGeom>
          <a:noFill/>
        </p:spPr>
        <p:txBody>
          <a:bodyPr wrap="square" lIns="28575" rIns="28575" tIns="9525" bIns="9525" anchor="ctr">
            <a:spAutoFit/>
          </a:bodyPr>
          <a:lstStyle/>
          <a:p>
            <a:pPr algn="ctr"/>
            <a:r>
              <a:rPr sz="750" b="0">
                <a:solidFill>
                  <a:srgbClr val="AFB4B9"/>
                </a:solidFill>
                <a:latin typeface="Calibri"/>
              </a:rPr>
              <a:t>Brand E</a:t>
            </a:r>
          </a:p>
        </p:txBody>
      </p:sp>
      <p:sp>
        <p:nvSpPr>
          <p:cNvPr id="159" name="TextBox 158"/>
          <p:cNvSpPr txBox="1"/>
          <p:nvPr/>
        </p:nvSpPr>
        <p:spPr>
          <a:xfrm>
            <a:off x="6696075" y="1714500"/>
            <a:ext cx="1307306" cy="209550"/>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60" name="TextBox 159"/>
          <p:cNvSpPr txBox="1"/>
          <p:nvPr/>
        </p:nvSpPr>
        <p:spPr>
          <a:xfrm>
            <a:off x="6696075" y="1943100"/>
            <a:ext cx="1307306" cy="190500"/>
          </a:xfrm>
          <a:prstGeom prst="rect">
            <a:avLst/>
          </a:prstGeom>
          <a:noFill/>
        </p:spPr>
        <p:txBody>
          <a:bodyPr wrap="square" lIns="28575" rIns="28575" tIns="9525" bIns="9525" anchor="ctr">
            <a:spAutoFit/>
          </a:bodyPr>
          <a:lstStyle/>
          <a:p>
            <a:pPr algn="ctr"/>
            <a:r>
              <a:rPr sz="1000" b="1">
                <a:solidFill>
                  <a:srgbClr val="008189"/>
                </a:solidFill>
                <a:latin typeface="Calibri"/>
              </a:rPr>
              <a:t>✔ </a:t>
            </a:r>
            <a:r>
              <a:rPr sz="1000" b="1">
                <a:solidFill>
                  <a:srgbClr val="E44D3A"/>
                </a:solidFill>
                <a:latin typeface="Calibri"/>
              </a:rPr>
              <a:t>✘ </a:t>
            </a:r>
            <a:r>
              <a:rPr sz="1000" b="1">
                <a:solidFill>
                  <a:srgbClr val="008189"/>
                </a:solidFill>
                <a:latin typeface="Calibri"/>
              </a:rPr>
              <a:t>✔ </a:t>
            </a:r>
          </a:p>
        </p:txBody>
      </p:sp>
      <p:sp>
        <p:nvSpPr>
          <p:cNvPr id="161" name="Rectangle 160"/>
          <p:cNvSpPr/>
          <p:nvPr/>
        </p:nvSpPr>
        <p:spPr>
          <a:xfrm>
            <a:off x="7121128" y="2209800"/>
            <a:ext cx="114300" cy="1143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7292578" y="2209800"/>
            <a:ext cx="114300" cy="114300"/>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7464028" y="2209800"/>
            <a:ext cx="114300" cy="1143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705600" y="259080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1,656</a:t>
            </a:r>
          </a:p>
        </p:txBody>
      </p:sp>
      <p:sp>
        <p:nvSpPr>
          <p:cNvPr id="165" name="TextBox 164"/>
          <p:cNvSpPr txBox="1"/>
          <p:nvPr/>
        </p:nvSpPr>
        <p:spPr>
          <a:xfrm>
            <a:off x="6705600" y="291465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345.0</a:t>
            </a:r>
          </a:p>
        </p:txBody>
      </p:sp>
      <p:sp>
        <p:nvSpPr>
          <p:cNvPr id="166" name="Oval 165"/>
          <p:cNvSpPr/>
          <p:nvPr/>
        </p:nvSpPr>
        <p:spPr>
          <a:xfrm>
            <a:off x="7102078" y="3409950"/>
            <a:ext cx="495300" cy="495300"/>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Freeform 166"/>
          <p:cNvSpPr/>
          <p:nvPr/>
        </p:nvSpPr>
        <p:spPr>
          <a:xfrm>
            <a:off x="7353300" y="3409950"/>
            <a:ext cx="247650" cy="466725"/>
          </a:xfrm>
          <a:custGeom>
            <a:avLst/>
            <a:gdLst/>
            <a:ahLst/>
            <a:cxnLst/>
            <a:rect l="l" t="t" r="r" b="b"/>
            <a:pathLst>
              <a:path w="26" h="49">
                <a:moveTo>
                  <a:pt x="0" y="26"/>
                </a:moveTo>
                <a:lnTo>
                  <a:pt x="0" y="0"/>
                </a:lnTo>
                <a:lnTo>
                  <a:pt x="3" y="0"/>
                </a:lnTo>
                <a:lnTo>
                  <a:pt x="6" y="1"/>
                </a:lnTo>
                <a:lnTo>
                  <a:pt x="10" y="2"/>
                </a:lnTo>
                <a:lnTo>
                  <a:pt x="13" y="4"/>
                </a:lnTo>
                <a:lnTo>
                  <a:pt x="16" y="5"/>
                </a:lnTo>
                <a:lnTo>
                  <a:pt x="18" y="8"/>
                </a:lnTo>
                <a:lnTo>
                  <a:pt x="20" y="10"/>
                </a:lnTo>
                <a:lnTo>
                  <a:pt x="22" y="13"/>
                </a:lnTo>
                <a:lnTo>
                  <a:pt x="24" y="16"/>
                </a:lnTo>
                <a:lnTo>
                  <a:pt x="25" y="20"/>
                </a:lnTo>
                <a:lnTo>
                  <a:pt x="25" y="23"/>
                </a:lnTo>
                <a:lnTo>
                  <a:pt x="26" y="26"/>
                </a:lnTo>
                <a:lnTo>
                  <a:pt x="25" y="30"/>
                </a:lnTo>
                <a:lnTo>
                  <a:pt x="25" y="33"/>
                </a:lnTo>
                <a:lnTo>
                  <a:pt x="23" y="36"/>
                </a:lnTo>
                <a:lnTo>
                  <a:pt x="22" y="39"/>
                </a:lnTo>
                <a:lnTo>
                  <a:pt x="20" y="42"/>
                </a:lnTo>
                <a:lnTo>
                  <a:pt x="18" y="45"/>
                </a:lnTo>
                <a:lnTo>
                  <a:pt x="15" y="47"/>
                </a:lnTo>
                <a:lnTo>
                  <a:pt x="12" y="4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7211044" y="3518916"/>
            <a:ext cx="277368" cy="277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7102078" y="3590925"/>
            <a:ext cx="495300" cy="133350"/>
          </a:xfrm>
          <a:prstGeom prst="rect">
            <a:avLst/>
          </a:prstGeom>
          <a:noFill/>
        </p:spPr>
        <p:txBody>
          <a:bodyPr wrap="none" lIns="0" rIns="0" tIns="0" bIns="0" anchor="ctr">
            <a:spAutoFit/>
          </a:bodyPr>
          <a:lstStyle/>
          <a:p>
            <a:pPr algn="ctr"/>
            <a:r>
              <a:rPr sz="750" b="1">
                <a:solidFill>
                  <a:srgbClr val="0B2E4A"/>
                </a:solidFill>
                <a:latin typeface="Calibri"/>
              </a:rPr>
              <a:t>6.9%</a:t>
            </a:r>
          </a:p>
        </p:txBody>
      </p:sp>
      <p:sp>
        <p:nvSpPr>
          <p:cNvPr id="170" name="TextBox 169"/>
          <p:cNvSpPr txBox="1"/>
          <p:nvPr/>
        </p:nvSpPr>
        <p:spPr>
          <a:xfrm>
            <a:off x="6724650" y="4152900"/>
            <a:ext cx="1259681" cy="876300"/>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750" b="0">
                <a:solidFill>
                  <a:srgbClr val="2E2E2E"/>
                </a:solidFill>
                <a:latin typeface="Calibri"/>
              </a:rPr>
              <a:t>South Asia &amp; Pacific  </a:t>
            </a:r>
            <a:r>
              <a:rPr sz="850" b="1">
                <a:solidFill>
                  <a:srgbClr val="0E72AE"/>
                </a:solidFill>
                <a:latin typeface="Calibri"/>
              </a:rPr>
              <a:t>▲</a:t>
            </a:r>
          </a:p>
          <a:p>
            <a:pPr algn="l">
              <a:lnSpc>
                <a:spcPct val="100000"/>
              </a:lnSpc>
              <a:spcBef>
                <a:spcPts val="0"/>
              </a:spcBef>
              <a:spcAft>
                <a:spcPts val="300"/>
              </a:spcAft>
            </a:pPr>
            <a:r>
              <a:rPr sz="750" b="0">
                <a:solidFill>
                  <a:srgbClr val="2E2E2E"/>
                </a:solidFill>
                <a:latin typeface="Calibri"/>
              </a:rPr>
              <a:t>Middle East &amp; Africa  </a:t>
            </a:r>
            <a:r>
              <a:rPr sz="850" b="1">
                <a:solidFill>
                  <a:srgbClr val="A86F00"/>
                </a:solidFill>
                <a:latin typeface="Calibri"/>
              </a:rPr>
              <a:t>▲</a:t>
            </a:r>
          </a:p>
          <a:p>
            <a:pPr algn="l">
              <a:lnSpc>
                <a:spcPct val="100000"/>
              </a:lnSpc>
              <a:spcBef>
                <a:spcPts val="0"/>
              </a:spcBef>
              <a:spcAft>
                <a:spcPts val="300"/>
              </a:spcAft>
            </a:pPr>
            <a:r>
              <a:rPr sz="750" b="0">
                <a:solidFill>
                  <a:srgbClr val="2E2E2E"/>
                </a:solidFill>
                <a:latin typeface="Calibri"/>
              </a:rPr>
              <a:t>North America  </a:t>
            </a:r>
            <a:r>
              <a:rPr sz="850" b="1">
                <a:solidFill>
                  <a:srgbClr val="9AA3A8"/>
                </a:solidFill>
                <a:latin typeface="Calibri"/>
              </a:rPr>
              <a:t>▲</a:t>
            </a:r>
          </a:p>
        </p:txBody>
      </p:sp>
      <p:sp>
        <p:nvSpPr>
          <p:cNvPr id="171" name="Oval 170"/>
          <p:cNvSpPr/>
          <p:nvPr/>
        </p:nvSpPr>
        <p:spPr>
          <a:xfrm>
            <a:off x="6987778"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6987778"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173" name="Oval 172"/>
          <p:cNvSpPr/>
          <p:nvPr/>
        </p:nvSpPr>
        <p:spPr>
          <a:xfrm>
            <a:off x="7178278"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7178278"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175" name="Oval 174"/>
          <p:cNvSpPr/>
          <p:nvPr/>
        </p:nvSpPr>
        <p:spPr>
          <a:xfrm>
            <a:off x="7368778"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7368778"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177" name="Oval 176"/>
          <p:cNvSpPr/>
          <p:nvPr/>
        </p:nvSpPr>
        <p:spPr>
          <a:xfrm>
            <a:off x="7559278" y="545782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7559278"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179" name="Oval 178"/>
          <p:cNvSpPr/>
          <p:nvPr/>
        </p:nvSpPr>
        <p:spPr>
          <a:xfrm>
            <a:off x="7083028"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7083028"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181" name="Oval 180"/>
          <p:cNvSpPr/>
          <p:nvPr/>
        </p:nvSpPr>
        <p:spPr>
          <a:xfrm>
            <a:off x="7273528"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273528"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183" name="Oval 182"/>
          <p:cNvSpPr/>
          <p:nvPr/>
        </p:nvSpPr>
        <p:spPr>
          <a:xfrm>
            <a:off x="7464028"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7464028"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185" name="TextBox 184"/>
          <p:cNvSpPr txBox="1"/>
          <p:nvPr/>
        </p:nvSpPr>
        <p:spPr>
          <a:xfrm>
            <a:off x="8051006" y="1047750"/>
            <a:ext cx="1288256" cy="323850"/>
          </a:xfrm>
          <a:prstGeom prst="rect">
            <a:avLst/>
          </a:prstGeom>
          <a:noFill/>
        </p:spPr>
        <p:txBody>
          <a:bodyPr wrap="square" lIns="9525" rIns="9525" tIns="9525" bIns="9525" anchor="ctr">
            <a:spAutoFit/>
          </a:bodyPr>
          <a:lstStyle/>
          <a:p>
            <a:pPr algn="ctr">
              <a:lnSpc>
                <a:spcPct val="95000"/>
              </a:lnSpc>
            </a:pPr>
            <a:r>
              <a:rPr sz="850" b="1">
                <a:solidFill>
                  <a:srgbClr val="2E2E2E"/>
                </a:solidFill>
                <a:latin typeface="Calibri"/>
              </a:rPr>
              <a:t>Company F</a:t>
            </a:r>
          </a:p>
        </p:txBody>
      </p:sp>
      <p:cxnSp>
        <p:nvCxnSpPr>
          <p:cNvPr id="186" name="Connector 185"/>
          <p:cNvCxnSpPr/>
          <p:nvPr/>
        </p:nvCxnSpPr>
        <p:spPr>
          <a:xfrm>
            <a:off x="8466534" y="1362075"/>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8051006" y="1390650"/>
            <a:ext cx="1288256" cy="285750"/>
          </a:xfrm>
          <a:prstGeom prst="rect">
            <a:avLst/>
          </a:prstGeom>
          <a:noFill/>
        </p:spPr>
        <p:txBody>
          <a:bodyPr wrap="square" lIns="28575" rIns="28575" tIns="9525" bIns="9525" anchor="ctr">
            <a:spAutoFit/>
          </a:bodyPr>
          <a:lstStyle/>
          <a:p>
            <a:pPr algn="ctr"/>
            <a:r>
              <a:rPr sz="750" b="0">
                <a:solidFill>
                  <a:srgbClr val="AFB4B9"/>
                </a:solidFill>
                <a:latin typeface="Calibri"/>
              </a:rPr>
              <a:t>Brand F</a:t>
            </a:r>
          </a:p>
        </p:txBody>
      </p:sp>
      <p:sp>
        <p:nvSpPr>
          <p:cNvPr id="188" name="TextBox 187"/>
          <p:cNvSpPr txBox="1"/>
          <p:nvPr/>
        </p:nvSpPr>
        <p:spPr>
          <a:xfrm>
            <a:off x="8041481" y="1714500"/>
            <a:ext cx="1307306" cy="209550"/>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89" name="TextBox 188"/>
          <p:cNvSpPr txBox="1"/>
          <p:nvPr/>
        </p:nvSpPr>
        <p:spPr>
          <a:xfrm>
            <a:off x="8041481" y="1943100"/>
            <a:ext cx="1307306" cy="190500"/>
          </a:xfrm>
          <a:prstGeom prst="rect">
            <a:avLst/>
          </a:prstGeom>
          <a:noFill/>
        </p:spPr>
        <p:txBody>
          <a:bodyPr wrap="square" lIns="28575" rIns="28575" tIns="9525" bIns="9525" anchor="ctr">
            <a:spAutoFit/>
          </a:bodyPr>
          <a:lstStyle/>
          <a:p>
            <a:pPr algn="ctr"/>
            <a:r>
              <a:rPr sz="1000" b="1">
                <a:solidFill>
                  <a:srgbClr val="E44D3A"/>
                </a:solidFill>
                <a:latin typeface="Calibri"/>
              </a:rPr>
              <a:t>✘ </a:t>
            </a:r>
            <a:r>
              <a:rPr sz="1000" b="1">
                <a:solidFill>
                  <a:srgbClr val="008189"/>
                </a:solidFill>
                <a:latin typeface="Calibri"/>
              </a:rPr>
              <a:t>✔ </a:t>
            </a:r>
            <a:r>
              <a:rPr sz="1000" b="1">
                <a:solidFill>
                  <a:srgbClr val="008189"/>
                </a:solidFill>
                <a:latin typeface="Calibri"/>
              </a:rPr>
              <a:t>✔ </a:t>
            </a:r>
          </a:p>
        </p:txBody>
      </p:sp>
      <p:sp>
        <p:nvSpPr>
          <p:cNvPr id="190" name="Rectangle 189"/>
          <p:cNvSpPr/>
          <p:nvPr/>
        </p:nvSpPr>
        <p:spPr>
          <a:xfrm>
            <a:off x="8466534" y="2209800"/>
            <a:ext cx="114300" cy="1143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8637984" y="2209800"/>
            <a:ext cx="114300" cy="114300"/>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8809434" y="2209800"/>
            <a:ext cx="114300" cy="114300"/>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8051006" y="259080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1,800</a:t>
            </a:r>
          </a:p>
        </p:txBody>
      </p:sp>
      <p:sp>
        <p:nvSpPr>
          <p:cNvPr id="194" name="TextBox 193"/>
          <p:cNvSpPr txBox="1"/>
          <p:nvPr/>
        </p:nvSpPr>
        <p:spPr>
          <a:xfrm>
            <a:off x="8051006" y="291465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342.9</a:t>
            </a:r>
          </a:p>
        </p:txBody>
      </p:sp>
      <p:sp>
        <p:nvSpPr>
          <p:cNvPr id="195" name="Oval 194"/>
          <p:cNvSpPr/>
          <p:nvPr/>
        </p:nvSpPr>
        <p:spPr>
          <a:xfrm>
            <a:off x="8447484" y="3409950"/>
            <a:ext cx="495300" cy="495300"/>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Freeform 195"/>
          <p:cNvSpPr/>
          <p:nvPr/>
        </p:nvSpPr>
        <p:spPr>
          <a:xfrm>
            <a:off x="8696325" y="3409950"/>
            <a:ext cx="247650" cy="466725"/>
          </a:xfrm>
          <a:custGeom>
            <a:avLst/>
            <a:gdLst/>
            <a:ahLst/>
            <a:cxnLst/>
            <a:rect l="l" t="t" r="r" b="b"/>
            <a:pathLst>
              <a:path w="26" h="49">
                <a:moveTo>
                  <a:pt x="0" y="26"/>
                </a:moveTo>
                <a:lnTo>
                  <a:pt x="0" y="0"/>
                </a:lnTo>
                <a:lnTo>
                  <a:pt x="3" y="0"/>
                </a:lnTo>
                <a:lnTo>
                  <a:pt x="7" y="1"/>
                </a:lnTo>
                <a:lnTo>
                  <a:pt x="10" y="2"/>
                </a:lnTo>
                <a:lnTo>
                  <a:pt x="13" y="4"/>
                </a:lnTo>
                <a:lnTo>
                  <a:pt x="16" y="5"/>
                </a:lnTo>
                <a:lnTo>
                  <a:pt x="18" y="8"/>
                </a:lnTo>
                <a:lnTo>
                  <a:pt x="21" y="10"/>
                </a:lnTo>
                <a:lnTo>
                  <a:pt x="22" y="13"/>
                </a:lnTo>
                <a:lnTo>
                  <a:pt x="24" y="16"/>
                </a:lnTo>
                <a:lnTo>
                  <a:pt x="25" y="19"/>
                </a:lnTo>
                <a:lnTo>
                  <a:pt x="26" y="23"/>
                </a:lnTo>
                <a:lnTo>
                  <a:pt x="26" y="26"/>
                </a:lnTo>
                <a:lnTo>
                  <a:pt x="26" y="30"/>
                </a:lnTo>
                <a:lnTo>
                  <a:pt x="25" y="33"/>
                </a:lnTo>
                <a:lnTo>
                  <a:pt x="24" y="36"/>
                </a:lnTo>
                <a:lnTo>
                  <a:pt x="22" y="39"/>
                </a:lnTo>
                <a:lnTo>
                  <a:pt x="20" y="42"/>
                </a:lnTo>
                <a:lnTo>
                  <a:pt x="18" y="44"/>
                </a:lnTo>
                <a:lnTo>
                  <a:pt x="16" y="47"/>
                </a:lnTo>
                <a:lnTo>
                  <a:pt x="13" y="4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8556450" y="3518916"/>
            <a:ext cx="277368" cy="277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8447484" y="3590925"/>
            <a:ext cx="495300" cy="133350"/>
          </a:xfrm>
          <a:prstGeom prst="rect">
            <a:avLst/>
          </a:prstGeom>
          <a:noFill/>
        </p:spPr>
        <p:txBody>
          <a:bodyPr wrap="none" lIns="0" rIns="0" tIns="0" bIns="0" anchor="ctr">
            <a:spAutoFit/>
          </a:bodyPr>
          <a:lstStyle/>
          <a:p>
            <a:pPr algn="ctr"/>
            <a:r>
              <a:rPr sz="750" b="1">
                <a:solidFill>
                  <a:srgbClr val="0B2E4A"/>
                </a:solidFill>
                <a:latin typeface="Calibri"/>
              </a:rPr>
              <a:t>6.9%</a:t>
            </a:r>
          </a:p>
        </p:txBody>
      </p:sp>
      <p:sp>
        <p:nvSpPr>
          <p:cNvPr id="199" name="TextBox 198"/>
          <p:cNvSpPr txBox="1"/>
          <p:nvPr/>
        </p:nvSpPr>
        <p:spPr>
          <a:xfrm>
            <a:off x="8070056" y="4152900"/>
            <a:ext cx="1259681" cy="876300"/>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750" b="0">
                <a:solidFill>
                  <a:srgbClr val="2E2E2E"/>
                </a:solidFill>
                <a:latin typeface="Calibri"/>
              </a:rPr>
              <a:t>Middle East &amp; Africa  </a:t>
            </a:r>
            <a:r>
              <a:rPr sz="850" b="1">
                <a:solidFill>
                  <a:srgbClr val="0E72AE"/>
                </a:solidFill>
                <a:latin typeface="Calibri"/>
              </a:rPr>
              <a:t>▲</a:t>
            </a:r>
          </a:p>
          <a:p>
            <a:pPr algn="l">
              <a:lnSpc>
                <a:spcPct val="100000"/>
              </a:lnSpc>
              <a:spcBef>
                <a:spcPts val="0"/>
              </a:spcBef>
              <a:spcAft>
                <a:spcPts val="300"/>
              </a:spcAft>
            </a:pPr>
            <a:r>
              <a:rPr sz="750" b="0">
                <a:solidFill>
                  <a:srgbClr val="2E2E2E"/>
                </a:solidFill>
                <a:latin typeface="Calibri"/>
              </a:rPr>
              <a:t>North America  </a:t>
            </a:r>
            <a:r>
              <a:rPr sz="850" b="1">
                <a:solidFill>
                  <a:srgbClr val="A86F00"/>
                </a:solidFill>
                <a:latin typeface="Calibri"/>
              </a:rPr>
              <a:t>▲</a:t>
            </a:r>
          </a:p>
          <a:p>
            <a:pPr algn="l">
              <a:lnSpc>
                <a:spcPct val="100000"/>
              </a:lnSpc>
              <a:spcBef>
                <a:spcPts val="0"/>
              </a:spcBef>
              <a:spcAft>
                <a:spcPts val="300"/>
              </a:spcAft>
            </a:pPr>
            <a:r>
              <a:rPr sz="750" b="0">
                <a:solidFill>
                  <a:srgbClr val="2E2E2E"/>
                </a:solidFill>
                <a:latin typeface="Calibri"/>
              </a:rPr>
              <a:t>Latin America  </a:t>
            </a:r>
            <a:r>
              <a:rPr sz="850" b="1">
                <a:solidFill>
                  <a:srgbClr val="9AA3A8"/>
                </a:solidFill>
                <a:latin typeface="Calibri"/>
              </a:rPr>
              <a:t>▲</a:t>
            </a:r>
          </a:p>
        </p:txBody>
      </p:sp>
      <p:sp>
        <p:nvSpPr>
          <p:cNvPr id="200" name="Oval 199"/>
          <p:cNvSpPr/>
          <p:nvPr/>
        </p:nvSpPr>
        <p:spPr>
          <a:xfrm>
            <a:off x="8333184"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8333184"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202" name="Oval 201"/>
          <p:cNvSpPr/>
          <p:nvPr/>
        </p:nvSpPr>
        <p:spPr>
          <a:xfrm>
            <a:off x="8523684"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8523684"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204" name="Oval 203"/>
          <p:cNvSpPr/>
          <p:nvPr/>
        </p:nvSpPr>
        <p:spPr>
          <a:xfrm>
            <a:off x="8714184"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8714184"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206" name="Oval 205"/>
          <p:cNvSpPr/>
          <p:nvPr/>
        </p:nvSpPr>
        <p:spPr>
          <a:xfrm>
            <a:off x="8904684"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8904684"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208" name="Oval 207"/>
          <p:cNvSpPr/>
          <p:nvPr/>
        </p:nvSpPr>
        <p:spPr>
          <a:xfrm>
            <a:off x="8428434"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8428434"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210" name="Oval 209"/>
          <p:cNvSpPr/>
          <p:nvPr/>
        </p:nvSpPr>
        <p:spPr>
          <a:xfrm>
            <a:off x="8618934"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8618934"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212" name="Oval 211"/>
          <p:cNvSpPr/>
          <p:nvPr/>
        </p:nvSpPr>
        <p:spPr>
          <a:xfrm>
            <a:off x="8809434"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8809434"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214" name="TextBox 213"/>
          <p:cNvSpPr txBox="1"/>
          <p:nvPr/>
        </p:nvSpPr>
        <p:spPr>
          <a:xfrm>
            <a:off x="9396412" y="1047750"/>
            <a:ext cx="1288256" cy="323850"/>
          </a:xfrm>
          <a:prstGeom prst="rect">
            <a:avLst/>
          </a:prstGeom>
          <a:noFill/>
        </p:spPr>
        <p:txBody>
          <a:bodyPr wrap="square" lIns="9525" rIns="9525" tIns="9525" bIns="9525" anchor="ctr">
            <a:spAutoFit/>
          </a:bodyPr>
          <a:lstStyle/>
          <a:p>
            <a:pPr algn="ctr">
              <a:lnSpc>
                <a:spcPct val="95000"/>
              </a:lnSpc>
            </a:pPr>
            <a:r>
              <a:rPr sz="850" b="1">
                <a:solidFill>
                  <a:srgbClr val="2E2E2E"/>
                </a:solidFill>
                <a:latin typeface="Calibri"/>
              </a:rPr>
              <a:t>Company G</a:t>
            </a:r>
          </a:p>
        </p:txBody>
      </p:sp>
      <p:cxnSp>
        <p:nvCxnSpPr>
          <p:cNvPr id="215" name="Connector 214"/>
          <p:cNvCxnSpPr/>
          <p:nvPr/>
        </p:nvCxnSpPr>
        <p:spPr>
          <a:xfrm>
            <a:off x="9811941" y="1362075"/>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9396412" y="1390650"/>
            <a:ext cx="1288256" cy="285750"/>
          </a:xfrm>
          <a:prstGeom prst="rect">
            <a:avLst/>
          </a:prstGeom>
          <a:noFill/>
        </p:spPr>
        <p:txBody>
          <a:bodyPr wrap="square" lIns="28575" rIns="28575" tIns="9525" bIns="9525" anchor="ctr">
            <a:spAutoFit/>
          </a:bodyPr>
          <a:lstStyle/>
          <a:p>
            <a:pPr algn="ctr"/>
            <a:r>
              <a:rPr sz="750" b="0">
                <a:solidFill>
                  <a:srgbClr val="AFB4B9"/>
                </a:solidFill>
                <a:latin typeface="Calibri"/>
              </a:rPr>
              <a:t>Brand G</a:t>
            </a:r>
          </a:p>
        </p:txBody>
      </p:sp>
      <p:sp>
        <p:nvSpPr>
          <p:cNvPr id="217" name="TextBox 216"/>
          <p:cNvSpPr txBox="1"/>
          <p:nvPr/>
        </p:nvSpPr>
        <p:spPr>
          <a:xfrm>
            <a:off x="9386888" y="1714500"/>
            <a:ext cx="1307306" cy="209550"/>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218" name="TextBox 217"/>
          <p:cNvSpPr txBox="1"/>
          <p:nvPr/>
        </p:nvSpPr>
        <p:spPr>
          <a:xfrm>
            <a:off x="9386888" y="1943100"/>
            <a:ext cx="1307306" cy="190500"/>
          </a:xfrm>
          <a:prstGeom prst="rect">
            <a:avLst/>
          </a:prstGeom>
          <a:noFill/>
        </p:spPr>
        <p:txBody>
          <a:bodyPr wrap="square" lIns="28575" rIns="28575" tIns="9525" bIns="9525" anchor="ctr">
            <a:spAutoFit/>
          </a:bodyPr>
          <a:lstStyle/>
          <a:p>
            <a:pPr algn="ctr"/>
            <a:r>
              <a:rPr sz="1000" b="1">
                <a:solidFill>
                  <a:srgbClr val="008189"/>
                </a:solidFill>
                <a:latin typeface="Calibri"/>
              </a:rPr>
              <a:t>✔ </a:t>
            </a:r>
            <a:r>
              <a:rPr sz="1000" b="1">
                <a:solidFill>
                  <a:srgbClr val="008189"/>
                </a:solidFill>
                <a:latin typeface="Calibri"/>
              </a:rPr>
              <a:t>✔ </a:t>
            </a:r>
            <a:r>
              <a:rPr sz="1000" b="1">
                <a:solidFill>
                  <a:srgbClr val="E44D3A"/>
                </a:solidFill>
                <a:latin typeface="Calibri"/>
              </a:rPr>
              <a:t>✘ </a:t>
            </a:r>
          </a:p>
        </p:txBody>
      </p:sp>
      <p:sp>
        <p:nvSpPr>
          <p:cNvPr id="219" name="Rectangle 218"/>
          <p:cNvSpPr/>
          <p:nvPr/>
        </p:nvSpPr>
        <p:spPr>
          <a:xfrm>
            <a:off x="9811941" y="2209800"/>
            <a:ext cx="114300" cy="1143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9983391" y="2209800"/>
            <a:ext cx="114300" cy="114300"/>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10154841" y="2209800"/>
            <a:ext cx="114300" cy="1143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9396412" y="259080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1,565</a:t>
            </a:r>
          </a:p>
        </p:txBody>
      </p:sp>
      <p:sp>
        <p:nvSpPr>
          <p:cNvPr id="223" name="TextBox 222"/>
          <p:cNvSpPr txBox="1"/>
          <p:nvPr/>
        </p:nvSpPr>
        <p:spPr>
          <a:xfrm>
            <a:off x="9396412" y="291465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274.5</a:t>
            </a:r>
          </a:p>
        </p:txBody>
      </p:sp>
      <p:sp>
        <p:nvSpPr>
          <p:cNvPr id="224" name="Oval 223"/>
          <p:cNvSpPr/>
          <p:nvPr/>
        </p:nvSpPr>
        <p:spPr>
          <a:xfrm>
            <a:off x="9792891" y="3409950"/>
            <a:ext cx="495300" cy="495300"/>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Freeform 224"/>
          <p:cNvSpPr/>
          <p:nvPr/>
        </p:nvSpPr>
        <p:spPr>
          <a:xfrm>
            <a:off x="10039350" y="3409950"/>
            <a:ext cx="247650" cy="371475"/>
          </a:xfrm>
          <a:custGeom>
            <a:avLst/>
            <a:gdLst/>
            <a:ahLst/>
            <a:cxnLst/>
            <a:rect l="l" t="t" r="r" b="b"/>
            <a:pathLst>
              <a:path w="26" h="39">
                <a:moveTo>
                  <a:pt x="0" y="26"/>
                </a:moveTo>
                <a:lnTo>
                  <a:pt x="0" y="0"/>
                </a:lnTo>
                <a:lnTo>
                  <a:pt x="4" y="0"/>
                </a:lnTo>
                <a:lnTo>
                  <a:pt x="7" y="1"/>
                </a:lnTo>
                <a:lnTo>
                  <a:pt x="10" y="2"/>
                </a:lnTo>
                <a:lnTo>
                  <a:pt x="13" y="4"/>
                </a:lnTo>
                <a:lnTo>
                  <a:pt x="16" y="5"/>
                </a:lnTo>
                <a:lnTo>
                  <a:pt x="19" y="8"/>
                </a:lnTo>
                <a:lnTo>
                  <a:pt x="21" y="10"/>
                </a:lnTo>
                <a:lnTo>
                  <a:pt x="23" y="13"/>
                </a:lnTo>
                <a:lnTo>
                  <a:pt x="24" y="16"/>
                </a:lnTo>
                <a:lnTo>
                  <a:pt x="25" y="19"/>
                </a:lnTo>
                <a:lnTo>
                  <a:pt x="26" y="23"/>
                </a:lnTo>
                <a:lnTo>
                  <a:pt x="26" y="26"/>
                </a:lnTo>
                <a:lnTo>
                  <a:pt x="26" y="30"/>
                </a:lnTo>
                <a:lnTo>
                  <a:pt x="25" y="33"/>
                </a:lnTo>
                <a:lnTo>
                  <a:pt x="24" y="36"/>
                </a:lnTo>
                <a:lnTo>
                  <a:pt x="23" y="3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9901857" y="3518916"/>
            <a:ext cx="277368" cy="277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792891" y="3590925"/>
            <a:ext cx="495300" cy="133350"/>
          </a:xfrm>
          <a:prstGeom prst="rect">
            <a:avLst/>
          </a:prstGeom>
          <a:noFill/>
        </p:spPr>
        <p:txBody>
          <a:bodyPr wrap="none" lIns="0" rIns="0" tIns="0" bIns="0" anchor="ctr">
            <a:spAutoFit/>
          </a:bodyPr>
          <a:lstStyle/>
          <a:p>
            <a:pPr algn="ctr"/>
            <a:r>
              <a:rPr sz="750" b="1">
                <a:solidFill>
                  <a:srgbClr val="0B2E4A"/>
                </a:solidFill>
                <a:latin typeface="Calibri"/>
              </a:rPr>
              <a:t>5.5%</a:t>
            </a:r>
          </a:p>
        </p:txBody>
      </p:sp>
      <p:sp>
        <p:nvSpPr>
          <p:cNvPr id="228" name="TextBox 227"/>
          <p:cNvSpPr txBox="1"/>
          <p:nvPr/>
        </p:nvSpPr>
        <p:spPr>
          <a:xfrm>
            <a:off x="9415462" y="4152900"/>
            <a:ext cx="1259681" cy="876300"/>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750" b="0">
                <a:solidFill>
                  <a:srgbClr val="2E2E2E"/>
                </a:solidFill>
                <a:latin typeface="Calibri"/>
              </a:rPr>
              <a:t>North America  </a:t>
            </a:r>
            <a:r>
              <a:rPr sz="850" b="1">
                <a:solidFill>
                  <a:srgbClr val="0E72AE"/>
                </a:solidFill>
                <a:latin typeface="Calibri"/>
              </a:rPr>
              <a:t>▲</a:t>
            </a:r>
          </a:p>
          <a:p>
            <a:pPr algn="l">
              <a:lnSpc>
                <a:spcPct val="100000"/>
              </a:lnSpc>
              <a:spcBef>
                <a:spcPts val="0"/>
              </a:spcBef>
              <a:spcAft>
                <a:spcPts val="300"/>
              </a:spcAft>
            </a:pPr>
            <a:r>
              <a:rPr sz="750" b="0">
                <a:solidFill>
                  <a:srgbClr val="2E2E2E"/>
                </a:solidFill>
                <a:latin typeface="Calibri"/>
              </a:rPr>
              <a:t>Latin America  </a:t>
            </a:r>
            <a:r>
              <a:rPr sz="850" b="1">
                <a:solidFill>
                  <a:srgbClr val="A86F00"/>
                </a:solidFill>
                <a:latin typeface="Calibri"/>
              </a:rPr>
              <a:t>▲</a:t>
            </a:r>
          </a:p>
          <a:p>
            <a:pPr algn="l">
              <a:lnSpc>
                <a:spcPct val="100000"/>
              </a:lnSpc>
              <a:spcBef>
                <a:spcPts val="0"/>
              </a:spcBef>
              <a:spcAft>
                <a:spcPts val="300"/>
              </a:spcAft>
            </a:pPr>
            <a:r>
              <a:rPr sz="750" b="0">
                <a:solidFill>
                  <a:srgbClr val="2E2E2E"/>
                </a:solidFill>
                <a:latin typeface="Calibri"/>
              </a:rPr>
              <a:t>Europe  </a:t>
            </a:r>
            <a:r>
              <a:rPr sz="850" b="1">
                <a:solidFill>
                  <a:srgbClr val="9AA3A8"/>
                </a:solidFill>
                <a:latin typeface="Calibri"/>
              </a:rPr>
              <a:t>▲</a:t>
            </a:r>
          </a:p>
        </p:txBody>
      </p:sp>
      <p:sp>
        <p:nvSpPr>
          <p:cNvPr id="229" name="Oval 228"/>
          <p:cNvSpPr/>
          <p:nvPr/>
        </p:nvSpPr>
        <p:spPr>
          <a:xfrm>
            <a:off x="9678591"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9678591"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231" name="Oval 230"/>
          <p:cNvSpPr/>
          <p:nvPr/>
        </p:nvSpPr>
        <p:spPr>
          <a:xfrm>
            <a:off x="9869091"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9869091"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233" name="Oval 232"/>
          <p:cNvSpPr/>
          <p:nvPr/>
        </p:nvSpPr>
        <p:spPr>
          <a:xfrm>
            <a:off x="10059591"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10059591"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235" name="Oval 234"/>
          <p:cNvSpPr/>
          <p:nvPr/>
        </p:nvSpPr>
        <p:spPr>
          <a:xfrm>
            <a:off x="10250091" y="545782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10250091"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237" name="Oval 236"/>
          <p:cNvSpPr/>
          <p:nvPr/>
        </p:nvSpPr>
        <p:spPr>
          <a:xfrm>
            <a:off x="9773841"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9773841"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239" name="Oval 238"/>
          <p:cNvSpPr/>
          <p:nvPr/>
        </p:nvSpPr>
        <p:spPr>
          <a:xfrm>
            <a:off x="9964341"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9964341"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241" name="Oval 240"/>
          <p:cNvSpPr/>
          <p:nvPr/>
        </p:nvSpPr>
        <p:spPr>
          <a:xfrm>
            <a:off x="10154841"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10154841"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243" name="TextBox 242"/>
          <p:cNvSpPr txBox="1"/>
          <p:nvPr/>
        </p:nvSpPr>
        <p:spPr>
          <a:xfrm>
            <a:off x="10741819" y="1047750"/>
            <a:ext cx="1288256" cy="323850"/>
          </a:xfrm>
          <a:prstGeom prst="rect">
            <a:avLst/>
          </a:prstGeom>
          <a:noFill/>
        </p:spPr>
        <p:txBody>
          <a:bodyPr wrap="square" lIns="9525" rIns="9525" tIns="9525" bIns="9525" anchor="ctr">
            <a:spAutoFit/>
          </a:bodyPr>
          <a:lstStyle/>
          <a:p>
            <a:pPr algn="ctr">
              <a:lnSpc>
                <a:spcPct val="95000"/>
              </a:lnSpc>
            </a:pPr>
            <a:r>
              <a:rPr sz="850" b="1">
                <a:solidFill>
                  <a:srgbClr val="2E2E2E"/>
                </a:solidFill>
                <a:latin typeface="Calibri"/>
              </a:rPr>
              <a:t>Company H</a:t>
            </a:r>
          </a:p>
        </p:txBody>
      </p:sp>
      <p:cxnSp>
        <p:nvCxnSpPr>
          <p:cNvPr id="244" name="Connector 243"/>
          <p:cNvCxnSpPr/>
          <p:nvPr/>
        </p:nvCxnSpPr>
        <p:spPr>
          <a:xfrm>
            <a:off x="11157347" y="1362075"/>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45" name="TextBox 244"/>
          <p:cNvSpPr txBox="1"/>
          <p:nvPr/>
        </p:nvSpPr>
        <p:spPr>
          <a:xfrm>
            <a:off x="10741819" y="1390650"/>
            <a:ext cx="1288256" cy="285750"/>
          </a:xfrm>
          <a:prstGeom prst="rect">
            <a:avLst/>
          </a:prstGeom>
          <a:noFill/>
        </p:spPr>
        <p:txBody>
          <a:bodyPr wrap="square" lIns="28575" rIns="28575" tIns="9525" bIns="9525" anchor="ctr">
            <a:spAutoFit/>
          </a:bodyPr>
          <a:lstStyle/>
          <a:p>
            <a:pPr algn="ctr"/>
            <a:r>
              <a:rPr sz="750" b="0">
                <a:solidFill>
                  <a:srgbClr val="AFB4B9"/>
                </a:solidFill>
                <a:latin typeface="Calibri"/>
              </a:rPr>
              <a:t>Brand H</a:t>
            </a:r>
          </a:p>
        </p:txBody>
      </p:sp>
      <p:sp>
        <p:nvSpPr>
          <p:cNvPr id="246" name="TextBox 245"/>
          <p:cNvSpPr txBox="1"/>
          <p:nvPr/>
        </p:nvSpPr>
        <p:spPr>
          <a:xfrm>
            <a:off x="10732294" y="1714500"/>
            <a:ext cx="1307306" cy="209550"/>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7" name="TextBox 246"/>
          <p:cNvSpPr txBox="1"/>
          <p:nvPr/>
        </p:nvSpPr>
        <p:spPr>
          <a:xfrm>
            <a:off x="10732294" y="1943100"/>
            <a:ext cx="1307306" cy="190500"/>
          </a:xfrm>
          <a:prstGeom prst="rect">
            <a:avLst/>
          </a:prstGeom>
          <a:noFill/>
        </p:spPr>
        <p:txBody>
          <a:bodyPr wrap="square" lIns="28575" rIns="28575" tIns="9525" bIns="9525" anchor="ctr">
            <a:spAutoFit/>
          </a:bodyPr>
          <a:lstStyle/>
          <a:p>
            <a:pPr algn="ctr"/>
            <a:r>
              <a:rPr sz="1000" b="1">
                <a:solidFill>
                  <a:srgbClr val="008189"/>
                </a:solidFill>
                <a:latin typeface="Calibri"/>
              </a:rPr>
              <a:t>✔ </a:t>
            </a:r>
            <a:r>
              <a:rPr sz="1000" b="1">
                <a:solidFill>
                  <a:srgbClr val="E44D3A"/>
                </a:solidFill>
                <a:latin typeface="Calibri"/>
              </a:rPr>
              <a:t>✘ </a:t>
            </a:r>
            <a:r>
              <a:rPr sz="1000" b="1">
                <a:solidFill>
                  <a:srgbClr val="008189"/>
                </a:solidFill>
                <a:latin typeface="Calibri"/>
              </a:rPr>
              <a:t>✔ </a:t>
            </a:r>
          </a:p>
        </p:txBody>
      </p:sp>
      <p:sp>
        <p:nvSpPr>
          <p:cNvPr id="248" name="Rectangle 247"/>
          <p:cNvSpPr/>
          <p:nvPr/>
        </p:nvSpPr>
        <p:spPr>
          <a:xfrm>
            <a:off x="11157347" y="2209800"/>
            <a:ext cx="114300" cy="114300"/>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11328797" y="2209800"/>
            <a:ext cx="114300" cy="114300"/>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11500247" y="2209800"/>
            <a:ext cx="114300" cy="1143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10741819" y="259080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1,017</a:t>
            </a:r>
          </a:p>
        </p:txBody>
      </p:sp>
      <p:sp>
        <p:nvSpPr>
          <p:cNvPr id="252" name="TextBox 251"/>
          <p:cNvSpPr txBox="1"/>
          <p:nvPr/>
        </p:nvSpPr>
        <p:spPr>
          <a:xfrm>
            <a:off x="10741819" y="291465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165.3</a:t>
            </a:r>
          </a:p>
        </p:txBody>
      </p:sp>
      <p:sp>
        <p:nvSpPr>
          <p:cNvPr id="253" name="Oval 252"/>
          <p:cNvSpPr/>
          <p:nvPr/>
        </p:nvSpPr>
        <p:spPr>
          <a:xfrm>
            <a:off x="11138297" y="3409950"/>
            <a:ext cx="495300" cy="495300"/>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Freeform 253"/>
          <p:cNvSpPr/>
          <p:nvPr/>
        </p:nvSpPr>
        <p:spPr>
          <a:xfrm>
            <a:off x="11382375" y="3409950"/>
            <a:ext cx="238125" cy="247650"/>
          </a:xfrm>
          <a:custGeom>
            <a:avLst/>
            <a:gdLst/>
            <a:ahLst/>
            <a:cxnLst/>
            <a:rect l="l" t="t" r="r" b="b"/>
            <a:pathLst>
              <a:path w="25" h="26">
                <a:moveTo>
                  <a:pt x="0" y="26"/>
                </a:moveTo>
                <a:lnTo>
                  <a:pt x="0" y="0"/>
                </a:lnTo>
                <a:lnTo>
                  <a:pt x="4" y="0"/>
                </a:lnTo>
                <a:lnTo>
                  <a:pt x="8" y="1"/>
                </a:lnTo>
                <a:lnTo>
                  <a:pt x="11" y="2"/>
                </a:lnTo>
                <a:lnTo>
                  <a:pt x="14" y="4"/>
                </a:lnTo>
                <a:lnTo>
                  <a:pt x="17" y="6"/>
                </a:lnTo>
                <a:lnTo>
                  <a:pt x="20" y="9"/>
                </a:lnTo>
                <a:lnTo>
                  <a:pt x="22" y="12"/>
                </a:lnTo>
                <a:lnTo>
                  <a:pt x="24" y="15"/>
                </a:lnTo>
                <a:lnTo>
                  <a:pt x="25" y="18"/>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11247263" y="3518916"/>
            <a:ext cx="277368" cy="277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11138297" y="3590925"/>
            <a:ext cx="495300" cy="133350"/>
          </a:xfrm>
          <a:prstGeom prst="rect">
            <a:avLst/>
          </a:prstGeom>
          <a:noFill/>
        </p:spPr>
        <p:txBody>
          <a:bodyPr wrap="none" lIns="0" rIns="0" tIns="0" bIns="0" anchor="ctr">
            <a:spAutoFit/>
          </a:bodyPr>
          <a:lstStyle/>
          <a:p>
            <a:pPr algn="ctr"/>
            <a:r>
              <a:rPr sz="750" b="1">
                <a:solidFill>
                  <a:srgbClr val="0B2E4A"/>
                </a:solidFill>
                <a:latin typeface="Calibri"/>
              </a:rPr>
              <a:t>3.3%</a:t>
            </a:r>
          </a:p>
        </p:txBody>
      </p:sp>
      <p:sp>
        <p:nvSpPr>
          <p:cNvPr id="257" name="TextBox 256"/>
          <p:cNvSpPr txBox="1"/>
          <p:nvPr/>
        </p:nvSpPr>
        <p:spPr>
          <a:xfrm>
            <a:off x="10760869" y="4152900"/>
            <a:ext cx="1259681" cy="876300"/>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750" b="0">
                <a:solidFill>
                  <a:srgbClr val="2E2E2E"/>
                </a:solidFill>
                <a:latin typeface="Calibri"/>
              </a:rPr>
              <a:t>Latin America  </a:t>
            </a:r>
            <a:r>
              <a:rPr sz="850" b="1">
                <a:solidFill>
                  <a:srgbClr val="0E72AE"/>
                </a:solidFill>
                <a:latin typeface="Calibri"/>
              </a:rPr>
              <a:t>▲</a:t>
            </a:r>
          </a:p>
          <a:p>
            <a:pPr algn="l">
              <a:lnSpc>
                <a:spcPct val="100000"/>
              </a:lnSpc>
              <a:spcBef>
                <a:spcPts val="0"/>
              </a:spcBef>
              <a:spcAft>
                <a:spcPts val="300"/>
              </a:spcAft>
            </a:pPr>
            <a:r>
              <a:rPr sz="750" b="0">
                <a:solidFill>
                  <a:srgbClr val="2E2E2E"/>
                </a:solidFill>
                <a:latin typeface="Calibri"/>
              </a:rPr>
              <a:t>Europe  </a:t>
            </a:r>
            <a:r>
              <a:rPr sz="850" b="1">
                <a:solidFill>
                  <a:srgbClr val="A86F00"/>
                </a:solidFill>
                <a:latin typeface="Calibri"/>
              </a:rPr>
              <a:t>▲</a:t>
            </a:r>
          </a:p>
          <a:p>
            <a:pPr algn="l">
              <a:lnSpc>
                <a:spcPct val="100000"/>
              </a:lnSpc>
              <a:spcBef>
                <a:spcPts val="0"/>
              </a:spcBef>
              <a:spcAft>
                <a:spcPts val="300"/>
              </a:spcAft>
            </a:pPr>
            <a:r>
              <a:rPr sz="750" b="0">
                <a:solidFill>
                  <a:srgbClr val="2E2E2E"/>
                </a:solidFill>
                <a:latin typeface="Calibri"/>
              </a:rPr>
              <a:t>East Asia  </a:t>
            </a:r>
            <a:r>
              <a:rPr sz="850" b="1">
                <a:solidFill>
                  <a:srgbClr val="9AA3A8"/>
                </a:solidFill>
                <a:latin typeface="Calibri"/>
              </a:rPr>
              <a:t>▲</a:t>
            </a:r>
          </a:p>
        </p:txBody>
      </p:sp>
      <p:sp>
        <p:nvSpPr>
          <p:cNvPr id="258" name="Oval 257"/>
          <p:cNvSpPr/>
          <p:nvPr/>
        </p:nvSpPr>
        <p:spPr>
          <a:xfrm>
            <a:off x="11023997"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11023997"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260" name="Oval 259"/>
          <p:cNvSpPr/>
          <p:nvPr/>
        </p:nvSpPr>
        <p:spPr>
          <a:xfrm>
            <a:off x="11214497"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11214497"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262" name="Oval 261"/>
          <p:cNvSpPr/>
          <p:nvPr/>
        </p:nvSpPr>
        <p:spPr>
          <a:xfrm>
            <a:off x="11404997"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11404997"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264" name="Oval 263"/>
          <p:cNvSpPr/>
          <p:nvPr/>
        </p:nvSpPr>
        <p:spPr>
          <a:xfrm>
            <a:off x="11595497"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11595497"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266" name="Oval 265"/>
          <p:cNvSpPr/>
          <p:nvPr/>
        </p:nvSpPr>
        <p:spPr>
          <a:xfrm>
            <a:off x="11119247"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11119247"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268" name="Oval 267"/>
          <p:cNvSpPr/>
          <p:nvPr/>
        </p:nvSpPr>
        <p:spPr>
          <a:xfrm>
            <a:off x="11309747"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11309747"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270" name="Oval 269"/>
          <p:cNvSpPr/>
          <p:nvPr/>
        </p:nvSpPr>
        <p:spPr>
          <a:xfrm>
            <a:off x="11500247"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11500247"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272" name="Oval 271"/>
          <p:cNvSpPr/>
          <p:nvPr/>
        </p:nvSpPr>
        <p:spPr>
          <a:xfrm>
            <a:off x="285750" y="6248400"/>
            <a:ext cx="142875" cy="142875"/>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285750" y="6248400"/>
            <a:ext cx="142875" cy="142875"/>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274" name="TextBox 273"/>
          <p:cNvSpPr txBox="1"/>
          <p:nvPr/>
        </p:nvSpPr>
        <p:spPr>
          <a:xfrm>
            <a:off x="447675" y="6238875"/>
            <a:ext cx="1238250" cy="161925"/>
          </a:xfrm>
          <a:prstGeom prst="rect">
            <a:avLst/>
          </a:prstGeom>
          <a:noFill/>
        </p:spPr>
        <p:txBody>
          <a:bodyPr wrap="square" lIns="0" rIns="0" tIns="0" bIns="0" anchor="ctr">
            <a:spAutoFit/>
          </a:bodyPr>
          <a:lstStyle/>
          <a:p>
            <a:pPr algn="l"/>
            <a:r>
              <a:rPr sz="750" b="0">
                <a:solidFill>
                  <a:srgbClr val="2E2E2E"/>
                </a:solidFill>
                <a:latin typeface="Calibri"/>
              </a:rPr>
              <a:t>Expansion</a:t>
            </a:r>
          </a:p>
        </p:txBody>
      </p:sp>
      <p:sp>
        <p:nvSpPr>
          <p:cNvPr id="275" name="Oval 274"/>
          <p:cNvSpPr/>
          <p:nvPr/>
        </p:nvSpPr>
        <p:spPr>
          <a:xfrm>
            <a:off x="1004888" y="6248400"/>
            <a:ext cx="142875" cy="142875"/>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1004888" y="6248400"/>
            <a:ext cx="142875" cy="142875"/>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277" name="TextBox 276"/>
          <p:cNvSpPr txBox="1"/>
          <p:nvPr/>
        </p:nvSpPr>
        <p:spPr>
          <a:xfrm>
            <a:off x="1166812" y="6238875"/>
            <a:ext cx="1238250" cy="161925"/>
          </a:xfrm>
          <a:prstGeom prst="rect">
            <a:avLst/>
          </a:prstGeom>
          <a:noFill/>
        </p:spPr>
        <p:txBody>
          <a:bodyPr wrap="square" lIns="0" rIns="0" tIns="0" bIns="0" anchor="ctr">
            <a:spAutoFit/>
          </a:bodyPr>
          <a:lstStyle/>
          <a:p>
            <a:pPr algn="l"/>
            <a:r>
              <a:rPr sz="750" b="0">
                <a:solidFill>
                  <a:srgbClr val="2E2E2E"/>
                </a:solidFill>
                <a:latin typeface="Calibri"/>
              </a:rPr>
              <a:t>R&amp;D Investment</a:t>
            </a:r>
          </a:p>
        </p:txBody>
      </p:sp>
      <p:sp>
        <p:nvSpPr>
          <p:cNvPr id="278" name="Oval 277"/>
          <p:cNvSpPr/>
          <p:nvPr/>
        </p:nvSpPr>
        <p:spPr>
          <a:xfrm>
            <a:off x="1938338" y="6248400"/>
            <a:ext cx="142875" cy="142875"/>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1938338" y="6248400"/>
            <a:ext cx="142875" cy="142875"/>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280" name="TextBox 279"/>
          <p:cNvSpPr txBox="1"/>
          <p:nvPr/>
        </p:nvSpPr>
        <p:spPr>
          <a:xfrm>
            <a:off x="2100262" y="6238875"/>
            <a:ext cx="1238250" cy="161925"/>
          </a:xfrm>
          <a:prstGeom prst="rect">
            <a:avLst/>
          </a:prstGeom>
          <a:noFill/>
        </p:spPr>
        <p:txBody>
          <a:bodyPr wrap="square" lIns="0" rIns="0" tIns="0" bIns="0" anchor="ctr">
            <a:spAutoFit/>
          </a:bodyPr>
          <a:lstStyle/>
          <a:p>
            <a:pPr algn="l"/>
            <a:r>
              <a:rPr sz="750" b="0">
                <a:solidFill>
                  <a:srgbClr val="2E2E2E"/>
                </a:solidFill>
                <a:latin typeface="Calibri"/>
              </a:rPr>
              <a:t>Financial Aid</a:t>
            </a:r>
          </a:p>
        </p:txBody>
      </p:sp>
      <p:sp>
        <p:nvSpPr>
          <p:cNvPr id="281" name="Oval 280"/>
          <p:cNvSpPr/>
          <p:nvPr/>
        </p:nvSpPr>
        <p:spPr>
          <a:xfrm>
            <a:off x="2828925" y="6248400"/>
            <a:ext cx="142875" cy="142875"/>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2828925" y="6248400"/>
            <a:ext cx="142875" cy="142875"/>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283" name="TextBox 282"/>
          <p:cNvSpPr txBox="1"/>
          <p:nvPr/>
        </p:nvSpPr>
        <p:spPr>
          <a:xfrm>
            <a:off x="2990850" y="6238875"/>
            <a:ext cx="1238250" cy="161925"/>
          </a:xfrm>
          <a:prstGeom prst="rect">
            <a:avLst/>
          </a:prstGeom>
          <a:noFill/>
        </p:spPr>
        <p:txBody>
          <a:bodyPr wrap="square" lIns="0" rIns="0" tIns="0" bIns="0" anchor="ctr">
            <a:spAutoFit/>
          </a:bodyPr>
          <a:lstStyle/>
          <a:p>
            <a:pPr algn="l"/>
            <a:r>
              <a:rPr sz="750" b="0">
                <a:solidFill>
                  <a:srgbClr val="2E2E2E"/>
                </a:solidFill>
                <a:latin typeface="Calibri"/>
              </a:rPr>
              <a:t>Product Development</a:t>
            </a:r>
          </a:p>
        </p:txBody>
      </p:sp>
      <p:sp>
        <p:nvSpPr>
          <p:cNvPr id="284" name="Oval 283"/>
          <p:cNvSpPr/>
          <p:nvPr/>
        </p:nvSpPr>
        <p:spPr>
          <a:xfrm>
            <a:off x="3976688" y="6248400"/>
            <a:ext cx="142875" cy="142875"/>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3976688" y="6248400"/>
            <a:ext cx="142875" cy="142875"/>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286" name="TextBox 285"/>
          <p:cNvSpPr txBox="1"/>
          <p:nvPr/>
        </p:nvSpPr>
        <p:spPr>
          <a:xfrm>
            <a:off x="4138612" y="6238875"/>
            <a:ext cx="1238250" cy="161925"/>
          </a:xfrm>
          <a:prstGeom prst="rect">
            <a:avLst/>
          </a:prstGeom>
          <a:noFill/>
        </p:spPr>
        <p:txBody>
          <a:bodyPr wrap="square" lIns="0" rIns="0" tIns="0" bIns="0" anchor="ctr">
            <a:spAutoFit/>
          </a:bodyPr>
          <a:lstStyle/>
          <a:p>
            <a:pPr algn="l"/>
            <a:r>
              <a:rPr sz="750" b="0">
                <a:solidFill>
                  <a:srgbClr val="2E2E2E"/>
                </a:solidFill>
                <a:latin typeface="Calibri"/>
              </a:rPr>
              <a:t>Acquisition</a:t>
            </a:r>
          </a:p>
        </p:txBody>
      </p:sp>
      <p:sp>
        <p:nvSpPr>
          <p:cNvPr id="287" name="Oval 286"/>
          <p:cNvSpPr/>
          <p:nvPr/>
        </p:nvSpPr>
        <p:spPr>
          <a:xfrm>
            <a:off x="4781550" y="6248400"/>
            <a:ext cx="142875" cy="142875"/>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TextBox 287"/>
          <p:cNvSpPr txBox="1"/>
          <p:nvPr/>
        </p:nvSpPr>
        <p:spPr>
          <a:xfrm>
            <a:off x="4781550" y="6248400"/>
            <a:ext cx="142875" cy="142875"/>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289" name="TextBox 288"/>
          <p:cNvSpPr txBox="1"/>
          <p:nvPr/>
        </p:nvSpPr>
        <p:spPr>
          <a:xfrm>
            <a:off x="4943475" y="6238875"/>
            <a:ext cx="1238250" cy="161925"/>
          </a:xfrm>
          <a:prstGeom prst="rect">
            <a:avLst/>
          </a:prstGeom>
          <a:noFill/>
        </p:spPr>
        <p:txBody>
          <a:bodyPr wrap="square" lIns="0" rIns="0" tIns="0" bIns="0" anchor="ctr">
            <a:spAutoFit/>
          </a:bodyPr>
          <a:lstStyle/>
          <a:p>
            <a:pPr algn="l"/>
            <a:r>
              <a:rPr sz="750" b="0">
                <a:solidFill>
                  <a:srgbClr val="2E2E2E"/>
                </a:solidFill>
                <a:latin typeface="Calibri"/>
              </a:rPr>
              <a:t>Product Launch</a:t>
            </a:r>
          </a:p>
        </p:txBody>
      </p:sp>
      <p:sp>
        <p:nvSpPr>
          <p:cNvPr id="290" name="Oval 289"/>
          <p:cNvSpPr/>
          <p:nvPr/>
        </p:nvSpPr>
        <p:spPr>
          <a:xfrm>
            <a:off x="5715000" y="6248400"/>
            <a:ext cx="142875" cy="142875"/>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5715000" y="6248400"/>
            <a:ext cx="142875" cy="142875"/>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292" name="TextBox 291"/>
          <p:cNvSpPr txBox="1"/>
          <p:nvPr/>
        </p:nvSpPr>
        <p:spPr>
          <a:xfrm>
            <a:off x="5876925" y="6238875"/>
            <a:ext cx="1238250" cy="161925"/>
          </a:xfrm>
          <a:prstGeom prst="rect">
            <a:avLst/>
          </a:prstGeom>
          <a:noFill/>
        </p:spPr>
        <p:txBody>
          <a:bodyPr wrap="square" lIns="0" rIns="0" tIns="0" bIns="0" anchor="ctr">
            <a:spAutoFit/>
          </a:bodyPr>
          <a:lstStyle/>
          <a:p>
            <a:pPr algn="l"/>
            <a:r>
              <a:rPr sz="750" b="0">
                <a:solidFill>
                  <a:srgbClr val="2E2E2E"/>
                </a:solidFill>
                <a:latin typeface="Calibri"/>
              </a:rPr>
              <a:t>Certification</a:t>
            </a:r>
          </a:p>
        </p:txBody>
      </p:sp>
      <p:sp>
        <p:nvSpPr>
          <p:cNvPr id="293" name="TextBox 292"/>
          <p:cNvSpPr txBox="1"/>
          <p:nvPr/>
        </p:nvSpPr>
        <p:spPr>
          <a:xfrm>
            <a:off x="285750" y="6419850"/>
            <a:ext cx="11239500" cy="104775"/>
          </a:xfrm>
          <a:prstGeom prst="rect">
            <a:avLst/>
          </a:prstGeom>
          <a:noFill/>
        </p:spPr>
        <p:txBody>
          <a:bodyPr wrap="square" lIns="0" rIns="0" tIns="0" bIns="0">
            <a:spAutoFit/>
          </a:bodyPr>
          <a:lstStyle/>
          <a:p>
            <a:pPr algn="l"/>
            <a:r>
              <a:rPr sz="700" b="1">
                <a:solidFill>
                  <a:srgbClr val="A35313"/>
                </a:solidFill>
                <a:latin typeface="Calibri"/>
              </a:rPr>
              <a:t>Note: Market Share indicates the contribution of target revenue in Market</a:t>
            </a:r>
          </a:p>
        </p:txBody>
      </p:sp>
      <p:sp>
        <p:nvSpPr>
          <p:cNvPr id="294" name="TextBox 293"/>
          <p:cNvSpPr txBox="1"/>
          <p:nvPr/>
        </p:nvSpPr>
        <p:spPr>
          <a:xfrm>
            <a:off x="285750" y="6524625"/>
            <a:ext cx="11239500" cy="104775"/>
          </a:xfrm>
          <a:prstGeom prst="rect">
            <a:avLst/>
          </a:prstGeom>
          <a:noFill/>
        </p:spPr>
        <p:txBody>
          <a:bodyPr wrap="square" lIns="0" rIns="0" tIns="0" bIns="0">
            <a:spAutoFit/>
          </a:bodyPr>
          <a:lstStyle/>
          <a:p>
            <a:pPr algn="l"/>
            <a:r>
              <a:rPr sz="700" b="1">
                <a:solidFill>
                  <a:srgbClr val="A35313"/>
                </a:solidFill>
                <a:latin typeface="Calibri"/>
              </a:rPr>
              <a:t>Revenue represents sales of the company from target market</a:t>
            </a:r>
          </a:p>
        </p:txBody>
      </p:sp>
      <p:sp>
        <p:nvSpPr>
          <p:cNvPr id="295" name="TextBox 294"/>
          <p:cNvSpPr txBox="1"/>
          <p:nvPr/>
        </p:nvSpPr>
        <p:spPr>
          <a:xfrm>
            <a:off x="285750" y="6629400"/>
            <a:ext cx="11239500" cy="104775"/>
          </a:xfrm>
          <a:prstGeom prst="rect">
            <a:avLst/>
          </a:prstGeom>
          <a:noFill/>
        </p:spPr>
        <p:txBody>
          <a:bodyPr wrap="square" lIns="0" rIns="0" tIns="0" bIns="0">
            <a:spAutoFit/>
          </a:bodyPr>
          <a:lstStyle/>
          <a:p>
            <a:pPr algn="l"/>
            <a:r>
              <a:rPr sz="700" b="1">
                <a:solidFill>
                  <a:srgbClr val="A35313"/>
                </a:solidFill>
                <a:latin typeface="Calibri"/>
              </a:rPr>
              <a:t>Note: competitor figures are indicative derived from market modelling and expert validation, not company disclosures.</a:t>
            </a:r>
          </a:p>
        </p:txBody>
      </p:sp>
      <p:sp>
        <p:nvSpPr>
          <p:cNvPr id="296" name="Rectangle 29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TextBox 29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98" name="Rounded Rectangle 297">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9" name="Rounded Rectangle 298">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00" name="Rounded Rectangle 299">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114550"/>
            <a:ext cx="6667500" cy="209550"/>
          </a:xfrm>
          <a:prstGeom prst="rect">
            <a:avLst/>
          </a:prstGeom>
          <a:noFill/>
        </p:spPr>
        <p:txBody>
          <a:bodyPr wrap="square" lIns="0" rIns="19050" tIns="0" bIns="0">
            <a:spAutoFit/>
          </a:bodyPr>
          <a:lstStyle/>
          <a:p>
            <a:pPr algn="l"/>
            <a:r>
              <a:rPr sz="1250" b="1">
                <a:solidFill>
                  <a:srgbClr val="0E72AE"/>
                </a:solidFill>
                <a:latin typeface="Calibri"/>
              </a:rPr>
              <a:t>Humira Biosimilars Market Competitor</a:t>
            </a:r>
          </a:p>
        </p:txBody>
      </p:sp>
      <p:sp>
        <p:nvSpPr>
          <p:cNvPr id="7" name="TextBox 6"/>
          <p:cNvSpPr txBox="1"/>
          <p:nvPr/>
        </p:nvSpPr>
        <p:spPr>
          <a:xfrm>
            <a:off x="1219200" y="2362200"/>
            <a:ext cx="6667500" cy="371475"/>
          </a:xfrm>
          <a:prstGeom prst="rect">
            <a:avLst/>
          </a:prstGeom>
          <a:noFill/>
        </p:spPr>
        <p:txBody>
          <a:bodyPr wrap="square" lIns="0" rIns="19050" tIns="0" bIns="0" anchor="t">
            <a:spAutoFit/>
          </a:bodyPr>
          <a:lstStyle/>
          <a:p>
            <a:pPr algn="l">
              <a:lnSpc>
                <a:spcPct val="102000"/>
              </a:lnSpc>
            </a:pPr>
            <a:r>
              <a:rPr sz="2500" b="1">
                <a:solidFill>
                  <a:srgbClr val="0B2E4A"/>
                </a:solidFill>
                <a:latin typeface="Calibri"/>
              </a:rPr>
              <a:t>Company Profiles &amp; Strategic Benchmarking</a:t>
            </a:r>
          </a:p>
        </p:txBody>
      </p:sp>
      <p:sp>
        <p:nvSpPr>
          <p:cNvPr id="8" name="TextBox 7"/>
          <p:cNvSpPr txBox="1"/>
          <p:nvPr/>
        </p:nvSpPr>
        <p:spPr>
          <a:xfrm>
            <a:off x="1219200" y="2886075"/>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A Snapshot</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A Penetration &amp; Win</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A SWOT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A Key Financials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A Strategy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25</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Company A Executive Market Snapshot (1/5)</a:t>
            </a:r>
          </a:p>
        </p:txBody>
      </p:sp>
      <p:sp>
        <p:nvSpPr>
          <p:cNvPr id="10" name="Rounded Rectangle 9"/>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Executive snapshot and strategic positioning Company A: market, addressable opportunity and SOM splits by end-market, region and product.</a:t>
            </a:r>
          </a:p>
        </p:txBody>
      </p:sp>
      <p:sp>
        <p:nvSpPr>
          <p:cNvPr id="11" name="Rounded Rectangle 10"/>
          <p:cNvSpPr/>
          <p:nvPr/>
        </p:nvSpPr>
        <p:spPr>
          <a:xfrm>
            <a:off x="14287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TAM (US$ MN)</a:t>
            </a:r>
          </a:p>
          <a:p>
            <a:pPr algn="ctr"/>
            <a:r>
              <a:rPr sz="1500" b="1">
                <a:solidFill>
                  <a:srgbClr val="0E72AE"/>
                </a:solidFill>
                <a:latin typeface="Calibri"/>
              </a:rPr>
              <a:t>10,851</a:t>
            </a:r>
          </a:p>
          <a:p>
            <a:pPr algn="ctr"/>
            <a:r>
              <a:rPr sz="750" b="0">
                <a:solidFill>
                  <a:srgbClr val="6C7A89"/>
                </a:solidFill>
                <a:latin typeface="Calibri"/>
              </a:rPr>
              <a:t>Total market</a:t>
            </a:r>
          </a:p>
        </p:txBody>
      </p:sp>
      <p:sp>
        <p:nvSpPr>
          <p:cNvPr id="12" name="Rounded Rectangle 11"/>
          <p:cNvSpPr/>
          <p:nvPr/>
        </p:nvSpPr>
        <p:spPr>
          <a:xfrm>
            <a:off x="254317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SAM (US$ MN)</a:t>
            </a:r>
          </a:p>
          <a:p>
            <a:pPr algn="ctr"/>
            <a:r>
              <a:rPr sz="1500" b="1">
                <a:solidFill>
                  <a:srgbClr val="0E72AE"/>
                </a:solidFill>
                <a:latin typeface="Calibri"/>
              </a:rPr>
              <a:t>5,643</a:t>
            </a:r>
          </a:p>
          <a:p>
            <a:pPr algn="ctr"/>
            <a:r>
              <a:rPr sz="750" b="0">
                <a:solidFill>
                  <a:srgbClr val="6C7A89"/>
                </a:solidFill>
                <a:latin typeface="Calibri"/>
              </a:rPr>
              <a:t>Addressable</a:t>
            </a:r>
          </a:p>
        </p:txBody>
      </p:sp>
      <p:sp>
        <p:nvSpPr>
          <p:cNvPr id="13" name="Rounded Rectangle 12"/>
          <p:cNvSpPr/>
          <p:nvPr/>
        </p:nvSpPr>
        <p:spPr>
          <a:xfrm>
            <a:off x="4953000"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SOM (US$ MN)</a:t>
            </a:r>
          </a:p>
          <a:p>
            <a:pPr algn="ctr"/>
            <a:r>
              <a:rPr sz="1500" b="1">
                <a:solidFill>
                  <a:srgbClr val="0E72AE"/>
                </a:solidFill>
                <a:latin typeface="Calibri"/>
              </a:rPr>
              <a:t>1,780</a:t>
            </a:r>
          </a:p>
          <a:p>
            <a:pPr algn="ctr"/>
            <a:r>
              <a:rPr sz="750" b="0">
                <a:solidFill>
                  <a:srgbClr val="6C7A89"/>
                </a:solidFill>
                <a:latin typeface="Calibri"/>
              </a:rPr>
              <a:t>32% of SAM</a:t>
            </a:r>
          </a:p>
        </p:txBody>
      </p:sp>
      <p:sp>
        <p:nvSpPr>
          <p:cNvPr id="14" name="Rounded Rectangle 13"/>
          <p:cNvSpPr/>
          <p:nvPr/>
        </p:nvSpPr>
        <p:spPr>
          <a:xfrm>
            <a:off x="7353300"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BOOK-TO-BILL</a:t>
            </a:r>
          </a:p>
          <a:p>
            <a:pPr algn="ctr"/>
            <a:r>
              <a:rPr sz="1500" b="1">
                <a:solidFill>
                  <a:srgbClr val="0E72AE"/>
                </a:solidFill>
                <a:latin typeface="Calibri"/>
              </a:rPr>
              <a:t>1.00</a:t>
            </a:r>
          </a:p>
          <a:p>
            <a:pPr algn="ctr"/>
            <a:r>
              <a:rPr sz="750" b="0">
                <a:solidFill>
                  <a:srgbClr val="6C7A89"/>
                </a:solidFill>
                <a:latin typeface="Calibri"/>
              </a:rPr>
              <a:t>Order momentum</a:t>
            </a:r>
          </a:p>
        </p:txBody>
      </p:sp>
      <p:sp>
        <p:nvSpPr>
          <p:cNvPr id="15" name="Rounded Rectangle 14"/>
          <p:cNvSpPr/>
          <p:nvPr/>
        </p:nvSpPr>
        <p:spPr>
          <a:xfrm>
            <a:off x="976312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EBITDA MARGIN</a:t>
            </a:r>
          </a:p>
          <a:p>
            <a:pPr algn="ctr"/>
            <a:r>
              <a:rPr sz="1500" b="1">
                <a:solidFill>
                  <a:srgbClr val="0E72AE"/>
                </a:solidFill>
                <a:latin typeface="Calibri"/>
              </a:rPr>
              <a:t>12%</a:t>
            </a:r>
          </a:p>
          <a:p>
            <a:pPr algn="ctr"/>
            <a:r>
              <a:rPr sz="750" b="0">
                <a:solidFill>
                  <a:srgbClr val="6C7A89"/>
                </a:solidFill>
                <a:latin typeface="Calibri"/>
              </a:rPr>
              <a:t>Profitability</a:t>
            </a:r>
          </a:p>
        </p:txBody>
      </p:sp>
      <p:sp>
        <p:nvSpPr>
          <p:cNvPr id="16" name="Rounded Rectangle 15"/>
          <p:cNvSpPr/>
          <p:nvPr/>
        </p:nvSpPr>
        <p:spPr>
          <a:xfrm>
            <a:off x="142875" y="1962150"/>
            <a:ext cx="38290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20193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8" name="Chart 17"/>
          <p:cNvGraphicFramePr>
            <a:graphicFrameLocks noGrp="1"/>
          </p:cNvGraphicFramePr>
          <p:nvPr/>
        </p:nvGraphicFramePr>
        <p:xfrm>
          <a:off x="238125" y="2247900"/>
          <a:ext cx="3638550" cy="2381250"/>
        </p:xfrm>
        <a:graphic>
          <a:graphicData uri="http://schemas.openxmlformats.org/drawingml/2006/chart">
            <c:chart xmlns:c="http://schemas.openxmlformats.org/drawingml/2006/chart" r:id="rId3"/>
          </a:graphicData>
        </a:graphic>
      </p:graphicFrame>
      <p:sp>
        <p:nvSpPr>
          <p:cNvPr id="19" name="Rounded Rectangle 18"/>
          <p:cNvSpPr/>
          <p:nvPr/>
        </p:nvSpPr>
        <p:spPr>
          <a:xfrm>
            <a:off x="4124325" y="1962150"/>
            <a:ext cx="38290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19575" y="20193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21" name="Chart 20"/>
          <p:cNvGraphicFramePr>
            <a:graphicFrameLocks noGrp="1"/>
          </p:cNvGraphicFramePr>
          <p:nvPr/>
        </p:nvGraphicFramePr>
        <p:xfrm>
          <a:off x="4219575" y="2247900"/>
          <a:ext cx="3638550" cy="2381250"/>
        </p:xfrm>
        <a:graphic>
          <a:graphicData uri="http://schemas.openxmlformats.org/drawingml/2006/chart">
            <c:chart xmlns:c="http://schemas.openxmlformats.org/drawingml/2006/chart" r:id="rId4"/>
          </a:graphicData>
        </a:graphic>
      </p:graphicFrame>
      <p:sp>
        <p:nvSpPr>
          <p:cNvPr id="22" name="Rounded Rectangle 21"/>
          <p:cNvSpPr/>
          <p:nvPr/>
        </p:nvSpPr>
        <p:spPr>
          <a:xfrm>
            <a:off x="8105775" y="1962150"/>
            <a:ext cx="39433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1025" y="201930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4" name="Chart 23"/>
          <p:cNvGraphicFramePr>
            <a:graphicFrameLocks noGrp="1"/>
          </p:cNvGraphicFramePr>
          <p:nvPr/>
        </p:nvGraphicFramePr>
        <p:xfrm>
          <a:off x="8201025" y="2247900"/>
          <a:ext cx="3752850" cy="2381250"/>
        </p:xfrm>
        <a:graphic>
          <a:graphicData uri="http://schemas.openxmlformats.org/drawingml/2006/chart">
            <c:chart xmlns:c="http://schemas.openxmlformats.org/drawingml/2006/chart" r:id="rId5"/>
          </a:graphicData>
        </a:graphic>
      </p:graphicFrame>
      <p:sp>
        <p:nvSpPr>
          <p:cNvPr id="25" name="Rounded Rectangle 24"/>
          <p:cNvSpPr/>
          <p:nvPr/>
        </p:nvSpPr>
        <p:spPr>
          <a:xfrm>
            <a:off x="142875" y="4800600"/>
            <a:ext cx="11906250" cy="1885950"/>
          </a:xfrm>
          <a:prstGeom prst="roundRect">
            <a:avLst>
              <a:gd name="adj" fmla="val 40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886325"/>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27" name="Rectangle 26"/>
          <p:cNvSpPr/>
          <p:nvPr/>
        </p:nvSpPr>
        <p:spPr>
          <a:xfrm>
            <a:off x="276225" y="51244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210175"/>
            <a:ext cx="11639550" cy="14001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Market Position: Company A captures ~32% of a US$ Mn SAM, with its strongest end-market in 'Ophthalmology'.</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Geographic Balance: 'Middle East &amp; Africa' is the largest SOM region; 'Middle East &amp; Africa' shows the highest SAM penetration (~74%).</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Growth Trajectory: a 1.00 book-to-bill and ~12% EBITDA margin point to a path to capture more of the addressable market.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Competitive Edge: ~18% win rate with a +6% ASP premium and 2.9x pipeline coverage.</a:t>
            </a:r>
          </a:p>
        </p:txBody>
      </p:sp>
      <p:sp>
        <p:nvSpPr>
          <p:cNvPr id="29" name="Rectangle 2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1" name="Rounded Rectangle 30">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2" name="Rounded Rectangle 31">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3" name="Rounded Rectangle 32">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Company A Regional Penetration &amp; Win Position (2/5)</a:t>
            </a:r>
          </a:p>
        </p:txBody>
      </p:sp>
      <p:sp>
        <p:nvSpPr>
          <p:cNvPr id="10" name="Rounded Rectangle 9"/>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Regional penetration and competitive positioning Company A: SOM vs SAM by region, win position, TAM/SAM/SOM and go-to-market benchmarks.</a:t>
            </a:r>
          </a:p>
        </p:txBody>
      </p:sp>
      <p:sp>
        <p:nvSpPr>
          <p:cNvPr id="11" name="Rounded Rectangle 10"/>
          <p:cNvSpPr/>
          <p:nvPr/>
        </p:nvSpPr>
        <p:spPr>
          <a:xfrm>
            <a:off x="142875" y="1162050"/>
            <a:ext cx="5905500" cy="2362200"/>
          </a:xfrm>
          <a:prstGeom prst="roundRect">
            <a:avLst>
              <a:gd name="adj" fmla="val 32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21920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3" name="Chart 12"/>
          <p:cNvGraphicFramePr>
            <a:graphicFrameLocks noGrp="1"/>
          </p:cNvGraphicFramePr>
          <p:nvPr/>
        </p:nvGraphicFramePr>
        <p:xfrm>
          <a:off x="238125" y="1447800"/>
          <a:ext cx="5715000" cy="2019300"/>
        </p:xfrm>
        <a:graphic>
          <a:graphicData uri="http://schemas.openxmlformats.org/drawingml/2006/chart">
            <c:chart xmlns:c="http://schemas.openxmlformats.org/drawingml/2006/chart" r:id="rId3"/>
          </a:graphicData>
        </a:graphic>
      </p:graphicFrame>
      <p:sp>
        <p:nvSpPr>
          <p:cNvPr id="14" name="Rounded Rectangle 13"/>
          <p:cNvSpPr/>
          <p:nvPr/>
        </p:nvSpPr>
        <p:spPr>
          <a:xfrm>
            <a:off x="6162675" y="1162050"/>
            <a:ext cx="5886450" cy="2362200"/>
          </a:xfrm>
          <a:prstGeom prst="roundRect">
            <a:avLst>
              <a:gd name="adj" fmla="val 32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7925" y="121920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6" name="Connector 15"/>
          <p:cNvCxnSpPr/>
          <p:nvPr/>
        </p:nvCxnSpPr>
        <p:spPr>
          <a:xfrm>
            <a:off x="6581775" y="3181350"/>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1775" y="1543050"/>
            <a:ext cx="0" cy="163830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67475" y="3200400"/>
            <a:ext cx="228600" cy="114300"/>
          </a:xfrm>
          <a:prstGeom prst="rect">
            <a:avLst/>
          </a:prstGeom>
          <a:noFill/>
        </p:spPr>
        <p:txBody>
          <a:bodyPr wrap="none" lIns="0" rIns="0" tIns="0" bIns="0">
            <a:spAutoFit/>
          </a:bodyPr>
          <a:lstStyle/>
          <a:p>
            <a:pPr algn="ctr"/>
            <a:r>
              <a:rPr sz="700" b="0">
                <a:solidFill>
                  <a:srgbClr val="6C7A89"/>
                </a:solidFill>
                <a:latin typeface="Calibri"/>
              </a:rPr>
              <a:t>0</a:t>
            </a:r>
          </a:p>
        </p:txBody>
      </p:sp>
      <p:sp>
        <p:nvSpPr>
          <p:cNvPr id="19" name="TextBox 18"/>
          <p:cNvSpPr txBox="1"/>
          <p:nvPr/>
        </p:nvSpPr>
        <p:spPr>
          <a:xfrm>
            <a:off x="7969704" y="3200400"/>
            <a:ext cx="228600" cy="114300"/>
          </a:xfrm>
          <a:prstGeom prst="rect">
            <a:avLst/>
          </a:prstGeom>
          <a:noFill/>
        </p:spPr>
        <p:txBody>
          <a:bodyPr wrap="none" lIns="0" rIns="0" tIns="0" bIns="0">
            <a:spAutoFit/>
          </a:bodyPr>
          <a:lstStyle/>
          <a:p>
            <a:pPr algn="ctr"/>
            <a:r>
              <a:rPr sz="700" b="0">
                <a:solidFill>
                  <a:srgbClr val="6C7A89"/>
                </a:solidFill>
                <a:latin typeface="Calibri"/>
              </a:rPr>
              <a:t>1</a:t>
            </a:r>
          </a:p>
        </p:txBody>
      </p:sp>
      <p:sp>
        <p:nvSpPr>
          <p:cNvPr id="20" name="TextBox 19"/>
          <p:cNvSpPr txBox="1"/>
          <p:nvPr/>
        </p:nvSpPr>
        <p:spPr>
          <a:xfrm>
            <a:off x="9471932" y="3200400"/>
            <a:ext cx="228600" cy="114300"/>
          </a:xfrm>
          <a:prstGeom prst="rect">
            <a:avLst/>
          </a:prstGeom>
          <a:noFill/>
        </p:spPr>
        <p:txBody>
          <a:bodyPr wrap="none" lIns="0" rIns="0" tIns="0" bIns="0">
            <a:spAutoFit/>
          </a:bodyPr>
          <a:lstStyle/>
          <a:p>
            <a:pPr algn="ctr"/>
            <a:r>
              <a:rPr sz="700" b="0">
                <a:solidFill>
                  <a:srgbClr val="6C7A89"/>
                </a:solidFill>
                <a:latin typeface="Calibri"/>
              </a:rPr>
              <a:t>2</a:t>
            </a:r>
          </a:p>
        </p:txBody>
      </p:sp>
      <p:sp>
        <p:nvSpPr>
          <p:cNvPr id="21" name="TextBox 20"/>
          <p:cNvSpPr txBox="1"/>
          <p:nvPr/>
        </p:nvSpPr>
        <p:spPr>
          <a:xfrm>
            <a:off x="10974161" y="3200400"/>
            <a:ext cx="228600" cy="114300"/>
          </a:xfrm>
          <a:prstGeom prst="rect">
            <a:avLst/>
          </a:prstGeom>
          <a:noFill/>
        </p:spPr>
        <p:txBody>
          <a:bodyPr wrap="none" lIns="0" rIns="0" tIns="0" bIns="0">
            <a:spAutoFit/>
          </a:bodyPr>
          <a:lstStyle/>
          <a:p>
            <a:pPr algn="ctr"/>
            <a:r>
              <a:rPr sz="700" b="0">
                <a:solidFill>
                  <a:srgbClr val="6C7A89"/>
                </a:solidFill>
                <a:latin typeface="Calibri"/>
              </a:rPr>
              <a:t>3</a:t>
            </a:r>
          </a:p>
        </p:txBody>
      </p:sp>
      <p:sp>
        <p:nvSpPr>
          <p:cNvPr id="22" name="TextBox 21"/>
          <p:cNvSpPr txBox="1"/>
          <p:nvPr/>
        </p:nvSpPr>
        <p:spPr>
          <a:xfrm>
            <a:off x="6581775" y="3314700"/>
            <a:ext cx="5257800" cy="114300"/>
          </a:xfrm>
          <a:prstGeom prst="rect">
            <a:avLst/>
          </a:prstGeom>
          <a:noFill/>
        </p:spPr>
        <p:txBody>
          <a:bodyPr wrap="square" lIns="28575" rIns="28575" tIns="9525" bIns="9525">
            <a:spAutoFit/>
          </a:bodyPr>
          <a:lstStyle/>
          <a:p>
            <a:pPr algn="ctr"/>
            <a:r>
              <a:rPr sz="800" b="0">
                <a:solidFill>
                  <a:srgbClr val="6C7A89"/>
                </a:solidFill>
                <a:latin typeface="Calibri"/>
              </a:rPr>
              <a:t>Win Rate %</a:t>
            </a:r>
          </a:p>
        </p:txBody>
      </p:sp>
      <p:sp>
        <p:nvSpPr>
          <p:cNvPr id="23" name="TextBox 22"/>
          <p:cNvSpPr txBox="1"/>
          <p:nvPr/>
        </p:nvSpPr>
        <p:spPr>
          <a:xfrm rot="16200000">
            <a:off x="6029325" y="2286000"/>
            <a:ext cx="571500" cy="152400"/>
          </a:xfrm>
          <a:prstGeom prst="rect">
            <a:avLst/>
          </a:prstGeom>
          <a:noFill/>
        </p:spPr>
        <p:txBody>
          <a:bodyPr wrap="square" lIns="28575" rIns="28575" tIns="9525" bIns="9525">
            <a:spAutoFit/>
          </a:bodyPr>
          <a:lstStyle/>
          <a:p>
            <a:pPr algn="ctr"/>
            <a:r>
              <a:rPr sz="800" b="0">
                <a:solidFill>
                  <a:srgbClr val="6C7A89"/>
                </a:solidFill>
                <a:latin typeface="Calibri"/>
              </a:rPr>
              <a:t>ASP vs Peer</a:t>
            </a:r>
          </a:p>
        </p:txBody>
      </p:sp>
      <p:sp>
        <p:nvSpPr>
          <p:cNvPr id="24" name="Oval 23"/>
          <p:cNvSpPr/>
          <p:nvPr/>
        </p:nvSpPr>
        <p:spPr>
          <a:xfrm>
            <a:off x="7359287" y="1869758"/>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45037" y="1907858"/>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Company A</a:t>
            </a:r>
          </a:p>
        </p:txBody>
      </p:sp>
      <p:sp>
        <p:nvSpPr>
          <p:cNvPr id="26" name="Oval 25"/>
          <p:cNvSpPr/>
          <p:nvPr/>
        </p:nvSpPr>
        <p:spPr>
          <a:xfrm>
            <a:off x="9283609" y="1800225"/>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26509" y="1866900"/>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Industry Avg.</a:t>
            </a:r>
          </a:p>
        </p:txBody>
      </p:sp>
      <p:sp>
        <p:nvSpPr>
          <p:cNvPr id="28" name="Oval 27"/>
          <p:cNvSpPr/>
          <p:nvPr/>
        </p:nvSpPr>
        <p:spPr>
          <a:xfrm>
            <a:off x="10513967" y="2647950"/>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06100" y="2686050"/>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Market Leader</a:t>
            </a:r>
          </a:p>
        </p:txBody>
      </p:sp>
      <p:sp>
        <p:nvSpPr>
          <p:cNvPr id="30" name="Rounded Rectangle 29"/>
          <p:cNvSpPr/>
          <p:nvPr/>
        </p:nvSpPr>
        <p:spPr>
          <a:xfrm>
            <a:off x="142875" y="3600450"/>
            <a:ext cx="5905500"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5760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32" name="Rectangle 31"/>
          <p:cNvSpPr/>
          <p:nvPr/>
        </p:nvSpPr>
        <p:spPr>
          <a:xfrm>
            <a:off x="238125" y="3886200"/>
            <a:ext cx="5715000" cy="387350"/>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TAM  ·  100%  ·  10,851 US$ Mn</a:t>
            </a:r>
          </a:p>
        </p:txBody>
      </p:sp>
      <p:sp>
        <p:nvSpPr>
          <p:cNvPr id="33" name="Rectangle 32"/>
          <p:cNvSpPr/>
          <p:nvPr/>
        </p:nvSpPr>
        <p:spPr>
          <a:xfrm>
            <a:off x="238125" y="4387850"/>
            <a:ext cx="4400550" cy="387350"/>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SAM  ·  52% of TAM  ·  5,643 US$ Mn</a:t>
            </a:r>
          </a:p>
        </p:txBody>
      </p:sp>
      <p:sp>
        <p:nvSpPr>
          <p:cNvPr id="34" name="Rectangle 33"/>
          <p:cNvSpPr/>
          <p:nvPr/>
        </p:nvSpPr>
        <p:spPr>
          <a:xfrm>
            <a:off x="238125" y="4889500"/>
            <a:ext cx="3086100" cy="387350"/>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SOM  ·  32% of SAM  ·  1,780 US$ Mn</a:t>
            </a:r>
          </a:p>
        </p:txBody>
      </p:sp>
      <p:sp>
        <p:nvSpPr>
          <p:cNvPr id="35" name="Rounded Rectangle 34"/>
          <p:cNvSpPr/>
          <p:nvPr/>
        </p:nvSpPr>
        <p:spPr>
          <a:xfrm>
            <a:off x="6162675" y="3600450"/>
            <a:ext cx="5886450"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57925" y="365760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7" name="Rectangle 36"/>
          <p:cNvSpPr/>
          <p:nvPr/>
        </p:nvSpPr>
        <p:spPr>
          <a:xfrm>
            <a:off x="10391775" y="3905250"/>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06075" y="3876675"/>
            <a:ext cx="571500" cy="133350"/>
          </a:xfrm>
          <a:prstGeom prst="rect">
            <a:avLst/>
          </a:prstGeom>
          <a:noFill/>
        </p:spPr>
        <p:txBody>
          <a:bodyPr wrap="square" lIns="28575" rIns="28575" tIns="9525" bIns="9525">
            <a:spAutoFit/>
          </a:bodyPr>
          <a:lstStyle/>
          <a:p>
            <a:pPr algn="l"/>
            <a:r>
              <a:rPr sz="800" b="0">
                <a:solidFill>
                  <a:srgbClr val="2E2E2E"/>
                </a:solidFill>
                <a:latin typeface="Calibri"/>
              </a:rPr>
              <a:t>Target</a:t>
            </a:r>
          </a:p>
        </p:txBody>
      </p:sp>
      <p:sp>
        <p:nvSpPr>
          <p:cNvPr id="39" name="Rectangle 38"/>
          <p:cNvSpPr/>
          <p:nvPr/>
        </p:nvSpPr>
        <p:spPr>
          <a:xfrm>
            <a:off x="11134725" y="3905250"/>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9025" y="3876675"/>
            <a:ext cx="571500" cy="133350"/>
          </a:xfrm>
          <a:prstGeom prst="rect">
            <a:avLst/>
          </a:prstGeom>
          <a:noFill/>
        </p:spPr>
        <p:txBody>
          <a:bodyPr wrap="square" lIns="28575" rIns="28575" tIns="9525" bIns="9525">
            <a:spAutoFit/>
          </a:bodyPr>
          <a:lstStyle/>
          <a:p>
            <a:pPr algn="l"/>
            <a:r>
              <a:rPr sz="800" b="0">
                <a:solidFill>
                  <a:srgbClr val="2E2E2E"/>
                </a:solidFill>
                <a:latin typeface="Calibri"/>
              </a:rPr>
              <a:t>Actual</a:t>
            </a:r>
          </a:p>
        </p:txBody>
      </p:sp>
      <p:sp>
        <p:nvSpPr>
          <p:cNvPr id="41" name="TextBox 40"/>
          <p:cNvSpPr txBox="1"/>
          <p:nvPr/>
        </p:nvSpPr>
        <p:spPr>
          <a:xfrm>
            <a:off x="6276975" y="413067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Conversion (%)</a:t>
            </a:r>
          </a:p>
        </p:txBody>
      </p:sp>
      <p:sp>
        <p:nvSpPr>
          <p:cNvPr id="42" name="Rectangle 41"/>
          <p:cNvSpPr/>
          <p:nvPr/>
        </p:nvSpPr>
        <p:spPr>
          <a:xfrm>
            <a:off x="7381875" y="4134485"/>
            <a:ext cx="1597914"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254500"/>
            <a:ext cx="3018282"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46722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Sales Cycle (Days)</a:t>
            </a:r>
          </a:p>
        </p:txBody>
      </p:sp>
      <p:sp>
        <p:nvSpPr>
          <p:cNvPr id="45" name="Rectangle 44"/>
          <p:cNvSpPr/>
          <p:nvPr/>
        </p:nvSpPr>
        <p:spPr>
          <a:xfrm>
            <a:off x="7381875" y="4471035"/>
            <a:ext cx="3817239"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591050"/>
            <a:ext cx="2219325"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76975" y="480377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Pipeline Coverage</a:t>
            </a:r>
          </a:p>
        </p:txBody>
      </p:sp>
      <p:sp>
        <p:nvSpPr>
          <p:cNvPr id="48" name="Rectangle 47"/>
          <p:cNvSpPr/>
          <p:nvPr/>
        </p:nvSpPr>
        <p:spPr>
          <a:xfrm>
            <a:off x="7381875" y="4807585"/>
            <a:ext cx="2130552"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81875" y="4927600"/>
            <a:ext cx="3906012"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42875" y="5410200"/>
            <a:ext cx="11906250" cy="1257300"/>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225" y="5495925"/>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2" name="Rectangle 51"/>
          <p:cNvSpPr/>
          <p:nvPr/>
        </p:nvSpPr>
        <p:spPr>
          <a:xfrm>
            <a:off x="276225" y="57340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225" y="5819775"/>
            <a:ext cx="11639550" cy="771525"/>
          </a:xfrm>
          <a:prstGeom prst="rect">
            <a:avLst/>
          </a:prstGeom>
          <a:noFill/>
        </p:spPr>
        <p:txBody>
          <a:bodyPr wrap="square" lIns="0" rIns="19050" tIns="9525" bIns="9525">
            <a:spAutoFit/>
          </a:bodyPr>
          <a:lstStyle/>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Regional Opportunity: 'Middle East &amp; Africa' shows the highest SAM penetration; lower-penetration regions are the growth headroom.</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Competitive Edge: ~18% win rate with a +6% ASP premium signals value recognition; 2.9x pipeline coverage underpins growth.</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Sales Efficiency: a ~95-day sales cycle and ~30% conversion support faster share capture.</a:t>
            </a:r>
          </a:p>
        </p:txBody>
      </p:sp>
      <p:sp>
        <p:nvSpPr>
          <p:cNvPr id="54" name="Rectangle 5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56" name="Rounded Rectangle 55">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7" name="Rounded Rectangle 56">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8" name="Rounded Rectangle 57">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Company A SWOT Analysis (3/5)</a:t>
            </a:r>
          </a:p>
        </p:txBody>
      </p:sp>
      <p:sp>
        <p:nvSpPr>
          <p:cNvPr id="10" name="TextBox 9"/>
          <p:cNvSpPr txBox="1"/>
          <p:nvPr/>
        </p:nvSpPr>
        <p:spPr>
          <a:xfrm>
            <a:off x="142875" y="857250"/>
            <a:ext cx="11906250" cy="171450"/>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Company A: strengths, weaknesses, opportunities and threats (indicative).</a:t>
            </a:r>
          </a:p>
        </p:txBody>
      </p:sp>
      <p:cxnSp>
        <p:nvCxnSpPr>
          <p:cNvPr id="11" name="Connector 10"/>
          <p:cNvCxnSpPr/>
          <p:nvPr/>
        </p:nvCxnSpPr>
        <p:spPr>
          <a:xfrm>
            <a:off x="3810000" y="3867150"/>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1809750"/>
            <a:ext cx="0" cy="411480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57612" y="38147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29612" y="38147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43612" y="17573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43612" y="58721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24400" y="2495550"/>
            <a:ext cx="1257300" cy="1257300"/>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0300" y="2495550"/>
            <a:ext cx="1257300" cy="1257300"/>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724400" y="3981450"/>
            <a:ext cx="1257300" cy="1257300"/>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0300" y="3981450"/>
            <a:ext cx="1257300" cy="1257300"/>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524500" y="2914650"/>
            <a:ext cx="1143000" cy="838200"/>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24500" y="3981450"/>
            <a:ext cx="1143000" cy="838200"/>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143500" y="3295650"/>
            <a:ext cx="838200" cy="1143000"/>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6210300" y="3295650"/>
            <a:ext cx="838200" cy="1143000"/>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6450" y="3190875"/>
            <a:ext cx="419100" cy="285750"/>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6" name="TextBox 25"/>
          <p:cNvSpPr txBox="1"/>
          <p:nvPr/>
        </p:nvSpPr>
        <p:spPr>
          <a:xfrm>
            <a:off x="5886450" y="4257675"/>
            <a:ext cx="419100" cy="285750"/>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7" name="TextBox 26"/>
          <p:cNvSpPr txBox="1"/>
          <p:nvPr/>
        </p:nvSpPr>
        <p:spPr>
          <a:xfrm>
            <a:off x="5353050" y="3724275"/>
            <a:ext cx="419100" cy="285750"/>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8" name="TextBox 27"/>
          <p:cNvSpPr txBox="1"/>
          <p:nvPr/>
        </p:nvSpPr>
        <p:spPr>
          <a:xfrm>
            <a:off x="6419850" y="3724275"/>
            <a:ext cx="419100" cy="285750"/>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9" name="TextBox 28"/>
          <p:cNvSpPr txBox="1"/>
          <p:nvPr/>
        </p:nvSpPr>
        <p:spPr>
          <a:xfrm>
            <a:off x="190500" y="1162050"/>
            <a:ext cx="3667125" cy="190500"/>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30" name="Rectangle 29"/>
          <p:cNvSpPr/>
          <p:nvPr/>
        </p:nvSpPr>
        <p:spPr>
          <a:xfrm>
            <a:off x="190500" y="1371600"/>
            <a:ext cx="1428750" cy="1905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4788" y="148113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375" y="14478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~18% win rate with a +6% ASP premium clear value recognition.</a:t>
            </a:r>
          </a:p>
        </p:txBody>
      </p:sp>
      <p:sp>
        <p:nvSpPr>
          <p:cNvPr id="33" name="Oval 32"/>
          <p:cNvSpPr/>
          <p:nvPr/>
        </p:nvSpPr>
        <p:spPr>
          <a:xfrm>
            <a:off x="204788" y="195738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375" y="19240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Balanced SOM across regions and end-markets; strongest in 'Middle East &amp; Africa'.</a:t>
            </a:r>
          </a:p>
        </p:txBody>
      </p:sp>
      <p:sp>
        <p:nvSpPr>
          <p:cNvPr id="35" name="Oval 34"/>
          <p:cNvSpPr/>
          <p:nvPr/>
        </p:nvSpPr>
        <p:spPr>
          <a:xfrm>
            <a:off x="204788" y="243363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3375" y="24003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1.00 book-to-bill and ~12% EBITDA signal healthy momentum.</a:t>
            </a:r>
          </a:p>
        </p:txBody>
      </p:sp>
      <p:sp>
        <p:nvSpPr>
          <p:cNvPr id="37" name="TextBox 36"/>
          <p:cNvSpPr txBox="1"/>
          <p:nvPr/>
        </p:nvSpPr>
        <p:spPr>
          <a:xfrm>
            <a:off x="8334375" y="1162050"/>
            <a:ext cx="3667125" cy="190500"/>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8" name="Rectangle 37"/>
          <p:cNvSpPr/>
          <p:nvPr/>
        </p:nvSpPr>
        <p:spPr>
          <a:xfrm>
            <a:off x="8334375" y="1371600"/>
            <a:ext cx="1428750" cy="190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48662" y="148113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77250" y="14478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~16.4% share leaves a scale gap versus the market leader.</a:t>
            </a:r>
          </a:p>
        </p:txBody>
      </p:sp>
      <p:sp>
        <p:nvSpPr>
          <p:cNvPr id="41" name="Oval 40"/>
          <p:cNvSpPr/>
          <p:nvPr/>
        </p:nvSpPr>
        <p:spPr>
          <a:xfrm>
            <a:off x="8348662" y="195738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7250" y="19240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Uneven SAM penetration strong in 'Middle East &amp; Africa', thin elsewhere.</a:t>
            </a:r>
          </a:p>
        </p:txBody>
      </p:sp>
      <p:sp>
        <p:nvSpPr>
          <p:cNvPr id="43" name="Oval 42"/>
          <p:cNvSpPr/>
          <p:nvPr/>
        </p:nvSpPr>
        <p:spPr>
          <a:xfrm>
            <a:off x="8348662" y="243363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77250" y="24003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Reliance on a few large accounts/regions raises concentration risk.</a:t>
            </a:r>
          </a:p>
        </p:txBody>
      </p:sp>
      <p:sp>
        <p:nvSpPr>
          <p:cNvPr id="45" name="TextBox 44"/>
          <p:cNvSpPr txBox="1"/>
          <p:nvPr/>
        </p:nvSpPr>
        <p:spPr>
          <a:xfrm>
            <a:off x="190500" y="4038600"/>
            <a:ext cx="3667125" cy="190500"/>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6" name="Rectangle 45"/>
          <p:cNvSpPr/>
          <p:nvPr/>
        </p:nvSpPr>
        <p:spPr>
          <a:xfrm>
            <a:off x="190500" y="4248150"/>
            <a:ext cx="1428750" cy="1905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04788" y="435768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3375" y="43243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Intense competition ~2.9x pipeline needed to convert.</a:t>
            </a:r>
          </a:p>
        </p:txBody>
      </p:sp>
      <p:sp>
        <p:nvSpPr>
          <p:cNvPr id="49" name="Oval 48"/>
          <p:cNvSpPr/>
          <p:nvPr/>
        </p:nvSpPr>
        <p:spPr>
          <a:xfrm>
            <a:off x="204788" y="483393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3375" y="48006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Input-cost inflation and price pressure can squeeze margin.</a:t>
            </a:r>
          </a:p>
        </p:txBody>
      </p:sp>
      <p:sp>
        <p:nvSpPr>
          <p:cNvPr id="51" name="Oval 50"/>
          <p:cNvSpPr/>
          <p:nvPr/>
        </p:nvSpPr>
        <p:spPr>
          <a:xfrm>
            <a:off x="204788" y="531018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3375" y="52768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Tier-1 incumbents and regulation raise barriers and switching friction.</a:t>
            </a:r>
          </a:p>
        </p:txBody>
      </p:sp>
      <p:sp>
        <p:nvSpPr>
          <p:cNvPr id="53" name="TextBox 52"/>
          <p:cNvSpPr txBox="1"/>
          <p:nvPr/>
        </p:nvSpPr>
        <p:spPr>
          <a:xfrm>
            <a:off x="8334375" y="4038600"/>
            <a:ext cx="3667125" cy="190500"/>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4" name="Rectangle 53"/>
          <p:cNvSpPr/>
          <p:nvPr/>
        </p:nvSpPr>
        <p:spPr>
          <a:xfrm>
            <a:off x="8334375" y="4248150"/>
            <a:ext cx="1428750" cy="1905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348662" y="435768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77250" y="43243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Premiumisation headroom in 'Simlandi' and adjacent high-value lines.</a:t>
            </a:r>
          </a:p>
        </p:txBody>
      </p:sp>
      <p:sp>
        <p:nvSpPr>
          <p:cNvPr id="57" name="Oval 56"/>
          <p:cNvSpPr/>
          <p:nvPr/>
        </p:nvSpPr>
        <p:spPr>
          <a:xfrm>
            <a:off x="8348662" y="483393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77250" y="48006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Under-penetrated regions offer share-capture runway.</a:t>
            </a:r>
          </a:p>
        </p:txBody>
      </p:sp>
      <p:sp>
        <p:nvSpPr>
          <p:cNvPr id="59" name="Oval 58"/>
          <p:cNvSpPr/>
          <p:nvPr/>
        </p:nvSpPr>
        <p:spPr>
          <a:xfrm>
            <a:off x="8348662" y="531018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77250" y="52768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Channel shift to online and clinics opens new demand pools.</a:t>
            </a:r>
          </a:p>
        </p:txBody>
      </p:sp>
      <p:sp>
        <p:nvSpPr>
          <p:cNvPr id="61" name="TextBox 60"/>
          <p:cNvSpPr txBox="1"/>
          <p:nvPr/>
        </p:nvSpPr>
        <p:spPr>
          <a:xfrm>
            <a:off x="5334000" y="6553200"/>
            <a:ext cx="6715125" cy="133350"/>
          </a:xfrm>
          <a:prstGeom prst="rect">
            <a:avLst/>
          </a:prstGeom>
          <a:noFill/>
        </p:spPr>
        <p:txBody>
          <a:bodyPr wrap="square" lIns="28575" rIns="28575" tIns="9525" bIns="9525" anchor="ctr">
            <a:spAutoFit/>
          </a:bodyPr>
          <a:lstStyle/>
          <a:p>
            <a:pPr algn="l"/>
            <a:r>
              <a:rPr sz="800" b="0">
                <a:solidFill>
                  <a:srgbClr val="C0392B"/>
                </a:solidFill>
                <a:latin typeface="Calibri"/>
              </a:rPr>
              <a:t>Note: competitor figures are indicative derived from market modelling and expert validation, not company disclosures.</a:t>
            </a:r>
          </a:p>
        </p:txBody>
      </p:sp>
      <p:sp>
        <p:nvSpPr>
          <p:cNvPr id="62" name="Rectangle 6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4" name="Rounded Rectangle 63">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5" name="Rounded Rectangle 64">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6" name="Rounded Rectangle 65">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Company A Key Financials (4/5)</a:t>
            </a:r>
          </a:p>
        </p:txBody>
      </p:sp>
      <p:sp>
        <p:nvSpPr>
          <p:cNvPr id="10" name="Rounded Rectangle 9"/>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Key financials and pricing Company A (all figures indicative, USD Mn unless noted).</a:t>
            </a:r>
          </a:p>
        </p:txBody>
      </p:sp>
      <p:sp>
        <p:nvSpPr>
          <p:cNvPr id="11" name="Rounded Rectangle 10"/>
          <p:cNvSpPr/>
          <p:nvPr/>
        </p:nvSpPr>
        <p:spPr>
          <a:xfrm>
            <a:off x="142875" y="1219200"/>
            <a:ext cx="5905500" cy="2000250"/>
          </a:xfrm>
          <a:prstGeom prst="roundRect">
            <a:avLst>
              <a:gd name="adj" fmla="val 38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27635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A Financial Performance</a:t>
            </a:r>
          </a:p>
        </p:txBody>
      </p:sp>
      <p:graphicFrame>
        <p:nvGraphicFramePr>
          <p:cNvPr id="13" name="Table 12"/>
          <p:cNvGraphicFramePr>
            <a:graphicFrameLocks noGrp="1"/>
          </p:cNvGraphicFramePr>
          <p:nvPr/>
        </p:nvGraphicFramePr>
        <p:xfrm>
          <a:off x="238125" y="1504950"/>
          <a:ext cx="5715000" cy="904875"/>
        </p:xfrm>
        <a:graphic>
          <a:graphicData uri="http://schemas.openxmlformats.org/drawingml/2006/table">
            <a:tbl>
              <a:tblPr>
                <a:tableStyleId>{5C22544A-7EE6-4342-B048-85BDC9FD1C3A}</a:tableStyleId>
              </a:tblPr>
              <a:tblGrid>
                <a:gridCol w="1714500"/>
                <a:gridCol w="800100"/>
                <a:gridCol w="800100"/>
                <a:gridCol w="800100"/>
                <a:gridCol w="800100"/>
                <a:gridCol w="800100"/>
              </a:tblGrid>
              <a:tr h="180975">
                <a:tc>
                  <a:txBody>
                    <a:bodyPr wrap="none"/>
                    <a:lstStyle/>
                    <a:p>
                      <a:pPr algn="l"/>
                      <a:r>
                        <a:rPr sz="900" b="1">
                          <a:solidFill>
                            <a:srgbClr val="0B2E4A"/>
                          </a:solidFill>
                          <a:latin typeface="Calibri"/>
                        </a:rPr>
                        <a:t>USD Mn</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2021</a:t>
                      </a:r>
                    </a:p>
                  </a:txBody>
                  <a:tcPr marL="85725" marR="38100" marT="19050" marB="19050" anchor="ctr">
                    <a:solidFill>
                      <a:srgbClr val="E0E8EF"/>
                    </a:solidFill>
                  </a:tcPr>
                </a:tc>
                <a:tc>
                  <a:txBody>
                    <a:bodyPr wrap="none"/>
                    <a:lstStyle/>
                    <a:p>
                      <a:pPr algn="l"/>
                      <a:r>
                        <a:rPr sz="900" b="1">
                          <a:solidFill>
                            <a:srgbClr val="0B2E4A"/>
                          </a:solidFill>
                          <a:latin typeface="Calibri"/>
                        </a:rPr>
                        <a:t>2022</a:t>
                      </a:r>
                    </a:p>
                  </a:txBody>
                  <a:tcPr marL="85725" marR="38100" marT="19050" marB="19050" anchor="ctr">
                    <a:solidFill>
                      <a:srgbClr val="E0E8EF"/>
                    </a:solidFill>
                  </a:tcPr>
                </a:tc>
                <a:tc>
                  <a:txBody>
                    <a:bodyPr wrap="none"/>
                    <a:lstStyle/>
                    <a:p>
                      <a:pPr algn="l"/>
                      <a:r>
                        <a:rPr sz="900" b="1">
                          <a:solidFill>
                            <a:srgbClr val="0B2E4A"/>
                          </a:solidFill>
                          <a:latin typeface="Calibri"/>
                        </a:rPr>
                        <a:t>2023</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Revenue</a:t>
                      </a:r>
                    </a:p>
                  </a:txBody>
                  <a:tcPr marL="85725" marR="38100" marT="19050" marB="19050" anchor="ctr">
                    <a:solidFill>
                      <a:srgbClr val="FFFFFF"/>
                    </a:solidFill>
                  </a:tcPr>
                </a:tc>
                <a:tc>
                  <a:txBody>
                    <a:bodyPr wrap="none"/>
                    <a:lstStyle/>
                    <a:p>
                      <a:pPr algn="l"/>
                      <a:r>
                        <a:rPr sz="900" b="0">
                          <a:solidFill>
                            <a:srgbClr val="2E2E2E"/>
                          </a:solidFill>
                          <a:latin typeface="Calibri"/>
                        </a:rPr>
                        <a:t>4,166</a:t>
                      </a:r>
                    </a:p>
                  </a:txBody>
                  <a:tcPr marL="85725" marR="38100" marT="19050" marB="19050" anchor="ctr">
                    <a:solidFill>
                      <a:srgbClr val="FFFFFF"/>
                    </a:solidFill>
                  </a:tcPr>
                </a:tc>
                <a:tc>
                  <a:txBody>
                    <a:bodyPr wrap="none"/>
                    <a:lstStyle/>
                    <a:p>
                      <a:pPr algn="l"/>
                      <a:r>
                        <a:rPr sz="900" b="0">
                          <a:solidFill>
                            <a:srgbClr val="2E2E2E"/>
                          </a:solidFill>
                          <a:latin typeface="Calibri"/>
                        </a:rPr>
                        <a:t>4,487</a:t>
                      </a:r>
                    </a:p>
                  </a:txBody>
                  <a:tcPr marL="85725" marR="38100" marT="19050" marB="19050" anchor="ctr">
                    <a:solidFill>
                      <a:srgbClr val="FFFFFF"/>
                    </a:solidFill>
                  </a:tcPr>
                </a:tc>
                <a:tc>
                  <a:txBody>
                    <a:bodyPr wrap="none"/>
                    <a:lstStyle/>
                    <a:p>
                      <a:pPr algn="l"/>
                      <a:r>
                        <a:rPr sz="900" b="0">
                          <a:solidFill>
                            <a:srgbClr val="2E2E2E"/>
                          </a:solidFill>
                          <a:latin typeface="Calibri"/>
                        </a:rPr>
                        <a:t>4,807</a:t>
                      </a:r>
                    </a:p>
                  </a:txBody>
                  <a:tcPr marL="85725" marR="38100" marT="19050" marB="19050" anchor="ctr">
                    <a:solidFill>
                      <a:srgbClr val="FFFFFF"/>
                    </a:solidFill>
                  </a:tcPr>
                </a:tc>
                <a:tc>
                  <a:txBody>
                    <a:bodyPr wrap="none"/>
                    <a:lstStyle/>
                    <a:p>
                      <a:pPr algn="l"/>
                      <a:r>
                        <a:rPr sz="900" b="0">
                          <a:solidFill>
                            <a:srgbClr val="2E2E2E"/>
                          </a:solidFill>
                          <a:latin typeface="Calibri"/>
                        </a:rPr>
                        <a:t>5,127</a:t>
                      </a:r>
                    </a:p>
                  </a:txBody>
                  <a:tcPr marL="85725" marR="38100" marT="19050" marB="19050" anchor="ctr">
                    <a:solidFill>
                      <a:srgbClr val="FFFFFF"/>
                    </a:solidFill>
                  </a:tcPr>
                </a:tc>
                <a:tc>
                  <a:txBody>
                    <a:bodyPr wrap="none"/>
                    <a:lstStyle/>
                    <a:p>
                      <a:pPr algn="l"/>
                      <a:r>
                        <a:rPr sz="900" b="0">
                          <a:solidFill>
                            <a:srgbClr val="2E2E2E"/>
                          </a:solidFill>
                          <a:latin typeface="Calibri"/>
                        </a:rPr>
                        <a:t>5,448</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Gross Profit</a:t>
                      </a:r>
                    </a:p>
                  </a:txBody>
                  <a:tcPr marL="85725" marR="38100" marT="19050" marB="19050" anchor="ctr">
                    <a:solidFill>
                      <a:srgbClr val="F5F8FA"/>
                    </a:solidFill>
                  </a:tcPr>
                </a:tc>
                <a:tc>
                  <a:txBody>
                    <a:bodyPr wrap="none"/>
                    <a:lstStyle/>
                    <a:p>
                      <a:pPr algn="l"/>
                      <a:r>
                        <a:rPr sz="900" b="0">
                          <a:solidFill>
                            <a:srgbClr val="2E2E2E"/>
                          </a:solidFill>
                          <a:latin typeface="Calibri"/>
                        </a:rPr>
                        <a:t>1,416</a:t>
                      </a:r>
                    </a:p>
                  </a:txBody>
                  <a:tcPr marL="85725" marR="38100" marT="19050" marB="19050" anchor="ctr">
                    <a:solidFill>
                      <a:srgbClr val="F5F8FA"/>
                    </a:solidFill>
                  </a:tcPr>
                </a:tc>
                <a:tc>
                  <a:txBody>
                    <a:bodyPr wrap="none"/>
                    <a:lstStyle/>
                    <a:p>
                      <a:pPr algn="l"/>
                      <a:r>
                        <a:rPr sz="900" b="0">
                          <a:solidFill>
                            <a:srgbClr val="2E2E2E"/>
                          </a:solidFill>
                          <a:latin typeface="Calibri"/>
                        </a:rPr>
                        <a:t>1,525</a:t>
                      </a:r>
                    </a:p>
                  </a:txBody>
                  <a:tcPr marL="85725" marR="38100" marT="19050" marB="19050" anchor="ctr">
                    <a:solidFill>
                      <a:srgbClr val="F5F8FA"/>
                    </a:solidFill>
                  </a:tcPr>
                </a:tc>
                <a:tc>
                  <a:txBody>
                    <a:bodyPr wrap="none"/>
                    <a:lstStyle/>
                    <a:p>
                      <a:pPr algn="l"/>
                      <a:r>
                        <a:rPr sz="900" b="0">
                          <a:solidFill>
                            <a:srgbClr val="2E2E2E"/>
                          </a:solidFill>
                          <a:latin typeface="Calibri"/>
                        </a:rPr>
                        <a:t>1,634</a:t>
                      </a:r>
                    </a:p>
                  </a:txBody>
                  <a:tcPr marL="85725" marR="38100" marT="19050" marB="19050" anchor="ctr">
                    <a:solidFill>
                      <a:srgbClr val="F5F8FA"/>
                    </a:solidFill>
                  </a:tcPr>
                </a:tc>
                <a:tc>
                  <a:txBody>
                    <a:bodyPr wrap="none"/>
                    <a:lstStyle/>
                    <a:p>
                      <a:pPr algn="l"/>
                      <a:r>
                        <a:rPr sz="900" b="0">
                          <a:solidFill>
                            <a:srgbClr val="2E2E2E"/>
                          </a:solidFill>
                          <a:latin typeface="Calibri"/>
                        </a:rPr>
                        <a:t>1,743</a:t>
                      </a:r>
                    </a:p>
                  </a:txBody>
                  <a:tcPr marL="85725" marR="38100" marT="19050" marB="19050" anchor="ctr">
                    <a:solidFill>
                      <a:srgbClr val="F5F8FA"/>
                    </a:solidFill>
                  </a:tcPr>
                </a:tc>
                <a:tc>
                  <a:txBody>
                    <a:bodyPr wrap="none"/>
                    <a:lstStyle/>
                    <a:p>
                      <a:pPr algn="l"/>
                      <a:r>
                        <a:rPr sz="900" b="0">
                          <a:solidFill>
                            <a:srgbClr val="2E2E2E"/>
                          </a:solidFill>
                          <a:latin typeface="Calibri"/>
                        </a:rPr>
                        <a:t>1,852</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Pre-Tax Profit</a:t>
                      </a:r>
                    </a:p>
                  </a:txBody>
                  <a:tcPr marL="85725" marR="38100" marT="19050" marB="19050" anchor="ctr">
                    <a:solidFill>
                      <a:srgbClr val="FFFFFF"/>
                    </a:solidFill>
                  </a:tcPr>
                </a:tc>
                <a:tc>
                  <a:txBody>
                    <a:bodyPr wrap="none"/>
                    <a:lstStyle/>
                    <a:p>
                      <a:pPr algn="l"/>
                      <a:r>
                        <a:rPr sz="900" b="0">
                          <a:solidFill>
                            <a:srgbClr val="2E2E2E"/>
                          </a:solidFill>
                          <a:latin typeface="Calibri"/>
                        </a:rPr>
                        <a:t>666.6</a:t>
                      </a:r>
                    </a:p>
                  </a:txBody>
                  <a:tcPr marL="85725" marR="38100" marT="19050" marB="19050" anchor="ctr">
                    <a:solidFill>
                      <a:srgbClr val="FFFFFF"/>
                    </a:solidFill>
                  </a:tcPr>
                </a:tc>
                <a:tc>
                  <a:txBody>
                    <a:bodyPr wrap="none"/>
                    <a:lstStyle/>
                    <a:p>
                      <a:pPr algn="l"/>
                      <a:r>
                        <a:rPr sz="900" b="0">
                          <a:solidFill>
                            <a:srgbClr val="2E2E2E"/>
                          </a:solidFill>
                          <a:latin typeface="Calibri"/>
                        </a:rPr>
                        <a:t>717.8</a:t>
                      </a:r>
                    </a:p>
                  </a:txBody>
                  <a:tcPr marL="85725" marR="38100" marT="19050" marB="19050" anchor="ctr">
                    <a:solidFill>
                      <a:srgbClr val="FFFFFF"/>
                    </a:solidFill>
                  </a:tcPr>
                </a:tc>
                <a:tc>
                  <a:txBody>
                    <a:bodyPr wrap="none"/>
                    <a:lstStyle/>
                    <a:p>
                      <a:pPr algn="l"/>
                      <a:r>
                        <a:rPr sz="900" b="0">
                          <a:solidFill>
                            <a:srgbClr val="2E2E2E"/>
                          </a:solidFill>
                          <a:latin typeface="Calibri"/>
                        </a:rPr>
                        <a:t>769.1</a:t>
                      </a:r>
                    </a:p>
                  </a:txBody>
                  <a:tcPr marL="85725" marR="38100" marT="19050" marB="19050" anchor="ctr">
                    <a:solidFill>
                      <a:srgbClr val="FFFFFF"/>
                    </a:solidFill>
                  </a:tcPr>
                </a:tc>
                <a:tc>
                  <a:txBody>
                    <a:bodyPr wrap="none"/>
                    <a:lstStyle/>
                    <a:p>
                      <a:pPr algn="l"/>
                      <a:r>
                        <a:rPr sz="900" b="0">
                          <a:solidFill>
                            <a:srgbClr val="2E2E2E"/>
                          </a:solidFill>
                          <a:latin typeface="Calibri"/>
                        </a:rPr>
                        <a:t>820.4</a:t>
                      </a:r>
                    </a:p>
                  </a:txBody>
                  <a:tcPr marL="85725" marR="38100" marT="19050" marB="19050" anchor="ctr">
                    <a:solidFill>
                      <a:srgbClr val="FFFFFF"/>
                    </a:solidFill>
                  </a:tcPr>
                </a:tc>
                <a:tc>
                  <a:txBody>
                    <a:bodyPr wrap="none"/>
                    <a:lstStyle/>
                    <a:p>
                      <a:pPr algn="l"/>
                      <a:r>
                        <a:rPr sz="900" b="0">
                          <a:solidFill>
                            <a:srgbClr val="2E2E2E"/>
                          </a:solidFill>
                          <a:latin typeface="Calibri"/>
                        </a:rPr>
                        <a:t>871.7</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Profit After Tax / Net Profit</a:t>
                      </a:r>
                    </a:p>
                  </a:txBody>
                  <a:tcPr marL="85725" marR="38100" marT="19050" marB="19050" anchor="ctr">
                    <a:solidFill>
                      <a:srgbClr val="F5F8FA"/>
                    </a:solidFill>
                  </a:tcPr>
                </a:tc>
                <a:tc>
                  <a:txBody>
                    <a:bodyPr wrap="none"/>
                    <a:lstStyle/>
                    <a:p>
                      <a:pPr algn="l"/>
                      <a:r>
                        <a:rPr sz="900" b="0">
                          <a:solidFill>
                            <a:srgbClr val="2E2E2E"/>
                          </a:solidFill>
                          <a:latin typeface="Calibri"/>
                        </a:rPr>
                        <a:t>499.9</a:t>
                      </a:r>
                    </a:p>
                  </a:txBody>
                  <a:tcPr marL="85725" marR="38100" marT="19050" marB="19050" anchor="ctr">
                    <a:solidFill>
                      <a:srgbClr val="F5F8FA"/>
                    </a:solidFill>
                  </a:tcPr>
                </a:tc>
                <a:tc>
                  <a:txBody>
                    <a:bodyPr wrap="none"/>
                    <a:lstStyle/>
                    <a:p>
                      <a:pPr algn="l"/>
                      <a:r>
                        <a:rPr sz="900" b="0">
                          <a:solidFill>
                            <a:srgbClr val="2E2E2E"/>
                          </a:solidFill>
                          <a:latin typeface="Calibri"/>
                        </a:rPr>
                        <a:t>538.4</a:t>
                      </a:r>
                    </a:p>
                  </a:txBody>
                  <a:tcPr marL="85725" marR="38100" marT="19050" marB="19050" anchor="ctr">
                    <a:solidFill>
                      <a:srgbClr val="F5F8FA"/>
                    </a:solidFill>
                  </a:tcPr>
                </a:tc>
                <a:tc>
                  <a:txBody>
                    <a:bodyPr wrap="none"/>
                    <a:lstStyle/>
                    <a:p>
                      <a:pPr algn="l"/>
                      <a:r>
                        <a:rPr sz="900" b="0">
                          <a:solidFill>
                            <a:srgbClr val="2E2E2E"/>
                          </a:solidFill>
                          <a:latin typeface="Calibri"/>
                        </a:rPr>
                        <a:t>576.8</a:t>
                      </a:r>
                    </a:p>
                  </a:txBody>
                  <a:tcPr marL="85725" marR="38100" marT="19050" marB="19050" anchor="ctr">
                    <a:solidFill>
                      <a:srgbClr val="F5F8FA"/>
                    </a:solidFill>
                  </a:tcPr>
                </a:tc>
                <a:tc>
                  <a:txBody>
                    <a:bodyPr wrap="none"/>
                    <a:lstStyle/>
                    <a:p>
                      <a:pPr algn="l"/>
                      <a:r>
                        <a:rPr sz="900" b="0">
                          <a:solidFill>
                            <a:srgbClr val="2E2E2E"/>
                          </a:solidFill>
                          <a:latin typeface="Calibri"/>
                        </a:rPr>
                        <a:t>615.3</a:t>
                      </a:r>
                    </a:p>
                  </a:txBody>
                  <a:tcPr marL="85725" marR="38100" marT="19050" marB="19050" anchor="ctr">
                    <a:solidFill>
                      <a:srgbClr val="F5F8FA"/>
                    </a:solidFill>
                  </a:tcPr>
                </a:tc>
                <a:tc>
                  <a:txBody>
                    <a:bodyPr wrap="none"/>
                    <a:lstStyle/>
                    <a:p>
                      <a:pPr algn="l"/>
                      <a:r>
                        <a:rPr sz="900" b="0">
                          <a:solidFill>
                            <a:srgbClr val="2E2E2E"/>
                          </a:solidFill>
                          <a:latin typeface="Calibri"/>
                        </a:rPr>
                        <a:t>653.8</a:t>
                      </a:r>
                    </a:p>
                  </a:txBody>
                  <a:tcPr marL="85725" marR="38100" marT="19050" marB="19050" anchor="ctr">
                    <a:solidFill>
                      <a:srgbClr val="F5F8FA"/>
                    </a:solidFill>
                  </a:tcPr>
                </a:tc>
              </a:tr>
            </a:tbl>
          </a:graphicData>
        </a:graphic>
      </p:graphicFrame>
      <p:sp>
        <p:nvSpPr>
          <p:cNvPr id="14" name="TextBox 13"/>
          <p:cNvSpPr txBox="1"/>
          <p:nvPr/>
        </p:nvSpPr>
        <p:spPr>
          <a:xfrm>
            <a:off x="219075" y="3076575"/>
            <a:ext cx="575310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352800"/>
            <a:ext cx="5905500" cy="3333750"/>
          </a:xfrm>
          <a:prstGeom prst="roundRect">
            <a:avLst>
              <a:gd name="adj" fmla="val 22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0995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A Key Ratios</a:t>
            </a:r>
          </a:p>
        </p:txBody>
      </p:sp>
      <p:graphicFrame>
        <p:nvGraphicFramePr>
          <p:cNvPr id="17" name="Table 16"/>
          <p:cNvGraphicFramePr>
            <a:graphicFrameLocks noGrp="1"/>
          </p:cNvGraphicFramePr>
          <p:nvPr/>
        </p:nvGraphicFramePr>
        <p:xfrm>
          <a:off x="238125" y="3638550"/>
          <a:ext cx="5715000" cy="1085850"/>
        </p:xfrm>
        <a:graphic>
          <a:graphicData uri="http://schemas.openxmlformats.org/drawingml/2006/table">
            <a:tbl>
              <a:tblPr>
                <a:tableStyleId>{5C22544A-7EE6-4342-B048-85BDC9FD1C3A}</a:tableStyleId>
              </a:tblPr>
              <a:tblGrid>
                <a:gridCol w="1714500"/>
                <a:gridCol w="800100"/>
                <a:gridCol w="800100"/>
                <a:gridCol w="800100"/>
                <a:gridCol w="800100"/>
                <a:gridCol w="800100"/>
              </a:tblGrid>
              <a:tr h="180975">
                <a:tc>
                  <a:txBody>
                    <a:bodyPr wrap="none"/>
                    <a:lstStyle/>
                    <a:p>
                      <a:pPr algn="l"/>
                      <a:r>
                        <a:rPr sz="900" b="1">
                          <a:solidFill>
                            <a:srgbClr val="0B2E4A"/>
                          </a:solidFill>
                          <a:latin typeface="Calibri"/>
                        </a:rPr>
                        <a:t>Key Ratios</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2021</a:t>
                      </a:r>
                    </a:p>
                  </a:txBody>
                  <a:tcPr marL="85725" marR="38100" marT="19050" marB="19050" anchor="ctr">
                    <a:solidFill>
                      <a:srgbClr val="E0E8EF"/>
                    </a:solidFill>
                  </a:tcPr>
                </a:tc>
                <a:tc>
                  <a:txBody>
                    <a:bodyPr wrap="none"/>
                    <a:lstStyle/>
                    <a:p>
                      <a:pPr algn="l"/>
                      <a:r>
                        <a:rPr sz="900" b="1">
                          <a:solidFill>
                            <a:srgbClr val="0B2E4A"/>
                          </a:solidFill>
                          <a:latin typeface="Calibri"/>
                        </a:rPr>
                        <a:t>2022</a:t>
                      </a:r>
                    </a:p>
                  </a:txBody>
                  <a:tcPr marL="85725" marR="38100" marT="19050" marB="19050" anchor="ctr">
                    <a:solidFill>
                      <a:srgbClr val="E0E8EF"/>
                    </a:solidFill>
                  </a:tcPr>
                </a:tc>
                <a:tc>
                  <a:txBody>
                    <a:bodyPr wrap="none"/>
                    <a:lstStyle/>
                    <a:p>
                      <a:pPr algn="l"/>
                      <a:r>
                        <a:rPr sz="900" b="1">
                          <a:solidFill>
                            <a:srgbClr val="0B2E4A"/>
                          </a:solidFill>
                          <a:latin typeface="Calibri"/>
                        </a:rPr>
                        <a:t>2023</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Gross Margin (%)</a:t>
                      </a:r>
                    </a:p>
                  </a:txBody>
                  <a:tcPr marL="85725" marR="38100" marT="19050" marB="19050" anchor="ctr">
                    <a:solidFill>
                      <a:srgbClr val="FFFFFF"/>
                    </a:solidFill>
                  </a:tcPr>
                </a:tc>
                <a:tc>
                  <a:txBody>
                    <a:bodyPr wrap="none"/>
                    <a:lstStyle/>
                    <a:p>
                      <a:pPr algn="l"/>
                      <a:r>
                        <a:rPr sz="900" b="0">
                          <a:solidFill>
                            <a:srgbClr val="2E2E2E"/>
                          </a:solidFill>
                          <a:latin typeface="Calibri"/>
                        </a:rPr>
                        <a:t>34.0%</a:t>
                      </a:r>
                    </a:p>
                  </a:txBody>
                  <a:tcPr marL="85725" marR="38100" marT="19050" marB="19050" anchor="ctr">
                    <a:solidFill>
                      <a:srgbClr val="FFFFFF"/>
                    </a:solidFill>
                  </a:tcPr>
                </a:tc>
                <a:tc>
                  <a:txBody>
                    <a:bodyPr wrap="none"/>
                    <a:lstStyle/>
                    <a:p>
                      <a:pPr algn="l"/>
                      <a:r>
                        <a:rPr sz="900" b="0">
                          <a:solidFill>
                            <a:srgbClr val="2E2E2E"/>
                          </a:solidFill>
                          <a:latin typeface="Calibri"/>
                        </a:rPr>
                        <a:t>34.0%</a:t>
                      </a:r>
                    </a:p>
                  </a:txBody>
                  <a:tcPr marL="85725" marR="38100" marT="19050" marB="19050" anchor="ctr">
                    <a:solidFill>
                      <a:srgbClr val="FFFFFF"/>
                    </a:solidFill>
                  </a:tcPr>
                </a:tc>
                <a:tc>
                  <a:txBody>
                    <a:bodyPr wrap="none"/>
                    <a:lstStyle/>
                    <a:p>
                      <a:pPr algn="l"/>
                      <a:r>
                        <a:rPr sz="900" b="0">
                          <a:solidFill>
                            <a:srgbClr val="2E2E2E"/>
                          </a:solidFill>
                          <a:latin typeface="Calibri"/>
                        </a:rPr>
                        <a:t>34.0%</a:t>
                      </a:r>
                    </a:p>
                  </a:txBody>
                  <a:tcPr marL="85725" marR="38100" marT="19050" marB="19050" anchor="ctr">
                    <a:solidFill>
                      <a:srgbClr val="FFFFFF"/>
                    </a:solidFill>
                  </a:tcPr>
                </a:tc>
                <a:tc>
                  <a:txBody>
                    <a:bodyPr wrap="none"/>
                    <a:lstStyle/>
                    <a:p>
                      <a:pPr algn="l"/>
                      <a:r>
                        <a:rPr sz="900" b="0">
                          <a:solidFill>
                            <a:srgbClr val="2E2E2E"/>
                          </a:solidFill>
                          <a:latin typeface="Calibri"/>
                        </a:rPr>
                        <a:t>34.0%</a:t>
                      </a:r>
                    </a:p>
                  </a:txBody>
                  <a:tcPr marL="85725" marR="38100" marT="19050" marB="19050" anchor="ctr">
                    <a:solidFill>
                      <a:srgbClr val="FFFFFF"/>
                    </a:solidFill>
                  </a:tcPr>
                </a:tc>
                <a:tc>
                  <a:txBody>
                    <a:bodyPr wrap="none"/>
                    <a:lstStyle/>
                    <a:p>
                      <a:pPr algn="l"/>
                      <a:r>
                        <a:rPr sz="900" b="0">
                          <a:solidFill>
                            <a:srgbClr val="2E2E2E"/>
                          </a:solidFill>
                          <a:latin typeface="Calibri"/>
                        </a:rPr>
                        <a:t>34.0%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Pre-Tax Margin (%)</a:t>
                      </a:r>
                    </a:p>
                  </a:txBody>
                  <a:tcPr marL="85725" marR="38100" marT="19050" marB="19050" anchor="ctr">
                    <a:solidFill>
                      <a:srgbClr val="F5F8FA"/>
                    </a:solidFill>
                  </a:tcPr>
                </a:tc>
                <a:tc>
                  <a:txBody>
                    <a:bodyPr wrap="none"/>
                    <a:lstStyle/>
                    <a:p>
                      <a:pPr algn="l"/>
                      <a:r>
                        <a:rPr sz="900" b="0">
                          <a:solidFill>
                            <a:srgbClr val="2E2E2E"/>
                          </a:solidFill>
                          <a:latin typeface="Calibri"/>
                        </a:rPr>
                        <a:t>16.0%</a:t>
                      </a:r>
                    </a:p>
                  </a:txBody>
                  <a:tcPr marL="85725" marR="38100" marT="19050" marB="19050" anchor="ctr">
                    <a:solidFill>
                      <a:srgbClr val="F5F8FA"/>
                    </a:solidFill>
                  </a:tcPr>
                </a:tc>
                <a:tc>
                  <a:txBody>
                    <a:bodyPr wrap="none"/>
                    <a:lstStyle/>
                    <a:p>
                      <a:pPr algn="l"/>
                      <a:r>
                        <a:rPr sz="900" b="0">
                          <a:solidFill>
                            <a:srgbClr val="2E2E2E"/>
                          </a:solidFill>
                          <a:latin typeface="Calibri"/>
                        </a:rPr>
                        <a:t>16.0%</a:t>
                      </a:r>
                    </a:p>
                  </a:txBody>
                  <a:tcPr marL="85725" marR="38100" marT="19050" marB="19050" anchor="ctr">
                    <a:solidFill>
                      <a:srgbClr val="F5F8FA"/>
                    </a:solidFill>
                  </a:tcPr>
                </a:tc>
                <a:tc>
                  <a:txBody>
                    <a:bodyPr wrap="none"/>
                    <a:lstStyle/>
                    <a:p>
                      <a:pPr algn="l"/>
                      <a:r>
                        <a:rPr sz="900" b="0">
                          <a:solidFill>
                            <a:srgbClr val="2E2E2E"/>
                          </a:solidFill>
                          <a:latin typeface="Calibri"/>
                        </a:rPr>
                        <a:t>16.0%</a:t>
                      </a:r>
                    </a:p>
                  </a:txBody>
                  <a:tcPr marL="85725" marR="38100" marT="19050" marB="19050" anchor="ctr">
                    <a:solidFill>
                      <a:srgbClr val="F5F8FA"/>
                    </a:solidFill>
                  </a:tcPr>
                </a:tc>
                <a:tc>
                  <a:txBody>
                    <a:bodyPr wrap="none"/>
                    <a:lstStyle/>
                    <a:p>
                      <a:pPr algn="l"/>
                      <a:r>
                        <a:rPr sz="900" b="0">
                          <a:solidFill>
                            <a:srgbClr val="2E2E2E"/>
                          </a:solidFill>
                          <a:latin typeface="Calibri"/>
                        </a:rPr>
                        <a:t>16.0%</a:t>
                      </a:r>
                    </a:p>
                  </a:txBody>
                  <a:tcPr marL="85725" marR="38100" marT="19050" marB="19050" anchor="ctr">
                    <a:solidFill>
                      <a:srgbClr val="F5F8FA"/>
                    </a:solidFill>
                  </a:tcPr>
                </a:tc>
                <a:tc>
                  <a:txBody>
                    <a:bodyPr wrap="none"/>
                    <a:lstStyle/>
                    <a:p>
                      <a:pPr algn="l"/>
                      <a:r>
                        <a:rPr sz="900" b="0">
                          <a:solidFill>
                            <a:srgbClr val="2E2E2E"/>
                          </a:solidFill>
                          <a:latin typeface="Calibri"/>
                        </a:rPr>
                        <a:t>16.0%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Net Margin (%)</a:t>
                      </a:r>
                    </a:p>
                  </a:txBody>
                  <a:tcPr marL="85725" marR="38100" marT="19050" marB="19050" anchor="ctr">
                    <a:solidFill>
                      <a:srgbClr val="FFFFFF"/>
                    </a:solidFill>
                  </a:tcPr>
                </a:tc>
                <a:tc>
                  <a:txBody>
                    <a:bodyPr wrap="none"/>
                    <a:lstStyle/>
                    <a:p>
                      <a:pPr algn="l"/>
                      <a:r>
                        <a:rPr sz="900" b="0">
                          <a:solidFill>
                            <a:srgbClr val="2E2E2E"/>
                          </a:solidFill>
                          <a:latin typeface="Calibri"/>
                        </a:rPr>
                        <a:t>12.0%</a:t>
                      </a:r>
                    </a:p>
                  </a:txBody>
                  <a:tcPr marL="85725" marR="38100" marT="19050" marB="19050" anchor="ctr">
                    <a:solidFill>
                      <a:srgbClr val="FFFFFF"/>
                    </a:solidFill>
                  </a:tcPr>
                </a:tc>
                <a:tc>
                  <a:txBody>
                    <a:bodyPr wrap="none"/>
                    <a:lstStyle/>
                    <a:p>
                      <a:pPr algn="l"/>
                      <a:r>
                        <a:rPr sz="900" b="0">
                          <a:solidFill>
                            <a:srgbClr val="2E2E2E"/>
                          </a:solidFill>
                          <a:latin typeface="Calibri"/>
                        </a:rPr>
                        <a:t>12.0%</a:t>
                      </a:r>
                    </a:p>
                  </a:txBody>
                  <a:tcPr marL="85725" marR="38100" marT="19050" marB="19050" anchor="ctr">
                    <a:solidFill>
                      <a:srgbClr val="FFFFFF"/>
                    </a:solidFill>
                  </a:tcPr>
                </a:tc>
                <a:tc>
                  <a:txBody>
                    <a:bodyPr wrap="none"/>
                    <a:lstStyle/>
                    <a:p>
                      <a:pPr algn="l"/>
                      <a:r>
                        <a:rPr sz="900" b="0">
                          <a:solidFill>
                            <a:srgbClr val="2E2E2E"/>
                          </a:solidFill>
                          <a:latin typeface="Calibri"/>
                        </a:rPr>
                        <a:t>12.0%</a:t>
                      </a:r>
                    </a:p>
                  </a:txBody>
                  <a:tcPr marL="85725" marR="38100" marT="19050" marB="19050" anchor="ctr">
                    <a:solidFill>
                      <a:srgbClr val="FFFFFF"/>
                    </a:solidFill>
                  </a:tcPr>
                </a:tc>
                <a:tc>
                  <a:txBody>
                    <a:bodyPr wrap="none"/>
                    <a:lstStyle/>
                    <a:p>
                      <a:pPr algn="l"/>
                      <a:r>
                        <a:rPr sz="900" b="0">
                          <a:solidFill>
                            <a:srgbClr val="2E2E2E"/>
                          </a:solidFill>
                          <a:latin typeface="Calibri"/>
                        </a:rPr>
                        <a:t>12.0%</a:t>
                      </a:r>
                    </a:p>
                  </a:txBody>
                  <a:tcPr marL="85725" marR="38100" marT="19050" marB="19050" anchor="ctr">
                    <a:solidFill>
                      <a:srgbClr val="FFFFFF"/>
                    </a:solidFill>
                  </a:tcPr>
                </a:tc>
                <a:tc>
                  <a:txBody>
                    <a:bodyPr wrap="none"/>
                    <a:lstStyle/>
                    <a:p>
                      <a:pPr algn="l"/>
                      <a:r>
                        <a:rPr sz="900" b="0">
                          <a:solidFill>
                            <a:srgbClr val="2E2E2E"/>
                          </a:solidFill>
                          <a:latin typeface="Calibri"/>
                        </a:rPr>
                        <a:t>12.0%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Return on Equity (%)</a:t>
                      </a:r>
                    </a:p>
                  </a:txBody>
                  <a:tcPr marL="85725" marR="38100" marT="19050" marB="19050" anchor="ctr">
                    <a:solidFill>
                      <a:srgbClr val="F5F8FA"/>
                    </a:solidFill>
                  </a:tcPr>
                </a:tc>
                <a:tc>
                  <a:txBody>
                    <a:bodyPr wrap="none"/>
                    <a:lstStyle/>
                    <a:p>
                      <a:pPr algn="l"/>
                      <a:r>
                        <a:rPr sz="900" b="0">
                          <a:solidFill>
                            <a:srgbClr val="2E2E2E"/>
                          </a:solidFill>
                          <a:latin typeface="Calibri"/>
                        </a:rPr>
                        <a:t>12.0%</a:t>
                      </a:r>
                    </a:p>
                  </a:txBody>
                  <a:tcPr marL="85725" marR="38100" marT="19050" marB="19050" anchor="ctr">
                    <a:solidFill>
                      <a:srgbClr val="F5F8FA"/>
                    </a:solidFill>
                  </a:tcPr>
                </a:tc>
                <a:tc>
                  <a:txBody>
                    <a:bodyPr wrap="none"/>
                    <a:lstStyle/>
                    <a:p>
                      <a:pPr algn="l"/>
                      <a:r>
                        <a:rPr sz="900" b="0">
                          <a:solidFill>
                            <a:srgbClr val="2E2E2E"/>
                          </a:solidFill>
                          <a:latin typeface="Calibri"/>
                        </a:rPr>
                        <a:t>13.0%</a:t>
                      </a:r>
                    </a:p>
                  </a:txBody>
                  <a:tcPr marL="85725" marR="38100" marT="19050" marB="19050" anchor="ctr">
                    <a:solidFill>
                      <a:srgbClr val="F5F8FA"/>
                    </a:solidFill>
                  </a:tcPr>
                </a:tc>
                <a:tc>
                  <a:txBody>
                    <a:bodyPr wrap="none"/>
                    <a:lstStyle/>
                    <a:p>
                      <a:pPr algn="l"/>
                      <a:r>
                        <a:rPr sz="900" b="0">
                          <a:solidFill>
                            <a:srgbClr val="2E2E2E"/>
                          </a:solidFill>
                          <a:latin typeface="Calibri"/>
                        </a:rPr>
                        <a:t>14.0%</a:t>
                      </a:r>
                    </a:p>
                  </a:txBody>
                  <a:tcPr marL="85725" marR="38100" marT="19050" marB="19050" anchor="ctr">
                    <a:solidFill>
                      <a:srgbClr val="F5F8FA"/>
                    </a:solidFill>
                  </a:tcPr>
                </a:tc>
                <a:tc>
                  <a:txBody>
                    <a:bodyPr wrap="none"/>
                    <a:lstStyle/>
                    <a:p>
                      <a:pPr algn="l"/>
                      <a:r>
                        <a:rPr sz="900" b="0">
                          <a:solidFill>
                            <a:srgbClr val="2E2E2E"/>
                          </a:solidFill>
                          <a:latin typeface="Calibri"/>
                        </a:rPr>
                        <a:t>15.0%</a:t>
                      </a:r>
                    </a:p>
                  </a:txBody>
                  <a:tcPr marL="85725" marR="38100" marT="19050" marB="19050" anchor="ctr">
                    <a:solidFill>
                      <a:srgbClr val="F5F8FA"/>
                    </a:solidFill>
                  </a:tcPr>
                </a:tc>
                <a:tc>
                  <a:txBody>
                    <a:bodyPr wrap="none"/>
                    <a:lstStyle/>
                    <a:p>
                      <a:pPr algn="l"/>
                      <a:r>
                        <a:rPr sz="900" b="0">
                          <a:solidFill>
                            <a:srgbClr val="2E2E2E"/>
                          </a:solidFill>
                          <a:latin typeface="Calibri"/>
                        </a:rPr>
                        <a:t>16.0%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Return on Assets (%)</a:t>
                      </a:r>
                    </a:p>
                  </a:txBody>
                  <a:tcPr marL="85725" marR="38100" marT="19050" marB="19050" anchor="ctr">
                    <a:solidFill>
                      <a:srgbClr val="FFFFFF"/>
                    </a:solidFill>
                  </a:tcPr>
                </a:tc>
                <a:tc>
                  <a:txBody>
                    <a:bodyPr wrap="none"/>
                    <a:lstStyle/>
                    <a:p>
                      <a:pPr algn="l"/>
                      <a:r>
                        <a:rPr sz="900" b="0">
                          <a:solidFill>
                            <a:srgbClr val="2E2E2E"/>
                          </a:solidFill>
                          <a:latin typeface="Calibri"/>
                        </a:rPr>
                        <a:t>7.0%</a:t>
                      </a:r>
                    </a:p>
                  </a:txBody>
                  <a:tcPr marL="85725" marR="38100" marT="19050" marB="19050" anchor="ctr">
                    <a:solidFill>
                      <a:srgbClr val="FFFFFF"/>
                    </a:solidFill>
                  </a:tcPr>
                </a:tc>
                <a:tc>
                  <a:txBody>
                    <a:bodyPr wrap="none"/>
                    <a:lstStyle/>
                    <a:p>
                      <a:pPr algn="l"/>
                      <a:r>
                        <a:rPr sz="900" b="0">
                          <a:solidFill>
                            <a:srgbClr val="2E2E2E"/>
                          </a:solidFill>
                          <a:latin typeface="Calibri"/>
                        </a:rPr>
                        <a:t>7.4%</a:t>
                      </a:r>
                    </a:p>
                  </a:txBody>
                  <a:tcPr marL="85725" marR="38100" marT="19050" marB="19050" anchor="ctr">
                    <a:solidFill>
                      <a:srgbClr val="FFFFFF"/>
                    </a:solidFill>
                  </a:tcPr>
                </a:tc>
                <a:tc>
                  <a:txBody>
                    <a:bodyPr wrap="none"/>
                    <a:lstStyle/>
                    <a:p>
                      <a:pPr algn="l"/>
                      <a:r>
                        <a:rPr sz="900" b="0">
                          <a:solidFill>
                            <a:srgbClr val="2E2E2E"/>
                          </a:solidFill>
                          <a:latin typeface="Calibri"/>
                        </a:rPr>
                        <a:t>7.8%</a:t>
                      </a:r>
                    </a:p>
                  </a:txBody>
                  <a:tcPr marL="85725" marR="38100" marT="19050" marB="19050" anchor="ctr">
                    <a:solidFill>
                      <a:srgbClr val="FFFFFF"/>
                    </a:solidFill>
                  </a:tcPr>
                </a:tc>
                <a:tc>
                  <a:txBody>
                    <a:bodyPr wrap="none"/>
                    <a:lstStyle/>
                    <a:p>
                      <a:pPr algn="l"/>
                      <a:r>
                        <a:rPr sz="900" b="0">
                          <a:solidFill>
                            <a:srgbClr val="2E2E2E"/>
                          </a:solidFill>
                          <a:latin typeface="Calibri"/>
                        </a:rPr>
                        <a:t>8.2%</a:t>
                      </a:r>
                    </a:p>
                  </a:txBody>
                  <a:tcPr marL="85725" marR="38100" marT="19050" marB="19050" anchor="ctr">
                    <a:solidFill>
                      <a:srgbClr val="FFFFFF"/>
                    </a:solidFill>
                  </a:tcPr>
                </a:tc>
                <a:tc>
                  <a:txBody>
                    <a:bodyPr wrap="none"/>
                    <a:lstStyle/>
                    <a:p>
                      <a:pPr algn="l"/>
                      <a:r>
                        <a:rPr sz="900" b="0">
                          <a:solidFill>
                            <a:srgbClr val="2E2E2E"/>
                          </a:solidFill>
                          <a:latin typeface="Calibri"/>
                        </a:rPr>
                        <a:t>8.6%</a:t>
                      </a:r>
                    </a:p>
                  </a:txBody>
                  <a:tcPr marL="85725" marR="38100" marT="19050" marB="19050" anchor="ctr">
                    <a:solidFill>
                      <a:srgbClr val="FFFFFF"/>
                    </a:solidFill>
                  </a:tcPr>
                </a:tc>
              </a:tr>
            </a:tbl>
          </a:graphicData>
        </a:graphic>
      </p:graphicFrame>
      <p:sp>
        <p:nvSpPr>
          <p:cNvPr id="18" name="TextBox 17"/>
          <p:cNvSpPr txBox="1"/>
          <p:nvPr/>
        </p:nvSpPr>
        <p:spPr>
          <a:xfrm>
            <a:off x="219075" y="6543675"/>
            <a:ext cx="5753100"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ounded Rectangle 18"/>
          <p:cNvSpPr/>
          <p:nvPr/>
        </p:nvSpPr>
        <p:spPr>
          <a:xfrm>
            <a:off x="6200775" y="1219200"/>
            <a:ext cx="5848350" cy="5467350"/>
          </a:xfrm>
          <a:prstGeom prst="roundRect">
            <a:avLst>
              <a:gd name="adj" fmla="val 13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6025" y="1276350"/>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A Pricing Analysis (US$/unit)</a:t>
            </a:r>
          </a:p>
        </p:txBody>
      </p:sp>
      <p:graphicFrame>
        <p:nvGraphicFramePr>
          <p:cNvPr id="21" name="Table 20"/>
          <p:cNvGraphicFramePr>
            <a:graphicFrameLocks noGrp="1"/>
          </p:cNvGraphicFramePr>
          <p:nvPr/>
        </p:nvGraphicFramePr>
        <p:xfrm>
          <a:off x="6296025" y="1504950"/>
          <a:ext cx="5657849" cy="904875"/>
        </p:xfrm>
        <a:graphic>
          <a:graphicData uri="http://schemas.openxmlformats.org/drawingml/2006/table">
            <a:tbl>
              <a:tblPr>
                <a:tableStyleId>{5C22544A-7EE6-4342-B048-85BDC9FD1C3A}</a:tableStyleId>
              </a:tblPr>
              <a:tblGrid>
                <a:gridCol w="1697355"/>
                <a:gridCol w="1980247"/>
                <a:gridCol w="1980247"/>
              </a:tblGrid>
              <a:tr h="180975">
                <a:tc>
                  <a:txBody>
                    <a:bodyPr wrap="none"/>
                    <a:lstStyle/>
                    <a:p>
                      <a:pPr algn="l"/>
                      <a:r>
                        <a:rPr sz="900" b="1">
                          <a:solidFill>
                            <a:srgbClr val="0B2E4A"/>
                          </a:solidFill>
                          <a:latin typeface="Calibri"/>
                        </a:rPr>
                        <a:t>Product Type</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Simlandi</a:t>
                      </a:r>
                    </a:p>
                  </a:txBody>
                  <a:tcPr marL="85725" marR="38100" marT="19050" marB="19050" anchor="ctr">
                    <a:solidFill>
                      <a:srgbClr val="FFFFFF"/>
                    </a:solidFill>
                  </a:tcPr>
                </a:tc>
                <a:tc>
                  <a:txBody>
                    <a:bodyPr wrap="none"/>
                    <a:lstStyle/>
                    <a:p>
                      <a:pPr algn="l"/>
                      <a:r>
                        <a:rPr sz="900" b="0">
                          <a:solidFill>
                            <a:srgbClr val="2E2E2E"/>
                          </a:solidFill>
                          <a:latin typeface="Calibri"/>
                        </a:rPr>
                        <a:t>4.00</a:t>
                      </a:r>
                    </a:p>
                  </a:txBody>
                  <a:tcPr marL="85725" marR="38100" marT="19050" marB="19050" anchor="ctr">
                    <a:solidFill>
                      <a:srgbClr val="FFFFFF"/>
                    </a:solidFill>
                  </a:tcPr>
                </a:tc>
                <a:tc>
                  <a:txBody>
                    <a:bodyPr wrap="none"/>
                    <a:lstStyle/>
                    <a:p>
                      <a:pPr algn="l"/>
                      <a:r>
                        <a:rPr sz="900" b="0">
                          <a:solidFill>
                            <a:srgbClr val="2E2E2E"/>
                          </a:solidFill>
                          <a:latin typeface="Calibri"/>
                        </a:rPr>
                        <a:t>5.20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Cyltezo</a:t>
                      </a:r>
                    </a:p>
                  </a:txBody>
                  <a:tcPr marL="85725" marR="38100" marT="19050" marB="19050" anchor="ctr">
                    <a:solidFill>
                      <a:srgbClr val="F5F8FA"/>
                    </a:solidFill>
                  </a:tcPr>
                </a:tc>
                <a:tc>
                  <a:txBody>
                    <a:bodyPr wrap="none"/>
                    <a:lstStyle/>
                    <a:p>
                      <a:pPr algn="l"/>
                      <a:r>
                        <a:rPr sz="900" b="0">
                          <a:solidFill>
                            <a:srgbClr val="2E2E2E"/>
                          </a:solidFill>
                          <a:latin typeface="Calibri"/>
                        </a:rPr>
                        <a:t>4.60</a:t>
                      </a:r>
                    </a:p>
                  </a:txBody>
                  <a:tcPr marL="85725" marR="38100" marT="19050" marB="19050" anchor="ctr">
                    <a:solidFill>
                      <a:srgbClr val="F5F8FA"/>
                    </a:solidFill>
                  </a:tcPr>
                </a:tc>
                <a:tc>
                  <a:txBody>
                    <a:bodyPr wrap="none"/>
                    <a:lstStyle/>
                    <a:p>
                      <a:pPr algn="l"/>
                      <a:r>
                        <a:rPr sz="900" b="0">
                          <a:solidFill>
                            <a:srgbClr val="2E2E2E"/>
                          </a:solidFill>
                          <a:latin typeface="Calibri"/>
                        </a:rPr>
                        <a:t>5.90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Hulio</a:t>
                      </a:r>
                    </a:p>
                  </a:txBody>
                  <a:tcPr marL="85725" marR="38100" marT="19050" marB="19050" anchor="ctr">
                    <a:solidFill>
                      <a:srgbClr val="FFFFFF"/>
                    </a:solidFill>
                  </a:tcPr>
                </a:tc>
                <a:tc>
                  <a:txBody>
                    <a:bodyPr wrap="none"/>
                    <a:lstStyle/>
                    <a:p>
                      <a:pPr algn="l"/>
                      <a:r>
                        <a:rPr sz="900" b="0">
                          <a:solidFill>
                            <a:srgbClr val="2E2E2E"/>
                          </a:solidFill>
                          <a:latin typeface="Calibri"/>
                        </a:rPr>
                        <a:t>5.20</a:t>
                      </a:r>
                    </a:p>
                  </a:txBody>
                  <a:tcPr marL="85725" marR="38100" marT="19050" marB="19050" anchor="ctr">
                    <a:solidFill>
                      <a:srgbClr val="FFFFFF"/>
                    </a:solidFill>
                  </a:tcPr>
                </a:tc>
                <a:tc>
                  <a:txBody>
                    <a:bodyPr wrap="none"/>
                    <a:lstStyle/>
                    <a:p>
                      <a:pPr algn="l"/>
                      <a:r>
                        <a:rPr sz="900" b="0">
                          <a:solidFill>
                            <a:srgbClr val="2E2E2E"/>
                          </a:solidFill>
                          <a:latin typeface="Calibri"/>
                        </a:rPr>
                        <a:t>6.60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Other approved adalimumab biosimilars</a:t>
                      </a:r>
                    </a:p>
                  </a:txBody>
                  <a:tcPr marL="85725" marR="38100" marT="19050" marB="19050" anchor="ctr">
                    <a:solidFill>
                      <a:srgbClr val="F5F8FA"/>
                    </a:solidFill>
                  </a:tcPr>
                </a:tc>
                <a:tc>
                  <a:txBody>
                    <a:bodyPr wrap="none"/>
                    <a:lstStyle/>
                    <a:p>
                      <a:pPr algn="l"/>
                      <a:r>
                        <a:rPr sz="900" b="0">
                          <a:solidFill>
                            <a:srgbClr val="2E2E2E"/>
                          </a:solidFill>
                          <a:latin typeface="Calibri"/>
                        </a:rPr>
                        <a:t>5.80</a:t>
                      </a:r>
                    </a:p>
                  </a:txBody>
                  <a:tcPr marL="85725" marR="38100" marT="19050" marB="19050" anchor="ctr">
                    <a:solidFill>
                      <a:srgbClr val="F5F8FA"/>
                    </a:solidFill>
                  </a:tcPr>
                </a:tc>
                <a:tc>
                  <a:txBody>
                    <a:bodyPr wrap="none"/>
                    <a:lstStyle/>
                    <a:p>
                      <a:pPr algn="l"/>
                      <a:r>
                        <a:rPr sz="900" b="0">
                          <a:solidFill>
                            <a:srgbClr val="2E2E2E"/>
                          </a:solidFill>
                          <a:latin typeface="Calibri"/>
                        </a:rPr>
                        <a:t>7.30</a:t>
                      </a:r>
                    </a:p>
                  </a:txBody>
                  <a:tcPr marL="85725" marR="38100" marT="19050" marB="19050" anchor="ctr">
                    <a:solidFill>
                      <a:srgbClr val="F5F8FA"/>
                    </a:solidFill>
                  </a:tcPr>
                </a:tc>
              </a:tr>
            </a:tbl>
          </a:graphicData>
        </a:graphic>
      </p:graphicFrame>
      <p:sp>
        <p:nvSpPr>
          <p:cNvPr id="22" name="TextBox 21"/>
          <p:cNvSpPr txBox="1"/>
          <p:nvPr/>
        </p:nvSpPr>
        <p:spPr>
          <a:xfrm>
            <a:off x="6276975" y="6543675"/>
            <a:ext cx="56959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3" name="Rectangle 2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5" name="Rounded Rectangle 24">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6" name="Rounded Rectangle 25">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Company A Strategy Analysis (5/5)</a:t>
            </a:r>
          </a:p>
        </p:txBody>
      </p:sp>
      <p:sp>
        <p:nvSpPr>
          <p:cNvPr id="10" name="Rounded Rectangle 9"/>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Strategy analysis Company A: strategic priorities and the competitive moves that support them (indicative).</a:t>
            </a:r>
          </a:p>
        </p:txBody>
      </p:sp>
      <p:sp>
        <p:nvSpPr>
          <p:cNvPr id="11" name="Rounded Rectangle 10"/>
          <p:cNvSpPr/>
          <p:nvPr/>
        </p:nvSpPr>
        <p:spPr>
          <a:xfrm>
            <a:off x="14287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MARKET SHARE</a:t>
            </a:r>
          </a:p>
          <a:p>
            <a:pPr algn="ctr"/>
            <a:r>
              <a:rPr sz="1500" b="1">
                <a:solidFill>
                  <a:srgbClr val="0E72AE"/>
                </a:solidFill>
                <a:latin typeface="Calibri"/>
              </a:rPr>
              <a:t>16.4%</a:t>
            </a:r>
          </a:p>
          <a:p>
            <a:pPr algn="ctr"/>
            <a:r>
              <a:rPr sz="750" b="0">
                <a:solidFill>
                  <a:srgbClr val="6C7A89"/>
                </a:solidFill>
                <a:latin typeface="Calibri"/>
              </a:rPr>
              <a:t>of market value</a:t>
            </a:r>
          </a:p>
        </p:txBody>
      </p:sp>
      <p:sp>
        <p:nvSpPr>
          <p:cNvPr id="12" name="Rounded Rectangle 11"/>
          <p:cNvSpPr/>
          <p:nvPr/>
        </p:nvSpPr>
        <p:spPr>
          <a:xfrm>
            <a:off x="254317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WIN RATE</a:t>
            </a:r>
          </a:p>
          <a:p>
            <a:pPr algn="ctr"/>
            <a:r>
              <a:rPr sz="1500" b="1">
                <a:solidFill>
                  <a:srgbClr val="0E72AE"/>
                </a:solidFill>
                <a:latin typeface="Calibri"/>
              </a:rPr>
              <a:t>18%</a:t>
            </a:r>
          </a:p>
          <a:p>
            <a:pPr algn="ctr"/>
            <a:r>
              <a:rPr sz="750" b="0">
                <a:solidFill>
                  <a:srgbClr val="6C7A89"/>
                </a:solidFill>
                <a:latin typeface="Calibri"/>
              </a:rPr>
              <a:t>deals won</a:t>
            </a:r>
          </a:p>
        </p:txBody>
      </p:sp>
      <p:sp>
        <p:nvSpPr>
          <p:cNvPr id="13" name="Rounded Rectangle 12"/>
          <p:cNvSpPr/>
          <p:nvPr/>
        </p:nvSpPr>
        <p:spPr>
          <a:xfrm>
            <a:off x="4953000"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ASP PREMIUM</a:t>
            </a:r>
          </a:p>
          <a:p>
            <a:pPr algn="ctr"/>
            <a:r>
              <a:rPr sz="1500" b="1">
                <a:solidFill>
                  <a:srgbClr val="0E72AE"/>
                </a:solidFill>
                <a:latin typeface="Calibri"/>
              </a:rPr>
              <a:t>+6%</a:t>
            </a:r>
          </a:p>
          <a:p>
            <a:pPr algn="ctr"/>
            <a:r>
              <a:rPr sz="750" b="0">
                <a:solidFill>
                  <a:srgbClr val="6C7A89"/>
                </a:solidFill>
                <a:latin typeface="Calibri"/>
              </a:rPr>
              <a:t>vs peers</a:t>
            </a:r>
          </a:p>
        </p:txBody>
      </p:sp>
      <p:sp>
        <p:nvSpPr>
          <p:cNvPr id="14" name="Rounded Rectangle 13"/>
          <p:cNvSpPr/>
          <p:nvPr/>
        </p:nvSpPr>
        <p:spPr>
          <a:xfrm>
            <a:off x="7353300"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BOOK-TO-BILL</a:t>
            </a:r>
          </a:p>
          <a:p>
            <a:pPr algn="ctr"/>
            <a:r>
              <a:rPr sz="1500" b="1">
                <a:solidFill>
                  <a:srgbClr val="0E72AE"/>
                </a:solidFill>
                <a:latin typeface="Calibri"/>
              </a:rPr>
              <a:t>1.00</a:t>
            </a:r>
          </a:p>
          <a:p>
            <a:pPr algn="ctr"/>
            <a:r>
              <a:rPr sz="750" b="0">
                <a:solidFill>
                  <a:srgbClr val="6C7A89"/>
                </a:solidFill>
                <a:latin typeface="Calibri"/>
              </a:rPr>
              <a:t>order momentum</a:t>
            </a:r>
          </a:p>
        </p:txBody>
      </p:sp>
      <p:sp>
        <p:nvSpPr>
          <p:cNvPr id="15" name="Rounded Rectangle 14"/>
          <p:cNvSpPr/>
          <p:nvPr/>
        </p:nvSpPr>
        <p:spPr>
          <a:xfrm>
            <a:off x="976312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EBITDA MARGIN</a:t>
            </a:r>
          </a:p>
          <a:p>
            <a:pPr algn="ctr"/>
            <a:r>
              <a:rPr sz="1500" b="1">
                <a:solidFill>
                  <a:srgbClr val="0E72AE"/>
                </a:solidFill>
                <a:latin typeface="Calibri"/>
              </a:rPr>
              <a:t>12%</a:t>
            </a:r>
          </a:p>
          <a:p>
            <a:pPr algn="ctr"/>
            <a:r>
              <a:rPr sz="750" b="0">
                <a:solidFill>
                  <a:srgbClr val="6C7A89"/>
                </a:solidFill>
                <a:latin typeface="Calibri"/>
              </a:rPr>
              <a:t>profitability</a:t>
            </a:r>
          </a:p>
        </p:txBody>
      </p:sp>
      <p:sp>
        <p:nvSpPr>
          <p:cNvPr id="16" name="Rounded Rectangle 15"/>
          <p:cNvSpPr/>
          <p:nvPr/>
        </p:nvSpPr>
        <p:spPr>
          <a:xfrm>
            <a:off x="142875" y="1981200"/>
            <a:ext cx="5905500" cy="4686300"/>
          </a:xfrm>
          <a:prstGeom prst="roundRect">
            <a:avLst>
              <a:gd name="adj" fmla="val 16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066925"/>
            <a:ext cx="5638800" cy="209550"/>
          </a:xfrm>
          <a:prstGeom prst="rect">
            <a:avLst/>
          </a:prstGeom>
          <a:noFill/>
        </p:spPr>
        <p:txBody>
          <a:bodyPr wrap="square" lIns="0" rIns="19050" tIns="9525" bIns="9525">
            <a:spAutoFit/>
          </a:bodyPr>
          <a:lstStyle/>
          <a:p>
            <a:pPr algn="l"/>
            <a:r>
              <a:rPr sz="1300" b="1">
                <a:solidFill>
                  <a:srgbClr val="0B2E4A"/>
                </a:solidFill>
                <a:latin typeface="Calibri"/>
              </a:rPr>
              <a:t>Strategic Priorities</a:t>
            </a:r>
          </a:p>
        </p:txBody>
      </p:sp>
      <p:sp>
        <p:nvSpPr>
          <p:cNvPr id="18" name="Rectangle 17"/>
          <p:cNvSpPr/>
          <p:nvPr/>
        </p:nvSpPr>
        <p:spPr>
          <a:xfrm>
            <a:off x="276225" y="2305050"/>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390775"/>
            <a:ext cx="5638800" cy="42005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Defend and extend leadership in 'Ophthalmology' Company A's strongest end-market while scaling the next-best applications.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Convert its ~18% win rate and +6% ASP premium into share gains through value-based selling.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Raise SAM penetration beyond 'Middle East &amp; Africa' (~74%) into lower-penetration regions.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Sustain a 1.00 book-to-bill with disciplined capacity and channel investment.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Protect margin through corridor-based pricing and cost discipline as input prices move.</a:t>
            </a:r>
          </a:p>
        </p:txBody>
      </p:sp>
      <p:sp>
        <p:nvSpPr>
          <p:cNvPr id="20" name="Rounded Rectangle 19"/>
          <p:cNvSpPr/>
          <p:nvPr/>
        </p:nvSpPr>
        <p:spPr>
          <a:xfrm>
            <a:off x="6200775" y="1981200"/>
            <a:ext cx="5848350" cy="4686300"/>
          </a:xfrm>
          <a:prstGeom prst="roundRect">
            <a:avLst>
              <a:gd name="adj" fmla="val 16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4125" y="2066925"/>
            <a:ext cx="5581650" cy="209550"/>
          </a:xfrm>
          <a:prstGeom prst="rect">
            <a:avLst/>
          </a:prstGeom>
          <a:noFill/>
        </p:spPr>
        <p:txBody>
          <a:bodyPr wrap="square" lIns="0" rIns="19050" tIns="9525" bIns="9525">
            <a:spAutoFit/>
          </a:bodyPr>
          <a:lstStyle/>
          <a:p>
            <a:pPr algn="l"/>
            <a:r>
              <a:rPr sz="1300" b="1">
                <a:solidFill>
                  <a:srgbClr val="0B2E4A"/>
                </a:solidFill>
                <a:latin typeface="Calibri"/>
              </a:rPr>
              <a:t>Competitive Moves</a:t>
            </a:r>
          </a:p>
        </p:txBody>
      </p:sp>
      <p:sp>
        <p:nvSpPr>
          <p:cNvPr id="22" name="Rectangle 21"/>
          <p:cNvSpPr/>
          <p:nvPr/>
        </p:nvSpPr>
        <p:spPr>
          <a:xfrm>
            <a:off x="6334125" y="2305050"/>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4125" y="2390775"/>
            <a:ext cx="5581650" cy="42005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Premiumise the portfolio around 'Simlandi' and adjacent high-value lines to lift blended pricing.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Deepen presence in 'Middle East &amp; Africa' (largest SOM region) and build out under-served geographies.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Invest in R&amp;D, certification and selective M&amp;A to move up the price ladder and widen the moat.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Diversify the customer base and secure supply to de-risk concentration and input-cost shocks.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Sharpen go-to-market a ~95-day sales cycle and ~30% conversion speed share capture.</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Company B Executive Market Snapshot (1/5)</a:t>
            </a:r>
          </a:p>
        </p:txBody>
      </p:sp>
      <p:sp>
        <p:nvSpPr>
          <p:cNvPr id="10" name="Rounded Rectangle 9"/>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Executive snapshot and strategic positioning Company B: market, addressable opportunity and SOM splits by end-market, region and product.</a:t>
            </a:r>
          </a:p>
        </p:txBody>
      </p:sp>
      <p:sp>
        <p:nvSpPr>
          <p:cNvPr id="11" name="Rounded Rectangle 10"/>
          <p:cNvSpPr/>
          <p:nvPr/>
        </p:nvSpPr>
        <p:spPr>
          <a:xfrm>
            <a:off x="14287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TAM (US$ MN)</a:t>
            </a:r>
          </a:p>
          <a:p>
            <a:pPr algn="ctr"/>
            <a:r>
              <a:rPr sz="1500" b="1">
                <a:solidFill>
                  <a:srgbClr val="0E72AE"/>
                </a:solidFill>
                <a:latin typeface="Calibri"/>
              </a:rPr>
              <a:t>10,851</a:t>
            </a:r>
          </a:p>
          <a:p>
            <a:pPr algn="ctr"/>
            <a:r>
              <a:rPr sz="750" b="0">
                <a:solidFill>
                  <a:srgbClr val="6C7A89"/>
                </a:solidFill>
                <a:latin typeface="Calibri"/>
              </a:rPr>
              <a:t>Total market</a:t>
            </a:r>
          </a:p>
        </p:txBody>
      </p:sp>
      <p:sp>
        <p:nvSpPr>
          <p:cNvPr id="12" name="Rounded Rectangle 11"/>
          <p:cNvSpPr/>
          <p:nvPr/>
        </p:nvSpPr>
        <p:spPr>
          <a:xfrm>
            <a:off x="254317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SAM (US$ MN)</a:t>
            </a:r>
          </a:p>
          <a:p>
            <a:pPr algn="ctr"/>
            <a:r>
              <a:rPr sz="1500" b="1">
                <a:solidFill>
                  <a:srgbClr val="0E72AE"/>
                </a:solidFill>
                <a:latin typeface="Calibri"/>
              </a:rPr>
              <a:t>5,968</a:t>
            </a:r>
          </a:p>
          <a:p>
            <a:pPr algn="ctr"/>
            <a:r>
              <a:rPr sz="750" b="0">
                <a:solidFill>
                  <a:srgbClr val="6C7A89"/>
                </a:solidFill>
                <a:latin typeface="Calibri"/>
              </a:rPr>
              <a:t>Addressable</a:t>
            </a:r>
          </a:p>
        </p:txBody>
      </p:sp>
      <p:sp>
        <p:nvSpPr>
          <p:cNvPr id="13" name="Rounded Rectangle 12"/>
          <p:cNvSpPr/>
          <p:nvPr/>
        </p:nvSpPr>
        <p:spPr>
          <a:xfrm>
            <a:off x="4953000"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SOM (US$ MN)</a:t>
            </a:r>
          </a:p>
          <a:p>
            <a:pPr algn="ctr"/>
            <a:r>
              <a:rPr sz="1500" b="1">
                <a:solidFill>
                  <a:srgbClr val="0E72AE"/>
                </a:solidFill>
                <a:latin typeface="Calibri"/>
              </a:rPr>
              <a:t>1,559</a:t>
            </a:r>
          </a:p>
          <a:p>
            <a:pPr algn="ctr"/>
            <a:r>
              <a:rPr sz="750" b="0">
                <a:solidFill>
                  <a:srgbClr val="6C7A89"/>
                </a:solidFill>
                <a:latin typeface="Calibri"/>
              </a:rPr>
              <a:t>26% of SAM</a:t>
            </a:r>
          </a:p>
        </p:txBody>
      </p:sp>
      <p:sp>
        <p:nvSpPr>
          <p:cNvPr id="14" name="Rounded Rectangle 13"/>
          <p:cNvSpPr/>
          <p:nvPr/>
        </p:nvSpPr>
        <p:spPr>
          <a:xfrm>
            <a:off x="7353300"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BOOK-TO-BILL</a:t>
            </a:r>
          </a:p>
          <a:p>
            <a:pPr algn="ctr"/>
            <a:r>
              <a:rPr sz="1500" b="1">
                <a:solidFill>
                  <a:srgbClr val="0E72AE"/>
                </a:solidFill>
                <a:latin typeface="Calibri"/>
              </a:rPr>
              <a:t>1.04</a:t>
            </a:r>
          </a:p>
          <a:p>
            <a:pPr algn="ctr"/>
            <a:r>
              <a:rPr sz="750" b="0">
                <a:solidFill>
                  <a:srgbClr val="6C7A89"/>
                </a:solidFill>
                <a:latin typeface="Calibri"/>
              </a:rPr>
              <a:t>Order momentum</a:t>
            </a:r>
          </a:p>
        </p:txBody>
      </p:sp>
      <p:sp>
        <p:nvSpPr>
          <p:cNvPr id="15" name="Rounded Rectangle 14"/>
          <p:cNvSpPr/>
          <p:nvPr/>
        </p:nvSpPr>
        <p:spPr>
          <a:xfrm>
            <a:off x="976312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EBITDA MARGIN</a:t>
            </a:r>
          </a:p>
          <a:p>
            <a:pPr algn="ctr"/>
            <a:r>
              <a:rPr sz="1500" b="1">
                <a:solidFill>
                  <a:srgbClr val="0E72AE"/>
                </a:solidFill>
                <a:latin typeface="Calibri"/>
              </a:rPr>
              <a:t>14%</a:t>
            </a:r>
          </a:p>
          <a:p>
            <a:pPr algn="ctr"/>
            <a:r>
              <a:rPr sz="750" b="0">
                <a:solidFill>
                  <a:srgbClr val="6C7A89"/>
                </a:solidFill>
                <a:latin typeface="Calibri"/>
              </a:rPr>
              <a:t>Profitability</a:t>
            </a:r>
          </a:p>
        </p:txBody>
      </p:sp>
      <p:sp>
        <p:nvSpPr>
          <p:cNvPr id="16" name="Rounded Rectangle 15"/>
          <p:cNvSpPr/>
          <p:nvPr/>
        </p:nvSpPr>
        <p:spPr>
          <a:xfrm>
            <a:off x="142875" y="1962150"/>
            <a:ext cx="38290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20193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8" name="Chart 17"/>
          <p:cNvGraphicFramePr>
            <a:graphicFrameLocks noGrp="1"/>
          </p:cNvGraphicFramePr>
          <p:nvPr/>
        </p:nvGraphicFramePr>
        <p:xfrm>
          <a:off x="238125" y="2247900"/>
          <a:ext cx="3638550" cy="2381250"/>
        </p:xfrm>
        <a:graphic>
          <a:graphicData uri="http://schemas.openxmlformats.org/drawingml/2006/chart">
            <c:chart xmlns:c="http://schemas.openxmlformats.org/drawingml/2006/chart" r:id="rId3"/>
          </a:graphicData>
        </a:graphic>
      </p:graphicFrame>
      <p:sp>
        <p:nvSpPr>
          <p:cNvPr id="19" name="Rounded Rectangle 18"/>
          <p:cNvSpPr/>
          <p:nvPr/>
        </p:nvSpPr>
        <p:spPr>
          <a:xfrm>
            <a:off x="4124325" y="1962150"/>
            <a:ext cx="38290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19575" y="20193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21" name="Chart 20"/>
          <p:cNvGraphicFramePr>
            <a:graphicFrameLocks noGrp="1"/>
          </p:cNvGraphicFramePr>
          <p:nvPr/>
        </p:nvGraphicFramePr>
        <p:xfrm>
          <a:off x="4219575" y="2247900"/>
          <a:ext cx="3638550" cy="2381250"/>
        </p:xfrm>
        <a:graphic>
          <a:graphicData uri="http://schemas.openxmlformats.org/drawingml/2006/chart">
            <c:chart xmlns:c="http://schemas.openxmlformats.org/drawingml/2006/chart" r:id="rId4"/>
          </a:graphicData>
        </a:graphic>
      </p:graphicFrame>
      <p:sp>
        <p:nvSpPr>
          <p:cNvPr id="22" name="Rounded Rectangle 21"/>
          <p:cNvSpPr/>
          <p:nvPr/>
        </p:nvSpPr>
        <p:spPr>
          <a:xfrm>
            <a:off x="8105775" y="1962150"/>
            <a:ext cx="39433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1025" y="201930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4" name="Chart 23"/>
          <p:cNvGraphicFramePr>
            <a:graphicFrameLocks noGrp="1"/>
          </p:cNvGraphicFramePr>
          <p:nvPr/>
        </p:nvGraphicFramePr>
        <p:xfrm>
          <a:off x="8201025" y="2247900"/>
          <a:ext cx="3752850" cy="2381250"/>
        </p:xfrm>
        <a:graphic>
          <a:graphicData uri="http://schemas.openxmlformats.org/drawingml/2006/chart">
            <c:chart xmlns:c="http://schemas.openxmlformats.org/drawingml/2006/chart" r:id="rId5"/>
          </a:graphicData>
        </a:graphic>
      </p:graphicFrame>
      <p:sp>
        <p:nvSpPr>
          <p:cNvPr id="25" name="Rounded Rectangle 24"/>
          <p:cNvSpPr/>
          <p:nvPr/>
        </p:nvSpPr>
        <p:spPr>
          <a:xfrm>
            <a:off x="142875" y="4800600"/>
            <a:ext cx="11906250" cy="1885950"/>
          </a:xfrm>
          <a:prstGeom prst="roundRect">
            <a:avLst>
              <a:gd name="adj" fmla="val 40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886325"/>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27" name="Rectangle 26"/>
          <p:cNvSpPr/>
          <p:nvPr/>
        </p:nvSpPr>
        <p:spPr>
          <a:xfrm>
            <a:off x="276225" y="51244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210175"/>
            <a:ext cx="11639550" cy="14001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Market Position: Company B captures ~26% of a US$ Mn SAM, with its strongest end-market in 'Ophthalmology'.</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Geographic Balance: 'Middle East &amp; Africa' is the largest SOM region; 'South Asia &amp; Pacific' shows the highest SAM penetration (~80%).</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Growth Trajectory: a 1.04 book-to-bill and ~14% EBITDA margin point to a path to capture more of the addressable market.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Competitive Edge: ~21% win rate with a +5% ASP premium and 2.7x pipeline coverage.</a:t>
            </a:r>
          </a:p>
        </p:txBody>
      </p:sp>
      <p:sp>
        <p:nvSpPr>
          <p:cNvPr id="29" name="Rectangle 2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1" name="Rounded Rectangle 30">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2" name="Rounded Rectangle 31">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3" name="Rounded Rectangle 32">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Company B Regional Penetration &amp; Win Position (2/5)</a:t>
            </a:r>
          </a:p>
        </p:txBody>
      </p:sp>
      <p:sp>
        <p:nvSpPr>
          <p:cNvPr id="10" name="Rounded Rectangle 9"/>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Regional penetration and competitive positioning Company B: SOM vs SAM by region, win position, TAM/SAM/SOM and go-to-market benchmarks.</a:t>
            </a:r>
          </a:p>
        </p:txBody>
      </p:sp>
      <p:sp>
        <p:nvSpPr>
          <p:cNvPr id="11" name="Rounded Rectangle 10"/>
          <p:cNvSpPr/>
          <p:nvPr/>
        </p:nvSpPr>
        <p:spPr>
          <a:xfrm>
            <a:off x="142875" y="1162050"/>
            <a:ext cx="5905500" cy="2362200"/>
          </a:xfrm>
          <a:prstGeom prst="roundRect">
            <a:avLst>
              <a:gd name="adj" fmla="val 32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21920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3" name="Chart 12"/>
          <p:cNvGraphicFramePr>
            <a:graphicFrameLocks noGrp="1"/>
          </p:cNvGraphicFramePr>
          <p:nvPr/>
        </p:nvGraphicFramePr>
        <p:xfrm>
          <a:off x="238125" y="1447800"/>
          <a:ext cx="5715000" cy="2019300"/>
        </p:xfrm>
        <a:graphic>
          <a:graphicData uri="http://schemas.openxmlformats.org/drawingml/2006/chart">
            <c:chart xmlns:c="http://schemas.openxmlformats.org/drawingml/2006/chart" r:id="rId3"/>
          </a:graphicData>
        </a:graphic>
      </p:graphicFrame>
      <p:sp>
        <p:nvSpPr>
          <p:cNvPr id="14" name="Rounded Rectangle 13"/>
          <p:cNvSpPr/>
          <p:nvPr/>
        </p:nvSpPr>
        <p:spPr>
          <a:xfrm>
            <a:off x="6162675" y="1162050"/>
            <a:ext cx="5886450" cy="2362200"/>
          </a:xfrm>
          <a:prstGeom prst="roundRect">
            <a:avLst>
              <a:gd name="adj" fmla="val 32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7925" y="121920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6" name="Connector 15"/>
          <p:cNvCxnSpPr/>
          <p:nvPr/>
        </p:nvCxnSpPr>
        <p:spPr>
          <a:xfrm>
            <a:off x="6581775" y="3181350"/>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1775" y="1543050"/>
            <a:ext cx="0" cy="163830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67475" y="3200400"/>
            <a:ext cx="228600" cy="114300"/>
          </a:xfrm>
          <a:prstGeom prst="rect">
            <a:avLst/>
          </a:prstGeom>
          <a:noFill/>
        </p:spPr>
        <p:txBody>
          <a:bodyPr wrap="none" lIns="0" rIns="0" tIns="0" bIns="0">
            <a:spAutoFit/>
          </a:bodyPr>
          <a:lstStyle/>
          <a:p>
            <a:pPr algn="ctr"/>
            <a:r>
              <a:rPr sz="700" b="0">
                <a:solidFill>
                  <a:srgbClr val="6C7A89"/>
                </a:solidFill>
                <a:latin typeface="Calibri"/>
              </a:rPr>
              <a:t>0</a:t>
            </a:r>
          </a:p>
        </p:txBody>
      </p:sp>
      <p:sp>
        <p:nvSpPr>
          <p:cNvPr id="19" name="TextBox 18"/>
          <p:cNvSpPr txBox="1"/>
          <p:nvPr/>
        </p:nvSpPr>
        <p:spPr>
          <a:xfrm>
            <a:off x="7969704" y="3200400"/>
            <a:ext cx="228600" cy="114300"/>
          </a:xfrm>
          <a:prstGeom prst="rect">
            <a:avLst/>
          </a:prstGeom>
          <a:noFill/>
        </p:spPr>
        <p:txBody>
          <a:bodyPr wrap="none" lIns="0" rIns="0" tIns="0" bIns="0">
            <a:spAutoFit/>
          </a:bodyPr>
          <a:lstStyle/>
          <a:p>
            <a:pPr algn="ctr"/>
            <a:r>
              <a:rPr sz="700" b="0">
                <a:solidFill>
                  <a:srgbClr val="6C7A89"/>
                </a:solidFill>
                <a:latin typeface="Calibri"/>
              </a:rPr>
              <a:t>1</a:t>
            </a:r>
          </a:p>
        </p:txBody>
      </p:sp>
      <p:sp>
        <p:nvSpPr>
          <p:cNvPr id="20" name="TextBox 19"/>
          <p:cNvSpPr txBox="1"/>
          <p:nvPr/>
        </p:nvSpPr>
        <p:spPr>
          <a:xfrm>
            <a:off x="9471932" y="3200400"/>
            <a:ext cx="228600" cy="114300"/>
          </a:xfrm>
          <a:prstGeom prst="rect">
            <a:avLst/>
          </a:prstGeom>
          <a:noFill/>
        </p:spPr>
        <p:txBody>
          <a:bodyPr wrap="none" lIns="0" rIns="0" tIns="0" bIns="0">
            <a:spAutoFit/>
          </a:bodyPr>
          <a:lstStyle/>
          <a:p>
            <a:pPr algn="ctr"/>
            <a:r>
              <a:rPr sz="700" b="0">
                <a:solidFill>
                  <a:srgbClr val="6C7A89"/>
                </a:solidFill>
                <a:latin typeface="Calibri"/>
              </a:rPr>
              <a:t>2</a:t>
            </a:r>
          </a:p>
        </p:txBody>
      </p:sp>
      <p:sp>
        <p:nvSpPr>
          <p:cNvPr id="21" name="TextBox 20"/>
          <p:cNvSpPr txBox="1"/>
          <p:nvPr/>
        </p:nvSpPr>
        <p:spPr>
          <a:xfrm>
            <a:off x="10974161" y="3200400"/>
            <a:ext cx="228600" cy="114300"/>
          </a:xfrm>
          <a:prstGeom prst="rect">
            <a:avLst/>
          </a:prstGeom>
          <a:noFill/>
        </p:spPr>
        <p:txBody>
          <a:bodyPr wrap="none" lIns="0" rIns="0" tIns="0" bIns="0">
            <a:spAutoFit/>
          </a:bodyPr>
          <a:lstStyle/>
          <a:p>
            <a:pPr algn="ctr"/>
            <a:r>
              <a:rPr sz="700" b="0">
                <a:solidFill>
                  <a:srgbClr val="6C7A89"/>
                </a:solidFill>
                <a:latin typeface="Calibri"/>
              </a:rPr>
              <a:t>3</a:t>
            </a:r>
          </a:p>
        </p:txBody>
      </p:sp>
      <p:sp>
        <p:nvSpPr>
          <p:cNvPr id="22" name="TextBox 21"/>
          <p:cNvSpPr txBox="1"/>
          <p:nvPr/>
        </p:nvSpPr>
        <p:spPr>
          <a:xfrm>
            <a:off x="6581775" y="3314700"/>
            <a:ext cx="5257800" cy="114300"/>
          </a:xfrm>
          <a:prstGeom prst="rect">
            <a:avLst/>
          </a:prstGeom>
          <a:noFill/>
        </p:spPr>
        <p:txBody>
          <a:bodyPr wrap="square" lIns="28575" rIns="28575" tIns="9525" bIns="9525">
            <a:spAutoFit/>
          </a:bodyPr>
          <a:lstStyle/>
          <a:p>
            <a:pPr algn="ctr"/>
            <a:r>
              <a:rPr sz="800" b="0">
                <a:solidFill>
                  <a:srgbClr val="6C7A89"/>
                </a:solidFill>
                <a:latin typeface="Calibri"/>
              </a:rPr>
              <a:t>Win Rate %</a:t>
            </a:r>
          </a:p>
        </p:txBody>
      </p:sp>
      <p:sp>
        <p:nvSpPr>
          <p:cNvPr id="23" name="TextBox 22"/>
          <p:cNvSpPr txBox="1"/>
          <p:nvPr/>
        </p:nvSpPr>
        <p:spPr>
          <a:xfrm rot="16200000">
            <a:off x="6029325" y="2286000"/>
            <a:ext cx="571500" cy="152400"/>
          </a:xfrm>
          <a:prstGeom prst="rect">
            <a:avLst/>
          </a:prstGeom>
          <a:noFill/>
        </p:spPr>
        <p:txBody>
          <a:bodyPr wrap="square" lIns="28575" rIns="28575" tIns="9525" bIns="9525">
            <a:spAutoFit/>
          </a:bodyPr>
          <a:lstStyle/>
          <a:p>
            <a:pPr algn="ctr"/>
            <a:r>
              <a:rPr sz="800" b="0">
                <a:solidFill>
                  <a:srgbClr val="6C7A89"/>
                </a:solidFill>
                <a:latin typeface="Calibri"/>
              </a:rPr>
              <a:t>ASP vs Peer</a:t>
            </a:r>
          </a:p>
        </p:txBody>
      </p:sp>
      <p:sp>
        <p:nvSpPr>
          <p:cNvPr id="24" name="Oval 23"/>
          <p:cNvSpPr/>
          <p:nvPr/>
        </p:nvSpPr>
        <p:spPr>
          <a:xfrm>
            <a:off x="7629688" y="1869758"/>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15438" y="1907858"/>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Company B</a:t>
            </a:r>
          </a:p>
        </p:txBody>
      </p:sp>
      <p:sp>
        <p:nvSpPr>
          <p:cNvPr id="26" name="Oval 25"/>
          <p:cNvSpPr/>
          <p:nvPr/>
        </p:nvSpPr>
        <p:spPr>
          <a:xfrm>
            <a:off x="9283609" y="1800225"/>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26509" y="1866900"/>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Industry Avg.</a:t>
            </a:r>
          </a:p>
        </p:txBody>
      </p:sp>
      <p:sp>
        <p:nvSpPr>
          <p:cNvPr id="28" name="Oval 27"/>
          <p:cNvSpPr/>
          <p:nvPr/>
        </p:nvSpPr>
        <p:spPr>
          <a:xfrm>
            <a:off x="10513967" y="2647950"/>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06100" y="2686050"/>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Market Leader</a:t>
            </a:r>
          </a:p>
        </p:txBody>
      </p:sp>
      <p:sp>
        <p:nvSpPr>
          <p:cNvPr id="30" name="Rounded Rectangle 29"/>
          <p:cNvSpPr/>
          <p:nvPr/>
        </p:nvSpPr>
        <p:spPr>
          <a:xfrm>
            <a:off x="142875" y="3600450"/>
            <a:ext cx="5905500"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5760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32" name="Rectangle 31"/>
          <p:cNvSpPr/>
          <p:nvPr/>
        </p:nvSpPr>
        <p:spPr>
          <a:xfrm>
            <a:off x="238125" y="3886200"/>
            <a:ext cx="5715000" cy="387350"/>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TAM  ·  100%  ·  10,851 US$ Mn</a:t>
            </a:r>
          </a:p>
        </p:txBody>
      </p:sp>
      <p:sp>
        <p:nvSpPr>
          <p:cNvPr id="33" name="Rectangle 32"/>
          <p:cNvSpPr/>
          <p:nvPr/>
        </p:nvSpPr>
        <p:spPr>
          <a:xfrm>
            <a:off x="238125" y="4387850"/>
            <a:ext cx="4400550" cy="387350"/>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SAM  ·  55% of TAM  ·  5,968 US$ Mn</a:t>
            </a:r>
          </a:p>
        </p:txBody>
      </p:sp>
      <p:sp>
        <p:nvSpPr>
          <p:cNvPr id="34" name="Rectangle 33"/>
          <p:cNvSpPr/>
          <p:nvPr/>
        </p:nvSpPr>
        <p:spPr>
          <a:xfrm>
            <a:off x="238125" y="4889500"/>
            <a:ext cx="3086100" cy="387350"/>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SOM  ·  26% of SAM  ·  1,559 US$ Mn</a:t>
            </a:r>
          </a:p>
        </p:txBody>
      </p:sp>
      <p:sp>
        <p:nvSpPr>
          <p:cNvPr id="35" name="Rounded Rectangle 34"/>
          <p:cNvSpPr/>
          <p:nvPr/>
        </p:nvSpPr>
        <p:spPr>
          <a:xfrm>
            <a:off x="6162675" y="3600450"/>
            <a:ext cx="5886450"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57925" y="365760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7" name="Rectangle 36"/>
          <p:cNvSpPr/>
          <p:nvPr/>
        </p:nvSpPr>
        <p:spPr>
          <a:xfrm>
            <a:off x="10391775" y="3905250"/>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06075" y="3876675"/>
            <a:ext cx="571500" cy="133350"/>
          </a:xfrm>
          <a:prstGeom prst="rect">
            <a:avLst/>
          </a:prstGeom>
          <a:noFill/>
        </p:spPr>
        <p:txBody>
          <a:bodyPr wrap="square" lIns="28575" rIns="28575" tIns="9525" bIns="9525">
            <a:spAutoFit/>
          </a:bodyPr>
          <a:lstStyle/>
          <a:p>
            <a:pPr algn="l"/>
            <a:r>
              <a:rPr sz="800" b="0">
                <a:solidFill>
                  <a:srgbClr val="2E2E2E"/>
                </a:solidFill>
                <a:latin typeface="Calibri"/>
              </a:rPr>
              <a:t>Target</a:t>
            </a:r>
          </a:p>
        </p:txBody>
      </p:sp>
      <p:sp>
        <p:nvSpPr>
          <p:cNvPr id="39" name="Rectangle 38"/>
          <p:cNvSpPr/>
          <p:nvPr/>
        </p:nvSpPr>
        <p:spPr>
          <a:xfrm>
            <a:off x="11134725" y="3905250"/>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9025" y="3876675"/>
            <a:ext cx="571500" cy="133350"/>
          </a:xfrm>
          <a:prstGeom prst="rect">
            <a:avLst/>
          </a:prstGeom>
          <a:noFill/>
        </p:spPr>
        <p:txBody>
          <a:bodyPr wrap="square" lIns="28575" rIns="28575" tIns="9525" bIns="9525">
            <a:spAutoFit/>
          </a:bodyPr>
          <a:lstStyle/>
          <a:p>
            <a:pPr algn="l"/>
            <a:r>
              <a:rPr sz="800" b="0">
                <a:solidFill>
                  <a:srgbClr val="2E2E2E"/>
                </a:solidFill>
                <a:latin typeface="Calibri"/>
              </a:rPr>
              <a:t>Actual</a:t>
            </a:r>
          </a:p>
        </p:txBody>
      </p:sp>
      <p:sp>
        <p:nvSpPr>
          <p:cNvPr id="41" name="TextBox 40"/>
          <p:cNvSpPr txBox="1"/>
          <p:nvPr/>
        </p:nvSpPr>
        <p:spPr>
          <a:xfrm>
            <a:off x="6276975" y="413067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Conversion (%)</a:t>
            </a:r>
          </a:p>
        </p:txBody>
      </p:sp>
      <p:sp>
        <p:nvSpPr>
          <p:cNvPr id="42" name="Rectangle 41"/>
          <p:cNvSpPr/>
          <p:nvPr/>
        </p:nvSpPr>
        <p:spPr>
          <a:xfrm>
            <a:off x="7381875" y="4134485"/>
            <a:ext cx="1686687"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254500"/>
            <a:ext cx="3107055"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46722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Sales Cycle (Days)</a:t>
            </a:r>
          </a:p>
        </p:txBody>
      </p:sp>
      <p:sp>
        <p:nvSpPr>
          <p:cNvPr id="45" name="Rectangle 44"/>
          <p:cNvSpPr/>
          <p:nvPr/>
        </p:nvSpPr>
        <p:spPr>
          <a:xfrm>
            <a:off x="7381875" y="4471035"/>
            <a:ext cx="3817239"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591050"/>
            <a:ext cx="2219325"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76975" y="480377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Pipeline Coverage</a:t>
            </a:r>
          </a:p>
        </p:txBody>
      </p:sp>
      <p:sp>
        <p:nvSpPr>
          <p:cNvPr id="48" name="Rectangle 47"/>
          <p:cNvSpPr/>
          <p:nvPr/>
        </p:nvSpPr>
        <p:spPr>
          <a:xfrm>
            <a:off x="7381875" y="4807585"/>
            <a:ext cx="2130552"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81875" y="4927600"/>
            <a:ext cx="3728466"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42875" y="5410200"/>
            <a:ext cx="11906250" cy="1257300"/>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225" y="5495925"/>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2" name="Rectangle 51"/>
          <p:cNvSpPr/>
          <p:nvPr/>
        </p:nvSpPr>
        <p:spPr>
          <a:xfrm>
            <a:off x="276225" y="57340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225" y="5819775"/>
            <a:ext cx="11639550" cy="771525"/>
          </a:xfrm>
          <a:prstGeom prst="rect">
            <a:avLst/>
          </a:prstGeom>
          <a:noFill/>
        </p:spPr>
        <p:txBody>
          <a:bodyPr wrap="square" lIns="0" rIns="19050" tIns="9525" bIns="9525">
            <a:spAutoFit/>
          </a:bodyPr>
          <a:lstStyle/>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Regional Opportunity: 'South Asia &amp; Pacific' shows the highest SAM penetration; lower-penetration regions are the growth headroom.</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Competitive Edge: ~21% win rate with a +5% ASP premium signals value recognition; 2.7x pipeline coverage underpins growth.</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Sales Efficiency: a ~90-day sales cycle and ~34% conversion support faster share capture.</a:t>
            </a:r>
          </a:p>
        </p:txBody>
      </p:sp>
      <p:sp>
        <p:nvSpPr>
          <p:cNvPr id="54" name="Rectangle 5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56" name="Rounded Rectangle 55">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7" name="Rounded Rectangle 56">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8" name="Rounded Rectangle 57">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Company B SWOT Analysis (3/5)</a:t>
            </a:r>
          </a:p>
        </p:txBody>
      </p:sp>
      <p:sp>
        <p:nvSpPr>
          <p:cNvPr id="10" name="TextBox 9"/>
          <p:cNvSpPr txBox="1"/>
          <p:nvPr/>
        </p:nvSpPr>
        <p:spPr>
          <a:xfrm>
            <a:off x="142875" y="857250"/>
            <a:ext cx="11906250" cy="171450"/>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Company B: strengths, weaknesses, opportunities and threats (indicative).</a:t>
            </a:r>
          </a:p>
        </p:txBody>
      </p:sp>
      <p:cxnSp>
        <p:nvCxnSpPr>
          <p:cNvPr id="11" name="Connector 10"/>
          <p:cNvCxnSpPr/>
          <p:nvPr/>
        </p:nvCxnSpPr>
        <p:spPr>
          <a:xfrm>
            <a:off x="3810000" y="3867150"/>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1809750"/>
            <a:ext cx="0" cy="411480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57612" y="38147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29612" y="38147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43612" y="17573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43612" y="58721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24400" y="2495550"/>
            <a:ext cx="1257300" cy="1257300"/>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0300" y="2495550"/>
            <a:ext cx="1257300" cy="1257300"/>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724400" y="3981450"/>
            <a:ext cx="1257300" cy="1257300"/>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0300" y="3981450"/>
            <a:ext cx="1257300" cy="1257300"/>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524500" y="2914650"/>
            <a:ext cx="1143000" cy="838200"/>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24500" y="3981450"/>
            <a:ext cx="1143000" cy="838200"/>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143500" y="3295650"/>
            <a:ext cx="838200" cy="1143000"/>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6210300" y="3295650"/>
            <a:ext cx="838200" cy="1143000"/>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6450" y="3190875"/>
            <a:ext cx="419100" cy="285750"/>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6" name="TextBox 25"/>
          <p:cNvSpPr txBox="1"/>
          <p:nvPr/>
        </p:nvSpPr>
        <p:spPr>
          <a:xfrm>
            <a:off x="5886450" y="4257675"/>
            <a:ext cx="419100" cy="285750"/>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7" name="TextBox 26"/>
          <p:cNvSpPr txBox="1"/>
          <p:nvPr/>
        </p:nvSpPr>
        <p:spPr>
          <a:xfrm>
            <a:off x="5353050" y="3724275"/>
            <a:ext cx="419100" cy="285750"/>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8" name="TextBox 27"/>
          <p:cNvSpPr txBox="1"/>
          <p:nvPr/>
        </p:nvSpPr>
        <p:spPr>
          <a:xfrm>
            <a:off x="6419850" y="3724275"/>
            <a:ext cx="419100" cy="285750"/>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9" name="TextBox 28"/>
          <p:cNvSpPr txBox="1"/>
          <p:nvPr/>
        </p:nvSpPr>
        <p:spPr>
          <a:xfrm>
            <a:off x="190500" y="1162050"/>
            <a:ext cx="3667125" cy="190500"/>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30" name="Rectangle 29"/>
          <p:cNvSpPr/>
          <p:nvPr/>
        </p:nvSpPr>
        <p:spPr>
          <a:xfrm>
            <a:off x="190500" y="1371600"/>
            <a:ext cx="1428750" cy="1905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4788" y="148113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375" y="14478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~21% win rate with a +5% ASP premium clear value recognition.</a:t>
            </a:r>
          </a:p>
        </p:txBody>
      </p:sp>
      <p:sp>
        <p:nvSpPr>
          <p:cNvPr id="33" name="Oval 32"/>
          <p:cNvSpPr/>
          <p:nvPr/>
        </p:nvSpPr>
        <p:spPr>
          <a:xfrm>
            <a:off x="204788" y="195738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375" y="19240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Balanced SOM across regions and end-markets; strongest in 'Middle East &amp; Africa'.</a:t>
            </a:r>
          </a:p>
        </p:txBody>
      </p:sp>
      <p:sp>
        <p:nvSpPr>
          <p:cNvPr id="35" name="Oval 34"/>
          <p:cNvSpPr/>
          <p:nvPr/>
        </p:nvSpPr>
        <p:spPr>
          <a:xfrm>
            <a:off x="204788" y="243363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3375" y="24003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1.04 book-to-bill and ~14% EBITDA signal healthy momentum.</a:t>
            </a:r>
          </a:p>
        </p:txBody>
      </p:sp>
      <p:sp>
        <p:nvSpPr>
          <p:cNvPr id="37" name="TextBox 36"/>
          <p:cNvSpPr txBox="1"/>
          <p:nvPr/>
        </p:nvSpPr>
        <p:spPr>
          <a:xfrm>
            <a:off x="8334375" y="1162050"/>
            <a:ext cx="3667125" cy="190500"/>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8" name="Rectangle 37"/>
          <p:cNvSpPr/>
          <p:nvPr/>
        </p:nvSpPr>
        <p:spPr>
          <a:xfrm>
            <a:off x="8334375" y="1371600"/>
            <a:ext cx="1428750" cy="190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48662" y="148113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77250" y="14478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~14.4% share leaves a scale gap versus the market leader.</a:t>
            </a:r>
          </a:p>
        </p:txBody>
      </p:sp>
      <p:sp>
        <p:nvSpPr>
          <p:cNvPr id="41" name="Oval 40"/>
          <p:cNvSpPr/>
          <p:nvPr/>
        </p:nvSpPr>
        <p:spPr>
          <a:xfrm>
            <a:off x="8348662" y="195738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7250" y="19240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Uneven SAM penetration strong in 'South Asia &amp; Pacific', thin elsewhere.</a:t>
            </a:r>
          </a:p>
        </p:txBody>
      </p:sp>
      <p:sp>
        <p:nvSpPr>
          <p:cNvPr id="43" name="Oval 42"/>
          <p:cNvSpPr/>
          <p:nvPr/>
        </p:nvSpPr>
        <p:spPr>
          <a:xfrm>
            <a:off x="8348662" y="243363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77250" y="24003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Reliance on a few large accounts/regions raises concentration risk.</a:t>
            </a:r>
          </a:p>
        </p:txBody>
      </p:sp>
      <p:sp>
        <p:nvSpPr>
          <p:cNvPr id="45" name="TextBox 44"/>
          <p:cNvSpPr txBox="1"/>
          <p:nvPr/>
        </p:nvSpPr>
        <p:spPr>
          <a:xfrm>
            <a:off x="190500" y="4038600"/>
            <a:ext cx="3667125" cy="190500"/>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6" name="Rectangle 45"/>
          <p:cNvSpPr/>
          <p:nvPr/>
        </p:nvSpPr>
        <p:spPr>
          <a:xfrm>
            <a:off x="190500" y="4248150"/>
            <a:ext cx="1428750" cy="1905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04788" y="435768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3375" y="43243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Intense competition ~2.7x pipeline needed to convert.</a:t>
            </a:r>
          </a:p>
        </p:txBody>
      </p:sp>
      <p:sp>
        <p:nvSpPr>
          <p:cNvPr id="49" name="Oval 48"/>
          <p:cNvSpPr/>
          <p:nvPr/>
        </p:nvSpPr>
        <p:spPr>
          <a:xfrm>
            <a:off x="204788" y="483393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3375" y="48006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Input-cost inflation and price pressure can squeeze margin.</a:t>
            </a:r>
          </a:p>
        </p:txBody>
      </p:sp>
      <p:sp>
        <p:nvSpPr>
          <p:cNvPr id="51" name="Oval 50"/>
          <p:cNvSpPr/>
          <p:nvPr/>
        </p:nvSpPr>
        <p:spPr>
          <a:xfrm>
            <a:off x="204788" y="531018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3375" y="52768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Tier-1 incumbents and regulation raise barriers and switching friction.</a:t>
            </a:r>
          </a:p>
        </p:txBody>
      </p:sp>
      <p:sp>
        <p:nvSpPr>
          <p:cNvPr id="53" name="TextBox 52"/>
          <p:cNvSpPr txBox="1"/>
          <p:nvPr/>
        </p:nvSpPr>
        <p:spPr>
          <a:xfrm>
            <a:off x="8334375" y="4038600"/>
            <a:ext cx="3667125" cy="190500"/>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4" name="Rectangle 53"/>
          <p:cNvSpPr/>
          <p:nvPr/>
        </p:nvSpPr>
        <p:spPr>
          <a:xfrm>
            <a:off x="8334375" y="4248150"/>
            <a:ext cx="1428750" cy="1905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348662" y="435768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77250" y="43243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Premiumisation headroom in 'Simlandi' and adjacent high-value lines.</a:t>
            </a:r>
          </a:p>
        </p:txBody>
      </p:sp>
      <p:sp>
        <p:nvSpPr>
          <p:cNvPr id="57" name="Oval 56"/>
          <p:cNvSpPr/>
          <p:nvPr/>
        </p:nvSpPr>
        <p:spPr>
          <a:xfrm>
            <a:off x="8348662" y="483393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77250" y="48006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Under-penetrated regions offer share-capture runway.</a:t>
            </a:r>
          </a:p>
        </p:txBody>
      </p:sp>
      <p:sp>
        <p:nvSpPr>
          <p:cNvPr id="59" name="Oval 58"/>
          <p:cNvSpPr/>
          <p:nvPr/>
        </p:nvSpPr>
        <p:spPr>
          <a:xfrm>
            <a:off x="8348662" y="531018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77250" y="52768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Channel shift to online and clinics opens new demand pools.</a:t>
            </a:r>
          </a:p>
        </p:txBody>
      </p:sp>
      <p:sp>
        <p:nvSpPr>
          <p:cNvPr id="61" name="TextBox 60"/>
          <p:cNvSpPr txBox="1"/>
          <p:nvPr/>
        </p:nvSpPr>
        <p:spPr>
          <a:xfrm>
            <a:off x="5334000" y="6553200"/>
            <a:ext cx="6715125" cy="133350"/>
          </a:xfrm>
          <a:prstGeom prst="rect">
            <a:avLst/>
          </a:prstGeom>
          <a:noFill/>
        </p:spPr>
        <p:txBody>
          <a:bodyPr wrap="square" lIns="28575" rIns="28575" tIns="9525" bIns="9525" anchor="ctr">
            <a:spAutoFit/>
          </a:bodyPr>
          <a:lstStyle/>
          <a:p>
            <a:pPr algn="l"/>
            <a:r>
              <a:rPr sz="800" b="0">
                <a:solidFill>
                  <a:srgbClr val="C0392B"/>
                </a:solidFill>
                <a:latin typeface="Calibri"/>
              </a:rPr>
              <a:t>Note: competitor figures are indicative derived from market modelling and expert validation, not company disclosures.</a:t>
            </a:r>
          </a:p>
        </p:txBody>
      </p:sp>
      <p:sp>
        <p:nvSpPr>
          <p:cNvPr id="62" name="Rectangle 6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4" name="Rounded Rectangle 63">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5" name="Rounded Rectangle 64">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6" name="Rounded Rectangle 65">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Company B Key Financials (4/5)</a:t>
            </a:r>
          </a:p>
        </p:txBody>
      </p:sp>
      <p:sp>
        <p:nvSpPr>
          <p:cNvPr id="10" name="Rounded Rectangle 9"/>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Key financials and pricing Company B (all figures indicative, USD Mn unless noted).</a:t>
            </a:r>
          </a:p>
        </p:txBody>
      </p:sp>
      <p:sp>
        <p:nvSpPr>
          <p:cNvPr id="11" name="Rounded Rectangle 10"/>
          <p:cNvSpPr/>
          <p:nvPr/>
        </p:nvSpPr>
        <p:spPr>
          <a:xfrm>
            <a:off x="142875" y="1219200"/>
            <a:ext cx="5905500" cy="2000250"/>
          </a:xfrm>
          <a:prstGeom prst="roundRect">
            <a:avLst>
              <a:gd name="adj" fmla="val 38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27635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B Financial Performance</a:t>
            </a:r>
          </a:p>
        </p:txBody>
      </p:sp>
      <p:graphicFrame>
        <p:nvGraphicFramePr>
          <p:cNvPr id="13" name="Table 12"/>
          <p:cNvGraphicFramePr>
            <a:graphicFrameLocks noGrp="1"/>
          </p:cNvGraphicFramePr>
          <p:nvPr/>
        </p:nvGraphicFramePr>
        <p:xfrm>
          <a:off x="238125" y="1504950"/>
          <a:ext cx="5715000" cy="904875"/>
        </p:xfrm>
        <a:graphic>
          <a:graphicData uri="http://schemas.openxmlformats.org/drawingml/2006/table">
            <a:tbl>
              <a:tblPr>
                <a:tableStyleId>{5C22544A-7EE6-4342-B048-85BDC9FD1C3A}</a:tableStyleId>
              </a:tblPr>
              <a:tblGrid>
                <a:gridCol w="1714500"/>
                <a:gridCol w="800100"/>
                <a:gridCol w="800100"/>
                <a:gridCol w="800100"/>
                <a:gridCol w="800100"/>
                <a:gridCol w="800100"/>
              </a:tblGrid>
              <a:tr h="180975">
                <a:tc>
                  <a:txBody>
                    <a:bodyPr wrap="none"/>
                    <a:lstStyle/>
                    <a:p>
                      <a:pPr algn="l"/>
                      <a:r>
                        <a:rPr sz="900" b="1">
                          <a:solidFill>
                            <a:srgbClr val="0B2E4A"/>
                          </a:solidFill>
                          <a:latin typeface="Calibri"/>
                        </a:rPr>
                        <a:t>USD Mn</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2021</a:t>
                      </a:r>
                    </a:p>
                  </a:txBody>
                  <a:tcPr marL="85725" marR="38100" marT="19050" marB="19050" anchor="ctr">
                    <a:solidFill>
                      <a:srgbClr val="E0E8EF"/>
                    </a:solidFill>
                  </a:tcPr>
                </a:tc>
                <a:tc>
                  <a:txBody>
                    <a:bodyPr wrap="none"/>
                    <a:lstStyle/>
                    <a:p>
                      <a:pPr algn="l"/>
                      <a:r>
                        <a:rPr sz="900" b="1">
                          <a:solidFill>
                            <a:srgbClr val="0B2E4A"/>
                          </a:solidFill>
                          <a:latin typeface="Calibri"/>
                        </a:rPr>
                        <a:t>2022</a:t>
                      </a:r>
                    </a:p>
                  </a:txBody>
                  <a:tcPr marL="85725" marR="38100" marT="19050" marB="19050" anchor="ctr">
                    <a:solidFill>
                      <a:srgbClr val="E0E8EF"/>
                    </a:solidFill>
                  </a:tcPr>
                </a:tc>
                <a:tc>
                  <a:txBody>
                    <a:bodyPr wrap="none"/>
                    <a:lstStyle/>
                    <a:p>
                      <a:pPr algn="l"/>
                      <a:r>
                        <a:rPr sz="900" b="1">
                          <a:solidFill>
                            <a:srgbClr val="0B2E4A"/>
                          </a:solidFill>
                          <a:latin typeface="Calibri"/>
                        </a:rPr>
                        <a:t>2023</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Revenue</a:t>
                      </a:r>
                    </a:p>
                  </a:txBody>
                  <a:tcPr marL="85725" marR="38100" marT="19050" marB="19050" anchor="ctr">
                    <a:solidFill>
                      <a:srgbClr val="FFFFFF"/>
                    </a:solidFill>
                  </a:tcPr>
                </a:tc>
                <a:tc>
                  <a:txBody>
                    <a:bodyPr wrap="none"/>
                    <a:lstStyle/>
                    <a:p>
                      <a:pPr algn="l"/>
                      <a:r>
                        <a:rPr sz="900" b="0">
                          <a:solidFill>
                            <a:srgbClr val="2E2E2E"/>
                          </a:solidFill>
                          <a:latin typeface="Calibri"/>
                        </a:rPr>
                        <a:t>4,194</a:t>
                      </a:r>
                    </a:p>
                  </a:txBody>
                  <a:tcPr marL="85725" marR="38100" marT="19050" marB="19050" anchor="ctr">
                    <a:solidFill>
                      <a:srgbClr val="FFFFFF"/>
                    </a:solidFill>
                  </a:tcPr>
                </a:tc>
                <a:tc>
                  <a:txBody>
                    <a:bodyPr wrap="none"/>
                    <a:lstStyle/>
                    <a:p>
                      <a:pPr algn="l"/>
                      <a:r>
                        <a:rPr sz="900" b="0">
                          <a:solidFill>
                            <a:srgbClr val="2E2E2E"/>
                          </a:solidFill>
                          <a:latin typeface="Calibri"/>
                        </a:rPr>
                        <a:t>4,517</a:t>
                      </a:r>
                    </a:p>
                  </a:txBody>
                  <a:tcPr marL="85725" marR="38100" marT="19050" marB="19050" anchor="ctr">
                    <a:solidFill>
                      <a:srgbClr val="FFFFFF"/>
                    </a:solidFill>
                  </a:tcPr>
                </a:tc>
                <a:tc>
                  <a:txBody>
                    <a:bodyPr wrap="none"/>
                    <a:lstStyle/>
                    <a:p>
                      <a:pPr algn="l"/>
                      <a:r>
                        <a:rPr sz="900" b="0">
                          <a:solidFill>
                            <a:srgbClr val="2E2E2E"/>
                          </a:solidFill>
                          <a:latin typeface="Calibri"/>
                        </a:rPr>
                        <a:t>4,840</a:t>
                      </a:r>
                    </a:p>
                  </a:txBody>
                  <a:tcPr marL="85725" marR="38100" marT="19050" marB="19050" anchor="ctr">
                    <a:solidFill>
                      <a:srgbClr val="FFFFFF"/>
                    </a:solidFill>
                  </a:tcPr>
                </a:tc>
                <a:tc>
                  <a:txBody>
                    <a:bodyPr wrap="none"/>
                    <a:lstStyle/>
                    <a:p>
                      <a:pPr algn="l"/>
                      <a:r>
                        <a:rPr sz="900" b="0">
                          <a:solidFill>
                            <a:srgbClr val="2E2E2E"/>
                          </a:solidFill>
                          <a:latin typeface="Calibri"/>
                        </a:rPr>
                        <a:t>5,162</a:t>
                      </a:r>
                    </a:p>
                  </a:txBody>
                  <a:tcPr marL="85725" marR="38100" marT="19050" marB="19050" anchor="ctr">
                    <a:solidFill>
                      <a:srgbClr val="FFFFFF"/>
                    </a:solidFill>
                  </a:tcPr>
                </a:tc>
                <a:tc>
                  <a:txBody>
                    <a:bodyPr wrap="none"/>
                    <a:lstStyle/>
                    <a:p>
                      <a:pPr algn="l"/>
                      <a:r>
                        <a:rPr sz="900" b="0">
                          <a:solidFill>
                            <a:srgbClr val="2E2E2E"/>
                          </a:solidFill>
                          <a:latin typeface="Calibri"/>
                        </a:rPr>
                        <a:t>5,485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Gross Profit</a:t>
                      </a:r>
                    </a:p>
                  </a:txBody>
                  <a:tcPr marL="85725" marR="38100" marT="19050" marB="19050" anchor="ctr">
                    <a:solidFill>
                      <a:srgbClr val="F5F8FA"/>
                    </a:solidFill>
                  </a:tcPr>
                </a:tc>
                <a:tc>
                  <a:txBody>
                    <a:bodyPr wrap="none"/>
                    <a:lstStyle/>
                    <a:p>
                      <a:pPr algn="l"/>
                      <a:r>
                        <a:rPr sz="900" b="0">
                          <a:solidFill>
                            <a:srgbClr val="2E2E2E"/>
                          </a:solidFill>
                          <a:latin typeface="Calibri"/>
                        </a:rPr>
                        <a:t>1,447</a:t>
                      </a:r>
                    </a:p>
                  </a:txBody>
                  <a:tcPr marL="85725" marR="38100" marT="19050" marB="19050" anchor="ctr">
                    <a:solidFill>
                      <a:srgbClr val="F5F8FA"/>
                    </a:solidFill>
                  </a:tcPr>
                </a:tc>
                <a:tc>
                  <a:txBody>
                    <a:bodyPr wrap="none"/>
                    <a:lstStyle/>
                    <a:p>
                      <a:pPr algn="l"/>
                      <a:r>
                        <a:rPr sz="900" b="0">
                          <a:solidFill>
                            <a:srgbClr val="2E2E2E"/>
                          </a:solidFill>
                          <a:latin typeface="Calibri"/>
                        </a:rPr>
                        <a:t>1,558</a:t>
                      </a:r>
                    </a:p>
                  </a:txBody>
                  <a:tcPr marL="85725" marR="38100" marT="19050" marB="19050" anchor="ctr">
                    <a:solidFill>
                      <a:srgbClr val="F5F8FA"/>
                    </a:solidFill>
                  </a:tcPr>
                </a:tc>
                <a:tc>
                  <a:txBody>
                    <a:bodyPr wrap="none"/>
                    <a:lstStyle/>
                    <a:p>
                      <a:pPr algn="l"/>
                      <a:r>
                        <a:rPr sz="900" b="0">
                          <a:solidFill>
                            <a:srgbClr val="2E2E2E"/>
                          </a:solidFill>
                          <a:latin typeface="Calibri"/>
                        </a:rPr>
                        <a:t>1,670</a:t>
                      </a:r>
                    </a:p>
                  </a:txBody>
                  <a:tcPr marL="85725" marR="38100" marT="19050" marB="19050" anchor="ctr">
                    <a:solidFill>
                      <a:srgbClr val="F5F8FA"/>
                    </a:solidFill>
                  </a:tcPr>
                </a:tc>
                <a:tc>
                  <a:txBody>
                    <a:bodyPr wrap="none"/>
                    <a:lstStyle/>
                    <a:p>
                      <a:pPr algn="l"/>
                      <a:r>
                        <a:rPr sz="900" b="0">
                          <a:solidFill>
                            <a:srgbClr val="2E2E2E"/>
                          </a:solidFill>
                          <a:latin typeface="Calibri"/>
                        </a:rPr>
                        <a:t>1,781</a:t>
                      </a:r>
                    </a:p>
                  </a:txBody>
                  <a:tcPr marL="85725" marR="38100" marT="19050" marB="19050" anchor="ctr">
                    <a:solidFill>
                      <a:srgbClr val="F5F8FA"/>
                    </a:solidFill>
                  </a:tcPr>
                </a:tc>
                <a:tc>
                  <a:txBody>
                    <a:bodyPr wrap="none"/>
                    <a:lstStyle/>
                    <a:p>
                      <a:pPr algn="l"/>
                      <a:r>
                        <a:rPr sz="900" b="0">
                          <a:solidFill>
                            <a:srgbClr val="2E2E2E"/>
                          </a:solidFill>
                          <a:latin typeface="Calibri"/>
                        </a:rPr>
                        <a:t>1,892</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Pre-Tax Profit</a:t>
                      </a:r>
                    </a:p>
                  </a:txBody>
                  <a:tcPr marL="85725" marR="38100" marT="19050" marB="19050" anchor="ctr">
                    <a:solidFill>
                      <a:srgbClr val="FFFFFF"/>
                    </a:solidFill>
                  </a:tcPr>
                </a:tc>
                <a:tc>
                  <a:txBody>
                    <a:bodyPr wrap="none"/>
                    <a:lstStyle/>
                    <a:p>
                      <a:pPr algn="l"/>
                      <a:r>
                        <a:rPr sz="900" b="0">
                          <a:solidFill>
                            <a:srgbClr val="2E2E2E"/>
                          </a:solidFill>
                          <a:latin typeface="Calibri"/>
                        </a:rPr>
                        <a:t>687.9</a:t>
                      </a:r>
                    </a:p>
                  </a:txBody>
                  <a:tcPr marL="85725" marR="38100" marT="19050" marB="19050" anchor="ctr">
                    <a:solidFill>
                      <a:srgbClr val="FFFFFF"/>
                    </a:solidFill>
                  </a:tcPr>
                </a:tc>
                <a:tc>
                  <a:txBody>
                    <a:bodyPr wrap="none"/>
                    <a:lstStyle/>
                    <a:p>
                      <a:pPr algn="l"/>
                      <a:r>
                        <a:rPr sz="900" b="0">
                          <a:solidFill>
                            <a:srgbClr val="2E2E2E"/>
                          </a:solidFill>
                          <a:latin typeface="Calibri"/>
                        </a:rPr>
                        <a:t>740.8</a:t>
                      </a:r>
                    </a:p>
                  </a:txBody>
                  <a:tcPr marL="85725" marR="38100" marT="19050" marB="19050" anchor="ctr">
                    <a:solidFill>
                      <a:srgbClr val="FFFFFF"/>
                    </a:solidFill>
                  </a:tcPr>
                </a:tc>
                <a:tc>
                  <a:txBody>
                    <a:bodyPr wrap="none"/>
                    <a:lstStyle/>
                    <a:p>
                      <a:pPr algn="l"/>
                      <a:r>
                        <a:rPr sz="900" b="0">
                          <a:solidFill>
                            <a:srgbClr val="2E2E2E"/>
                          </a:solidFill>
                          <a:latin typeface="Calibri"/>
                        </a:rPr>
                        <a:t>793.7</a:t>
                      </a:r>
                    </a:p>
                  </a:txBody>
                  <a:tcPr marL="85725" marR="38100" marT="19050" marB="19050" anchor="ctr">
                    <a:solidFill>
                      <a:srgbClr val="FFFFFF"/>
                    </a:solidFill>
                  </a:tcPr>
                </a:tc>
                <a:tc>
                  <a:txBody>
                    <a:bodyPr wrap="none"/>
                    <a:lstStyle/>
                    <a:p>
                      <a:pPr algn="l"/>
                      <a:r>
                        <a:rPr sz="900" b="0">
                          <a:solidFill>
                            <a:srgbClr val="2E2E2E"/>
                          </a:solidFill>
                          <a:latin typeface="Calibri"/>
                        </a:rPr>
                        <a:t>846.6</a:t>
                      </a:r>
                    </a:p>
                  </a:txBody>
                  <a:tcPr marL="85725" marR="38100" marT="19050" marB="19050" anchor="ctr">
                    <a:solidFill>
                      <a:srgbClr val="FFFFFF"/>
                    </a:solidFill>
                  </a:tcPr>
                </a:tc>
                <a:tc>
                  <a:txBody>
                    <a:bodyPr wrap="none"/>
                    <a:lstStyle/>
                    <a:p>
                      <a:pPr algn="l"/>
                      <a:r>
                        <a:rPr sz="900" b="0">
                          <a:solidFill>
                            <a:srgbClr val="2E2E2E"/>
                          </a:solidFill>
                          <a:latin typeface="Calibri"/>
                        </a:rPr>
                        <a:t>899.5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Profit After Tax / Net Profit</a:t>
                      </a:r>
                    </a:p>
                  </a:txBody>
                  <a:tcPr marL="85725" marR="38100" marT="19050" marB="19050" anchor="ctr">
                    <a:solidFill>
                      <a:srgbClr val="F5F8FA"/>
                    </a:solidFill>
                  </a:tcPr>
                </a:tc>
                <a:tc>
                  <a:txBody>
                    <a:bodyPr wrap="none"/>
                    <a:lstStyle/>
                    <a:p>
                      <a:pPr algn="l"/>
                      <a:r>
                        <a:rPr sz="900" b="0">
                          <a:solidFill>
                            <a:srgbClr val="2E2E2E"/>
                          </a:solidFill>
                          <a:latin typeface="Calibri"/>
                        </a:rPr>
                        <a:t>515.9</a:t>
                      </a:r>
                    </a:p>
                  </a:txBody>
                  <a:tcPr marL="85725" marR="38100" marT="19050" marB="19050" anchor="ctr">
                    <a:solidFill>
                      <a:srgbClr val="F5F8FA"/>
                    </a:solidFill>
                  </a:tcPr>
                </a:tc>
                <a:tc>
                  <a:txBody>
                    <a:bodyPr wrap="none"/>
                    <a:lstStyle/>
                    <a:p>
                      <a:pPr algn="l"/>
                      <a:r>
                        <a:rPr sz="900" b="0">
                          <a:solidFill>
                            <a:srgbClr val="2E2E2E"/>
                          </a:solidFill>
                          <a:latin typeface="Calibri"/>
                        </a:rPr>
                        <a:t>555.6</a:t>
                      </a:r>
                    </a:p>
                  </a:txBody>
                  <a:tcPr marL="85725" marR="38100" marT="19050" marB="19050" anchor="ctr">
                    <a:solidFill>
                      <a:srgbClr val="F5F8FA"/>
                    </a:solidFill>
                  </a:tcPr>
                </a:tc>
                <a:tc>
                  <a:txBody>
                    <a:bodyPr wrap="none"/>
                    <a:lstStyle/>
                    <a:p>
                      <a:pPr algn="l"/>
                      <a:r>
                        <a:rPr sz="900" b="0">
                          <a:solidFill>
                            <a:srgbClr val="2E2E2E"/>
                          </a:solidFill>
                          <a:latin typeface="Calibri"/>
                        </a:rPr>
                        <a:t>595.3</a:t>
                      </a:r>
                    </a:p>
                  </a:txBody>
                  <a:tcPr marL="85725" marR="38100" marT="19050" marB="19050" anchor="ctr">
                    <a:solidFill>
                      <a:srgbClr val="F5F8FA"/>
                    </a:solidFill>
                  </a:tcPr>
                </a:tc>
                <a:tc>
                  <a:txBody>
                    <a:bodyPr wrap="none"/>
                    <a:lstStyle/>
                    <a:p>
                      <a:pPr algn="l"/>
                      <a:r>
                        <a:rPr sz="900" b="0">
                          <a:solidFill>
                            <a:srgbClr val="2E2E2E"/>
                          </a:solidFill>
                          <a:latin typeface="Calibri"/>
                        </a:rPr>
                        <a:t>635.0</a:t>
                      </a:r>
                    </a:p>
                  </a:txBody>
                  <a:tcPr marL="85725" marR="38100" marT="19050" marB="19050" anchor="ctr">
                    <a:solidFill>
                      <a:srgbClr val="F5F8FA"/>
                    </a:solidFill>
                  </a:tcPr>
                </a:tc>
                <a:tc>
                  <a:txBody>
                    <a:bodyPr wrap="none"/>
                    <a:lstStyle/>
                    <a:p>
                      <a:pPr algn="l"/>
                      <a:r>
                        <a:rPr sz="900" b="0">
                          <a:solidFill>
                            <a:srgbClr val="2E2E2E"/>
                          </a:solidFill>
                          <a:latin typeface="Calibri"/>
                        </a:rPr>
                        <a:t>674.6</a:t>
                      </a:r>
                    </a:p>
                  </a:txBody>
                  <a:tcPr marL="85725" marR="38100" marT="19050" marB="19050" anchor="ctr">
                    <a:solidFill>
                      <a:srgbClr val="F5F8FA"/>
                    </a:solidFill>
                  </a:tcPr>
                </a:tc>
              </a:tr>
            </a:tbl>
          </a:graphicData>
        </a:graphic>
      </p:graphicFrame>
      <p:sp>
        <p:nvSpPr>
          <p:cNvPr id="14" name="TextBox 13"/>
          <p:cNvSpPr txBox="1"/>
          <p:nvPr/>
        </p:nvSpPr>
        <p:spPr>
          <a:xfrm>
            <a:off x="219075" y="3076575"/>
            <a:ext cx="575310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352800"/>
            <a:ext cx="5905500" cy="3333750"/>
          </a:xfrm>
          <a:prstGeom prst="roundRect">
            <a:avLst>
              <a:gd name="adj" fmla="val 22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0995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B Key Ratios</a:t>
            </a:r>
          </a:p>
        </p:txBody>
      </p:sp>
      <p:graphicFrame>
        <p:nvGraphicFramePr>
          <p:cNvPr id="17" name="Table 16"/>
          <p:cNvGraphicFramePr>
            <a:graphicFrameLocks noGrp="1"/>
          </p:cNvGraphicFramePr>
          <p:nvPr/>
        </p:nvGraphicFramePr>
        <p:xfrm>
          <a:off x="238125" y="3638550"/>
          <a:ext cx="5715000" cy="1085850"/>
        </p:xfrm>
        <a:graphic>
          <a:graphicData uri="http://schemas.openxmlformats.org/drawingml/2006/table">
            <a:tbl>
              <a:tblPr>
                <a:tableStyleId>{5C22544A-7EE6-4342-B048-85BDC9FD1C3A}</a:tableStyleId>
              </a:tblPr>
              <a:tblGrid>
                <a:gridCol w="1714500"/>
                <a:gridCol w="800100"/>
                <a:gridCol w="800100"/>
                <a:gridCol w="800100"/>
                <a:gridCol w="800100"/>
                <a:gridCol w="800100"/>
              </a:tblGrid>
              <a:tr h="180975">
                <a:tc>
                  <a:txBody>
                    <a:bodyPr wrap="none"/>
                    <a:lstStyle/>
                    <a:p>
                      <a:pPr algn="l"/>
                      <a:r>
                        <a:rPr sz="900" b="1">
                          <a:solidFill>
                            <a:srgbClr val="0B2E4A"/>
                          </a:solidFill>
                          <a:latin typeface="Calibri"/>
                        </a:rPr>
                        <a:t>Key Ratios</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2021</a:t>
                      </a:r>
                    </a:p>
                  </a:txBody>
                  <a:tcPr marL="85725" marR="38100" marT="19050" marB="19050" anchor="ctr">
                    <a:solidFill>
                      <a:srgbClr val="E0E8EF"/>
                    </a:solidFill>
                  </a:tcPr>
                </a:tc>
                <a:tc>
                  <a:txBody>
                    <a:bodyPr wrap="none"/>
                    <a:lstStyle/>
                    <a:p>
                      <a:pPr algn="l"/>
                      <a:r>
                        <a:rPr sz="900" b="1">
                          <a:solidFill>
                            <a:srgbClr val="0B2E4A"/>
                          </a:solidFill>
                          <a:latin typeface="Calibri"/>
                        </a:rPr>
                        <a:t>2022</a:t>
                      </a:r>
                    </a:p>
                  </a:txBody>
                  <a:tcPr marL="85725" marR="38100" marT="19050" marB="19050" anchor="ctr">
                    <a:solidFill>
                      <a:srgbClr val="E0E8EF"/>
                    </a:solidFill>
                  </a:tcPr>
                </a:tc>
                <a:tc>
                  <a:txBody>
                    <a:bodyPr wrap="none"/>
                    <a:lstStyle/>
                    <a:p>
                      <a:pPr algn="l"/>
                      <a:r>
                        <a:rPr sz="900" b="1">
                          <a:solidFill>
                            <a:srgbClr val="0B2E4A"/>
                          </a:solidFill>
                          <a:latin typeface="Calibri"/>
                        </a:rPr>
                        <a:t>2023</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Gross Margin (%)</a:t>
                      </a:r>
                    </a:p>
                  </a:txBody>
                  <a:tcPr marL="85725" marR="38100" marT="19050" marB="19050" anchor="ctr">
                    <a:solidFill>
                      <a:srgbClr val="FFFFFF"/>
                    </a:solidFill>
                  </a:tcPr>
                </a:tc>
                <a:tc>
                  <a:txBody>
                    <a:bodyPr wrap="none"/>
                    <a:lstStyle/>
                    <a:p>
                      <a:pPr algn="l"/>
                      <a:r>
                        <a:rPr sz="900" b="0">
                          <a:solidFill>
                            <a:srgbClr val="2E2E2E"/>
                          </a:solidFill>
                          <a:latin typeface="Calibri"/>
                        </a:rPr>
                        <a:t>34.5%</a:t>
                      </a:r>
                    </a:p>
                  </a:txBody>
                  <a:tcPr marL="85725" marR="38100" marT="19050" marB="19050" anchor="ctr">
                    <a:solidFill>
                      <a:srgbClr val="FFFFFF"/>
                    </a:solidFill>
                  </a:tcPr>
                </a:tc>
                <a:tc>
                  <a:txBody>
                    <a:bodyPr wrap="none"/>
                    <a:lstStyle/>
                    <a:p>
                      <a:pPr algn="l"/>
                      <a:r>
                        <a:rPr sz="900" b="0">
                          <a:solidFill>
                            <a:srgbClr val="2E2E2E"/>
                          </a:solidFill>
                          <a:latin typeface="Calibri"/>
                        </a:rPr>
                        <a:t>34.5%</a:t>
                      </a:r>
                    </a:p>
                  </a:txBody>
                  <a:tcPr marL="85725" marR="38100" marT="19050" marB="19050" anchor="ctr">
                    <a:solidFill>
                      <a:srgbClr val="FFFFFF"/>
                    </a:solidFill>
                  </a:tcPr>
                </a:tc>
                <a:tc>
                  <a:txBody>
                    <a:bodyPr wrap="none"/>
                    <a:lstStyle/>
                    <a:p>
                      <a:pPr algn="l"/>
                      <a:r>
                        <a:rPr sz="900" b="0">
                          <a:solidFill>
                            <a:srgbClr val="2E2E2E"/>
                          </a:solidFill>
                          <a:latin typeface="Calibri"/>
                        </a:rPr>
                        <a:t>34.5%</a:t>
                      </a:r>
                    </a:p>
                  </a:txBody>
                  <a:tcPr marL="85725" marR="38100" marT="19050" marB="19050" anchor="ctr">
                    <a:solidFill>
                      <a:srgbClr val="FFFFFF"/>
                    </a:solidFill>
                  </a:tcPr>
                </a:tc>
                <a:tc>
                  <a:txBody>
                    <a:bodyPr wrap="none"/>
                    <a:lstStyle/>
                    <a:p>
                      <a:pPr algn="l"/>
                      <a:r>
                        <a:rPr sz="900" b="0">
                          <a:solidFill>
                            <a:srgbClr val="2E2E2E"/>
                          </a:solidFill>
                          <a:latin typeface="Calibri"/>
                        </a:rPr>
                        <a:t>34.5%</a:t>
                      </a:r>
                    </a:p>
                  </a:txBody>
                  <a:tcPr marL="85725" marR="38100" marT="19050" marB="19050" anchor="ctr">
                    <a:solidFill>
                      <a:srgbClr val="FFFFFF"/>
                    </a:solidFill>
                  </a:tcPr>
                </a:tc>
                <a:tc>
                  <a:txBody>
                    <a:bodyPr wrap="none"/>
                    <a:lstStyle/>
                    <a:p>
                      <a:pPr algn="l"/>
                      <a:r>
                        <a:rPr sz="900" b="0">
                          <a:solidFill>
                            <a:srgbClr val="2E2E2E"/>
                          </a:solidFill>
                          <a:latin typeface="Calibri"/>
                        </a:rPr>
                        <a:t>34.5%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Pre-Tax Margin (%)</a:t>
                      </a:r>
                    </a:p>
                  </a:txBody>
                  <a:tcPr marL="85725" marR="38100" marT="19050" marB="19050" anchor="ctr">
                    <a:solidFill>
                      <a:srgbClr val="F5F8FA"/>
                    </a:solidFill>
                  </a:tcPr>
                </a:tc>
                <a:tc>
                  <a:txBody>
                    <a:bodyPr wrap="none"/>
                    <a:lstStyle/>
                    <a:p>
                      <a:pPr algn="l"/>
                      <a:r>
                        <a:rPr sz="900" b="0">
                          <a:solidFill>
                            <a:srgbClr val="2E2E2E"/>
                          </a:solidFill>
                          <a:latin typeface="Calibri"/>
                        </a:rPr>
                        <a:t>16.4%</a:t>
                      </a:r>
                    </a:p>
                  </a:txBody>
                  <a:tcPr marL="85725" marR="38100" marT="19050" marB="19050" anchor="ctr">
                    <a:solidFill>
                      <a:srgbClr val="F5F8FA"/>
                    </a:solidFill>
                  </a:tcPr>
                </a:tc>
                <a:tc>
                  <a:txBody>
                    <a:bodyPr wrap="none"/>
                    <a:lstStyle/>
                    <a:p>
                      <a:pPr algn="l"/>
                      <a:r>
                        <a:rPr sz="900" b="0">
                          <a:solidFill>
                            <a:srgbClr val="2E2E2E"/>
                          </a:solidFill>
                          <a:latin typeface="Calibri"/>
                        </a:rPr>
                        <a:t>16.4%</a:t>
                      </a:r>
                    </a:p>
                  </a:txBody>
                  <a:tcPr marL="85725" marR="38100" marT="19050" marB="19050" anchor="ctr">
                    <a:solidFill>
                      <a:srgbClr val="F5F8FA"/>
                    </a:solidFill>
                  </a:tcPr>
                </a:tc>
                <a:tc>
                  <a:txBody>
                    <a:bodyPr wrap="none"/>
                    <a:lstStyle/>
                    <a:p>
                      <a:pPr algn="l"/>
                      <a:r>
                        <a:rPr sz="900" b="0">
                          <a:solidFill>
                            <a:srgbClr val="2E2E2E"/>
                          </a:solidFill>
                          <a:latin typeface="Calibri"/>
                        </a:rPr>
                        <a:t>16.4%</a:t>
                      </a:r>
                    </a:p>
                  </a:txBody>
                  <a:tcPr marL="85725" marR="38100" marT="19050" marB="19050" anchor="ctr">
                    <a:solidFill>
                      <a:srgbClr val="F5F8FA"/>
                    </a:solidFill>
                  </a:tcPr>
                </a:tc>
                <a:tc>
                  <a:txBody>
                    <a:bodyPr wrap="none"/>
                    <a:lstStyle/>
                    <a:p>
                      <a:pPr algn="l"/>
                      <a:r>
                        <a:rPr sz="900" b="0">
                          <a:solidFill>
                            <a:srgbClr val="2E2E2E"/>
                          </a:solidFill>
                          <a:latin typeface="Calibri"/>
                        </a:rPr>
                        <a:t>16.4%</a:t>
                      </a:r>
                    </a:p>
                  </a:txBody>
                  <a:tcPr marL="85725" marR="38100" marT="19050" marB="19050" anchor="ctr">
                    <a:solidFill>
                      <a:srgbClr val="F5F8FA"/>
                    </a:solidFill>
                  </a:tcPr>
                </a:tc>
                <a:tc>
                  <a:txBody>
                    <a:bodyPr wrap="none"/>
                    <a:lstStyle/>
                    <a:p>
                      <a:pPr algn="l"/>
                      <a:r>
                        <a:rPr sz="900" b="0">
                          <a:solidFill>
                            <a:srgbClr val="2E2E2E"/>
                          </a:solidFill>
                          <a:latin typeface="Calibri"/>
                        </a:rPr>
                        <a:t>16.4%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Net Margin (%)</a:t>
                      </a:r>
                    </a:p>
                  </a:txBody>
                  <a:tcPr marL="85725" marR="38100" marT="19050" marB="19050" anchor="ctr">
                    <a:solidFill>
                      <a:srgbClr val="FFFFFF"/>
                    </a:solidFill>
                  </a:tcPr>
                </a:tc>
                <a:tc>
                  <a:txBody>
                    <a:bodyPr wrap="none"/>
                    <a:lstStyle/>
                    <a:p>
                      <a:pPr algn="l"/>
                      <a:r>
                        <a:rPr sz="900" b="0">
                          <a:solidFill>
                            <a:srgbClr val="2E2E2E"/>
                          </a:solidFill>
                          <a:latin typeface="Calibri"/>
                        </a:rPr>
                        <a:t>12.3%</a:t>
                      </a:r>
                    </a:p>
                  </a:txBody>
                  <a:tcPr marL="85725" marR="38100" marT="19050" marB="19050" anchor="ctr">
                    <a:solidFill>
                      <a:srgbClr val="FFFFFF"/>
                    </a:solidFill>
                  </a:tcPr>
                </a:tc>
                <a:tc>
                  <a:txBody>
                    <a:bodyPr wrap="none"/>
                    <a:lstStyle/>
                    <a:p>
                      <a:pPr algn="l"/>
                      <a:r>
                        <a:rPr sz="900" b="0">
                          <a:solidFill>
                            <a:srgbClr val="2E2E2E"/>
                          </a:solidFill>
                          <a:latin typeface="Calibri"/>
                        </a:rPr>
                        <a:t>12.3%</a:t>
                      </a:r>
                    </a:p>
                  </a:txBody>
                  <a:tcPr marL="85725" marR="38100" marT="19050" marB="19050" anchor="ctr">
                    <a:solidFill>
                      <a:srgbClr val="FFFFFF"/>
                    </a:solidFill>
                  </a:tcPr>
                </a:tc>
                <a:tc>
                  <a:txBody>
                    <a:bodyPr wrap="none"/>
                    <a:lstStyle/>
                    <a:p>
                      <a:pPr algn="l"/>
                      <a:r>
                        <a:rPr sz="900" b="0">
                          <a:solidFill>
                            <a:srgbClr val="2E2E2E"/>
                          </a:solidFill>
                          <a:latin typeface="Calibri"/>
                        </a:rPr>
                        <a:t>12.3%</a:t>
                      </a:r>
                    </a:p>
                  </a:txBody>
                  <a:tcPr marL="85725" marR="38100" marT="19050" marB="19050" anchor="ctr">
                    <a:solidFill>
                      <a:srgbClr val="FFFFFF"/>
                    </a:solidFill>
                  </a:tcPr>
                </a:tc>
                <a:tc>
                  <a:txBody>
                    <a:bodyPr wrap="none"/>
                    <a:lstStyle/>
                    <a:p>
                      <a:pPr algn="l"/>
                      <a:r>
                        <a:rPr sz="900" b="0">
                          <a:solidFill>
                            <a:srgbClr val="2E2E2E"/>
                          </a:solidFill>
                          <a:latin typeface="Calibri"/>
                        </a:rPr>
                        <a:t>12.3%</a:t>
                      </a:r>
                    </a:p>
                  </a:txBody>
                  <a:tcPr marL="85725" marR="38100" marT="19050" marB="19050" anchor="ctr">
                    <a:solidFill>
                      <a:srgbClr val="FFFFFF"/>
                    </a:solidFill>
                  </a:tcPr>
                </a:tc>
                <a:tc>
                  <a:txBody>
                    <a:bodyPr wrap="none"/>
                    <a:lstStyle/>
                    <a:p>
                      <a:pPr algn="l"/>
                      <a:r>
                        <a:rPr sz="900" b="0">
                          <a:solidFill>
                            <a:srgbClr val="2E2E2E"/>
                          </a:solidFill>
                          <a:latin typeface="Calibri"/>
                        </a:rPr>
                        <a:t>12.3%</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Return on Equity (%)</a:t>
                      </a:r>
                    </a:p>
                  </a:txBody>
                  <a:tcPr marL="85725" marR="38100" marT="19050" marB="19050" anchor="ctr">
                    <a:solidFill>
                      <a:srgbClr val="F5F8FA"/>
                    </a:solidFill>
                  </a:tcPr>
                </a:tc>
                <a:tc>
                  <a:txBody>
                    <a:bodyPr wrap="none"/>
                    <a:lstStyle/>
                    <a:p>
                      <a:pPr algn="l"/>
                      <a:r>
                        <a:rPr sz="900" b="0">
                          <a:solidFill>
                            <a:srgbClr val="2E2E2E"/>
                          </a:solidFill>
                          <a:latin typeface="Calibri"/>
                        </a:rPr>
                        <a:t>13.0%</a:t>
                      </a:r>
                    </a:p>
                  </a:txBody>
                  <a:tcPr marL="85725" marR="38100" marT="19050" marB="19050" anchor="ctr">
                    <a:solidFill>
                      <a:srgbClr val="F5F8FA"/>
                    </a:solidFill>
                  </a:tcPr>
                </a:tc>
                <a:tc>
                  <a:txBody>
                    <a:bodyPr wrap="none"/>
                    <a:lstStyle/>
                    <a:p>
                      <a:pPr algn="l"/>
                      <a:r>
                        <a:rPr sz="900" b="0">
                          <a:solidFill>
                            <a:srgbClr val="2E2E2E"/>
                          </a:solidFill>
                          <a:latin typeface="Calibri"/>
                        </a:rPr>
                        <a:t>14.0%</a:t>
                      </a:r>
                    </a:p>
                  </a:txBody>
                  <a:tcPr marL="85725" marR="38100" marT="19050" marB="19050" anchor="ctr">
                    <a:solidFill>
                      <a:srgbClr val="F5F8FA"/>
                    </a:solidFill>
                  </a:tcPr>
                </a:tc>
                <a:tc>
                  <a:txBody>
                    <a:bodyPr wrap="none"/>
                    <a:lstStyle/>
                    <a:p>
                      <a:pPr algn="l"/>
                      <a:r>
                        <a:rPr sz="900" b="0">
                          <a:solidFill>
                            <a:srgbClr val="2E2E2E"/>
                          </a:solidFill>
                          <a:latin typeface="Calibri"/>
                        </a:rPr>
                        <a:t>15.0%</a:t>
                      </a:r>
                    </a:p>
                  </a:txBody>
                  <a:tcPr marL="85725" marR="38100" marT="19050" marB="19050" anchor="ctr">
                    <a:solidFill>
                      <a:srgbClr val="F5F8FA"/>
                    </a:solidFill>
                  </a:tcPr>
                </a:tc>
                <a:tc>
                  <a:txBody>
                    <a:bodyPr wrap="none"/>
                    <a:lstStyle/>
                    <a:p>
                      <a:pPr algn="l"/>
                      <a:r>
                        <a:rPr sz="900" b="0">
                          <a:solidFill>
                            <a:srgbClr val="2E2E2E"/>
                          </a:solidFill>
                          <a:latin typeface="Calibri"/>
                        </a:rPr>
                        <a:t>16.0%</a:t>
                      </a:r>
                    </a:p>
                  </a:txBody>
                  <a:tcPr marL="85725" marR="38100" marT="19050" marB="19050" anchor="ctr">
                    <a:solidFill>
                      <a:srgbClr val="F5F8FA"/>
                    </a:solidFill>
                  </a:tcPr>
                </a:tc>
                <a:tc>
                  <a:txBody>
                    <a:bodyPr wrap="none"/>
                    <a:lstStyle/>
                    <a:p>
                      <a:pPr algn="l"/>
                      <a:r>
                        <a:rPr sz="900" b="0">
                          <a:solidFill>
                            <a:srgbClr val="2E2E2E"/>
                          </a:solidFill>
                          <a:latin typeface="Calibri"/>
                        </a:rPr>
                        <a:t>17.0%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Return on Assets (%)</a:t>
                      </a:r>
                    </a:p>
                  </a:txBody>
                  <a:tcPr marL="85725" marR="38100" marT="19050" marB="19050" anchor="ctr">
                    <a:solidFill>
                      <a:srgbClr val="FFFFFF"/>
                    </a:solidFill>
                  </a:tcPr>
                </a:tc>
                <a:tc>
                  <a:txBody>
                    <a:bodyPr wrap="none"/>
                    <a:lstStyle/>
                    <a:p>
                      <a:pPr algn="l"/>
                      <a:r>
                        <a:rPr sz="900" b="0">
                          <a:solidFill>
                            <a:srgbClr val="2E2E2E"/>
                          </a:solidFill>
                          <a:latin typeface="Calibri"/>
                        </a:rPr>
                        <a:t>7.5%</a:t>
                      </a:r>
                    </a:p>
                  </a:txBody>
                  <a:tcPr marL="85725" marR="38100" marT="19050" marB="19050" anchor="ctr">
                    <a:solidFill>
                      <a:srgbClr val="FFFFFF"/>
                    </a:solidFill>
                  </a:tcPr>
                </a:tc>
                <a:tc>
                  <a:txBody>
                    <a:bodyPr wrap="none"/>
                    <a:lstStyle/>
                    <a:p>
                      <a:pPr algn="l"/>
                      <a:r>
                        <a:rPr sz="900" b="0">
                          <a:solidFill>
                            <a:srgbClr val="2E2E2E"/>
                          </a:solidFill>
                          <a:latin typeface="Calibri"/>
                        </a:rPr>
                        <a:t>7.9%</a:t>
                      </a:r>
                    </a:p>
                  </a:txBody>
                  <a:tcPr marL="85725" marR="38100" marT="19050" marB="19050" anchor="ctr">
                    <a:solidFill>
                      <a:srgbClr val="FFFFFF"/>
                    </a:solidFill>
                  </a:tcPr>
                </a:tc>
                <a:tc>
                  <a:txBody>
                    <a:bodyPr wrap="none"/>
                    <a:lstStyle/>
                    <a:p>
                      <a:pPr algn="l"/>
                      <a:r>
                        <a:rPr sz="900" b="0">
                          <a:solidFill>
                            <a:srgbClr val="2E2E2E"/>
                          </a:solidFill>
                          <a:latin typeface="Calibri"/>
                        </a:rPr>
                        <a:t>8.3%</a:t>
                      </a:r>
                    </a:p>
                  </a:txBody>
                  <a:tcPr marL="85725" marR="38100" marT="19050" marB="19050" anchor="ctr">
                    <a:solidFill>
                      <a:srgbClr val="FFFFFF"/>
                    </a:solidFill>
                  </a:tcPr>
                </a:tc>
                <a:tc>
                  <a:txBody>
                    <a:bodyPr wrap="none"/>
                    <a:lstStyle/>
                    <a:p>
                      <a:pPr algn="l"/>
                      <a:r>
                        <a:rPr sz="900" b="0">
                          <a:solidFill>
                            <a:srgbClr val="2E2E2E"/>
                          </a:solidFill>
                          <a:latin typeface="Calibri"/>
                        </a:rPr>
                        <a:t>8.7%</a:t>
                      </a:r>
                    </a:p>
                  </a:txBody>
                  <a:tcPr marL="85725" marR="38100" marT="19050" marB="19050" anchor="ctr">
                    <a:solidFill>
                      <a:srgbClr val="FFFFFF"/>
                    </a:solidFill>
                  </a:tcPr>
                </a:tc>
                <a:tc>
                  <a:txBody>
                    <a:bodyPr wrap="none"/>
                    <a:lstStyle/>
                    <a:p>
                      <a:pPr algn="l"/>
                      <a:r>
                        <a:rPr sz="900" b="0">
                          <a:solidFill>
                            <a:srgbClr val="2E2E2E"/>
                          </a:solidFill>
                          <a:latin typeface="Calibri"/>
                        </a:rPr>
                        <a:t>9.1%</a:t>
                      </a:r>
                    </a:p>
                  </a:txBody>
                  <a:tcPr marL="85725" marR="38100" marT="19050" marB="19050" anchor="ctr">
                    <a:solidFill>
                      <a:srgbClr val="FFFFFF"/>
                    </a:solidFill>
                  </a:tcPr>
                </a:tc>
              </a:tr>
            </a:tbl>
          </a:graphicData>
        </a:graphic>
      </p:graphicFrame>
      <p:sp>
        <p:nvSpPr>
          <p:cNvPr id="18" name="TextBox 17"/>
          <p:cNvSpPr txBox="1"/>
          <p:nvPr/>
        </p:nvSpPr>
        <p:spPr>
          <a:xfrm>
            <a:off x="219075" y="6543675"/>
            <a:ext cx="5753100"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ounded Rectangle 18"/>
          <p:cNvSpPr/>
          <p:nvPr/>
        </p:nvSpPr>
        <p:spPr>
          <a:xfrm>
            <a:off x="6200775" y="1219200"/>
            <a:ext cx="5848350" cy="5467350"/>
          </a:xfrm>
          <a:prstGeom prst="roundRect">
            <a:avLst>
              <a:gd name="adj" fmla="val 13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6025" y="1276350"/>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B Pricing Analysis (US$/unit)</a:t>
            </a:r>
          </a:p>
        </p:txBody>
      </p:sp>
      <p:graphicFrame>
        <p:nvGraphicFramePr>
          <p:cNvPr id="21" name="Table 20"/>
          <p:cNvGraphicFramePr>
            <a:graphicFrameLocks noGrp="1"/>
          </p:cNvGraphicFramePr>
          <p:nvPr/>
        </p:nvGraphicFramePr>
        <p:xfrm>
          <a:off x="6296025" y="1504950"/>
          <a:ext cx="5657849" cy="904875"/>
        </p:xfrm>
        <a:graphic>
          <a:graphicData uri="http://schemas.openxmlformats.org/drawingml/2006/table">
            <a:tbl>
              <a:tblPr>
                <a:tableStyleId>{5C22544A-7EE6-4342-B048-85BDC9FD1C3A}</a:tableStyleId>
              </a:tblPr>
              <a:tblGrid>
                <a:gridCol w="1697355"/>
                <a:gridCol w="1980247"/>
                <a:gridCol w="1980247"/>
              </a:tblGrid>
              <a:tr h="180975">
                <a:tc>
                  <a:txBody>
                    <a:bodyPr wrap="none"/>
                    <a:lstStyle/>
                    <a:p>
                      <a:pPr algn="l"/>
                      <a:r>
                        <a:rPr sz="900" b="1">
                          <a:solidFill>
                            <a:srgbClr val="0B2E4A"/>
                          </a:solidFill>
                          <a:latin typeface="Calibri"/>
                        </a:rPr>
                        <a:t>Product Type</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Simlandi</a:t>
                      </a:r>
                    </a:p>
                  </a:txBody>
                  <a:tcPr marL="85725" marR="38100" marT="19050" marB="19050" anchor="ctr">
                    <a:solidFill>
                      <a:srgbClr val="FFFFFF"/>
                    </a:solidFill>
                  </a:tcPr>
                </a:tc>
                <a:tc>
                  <a:txBody>
                    <a:bodyPr wrap="none"/>
                    <a:lstStyle/>
                    <a:p>
                      <a:pPr algn="l"/>
                      <a:r>
                        <a:rPr sz="900" b="0">
                          <a:solidFill>
                            <a:srgbClr val="2E2E2E"/>
                          </a:solidFill>
                          <a:latin typeface="Calibri"/>
                        </a:rPr>
                        <a:t>4.20</a:t>
                      </a:r>
                    </a:p>
                  </a:txBody>
                  <a:tcPr marL="85725" marR="38100" marT="19050" marB="19050" anchor="ctr">
                    <a:solidFill>
                      <a:srgbClr val="FFFFFF"/>
                    </a:solidFill>
                  </a:tcPr>
                </a:tc>
                <a:tc>
                  <a:txBody>
                    <a:bodyPr wrap="none"/>
                    <a:lstStyle/>
                    <a:p>
                      <a:pPr algn="l"/>
                      <a:r>
                        <a:rPr sz="900" b="0">
                          <a:solidFill>
                            <a:srgbClr val="2E2E2E"/>
                          </a:solidFill>
                          <a:latin typeface="Calibri"/>
                        </a:rPr>
                        <a:t>5.45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Cyltezo</a:t>
                      </a:r>
                    </a:p>
                  </a:txBody>
                  <a:tcPr marL="85725" marR="38100" marT="19050" marB="19050" anchor="ctr">
                    <a:solidFill>
                      <a:srgbClr val="F5F8FA"/>
                    </a:solidFill>
                  </a:tcPr>
                </a:tc>
                <a:tc>
                  <a:txBody>
                    <a:bodyPr wrap="none"/>
                    <a:lstStyle/>
                    <a:p>
                      <a:pPr algn="l"/>
                      <a:r>
                        <a:rPr sz="900" b="0">
                          <a:solidFill>
                            <a:srgbClr val="2E2E2E"/>
                          </a:solidFill>
                          <a:latin typeface="Calibri"/>
                        </a:rPr>
                        <a:t>4.80</a:t>
                      </a:r>
                    </a:p>
                  </a:txBody>
                  <a:tcPr marL="85725" marR="38100" marT="19050" marB="19050" anchor="ctr">
                    <a:solidFill>
                      <a:srgbClr val="F5F8FA"/>
                    </a:solidFill>
                  </a:tcPr>
                </a:tc>
                <a:tc>
                  <a:txBody>
                    <a:bodyPr wrap="none"/>
                    <a:lstStyle/>
                    <a:p>
                      <a:pPr algn="l"/>
                      <a:r>
                        <a:rPr sz="900" b="0">
                          <a:solidFill>
                            <a:srgbClr val="2E2E2E"/>
                          </a:solidFill>
                          <a:latin typeface="Calibri"/>
                        </a:rPr>
                        <a:t>6.15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Hulio</a:t>
                      </a:r>
                    </a:p>
                  </a:txBody>
                  <a:tcPr marL="85725" marR="38100" marT="19050" marB="19050" anchor="ctr">
                    <a:solidFill>
                      <a:srgbClr val="FFFFFF"/>
                    </a:solidFill>
                  </a:tcPr>
                </a:tc>
                <a:tc>
                  <a:txBody>
                    <a:bodyPr wrap="none"/>
                    <a:lstStyle/>
                    <a:p>
                      <a:pPr algn="l"/>
                      <a:r>
                        <a:rPr sz="900" b="0">
                          <a:solidFill>
                            <a:srgbClr val="2E2E2E"/>
                          </a:solidFill>
                          <a:latin typeface="Calibri"/>
                        </a:rPr>
                        <a:t>5.40</a:t>
                      </a:r>
                    </a:p>
                  </a:txBody>
                  <a:tcPr marL="85725" marR="38100" marT="19050" marB="19050" anchor="ctr">
                    <a:solidFill>
                      <a:srgbClr val="FFFFFF"/>
                    </a:solidFill>
                  </a:tcPr>
                </a:tc>
                <a:tc>
                  <a:txBody>
                    <a:bodyPr wrap="none"/>
                    <a:lstStyle/>
                    <a:p>
                      <a:pPr algn="l"/>
                      <a:r>
                        <a:rPr sz="900" b="0">
                          <a:solidFill>
                            <a:srgbClr val="2E2E2E"/>
                          </a:solidFill>
                          <a:latin typeface="Calibri"/>
                        </a:rPr>
                        <a:t>6.85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Other approved adalimumab biosimilars</a:t>
                      </a:r>
                    </a:p>
                  </a:txBody>
                  <a:tcPr marL="85725" marR="38100" marT="19050" marB="19050" anchor="ctr">
                    <a:solidFill>
                      <a:srgbClr val="F5F8FA"/>
                    </a:solidFill>
                  </a:tcPr>
                </a:tc>
                <a:tc>
                  <a:txBody>
                    <a:bodyPr wrap="none"/>
                    <a:lstStyle/>
                    <a:p>
                      <a:pPr algn="l"/>
                      <a:r>
                        <a:rPr sz="900" b="0">
                          <a:solidFill>
                            <a:srgbClr val="2E2E2E"/>
                          </a:solidFill>
                          <a:latin typeface="Calibri"/>
                        </a:rPr>
                        <a:t>6.00</a:t>
                      </a:r>
                    </a:p>
                  </a:txBody>
                  <a:tcPr marL="85725" marR="38100" marT="19050" marB="19050" anchor="ctr">
                    <a:solidFill>
                      <a:srgbClr val="F5F8FA"/>
                    </a:solidFill>
                  </a:tcPr>
                </a:tc>
                <a:tc>
                  <a:txBody>
                    <a:bodyPr wrap="none"/>
                    <a:lstStyle/>
                    <a:p>
                      <a:pPr algn="l"/>
                      <a:r>
                        <a:rPr sz="900" b="0">
                          <a:solidFill>
                            <a:srgbClr val="2E2E2E"/>
                          </a:solidFill>
                          <a:latin typeface="Calibri"/>
                        </a:rPr>
                        <a:t>7.55</a:t>
                      </a:r>
                    </a:p>
                  </a:txBody>
                  <a:tcPr marL="85725" marR="38100" marT="19050" marB="19050" anchor="ctr">
                    <a:solidFill>
                      <a:srgbClr val="F5F8FA"/>
                    </a:solidFill>
                  </a:tcPr>
                </a:tc>
              </a:tr>
            </a:tbl>
          </a:graphicData>
        </a:graphic>
      </p:graphicFrame>
      <p:sp>
        <p:nvSpPr>
          <p:cNvPr id="22" name="TextBox 21"/>
          <p:cNvSpPr txBox="1"/>
          <p:nvPr/>
        </p:nvSpPr>
        <p:spPr>
          <a:xfrm>
            <a:off x="6276975" y="6543675"/>
            <a:ext cx="56959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3" name="Rectangle 2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5" name="Rounded Rectangle 24">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6" name="Rounded Rectangle 25">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Company B Strategy Analysis (5/5)</a:t>
            </a:r>
          </a:p>
        </p:txBody>
      </p:sp>
      <p:sp>
        <p:nvSpPr>
          <p:cNvPr id="10" name="Rounded Rectangle 9"/>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Strategy analysis Company B: strategic priorities and the competitive moves that support them (indicative).</a:t>
            </a:r>
          </a:p>
        </p:txBody>
      </p:sp>
      <p:sp>
        <p:nvSpPr>
          <p:cNvPr id="11" name="Rounded Rectangle 10"/>
          <p:cNvSpPr/>
          <p:nvPr/>
        </p:nvSpPr>
        <p:spPr>
          <a:xfrm>
            <a:off x="14287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MARKET SHARE</a:t>
            </a:r>
          </a:p>
          <a:p>
            <a:pPr algn="ctr"/>
            <a:r>
              <a:rPr sz="1500" b="1">
                <a:solidFill>
                  <a:srgbClr val="0E72AE"/>
                </a:solidFill>
                <a:latin typeface="Calibri"/>
              </a:rPr>
              <a:t>14.4%</a:t>
            </a:r>
          </a:p>
          <a:p>
            <a:pPr algn="ctr"/>
            <a:r>
              <a:rPr sz="750" b="0">
                <a:solidFill>
                  <a:srgbClr val="6C7A89"/>
                </a:solidFill>
                <a:latin typeface="Calibri"/>
              </a:rPr>
              <a:t>of market value</a:t>
            </a:r>
          </a:p>
        </p:txBody>
      </p:sp>
      <p:sp>
        <p:nvSpPr>
          <p:cNvPr id="12" name="Rounded Rectangle 11"/>
          <p:cNvSpPr/>
          <p:nvPr/>
        </p:nvSpPr>
        <p:spPr>
          <a:xfrm>
            <a:off x="254317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WIN RATE</a:t>
            </a:r>
          </a:p>
          <a:p>
            <a:pPr algn="ctr"/>
            <a:r>
              <a:rPr sz="1500" b="1">
                <a:solidFill>
                  <a:srgbClr val="0E72AE"/>
                </a:solidFill>
                <a:latin typeface="Calibri"/>
              </a:rPr>
              <a:t>21%</a:t>
            </a:r>
          </a:p>
          <a:p>
            <a:pPr algn="ctr"/>
            <a:r>
              <a:rPr sz="750" b="0">
                <a:solidFill>
                  <a:srgbClr val="6C7A89"/>
                </a:solidFill>
                <a:latin typeface="Calibri"/>
              </a:rPr>
              <a:t>deals won</a:t>
            </a:r>
          </a:p>
        </p:txBody>
      </p:sp>
      <p:sp>
        <p:nvSpPr>
          <p:cNvPr id="13" name="Rounded Rectangle 12"/>
          <p:cNvSpPr/>
          <p:nvPr/>
        </p:nvSpPr>
        <p:spPr>
          <a:xfrm>
            <a:off x="4953000"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ASP PREMIUM</a:t>
            </a:r>
          </a:p>
          <a:p>
            <a:pPr algn="ctr"/>
            <a:r>
              <a:rPr sz="1500" b="1">
                <a:solidFill>
                  <a:srgbClr val="0E72AE"/>
                </a:solidFill>
                <a:latin typeface="Calibri"/>
              </a:rPr>
              <a:t>+5%</a:t>
            </a:r>
          </a:p>
          <a:p>
            <a:pPr algn="ctr"/>
            <a:r>
              <a:rPr sz="750" b="0">
                <a:solidFill>
                  <a:srgbClr val="6C7A89"/>
                </a:solidFill>
                <a:latin typeface="Calibri"/>
              </a:rPr>
              <a:t>vs peers</a:t>
            </a:r>
          </a:p>
        </p:txBody>
      </p:sp>
      <p:sp>
        <p:nvSpPr>
          <p:cNvPr id="14" name="Rounded Rectangle 13"/>
          <p:cNvSpPr/>
          <p:nvPr/>
        </p:nvSpPr>
        <p:spPr>
          <a:xfrm>
            <a:off x="7353300"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BOOK-TO-BILL</a:t>
            </a:r>
          </a:p>
          <a:p>
            <a:pPr algn="ctr"/>
            <a:r>
              <a:rPr sz="1500" b="1">
                <a:solidFill>
                  <a:srgbClr val="0E72AE"/>
                </a:solidFill>
                <a:latin typeface="Calibri"/>
              </a:rPr>
              <a:t>1.04</a:t>
            </a:r>
          </a:p>
          <a:p>
            <a:pPr algn="ctr"/>
            <a:r>
              <a:rPr sz="750" b="0">
                <a:solidFill>
                  <a:srgbClr val="6C7A89"/>
                </a:solidFill>
                <a:latin typeface="Calibri"/>
              </a:rPr>
              <a:t>order momentum</a:t>
            </a:r>
          </a:p>
        </p:txBody>
      </p:sp>
      <p:sp>
        <p:nvSpPr>
          <p:cNvPr id="15" name="Rounded Rectangle 14"/>
          <p:cNvSpPr/>
          <p:nvPr/>
        </p:nvSpPr>
        <p:spPr>
          <a:xfrm>
            <a:off x="976312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EBITDA MARGIN</a:t>
            </a:r>
          </a:p>
          <a:p>
            <a:pPr algn="ctr"/>
            <a:r>
              <a:rPr sz="1500" b="1">
                <a:solidFill>
                  <a:srgbClr val="0E72AE"/>
                </a:solidFill>
                <a:latin typeface="Calibri"/>
              </a:rPr>
              <a:t>14%</a:t>
            </a:r>
          </a:p>
          <a:p>
            <a:pPr algn="ctr"/>
            <a:r>
              <a:rPr sz="750" b="0">
                <a:solidFill>
                  <a:srgbClr val="6C7A89"/>
                </a:solidFill>
                <a:latin typeface="Calibri"/>
              </a:rPr>
              <a:t>profitability</a:t>
            </a:r>
          </a:p>
        </p:txBody>
      </p:sp>
      <p:sp>
        <p:nvSpPr>
          <p:cNvPr id="16" name="Rounded Rectangle 15"/>
          <p:cNvSpPr/>
          <p:nvPr/>
        </p:nvSpPr>
        <p:spPr>
          <a:xfrm>
            <a:off x="142875" y="1981200"/>
            <a:ext cx="5905500" cy="4686300"/>
          </a:xfrm>
          <a:prstGeom prst="roundRect">
            <a:avLst>
              <a:gd name="adj" fmla="val 16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066925"/>
            <a:ext cx="5638800" cy="209550"/>
          </a:xfrm>
          <a:prstGeom prst="rect">
            <a:avLst/>
          </a:prstGeom>
          <a:noFill/>
        </p:spPr>
        <p:txBody>
          <a:bodyPr wrap="square" lIns="0" rIns="19050" tIns="9525" bIns="9525">
            <a:spAutoFit/>
          </a:bodyPr>
          <a:lstStyle/>
          <a:p>
            <a:pPr algn="l"/>
            <a:r>
              <a:rPr sz="1300" b="1">
                <a:solidFill>
                  <a:srgbClr val="0B2E4A"/>
                </a:solidFill>
                <a:latin typeface="Calibri"/>
              </a:rPr>
              <a:t>Strategic Priorities</a:t>
            </a:r>
          </a:p>
        </p:txBody>
      </p:sp>
      <p:sp>
        <p:nvSpPr>
          <p:cNvPr id="18" name="Rectangle 17"/>
          <p:cNvSpPr/>
          <p:nvPr/>
        </p:nvSpPr>
        <p:spPr>
          <a:xfrm>
            <a:off x="276225" y="2305050"/>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390775"/>
            <a:ext cx="5638800" cy="42005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Defend and extend leadership in 'Ophthalmology' Company B's strongest end-market while scaling the next-best applications.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Convert its ~21% win rate and +5% ASP premium into share gains through value-based selling.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Raise SAM penetration beyond 'South Asia &amp; Pacific' (~80%) into lower-penetration regions.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Sustain a 1.04 book-to-bill with disciplined capacity and channel investment.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Protect margin through corridor-based pricing and cost discipline as input prices move.</a:t>
            </a:r>
          </a:p>
        </p:txBody>
      </p:sp>
      <p:sp>
        <p:nvSpPr>
          <p:cNvPr id="20" name="Rounded Rectangle 19"/>
          <p:cNvSpPr/>
          <p:nvPr/>
        </p:nvSpPr>
        <p:spPr>
          <a:xfrm>
            <a:off x="6200775" y="1981200"/>
            <a:ext cx="5848350" cy="4686300"/>
          </a:xfrm>
          <a:prstGeom prst="roundRect">
            <a:avLst>
              <a:gd name="adj" fmla="val 16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4125" y="2066925"/>
            <a:ext cx="5581650" cy="209550"/>
          </a:xfrm>
          <a:prstGeom prst="rect">
            <a:avLst/>
          </a:prstGeom>
          <a:noFill/>
        </p:spPr>
        <p:txBody>
          <a:bodyPr wrap="square" lIns="0" rIns="19050" tIns="9525" bIns="9525">
            <a:spAutoFit/>
          </a:bodyPr>
          <a:lstStyle/>
          <a:p>
            <a:pPr algn="l"/>
            <a:r>
              <a:rPr sz="1300" b="1">
                <a:solidFill>
                  <a:srgbClr val="0B2E4A"/>
                </a:solidFill>
                <a:latin typeface="Calibri"/>
              </a:rPr>
              <a:t>Competitive Moves</a:t>
            </a:r>
          </a:p>
        </p:txBody>
      </p:sp>
      <p:sp>
        <p:nvSpPr>
          <p:cNvPr id="22" name="Rectangle 21"/>
          <p:cNvSpPr/>
          <p:nvPr/>
        </p:nvSpPr>
        <p:spPr>
          <a:xfrm>
            <a:off x="6334125" y="2305050"/>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4125" y="2390775"/>
            <a:ext cx="5581650" cy="42005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Premiumise the portfolio around 'Simlandi' and adjacent high-value lines to lift blended pricing.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Deepen presence in 'Middle East &amp; Africa' (largest SOM region) and build out under-served geographies.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Invest in R&amp;D, certification and selective M&amp;A to move up the price ladder and widen the moat.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Diversify the customer base and secure supply to de-risk concentration and input-cost shocks.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Sharpen go-to-market a ~90-day sales cycle and ~34% conversion speed share capture.</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Company C Executive Market Snapshot (1/5)</a:t>
            </a:r>
          </a:p>
        </p:txBody>
      </p:sp>
      <p:sp>
        <p:nvSpPr>
          <p:cNvPr id="10" name="Rounded Rectangle 9"/>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Executive snapshot and strategic positioning Company C: market, addressable opportunity and SOM splits by end-market, region and product.</a:t>
            </a:r>
          </a:p>
        </p:txBody>
      </p:sp>
      <p:sp>
        <p:nvSpPr>
          <p:cNvPr id="11" name="Rounded Rectangle 10"/>
          <p:cNvSpPr/>
          <p:nvPr/>
        </p:nvSpPr>
        <p:spPr>
          <a:xfrm>
            <a:off x="14287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TAM (US$ MN)</a:t>
            </a:r>
          </a:p>
          <a:p>
            <a:pPr algn="ctr"/>
            <a:r>
              <a:rPr sz="1500" b="1">
                <a:solidFill>
                  <a:srgbClr val="0E72AE"/>
                </a:solidFill>
                <a:latin typeface="Calibri"/>
              </a:rPr>
              <a:t>10,851</a:t>
            </a:r>
          </a:p>
          <a:p>
            <a:pPr algn="ctr"/>
            <a:r>
              <a:rPr sz="750" b="0">
                <a:solidFill>
                  <a:srgbClr val="6C7A89"/>
                </a:solidFill>
                <a:latin typeface="Calibri"/>
              </a:rPr>
              <a:t>Total market</a:t>
            </a:r>
          </a:p>
        </p:txBody>
      </p:sp>
      <p:sp>
        <p:nvSpPr>
          <p:cNvPr id="12" name="Rounded Rectangle 11"/>
          <p:cNvSpPr/>
          <p:nvPr/>
        </p:nvSpPr>
        <p:spPr>
          <a:xfrm>
            <a:off x="254317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SAM (US$ MN)</a:t>
            </a:r>
          </a:p>
          <a:p>
            <a:pPr algn="ctr"/>
            <a:r>
              <a:rPr sz="1500" b="1">
                <a:solidFill>
                  <a:srgbClr val="0E72AE"/>
                </a:solidFill>
                <a:latin typeface="Calibri"/>
              </a:rPr>
              <a:t>6,294</a:t>
            </a:r>
          </a:p>
          <a:p>
            <a:pPr algn="ctr"/>
            <a:r>
              <a:rPr sz="750" b="0">
                <a:solidFill>
                  <a:srgbClr val="6C7A89"/>
                </a:solidFill>
                <a:latin typeface="Calibri"/>
              </a:rPr>
              <a:t>Addressable</a:t>
            </a:r>
          </a:p>
        </p:txBody>
      </p:sp>
      <p:sp>
        <p:nvSpPr>
          <p:cNvPr id="13" name="Rounded Rectangle 12"/>
          <p:cNvSpPr/>
          <p:nvPr/>
        </p:nvSpPr>
        <p:spPr>
          <a:xfrm>
            <a:off x="4953000"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SOM (US$ MN)</a:t>
            </a:r>
          </a:p>
          <a:p>
            <a:pPr algn="ctr"/>
            <a:r>
              <a:rPr sz="1500" b="1">
                <a:solidFill>
                  <a:srgbClr val="0E72AE"/>
                </a:solidFill>
                <a:latin typeface="Calibri"/>
              </a:rPr>
              <a:t>1,075</a:t>
            </a:r>
          </a:p>
          <a:p>
            <a:pPr algn="ctr"/>
            <a:r>
              <a:rPr sz="750" b="0">
                <a:solidFill>
                  <a:srgbClr val="6C7A89"/>
                </a:solidFill>
                <a:latin typeface="Calibri"/>
              </a:rPr>
              <a:t>17% of SAM</a:t>
            </a:r>
          </a:p>
        </p:txBody>
      </p:sp>
      <p:sp>
        <p:nvSpPr>
          <p:cNvPr id="14" name="Rounded Rectangle 13"/>
          <p:cNvSpPr/>
          <p:nvPr/>
        </p:nvSpPr>
        <p:spPr>
          <a:xfrm>
            <a:off x="7353300"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BOOK-TO-BILL</a:t>
            </a:r>
          </a:p>
          <a:p>
            <a:pPr algn="ctr"/>
            <a:r>
              <a:rPr sz="1500" b="1">
                <a:solidFill>
                  <a:srgbClr val="0E72AE"/>
                </a:solidFill>
                <a:latin typeface="Calibri"/>
              </a:rPr>
              <a:t>1.08</a:t>
            </a:r>
          </a:p>
          <a:p>
            <a:pPr algn="ctr"/>
            <a:r>
              <a:rPr sz="750" b="0">
                <a:solidFill>
                  <a:srgbClr val="6C7A89"/>
                </a:solidFill>
                <a:latin typeface="Calibri"/>
              </a:rPr>
              <a:t>Order momentum</a:t>
            </a:r>
          </a:p>
        </p:txBody>
      </p:sp>
      <p:sp>
        <p:nvSpPr>
          <p:cNvPr id="15" name="Rounded Rectangle 14"/>
          <p:cNvSpPr/>
          <p:nvPr/>
        </p:nvSpPr>
        <p:spPr>
          <a:xfrm>
            <a:off x="976312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EBITDA MARGIN</a:t>
            </a:r>
          </a:p>
          <a:p>
            <a:pPr algn="ctr"/>
            <a:r>
              <a:rPr sz="1500" b="1">
                <a:solidFill>
                  <a:srgbClr val="0E72AE"/>
                </a:solidFill>
                <a:latin typeface="Calibri"/>
              </a:rPr>
              <a:t>15%</a:t>
            </a:r>
          </a:p>
          <a:p>
            <a:pPr algn="ctr"/>
            <a:r>
              <a:rPr sz="750" b="0">
                <a:solidFill>
                  <a:srgbClr val="6C7A89"/>
                </a:solidFill>
                <a:latin typeface="Calibri"/>
              </a:rPr>
              <a:t>Profitability</a:t>
            </a:r>
          </a:p>
        </p:txBody>
      </p:sp>
      <p:sp>
        <p:nvSpPr>
          <p:cNvPr id="16" name="Rounded Rectangle 15"/>
          <p:cNvSpPr/>
          <p:nvPr/>
        </p:nvSpPr>
        <p:spPr>
          <a:xfrm>
            <a:off x="142875" y="1962150"/>
            <a:ext cx="38290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20193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8" name="Chart 17"/>
          <p:cNvGraphicFramePr>
            <a:graphicFrameLocks noGrp="1"/>
          </p:cNvGraphicFramePr>
          <p:nvPr/>
        </p:nvGraphicFramePr>
        <p:xfrm>
          <a:off x="238125" y="2247900"/>
          <a:ext cx="3638550" cy="2381250"/>
        </p:xfrm>
        <a:graphic>
          <a:graphicData uri="http://schemas.openxmlformats.org/drawingml/2006/chart">
            <c:chart xmlns:c="http://schemas.openxmlformats.org/drawingml/2006/chart" r:id="rId3"/>
          </a:graphicData>
        </a:graphic>
      </p:graphicFrame>
      <p:sp>
        <p:nvSpPr>
          <p:cNvPr id="19" name="Rounded Rectangle 18"/>
          <p:cNvSpPr/>
          <p:nvPr/>
        </p:nvSpPr>
        <p:spPr>
          <a:xfrm>
            <a:off x="4124325" y="1962150"/>
            <a:ext cx="38290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19575" y="20193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21" name="Chart 20"/>
          <p:cNvGraphicFramePr>
            <a:graphicFrameLocks noGrp="1"/>
          </p:cNvGraphicFramePr>
          <p:nvPr/>
        </p:nvGraphicFramePr>
        <p:xfrm>
          <a:off x="4219575" y="2247900"/>
          <a:ext cx="3638550" cy="2381250"/>
        </p:xfrm>
        <a:graphic>
          <a:graphicData uri="http://schemas.openxmlformats.org/drawingml/2006/chart">
            <c:chart xmlns:c="http://schemas.openxmlformats.org/drawingml/2006/chart" r:id="rId4"/>
          </a:graphicData>
        </a:graphic>
      </p:graphicFrame>
      <p:sp>
        <p:nvSpPr>
          <p:cNvPr id="22" name="Rounded Rectangle 21"/>
          <p:cNvSpPr/>
          <p:nvPr/>
        </p:nvSpPr>
        <p:spPr>
          <a:xfrm>
            <a:off x="8105775" y="1962150"/>
            <a:ext cx="39433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1025" y="201930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4" name="Chart 23"/>
          <p:cNvGraphicFramePr>
            <a:graphicFrameLocks noGrp="1"/>
          </p:cNvGraphicFramePr>
          <p:nvPr/>
        </p:nvGraphicFramePr>
        <p:xfrm>
          <a:off x="8201025" y="2247900"/>
          <a:ext cx="3752850" cy="2381250"/>
        </p:xfrm>
        <a:graphic>
          <a:graphicData uri="http://schemas.openxmlformats.org/drawingml/2006/chart">
            <c:chart xmlns:c="http://schemas.openxmlformats.org/drawingml/2006/chart" r:id="rId5"/>
          </a:graphicData>
        </a:graphic>
      </p:graphicFrame>
      <p:sp>
        <p:nvSpPr>
          <p:cNvPr id="25" name="Rounded Rectangle 24"/>
          <p:cNvSpPr/>
          <p:nvPr/>
        </p:nvSpPr>
        <p:spPr>
          <a:xfrm>
            <a:off x="142875" y="4800600"/>
            <a:ext cx="11906250" cy="1885950"/>
          </a:xfrm>
          <a:prstGeom prst="roundRect">
            <a:avLst>
              <a:gd name="adj" fmla="val 40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886325"/>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27" name="Rectangle 26"/>
          <p:cNvSpPr/>
          <p:nvPr/>
        </p:nvSpPr>
        <p:spPr>
          <a:xfrm>
            <a:off x="276225" y="51244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210175"/>
            <a:ext cx="11639550" cy="14001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Market Position: Company C captures ~17% of a US$ Mn SAM, with its strongest end-market in 'Ophthalmology'.</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Geographic Balance: 'South Asia &amp; Pacific' is the largest SOM region; 'South Asia &amp; Pacific' shows the highest SAM penetration (~51%).</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Growth Trajectory: a 1.08 book-to-bill and ~15% EBITDA margin point to a path to capture more of the addressable market.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Competitive Edge: ~24% win rate with a +4% ASP premium and 2.5x pipeline coverage.</a:t>
            </a:r>
          </a:p>
        </p:txBody>
      </p:sp>
      <p:sp>
        <p:nvSpPr>
          <p:cNvPr id="29" name="Rectangle 2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1" name="Rounded Rectangle 30">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2" name="Rounded Rectangle 31">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3" name="Rounded Rectangle 32">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Company C Regional Penetration &amp; Win Position (2/5)</a:t>
            </a:r>
          </a:p>
        </p:txBody>
      </p:sp>
      <p:sp>
        <p:nvSpPr>
          <p:cNvPr id="10" name="Rounded Rectangle 9"/>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Regional penetration and competitive positioning Company C: SOM vs SAM by region, win position, TAM/SAM/SOM and go-to-market benchmarks.</a:t>
            </a:r>
          </a:p>
        </p:txBody>
      </p:sp>
      <p:sp>
        <p:nvSpPr>
          <p:cNvPr id="11" name="Rounded Rectangle 10"/>
          <p:cNvSpPr/>
          <p:nvPr/>
        </p:nvSpPr>
        <p:spPr>
          <a:xfrm>
            <a:off x="142875" y="1162050"/>
            <a:ext cx="5905500" cy="2362200"/>
          </a:xfrm>
          <a:prstGeom prst="roundRect">
            <a:avLst>
              <a:gd name="adj" fmla="val 32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21920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3" name="Chart 12"/>
          <p:cNvGraphicFramePr>
            <a:graphicFrameLocks noGrp="1"/>
          </p:cNvGraphicFramePr>
          <p:nvPr/>
        </p:nvGraphicFramePr>
        <p:xfrm>
          <a:off x="238125" y="1447800"/>
          <a:ext cx="5715000" cy="2019300"/>
        </p:xfrm>
        <a:graphic>
          <a:graphicData uri="http://schemas.openxmlformats.org/drawingml/2006/chart">
            <c:chart xmlns:c="http://schemas.openxmlformats.org/drawingml/2006/chart" r:id="rId3"/>
          </a:graphicData>
        </a:graphic>
      </p:graphicFrame>
      <p:sp>
        <p:nvSpPr>
          <p:cNvPr id="14" name="Rounded Rectangle 13"/>
          <p:cNvSpPr/>
          <p:nvPr/>
        </p:nvSpPr>
        <p:spPr>
          <a:xfrm>
            <a:off x="6162675" y="1162050"/>
            <a:ext cx="5886450" cy="2362200"/>
          </a:xfrm>
          <a:prstGeom prst="roundRect">
            <a:avLst>
              <a:gd name="adj" fmla="val 32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7925" y="121920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6" name="Connector 15"/>
          <p:cNvCxnSpPr/>
          <p:nvPr/>
        </p:nvCxnSpPr>
        <p:spPr>
          <a:xfrm>
            <a:off x="6581775" y="3181350"/>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1775" y="1543050"/>
            <a:ext cx="0" cy="163830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67475" y="3200400"/>
            <a:ext cx="228600" cy="114300"/>
          </a:xfrm>
          <a:prstGeom prst="rect">
            <a:avLst/>
          </a:prstGeom>
          <a:noFill/>
        </p:spPr>
        <p:txBody>
          <a:bodyPr wrap="none" lIns="0" rIns="0" tIns="0" bIns="0">
            <a:spAutoFit/>
          </a:bodyPr>
          <a:lstStyle/>
          <a:p>
            <a:pPr algn="ctr"/>
            <a:r>
              <a:rPr sz="700" b="0">
                <a:solidFill>
                  <a:srgbClr val="6C7A89"/>
                </a:solidFill>
                <a:latin typeface="Calibri"/>
              </a:rPr>
              <a:t>0</a:t>
            </a:r>
          </a:p>
        </p:txBody>
      </p:sp>
      <p:sp>
        <p:nvSpPr>
          <p:cNvPr id="19" name="TextBox 18"/>
          <p:cNvSpPr txBox="1"/>
          <p:nvPr/>
        </p:nvSpPr>
        <p:spPr>
          <a:xfrm>
            <a:off x="7969704" y="3200400"/>
            <a:ext cx="228600" cy="114300"/>
          </a:xfrm>
          <a:prstGeom prst="rect">
            <a:avLst/>
          </a:prstGeom>
          <a:noFill/>
        </p:spPr>
        <p:txBody>
          <a:bodyPr wrap="none" lIns="0" rIns="0" tIns="0" bIns="0">
            <a:spAutoFit/>
          </a:bodyPr>
          <a:lstStyle/>
          <a:p>
            <a:pPr algn="ctr"/>
            <a:r>
              <a:rPr sz="700" b="0">
                <a:solidFill>
                  <a:srgbClr val="6C7A89"/>
                </a:solidFill>
                <a:latin typeface="Calibri"/>
              </a:rPr>
              <a:t>1</a:t>
            </a:r>
          </a:p>
        </p:txBody>
      </p:sp>
      <p:sp>
        <p:nvSpPr>
          <p:cNvPr id="20" name="TextBox 19"/>
          <p:cNvSpPr txBox="1"/>
          <p:nvPr/>
        </p:nvSpPr>
        <p:spPr>
          <a:xfrm>
            <a:off x="9471932" y="3200400"/>
            <a:ext cx="228600" cy="114300"/>
          </a:xfrm>
          <a:prstGeom prst="rect">
            <a:avLst/>
          </a:prstGeom>
          <a:noFill/>
        </p:spPr>
        <p:txBody>
          <a:bodyPr wrap="none" lIns="0" rIns="0" tIns="0" bIns="0">
            <a:spAutoFit/>
          </a:bodyPr>
          <a:lstStyle/>
          <a:p>
            <a:pPr algn="ctr"/>
            <a:r>
              <a:rPr sz="700" b="0">
                <a:solidFill>
                  <a:srgbClr val="6C7A89"/>
                </a:solidFill>
                <a:latin typeface="Calibri"/>
              </a:rPr>
              <a:t>2</a:t>
            </a:r>
          </a:p>
        </p:txBody>
      </p:sp>
      <p:sp>
        <p:nvSpPr>
          <p:cNvPr id="21" name="TextBox 20"/>
          <p:cNvSpPr txBox="1"/>
          <p:nvPr/>
        </p:nvSpPr>
        <p:spPr>
          <a:xfrm>
            <a:off x="10974161" y="3200400"/>
            <a:ext cx="228600" cy="114300"/>
          </a:xfrm>
          <a:prstGeom prst="rect">
            <a:avLst/>
          </a:prstGeom>
          <a:noFill/>
        </p:spPr>
        <p:txBody>
          <a:bodyPr wrap="none" lIns="0" rIns="0" tIns="0" bIns="0">
            <a:spAutoFit/>
          </a:bodyPr>
          <a:lstStyle/>
          <a:p>
            <a:pPr algn="ctr"/>
            <a:r>
              <a:rPr sz="700" b="0">
                <a:solidFill>
                  <a:srgbClr val="6C7A89"/>
                </a:solidFill>
                <a:latin typeface="Calibri"/>
              </a:rPr>
              <a:t>3</a:t>
            </a:r>
          </a:p>
        </p:txBody>
      </p:sp>
      <p:sp>
        <p:nvSpPr>
          <p:cNvPr id="22" name="TextBox 21"/>
          <p:cNvSpPr txBox="1"/>
          <p:nvPr/>
        </p:nvSpPr>
        <p:spPr>
          <a:xfrm>
            <a:off x="6581775" y="3314700"/>
            <a:ext cx="5257800" cy="114300"/>
          </a:xfrm>
          <a:prstGeom prst="rect">
            <a:avLst/>
          </a:prstGeom>
          <a:noFill/>
        </p:spPr>
        <p:txBody>
          <a:bodyPr wrap="square" lIns="28575" rIns="28575" tIns="9525" bIns="9525">
            <a:spAutoFit/>
          </a:bodyPr>
          <a:lstStyle/>
          <a:p>
            <a:pPr algn="ctr"/>
            <a:r>
              <a:rPr sz="800" b="0">
                <a:solidFill>
                  <a:srgbClr val="6C7A89"/>
                </a:solidFill>
                <a:latin typeface="Calibri"/>
              </a:rPr>
              <a:t>Win Rate %</a:t>
            </a:r>
          </a:p>
        </p:txBody>
      </p:sp>
      <p:sp>
        <p:nvSpPr>
          <p:cNvPr id="23" name="TextBox 22"/>
          <p:cNvSpPr txBox="1"/>
          <p:nvPr/>
        </p:nvSpPr>
        <p:spPr>
          <a:xfrm rot="16200000">
            <a:off x="6029325" y="2286000"/>
            <a:ext cx="571500" cy="152400"/>
          </a:xfrm>
          <a:prstGeom prst="rect">
            <a:avLst/>
          </a:prstGeom>
          <a:noFill/>
        </p:spPr>
        <p:txBody>
          <a:bodyPr wrap="square" lIns="28575" rIns="28575" tIns="9525" bIns="9525">
            <a:spAutoFit/>
          </a:bodyPr>
          <a:lstStyle/>
          <a:p>
            <a:pPr algn="ctr"/>
            <a:r>
              <a:rPr sz="800" b="0">
                <a:solidFill>
                  <a:srgbClr val="6C7A89"/>
                </a:solidFill>
                <a:latin typeface="Calibri"/>
              </a:rPr>
              <a:t>ASP vs Peer</a:t>
            </a:r>
          </a:p>
        </p:txBody>
      </p:sp>
      <p:sp>
        <p:nvSpPr>
          <p:cNvPr id="24" name="Oval 23"/>
          <p:cNvSpPr/>
          <p:nvPr/>
        </p:nvSpPr>
        <p:spPr>
          <a:xfrm>
            <a:off x="7900089" y="1869758"/>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85839" y="1907858"/>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Company C</a:t>
            </a:r>
          </a:p>
        </p:txBody>
      </p:sp>
      <p:sp>
        <p:nvSpPr>
          <p:cNvPr id="26" name="Oval 25"/>
          <p:cNvSpPr/>
          <p:nvPr/>
        </p:nvSpPr>
        <p:spPr>
          <a:xfrm>
            <a:off x="9283609" y="1800225"/>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26509" y="1866900"/>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Industry Avg.</a:t>
            </a:r>
          </a:p>
        </p:txBody>
      </p:sp>
      <p:sp>
        <p:nvSpPr>
          <p:cNvPr id="28" name="Oval 27"/>
          <p:cNvSpPr/>
          <p:nvPr/>
        </p:nvSpPr>
        <p:spPr>
          <a:xfrm>
            <a:off x="10513967" y="2647950"/>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06100" y="2686050"/>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Market Leader</a:t>
            </a:r>
          </a:p>
        </p:txBody>
      </p:sp>
      <p:sp>
        <p:nvSpPr>
          <p:cNvPr id="30" name="Rounded Rectangle 29"/>
          <p:cNvSpPr/>
          <p:nvPr/>
        </p:nvSpPr>
        <p:spPr>
          <a:xfrm>
            <a:off x="142875" y="3600450"/>
            <a:ext cx="5905500"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5760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32" name="Rectangle 31"/>
          <p:cNvSpPr/>
          <p:nvPr/>
        </p:nvSpPr>
        <p:spPr>
          <a:xfrm>
            <a:off x="238125" y="3886200"/>
            <a:ext cx="5715000" cy="387350"/>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TAM  ·  100%  ·  10,851 US$ Mn</a:t>
            </a:r>
          </a:p>
        </p:txBody>
      </p:sp>
      <p:sp>
        <p:nvSpPr>
          <p:cNvPr id="33" name="Rectangle 32"/>
          <p:cNvSpPr/>
          <p:nvPr/>
        </p:nvSpPr>
        <p:spPr>
          <a:xfrm>
            <a:off x="238125" y="4387850"/>
            <a:ext cx="4400550" cy="387350"/>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SAM  ·  58% of TAM  ·  6,294 US$ Mn</a:t>
            </a:r>
          </a:p>
        </p:txBody>
      </p:sp>
      <p:sp>
        <p:nvSpPr>
          <p:cNvPr id="34" name="Rectangle 33"/>
          <p:cNvSpPr/>
          <p:nvPr/>
        </p:nvSpPr>
        <p:spPr>
          <a:xfrm>
            <a:off x="238125" y="4889500"/>
            <a:ext cx="3086100" cy="387350"/>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SOM  ·  17% of SAM  ·  1,075 US$ Mn</a:t>
            </a:r>
          </a:p>
        </p:txBody>
      </p:sp>
      <p:sp>
        <p:nvSpPr>
          <p:cNvPr id="35" name="Rounded Rectangle 34"/>
          <p:cNvSpPr/>
          <p:nvPr/>
        </p:nvSpPr>
        <p:spPr>
          <a:xfrm>
            <a:off x="6162675" y="3600450"/>
            <a:ext cx="5886450"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57925" y="365760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7" name="Rectangle 36"/>
          <p:cNvSpPr/>
          <p:nvPr/>
        </p:nvSpPr>
        <p:spPr>
          <a:xfrm>
            <a:off x="10391775" y="3905250"/>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06075" y="3876675"/>
            <a:ext cx="571500" cy="133350"/>
          </a:xfrm>
          <a:prstGeom prst="rect">
            <a:avLst/>
          </a:prstGeom>
          <a:noFill/>
        </p:spPr>
        <p:txBody>
          <a:bodyPr wrap="square" lIns="28575" rIns="28575" tIns="9525" bIns="9525">
            <a:spAutoFit/>
          </a:bodyPr>
          <a:lstStyle/>
          <a:p>
            <a:pPr algn="l"/>
            <a:r>
              <a:rPr sz="800" b="0">
                <a:solidFill>
                  <a:srgbClr val="2E2E2E"/>
                </a:solidFill>
                <a:latin typeface="Calibri"/>
              </a:rPr>
              <a:t>Target</a:t>
            </a:r>
          </a:p>
        </p:txBody>
      </p:sp>
      <p:sp>
        <p:nvSpPr>
          <p:cNvPr id="39" name="Rectangle 38"/>
          <p:cNvSpPr/>
          <p:nvPr/>
        </p:nvSpPr>
        <p:spPr>
          <a:xfrm>
            <a:off x="11134725" y="3905250"/>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9025" y="3876675"/>
            <a:ext cx="571500" cy="133350"/>
          </a:xfrm>
          <a:prstGeom prst="rect">
            <a:avLst/>
          </a:prstGeom>
          <a:noFill/>
        </p:spPr>
        <p:txBody>
          <a:bodyPr wrap="square" lIns="28575" rIns="28575" tIns="9525" bIns="9525">
            <a:spAutoFit/>
          </a:bodyPr>
          <a:lstStyle/>
          <a:p>
            <a:pPr algn="l"/>
            <a:r>
              <a:rPr sz="800" b="0">
                <a:solidFill>
                  <a:srgbClr val="2E2E2E"/>
                </a:solidFill>
                <a:latin typeface="Calibri"/>
              </a:rPr>
              <a:t>Actual</a:t>
            </a:r>
          </a:p>
        </p:txBody>
      </p:sp>
      <p:sp>
        <p:nvSpPr>
          <p:cNvPr id="41" name="TextBox 40"/>
          <p:cNvSpPr txBox="1"/>
          <p:nvPr/>
        </p:nvSpPr>
        <p:spPr>
          <a:xfrm>
            <a:off x="6276975" y="413067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Conversion (%)</a:t>
            </a:r>
          </a:p>
        </p:txBody>
      </p:sp>
      <p:sp>
        <p:nvSpPr>
          <p:cNvPr id="42" name="Rectangle 41"/>
          <p:cNvSpPr/>
          <p:nvPr/>
        </p:nvSpPr>
        <p:spPr>
          <a:xfrm>
            <a:off x="7381875" y="4134485"/>
            <a:ext cx="1775460"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254500"/>
            <a:ext cx="3195828"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46722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Sales Cycle (Days)</a:t>
            </a:r>
          </a:p>
        </p:txBody>
      </p:sp>
      <p:sp>
        <p:nvSpPr>
          <p:cNvPr id="45" name="Rectangle 44"/>
          <p:cNvSpPr/>
          <p:nvPr/>
        </p:nvSpPr>
        <p:spPr>
          <a:xfrm>
            <a:off x="7381875" y="4471035"/>
            <a:ext cx="3817239"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591050"/>
            <a:ext cx="2219325"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76975" y="480377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Pipeline Coverage</a:t>
            </a:r>
          </a:p>
        </p:txBody>
      </p:sp>
      <p:sp>
        <p:nvSpPr>
          <p:cNvPr id="48" name="Rectangle 47"/>
          <p:cNvSpPr/>
          <p:nvPr/>
        </p:nvSpPr>
        <p:spPr>
          <a:xfrm>
            <a:off x="7381875" y="4807585"/>
            <a:ext cx="2130552"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81875" y="4927600"/>
            <a:ext cx="3550920"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42875" y="5410200"/>
            <a:ext cx="11906250" cy="1257300"/>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225" y="5495925"/>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2" name="Rectangle 51"/>
          <p:cNvSpPr/>
          <p:nvPr/>
        </p:nvSpPr>
        <p:spPr>
          <a:xfrm>
            <a:off x="276225" y="57340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225" y="5819775"/>
            <a:ext cx="11639550" cy="771525"/>
          </a:xfrm>
          <a:prstGeom prst="rect">
            <a:avLst/>
          </a:prstGeom>
          <a:noFill/>
        </p:spPr>
        <p:txBody>
          <a:bodyPr wrap="square" lIns="0" rIns="19050" tIns="9525" bIns="9525">
            <a:spAutoFit/>
          </a:bodyPr>
          <a:lstStyle/>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Regional Opportunity: 'South Asia &amp; Pacific' shows the highest SAM penetration; lower-penetration regions are the growth headroom.</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Competitive Edge: ~24% win rate with a +4% ASP premium signals value recognition; 2.5x pipeline coverage underpins growth.</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Sales Efficiency: a ~85-day sales cycle and ~38% conversion support faster share capture.</a:t>
            </a:r>
          </a:p>
        </p:txBody>
      </p:sp>
      <p:sp>
        <p:nvSpPr>
          <p:cNvPr id="54" name="Rectangle 5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56" name="Rounded Rectangle 55">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7" name="Rounded Rectangle 56">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8" name="Rounded Rectangle 57">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Company C SWOT Analysis (3/5)</a:t>
            </a:r>
          </a:p>
        </p:txBody>
      </p:sp>
      <p:sp>
        <p:nvSpPr>
          <p:cNvPr id="10" name="TextBox 9"/>
          <p:cNvSpPr txBox="1"/>
          <p:nvPr/>
        </p:nvSpPr>
        <p:spPr>
          <a:xfrm>
            <a:off x="142875" y="857250"/>
            <a:ext cx="11906250" cy="171450"/>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Company C: strengths, weaknesses, opportunities and threats (indicative).</a:t>
            </a:r>
          </a:p>
        </p:txBody>
      </p:sp>
      <p:cxnSp>
        <p:nvCxnSpPr>
          <p:cNvPr id="11" name="Connector 10"/>
          <p:cNvCxnSpPr/>
          <p:nvPr/>
        </p:nvCxnSpPr>
        <p:spPr>
          <a:xfrm>
            <a:off x="3810000" y="3867150"/>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1809750"/>
            <a:ext cx="0" cy="411480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57612" y="38147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29612" y="38147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43612" y="17573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43612" y="58721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24400" y="2495550"/>
            <a:ext cx="1257300" cy="1257300"/>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0300" y="2495550"/>
            <a:ext cx="1257300" cy="1257300"/>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724400" y="3981450"/>
            <a:ext cx="1257300" cy="1257300"/>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0300" y="3981450"/>
            <a:ext cx="1257300" cy="1257300"/>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524500" y="2914650"/>
            <a:ext cx="1143000" cy="838200"/>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24500" y="3981450"/>
            <a:ext cx="1143000" cy="838200"/>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143500" y="3295650"/>
            <a:ext cx="838200" cy="1143000"/>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6210300" y="3295650"/>
            <a:ext cx="838200" cy="1143000"/>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6450" y="3190875"/>
            <a:ext cx="419100" cy="285750"/>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6" name="TextBox 25"/>
          <p:cNvSpPr txBox="1"/>
          <p:nvPr/>
        </p:nvSpPr>
        <p:spPr>
          <a:xfrm>
            <a:off x="5886450" y="4257675"/>
            <a:ext cx="419100" cy="285750"/>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7" name="TextBox 26"/>
          <p:cNvSpPr txBox="1"/>
          <p:nvPr/>
        </p:nvSpPr>
        <p:spPr>
          <a:xfrm>
            <a:off x="5353050" y="3724275"/>
            <a:ext cx="419100" cy="285750"/>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8" name="TextBox 27"/>
          <p:cNvSpPr txBox="1"/>
          <p:nvPr/>
        </p:nvSpPr>
        <p:spPr>
          <a:xfrm>
            <a:off x="6419850" y="3724275"/>
            <a:ext cx="419100" cy="285750"/>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9" name="TextBox 28"/>
          <p:cNvSpPr txBox="1"/>
          <p:nvPr/>
        </p:nvSpPr>
        <p:spPr>
          <a:xfrm>
            <a:off x="190500" y="1162050"/>
            <a:ext cx="3667125" cy="190500"/>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30" name="Rectangle 29"/>
          <p:cNvSpPr/>
          <p:nvPr/>
        </p:nvSpPr>
        <p:spPr>
          <a:xfrm>
            <a:off x="190500" y="1371600"/>
            <a:ext cx="1428750" cy="1905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4788" y="148113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375" y="14478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~24% win rate with a +4% ASP premium clear value recognition.</a:t>
            </a:r>
          </a:p>
        </p:txBody>
      </p:sp>
      <p:sp>
        <p:nvSpPr>
          <p:cNvPr id="33" name="Oval 32"/>
          <p:cNvSpPr/>
          <p:nvPr/>
        </p:nvSpPr>
        <p:spPr>
          <a:xfrm>
            <a:off x="204788" y="195738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375" y="19240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Balanced SOM across regions and end-markets; strongest in 'South Asia &amp; Pacific'.</a:t>
            </a:r>
          </a:p>
        </p:txBody>
      </p:sp>
      <p:sp>
        <p:nvSpPr>
          <p:cNvPr id="35" name="Oval 34"/>
          <p:cNvSpPr/>
          <p:nvPr/>
        </p:nvSpPr>
        <p:spPr>
          <a:xfrm>
            <a:off x="204788" y="243363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3375" y="24003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1.08 book-to-bill and ~15% EBITDA signal healthy momentum.</a:t>
            </a:r>
          </a:p>
        </p:txBody>
      </p:sp>
      <p:sp>
        <p:nvSpPr>
          <p:cNvPr id="37" name="TextBox 36"/>
          <p:cNvSpPr txBox="1"/>
          <p:nvPr/>
        </p:nvSpPr>
        <p:spPr>
          <a:xfrm>
            <a:off x="8334375" y="1162050"/>
            <a:ext cx="3667125" cy="190500"/>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8" name="Rectangle 37"/>
          <p:cNvSpPr/>
          <p:nvPr/>
        </p:nvSpPr>
        <p:spPr>
          <a:xfrm>
            <a:off x="8334375" y="1371600"/>
            <a:ext cx="1428750" cy="190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48662" y="148113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77250" y="14478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~9.9% share leaves a scale gap versus the market leader.</a:t>
            </a:r>
          </a:p>
        </p:txBody>
      </p:sp>
      <p:sp>
        <p:nvSpPr>
          <p:cNvPr id="41" name="Oval 40"/>
          <p:cNvSpPr/>
          <p:nvPr/>
        </p:nvSpPr>
        <p:spPr>
          <a:xfrm>
            <a:off x="8348662" y="195738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7250" y="19240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Uneven SAM penetration strong in 'South Asia &amp; Pacific', thin elsewhere.</a:t>
            </a:r>
          </a:p>
        </p:txBody>
      </p:sp>
      <p:sp>
        <p:nvSpPr>
          <p:cNvPr id="43" name="Oval 42"/>
          <p:cNvSpPr/>
          <p:nvPr/>
        </p:nvSpPr>
        <p:spPr>
          <a:xfrm>
            <a:off x="8348662" y="243363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77250" y="24003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Reliance on a few large accounts/regions raises concentration risk.</a:t>
            </a:r>
          </a:p>
        </p:txBody>
      </p:sp>
      <p:sp>
        <p:nvSpPr>
          <p:cNvPr id="45" name="TextBox 44"/>
          <p:cNvSpPr txBox="1"/>
          <p:nvPr/>
        </p:nvSpPr>
        <p:spPr>
          <a:xfrm>
            <a:off x="190500" y="4038600"/>
            <a:ext cx="3667125" cy="190500"/>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6" name="Rectangle 45"/>
          <p:cNvSpPr/>
          <p:nvPr/>
        </p:nvSpPr>
        <p:spPr>
          <a:xfrm>
            <a:off x="190500" y="4248150"/>
            <a:ext cx="1428750" cy="1905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04788" y="435768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3375" y="43243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Intense competition ~2.5x pipeline needed to convert.</a:t>
            </a:r>
          </a:p>
        </p:txBody>
      </p:sp>
      <p:sp>
        <p:nvSpPr>
          <p:cNvPr id="49" name="Oval 48"/>
          <p:cNvSpPr/>
          <p:nvPr/>
        </p:nvSpPr>
        <p:spPr>
          <a:xfrm>
            <a:off x="204788" y="483393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3375" y="48006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Input-cost inflation and price pressure can squeeze margin.</a:t>
            </a:r>
          </a:p>
        </p:txBody>
      </p:sp>
      <p:sp>
        <p:nvSpPr>
          <p:cNvPr id="51" name="Oval 50"/>
          <p:cNvSpPr/>
          <p:nvPr/>
        </p:nvSpPr>
        <p:spPr>
          <a:xfrm>
            <a:off x="204788" y="531018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3375" y="52768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Tier-1 incumbents and regulation raise barriers and switching friction.</a:t>
            </a:r>
          </a:p>
        </p:txBody>
      </p:sp>
      <p:sp>
        <p:nvSpPr>
          <p:cNvPr id="53" name="TextBox 52"/>
          <p:cNvSpPr txBox="1"/>
          <p:nvPr/>
        </p:nvSpPr>
        <p:spPr>
          <a:xfrm>
            <a:off x="8334375" y="4038600"/>
            <a:ext cx="3667125" cy="190500"/>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4" name="Rectangle 53"/>
          <p:cNvSpPr/>
          <p:nvPr/>
        </p:nvSpPr>
        <p:spPr>
          <a:xfrm>
            <a:off x="8334375" y="4248150"/>
            <a:ext cx="1428750" cy="1905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348662" y="435768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77250" y="43243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Premiumisation headroom in 'Simlandi' and adjacent high-value lines.</a:t>
            </a:r>
          </a:p>
        </p:txBody>
      </p:sp>
      <p:sp>
        <p:nvSpPr>
          <p:cNvPr id="57" name="Oval 56"/>
          <p:cNvSpPr/>
          <p:nvPr/>
        </p:nvSpPr>
        <p:spPr>
          <a:xfrm>
            <a:off x="8348662" y="483393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77250" y="48006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Under-penetrated regions offer share-capture runway.</a:t>
            </a:r>
          </a:p>
        </p:txBody>
      </p:sp>
      <p:sp>
        <p:nvSpPr>
          <p:cNvPr id="59" name="Oval 58"/>
          <p:cNvSpPr/>
          <p:nvPr/>
        </p:nvSpPr>
        <p:spPr>
          <a:xfrm>
            <a:off x="8348662" y="531018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77250" y="52768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Channel shift to online and clinics opens new demand pools.</a:t>
            </a:r>
          </a:p>
        </p:txBody>
      </p:sp>
      <p:sp>
        <p:nvSpPr>
          <p:cNvPr id="61" name="TextBox 60"/>
          <p:cNvSpPr txBox="1"/>
          <p:nvPr/>
        </p:nvSpPr>
        <p:spPr>
          <a:xfrm>
            <a:off x="5334000" y="6553200"/>
            <a:ext cx="6715125" cy="133350"/>
          </a:xfrm>
          <a:prstGeom prst="rect">
            <a:avLst/>
          </a:prstGeom>
          <a:noFill/>
        </p:spPr>
        <p:txBody>
          <a:bodyPr wrap="square" lIns="28575" rIns="28575" tIns="9525" bIns="9525" anchor="ctr">
            <a:spAutoFit/>
          </a:bodyPr>
          <a:lstStyle/>
          <a:p>
            <a:pPr algn="l"/>
            <a:r>
              <a:rPr sz="800" b="0">
                <a:solidFill>
                  <a:srgbClr val="C0392B"/>
                </a:solidFill>
                <a:latin typeface="Calibri"/>
              </a:rPr>
              <a:t>Note: competitor figures are indicative derived from market modelling and expert validation, not company disclosures.</a:t>
            </a:r>
          </a:p>
        </p:txBody>
      </p:sp>
      <p:sp>
        <p:nvSpPr>
          <p:cNvPr id="62" name="Rectangle 6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4" name="Rounded Rectangle 63">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5" name="Rounded Rectangle 64">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6" name="Rounded Rectangle 65">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Company C Key Financials (4/5)</a:t>
            </a:r>
          </a:p>
        </p:txBody>
      </p:sp>
      <p:sp>
        <p:nvSpPr>
          <p:cNvPr id="10" name="Rounded Rectangle 9"/>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Key financials and pricing Company C (all figures indicative, USD Mn unless noted).</a:t>
            </a:r>
          </a:p>
        </p:txBody>
      </p:sp>
      <p:sp>
        <p:nvSpPr>
          <p:cNvPr id="11" name="Rounded Rectangle 10"/>
          <p:cNvSpPr/>
          <p:nvPr/>
        </p:nvSpPr>
        <p:spPr>
          <a:xfrm>
            <a:off x="142875" y="1219200"/>
            <a:ext cx="5905500" cy="2000250"/>
          </a:xfrm>
          <a:prstGeom prst="roundRect">
            <a:avLst>
              <a:gd name="adj" fmla="val 38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27635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C Financial Performance</a:t>
            </a:r>
          </a:p>
        </p:txBody>
      </p:sp>
      <p:graphicFrame>
        <p:nvGraphicFramePr>
          <p:cNvPr id="13" name="Table 12"/>
          <p:cNvGraphicFramePr>
            <a:graphicFrameLocks noGrp="1"/>
          </p:cNvGraphicFramePr>
          <p:nvPr/>
        </p:nvGraphicFramePr>
        <p:xfrm>
          <a:off x="238125" y="1504950"/>
          <a:ext cx="5715000" cy="904875"/>
        </p:xfrm>
        <a:graphic>
          <a:graphicData uri="http://schemas.openxmlformats.org/drawingml/2006/table">
            <a:tbl>
              <a:tblPr>
                <a:tableStyleId>{5C22544A-7EE6-4342-B048-85BDC9FD1C3A}</a:tableStyleId>
              </a:tblPr>
              <a:tblGrid>
                <a:gridCol w="1714500"/>
                <a:gridCol w="800100"/>
                <a:gridCol w="800100"/>
                <a:gridCol w="800100"/>
                <a:gridCol w="800100"/>
                <a:gridCol w="800100"/>
              </a:tblGrid>
              <a:tr h="180975">
                <a:tc>
                  <a:txBody>
                    <a:bodyPr wrap="none"/>
                    <a:lstStyle/>
                    <a:p>
                      <a:pPr algn="l"/>
                      <a:r>
                        <a:rPr sz="900" b="1">
                          <a:solidFill>
                            <a:srgbClr val="0B2E4A"/>
                          </a:solidFill>
                          <a:latin typeface="Calibri"/>
                        </a:rPr>
                        <a:t>USD Mn</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2021</a:t>
                      </a:r>
                    </a:p>
                  </a:txBody>
                  <a:tcPr marL="85725" marR="38100" marT="19050" marB="19050" anchor="ctr">
                    <a:solidFill>
                      <a:srgbClr val="E0E8EF"/>
                    </a:solidFill>
                  </a:tcPr>
                </a:tc>
                <a:tc>
                  <a:txBody>
                    <a:bodyPr wrap="none"/>
                    <a:lstStyle/>
                    <a:p>
                      <a:pPr algn="l"/>
                      <a:r>
                        <a:rPr sz="900" b="1">
                          <a:solidFill>
                            <a:srgbClr val="0B2E4A"/>
                          </a:solidFill>
                          <a:latin typeface="Calibri"/>
                        </a:rPr>
                        <a:t>2022</a:t>
                      </a:r>
                    </a:p>
                  </a:txBody>
                  <a:tcPr marL="85725" marR="38100" marT="19050" marB="19050" anchor="ctr">
                    <a:solidFill>
                      <a:srgbClr val="E0E8EF"/>
                    </a:solidFill>
                  </a:tcPr>
                </a:tc>
                <a:tc>
                  <a:txBody>
                    <a:bodyPr wrap="none"/>
                    <a:lstStyle/>
                    <a:p>
                      <a:pPr algn="l"/>
                      <a:r>
                        <a:rPr sz="900" b="1">
                          <a:solidFill>
                            <a:srgbClr val="0B2E4A"/>
                          </a:solidFill>
                          <a:latin typeface="Calibri"/>
                        </a:rPr>
                        <a:t>2023</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Revenue</a:t>
                      </a:r>
                    </a:p>
                  </a:txBody>
                  <a:tcPr marL="85725" marR="38100" marT="19050" marB="19050" anchor="ctr">
                    <a:solidFill>
                      <a:srgbClr val="FFFFFF"/>
                    </a:solidFill>
                  </a:tcPr>
                </a:tc>
                <a:tc>
                  <a:txBody>
                    <a:bodyPr wrap="none"/>
                    <a:lstStyle/>
                    <a:p>
                      <a:pPr algn="l"/>
                      <a:r>
                        <a:rPr sz="900" b="0">
                          <a:solidFill>
                            <a:srgbClr val="2E2E2E"/>
                          </a:solidFill>
                          <a:latin typeface="Calibri"/>
                        </a:rPr>
                        <a:t>3,270</a:t>
                      </a:r>
                    </a:p>
                  </a:txBody>
                  <a:tcPr marL="85725" marR="38100" marT="19050" marB="19050" anchor="ctr">
                    <a:solidFill>
                      <a:srgbClr val="FFFFFF"/>
                    </a:solidFill>
                  </a:tcPr>
                </a:tc>
                <a:tc>
                  <a:txBody>
                    <a:bodyPr wrap="none"/>
                    <a:lstStyle/>
                    <a:p>
                      <a:pPr algn="l"/>
                      <a:r>
                        <a:rPr sz="900" b="0">
                          <a:solidFill>
                            <a:srgbClr val="2E2E2E"/>
                          </a:solidFill>
                          <a:latin typeface="Calibri"/>
                        </a:rPr>
                        <a:t>3,522</a:t>
                      </a:r>
                    </a:p>
                  </a:txBody>
                  <a:tcPr marL="85725" marR="38100" marT="19050" marB="19050" anchor="ctr">
                    <a:solidFill>
                      <a:srgbClr val="FFFFFF"/>
                    </a:solidFill>
                  </a:tcPr>
                </a:tc>
                <a:tc>
                  <a:txBody>
                    <a:bodyPr wrap="none"/>
                    <a:lstStyle/>
                    <a:p>
                      <a:pPr algn="l"/>
                      <a:r>
                        <a:rPr sz="900" b="0">
                          <a:solidFill>
                            <a:srgbClr val="2E2E2E"/>
                          </a:solidFill>
                          <a:latin typeface="Calibri"/>
                        </a:rPr>
                        <a:t>3,773</a:t>
                      </a:r>
                    </a:p>
                  </a:txBody>
                  <a:tcPr marL="85725" marR="38100" marT="19050" marB="19050" anchor="ctr">
                    <a:solidFill>
                      <a:srgbClr val="FFFFFF"/>
                    </a:solidFill>
                  </a:tcPr>
                </a:tc>
                <a:tc>
                  <a:txBody>
                    <a:bodyPr wrap="none"/>
                    <a:lstStyle/>
                    <a:p>
                      <a:pPr algn="l"/>
                      <a:r>
                        <a:rPr sz="900" b="0">
                          <a:solidFill>
                            <a:srgbClr val="2E2E2E"/>
                          </a:solidFill>
                          <a:latin typeface="Calibri"/>
                        </a:rPr>
                        <a:t>4,025</a:t>
                      </a:r>
                    </a:p>
                  </a:txBody>
                  <a:tcPr marL="85725" marR="38100" marT="19050" marB="19050" anchor="ctr">
                    <a:solidFill>
                      <a:srgbClr val="FFFFFF"/>
                    </a:solidFill>
                  </a:tcPr>
                </a:tc>
                <a:tc>
                  <a:txBody>
                    <a:bodyPr wrap="none"/>
                    <a:lstStyle/>
                    <a:p>
                      <a:pPr algn="l"/>
                      <a:r>
                        <a:rPr sz="900" b="0">
                          <a:solidFill>
                            <a:srgbClr val="2E2E2E"/>
                          </a:solidFill>
                          <a:latin typeface="Calibri"/>
                        </a:rPr>
                        <a:t>4,276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Gross Profit</a:t>
                      </a:r>
                    </a:p>
                  </a:txBody>
                  <a:tcPr marL="85725" marR="38100" marT="19050" marB="19050" anchor="ctr">
                    <a:solidFill>
                      <a:srgbClr val="F5F8FA"/>
                    </a:solidFill>
                  </a:tcPr>
                </a:tc>
                <a:tc>
                  <a:txBody>
                    <a:bodyPr wrap="none"/>
                    <a:lstStyle/>
                    <a:p>
                      <a:pPr algn="l"/>
                      <a:r>
                        <a:rPr sz="900" b="0">
                          <a:solidFill>
                            <a:srgbClr val="2E2E2E"/>
                          </a:solidFill>
                          <a:latin typeface="Calibri"/>
                        </a:rPr>
                        <a:t>1,145</a:t>
                      </a:r>
                    </a:p>
                  </a:txBody>
                  <a:tcPr marL="85725" marR="38100" marT="19050" marB="19050" anchor="ctr">
                    <a:solidFill>
                      <a:srgbClr val="F5F8FA"/>
                    </a:solidFill>
                  </a:tcPr>
                </a:tc>
                <a:tc>
                  <a:txBody>
                    <a:bodyPr wrap="none"/>
                    <a:lstStyle/>
                    <a:p>
                      <a:pPr algn="l"/>
                      <a:r>
                        <a:rPr sz="900" b="0">
                          <a:solidFill>
                            <a:srgbClr val="2E2E2E"/>
                          </a:solidFill>
                          <a:latin typeface="Calibri"/>
                        </a:rPr>
                        <a:t>1,233</a:t>
                      </a:r>
                    </a:p>
                  </a:txBody>
                  <a:tcPr marL="85725" marR="38100" marT="19050" marB="19050" anchor="ctr">
                    <a:solidFill>
                      <a:srgbClr val="F5F8FA"/>
                    </a:solidFill>
                  </a:tcPr>
                </a:tc>
                <a:tc>
                  <a:txBody>
                    <a:bodyPr wrap="none"/>
                    <a:lstStyle/>
                    <a:p>
                      <a:pPr algn="l"/>
                      <a:r>
                        <a:rPr sz="900" b="0">
                          <a:solidFill>
                            <a:srgbClr val="2E2E2E"/>
                          </a:solidFill>
                          <a:latin typeface="Calibri"/>
                        </a:rPr>
                        <a:t>1,321</a:t>
                      </a:r>
                    </a:p>
                  </a:txBody>
                  <a:tcPr marL="85725" marR="38100" marT="19050" marB="19050" anchor="ctr">
                    <a:solidFill>
                      <a:srgbClr val="F5F8FA"/>
                    </a:solidFill>
                  </a:tcPr>
                </a:tc>
                <a:tc>
                  <a:txBody>
                    <a:bodyPr wrap="none"/>
                    <a:lstStyle/>
                    <a:p>
                      <a:pPr algn="l"/>
                      <a:r>
                        <a:rPr sz="900" b="0">
                          <a:solidFill>
                            <a:srgbClr val="2E2E2E"/>
                          </a:solidFill>
                          <a:latin typeface="Calibri"/>
                        </a:rPr>
                        <a:t>1,409</a:t>
                      </a:r>
                    </a:p>
                  </a:txBody>
                  <a:tcPr marL="85725" marR="38100" marT="19050" marB="19050" anchor="ctr">
                    <a:solidFill>
                      <a:srgbClr val="F5F8FA"/>
                    </a:solidFill>
                  </a:tcPr>
                </a:tc>
                <a:tc>
                  <a:txBody>
                    <a:bodyPr wrap="none"/>
                    <a:lstStyle/>
                    <a:p>
                      <a:pPr algn="l"/>
                      <a:r>
                        <a:rPr sz="900" b="0">
                          <a:solidFill>
                            <a:srgbClr val="2E2E2E"/>
                          </a:solidFill>
                          <a:latin typeface="Calibri"/>
                        </a:rPr>
                        <a:t>1,497</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Pre-Tax Profit</a:t>
                      </a:r>
                    </a:p>
                  </a:txBody>
                  <a:tcPr marL="85725" marR="38100" marT="19050" marB="19050" anchor="ctr">
                    <a:solidFill>
                      <a:srgbClr val="FFFFFF"/>
                    </a:solidFill>
                  </a:tcPr>
                </a:tc>
                <a:tc>
                  <a:txBody>
                    <a:bodyPr wrap="none"/>
                    <a:lstStyle/>
                    <a:p>
                      <a:pPr algn="l"/>
                      <a:r>
                        <a:rPr sz="900" b="0">
                          <a:solidFill>
                            <a:srgbClr val="2E2E2E"/>
                          </a:solidFill>
                          <a:latin typeface="Calibri"/>
                        </a:rPr>
                        <a:t>549.4</a:t>
                      </a:r>
                    </a:p>
                  </a:txBody>
                  <a:tcPr marL="85725" marR="38100" marT="19050" marB="19050" anchor="ctr">
                    <a:solidFill>
                      <a:srgbClr val="FFFFFF"/>
                    </a:solidFill>
                  </a:tcPr>
                </a:tc>
                <a:tc>
                  <a:txBody>
                    <a:bodyPr wrap="none"/>
                    <a:lstStyle/>
                    <a:p>
                      <a:pPr algn="l"/>
                      <a:r>
                        <a:rPr sz="900" b="0">
                          <a:solidFill>
                            <a:srgbClr val="2E2E2E"/>
                          </a:solidFill>
                          <a:latin typeface="Calibri"/>
                        </a:rPr>
                        <a:t>591.6</a:t>
                      </a:r>
                    </a:p>
                  </a:txBody>
                  <a:tcPr marL="85725" marR="38100" marT="19050" marB="19050" anchor="ctr">
                    <a:solidFill>
                      <a:srgbClr val="FFFFFF"/>
                    </a:solidFill>
                  </a:tcPr>
                </a:tc>
                <a:tc>
                  <a:txBody>
                    <a:bodyPr wrap="none"/>
                    <a:lstStyle/>
                    <a:p>
                      <a:pPr algn="l"/>
                      <a:r>
                        <a:rPr sz="900" b="0">
                          <a:solidFill>
                            <a:srgbClr val="2E2E2E"/>
                          </a:solidFill>
                          <a:latin typeface="Calibri"/>
                        </a:rPr>
                        <a:t>633.9</a:t>
                      </a:r>
                    </a:p>
                  </a:txBody>
                  <a:tcPr marL="85725" marR="38100" marT="19050" marB="19050" anchor="ctr">
                    <a:solidFill>
                      <a:srgbClr val="FFFFFF"/>
                    </a:solidFill>
                  </a:tcPr>
                </a:tc>
                <a:tc>
                  <a:txBody>
                    <a:bodyPr wrap="none"/>
                    <a:lstStyle/>
                    <a:p>
                      <a:pPr algn="l"/>
                      <a:r>
                        <a:rPr sz="900" b="0">
                          <a:solidFill>
                            <a:srgbClr val="2E2E2E"/>
                          </a:solidFill>
                          <a:latin typeface="Calibri"/>
                        </a:rPr>
                        <a:t>676.2</a:t>
                      </a:r>
                    </a:p>
                  </a:txBody>
                  <a:tcPr marL="85725" marR="38100" marT="19050" marB="19050" anchor="ctr">
                    <a:solidFill>
                      <a:srgbClr val="FFFFFF"/>
                    </a:solidFill>
                  </a:tcPr>
                </a:tc>
                <a:tc>
                  <a:txBody>
                    <a:bodyPr wrap="none"/>
                    <a:lstStyle/>
                    <a:p>
                      <a:pPr algn="l"/>
                      <a:r>
                        <a:rPr sz="900" b="0">
                          <a:solidFill>
                            <a:srgbClr val="2E2E2E"/>
                          </a:solidFill>
                          <a:latin typeface="Calibri"/>
                        </a:rPr>
                        <a:t>718.4</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Profit After Tax / Net Profit</a:t>
                      </a:r>
                    </a:p>
                  </a:txBody>
                  <a:tcPr marL="85725" marR="38100" marT="19050" marB="19050" anchor="ctr">
                    <a:solidFill>
                      <a:srgbClr val="F5F8FA"/>
                    </a:solidFill>
                  </a:tcPr>
                </a:tc>
                <a:tc>
                  <a:txBody>
                    <a:bodyPr wrap="none"/>
                    <a:lstStyle/>
                    <a:p>
                      <a:pPr algn="l"/>
                      <a:r>
                        <a:rPr sz="900" b="0">
                          <a:solidFill>
                            <a:srgbClr val="2E2E2E"/>
                          </a:solidFill>
                          <a:latin typeface="Calibri"/>
                        </a:rPr>
                        <a:t>412.0</a:t>
                      </a:r>
                    </a:p>
                  </a:txBody>
                  <a:tcPr marL="85725" marR="38100" marT="19050" marB="19050" anchor="ctr">
                    <a:solidFill>
                      <a:srgbClr val="F5F8FA"/>
                    </a:solidFill>
                  </a:tcPr>
                </a:tc>
                <a:tc>
                  <a:txBody>
                    <a:bodyPr wrap="none"/>
                    <a:lstStyle/>
                    <a:p>
                      <a:pPr algn="l"/>
                      <a:r>
                        <a:rPr sz="900" b="0">
                          <a:solidFill>
                            <a:srgbClr val="2E2E2E"/>
                          </a:solidFill>
                          <a:latin typeface="Calibri"/>
                        </a:rPr>
                        <a:t>443.7</a:t>
                      </a:r>
                    </a:p>
                  </a:txBody>
                  <a:tcPr marL="85725" marR="38100" marT="19050" marB="19050" anchor="ctr">
                    <a:solidFill>
                      <a:srgbClr val="F5F8FA"/>
                    </a:solidFill>
                  </a:tcPr>
                </a:tc>
                <a:tc>
                  <a:txBody>
                    <a:bodyPr wrap="none"/>
                    <a:lstStyle/>
                    <a:p>
                      <a:pPr algn="l"/>
                      <a:r>
                        <a:rPr sz="900" b="0">
                          <a:solidFill>
                            <a:srgbClr val="2E2E2E"/>
                          </a:solidFill>
                          <a:latin typeface="Calibri"/>
                        </a:rPr>
                        <a:t>475.4</a:t>
                      </a:r>
                    </a:p>
                  </a:txBody>
                  <a:tcPr marL="85725" marR="38100" marT="19050" marB="19050" anchor="ctr">
                    <a:solidFill>
                      <a:srgbClr val="F5F8FA"/>
                    </a:solidFill>
                  </a:tcPr>
                </a:tc>
                <a:tc>
                  <a:txBody>
                    <a:bodyPr wrap="none"/>
                    <a:lstStyle/>
                    <a:p>
                      <a:pPr algn="l"/>
                      <a:r>
                        <a:rPr sz="900" b="0">
                          <a:solidFill>
                            <a:srgbClr val="2E2E2E"/>
                          </a:solidFill>
                          <a:latin typeface="Calibri"/>
                        </a:rPr>
                        <a:t>507.1</a:t>
                      </a:r>
                    </a:p>
                  </a:txBody>
                  <a:tcPr marL="85725" marR="38100" marT="19050" marB="19050" anchor="ctr">
                    <a:solidFill>
                      <a:srgbClr val="F5F8FA"/>
                    </a:solidFill>
                  </a:tcPr>
                </a:tc>
                <a:tc>
                  <a:txBody>
                    <a:bodyPr wrap="none"/>
                    <a:lstStyle/>
                    <a:p>
                      <a:pPr algn="l"/>
                      <a:r>
                        <a:rPr sz="900" b="0">
                          <a:solidFill>
                            <a:srgbClr val="2E2E2E"/>
                          </a:solidFill>
                          <a:latin typeface="Calibri"/>
                        </a:rPr>
                        <a:t>538.8</a:t>
                      </a:r>
                    </a:p>
                  </a:txBody>
                  <a:tcPr marL="85725" marR="38100" marT="19050" marB="19050" anchor="ctr">
                    <a:solidFill>
                      <a:srgbClr val="F5F8FA"/>
                    </a:solidFill>
                  </a:tcPr>
                </a:tc>
              </a:tr>
            </a:tbl>
          </a:graphicData>
        </a:graphic>
      </p:graphicFrame>
      <p:sp>
        <p:nvSpPr>
          <p:cNvPr id="14" name="TextBox 13"/>
          <p:cNvSpPr txBox="1"/>
          <p:nvPr/>
        </p:nvSpPr>
        <p:spPr>
          <a:xfrm>
            <a:off x="219075" y="3076575"/>
            <a:ext cx="575310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3352800"/>
            <a:ext cx="5905500" cy="3333750"/>
          </a:xfrm>
          <a:prstGeom prst="roundRect">
            <a:avLst>
              <a:gd name="adj" fmla="val 22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0995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C Key Ratios</a:t>
            </a:r>
          </a:p>
        </p:txBody>
      </p:sp>
      <p:graphicFrame>
        <p:nvGraphicFramePr>
          <p:cNvPr id="17" name="Table 16"/>
          <p:cNvGraphicFramePr>
            <a:graphicFrameLocks noGrp="1"/>
          </p:cNvGraphicFramePr>
          <p:nvPr/>
        </p:nvGraphicFramePr>
        <p:xfrm>
          <a:off x="238125" y="3638550"/>
          <a:ext cx="5715000" cy="1085850"/>
        </p:xfrm>
        <a:graphic>
          <a:graphicData uri="http://schemas.openxmlformats.org/drawingml/2006/table">
            <a:tbl>
              <a:tblPr>
                <a:tableStyleId>{5C22544A-7EE6-4342-B048-85BDC9FD1C3A}</a:tableStyleId>
              </a:tblPr>
              <a:tblGrid>
                <a:gridCol w="1714500"/>
                <a:gridCol w="800100"/>
                <a:gridCol w="800100"/>
                <a:gridCol w="800100"/>
                <a:gridCol w="800100"/>
                <a:gridCol w="800100"/>
              </a:tblGrid>
              <a:tr h="180975">
                <a:tc>
                  <a:txBody>
                    <a:bodyPr wrap="none"/>
                    <a:lstStyle/>
                    <a:p>
                      <a:pPr algn="l"/>
                      <a:r>
                        <a:rPr sz="900" b="1">
                          <a:solidFill>
                            <a:srgbClr val="0B2E4A"/>
                          </a:solidFill>
                          <a:latin typeface="Calibri"/>
                        </a:rPr>
                        <a:t>Key Ratios</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2021</a:t>
                      </a:r>
                    </a:p>
                  </a:txBody>
                  <a:tcPr marL="85725" marR="38100" marT="19050" marB="19050" anchor="ctr">
                    <a:solidFill>
                      <a:srgbClr val="E0E8EF"/>
                    </a:solidFill>
                  </a:tcPr>
                </a:tc>
                <a:tc>
                  <a:txBody>
                    <a:bodyPr wrap="none"/>
                    <a:lstStyle/>
                    <a:p>
                      <a:pPr algn="l"/>
                      <a:r>
                        <a:rPr sz="900" b="1">
                          <a:solidFill>
                            <a:srgbClr val="0B2E4A"/>
                          </a:solidFill>
                          <a:latin typeface="Calibri"/>
                        </a:rPr>
                        <a:t>2022</a:t>
                      </a:r>
                    </a:p>
                  </a:txBody>
                  <a:tcPr marL="85725" marR="38100" marT="19050" marB="19050" anchor="ctr">
                    <a:solidFill>
                      <a:srgbClr val="E0E8EF"/>
                    </a:solidFill>
                  </a:tcPr>
                </a:tc>
                <a:tc>
                  <a:txBody>
                    <a:bodyPr wrap="none"/>
                    <a:lstStyle/>
                    <a:p>
                      <a:pPr algn="l"/>
                      <a:r>
                        <a:rPr sz="900" b="1">
                          <a:solidFill>
                            <a:srgbClr val="0B2E4A"/>
                          </a:solidFill>
                          <a:latin typeface="Calibri"/>
                        </a:rPr>
                        <a:t>2023</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Gross Margin (%)</a:t>
                      </a:r>
                    </a:p>
                  </a:txBody>
                  <a:tcPr marL="85725" marR="38100" marT="19050" marB="19050" anchor="ctr">
                    <a:solidFill>
                      <a:srgbClr val="FFFFFF"/>
                    </a:solidFill>
                  </a:tcPr>
                </a:tc>
                <a:tc>
                  <a:txBody>
                    <a:bodyPr wrap="none"/>
                    <a:lstStyle/>
                    <a:p>
                      <a:pPr algn="l"/>
                      <a:r>
                        <a:rPr sz="900" b="0">
                          <a:solidFill>
                            <a:srgbClr val="2E2E2E"/>
                          </a:solidFill>
                          <a:latin typeface="Calibri"/>
                        </a:rPr>
                        <a:t>35.0%</a:t>
                      </a:r>
                    </a:p>
                  </a:txBody>
                  <a:tcPr marL="85725" marR="38100" marT="19050" marB="19050" anchor="ctr">
                    <a:solidFill>
                      <a:srgbClr val="FFFFFF"/>
                    </a:solidFill>
                  </a:tcPr>
                </a:tc>
                <a:tc>
                  <a:txBody>
                    <a:bodyPr wrap="none"/>
                    <a:lstStyle/>
                    <a:p>
                      <a:pPr algn="l"/>
                      <a:r>
                        <a:rPr sz="900" b="0">
                          <a:solidFill>
                            <a:srgbClr val="2E2E2E"/>
                          </a:solidFill>
                          <a:latin typeface="Calibri"/>
                        </a:rPr>
                        <a:t>35.0%</a:t>
                      </a:r>
                    </a:p>
                  </a:txBody>
                  <a:tcPr marL="85725" marR="38100" marT="19050" marB="19050" anchor="ctr">
                    <a:solidFill>
                      <a:srgbClr val="FFFFFF"/>
                    </a:solidFill>
                  </a:tcPr>
                </a:tc>
                <a:tc>
                  <a:txBody>
                    <a:bodyPr wrap="none"/>
                    <a:lstStyle/>
                    <a:p>
                      <a:pPr algn="l"/>
                      <a:r>
                        <a:rPr sz="900" b="0">
                          <a:solidFill>
                            <a:srgbClr val="2E2E2E"/>
                          </a:solidFill>
                          <a:latin typeface="Calibri"/>
                        </a:rPr>
                        <a:t>35.0%</a:t>
                      </a:r>
                    </a:p>
                  </a:txBody>
                  <a:tcPr marL="85725" marR="38100" marT="19050" marB="19050" anchor="ctr">
                    <a:solidFill>
                      <a:srgbClr val="FFFFFF"/>
                    </a:solidFill>
                  </a:tcPr>
                </a:tc>
                <a:tc>
                  <a:txBody>
                    <a:bodyPr wrap="none"/>
                    <a:lstStyle/>
                    <a:p>
                      <a:pPr algn="l"/>
                      <a:r>
                        <a:rPr sz="900" b="0">
                          <a:solidFill>
                            <a:srgbClr val="2E2E2E"/>
                          </a:solidFill>
                          <a:latin typeface="Calibri"/>
                        </a:rPr>
                        <a:t>35.0%</a:t>
                      </a:r>
                    </a:p>
                  </a:txBody>
                  <a:tcPr marL="85725" marR="38100" marT="19050" marB="19050" anchor="ctr">
                    <a:solidFill>
                      <a:srgbClr val="FFFFFF"/>
                    </a:solidFill>
                  </a:tcPr>
                </a:tc>
                <a:tc>
                  <a:txBody>
                    <a:bodyPr wrap="none"/>
                    <a:lstStyle/>
                    <a:p>
                      <a:pPr algn="l"/>
                      <a:r>
                        <a:rPr sz="900" b="0">
                          <a:solidFill>
                            <a:srgbClr val="2E2E2E"/>
                          </a:solidFill>
                          <a:latin typeface="Calibri"/>
                        </a:rPr>
                        <a:t>35.0%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Pre-Tax Margin (%)</a:t>
                      </a:r>
                    </a:p>
                  </a:txBody>
                  <a:tcPr marL="85725" marR="38100" marT="19050" marB="19050" anchor="ctr">
                    <a:solidFill>
                      <a:srgbClr val="F5F8FA"/>
                    </a:solidFill>
                  </a:tcPr>
                </a:tc>
                <a:tc>
                  <a:txBody>
                    <a:bodyPr wrap="none"/>
                    <a:lstStyle/>
                    <a:p>
                      <a:pPr algn="l"/>
                      <a:r>
                        <a:rPr sz="900" b="0">
                          <a:solidFill>
                            <a:srgbClr val="2E2E2E"/>
                          </a:solidFill>
                          <a:latin typeface="Calibri"/>
                        </a:rPr>
                        <a:t>16.8%</a:t>
                      </a:r>
                    </a:p>
                  </a:txBody>
                  <a:tcPr marL="85725" marR="38100" marT="19050" marB="19050" anchor="ctr">
                    <a:solidFill>
                      <a:srgbClr val="F5F8FA"/>
                    </a:solidFill>
                  </a:tcPr>
                </a:tc>
                <a:tc>
                  <a:txBody>
                    <a:bodyPr wrap="none"/>
                    <a:lstStyle/>
                    <a:p>
                      <a:pPr algn="l"/>
                      <a:r>
                        <a:rPr sz="900" b="0">
                          <a:solidFill>
                            <a:srgbClr val="2E2E2E"/>
                          </a:solidFill>
                          <a:latin typeface="Calibri"/>
                        </a:rPr>
                        <a:t>16.8%</a:t>
                      </a:r>
                    </a:p>
                  </a:txBody>
                  <a:tcPr marL="85725" marR="38100" marT="19050" marB="19050" anchor="ctr">
                    <a:solidFill>
                      <a:srgbClr val="F5F8FA"/>
                    </a:solidFill>
                  </a:tcPr>
                </a:tc>
                <a:tc>
                  <a:txBody>
                    <a:bodyPr wrap="none"/>
                    <a:lstStyle/>
                    <a:p>
                      <a:pPr algn="l"/>
                      <a:r>
                        <a:rPr sz="900" b="0">
                          <a:solidFill>
                            <a:srgbClr val="2E2E2E"/>
                          </a:solidFill>
                          <a:latin typeface="Calibri"/>
                        </a:rPr>
                        <a:t>16.8%</a:t>
                      </a:r>
                    </a:p>
                  </a:txBody>
                  <a:tcPr marL="85725" marR="38100" marT="19050" marB="19050" anchor="ctr">
                    <a:solidFill>
                      <a:srgbClr val="F5F8FA"/>
                    </a:solidFill>
                  </a:tcPr>
                </a:tc>
                <a:tc>
                  <a:txBody>
                    <a:bodyPr wrap="none"/>
                    <a:lstStyle/>
                    <a:p>
                      <a:pPr algn="l"/>
                      <a:r>
                        <a:rPr sz="900" b="0">
                          <a:solidFill>
                            <a:srgbClr val="2E2E2E"/>
                          </a:solidFill>
                          <a:latin typeface="Calibri"/>
                        </a:rPr>
                        <a:t>16.8%</a:t>
                      </a:r>
                    </a:p>
                  </a:txBody>
                  <a:tcPr marL="85725" marR="38100" marT="19050" marB="19050" anchor="ctr">
                    <a:solidFill>
                      <a:srgbClr val="F5F8FA"/>
                    </a:solidFill>
                  </a:tcPr>
                </a:tc>
                <a:tc>
                  <a:txBody>
                    <a:bodyPr wrap="none"/>
                    <a:lstStyle/>
                    <a:p>
                      <a:pPr algn="l"/>
                      <a:r>
                        <a:rPr sz="900" b="0">
                          <a:solidFill>
                            <a:srgbClr val="2E2E2E"/>
                          </a:solidFill>
                          <a:latin typeface="Calibri"/>
                        </a:rPr>
                        <a:t>16.8%</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Net Margin (%)</a:t>
                      </a:r>
                    </a:p>
                  </a:txBody>
                  <a:tcPr marL="85725" marR="38100" marT="19050" marB="19050" anchor="ctr">
                    <a:solidFill>
                      <a:srgbClr val="FFFFFF"/>
                    </a:solidFill>
                  </a:tcPr>
                </a:tc>
                <a:tc>
                  <a:txBody>
                    <a:bodyPr wrap="none"/>
                    <a:lstStyle/>
                    <a:p>
                      <a:pPr algn="l"/>
                      <a:r>
                        <a:rPr sz="900" b="0">
                          <a:solidFill>
                            <a:srgbClr val="2E2E2E"/>
                          </a:solidFill>
                          <a:latin typeface="Calibri"/>
                        </a:rPr>
                        <a:t>12.6%</a:t>
                      </a:r>
                    </a:p>
                  </a:txBody>
                  <a:tcPr marL="85725" marR="38100" marT="19050" marB="19050" anchor="ctr">
                    <a:solidFill>
                      <a:srgbClr val="FFFFFF"/>
                    </a:solidFill>
                  </a:tcPr>
                </a:tc>
                <a:tc>
                  <a:txBody>
                    <a:bodyPr wrap="none"/>
                    <a:lstStyle/>
                    <a:p>
                      <a:pPr algn="l"/>
                      <a:r>
                        <a:rPr sz="900" b="0">
                          <a:solidFill>
                            <a:srgbClr val="2E2E2E"/>
                          </a:solidFill>
                          <a:latin typeface="Calibri"/>
                        </a:rPr>
                        <a:t>12.6%</a:t>
                      </a:r>
                    </a:p>
                  </a:txBody>
                  <a:tcPr marL="85725" marR="38100" marT="19050" marB="19050" anchor="ctr">
                    <a:solidFill>
                      <a:srgbClr val="FFFFFF"/>
                    </a:solidFill>
                  </a:tcPr>
                </a:tc>
                <a:tc>
                  <a:txBody>
                    <a:bodyPr wrap="none"/>
                    <a:lstStyle/>
                    <a:p>
                      <a:pPr algn="l"/>
                      <a:r>
                        <a:rPr sz="900" b="0">
                          <a:solidFill>
                            <a:srgbClr val="2E2E2E"/>
                          </a:solidFill>
                          <a:latin typeface="Calibri"/>
                        </a:rPr>
                        <a:t>12.6%</a:t>
                      </a:r>
                    </a:p>
                  </a:txBody>
                  <a:tcPr marL="85725" marR="38100" marT="19050" marB="19050" anchor="ctr">
                    <a:solidFill>
                      <a:srgbClr val="FFFFFF"/>
                    </a:solidFill>
                  </a:tcPr>
                </a:tc>
                <a:tc>
                  <a:txBody>
                    <a:bodyPr wrap="none"/>
                    <a:lstStyle/>
                    <a:p>
                      <a:pPr algn="l"/>
                      <a:r>
                        <a:rPr sz="900" b="0">
                          <a:solidFill>
                            <a:srgbClr val="2E2E2E"/>
                          </a:solidFill>
                          <a:latin typeface="Calibri"/>
                        </a:rPr>
                        <a:t>12.6%</a:t>
                      </a:r>
                    </a:p>
                  </a:txBody>
                  <a:tcPr marL="85725" marR="38100" marT="19050" marB="19050" anchor="ctr">
                    <a:solidFill>
                      <a:srgbClr val="FFFFFF"/>
                    </a:solidFill>
                  </a:tcPr>
                </a:tc>
                <a:tc>
                  <a:txBody>
                    <a:bodyPr wrap="none"/>
                    <a:lstStyle/>
                    <a:p>
                      <a:pPr algn="l"/>
                      <a:r>
                        <a:rPr sz="900" b="0">
                          <a:solidFill>
                            <a:srgbClr val="2E2E2E"/>
                          </a:solidFill>
                          <a:latin typeface="Calibri"/>
                        </a:rPr>
                        <a:t>12.6%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Return on Equity (%)</a:t>
                      </a:r>
                    </a:p>
                  </a:txBody>
                  <a:tcPr marL="85725" marR="38100" marT="19050" marB="19050" anchor="ctr">
                    <a:solidFill>
                      <a:srgbClr val="F5F8FA"/>
                    </a:solidFill>
                  </a:tcPr>
                </a:tc>
                <a:tc>
                  <a:txBody>
                    <a:bodyPr wrap="none"/>
                    <a:lstStyle/>
                    <a:p>
                      <a:pPr algn="l"/>
                      <a:r>
                        <a:rPr sz="900" b="0">
                          <a:solidFill>
                            <a:srgbClr val="2E2E2E"/>
                          </a:solidFill>
                          <a:latin typeface="Calibri"/>
                        </a:rPr>
                        <a:t>14.0%</a:t>
                      </a:r>
                    </a:p>
                  </a:txBody>
                  <a:tcPr marL="85725" marR="38100" marT="19050" marB="19050" anchor="ctr">
                    <a:solidFill>
                      <a:srgbClr val="F5F8FA"/>
                    </a:solidFill>
                  </a:tcPr>
                </a:tc>
                <a:tc>
                  <a:txBody>
                    <a:bodyPr wrap="none"/>
                    <a:lstStyle/>
                    <a:p>
                      <a:pPr algn="l"/>
                      <a:r>
                        <a:rPr sz="900" b="0">
                          <a:solidFill>
                            <a:srgbClr val="2E2E2E"/>
                          </a:solidFill>
                          <a:latin typeface="Calibri"/>
                        </a:rPr>
                        <a:t>15.0%</a:t>
                      </a:r>
                    </a:p>
                  </a:txBody>
                  <a:tcPr marL="85725" marR="38100" marT="19050" marB="19050" anchor="ctr">
                    <a:solidFill>
                      <a:srgbClr val="F5F8FA"/>
                    </a:solidFill>
                  </a:tcPr>
                </a:tc>
                <a:tc>
                  <a:txBody>
                    <a:bodyPr wrap="none"/>
                    <a:lstStyle/>
                    <a:p>
                      <a:pPr algn="l"/>
                      <a:r>
                        <a:rPr sz="900" b="0">
                          <a:solidFill>
                            <a:srgbClr val="2E2E2E"/>
                          </a:solidFill>
                          <a:latin typeface="Calibri"/>
                        </a:rPr>
                        <a:t>16.0%</a:t>
                      </a:r>
                    </a:p>
                  </a:txBody>
                  <a:tcPr marL="85725" marR="38100" marT="19050" marB="19050" anchor="ctr">
                    <a:solidFill>
                      <a:srgbClr val="F5F8FA"/>
                    </a:solidFill>
                  </a:tcPr>
                </a:tc>
                <a:tc>
                  <a:txBody>
                    <a:bodyPr wrap="none"/>
                    <a:lstStyle/>
                    <a:p>
                      <a:pPr algn="l"/>
                      <a:r>
                        <a:rPr sz="900" b="0">
                          <a:solidFill>
                            <a:srgbClr val="2E2E2E"/>
                          </a:solidFill>
                          <a:latin typeface="Calibri"/>
                        </a:rPr>
                        <a:t>17.0%</a:t>
                      </a:r>
                    </a:p>
                  </a:txBody>
                  <a:tcPr marL="85725" marR="38100" marT="19050" marB="19050" anchor="ctr">
                    <a:solidFill>
                      <a:srgbClr val="F5F8FA"/>
                    </a:solidFill>
                  </a:tcPr>
                </a:tc>
                <a:tc>
                  <a:txBody>
                    <a:bodyPr wrap="none"/>
                    <a:lstStyle/>
                    <a:p>
                      <a:pPr algn="l"/>
                      <a:r>
                        <a:rPr sz="900" b="0">
                          <a:solidFill>
                            <a:srgbClr val="2E2E2E"/>
                          </a:solidFill>
                          <a:latin typeface="Calibri"/>
                        </a:rPr>
                        <a:t>18.0%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Return on Assets (%)</a:t>
                      </a:r>
                    </a:p>
                  </a:txBody>
                  <a:tcPr marL="85725" marR="38100" marT="19050" marB="19050" anchor="ctr">
                    <a:solidFill>
                      <a:srgbClr val="FFFFFF"/>
                    </a:solidFill>
                  </a:tcPr>
                </a:tc>
                <a:tc>
                  <a:txBody>
                    <a:bodyPr wrap="none"/>
                    <a:lstStyle/>
                    <a:p>
                      <a:pPr algn="l"/>
                      <a:r>
                        <a:rPr sz="900" b="0">
                          <a:solidFill>
                            <a:srgbClr val="2E2E2E"/>
                          </a:solidFill>
                          <a:latin typeface="Calibri"/>
                        </a:rPr>
                        <a:t>8.0%</a:t>
                      </a:r>
                    </a:p>
                  </a:txBody>
                  <a:tcPr marL="85725" marR="38100" marT="19050" marB="19050" anchor="ctr">
                    <a:solidFill>
                      <a:srgbClr val="FFFFFF"/>
                    </a:solidFill>
                  </a:tcPr>
                </a:tc>
                <a:tc>
                  <a:txBody>
                    <a:bodyPr wrap="none"/>
                    <a:lstStyle/>
                    <a:p>
                      <a:pPr algn="l"/>
                      <a:r>
                        <a:rPr sz="900" b="0">
                          <a:solidFill>
                            <a:srgbClr val="2E2E2E"/>
                          </a:solidFill>
                          <a:latin typeface="Calibri"/>
                        </a:rPr>
                        <a:t>8.4%</a:t>
                      </a:r>
                    </a:p>
                  </a:txBody>
                  <a:tcPr marL="85725" marR="38100" marT="19050" marB="19050" anchor="ctr">
                    <a:solidFill>
                      <a:srgbClr val="FFFFFF"/>
                    </a:solidFill>
                  </a:tcPr>
                </a:tc>
                <a:tc>
                  <a:txBody>
                    <a:bodyPr wrap="none"/>
                    <a:lstStyle/>
                    <a:p>
                      <a:pPr algn="l"/>
                      <a:r>
                        <a:rPr sz="900" b="0">
                          <a:solidFill>
                            <a:srgbClr val="2E2E2E"/>
                          </a:solidFill>
                          <a:latin typeface="Calibri"/>
                        </a:rPr>
                        <a:t>8.8%</a:t>
                      </a:r>
                    </a:p>
                  </a:txBody>
                  <a:tcPr marL="85725" marR="38100" marT="19050" marB="19050" anchor="ctr">
                    <a:solidFill>
                      <a:srgbClr val="FFFFFF"/>
                    </a:solidFill>
                  </a:tcPr>
                </a:tc>
                <a:tc>
                  <a:txBody>
                    <a:bodyPr wrap="none"/>
                    <a:lstStyle/>
                    <a:p>
                      <a:pPr algn="l"/>
                      <a:r>
                        <a:rPr sz="900" b="0">
                          <a:solidFill>
                            <a:srgbClr val="2E2E2E"/>
                          </a:solidFill>
                          <a:latin typeface="Calibri"/>
                        </a:rPr>
                        <a:t>9.2%</a:t>
                      </a:r>
                    </a:p>
                  </a:txBody>
                  <a:tcPr marL="85725" marR="38100" marT="19050" marB="19050" anchor="ctr">
                    <a:solidFill>
                      <a:srgbClr val="FFFFFF"/>
                    </a:solidFill>
                  </a:tcPr>
                </a:tc>
                <a:tc>
                  <a:txBody>
                    <a:bodyPr wrap="none"/>
                    <a:lstStyle/>
                    <a:p>
                      <a:pPr algn="l"/>
                      <a:r>
                        <a:rPr sz="900" b="0">
                          <a:solidFill>
                            <a:srgbClr val="2E2E2E"/>
                          </a:solidFill>
                          <a:latin typeface="Calibri"/>
                        </a:rPr>
                        <a:t>9.6%</a:t>
                      </a:r>
                    </a:p>
                  </a:txBody>
                  <a:tcPr marL="85725" marR="38100" marT="19050" marB="19050" anchor="ctr">
                    <a:solidFill>
                      <a:srgbClr val="FFFFFF"/>
                    </a:solidFill>
                  </a:tcPr>
                </a:tc>
              </a:tr>
            </a:tbl>
          </a:graphicData>
        </a:graphic>
      </p:graphicFrame>
      <p:sp>
        <p:nvSpPr>
          <p:cNvPr id="18" name="TextBox 17"/>
          <p:cNvSpPr txBox="1"/>
          <p:nvPr/>
        </p:nvSpPr>
        <p:spPr>
          <a:xfrm>
            <a:off x="219075" y="6543675"/>
            <a:ext cx="5753100"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ounded Rectangle 18"/>
          <p:cNvSpPr/>
          <p:nvPr/>
        </p:nvSpPr>
        <p:spPr>
          <a:xfrm>
            <a:off x="6200775" y="1219200"/>
            <a:ext cx="5848350" cy="5467350"/>
          </a:xfrm>
          <a:prstGeom prst="roundRect">
            <a:avLst>
              <a:gd name="adj" fmla="val 13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6025" y="1276350"/>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C Pricing Analysis (US$/unit)</a:t>
            </a:r>
          </a:p>
        </p:txBody>
      </p:sp>
      <p:graphicFrame>
        <p:nvGraphicFramePr>
          <p:cNvPr id="21" name="Table 20"/>
          <p:cNvGraphicFramePr>
            <a:graphicFrameLocks noGrp="1"/>
          </p:cNvGraphicFramePr>
          <p:nvPr/>
        </p:nvGraphicFramePr>
        <p:xfrm>
          <a:off x="6296025" y="1504950"/>
          <a:ext cx="5657849" cy="904875"/>
        </p:xfrm>
        <a:graphic>
          <a:graphicData uri="http://schemas.openxmlformats.org/drawingml/2006/table">
            <a:tbl>
              <a:tblPr>
                <a:tableStyleId>{5C22544A-7EE6-4342-B048-85BDC9FD1C3A}</a:tableStyleId>
              </a:tblPr>
              <a:tblGrid>
                <a:gridCol w="1697355"/>
                <a:gridCol w="1980247"/>
                <a:gridCol w="1980247"/>
              </a:tblGrid>
              <a:tr h="180975">
                <a:tc>
                  <a:txBody>
                    <a:bodyPr wrap="none"/>
                    <a:lstStyle/>
                    <a:p>
                      <a:pPr algn="l"/>
                      <a:r>
                        <a:rPr sz="900" b="1">
                          <a:solidFill>
                            <a:srgbClr val="0B2E4A"/>
                          </a:solidFill>
                          <a:latin typeface="Calibri"/>
                        </a:rPr>
                        <a:t>Product Type</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Simlandi</a:t>
                      </a:r>
                    </a:p>
                  </a:txBody>
                  <a:tcPr marL="85725" marR="38100" marT="19050" marB="19050" anchor="ctr">
                    <a:solidFill>
                      <a:srgbClr val="FFFFFF"/>
                    </a:solidFill>
                  </a:tcPr>
                </a:tc>
                <a:tc>
                  <a:txBody>
                    <a:bodyPr wrap="none"/>
                    <a:lstStyle/>
                    <a:p>
                      <a:pPr algn="l"/>
                      <a:r>
                        <a:rPr sz="900" b="0">
                          <a:solidFill>
                            <a:srgbClr val="2E2E2E"/>
                          </a:solidFill>
                          <a:latin typeface="Calibri"/>
                        </a:rPr>
                        <a:t>4.40</a:t>
                      </a:r>
                    </a:p>
                  </a:txBody>
                  <a:tcPr marL="85725" marR="38100" marT="19050" marB="19050" anchor="ctr">
                    <a:solidFill>
                      <a:srgbClr val="FFFFFF"/>
                    </a:solidFill>
                  </a:tcPr>
                </a:tc>
                <a:tc>
                  <a:txBody>
                    <a:bodyPr wrap="none"/>
                    <a:lstStyle/>
                    <a:p>
                      <a:pPr algn="l"/>
                      <a:r>
                        <a:rPr sz="900" b="0">
                          <a:solidFill>
                            <a:srgbClr val="2E2E2E"/>
                          </a:solidFill>
                          <a:latin typeface="Calibri"/>
                        </a:rPr>
                        <a:t>5.70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Cyltezo</a:t>
                      </a:r>
                    </a:p>
                  </a:txBody>
                  <a:tcPr marL="85725" marR="38100" marT="19050" marB="19050" anchor="ctr">
                    <a:solidFill>
                      <a:srgbClr val="F5F8FA"/>
                    </a:solidFill>
                  </a:tcPr>
                </a:tc>
                <a:tc>
                  <a:txBody>
                    <a:bodyPr wrap="none"/>
                    <a:lstStyle/>
                    <a:p>
                      <a:pPr algn="l"/>
                      <a:r>
                        <a:rPr sz="900" b="0">
                          <a:solidFill>
                            <a:srgbClr val="2E2E2E"/>
                          </a:solidFill>
                          <a:latin typeface="Calibri"/>
                        </a:rPr>
                        <a:t>5.00</a:t>
                      </a:r>
                    </a:p>
                  </a:txBody>
                  <a:tcPr marL="85725" marR="38100" marT="19050" marB="19050" anchor="ctr">
                    <a:solidFill>
                      <a:srgbClr val="F5F8FA"/>
                    </a:solidFill>
                  </a:tcPr>
                </a:tc>
                <a:tc>
                  <a:txBody>
                    <a:bodyPr wrap="none"/>
                    <a:lstStyle/>
                    <a:p>
                      <a:pPr algn="l"/>
                      <a:r>
                        <a:rPr sz="900" b="0">
                          <a:solidFill>
                            <a:srgbClr val="2E2E2E"/>
                          </a:solidFill>
                          <a:latin typeface="Calibri"/>
                        </a:rPr>
                        <a:t>6.40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Hulio</a:t>
                      </a:r>
                    </a:p>
                  </a:txBody>
                  <a:tcPr marL="85725" marR="38100" marT="19050" marB="19050" anchor="ctr">
                    <a:solidFill>
                      <a:srgbClr val="FFFFFF"/>
                    </a:solidFill>
                  </a:tcPr>
                </a:tc>
                <a:tc>
                  <a:txBody>
                    <a:bodyPr wrap="none"/>
                    <a:lstStyle/>
                    <a:p>
                      <a:pPr algn="l"/>
                      <a:r>
                        <a:rPr sz="900" b="0">
                          <a:solidFill>
                            <a:srgbClr val="2E2E2E"/>
                          </a:solidFill>
                          <a:latin typeface="Calibri"/>
                        </a:rPr>
                        <a:t>5.60</a:t>
                      </a:r>
                    </a:p>
                  </a:txBody>
                  <a:tcPr marL="85725" marR="38100" marT="19050" marB="19050" anchor="ctr">
                    <a:solidFill>
                      <a:srgbClr val="FFFFFF"/>
                    </a:solidFill>
                  </a:tcPr>
                </a:tc>
                <a:tc>
                  <a:txBody>
                    <a:bodyPr wrap="none"/>
                    <a:lstStyle/>
                    <a:p>
                      <a:pPr algn="l"/>
                      <a:r>
                        <a:rPr sz="900" b="0">
                          <a:solidFill>
                            <a:srgbClr val="2E2E2E"/>
                          </a:solidFill>
                          <a:latin typeface="Calibri"/>
                        </a:rPr>
                        <a:t>7.10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Other approved adalimumab biosimilars</a:t>
                      </a:r>
                    </a:p>
                  </a:txBody>
                  <a:tcPr marL="85725" marR="38100" marT="19050" marB="19050" anchor="ctr">
                    <a:solidFill>
                      <a:srgbClr val="F5F8FA"/>
                    </a:solidFill>
                  </a:tcPr>
                </a:tc>
                <a:tc>
                  <a:txBody>
                    <a:bodyPr wrap="none"/>
                    <a:lstStyle/>
                    <a:p>
                      <a:pPr algn="l"/>
                      <a:r>
                        <a:rPr sz="900" b="0">
                          <a:solidFill>
                            <a:srgbClr val="2E2E2E"/>
                          </a:solidFill>
                          <a:latin typeface="Calibri"/>
                        </a:rPr>
                        <a:t>6.20</a:t>
                      </a:r>
                    </a:p>
                  </a:txBody>
                  <a:tcPr marL="85725" marR="38100" marT="19050" marB="19050" anchor="ctr">
                    <a:solidFill>
                      <a:srgbClr val="F5F8FA"/>
                    </a:solidFill>
                  </a:tcPr>
                </a:tc>
                <a:tc>
                  <a:txBody>
                    <a:bodyPr wrap="none"/>
                    <a:lstStyle/>
                    <a:p>
                      <a:pPr algn="l"/>
                      <a:r>
                        <a:rPr sz="900" b="0">
                          <a:solidFill>
                            <a:srgbClr val="2E2E2E"/>
                          </a:solidFill>
                          <a:latin typeface="Calibri"/>
                        </a:rPr>
                        <a:t>7.80</a:t>
                      </a:r>
                    </a:p>
                  </a:txBody>
                  <a:tcPr marL="85725" marR="38100" marT="19050" marB="19050" anchor="ctr">
                    <a:solidFill>
                      <a:srgbClr val="F5F8FA"/>
                    </a:solidFill>
                  </a:tcPr>
                </a:tc>
              </a:tr>
            </a:tbl>
          </a:graphicData>
        </a:graphic>
      </p:graphicFrame>
      <p:sp>
        <p:nvSpPr>
          <p:cNvPr id="22" name="TextBox 21"/>
          <p:cNvSpPr txBox="1"/>
          <p:nvPr/>
        </p:nvSpPr>
        <p:spPr>
          <a:xfrm>
            <a:off x="6276975" y="6543675"/>
            <a:ext cx="56959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3" name="Rectangle 2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5" name="Rounded Rectangle 24">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6" name="Rounded Rectangle 25">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228600"/>
            <a:ext cx="7829550" cy="457200"/>
          </a:xfrm>
          <a:prstGeom prst="rect">
            <a:avLst/>
          </a:prstGeom>
          <a:noFill/>
        </p:spPr>
        <p:txBody>
          <a:bodyPr wrap="square" lIns="28575" rIns="28575" tIns="9525" bIns="9525" anchor="ctr">
            <a:spAutoFit/>
          </a:bodyPr>
          <a:lstStyle/>
          <a:p>
            <a:pPr algn="l"/>
            <a:r>
              <a:rPr sz="1650" b="1">
                <a:solidFill>
                  <a:srgbClr val="000000"/>
                </a:solidFill>
                <a:latin typeface="Calibri"/>
              </a:rPr>
              <a:t>Company C Strategy Analysis (5/5)</a:t>
            </a:r>
          </a:p>
        </p:txBody>
      </p:sp>
      <p:sp>
        <p:nvSpPr>
          <p:cNvPr id="10" name="Rounded Rectangle 9"/>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Strategy analysis Company C: strategic priorities and the competitive moves that support them (indicative).</a:t>
            </a:r>
          </a:p>
        </p:txBody>
      </p:sp>
      <p:sp>
        <p:nvSpPr>
          <p:cNvPr id="11" name="Rounded Rectangle 10"/>
          <p:cNvSpPr/>
          <p:nvPr/>
        </p:nvSpPr>
        <p:spPr>
          <a:xfrm>
            <a:off x="14287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MARKET SHARE</a:t>
            </a:r>
          </a:p>
          <a:p>
            <a:pPr algn="ctr"/>
            <a:r>
              <a:rPr sz="1500" b="1">
                <a:solidFill>
                  <a:srgbClr val="0E72AE"/>
                </a:solidFill>
                <a:latin typeface="Calibri"/>
              </a:rPr>
              <a:t>9.9%</a:t>
            </a:r>
          </a:p>
          <a:p>
            <a:pPr algn="ctr"/>
            <a:r>
              <a:rPr sz="750" b="0">
                <a:solidFill>
                  <a:srgbClr val="6C7A89"/>
                </a:solidFill>
                <a:latin typeface="Calibri"/>
              </a:rPr>
              <a:t>of market value</a:t>
            </a:r>
          </a:p>
        </p:txBody>
      </p:sp>
      <p:sp>
        <p:nvSpPr>
          <p:cNvPr id="12" name="Rounded Rectangle 11"/>
          <p:cNvSpPr/>
          <p:nvPr/>
        </p:nvSpPr>
        <p:spPr>
          <a:xfrm>
            <a:off x="254317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WIN RATE</a:t>
            </a:r>
          </a:p>
          <a:p>
            <a:pPr algn="ctr"/>
            <a:r>
              <a:rPr sz="1500" b="1">
                <a:solidFill>
                  <a:srgbClr val="0E72AE"/>
                </a:solidFill>
                <a:latin typeface="Calibri"/>
              </a:rPr>
              <a:t>24%</a:t>
            </a:r>
          </a:p>
          <a:p>
            <a:pPr algn="ctr"/>
            <a:r>
              <a:rPr sz="750" b="0">
                <a:solidFill>
                  <a:srgbClr val="6C7A89"/>
                </a:solidFill>
                <a:latin typeface="Calibri"/>
              </a:rPr>
              <a:t>deals won</a:t>
            </a:r>
          </a:p>
        </p:txBody>
      </p:sp>
      <p:sp>
        <p:nvSpPr>
          <p:cNvPr id="13" name="Rounded Rectangle 12"/>
          <p:cNvSpPr/>
          <p:nvPr/>
        </p:nvSpPr>
        <p:spPr>
          <a:xfrm>
            <a:off x="4953000"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ASP PREMIUM</a:t>
            </a:r>
          </a:p>
          <a:p>
            <a:pPr algn="ctr"/>
            <a:r>
              <a:rPr sz="1500" b="1">
                <a:solidFill>
                  <a:srgbClr val="0E72AE"/>
                </a:solidFill>
                <a:latin typeface="Calibri"/>
              </a:rPr>
              <a:t>+4%</a:t>
            </a:r>
          </a:p>
          <a:p>
            <a:pPr algn="ctr"/>
            <a:r>
              <a:rPr sz="750" b="0">
                <a:solidFill>
                  <a:srgbClr val="6C7A89"/>
                </a:solidFill>
                <a:latin typeface="Calibri"/>
              </a:rPr>
              <a:t>vs peers</a:t>
            </a:r>
          </a:p>
        </p:txBody>
      </p:sp>
      <p:sp>
        <p:nvSpPr>
          <p:cNvPr id="14" name="Rounded Rectangle 13"/>
          <p:cNvSpPr/>
          <p:nvPr/>
        </p:nvSpPr>
        <p:spPr>
          <a:xfrm>
            <a:off x="7353300"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BOOK-TO-BILL</a:t>
            </a:r>
          </a:p>
          <a:p>
            <a:pPr algn="ctr"/>
            <a:r>
              <a:rPr sz="1500" b="1">
                <a:solidFill>
                  <a:srgbClr val="0E72AE"/>
                </a:solidFill>
                <a:latin typeface="Calibri"/>
              </a:rPr>
              <a:t>1.08</a:t>
            </a:r>
          </a:p>
          <a:p>
            <a:pPr algn="ctr"/>
            <a:r>
              <a:rPr sz="750" b="0">
                <a:solidFill>
                  <a:srgbClr val="6C7A89"/>
                </a:solidFill>
                <a:latin typeface="Calibri"/>
              </a:rPr>
              <a:t>order momentum</a:t>
            </a:r>
          </a:p>
        </p:txBody>
      </p:sp>
      <p:sp>
        <p:nvSpPr>
          <p:cNvPr id="15" name="Rounded Rectangle 14"/>
          <p:cNvSpPr/>
          <p:nvPr/>
        </p:nvSpPr>
        <p:spPr>
          <a:xfrm>
            <a:off x="976312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EBITDA MARGIN</a:t>
            </a:r>
          </a:p>
          <a:p>
            <a:pPr algn="ctr"/>
            <a:r>
              <a:rPr sz="1500" b="1">
                <a:solidFill>
                  <a:srgbClr val="0E72AE"/>
                </a:solidFill>
                <a:latin typeface="Calibri"/>
              </a:rPr>
              <a:t>15%</a:t>
            </a:r>
          </a:p>
          <a:p>
            <a:pPr algn="ctr"/>
            <a:r>
              <a:rPr sz="750" b="0">
                <a:solidFill>
                  <a:srgbClr val="6C7A89"/>
                </a:solidFill>
                <a:latin typeface="Calibri"/>
              </a:rPr>
              <a:t>profitability</a:t>
            </a:r>
          </a:p>
        </p:txBody>
      </p:sp>
      <p:sp>
        <p:nvSpPr>
          <p:cNvPr id="16" name="Rounded Rectangle 15"/>
          <p:cNvSpPr/>
          <p:nvPr/>
        </p:nvSpPr>
        <p:spPr>
          <a:xfrm>
            <a:off x="142875" y="1981200"/>
            <a:ext cx="5905500" cy="4686300"/>
          </a:xfrm>
          <a:prstGeom prst="roundRect">
            <a:avLst>
              <a:gd name="adj" fmla="val 16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066925"/>
            <a:ext cx="5638800" cy="209550"/>
          </a:xfrm>
          <a:prstGeom prst="rect">
            <a:avLst/>
          </a:prstGeom>
          <a:noFill/>
        </p:spPr>
        <p:txBody>
          <a:bodyPr wrap="square" lIns="0" rIns="19050" tIns="9525" bIns="9525">
            <a:spAutoFit/>
          </a:bodyPr>
          <a:lstStyle/>
          <a:p>
            <a:pPr algn="l"/>
            <a:r>
              <a:rPr sz="1300" b="1">
                <a:solidFill>
                  <a:srgbClr val="0B2E4A"/>
                </a:solidFill>
                <a:latin typeface="Calibri"/>
              </a:rPr>
              <a:t>Strategic Priorities</a:t>
            </a:r>
          </a:p>
        </p:txBody>
      </p:sp>
      <p:sp>
        <p:nvSpPr>
          <p:cNvPr id="18" name="Rectangle 17"/>
          <p:cNvSpPr/>
          <p:nvPr/>
        </p:nvSpPr>
        <p:spPr>
          <a:xfrm>
            <a:off x="276225" y="2305050"/>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390775"/>
            <a:ext cx="5638800" cy="42005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Defend and extend leadership in 'Ophthalmology' Company C's strongest end-market while scaling the next-best applications.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Convert its ~24% win rate and +4% ASP premium into share gains through value-based selling.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Raise SAM penetration beyond 'South Asia &amp; Pacific' (~51%) into lower-penetration regions.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Sustain a 1.08 book-to-bill with disciplined capacity and channel investment.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Protect margin through corridor-based pricing and cost discipline as input prices move.</a:t>
            </a:r>
          </a:p>
        </p:txBody>
      </p:sp>
      <p:sp>
        <p:nvSpPr>
          <p:cNvPr id="20" name="Rounded Rectangle 19"/>
          <p:cNvSpPr/>
          <p:nvPr/>
        </p:nvSpPr>
        <p:spPr>
          <a:xfrm>
            <a:off x="6200775" y="1981200"/>
            <a:ext cx="5848350" cy="4686300"/>
          </a:xfrm>
          <a:prstGeom prst="roundRect">
            <a:avLst>
              <a:gd name="adj" fmla="val 16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4125" y="2066925"/>
            <a:ext cx="5581650" cy="209550"/>
          </a:xfrm>
          <a:prstGeom prst="rect">
            <a:avLst/>
          </a:prstGeom>
          <a:noFill/>
        </p:spPr>
        <p:txBody>
          <a:bodyPr wrap="square" lIns="0" rIns="19050" tIns="9525" bIns="9525">
            <a:spAutoFit/>
          </a:bodyPr>
          <a:lstStyle/>
          <a:p>
            <a:pPr algn="l"/>
            <a:r>
              <a:rPr sz="1300" b="1">
                <a:solidFill>
                  <a:srgbClr val="0B2E4A"/>
                </a:solidFill>
                <a:latin typeface="Calibri"/>
              </a:rPr>
              <a:t>Competitive Moves</a:t>
            </a:r>
          </a:p>
        </p:txBody>
      </p:sp>
      <p:sp>
        <p:nvSpPr>
          <p:cNvPr id="22" name="Rectangle 21"/>
          <p:cNvSpPr/>
          <p:nvPr/>
        </p:nvSpPr>
        <p:spPr>
          <a:xfrm>
            <a:off x="6334125" y="2305050"/>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4125" y="2390775"/>
            <a:ext cx="5581650" cy="42005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Premiumise the portfolio around 'Simlandi' and adjacent high-value lines to lift blended pricing.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Deepen presence in 'South Asia &amp; Pacific' (largest SOM region) and build out under-served geographies.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Invest in R&amp;D, certification and selective M&amp;A to move up the price ladder and widen the moat.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Diversify the customer base and secure supply to de-risk concentration and input-cost shocks.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Sharpen go-to-market a ~85-day sales cycle and ~38% conversion speed share capture.</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