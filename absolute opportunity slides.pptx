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4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5.xml" ContentType="application/vnd.openxmlformats-officedocument.presentationml.notesSlide+xml"/>
  <Override PartName="/ppt/charts/chart14.xml" ContentType="application/vnd.openxmlformats-officedocument.drawingml.chart+xml"/>
  <Override PartName="/ppt/notesSlides/notesSlide6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notesSlides/notesSlide7.xml" ContentType="application/vnd.openxmlformats-officedocument.presentationml.notes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notesSlides/notesSlide8.xml" ContentType="application/vnd.openxmlformats-officedocument.presentationml.notes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notesSlides/notesSlide9.xml" ContentType="application/vnd.openxmlformats-officedocument.presentationml.notesSlide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notesSlides/notesSlide10.xml" ContentType="application/vnd.openxmlformats-officedocument.presentationml.notesSlide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notesSlides/notesSlide11.xml" ContentType="application/vnd.openxmlformats-officedocument.presentationml.notesSlide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89" r:id="rId2"/>
    <p:sldId id="290" r:id="rId3"/>
    <p:sldId id="291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6" d="100"/>
          <a:sy n="106" d="100"/>
        </p:scale>
        <p:origin x="7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AC-4DAB-BB51-9D36C0E29D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E6AC-4DAB-BB51-9D36C0E29D63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E6AC-4DAB-BB51-9D36C0E29D63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E6AC-4DAB-BB51-9D36C0E29D63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E6AC-4DAB-BB51-9D36C0E29D63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E6AC-4DAB-BB51-9D36C0E29D63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E6AC-4DAB-BB51-9D36C0E29D63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6AC-4DAB-BB51-9D36C0E29D63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6AC-4DAB-BB51-9D36C0E29D63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6AC-4DAB-BB51-9D36C0E29D63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6AC-4DAB-BB51-9D36C0E29D63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6AC-4DAB-BB51-9D36C0E29D63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6AC-4DAB-BB51-9D36C0E29D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6AC-4DAB-BB51-9D36C0E29D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1061.2370000000001</c:v>
                </c:pt>
                <c:pt idx="2">
                  <c:v>1271.9739999999999</c:v>
                </c:pt>
                <c:pt idx="3">
                  <c:v>1530.364</c:v>
                </c:pt>
                <c:pt idx="4">
                  <c:v>1836.924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F4-4A4D-A159-B54F8468AA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7CF4-4A4D-A159-B54F8468AA75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7CF4-4A4D-A159-B54F8468AA75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7CF4-4A4D-A159-B54F8468AA75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7CF4-4A4D-A159-B54F8468AA75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7CF4-4A4D-A159-B54F8468AA75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7CF4-4A4D-A159-B54F8468AA75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CF4-4A4D-A159-B54F8468AA75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CF4-4A4D-A159-B54F8468AA75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CF4-4A4D-A159-B54F8468AA75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CF4-4A4D-A159-B54F8468AA75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CF4-4A4D-A159-B54F8468AA75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CF4-4A4D-A159-B54F8468AA7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1061.2370000000001</c:v>
                </c:pt>
                <c:pt idx="1">
                  <c:v>210.73699999999985</c:v>
                </c:pt>
                <c:pt idx="2">
                  <c:v>258.3900000000001</c:v>
                </c:pt>
                <c:pt idx="3">
                  <c:v>306.55999999999995</c:v>
                </c:pt>
                <c:pt idx="4">
                  <c:v>368.57600000000002</c:v>
                </c:pt>
                <c:pt idx="5">
                  <c:v>2655.3969999999999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CF4-4A4D-A159-B54F8468A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AC-4DAB-BB51-9D36C0E29D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E6AC-4DAB-BB51-9D36C0E29D63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E6AC-4DAB-BB51-9D36C0E29D63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E6AC-4DAB-BB51-9D36C0E29D63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E6AC-4DAB-BB51-9D36C0E29D63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E6AC-4DAB-BB51-9D36C0E29D63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E6AC-4DAB-BB51-9D36C0E29D63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6AC-4DAB-BB51-9D36C0E29D63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6AC-4DAB-BB51-9D36C0E29D63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6AC-4DAB-BB51-9D36C0E29D63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6AC-4DAB-BB51-9D36C0E29D63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6AC-4DAB-BB51-9D36C0E29D63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6AC-4DAB-BB51-9D36C0E29D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6AC-4DAB-BB51-9D36C0E29D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1061.2370000000001</c:v>
                </c:pt>
                <c:pt idx="2">
                  <c:v>1271.9739999999999</c:v>
                </c:pt>
                <c:pt idx="3">
                  <c:v>1530.364</c:v>
                </c:pt>
                <c:pt idx="4">
                  <c:v>1836.924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F4-4A4D-A159-B54F8468AA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7CF4-4A4D-A159-B54F8468AA75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7CF4-4A4D-A159-B54F8468AA75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7CF4-4A4D-A159-B54F8468AA75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7CF4-4A4D-A159-B54F8468AA75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7CF4-4A4D-A159-B54F8468AA75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7CF4-4A4D-A159-B54F8468AA75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CF4-4A4D-A159-B54F8468AA75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CF4-4A4D-A159-B54F8468AA75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CF4-4A4D-A159-B54F8468AA75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CF4-4A4D-A159-B54F8468AA75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CF4-4A4D-A159-B54F8468AA75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CF4-4A4D-A159-B54F8468AA7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1061.2370000000001</c:v>
                </c:pt>
                <c:pt idx="1">
                  <c:v>210.73699999999985</c:v>
                </c:pt>
                <c:pt idx="2">
                  <c:v>258.3900000000001</c:v>
                </c:pt>
                <c:pt idx="3">
                  <c:v>306.55999999999995</c:v>
                </c:pt>
                <c:pt idx="4">
                  <c:v>368.57600000000002</c:v>
                </c:pt>
                <c:pt idx="5">
                  <c:v>2655.3969999999999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CF4-4A4D-A159-B54F8468A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5D-4C3D-84AF-C7EDB1BBBF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655D-4C3D-84AF-C7EDB1BBBFC3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655D-4C3D-84AF-C7EDB1BBBFC3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655D-4C3D-84AF-C7EDB1BBBFC3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655D-4C3D-84AF-C7EDB1BBBFC3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655D-4C3D-84AF-C7EDB1BBBFC3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655D-4C3D-84AF-C7EDB1BBBFC3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55D-4C3D-84AF-C7EDB1BBBFC3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55D-4C3D-84AF-C7EDB1BBBFC3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55D-4C3D-84AF-C7EDB1BBBFC3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55D-4C3D-84AF-C7EDB1BBBFC3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55D-4C3D-84AF-C7EDB1BBBFC3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55D-4C3D-84AF-C7EDB1BBBFC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655D-4C3D-84AF-C7EDB1BBBF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AC-4DAB-BB51-9D36C0E29D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E6AC-4DAB-BB51-9D36C0E29D63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E6AC-4DAB-BB51-9D36C0E29D63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E6AC-4DAB-BB51-9D36C0E29D63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E6AC-4DAB-BB51-9D36C0E29D63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E6AC-4DAB-BB51-9D36C0E29D63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E6AC-4DAB-BB51-9D36C0E29D63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6AC-4DAB-BB51-9D36C0E29D63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6AC-4DAB-BB51-9D36C0E29D63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6AC-4DAB-BB51-9D36C0E29D63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6AC-4DAB-BB51-9D36C0E29D63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6AC-4DAB-BB51-9D36C0E29D63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6AC-4DAB-BB51-9D36C0E29D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6AC-4DAB-BB51-9D36C0E29D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1061.2370000000001</c:v>
                </c:pt>
                <c:pt idx="2">
                  <c:v>1271.9739999999999</c:v>
                </c:pt>
                <c:pt idx="3">
                  <c:v>1530.364</c:v>
                </c:pt>
                <c:pt idx="4">
                  <c:v>1836.924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F4-4A4D-A159-B54F8468AA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7CF4-4A4D-A159-B54F8468AA75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7CF4-4A4D-A159-B54F8468AA75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7CF4-4A4D-A159-B54F8468AA75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7CF4-4A4D-A159-B54F8468AA75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7CF4-4A4D-A159-B54F8468AA75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7CF4-4A4D-A159-B54F8468AA75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CF4-4A4D-A159-B54F8468AA75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CF4-4A4D-A159-B54F8468AA75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CF4-4A4D-A159-B54F8468AA75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CF4-4A4D-A159-B54F8468AA75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CF4-4A4D-A159-B54F8468AA75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CF4-4A4D-A159-B54F8468AA7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1061.2370000000001</c:v>
                </c:pt>
                <c:pt idx="1">
                  <c:v>210.73699999999985</c:v>
                </c:pt>
                <c:pt idx="2">
                  <c:v>258.3900000000001</c:v>
                </c:pt>
                <c:pt idx="3">
                  <c:v>306.55999999999995</c:v>
                </c:pt>
                <c:pt idx="4">
                  <c:v>368.57600000000002</c:v>
                </c:pt>
                <c:pt idx="5">
                  <c:v>2655.3969999999999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CF4-4A4D-A159-B54F8468A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BC-4640-9ABC-5307FAB031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17BC-4640-9ABC-5307FAB03129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17BC-4640-9ABC-5307FAB03129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17BC-4640-9ABC-5307FAB03129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17BC-4640-9ABC-5307FAB03129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17BC-4640-9ABC-5307FAB03129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17BC-4640-9ABC-5307FAB03129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7BC-4640-9ABC-5307FAB03129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7BC-4640-9ABC-5307FAB03129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7BC-4640-9ABC-5307FAB03129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7BC-4640-9ABC-5307FAB03129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7BC-4640-9ABC-5307FAB03129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7BC-4640-9ABC-5307FAB0312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7BC-4640-9ABC-5307FAB031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1061.2370000000001</c:v>
                </c:pt>
                <c:pt idx="2">
                  <c:v>1271.9739999999999</c:v>
                </c:pt>
                <c:pt idx="3">
                  <c:v>1530.364</c:v>
                </c:pt>
                <c:pt idx="4">
                  <c:v>1836.924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A1-48B0-B8A4-FFEDEEEFEC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86A1-48B0-B8A4-FFEDEEEFECED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86A1-48B0-B8A4-FFEDEEEFECED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86A1-48B0-B8A4-FFEDEEEFECED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86A1-48B0-B8A4-FFEDEEEFECED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86A1-48B0-B8A4-FFEDEEEFECED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86A1-48B0-B8A4-FFEDEEEFECED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6A1-48B0-B8A4-FFEDEEEFECED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6A1-48B0-B8A4-FFEDEEEFECED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6A1-48B0-B8A4-FFEDEEEFECED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6A1-48B0-B8A4-FFEDEEEFECED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6A1-48B0-B8A4-FFEDEEEFECED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6A1-48B0-B8A4-FFEDEEEFECE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1061.2370000000001</c:v>
                </c:pt>
                <c:pt idx="1">
                  <c:v>210.73699999999985</c:v>
                </c:pt>
                <c:pt idx="2">
                  <c:v>258.3900000000001</c:v>
                </c:pt>
                <c:pt idx="3">
                  <c:v>306.55999999999995</c:v>
                </c:pt>
                <c:pt idx="4">
                  <c:v>368.57600000000002</c:v>
                </c:pt>
                <c:pt idx="5">
                  <c:v>2655.3969999999999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6A1-48B0-B8A4-FFEDEEEFEC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AC-4DAB-BB51-9D36C0E29D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E6AC-4DAB-BB51-9D36C0E29D63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E6AC-4DAB-BB51-9D36C0E29D63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E6AC-4DAB-BB51-9D36C0E29D63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E6AC-4DAB-BB51-9D36C0E29D63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E6AC-4DAB-BB51-9D36C0E29D63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E6AC-4DAB-BB51-9D36C0E29D63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6AC-4DAB-BB51-9D36C0E29D63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6AC-4DAB-BB51-9D36C0E29D63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6AC-4DAB-BB51-9D36C0E29D63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6AC-4DAB-BB51-9D36C0E29D63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6AC-4DAB-BB51-9D36C0E29D63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6AC-4DAB-BB51-9D36C0E29D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6AC-4DAB-BB51-9D36C0E29D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1061.2370000000001</c:v>
                </c:pt>
                <c:pt idx="2">
                  <c:v>1271.9739999999999</c:v>
                </c:pt>
                <c:pt idx="3">
                  <c:v>1530.364</c:v>
                </c:pt>
                <c:pt idx="4">
                  <c:v>1836.924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F4-4A4D-A159-B54F8468AA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7CF4-4A4D-A159-B54F8468AA75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7CF4-4A4D-A159-B54F8468AA75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7CF4-4A4D-A159-B54F8468AA75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7CF4-4A4D-A159-B54F8468AA75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7CF4-4A4D-A159-B54F8468AA75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7CF4-4A4D-A159-B54F8468AA75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CF4-4A4D-A159-B54F8468AA75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CF4-4A4D-A159-B54F8468AA75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CF4-4A4D-A159-B54F8468AA75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CF4-4A4D-A159-B54F8468AA75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CF4-4A4D-A159-B54F8468AA75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CF4-4A4D-A159-B54F8468AA7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1061.2370000000001</c:v>
                </c:pt>
                <c:pt idx="1">
                  <c:v>210.73699999999985</c:v>
                </c:pt>
                <c:pt idx="2">
                  <c:v>258.3900000000001</c:v>
                </c:pt>
                <c:pt idx="3">
                  <c:v>306.55999999999995</c:v>
                </c:pt>
                <c:pt idx="4">
                  <c:v>368.57600000000002</c:v>
                </c:pt>
                <c:pt idx="5">
                  <c:v>2655.3969999999999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CF4-4A4D-A159-B54F8468A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5D-4C3D-84AF-C7EDB1BBBF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655D-4C3D-84AF-C7EDB1BBBFC3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655D-4C3D-84AF-C7EDB1BBBFC3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655D-4C3D-84AF-C7EDB1BBBFC3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655D-4C3D-84AF-C7EDB1BBBFC3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655D-4C3D-84AF-C7EDB1BBBFC3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655D-4C3D-84AF-C7EDB1BBBFC3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55D-4C3D-84AF-C7EDB1BBBFC3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55D-4C3D-84AF-C7EDB1BBBFC3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55D-4C3D-84AF-C7EDB1BBBFC3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55D-4C3D-84AF-C7EDB1BBBFC3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55D-4C3D-84AF-C7EDB1BBBFC3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55D-4C3D-84AF-C7EDB1BBBFC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655D-4C3D-84AF-C7EDB1BBBF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6B-4D16-A92A-11541A08FF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176B-4D16-A92A-11541A08FF5F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176B-4D16-A92A-11541A08FF5F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176B-4D16-A92A-11541A08FF5F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176B-4D16-A92A-11541A08FF5F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176B-4D16-A92A-11541A08FF5F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176B-4D16-A92A-11541A08FF5F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76B-4D16-A92A-11541A08FF5F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76B-4D16-A92A-11541A08FF5F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76B-4D16-A92A-11541A08FF5F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76B-4D16-A92A-11541A08FF5F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76B-4D16-A92A-11541A08FF5F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76B-4D16-A92A-11541A08FF5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76B-4D16-A92A-11541A08FF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AC-4DAB-BB51-9D36C0E29D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E6AC-4DAB-BB51-9D36C0E29D63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E6AC-4DAB-BB51-9D36C0E29D63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E6AC-4DAB-BB51-9D36C0E29D63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E6AC-4DAB-BB51-9D36C0E29D63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E6AC-4DAB-BB51-9D36C0E29D63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E6AC-4DAB-BB51-9D36C0E29D63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6AC-4DAB-BB51-9D36C0E29D63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6AC-4DAB-BB51-9D36C0E29D63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6AC-4DAB-BB51-9D36C0E29D63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6AC-4DAB-BB51-9D36C0E29D63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6AC-4DAB-BB51-9D36C0E29D63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6AC-4DAB-BB51-9D36C0E29D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6AC-4DAB-BB51-9D36C0E29D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AC-4DAB-BB51-9D36C0E29D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E6AC-4DAB-BB51-9D36C0E29D63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E6AC-4DAB-BB51-9D36C0E29D63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E6AC-4DAB-BB51-9D36C0E29D63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E6AC-4DAB-BB51-9D36C0E29D63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E6AC-4DAB-BB51-9D36C0E29D63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E6AC-4DAB-BB51-9D36C0E29D63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6AC-4DAB-BB51-9D36C0E29D63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6AC-4DAB-BB51-9D36C0E29D63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6AC-4DAB-BB51-9D36C0E29D63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6AC-4DAB-BB51-9D36C0E29D63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6AC-4DAB-BB51-9D36C0E29D63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6AC-4DAB-BB51-9D36C0E29D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6AC-4DAB-BB51-9D36C0E29D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1061.2370000000001</c:v>
                </c:pt>
                <c:pt idx="2">
                  <c:v>1271.9739999999999</c:v>
                </c:pt>
                <c:pt idx="3">
                  <c:v>1530.364</c:v>
                </c:pt>
                <c:pt idx="4">
                  <c:v>1836.924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F4-4A4D-A159-B54F8468AA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7CF4-4A4D-A159-B54F8468AA75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7CF4-4A4D-A159-B54F8468AA75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7CF4-4A4D-A159-B54F8468AA75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7CF4-4A4D-A159-B54F8468AA75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7CF4-4A4D-A159-B54F8468AA75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7CF4-4A4D-A159-B54F8468AA75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CF4-4A4D-A159-B54F8468AA75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CF4-4A4D-A159-B54F8468AA75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CF4-4A4D-A159-B54F8468AA75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CF4-4A4D-A159-B54F8468AA75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CF4-4A4D-A159-B54F8468AA75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CF4-4A4D-A159-B54F8468AA7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1061.2370000000001</c:v>
                </c:pt>
                <c:pt idx="1">
                  <c:v>210.73699999999985</c:v>
                </c:pt>
                <c:pt idx="2">
                  <c:v>258.3900000000001</c:v>
                </c:pt>
                <c:pt idx="3">
                  <c:v>306.55999999999995</c:v>
                </c:pt>
                <c:pt idx="4">
                  <c:v>368.57600000000002</c:v>
                </c:pt>
                <c:pt idx="5">
                  <c:v>2655.3969999999999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CF4-4A4D-A159-B54F8468A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5D-4C3D-84AF-C7EDB1BBBF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655D-4C3D-84AF-C7EDB1BBBFC3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655D-4C3D-84AF-C7EDB1BBBFC3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655D-4C3D-84AF-C7EDB1BBBFC3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655D-4C3D-84AF-C7EDB1BBBFC3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655D-4C3D-84AF-C7EDB1BBBFC3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655D-4C3D-84AF-C7EDB1BBBFC3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55D-4C3D-84AF-C7EDB1BBBFC3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55D-4C3D-84AF-C7EDB1BBBFC3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55D-4C3D-84AF-C7EDB1BBBFC3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55D-4C3D-84AF-C7EDB1BBBFC3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55D-4C3D-84AF-C7EDB1BBBFC3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55D-4C3D-84AF-C7EDB1BBBFC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655D-4C3D-84AF-C7EDB1BBBF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28-46E6-BE21-646872C21A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AD28-46E6-BE21-646872C21A18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AD28-46E6-BE21-646872C21A18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AD28-46E6-BE21-646872C21A18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AD28-46E6-BE21-646872C21A18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AD28-46E6-BE21-646872C21A18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AD28-46E6-BE21-646872C21A18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D28-46E6-BE21-646872C21A18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D28-46E6-BE21-646872C21A18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D28-46E6-BE21-646872C21A18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D28-46E6-BE21-646872C21A18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D28-46E6-BE21-646872C21A18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D28-46E6-BE21-646872C21A1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AD28-46E6-BE21-646872C21A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1061.2370000000001</c:v>
                </c:pt>
                <c:pt idx="2">
                  <c:v>1271.9739999999999</c:v>
                </c:pt>
                <c:pt idx="3">
                  <c:v>1530.364</c:v>
                </c:pt>
                <c:pt idx="4">
                  <c:v>1836.924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F4-4A4D-A159-B54F8468AA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7CF4-4A4D-A159-B54F8468AA75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7CF4-4A4D-A159-B54F8468AA75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7CF4-4A4D-A159-B54F8468AA75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7CF4-4A4D-A159-B54F8468AA75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7CF4-4A4D-A159-B54F8468AA75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7CF4-4A4D-A159-B54F8468AA75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CF4-4A4D-A159-B54F8468AA75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CF4-4A4D-A159-B54F8468AA75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CF4-4A4D-A159-B54F8468AA75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CF4-4A4D-A159-B54F8468AA75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CF4-4A4D-A159-B54F8468AA75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CF4-4A4D-A159-B54F8468AA7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1061.2370000000001</c:v>
                </c:pt>
                <c:pt idx="1">
                  <c:v>210.73699999999985</c:v>
                </c:pt>
                <c:pt idx="2">
                  <c:v>258.3900000000001</c:v>
                </c:pt>
                <c:pt idx="3">
                  <c:v>306.55999999999995</c:v>
                </c:pt>
                <c:pt idx="4">
                  <c:v>368.57600000000002</c:v>
                </c:pt>
                <c:pt idx="5">
                  <c:v>2655.3969999999999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CF4-4A4D-A159-B54F8468A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5D-4C3D-84AF-C7EDB1BBBF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655D-4C3D-84AF-C7EDB1BBBFC3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655D-4C3D-84AF-C7EDB1BBBFC3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655D-4C3D-84AF-C7EDB1BBBFC3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655D-4C3D-84AF-C7EDB1BBBFC3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655D-4C3D-84AF-C7EDB1BBBFC3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655D-4C3D-84AF-C7EDB1BBBFC3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55D-4C3D-84AF-C7EDB1BBBFC3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55D-4C3D-84AF-C7EDB1BBBFC3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55D-4C3D-84AF-C7EDB1BBBFC3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55D-4C3D-84AF-C7EDB1BBBFC3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55D-4C3D-84AF-C7EDB1BBBFC3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55D-4C3D-84AF-C7EDB1BBBFC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655D-4C3D-84AF-C7EDB1BBBF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AC-4DAB-BB51-9D36C0E29D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E6AC-4DAB-BB51-9D36C0E29D63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E6AC-4DAB-BB51-9D36C0E29D63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E6AC-4DAB-BB51-9D36C0E29D63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E6AC-4DAB-BB51-9D36C0E29D63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E6AC-4DAB-BB51-9D36C0E29D63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E6AC-4DAB-BB51-9D36C0E29D63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6AC-4DAB-BB51-9D36C0E29D63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6AC-4DAB-BB51-9D36C0E29D63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6AC-4DAB-BB51-9D36C0E29D63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6AC-4DAB-BB51-9D36C0E29D63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6AC-4DAB-BB51-9D36C0E29D63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6AC-4DAB-BB51-9D36C0E29D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6AC-4DAB-BB51-9D36C0E29D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1061.2370000000001</c:v>
                </c:pt>
                <c:pt idx="2">
                  <c:v>1271.9739999999999</c:v>
                </c:pt>
                <c:pt idx="3">
                  <c:v>1530.364</c:v>
                </c:pt>
                <c:pt idx="4">
                  <c:v>1836.924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F4-4A4D-A159-B54F8468AA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7CF4-4A4D-A159-B54F8468AA75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7CF4-4A4D-A159-B54F8468AA75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7CF4-4A4D-A159-B54F8468AA75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7CF4-4A4D-A159-B54F8468AA75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7CF4-4A4D-A159-B54F8468AA75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7CF4-4A4D-A159-B54F8468AA75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CF4-4A4D-A159-B54F8468AA75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CF4-4A4D-A159-B54F8468AA75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CF4-4A4D-A159-B54F8468AA75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CF4-4A4D-A159-B54F8468AA75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CF4-4A4D-A159-B54F8468AA75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CF4-4A4D-A159-B54F8468AA7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1061.2370000000001</c:v>
                </c:pt>
                <c:pt idx="1">
                  <c:v>210.73699999999985</c:v>
                </c:pt>
                <c:pt idx="2">
                  <c:v>258.3900000000001</c:v>
                </c:pt>
                <c:pt idx="3">
                  <c:v>306.55999999999995</c:v>
                </c:pt>
                <c:pt idx="4">
                  <c:v>368.57600000000002</c:v>
                </c:pt>
                <c:pt idx="5">
                  <c:v>2655.3969999999999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CF4-4A4D-A159-B54F8468A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BC-4640-9ABC-5307FAB031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17BC-4640-9ABC-5307FAB03129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17BC-4640-9ABC-5307FAB03129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17BC-4640-9ABC-5307FAB03129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17BC-4640-9ABC-5307FAB03129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17BC-4640-9ABC-5307FAB03129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17BC-4640-9ABC-5307FAB03129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7BC-4640-9ABC-5307FAB03129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7BC-4640-9ABC-5307FAB03129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7BC-4640-9ABC-5307FAB03129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7BC-4640-9ABC-5307FAB03129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7BC-4640-9ABC-5307FAB03129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7BC-4640-9ABC-5307FAB0312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7BC-4640-9ABC-5307FAB031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1061.2370000000001</c:v>
                </c:pt>
                <c:pt idx="2">
                  <c:v>1271.9739999999999</c:v>
                </c:pt>
                <c:pt idx="3">
                  <c:v>1530.364</c:v>
                </c:pt>
                <c:pt idx="4">
                  <c:v>1836.924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A1-48B0-B8A4-FFEDEEEFEC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86A1-48B0-B8A4-FFEDEEEFECED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86A1-48B0-B8A4-FFEDEEEFECED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86A1-48B0-B8A4-FFEDEEEFECED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86A1-48B0-B8A4-FFEDEEEFECED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86A1-48B0-B8A4-FFEDEEEFECED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86A1-48B0-B8A4-FFEDEEEFECED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6A1-48B0-B8A4-FFEDEEEFECED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6A1-48B0-B8A4-FFEDEEEFECED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6A1-48B0-B8A4-FFEDEEEFECED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6A1-48B0-B8A4-FFEDEEEFECED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6A1-48B0-B8A4-FFEDEEEFECED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6A1-48B0-B8A4-FFEDEEEFECE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1061.2370000000001</c:v>
                </c:pt>
                <c:pt idx="1">
                  <c:v>210.73699999999985</c:v>
                </c:pt>
                <c:pt idx="2">
                  <c:v>258.3900000000001</c:v>
                </c:pt>
                <c:pt idx="3">
                  <c:v>306.55999999999995</c:v>
                </c:pt>
                <c:pt idx="4">
                  <c:v>368.57600000000002</c:v>
                </c:pt>
                <c:pt idx="5">
                  <c:v>2655.3969999999999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6A1-48B0-B8A4-FFEDEEEFEC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AC-4DAB-BB51-9D36C0E29D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E6AC-4DAB-BB51-9D36C0E29D63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E6AC-4DAB-BB51-9D36C0E29D63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E6AC-4DAB-BB51-9D36C0E29D63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E6AC-4DAB-BB51-9D36C0E29D63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E6AC-4DAB-BB51-9D36C0E29D63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E6AC-4DAB-BB51-9D36C0E29D63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6AC-4DAB-BB51-9D36C0E29D63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6AC-4DAB-BB51-9D36C0E29D63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6AC-4DAB-BB51-9D36C0E29D63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6AC-4DAB-BB51-9D36C0E29D63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6AC-4DAB-BB51-9D36C0E29D63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6AC-4DAB-BB51-9D36C0E29D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6AC-4DAB-BB51-9D36C0E29D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1061.2370000000001</c:v>
                </c:pt>
                <c:pt idx="2">
                  <c:v>1271.9739999999999</c:v>
                </c:pt>
                <c:pt idx="3">
                  <c:v>1530.364</c:v>
                </c:pt>
                <c:pt idx="4">
                  <c:v>1836.924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F4-4A4D-A159-B54F8468AA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7CF4-4A4D-A159-B54F8468AA75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7CF4-4A4D-A159-B54F8468AA75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7CF4-4A4D-A159-B54F8468AA75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7CF4-4A4D-A159-B54F8468AA75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7CF4-4A4D-A159-B54F8468AA75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7CF4-4A4D-A159-B54F8468AA75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CF4-4A4D-A159-B54F8468AA75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CF4-4A4D-A159-B54F8468AA75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CF4-4A4D-A159-B54F8468AA75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CF4-4A4D-A159-B54F8468AA75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CF4-4A4D-A159-B54F8468AA75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CF4-4A4D-A159-B54F8468AA7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1061.2370000000001</c:v>
                </c:pt>
                <c:pt idx="1">
                  <c:v>210.73699999999985</c:v>
                </c:pt>
                <c:pt idx="2">
                  <c:v>258.3900000000001</c:v>
                </c:pt>
                <c:pt idx="3">
                  <c:v>306.55999999999995</c:v>
                </c:pt>
                <c:pt idx="4">
                  <c:v>368.57600000000002</c:v>
                </c:pt>
                <c:pt idx="5">
                  <c:v>2655.3969999999999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CF4-4A4D-A159-B54F8468A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5D-4C3D-84AF-C7EDB1BBBF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655D-4C3D-84AF-C7EDB1BBBFC3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655D-4C3D-84AF-C7EDB1BBBFC3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655D-4C3D-84AF-C7EDB1BBBFC3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655D-4C3D-84AF-C7EDB1BBBFC3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655D-4C3D-84AF-C7EDB1BBBFC3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655D-4C3D-84AF-C7EDB1BBBFC3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55D-4C3D-84AF-C7EDB1BBBFC3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55D-4C3D-84AF-C7EDB1BBBFC3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55D-4C3D-84AF-C7EDB1BBBFC3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55D-4C3D-84AF-C7EDB1BBBFC3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55D-4C3D-84AF-C7EDB1BBBFC3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55D-4C3D-84AF-C7EDB1BBBFC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655D-4C3D-84AF-C7EDB1BBBF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AC-4DAB-BB51-9D36C0E29D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E6AC-4DAB-BB51-9D36C0E29D63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E6AC-4DAB-BB51-9D36C0E29D63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E6AC-4DAB-BB51-9D36C0E29D63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E6AC-4DAB-BB51-9D36C0E29D63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E6AC-4DAB-BB51-9D36C0E29D63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E6AC-4DAB-BB51-9D36C0E29D63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6AC-4DAB-BB51-9D36C0E29D63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6AC-4DAB-BB51-9D36C0E29D63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6AC-4DAB-BB51-9D36C0E29D63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6AC-4DAB-BB51-9D36C0E29D63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6AC-4DAB-BB51-9D36C0E29D63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6AC-4DAB-BB51-9D36C0E29D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6AC-4DAB-BB51-9D36C0E29D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1061.2370000000001</c:v>
                </c:pt>
                <c:pt idx="2">
                  <c:v>1271.9739999999999</c:v>
                </c:pt>
                <c:pt idx="3">
                  <c:v>1530.364</c:v>
                </c:pt>
                <c:pt idx="4">
                  <c:v>1836.924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F4-4A4D-A159-B54F8468AA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7CF4-4A4D-A159-B54F8468AA75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7CF4-4A4D-A159-B54F8468AA75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7CF4-4A4D-A159-B54F8468AA75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7CF4-4A4D-A159-B54F8468AA75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7CF4-4A4D-A159-B54F8468AA75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7CF4-4A4D-A159-B54F8468AA75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CF4-4A4D-A159-B54F8468AA75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CF4-4A4D-A159-B54F8468AA75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CF4-4A4D-A159-B54F8468AA75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CF4-4A4D-A159-B54F8468AA75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CF4-4A4D-A159-B54F8468AA75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CF4-4A4D-A159-B54F8468AA7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1061.2370000000001</c:v>
                </c:pt>
                <c:pt idx="1">
                  <c:v>210.73699999999985</c:v>
                </c:pt>
                <c:pt idx="2">
                  <c:v>258.3900000000001</c:v>
                </c:pt>
                <c:pt idx="3">
                  <c:v>306.55999999999995</c:v>
                </c:pt>
                <c:pt idx="4">
                  <c:v>368.57600000000002</c:v>
                </c:pt>
                <c:pt idx="5">
                  <c:v>2655.3969999999999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CF4-4A4D-A159-B54F8468A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BC-4640-9ABC-5307FAB031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17BC-4640-9ABC-5307FAB03129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17BC-4640-9ABC-5307FAB03129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17BC-4640-9ABC-5307FAB03129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17BC-4640-9ABC-5307FAB03129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17BC-4640-9ABC-5307FAB03129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17BC-4640-9ABC-5307FAB03129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7BC-4640-9ABC-5307FAB03129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7BC-4640-9ABC-5307FAB03129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7BC-4640-9ABC-5307FAB03129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7BC-4640-9ABC-5307FAB03129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7BC-4640-9ABC-5307FAB03129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7BC-4640-9ABC-5307FAB0312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7BC-4640-9ABC-5307FAB031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1061.2370000000001</c:v>
                </c:pt>
                <c:pt idx="2">
                  <c:v>1271.9739999999999</c:v>
                </c:pt>
                <c:pt idx="3">
                  <c:v>1530.364</c:v>
                </c:pt>
                <c:pt idx="4">
                  <c:v>1836.924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A1-48B0-B8A4-FFEDEEEFEC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86A1-48B0-B8A4-FFEDEEEFECED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86A1-48B0-B8A4-FFEDEEEFECED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86A1-48B0-B8A4-FFEDEEEFECED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86A1-48B0-B8A4-FFEDEEEFECED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86A1-48B0-B8A4-FFEDEEEFECED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86A1-48B0-B8A4-FFEDEEEFECED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6A1-48B0-B8A4-FFEDEEEFECED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6A1-48B0-B8A4-FFEDEEEFECED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6A1-48B0-B8A4-FFEDEEEFECED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6A1-48B0-B8A4-FFEDEEEFECED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6A1-48B0-B8A4-FFEDEEEFECED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6A1-48B0-B8A4-FFEDEEEFECE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1061.2370000000001</c:v>
                </c:pt>
                <c:pt idx="1">
                  <c:v>210.73699999999985</c:v>
                </c:pt>
                <c:pt idx="2">
                  <c:v>258.3900000000001</c:v>
                </c:pt>
                <c:pt idx="3">
                  <c:v>306.55999999999995</c:v>
                </c:pt>
                <c:pt idx="4">
                  <c:v>368.57600000000002</c:v>
                </c:pt>
                <c:pt idx="5">
                  <c:v>2655.3969999999999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6A1-48B0-B8A4-FFEDEEEFEC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AC-4DAB-BB51-9D36C0E29D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E6AC-4DAB-BB51-9D36C0E29D63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E6AC-4DAB-BB51-9D36C0E29D63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E6AC-4DAB-BB51-9D36C0E29D63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E6AC-4DAB-BB51-9D36C0E29D63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E6AC-4DAB-BB51-9D36C0E29D63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E6AC-4DAB-BB51-9D36C0E29D63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6AC-4DAB-BB51-9D36C0E29D63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6AC-4DAB-BB51-9D36C0E29D63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6AC-4DAB-BB51-9D36C0E29D63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6AC-4DAB-BB51-9D36C0E29D63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6AC-4DAB-BB51-9D36C0E29D63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6AC-4DAB-BB51-9D36C0E29D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6AC-4DAB-BB51-9D36C0E29D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1061.2370000000001</c:v>
                </c:pt>
                <c:pt idx="2">
                  <c:v>1271.9739999999999</c:v>
                </c:pt>
                <c:pt idx="3">
                  <c:v>1530.364</c:v>
                </c:pt>
                <c:pt idx="4">
                  <c:v>1836.924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F4-4A4D-A159-B54F8468AA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7CF4-4A4D-A159-B54F8468AA75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7CF4-4A4D-A159-B54F8468AA75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7CF4-4A4D-A159-B54F8468AA75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7CF4-4A4D-A159-B54F8468AA75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7CF4-4A4D-A159-B54F8468AA75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7CF4-4A4D-A159-B54F8468AA75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CF4-4A4D-A159-B54F8468AA75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CF4-4A4D-A159-B54F8468AA75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CF4-4A4D-A159-B54F8468AA75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CF4-4A4D-A159-B54F8468AA75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CF4-4A4D-A159-B54F8468AA75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CF4-4A4D-A159-B54F8468AA7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1061.2370000000001</c:v>
                </c:pt>
                <c:pt idx="1">
                  <c:v>210.73699999999985</c:v>
                </c:pt>
                <c:pt idx="2">
                  <c:v>258.3900000000001</c:v>
                </c:pt>
                <c:pt idx="3">
                  <c:v>306.55999999999995</c:v>
                </c:pt>
                <c:pt idx="4">
                  <c:v>368.57600000000002</c:v>
                </c:pt>
                <c:pt idx="5">
                  <c:v>2655.3969999999999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CF4-4A4D-A159-B54F8468A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213.631</c:v>
                </c:pt>
                <c:pt idx="2">
                  <c:v>245.572</c:v>
                </c:pt>
                <c:pt idx="3">
                  <c:v>283.33799999999997</c:v>
                </c:pt>
                <c:pt idx="4">
                  <c:v>327.185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BC-4640-9ABC-5307FAB031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17BC-4640-9ABC-5307FAB03129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17BC-4640-9ABC-5307FAB03129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17BC-4640-9ABC-5307FAB03129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17BC-4640-9ABC-5307FAB03129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17BC-4640-9ABC-5307FAB03129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17BC-4640-9ABC-5307FAB03129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7BC-4640-9ABC-5307FAB03129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7BC-4640-9ABC-5307FAB03129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7BC-4640-9ABC-5307FAB03129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7BC-4640-9ABC-5307FAB03129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7BC-4640-9ABC-5307FAB03129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7BC-4640-9ABC-5307FAB0312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213.631</c:v>
                </c:pt>
                <c:pt idx="1">
                  <c:v>31.941000000000003</c:v>
                </c:pt>
                <c:pt idx="2">
                  <c:v>37.765999999999963</c:v>
                </c:pt>
                <c:pt idx="3">
                  <c:v>43.847000000000037</c:v>
                </c:pt>
                <c:pt idx="4">
                  <c:v>48.97399999999999</c:v>
                </c:pt>
                <c:pt idx="5">
                  <c:v>376.15899999999999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7BC-4640-9ABC-5307FAB031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1061.2370000000001</c:v>
                </c:pt>
                <c:pt idx="2">
                  <c:v>1271.9739999999999</c:v>
                </c:pt>
                <c:pt idx="3">
                  <c:v>1530.364</c:v>
                </c:pt>
                <c:pt idx="4">
                  <c:v>1836.924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A1-48B0-B8A4-FFEDEEEFEC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2-86A1-48B0-B8A4-FFEDEEEFECED}"/>
              </c:ext>
            </c:extLst>
          </c:dPt>
          <c:dPt>
            <c:idx val="1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4-86A1-48B0-B8A4-FFEDEEEFECED}"/>
              </c:ext>
            </c:extLst>
          </c:dPt>
          <c:dPt>
            <c:idx val="2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6-86A1-48B0-B8A4-FFEDEEEFECED}"/>
              </c:ext>
            </c:extLst>
          </c:dPt>
          <c:dPt>
            <c:idx val="3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8-86A1-48B0-B8A4-FFEDEEEFECED}"/>
              </c:ext>
            </c:extLst>
          </c:dPt>
          <c:dPt>
            <c:idx val="4"/>
            <c:invertIfNegative val="1"/>
            <c:bubble3D val="0"/>
            <c:spPr>
              <a:solidFill>
                <a:srgbClr val="008189"/>
              </a:solidFill>
            </c:spPr>
            <c:extLst>
              <c:ext xmlns:c16="http://schemas.microsoft.com/office/drawing/2014/chart" uri="{C3380CC4-5D6E-409C-BE32-E72D297353CC}">
                <c16:uniqueId val="{0000000A-86A1-48B0-B8A4-FFEDEEEFECED}"/>
              </c:ext>
            </c:extLst>
          </c:dPt>
          <c:dPt>
            <c:idx val="5"/>
            <c:invertIfNegative val="1"/>
            <c:bubble3D val="0"/>
            <c:spPr>
              <a:solidFill>
                <a:srgbClr val="0E72AE"/>
              </a:solidFill>
            </c:spPr>
            <c:extLst>
              <c:ext xmlns:c16="http://schemas.microsoft.com/office/drawing/2014/chart" uri="{C3380CC4-5D6E-409C-BE32-E72D297353CC}">
                <c16:uniqueId val="{0000000C-86A1-48B0-B8A4-FFEDEEEFECED}"/>
              </c:ext>
            </c:extLst>
          </c:dPt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6A1-48B0-B8A4-FFEDEEEFECED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6A1-48B0-B8A4-FFEDEEEFECED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6A1-48B0-B8A4-FFEDEEEFECED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6A1-48B0-B8A4-FFEDEEEFECED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6A1-48B0-B8A4-FFEDEEEFECED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6A1-48B0-B8A4-FFEDEEEFECE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2028</c:v>
                </c:pt>
                <c:pt idx="2">
                  <c:v>2030</c:v>
                </c:pt>
                <c:pt idx="3">
                  <c:v>2032</c:v>
                </c:pt>
                <c:pt idx="4">
                  <c:v>2034</c:v>
                </c:pt>
                <c:pt idx="5">
                  <c:v>2036 Total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1061.2370000000001</c:v>
                </c:pt>
                <c:pt idx="1">
                  <c:v>210.73699999999985</c:v>
                </c:pt>
                <c:pt idx="2">
                  <c:v>258.3900000000001</c:v>
                </c:pt>
                <c:pt idx="3">
                  <c:v>306.55999999999995</c:v>
                </c:pt>
                <c:pt idx="4">
                  <c:v>368.57600000000002</c:v>
                </c:pt>
                <c:pt idx="5">
                  <c:v>2655.3969999999999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6A1-48B0-B8A4-FFEDEEEFEC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0D47D3-FE84-4539-A74E-A0F8DBCFBD5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95CAE1-0108-487B-9DCD-2A4FB0D3C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2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Paper Bottle Market Material Type Absolute $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2F996-629C-F27E-19EB-6F3C600C6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FB504-49E2-285A-4D37-1B557BBB1D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8EF8E-7798-B8EF-0C77-9BE60EB463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Paper Bottle Market Material Type Absolute $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2C297-63EC-A340-CFA2-B0FA62E86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31368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75A1E-4CD1-122B-5623-6DE25923C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C8B2BD-2AB9-084E-B6F8-5EDD47B140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09262-F8FB-683C-D973-2AECA56B2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Paper Bottle Market Material Type Absolute $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F8EFC-C3D6-4347-291E-606A3EA27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80877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1C148-9E4B-1D79-7177-793787AE6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C71C5-3CA0-FE7C-6635-F14DF2FE37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A942B-3078-8AD9-5B9E-ECD852C22B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Paper Bottle Market Material Type Absolute $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7FA23-CFC4-F584-CB75-E6753C528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6693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D2A84-3A5F-8F73-E3E1-948F55F4E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A9C58-1570-3BA8-56B6-72D31CDEBB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84432-55C5-B7A9-456C-E8D529AF5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Paper Bottle Market Material Type Absolute $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79F5F-FFD9-7444-2E5C-9E8F9D3E3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93729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B12C6-9B39-10E3-F564-26B94D946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9F52E1-2032-C055-CA0A-24FC070E66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F4B5A-B0C1-DA54-69C6-C437EA073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Paper Bottle Market Material Type Absolute $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FD36A-2C37-BBEF-B980-ED095340B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85965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B6000-386B-E28F-FFF0-0B78E028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6F080-B381-24DF-7FC0-79D988132F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990FC-5DF6-4E3C-B2E8-8709C4FCA8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Paper Bottle Market Material Type Absolute $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42EF5-0746-16B3-77C6-E152CE5FC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0752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C98F8-4493-880F-B15F-021D54BC2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1E59D-B6A6-FDF7-1FB3-E52F51A579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BE37C-0553-DAF9-8564-A8563ECA3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Paper Bottle Market Material Type Absolute $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D6319-E3AC-8E34-60E1-F572AF745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6763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18E84-5568-DD71-FEB0-2824F24E5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2057F-49C6-0DB4-58E5-A37121E5D3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7D9A2B-9F61-8423-9AD6-1D4ADF7EC0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Paper Bottle Market Material Type Absolute $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9ACCB-92C3-2768-AB6F-3771E91C9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22240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45177-07D3-3305-5C04-27B574B8A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A3D21-B8C8-FA54-2CF7-EC96E49FD3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15EDFF-6446-F2C0-D4A9-E7B86952ED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Paper Bottle Market Material Type Absolute $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8E2CF-5061-E2B9-F29A-CECEB5126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097973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D5A8B-4648-D9D9-286B-0A4A7C5DB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913F7-E90A-B669-3458-CE327C540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6DE62-E53E-FD63-A737-5B86EC1B9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Paper Bottle Market Material Type Absolute $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F0F1C-8B8F-F3C7-4FC6-BE54DAEFFD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76544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33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38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4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230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9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15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03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8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5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3" Type="http://schemas.openxmlformats.org/officeDocument/2006/relationships/image" Target="../media/image1.png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3.xml"/><Relationship Id="rId3" Type="http://schemas.openxmlformats.org/officeDocument/2006/relationships/image" Target="../media/image1.png"/><Relationship Id="rId7" Type="http://schemas.openxmlformats.org/officeDocument/2006/relationships/chart" Target="../charts/chart1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chart" Target="../charts/chart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8.xml"/><Relationship Id="rId3" Type="http://schemas.openxmlformats.org/officeDocument/2006/relationships/image" Target="../media/image1.png"/><Relationship Id="rId7" Type="http://schemas.openxmlformats.org/officeDocument/2006/relationships/chart" Target="../charts/chart1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chart" Target="../charts/chart20.xml"/><Relationship Id="rId4" Type="http://schemas.openxmlformats.org/officeDocument/2006/relationships/chart" Target="../charts/chart1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4.xml"/><Relationship Id="rId3" Type="http://schemas.openxmlformats.org/officeDocument/2006/relationships/image" Target="../media/image1.png"/><Relationship Id="rId7" Type="http://schemas.openxmlformats.org/officeDocument/2006/relationships/chart" Target="../charts/chart2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2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chart" Target="../charts/chart26.xml"/><Relationship Id="rId4" Type="http://schemas.openxmlformats.org/officeDocument/2006/relationships/chart" Target="../charts/chart2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1.xml"/><Relationship Id="rId3" Type="http://schemas.openxmlformats.org/officeDocument/2006/relationships/image" Target="../media/image1.png"/><Relationship Id="rId7" Type="http://schemas.openxmlformats.org/officeDocument/2006/relationships/chart" Target="../charts/chart3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chart" Target="../charts/chart29.xml"/><Relationship Id="rId4" Type="http://schemas.openxmlformats.org/officeDocument/2006/relationships/chart" Target="../charts/chart2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5.xml"/><Relationship Id="rId3" Type="http://schemas.openxmlformats.org/officeDocument/2006/relationships/image" Target="../media/image1.png"/><Relationship Id="rId7" Type="http://schemas.openxmlformats.org/officeDocument/2006/relationships/chart" Target="../charts/chart3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chart" Target="../charts/chart33.xml"/><Relationship Id="rId4" Type="http://schemas.openxmlformats.org/officeDocument/2006/relationships/chart" Target="../charts/char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60353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356851"/>
            <a:ext cx="8982075" cy="290849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Absolute $ Opportunity Analysis, By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1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15444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 build-up by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1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the absolute $ opportunity each sub-segment adds, 202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5876925" cy="5686425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1.1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3" name="Char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84744"/>
              </p:ext>
            </p:extLst>
          </p:nvPr>
        </p:nvGraphicFramePr>
        <p:xfrm>
          <a:off x="238125" y="1266825"/>
          <a:ext cx="5686425" cy="5023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181725" y="996493"/>
            <a:ext cx="5876925" cy="5667803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76975" y="1053644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1.2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178242"/>
              </p:ext>
            </p:extLst>
          </p:nvPr>
        </p:nvGraphicFramePr>
        <p:xfrm>
          <a:off x="6276975" y="1282243"/>
          <a:ext cx="5686425" cy="4908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140" y="3589401"/>
            <a:ext cx="469229" cy="772309"/>
          </a:xfrm>
          <a:prstGeom prst="rect">
            <a:avLst/>
          </a:prstGeom>
        </p:spPr>
      </p:pic>
      <p:pic>
        <p:nvPicPr>
          <p:cNvPr id="42" name="Picture 41" descr="lock.png">
            <a:extLst>
              <a:ext uri="{FF2B5EF4-FFF2-40B4-BE49-F238E27FC236}">
                <a16:creationId xmlns:a16="http://schemas.microsoft.com/office/drawing/2014/main" id="{0C3235B3-7B78-8FBC-B610-C2E159ACE5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1860" y="3975555"/>
            <a:ext cx="469229" cy="7723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7D36C-5437-AD16-52CB-8B8800ED2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8FBFDE-A4FA-5163-7B0A-1E2557C2B5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FC9639-0478-403D-A056-34E996998722}"/>
              </a:ext>
            </a:extLst>
          </p:cNvPr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373F97-BC20-9316-985F-F934599EC934}"/>
              </a:ext>
            </a:extLst>
          </p:cNvPr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75EFE-1671-DF62-254A-9DF486E363D8}"/>
              </a:ext>
            </a:extLst>
          </p:cNvPr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22E0FC-960A-DA37-76BC-65EB861376EC}"/>
              </a:ext>
            </a:extLst>
          </p:cNvPr>
          <p:cNvSpPr/>
          <p:nvPr/>
        </p:nvSpPr>
        <p:spPr>
          <a:xfrm>
            <a:off x="8124825" y="914400"/>
            <a:ext cx="3943350" cy="54913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>
            <a:extLst>
              <a:ext uri="{FF2B5EF4-FFF2-40B4-BE49-F238E27FC236}">
                <a16:creationId xmlns:a16="http://schemas.microsoft.com/office/drawing/2014/main" id="{F6FC23DE-0DEE-1FED-6270-480DEFFB6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6843A3-4262-127D-C4CF-A71F14B2691D}"/>
              </a:ext>
            </a:extLst>
          </p:cNvPr>
          <p:cNvSpPr txBox="1"/>
          <p:nvPr/>
        </p:nvSpPr>
        <p:spPr>
          <a:xfrm>
            <a:off x="1543050" y="356851"/>
            <a:ext cx="8982075" cy="290849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Absolute $ Opportunity Analysis, By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2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1364E2-855E-DB8D-5728-5E0DE9DA2491}"/>
              </a:ext>
            </a:extLst>
          </p:cNvPr>
          <p:cNvSpPr txBox="1"/>
          <p:nvPr/>
        </p:nvSpPr>
        <p:spPr>
          <a:xfrm>
            <a:off x="1543050" y="647700"/>
            <a:ext cx="10506075" cy="215444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 build-up by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2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the absolute $ opportunity each sub-segment adds, 202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–2036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FF60ED5-E1A3-5C01-0357-8B1D3FFB3C00}"/>
              </a:ext>
            </a:extLst>
          </p:cNvPr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C9BF46A-36F0-E474-451A-B10743CA002C}"/>
              </a:ext>
            </a:extLst>
          </p:cNvPr>
          <p:cNvSpPr/>
          <p:nvPr/>
        </p:nvSpPr>
        <p:spPr>
          <a:xfrm>
            <a:off x="142875" y="981076"/>
            <a:ext cx="5876925" cy="2702602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DF092C-ABA0-FBF5-61DB-9E765BE1A461}"/>
              </a:ext>
            </a:extLst>
          </p:cNvPr>
          <p:cNvSpPr txBox="1"/>
          <p:nvPr/>
        </p:nvSpPr>
        <p:spPr>
          <a:xfrm>
            <a:off x="238125" y="1038225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2.1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9B633C38-B644-445C-8C1C-E970F82CD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635513"/>
              </p:ext>
            </p:extLst>
          </p:nvPr>
        </p:nvGraphicFramePr>
        <p:xfrm>
          <a:off x="238125" y="1266825"/>
          <a:ext cx="5686425" cy="23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10CE7CC-F2DC-F811-7817-0F2832CE0FD2}"/>
              </a:ext>
            </a:extLst>
          </p:cNvPr>
          <p:cNvSpPr/>
          <p:nvPr/>
        </p:nvSpPr>
        <p:spPr>
          <a:xfrm>
            <a:off x="6181725" y="996493"/>
            <a:ext cx="5876925" cy="269217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C4FB72-C7EF-5208-1894-7150B53141AB}"/>
              </a:ext>
            </a:extLst>
          </p:cNvPr>
          <p:cNvSpPr txBox="1"/>
          <p:nvPr/>
        </p:nvSpPr>
        <p:spPr>
          <a:xfrm>
            <a:off x="6276975" y="1053644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2.2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317F30E7-EFB5-2AF2-9802-DC1E59B8C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578667"/>
              </p:ext>
            </p:extLst>
          </p:nvPr>
        </p:nvGraphicFramePr>
        <p:xfrm>
          <a:off x="6276975" y="1282244"/>
          <a:ext cx="5686425" cy="2331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F088EE2-7F78-F289-0FA1-FA12D6187DBC}"/>
              </a:ext>
            </a:extLst>
          </p:cNvPr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25" name="Picture 24" descr="lock.png">
            <a:extLst>
              <a:ext uri="{FF2B5EF4-FFF2-40B4-BE49-F238E27FC236}">
                <a16:creationId xmlns:a16="http://schemas.microsoft.com/office/drawing/2014/main" id="{783EA56B-8230-2F95-F725-2B6BA5FD6C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791" y="2412315"/>
            <a:ext cx="358543" cy="508564"/>
          </a:xfrm>
          <a:prstGeom prst="rect">
            <a:avLst/>
          </a:prstGeom>
        </p:spPr>
      </p:pic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120D944B-1C6A-63E3-9A74-E9A53C9F6DC0}"/>
              </a:ext>
            </a:extLst>
          </p:cNvPr>
          <p:cNvSpPr/>
          <p:nvPr/>
        </p:nvSpPr>
        <p:spPr>
          <a:xfrm>
            <a:off x="119609" y="3744515"/>
            <a:ext cx="5900192" cy="2917450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7C2C63-6FD4-4EC8-3A77-AB8E27DBC4CC}"/>
              </a:ext>
            </a:extLst>
          </p:cNvPr>
          <p:cNvSpPr txBox="1"/>
          <p:nvPr/>
        </p:nvSpPr>
        <p:spPr>
          <a:xfrm>
            <a:off x="236140" y="3801664"/>
            <a:ext cx="5708938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2.3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D8AE445F-1465-CA64-165B-E03E413D8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73978"/>
              </p:ext>
            </p:extLst>
          </p:nvPr>
        </p:nvGraphicFramePr>
        <p:xfrm>
          <a:off x="236140" y="4030263"/>
          <a:ext cx="5708938" cy="2697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26" name="Picture 25" descr="lock.png">
            <a:extLst>
              <a:ext uri="{FF2B5EF4-FFF2-40B4-BE49-F238E27FC236}">
                <a16:creationId xmlns:a16="http://schemas.microsoft.com/office/drawing/2014/main" id="{B80B8EF0-1102-AFA0-1749-1365ED363A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9493" y="5404966"/>
            <a:ext cx="359963" cy="536254"/>
          </a:xfrm>
          <a:prstGeom prst="rect">
            <a:avLst/>
          </a:prstGeom>
        </p:spPr>
      </p:pic>
      <p:pic>
        <p:nvPicPr>
          <p:cNvPr id="28" name="Picture 27" descr="lock.png">
            <a:extLst>
              <a:ext uri="{FF2B5EF4-FFF2-40B4-BE49-F238E27FC236}">
                <a16:creationId xmlns:a16="http://schemas.microsoft.com/office/drawing/2014/main" id="{3EE4B6E9-09A6-DEE2-B19C-929BF50F35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1508" y="2342582"/>
            <a:ext cx="358543" cy="500774"/>
          </a:xfrm>
          <a:prstGeom prst="rect">
            <a:avLst/>
          </a:prstGeom>
        </p:spPr>
      </p:pic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04830DD6-1084-44AF-E3F5-94A07CD9B5EC}"/>
              </a:ext>
            </a:extLst>
          </p:cNvPr>
          <p:cNvSpPr/>
          <p:nvPr/>
        </p:nvSpPr>
        <p:spPr>
          <a:xfrm>
            <a:off x="6181218" y="3778625"/>
            <a:ext cx="5900192" cy="2917450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C31255-C778-FDE3-FCAF-B04FA33891B7}"/>
              </a:ext>
            </a:extLst>
          </p:cNvPr>
          <p:cNvSpPr txBox="1"/>
          <p:nvPr/>
        </p:nvSpPr>
        <p:spPr>
          <a:xfrm>
            <a:off x="6255941" y="3816778"/>
            <a:ext cx="5686425" cy="171585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>
              <a:lnSpc>
                <a:spcPct val="90000"/>
              </a:lnSpc>
              <a:defRPr/>
            </a:pPr>
            <a:r>
              <a:rPr lang="en-US" sz="1100" b="1" dirty="0">
                <a:solidFill>
                  <a:srgbClr val="000000"/>
                </a:solidFill>
              </a:rPr>
              <a:t>Summary of Global Absolute $ Opportunity Analysis, By Segment 2</a:t>
            </a:r>
          </a:p>
        </p:txBody>
      </p:sp>
    </p:spTree>
    <p:extLst>
      <p:ext uri="{BB962C8B-B14F-4D97-AF65-F5344CB8AC3E}">
        <p14:creationId xmlns:p14="http://schemas.microsoft.com/office/powerpoint/2010/main" val="25995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1E73E-014B-B049-B5B3-AA92A88CB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7A45D9-A1FD-3E59-8235-A974CE8DDA93}"/>
              </a:ext>
            </a:extLst>
          </p:cNvPr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E5E569-5277-C5C6-DE06-EB9A3EE643E9}"/>
              </a:ext>
            </a:extLst>
          </p:cNvPr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D6CA0D-34B2-5833-1577-7E6D2A67BC28}"/>
              </a:ext>
            </a:extLst>
          </p:cNvPr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C24F59-150B-B9DE-4D94-FDAB3D3754FB}"/>
              </a:ext>
            </a:extLst>
          </p:cNvPr>
          <p:cNvSpPr/>
          <p:nvPr/>
        </p:nvSpPr>
        <p:spPr>
          <a:xfrm>
            <a:off x="8124825" y="914400"/>
            <a:ext cx="3943350" cy="54913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>
            <a:extLst>
              <a:ext uri="{FF2B5EF4-FFF2-40B4-BE49-F238E27FC236}">
                <a16:creationId xmlns:a16="http://schemas.microsoft.com/office/drawing/2014/main" id="{FD4341AF-E572-EF81-7702-0135DC484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4CB558-E78F-C944-D4ED-CC5D102023D7}"/>
              </a:ext>
            </a:extLst>
          </p:cNvPr>
          <p:cNvSpPr txBox="1"/>
          <p:nvPr/>
        </p:nvSpPr>
        <p:spPr>
          <a:xfrm>
            <a:off x="1543050" y="356851"/>
            <a:ext cx="8982075" cy="290849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Absolute $ Opportunity Analysis, By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4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FC8954-493E-4236-6CA4-AE4F0DD4143A}"/>
              </a:ext>
            </a:extLst>
          </p:cNvPr>
          <p:cNvSpPr txBox="1"/>
          <p:nvPr/>
        </p:nvSpPr>
        <p:spPr>
          <a:xfrm>
            <a:off x="1543050" y="647700"/>
            <a:ext cx="10506075" cy="215444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 build-up by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4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the absolute $ opportunity each sub-segment adds, 202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–2036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B860D9E-6DBB-0C34-15EF-83E3F9DB162E}"/>
              </a:ext>
            </a:extLst>
          </p:cNvPr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CDA8478-2D54-6B5F-1DD9-10460F3B710B}"/>
              </a:ext>
            </a:extLst>
          </p:cNvPr>
          <p:cNvSpPr/>
          <p:nvPr/>
        </p:nvSpPr>
        <p:spPr>
          <a:xfrm>
            <a:off x="142875" y="981076"/>
            <a:ext cx="5876925" cy="2702602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36F77D-9759-B723-2CCB-8855AB7C6AE2}"/>
              </a:ext>
            </a:extLst>
          </p:cNvPr>
          <p:cNvSpPr txBox="1"/>
          <p:nvPr/>
        </p:nvSpPr>
        <p:spPr>
          <a:xfrm>
            <a:off x="238125" y="1038225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4.1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EFB1FFE-DC42-0B84-D520-83FF16D52909}"/>
              </a:ext>
            </a:extLst>
          </p:cNvPr>
          <p:cNvGraphicFramePr>
            <a:graphicFrameLocks noGrp="1"/>
          </p:cNvGraphicFramePr>
          <p:nvPr/>
        </p:nvGraphicFramePr>
        <p:xfrm>
          <a:off x="238125" y="1266825"/>
          <a:ext cx="5686425" cy="23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CAFBDCB-10A8-3CD6-8FCD-ED82B3C030A0}"/>
              </a:ext>
            </a:extLst>
          </p:cNvPr>
          <p:cNvSpPr/>
          <p:nvPr/>
        </p:nvSpPr>
        <p:spPr>
          <a:xfrm>
            <a:off x="6181725" y="996493"/>
            <a:ext cx="5876925" cy="269217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C0B6F0-4B97-80B6-7E93-337602D5AC4C}"/>
              </a:ext>
            </a:extLst>
          </p:cNvPr>
          <p:cNvSpPr txBox="1"/>
          <p:nvPr/>
        </p:nvSpPr>
        <p:spPr>
          <a:xfrm>
            <a:off x="6276975" y="1053644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4.2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BD86B0EE-835E-23DF-FB1D-DBC1DBA62D4B}"/>
              </a:ext>
            </a:extLst>
          </p:cNvPr>
          <p:cNvGraphicFramePr>
            <a:graphicFrameLocks noGrp="1"/>
          </p:cNvGraphicFramePr>
          <p:nvPr/>
        </p:nvGraphicFramePr>
        <p:xfrm>
          <a:off x="6276975" y="1282244"/>
          <a:ext cx="5686425" cy="2331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CD897BE-045F-357C-0F89-8F4C383B6464}"/>
              </a:ext>
            </a:extLst>
          </p:cNvPr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25" name="Picture 24" descr="lock.png">
            <a:extLst>
              <a:ext uri="{FF2B5EF4-FFF2-40B4-BE49-F238E27FC236}">
                <a16:creationId xmlns:a16="http://schemas.microsoft.com/office/drawing/2014/main" id="{D5BE9B26-9FF5-F771-81A1-5D2D0D8F9F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791" y="2412315"/>
            <a:ext cx="358543" cy="508564"/>
          </a:xfrm>
          <a:prstGeom prst="rect">
            <a:avLst/>
          </a:prstGeom>
        </p:spPr>
      </p:pic>
      <p:pic>
        <p:nvPicPr>
          <p:cNvPr id="28" name="Picture 27" descr="lock.png">
            <a:extLst>
              <a:ext uri="{FF2B5EF4-FFF2-40B4-BE49-F238E27FC236}">
                <a16:creationId xmlns:a16="http://schemas.microsoft.com/office/drawing/2014/main" id="{44998A63-3DC1-5378-CD01-DD05DB1E6C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1508" y="2342582"/>
            <a:ext cx="358543" cy="500774"/>
          </a:xfrm>
          <a:prstGeom prst="rect">
            <a:avLst/>
          </a:prstGeom>
        </p:spPr>
      </p:pic>
      <p:sp>
        <p:nvSpPr>
          <p:cNvPr id="31" name="Rounded Rectangle 10">
            <a:extLst>
              <a:ext uri="{FF2B5EF4-FFF2-40B4-BE49-F238E27FC236}">
                <a16:creationId xmlns:a16="http://schemas.microsoft.com/office/drawing/2014/main" id="{9609C36F-2E69-2FC3-A5B5-9D6E30387252}"/>
              </a:ext>
            </a:extLst>
          </p:cNvPr>
          <p:cNvSpPr/>
          <p:nvPr/>
        </p:nvSpPr>
        <p:spPr>
          <a:xfrm>
            <a:off x="171450" y="3860301"/>
            <a:ext cx="5876925" cy="2702602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BDF0BA-342B-A212-E3BD-E23625671498}"/>
              </a:ext>
            </a:extLst>
          </p:cNvPr>
          <p:cNvSpPr txBox="1"/>
          <p:nvPr/>
        </p:nvSpPr>
        <p:spPr>
          <a:xfrm>
            <a:off x="266700" y="3917450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4.3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7E358332-CCEB-93B4-FECE-57060BA63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490874"/>
              </p:ext>
            </p:extLst>
          </p:nvPr>
        </p:nvGraphicFramePr>
        <p:xfrm>
          <a:off x="266700" y="4146050"/>
          <a:ext cx="5686425" cy="23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7" name="Rounded Rectangle 16">
            <a:extLst>
              <a:ext uri="{FF2B5EF4-FFF2-40B4-BE49-F238E27FC236}">
                <a16:creationId xmlns:a16="http://schemas.microsoft.com/office/drawing/2014/main" id="{CF21BEA5-9C52-B9E3-4DA0-1D0C76F00775}"/>
              </a:ext>
            </a:extLst>
          </p:cNvPr>
          <p:cNvSpPr/>
          <p:nvPr/>
        </p:nvSpPr>
        <p:spPr>
          <a:xfrm>
            <a:off x="6210300" y="3875718"/>
            <a:ext cx="5876925" cy="269217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AC4AAC-7975-9697-B4FA-DE1431382CA5}"/>
              </a:ext>
            </a:extLst>
          </p:cNvPr>
          <p:cNvSpPr txBox="1"/>
          <p:nvPr/>
        </p:nvSpPr>
        <p:spPr>
          <a:xfrm>
            <a:off x="6305550" y="3932869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4.4</a:t>
            </a:r>
          </a:p>
        </p:txBody>
      </p:sp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0685F4B3-7648-D793-C047-DFA8FFA31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041281"/>
              </p:ext>
            </p:extLst>
          </p:nvPr>
        </p:nvGraphicFramePr>
        <p:xfrm>
          <a:off x="6305550" y="4161469"/>
          <a:ext cx="5686425" cy="2331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43" name="Picture 42" descr="lock.png">
            <a:extLst>
              <a:ext uri="{FF2B5EF4-FFF2-40B4-BE49-F238E27FC236}">
                <a16:creationId xmlns:a16="http://schemas.microsoft.com/office/drawing/2014/main" id="{EBE8EC1F-53FD-C019-E0A6-CEA344356C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6366" y="5291540"/>
            <a:ext cx="358543" cy="508564"/>
          </a:xfrm>
          <a:prstGeom prst="rect">
            <a:avLst/>
          </a:prstGeom>
        </p:spPr>
      </p:pic>
      <p:pic>
        <p:nvPicPr>
          <p:cNvPr id="45" name="Picture 44" descr="lock.png">
            <a:extLst>
              <a:ext uri="{FF2B5EF4-FFF2-40B4-BE49-F238E27FC236}">
                <a16:creationId xmlns:a16="http://schemas.microsoft.com/office/drawing/2014/main" id="{FACE0E53-642C-0E73-4335-96B1C63186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0083" y="5221807"/>
            <a:ext cx="358543" cy="50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62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DE3FE-6C80-BADD-CE29-2909F82DD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B43434-FCB8-2DF6-3D4C-0479DC5BEC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AEB35F-856C-9697-3EBE-0DE6F7F5F2B3}"/>
              </a:ext>
            </a:extLst>
          </p:cNvPr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C17D8-857E-9FFF-A283-597A154E66C0}"/>
              </a:ext>
            </a:extLst>
          </p:cNvPr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7E5C4-63D4-E3AC-1064-6DF9EA92EF40}"/>
              </a:ext>
            </a:extLst>
          </p:cNvPr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83489C-D4D4-7B80-BC7A-04590706EA35}"/>
              </a:ext>
            </a:extLst>
          </p:cNvPr>
          <p:cNvSpPr/>
          <p:nvPr/>
        </p:nvSpPr>
        <p:spPr>
          <a:xfrm>
            <a:off x="8124825" y="914400"/>
            <a:ext cx="3943350" cy="54913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>
            <a:extLst>
              <a:ext uri="{FF2B5EF4-FFF2-40B4-BE49-F238E27FC236}">
                <a16:creationId xmlns:a16="http://schemas.microsoft.com/office/drawing/2014/main" id="{D5835BDF-E554-295E-568B-33AF50718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A18BE1-1935-6BC5-1C0C-48102C4A62D3}"/>
              </a:ext>
            </a:extLst>
          </p:cNvPr>
          <p:cNvSpPr txBox="1"/>
          <p:nvPr/>
        </p:nvSpPr>
        <p:spPr>
          <a:xfrm>
            <a:off x="1543050" y="356851"/>
            <a:ext cx="8982075" cy="290849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Absolute $ Opportunity Analysis, By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5 (1/2)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524C4A-F3C7-1D83-220A-56FC6E869FC6}"/>
              </a:ext>
            </a:extLst>
          </p:cNvPr>
          <p:cNvSpPr txBox="1"/>
          <p:nvPr/>
        </p:nvSpPr>
        <p:spPr>
          <a:xfrm>
            <a:off x="1543050" y="647700"/>
            <a:ext cx="10506075" cy="215444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 build-up by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5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the absolute $ opportunity each sub-segment adds, 202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–2036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7C9B8D1-3CE0-A4CC-8B75-C1C5DFD5D555}"/>
              </a:ext>
            </a:extLst>
          </p:cNvPr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C8A8B25-E988-0D5B-35BE-15CA70775FB4}"/>
              </a:ext>
            </a:extLst>
          </p:cNvPr>
          <p:cNvSpPr/>
          <p:nvPr/>
        </p:nvSpPr>
        <p:spPr>
          <a:xfrm>
            <a:off x="142875" y="981076"/>
            <a:ext cx="5876925" cy="2702602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8E05CD-AF92-0A44-E65B-6D7746268959}"/>
              </a:ext>
            </a:extLst>
          </p:cNvPr>
          <p:cNvSpPr txBox="1"/>
          <p:nvPr/>
        </p:nvSpPr>
        <p:spPr>
          <a:xfrm>
            <a:off x="238125" y="1038225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5.1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2C48EE04-FBE3-BBC3-2AF5-BB0FF567328C}"/>
              </a:ext>
            </a:extLst>
          </p:cNvPr>
          <p:cNvGraphicFramePr>
            <a:graphicFrameLocks noGrp="1"/>
          </p:cNvGraphicFramePr>
          <p:nvPr/>
        </p:nvGraphicFramePr>
        <p:xfrm>
          <a:off x="238125" y="1266825"/>
          <a:ext cx="5686425" cy="23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B41C7E2-1F65-7748-F6C5-08693DB397A0}"/>
              </a:ext>
            </a:extLst>
          </p:cNvPr>
          <p:cNvSpPr/>
          <p:nvPr/>
        </p:nvSpPr>
        <p:spPr>
          <a:xfrm>
            <a:off x="6181725" y="996493"/>
            <a:ext cx="5876925" cy="269217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62D319-8901-405E-9341-B993DDA5D0E6}"/>
              </a:ext>
            </a:extLst>
          </p:cNvPr>
          <p:cNvSpPr txBox="1"/>
          <p:nvPr/>
        </p:nvSpPr>
        <p:spPr>
          <a:xfrm>
            <a:off x="6276975" y="1053644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5.2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2664786C-0087-7902-1006-E6F921847E72}"/>
              </a:ext>
            </a:extLst>
          </p:cNvPr>
          <p:cNvGraphicFramePr>
            <a:graphicFrameLocks noGrp="1"/>
          </p:cNvGraphicFramePr>
          <p:nvPr/>
        </p:nvGraphicFramePr>
        <p:xfrm>
          <a:off x="6276975" y="1282244"/>
          <a:ext cx="5686425" cy="2331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A8BC8EB-D70C-3AF2-39DA-6840DC52AC5B}"/>
              </a:ext>
            </a:extLst>
          </p:cNvPr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25" name="Picture 24" descr="lock.png">
            <a:extLst>
              <a:ext uri="{FF2B5EF4-FFF2-40B4-BE49-F238E27FC236}">
                <a16:creationId xmlns:a16="http://schemas.microsoft.com/office/drawing/2014/main" id="{2E942301-3161-5D40-98AD-E57702ECD0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791" y="2412315"/>
            <a:ext cx="358543" cy="508564"/>
          </a:xfrm>
          <a:prstGeom prst="rect">
            <a:avLst/>
          </a:prstGeom>
        </p:spPr>
      </p:pic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6DA3BC36-828E-7B51-A6F8-E42841BD8890}"/>
              </a:ext>
            </a:extLst>
          </p:cNvPr>
          <p:cNvSpPr/>
          <p:nvPr/>
        </p:nvSpPr>
        <p:spPr>
          <a:xfrm>
            <a:off x="133350" y="3758930"/>
            <a:ext cx="5886450" cy="2895462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B90D0D-A467-9877-712C-5D158463D972}"/>
              </a:ext>
            </a:extLst>
          </p:cNvPr>
          <p:cNvSpPr txBox="1"/>
          <p:nvPr/>
        </p:nvSpPr>
        <p:spPr>
          <a:xfrm>
            <a:off x="249881" y="3816079"/>
            <a:ext cx="5695641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5.3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C5F528AF-6181-ED33-60F1-92DE74A41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705001"/>
              </p:ext>
            </p:extLst>
          </p:nvPr>
        </p:nvGraphicFramePr>
        <p:xfrm>
          <a:off x="249881" y="4044678"/>
          <a:ext cx="5695641" cy="2558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26" name="Picture 25" descr="lock.png">
            <a:extLst>
              <a:ext uri="{FF2B5EF4-FFF2-40B4-BE49-F238E27FC236}">
                <a16:creationId xmlns:a16="http://schemas.microsoft.com/office/drawing/2014/main" id="{B9FF70D3-CBEE-5812-D6D0-B2B6BA2728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235" y="5419381"/>
            <a:ext cx="359124" cy="508641"/>
          </a:xfrm>
          <a:prstGeom prst="rect">
            <a:avLst/>
          </a:prstGeom>
        </p:spPr>
      </p:pic>
      <p:pic>
        <p:nvPicPr>
          <p:cNvPr id="28" name="Picture 27" descr="lock.png">
            <a:extLst>
              <a:ext uri="{FF2B5EF4-FFF2-40B4-BE49-F238E27FC236}">
                <a16:creationId xmlns:a16="http://schemas.microsoft.com/office/drawing/2014/main" id="{F2BC7937-D191-B860-64D3-F183CFC681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1508" y="2342582"/>
            <a:ext cx="358543" cy="500774"/>
          </a:xfrm>
          <a:prstGeom prst="rect">
            <a:avLst/>
          </a:prstGeom>
        </p:spPr>
      </p:pic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55177BEA-F222-0344-B7D8-7A907CCE26C7}"/>
              </a:ext>
            </a:extLst>
          </p:cNvPr>
          <p:cNvSpPr/>
          <p:nvPr/>
        </p:nvSpPr>
        <p:spPr>
          <a:xfrm>
            <a:off x="6153150" y="3772792"/>
            <a:ext cx="5886450" cy="2895462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49FDCE-DBB2-65B9-D463-8B965D0991C1}"/>
              </a:ext>
            </a:extLst>
          </p:cNvPr>
          <p:cNvSpPr txBox="1"/>
          <p:nvPr/>
        </p:nvSpPr>
        <p:spPr>
          <a:xfrm>
            <a:off x="6269681" y="3829941"/>
            <a:ext cx="5695641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5.4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86CEA534-129D-6FA0-DB29-89832893F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205288"/>
              </p:ext>
            </p:extLst>
          </p:nvPr>
        </p:nvGraphicFramePr>
        <p:xfrm>
          <a:off x="6269681" y="4058540"/>
          <a:ext cx="5695641" cy="2558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31" name="Picture 30" descr="lock.png">
            <a:extLst>
              <a:ext uri="{FF2B5EF4-FFF2-40B4-BE49-F238E27FC236}">
                <a16:creationId xmlns:a16="http://schemas.microsoft.com/office/drawing/2014/main" id="{AEBD0DD4-16AC-5028-F4A2-5CDA1515A8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3035" y="5433243"/>
            <a:ext cx="359124" cy="50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038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E7615-43C3-ED7D-C161-5BD87D387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0935D4-1F6E-8516-C4D0-77FF842461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AA6FFA-F4DD-9501-0D54-1C9CE170F0EB}"/>
              </a:ext>
            </a:extLst>
          </p:cNvPr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9E52E5-F9B5-E24B-597B-A21F6CF0ECE6}"/>
              </a:ext>
            </a:extLst>
          </p:cNvPr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40BD51-FC73-34DD-5733-BD756E2CB592}"/>
              </a:ext>
            </a:extLst>
          </p:cNvPr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C04F19-6F12-1A0F-316B-20C202A66811}"/>
              </a:ext>
            </a:extLst>
          </p:cNvPr>
          <p:cNvSpPr/>
          <p:nvPr/>
        </p:nvSpPr>
        <p:spPr>
          <a:xfrm>
            <a:off x="8124825" y="914400"/>
            <a:ext cx="3943350" cy="60353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>
            <a:extLst>
              <a:ext uri="{FF2B5EF4-FFF2-40B4-BE49-F238E27FC236}">
                <a16:creationId xmlns:a16="http://schemas.microsoft.com/office/drawing/2014/main" id="{1042548C-06D3-4D37-D9F7-0E66B9082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DEF203-745C-6A4B-C991-75A37D600821}"/>
              </a:ext>
            </a:extLst>
          </p:cNvPr>
          <p:cNvSpPr txBox="1"/>
          <p:nvPr/>
        </p:nvSpPr>
        <p:spPr>
          <a:xfrm>
            <a:off x="1543050" y="356851"/>
            <a:ext cx="8982075" cy="290849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Absolute $ Opportunity Analysis, By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5 (2/2)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3FDCF-A858-9AD0-6EFB-7D645EF35A33}"/>
              </a:ext>
            </a:extLst>
          </p:cNvPr>
          <p:cNvSpPr txBox="1"/>
          <p:nvPr/>
        </p:nvSpPr>
        <p:spPr>
          <a:xfrm>
            <a:off x="1543050" y="647700"/>
            <a:ext cx="10506075" cy="215444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 build-up by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5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the absolute $ opportunity each sub-segment adds, 202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–2036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1947A5-9E6B-5F88-0A8B-72F35A27FCBF}"/>
              </a:ext>
            </a:extLst>
          </p:cNvPr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81FE65-4138-2C4E-7150-E51F3235B5AE}"/>
              </a:ext>
            </a:extLst>
          </p:cNvPr>
          <p:cNvSpPr/>
          <p:nvPr/>
        </p:nvSpPr>
        <p:spPr>
          <a:xfrm>
            <a:off x="142875" y="981075"/>
            <a:ext cx="5876925" cy="5686425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353580-42FE-220A-305E-9257151F32D7}"/>
              </a:ext>
            </a:extLst>
          </p:cNvPr>
          <p:cNvSpPr txBox="1"/>
          <p:nvPr/>
        </p:nvSpPr>
        <p:spPr>
          <a:xfrm>
            <a:off x="238125" y="1038225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5.5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92218E7E-FF91-8755-BB48-B4FA60DD6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685760"/>
              </p:ext>
            </p:extLst>
          </p:nvPr>
        </p:nvGraphicFramePr>
        <p:xfrm>
          <a:off x="238125" y="1266825"/>
          <a:ext cx="5686425" cy="5023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0FBBD5F-0087-88D5-9F07-141F65BBB033}"/>
              </a:ext>
            </a:extLst>
          </p:cNvPr>
          <p:cNvSpPr/>
          <p:nvPr/>
        </p:nvSpPr>
        <p:spPr>
          <a:xfrm>
            <a:off x="6181725" y="996493"/>
            <a:ext cx="5876925" cy="5667803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2F5DB8-ED7E-F9A5-1E58-EA5A77F82638}"/>
              </a:ext>
            </a:extLst>
          </p:cNvPr>
          <p:cNvSpPr txBox="1"/>
          <p:nvPr/>
        </p:nvSpPr>
        <p:spPr>
          <a:xfrm>
            <a:off x="6276975" y="1053644"/>
            <a:ext cx="5686425" cy="171585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>
              <a:lnSpc>
                <a:spcPct val="90000"/>
              </a:lnSpc>
              <a:defRPr/>
            </a:pPr>
            <a:r>
              <a:rPr lang="en-US" sz="1100" b="1" dirty="0">
                <a:solidFill>
                  <a:srgbClr val="000000"/>
                </a:solidFill>
              </a:rPr>
              <a:t>Summary of Global Absolute $ Opportunity Analysis, By Segment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F9B1FA-224A-AF68-0E3A-A14B13DECCF9}"/>
              </a:ext>
            </a:extLst>
          </p:cNvPr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25" name="Picture 24" descr="lock.png">
            <a:extLst>
              <a:ext uri="{FF2B5EF4-FFF2-40B4-BE49-F238E27FC236}">
                <a16:creationId xmlns:a16="http://schemas.microsoft.com/office/drawing/2014/main" id="{79CC5A12-1383-5419-9413-A78BE8F08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140" y="3589401"/>
            <a:ext cx="469229" cy="77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415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51090-7BF4-8880-5989-A9DB91477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EE7946-AD07-D8AF-42EC-F9D0EA5B9D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D7B46A-F061-F675-0ABC-2218B84BFF94}"/>
              </a:ext>
            </a:extLst>
          </p:cNvPr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21DE54-40E6-830F-3404-DEE6C5862D1B}"/>
              </a:ext>
            </a:extLst>
          </p:cNvPr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2DFDAD-D1FC-B978-FF72-51AC25C27CEA}"/>
              </a:ext>
            </a:extLst>
          </p:cNvPr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CA6C2C-9507-58D0-6928-238D279CDDCA}"/>
              </a:ext>
            </a:extLst>
          </p:cNvPr>
          <p:cNvSpPr/>
          <p:nvPr/>
        </p:nvSpPr>
        <p:spPr>
          <a:xfrm>
            <a:off x="8124825" y="914400"/>
            <a:ext cx="3943350" cy="54913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>
            <a:extLst>
              <a:ext uri="{FF2B5EF4-FFF2-40B4-BE49-F238E27FC236}">
                <a16:creationId xmlns:a16="http://schemas.microsoft.com/office/drawing/2014/main" id="{DB12D40C-C780-02BB-BE4E-742EC838E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92D8BF-B2DC-BAC9-5B10-6E124089899F}"/>
              </a:ext>
            </a:extLst>
          </p:cNvPr>
          <p:cNvSpPr txBox="1"/>
          <p:nvPr/>
        </p:nvSpPr>
        <p:spPr>
          <a:xfrm>
            <a:off x="1543050" y="356851"/>
            <a:ext cx="8982075" cy="290849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Absolute $ Opportunity Analysis, By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6 (1/2)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5F5746-3E3E-BC85-40A0-9A6076B6E41F}"/>
              </a:ext>
            </a:extLst>
          </p:cNvPr>
          <p:cNvSpPr txBox="1"/>
          <p:nvPr/>
        </p:nvSpPr>
        <p:spPr>
          <a:xfrm>
            <a:off x="1543050" y="647700"/>
            <a:ext cx="10506075" cy="215444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 build-up by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6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the absolute $ opportunity each sub-segment adds, 202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–2036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6342A8D-81C8-1C75-5A82-99B512C3A40A}"/>
              </a:ext>
            </a:extLst>
          </p:cNvPr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C916A21-C772-7E08-7B77-FC9828A15B73}"/>
              </a:ext>
            </a:extLst>
          </p:cNvPr>
          <p:cNvSpPr/>
          <p:nvPr/>
        </p:nvSpPr>
        <p:spPr>
          <a:xfrm>
            <a:off x="142875" y="981076"/>
            <a:ext cx="5876925" cy="2702602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000BC-B4F0-62B2-9E7A-5AAF7BA8D8BE}"/>
              </a:ext>
            </a:extLst>
          </p:cNvPr>
          <p:cNvSpPr txBox="1"/>
          <p:nvPr/>
        </p:nvSpPr>
        <p:spPr>
          <a:xfrm>
            <a:off x="238125" y="1038225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6.1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9E74EE0A-5717-03A6-70C1-AB9045322F6A}"/>
              </a:ext>
            </a:extLst>
          </p:cNvPr>
          <p:cNvGraphicFramePr>
            <a:graphicFrameLocks noGrp="1"/>
          </p:cNvGraphicFramePr>
          <p:nvPr/>
        </p:nvGraphicFramePr>
        <p:xfrm>
          <a:off x="238125" y="1266825"/>
          <a:ext cx="5686425" cy="23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5BCB837-DF58-E40A-93BA-17BFFA58C04A}"/>
              </a:ext>
            </a:extLst>
          </p:cNvPr>
          <p:cNvSpPr/>
          <p:nvPr/>
        </p:nvSpPr>
        <p:spPr>
          <a:xfrm>
            <a:off x="6181725" y="996493"/>
            <a:ext cx="5876925" cy="269217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C9711D-EE74-3066-91F4-A1C3F300BD96}"/>
              </a:ext>
            </a:extLst>
          </p:cNvPr>
          <p:cNvSpPr txBox="1"/>
          <p:nvPr/>
        </p:nvSpPr>
        <p:spPr>
          <a:xfrm>
            <a:off x="6276975" y="1053644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6.2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418A12F7-E55D-6655-12C4-E9FFC0E005A3}"/>
              </a:ext>
            </a:extLst>
          </p:cNvPr>
          <p:cNvGraphicFramePr>
            <a:graphicFrameLocks noGrp="1"/>
          </p:cNvGraphicFramePr>
          <p:nvPr/>
        </p:nvGraphicFramePr>
        <p:xfrm>
          <a:off x="6276975" y="1282244"/>
          <a:ext cx="5686425" cy="2331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447ADB8-B2B9-AB0D-84C4-04BA4695D9C6}"/>
              </a:ext>
            </a:extLst>
          </p:cNvPr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25" name="Picture 24" descr="lock.png">
            <a:extLst>
              <a:ext uri="{FF2B5EF4-FFF2-40B4-BE49-F238E27FC236}">
                <a16:creationId xmlns:a16="http://schemas.microsoft.com/office/drawing/2014/main" id="{319B28D8-56A3-911F-37C9-55EEEA900D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791" y="2412315"/>
            <a:ext cx="358543" cy="508564"/>
          </a:xfrm>
          <a:prstGeom prst="rect">
            <a:avLst/>
          </a:prstGeom>
        </p:spPr>
      </p:pic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22254A57-73EC-B742-ADA6-22DB2CE2D8C4}"/>
              </a:ext>
            </a:extLst>
          </p:cNvPr>
          <p:cNvSpPr/>
          <p:nvPr/>
        </p:nvSpPr>
        <p:spPr>
          <a:xfrm>
            <a:off x="128568" y="3740368"/>
            <a:ext cx="5900623" cy="2950171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FBBCA3-752D-695C-D7D4-F618D61E794E}"/>
              </a:ext>
            </a:extLst>
          </p:cNvPr>
          <p:cNvSpPr txBox="1"/>
          <p:nvPr/>
        </p:nvSpPr>
        <p:spPr>
          <a:xfrm>
            <a:off x="245100" y="3797518"/>
            <a:ext cx="570935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6.3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D8691CF7-9802-D82B-C67E-276BFC0E1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145396"/>
              </p:ext>
            </p:extLst>
          </p:nvPr>
        </p:nvGraphicFramePr>
        <p:xfrm>
          <a:off x="245100" y="4026118"/>
          <a:ext cx="5709355" cy="2606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26" name="Picture 25" descr="lock.png">
            <a:extLst>
              <a:ext uri="{FF2B5EF4-FFF2-40B4-BE49-F238E27FC236}">
                <a16:creationId xmlns:a16="http://schemas.microsoft.com/office/drawing/2014/main" id="{C87E8295-BC98-CEF7-AAE2-854681E1D5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8453" y="5400820"/>
            <a:ext cx="359989" cy="518252"/>
          </a:xfrm>
          <a:prstGeom prst="rect">
            <a:avLst/>
          </a:prstGeom>
        </p:spPr>
      </p:pic>
      <p:pic>
        <p:nvPicPr>
          <p:cNvPr id="28" name="Picture 27" descr="lock.png">
            <a:extLst>
              <a:ext uri="{FF2B5EF4-FFF2-40B4-BE49-F238E27FC236}">
                <a16:creationId xmlns:a16="http://schemas.microsoft.com/office/drawing/2014/main" id="{BA86C8F1-41A8-7E1D-A199-47F8085E34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1508" y="2342582"/>
            <a:ext cx="358543" cy="500774"/>
          </a:xfrm>
          <a:prstGeom prst="rect">
            <a:avLst/>
          </a:prstGeom>
        </p:spPr>
      </p:pic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8815AF3B-92E0-7BB5-62D2-11DE2F7C06DB}"/>
              </a:ext>
            </a:extLst>
          </p:cNvPr>
          <p:cNvSpPr/>
          <p:nvPr/>
        </p:nvSpPr>
        <p:spPr>
          <a:xfrm>
            <a:off x="6181725" y="3748308"/>
            <a:ext cx="5876925" cy="2955038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ADB79D-8B4A-D2B3-E0F6-8F8C91F60034}"/>
              </a:ext>
            </a:extLst>
          </p:cNvPr>
          <p:cNvSpPr txBox="1"/>
          <p:nvPr/>
        </p:nvSpPr>
        <p:spPr>
          <a:xfrm>
            <a:off x="6276975" y="3805457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6.4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200DAEF5-27F6-8516-E99C-C2686799C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394939"/>
              </p:ext>
            </p:extLst>
          </p:nvPr>
        </p:nvGraphicFramePr>
        <p:xfrm>
          <a:off x="6276975" y="4034057"/>
          <a:ext cx="5686425" cy="2610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33" name="Picture 32" descr="lock.png">
            <a:extLst>
              <a:ext uri="{FF2B5EF4-FFF2-40B4-BE49-F238E27FC236}">
                <a16:creationId xmlns:a16="http://schemas.microsoft.com/office/drawing/2014/main" id="{05AE42F4-E1D5-7BC8-E600-9633F7EA1F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6641" y="5179547"/>
            <a:ext cx="358543" cy="55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34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C5347-134F-2A02-5A28-F490282D8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9822E1-B4DF-0970-2777-36313729E5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FC5B4-78C0-D639-D28B-D7EE43158E21}"/>
              </a:ext>
            </a:extLst>
          </p:cNvPr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F6D776-0307-F59D-7CCA-77B4E73D37DA}"/>
              </a:ext>
            </a:extLst>
          </p:cNvPr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959E97-7B67-790B-64EC-D1368D9EF2B4}"/>
              </a:ext>
            </a:extLst>
          </p:cNvPr>
          <p:cNvSpPr/>
          <p:nvPr/>
        </p:nvSpPr>
        <p:spPr>
          <a:xfrm>
            <a:off x="8124825" y="914400"/>
            <a:ext cx="3943350" cy="54913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>
            <a:extLst>
              <a:ext uri="{FF2B5EF4-FFF2-40B4-BE49-F238E27FC236}">
                <a16:creationId xmlns:a16="http://schemas.microsoft.com/office/drawing/2014/main" id="{B4DD6F0C-7CC3-B6D3-88BA-AFB4F5868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94AEA5-E0B7-CCC1-6499-386960548376}"/>
              </a:ext>
            </a:extLst>
          </p:cNvPr>
          <p:cNvSpPr txBox="1"/>
          <p:nvPr/>
        </p:nvSpPr>
        <p:spPr>
          <a:xfrm>
            <a:off x="1543050" y="356851"/>
            <a:ext cx="8982075" cy="290849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Absolute $ Opportunity Analysis, By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6 (2/2)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762F5-9E52-A662-B77A-5B4B4EB655C3}"/>
              </a:ext>
            </a:extLst>
          </p:cNvPr>
          <p:cNvSpPr txBox="1"/>
          <p:nvPr/>
        </p:nvSpPr>
        <p:spPr>
          <a:xfrm>
            <a:off x="1543050" y="647700"/>
            <a:ext cx="10506075" cy="215444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 build-up by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6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the absolute $ opportunity each sub-segment adds, 202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–2036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9314EBD-9B75-B671-2FA0-BCB21E46C0C6}"/>
              </a:ext>
            </a:extLst>
          </p:cNvPr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FA237AB-43CC-23D9-514D-075086E52EE8}"/>
              </a:ext>
            </a:extLst>
          </p:cNvPr>
          <p:cNvSpPr/>
          <p:nvPr/>
        </p:nvSpPr>
        <p:spPr>
          <a:xfrm>
            <a:off x="123825" y="1026140"/>
            <a:ext cx="5597965" cy="269217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FEDDEE-4A1B-9E0D-CBAB-9EED95EC0345}"/>
              </a:ext>
            </a:extLst>
          </p:cNvPr>
          <p:cNvSpPr txBox="1"/>
          <p:nvPr/>
        </p:nvSpPr>
        <p:spPr>
          <a:xfrm>
            <a:off x="219075" y="1083291"/>
            <a:ext cx="5416507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6.5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007D1B0D-A4F8-DB4A-533D-380FF4EE1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876914"/>
              </p:ext>
            </p:extLst>
          </p:nvPr>
        </p:nvGraphicFramePr>
        <p:xfrm>
          <a:off x="219075" y="1311891"/>
          <a:ext cx="5416507" cy="2331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60DF0314-5FAC-6958-5B13-5EA221D4C025}"/>
              </a:ext>
            </a:extLst>
          </p:cNvPr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5CF16B7F-2E3E-58A6-34C9-64A9695860B2}"/>
              </a:ext>
            </a:extLst>
          </p:cNvPr>
          <p:cNvSpPr/>
          <p:nvPr/>
        </p:nvSpPr>
        <p:spPr>
          <a:xfrm>
            <a:off x="123825" y="3864679"/>
            <a:ext cx="5597965" cy="2692180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7A2B77-CD72-6E9E-79D2-064CFB5FBED4}"/>
              </a:ext>
            </a:extLst>
          </p:cNvPr>
          <p:cNvSpPr txBox="1"/>
          <p:nvPr/>
        </p:nvSpPr>
        <p:spPr>
          <a:xfrm>
            <a:off x="240357" y="3921828"/>
            <a:ext cx="5416508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6.6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B1856AC4-F020-6C6F-0FB4-203E4CA18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917272"/>
              </p:ext>
            </p:extLst>
          </p:nvPr>
        </p:nvGraphicFramePr>
        <p:xfrm>
          <a:off x="240357" y="4150428"/>
          <a:ext cx="5416508" cy="2378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6" name="Picture 25" descr="lock.png">
            <a:extLst>
              <a:ext uri="{FF2B5EF4-FFF2-40B4-BE49-F238E27FC236}">
                <a16:creationId xmlns:a16="http://schemas.microsoft.com/office/drawing/2014/main" id="{638D9FA1-4605-8B56-C142-2BAF3CCCA1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7558" y="5321798"/>
            <a:ext cx="297018" cy="472931"/>
          </a:xfrm>
          <a:prstGeom prst="rect">
            <a:avLst/>
          </a:prstGeom>
        </p:spPr>
      </p:pic>
      <p:pic>
        <p:nvPicPr>
          <p:cNvPr id="28" name="Picture 27" descr="lock.png">
            <a:extLst>
              <a:ext uri="{FF2B5EF4-FFF2-40B4-BE49-F238E27FC236}">
                <a16:creationId xmlns:a16="http://schemas.microsoft.com/office/drawing/2014/main" id="{A66D9B96-464B-9BE7-6CCE-137D35FA2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3609" y="2372229"/>
            <a:ext cx="341524" cy="50077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7261128-A6C6-F1B9-3122-2B88BE530784}"/>
              </a:ext>
            </a:extLst>
          </p:cNvPr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ounded Rectangle 16">
            <a:extLst>
              <a:ext uri="{FF2B5EF4-FFF2-40B4-BE49-F238E27FC236}">
                <a16:creationId xmlns:a16="http://schemas.microsoft.com/office/drawing/2014/main" id="{F70700B2-3164-C514-2002-56540D753B89}"/>
              </a:ext>
            </a:extLst>
          </p:cNvPr>
          <p:cNvSpPr/>
          <p:nvPr/>
        </p:nvSpPr>
        <p:spPr>
          <a:xfrm>
            <a:off x="5921189" y="1026139"/>
            <a:ext cx="6127936" cy="55307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0121D9-696A-67C8-18CB-8B4600F22035}"/>
              </a:ext>
            </a:extLst>
          </p:cNvPr>
          <p:cNvSpPr txBox="1"/>
          <p:nvPr/>
        </p:nvSpPr>
        <p:spPr>
          <a:xfrm>
            <a:off x="6034087" y="1091269"/>
            <a:ext cx="5416507" cy="171585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>
              <a:lnSpc>
                <a:spcPct val="90000"/>
              </a:lnSpc>
              <a:defRPr/>
            </a:pPr>
            <a:r>
              <a:rPr lang="en-US" sz="1100" b="1" dirty="0">
                <a:solidFill>
                  <a:srgbClr val="000000"/>
                </a:solidFill>
              </a:rPr>
              <a:t>Summary of Global Absolute $ Opportunity Analysis, By Segment 6</a:t>
            </a:r>
          </a:p>
        </p:txBody>
      </p:sp>
    </p:spTree>
    <p:extLst>
      <p:ext uri="{BB962C8B-B14F-4D97-AF65-F5344CB8AC3E}">
        <p14:creationId xmlns:p14="http://schemas.microsoft.com/office/powerpoint/2010/main" val="267559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59454-40B0-8A5E-5AA1-BD4189FBA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697366-85CD-03E7-C699-8E516C595831}"/>
              </a:ext>
            </a:extLst>
          </p:cNvPr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5FC1EC-B2CD-A7D6-A73F-74308CB3F49A}"/>
              </a:ext>
            </a:extLst>
          </p:cNvPr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EDAE29-C9E1-A32A-54B5-F26823A19A34}"/>
              </a:ext>
            </a:extLst>
          </p:cNvPr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312AC9-1A28-7EEF-BE7D-7A115F44D7CA}"/>
              </a:ext>
            </a:extLst>
          </p:cNvPr>
          <p:cNvSpPr/>
          <p:nvPr/>
        </p:nvSpPr>
        <p:spPr>
          <a:xfrm>
            <a:off x="8124825" y="914400"/>
            <a:ext cx="3943350" cy="54913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>
            <a:extLst>
              <a:ext uri="{FF2B5EF4-FFF2-40B4-BE49-F238E27FC236}">
                <a16:creationId xmlns:a16="http://schemas.microsoft.com/office/drawing/2014/main" id="{653710F8-128C-6EEF-65ED-583584301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2BA7AA-669A-4CCC-41A5-2695ADBD4AAA}"/>
              </a:ext>
            </a:extLst>
          </p:cNvPr>
          <p:cNvSpPr txBox="1"/>
          <p:nvPr/>
        </p:nvSpPr>
        <p:spPr>
          <a:xfrm>
            <a:off x="1543050" y="356851"/>
            <a:ext cx="8982075" cy="290849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Absolute $ Opportunity Analysis, By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7 (1/2)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E17619-C2B5-9E59-7281-6793EE7BA060}"/>
              </a:ext>
            </a:extLst>
          </p:cNvPr>
          <p:cNvSpPr txBox="1"/>
          <p:nvPr/>
        </p:nvSpPr>
        <p:spPr>
          <a:xfrm>
            <a:off x="1543050" y="647700"/>
            <a:ext cx="10506075" cy="215444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 build-up by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7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the absolute $ opportunity each sub-segment adds, 202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–2036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1033A6A-5608-DA99-72C1-72230CEE5A6F}"/>
              </a:ext>
            </a:extLst>
          </p:cNvPr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F12CB59-3022-CC4A-2862-3AEBB06A810F}"/>
              </a:ext>
            </a:extLst>
          </p:cNvPr>
          <p:cNvSpPr/>
          <p:nvPr/>
        </p:nvSpPr>
        <p:spPr>
          <a:xfrm>
            <a:off x="142875" y="981076"/>
            <a:ext cx="5876925" cy="2702602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DA72DC-6A52-4FD3-15E9-8ED1FFA54987}"/>
              </a:ext>
            </a:extLst>
          </p:cNvPr>
          <p:cNvSpPr txBox="1"/>
          <p:nvPr/>
        </p:nvSpPr>
        <p:spPr>
          <a:xfrm>
            <a:off x="238125" y="1038225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7.1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125A63E2-802C-80AF-09E8-86875D0AA6E5}"/>
              </a:ext>
            </a:extLst>
          </p:cNvPr>
          <p:cNvGraphicFramePr>
            <a:graphicFrameLocks noGrp="1"/>
          </p:cNvGraphicFramePr>
          <p:nvPr/>
        </p:nvGraphicFramePr>
        <p:xfrm>
          <a:off x="238125" y="1266825"/>
          <a:ext cx="5686425" cy="23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285FC1E-0F7E-3819-FFB1-05218B556A39}"/>
              </a:ext>
            </a:extLst>
          </p:cNvPr>
          <p:cNvSpPr/>
          <p:nvPr/>
        </p:nvSpPr>
        <p:spPr>
          <a:xfrm>
            <a:off x="6181725" y="996493"/>
            <a:ext cx="5876925" cy="269217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28A4E8-2BEB-98A1-A5B9-A129DE502886}"/>
              </a:ext>
            </a:extLst>
          </p:cNvPr>
          <p:cNvSpPr txBox="1"/>
          <p:nvPr/>
        </p:nvSpPr>
        <p:spPr>
          <a:xfrm>
            <a:off x="6276975" y="1053644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7.2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B80224B7-25F0-8375-05A8-B1AF05AC9035}"/>
              </a:ext>
            </a:extLst>
          </p:cNvPr>
          <p:cNvGraphicFramePr>
            <a:graphicFrameLocks noGrp="1"/>
          </p:cNvGraphicFramePr>
          <p:nvPr/>
        </p:nvGraphicFramePr>
        <p:xfrm>
          <a:off x="6276975" y="1282244"/>
          <a:ext cx="5686425" cy="2331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B6C5986-D5EA-A052-A2C7-4931CA0C8F8B}"/>
              </a:ext>
            </a:extLst>
          </p:cNvPr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25" name="Picture 24" descr="lock.png">
            <a:extLst>
              <a:ext uri="{FF2B5EF4-FFF2-40B4-BE49-F238E27FC236}">
                <a16:creationId xmlns:a16="http://schemas.microsoft.com/office/drawing/2014/main" id="{863AEC53-846F-674E-5E02-75C572BB34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791" y="2412315"/>
            <a:ext cx="358543" cy="508564"/>
          </a:xfrm>
          <a:prstGeom prst="rect">
            <a:avLst/>
          </a:prstGeom>
        </p:spPr>
      </p:pic>
      <p:pic>
        <p:nvPicPr>
          <p:cNvPr id="28" name="Picture 27" descr="lock.png">
            <a:extLst>
              <a:ext uri="{FF2B5EF4-FFF2-40B4-BE49-F238E27FC236}">
                <a16:creationId xmlns:a16="http://schemas.microsoft.com/office/drawing/2014/main" id="{DBAA8679-B34D-6F78-94A2-864D4DA06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1508" y="2342582"/>
            <a:ext cx="358543" cy="500774"/>
          </a:xfrm>
          <a:prstGeom prst="rect">
            <a:avLst/>
          </a:prstGeom>
        </p:spPr>
      </p:pic>
      <p:sp>
        <p:nvSpPr>
          <p:cNvPr id="31" name="Rounded Rectangle 10">
            <a:extLst>
              <a:ext uri="{FF2B5EF4-FFF2-40B4-BE49-F238E27FC236}">
                <a16:creationId xmlns:a16="http://schemas.microsoft.com/office/drawing/2014/main" id="{D2BEE94F-7EF6-AA11-0596-B0BFF1E340B0}"/>
              </a:ext>
            </a:extLst>
          </p:cNvPr>
          <p:cNvSpPr/>
          <p:nvPr/>
        </p:nvSpPr>
        <p:spPr>
          <a:xfrm>
            <a:off x="171450" y="3860301"/>
            <a:ext cx="5876925" cy="2702602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148ED8-6B53-5837-AE45-AE5F7C991A03}"/>
              </a:ext>
            </a:extLst>
          </p:cNvPr>
          <p:cNvSpPr txBox="1"/>
          <p:nvPr/>
        </p:nvSpPr>
        <p:spPr>
          <a:xfrm>
            <a:off x="266700" y="3917450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7.3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B8D1FBAD-8AB2-DD57-2CD9-A8C292E65481}"/>
              </a:ext>
            </a:extLst>
          </p:cNvPr>
          <p:cNvGraphicFramePr>
            <a:graphicFrameLocks noGrp="1"/>
          </p:cNvGraphicFramePr>
          <p:nvPr/>
        </p:nvGraphicFramePr>
        <p:xfrm>
          <a:off x="266700" y="4146050"/>
          <a:ext cx="5686425" cy="23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7" name="Rounded Rectangle 16">
            <a:extLst>
              <a:ext uri="{FF2B5EF4-FFF2-40B4-BE49-F238E27FC236}">
                <a16:creationId xmlns:a16="http://schemas.microsoft.com/office/drawing/2014/main" id="{F12F6233-8427-C2B6-DB1B-A05F9323C82E}"/>
              </a:ext>
            </a:extLst>
          </p:cNvPr>
          <p:cNvSpPr/>
          <p:nvPr/>
        </p:nvSpPr>
        <p:spPr>
          <a:xfrm>
            <a:off x="6210300" y="3875718"/>
            <a:ext cx="5876925" cy="269217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0CEA63-4A9B-8E60-18DF-1DBD35A1B67D}"/>
              </a:ext>
            </a:extLst>
          </p:cNvPr>
          <p:cNvSpPr txBox="1"/>
          <p:nvPr/>
        </p:nvSpPr>
        <p:spPr>
          <a:xfrm>
            <a:off x="6305550" y="3932869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7.4</a:t>
            </a:r>
          </a:p>
        </p:txBody>
      </p:sp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DA67C890-22E3-410C-8009-1FD438C60B9B}"/>
              </a:ext>
            </a:extLst>
          </p:cNvPr>
          <p:cNvGraphicFramePr>
            <a:graphicFrameLocks noGrp="1"/>
          </p:cNvGraphicFramePr>
          <p:nvPr/>
        </p:nvGraphicFramePr>
        <p:xfrm>
          <a:off x="6305550" y="4161469"/>
          <a:ext cx="5686425" cy="2331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43" name="Picture 42" descr="lock.png">
            <a:extLst>
              <a:ext uri="{FF2B5EF4-FFF2-40B4-BE49-F238E27FC236}">
                <a16:creationId xmlns:a16="http://schemas.microsoft.com/office/drawing/2014/main" id="{73B8A1F0-1BB0-08D4-134F-C371091242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6366" y="5291540"/>
            <a:ext cx="358543" cy="508564"/>
          </a:xfrm>
          <a:prstGeom prst="rect">
            <a:avLst/>
          </a:prstGeom>
        </p:spPr>
      </p:pic>
      <p:pic>
        <p:nvPicPr>
          <p:cNvPr id="45" name="Picture 44" descr="lock.png">
            <a:extLst>
              <a:ext uri="{FF2B5EF4-FFF2-40B4-BE49-F238E27FC236}">
                <a16:creationId xmlns:a16="http://schemas.microsoft.com/office/drawing/2014/main" id="{8B8F8666-E12E-478B-74C0-4FEC8786DC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0083" y="5221807"/>
            <a:ext cx="358543" cy="50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14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5730E-BFDE-DE71-261F-A9FA50C00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FA65F8-5695-4DB4-03B4-1EB5A59BE0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4F39F9-3A91-55AE-677D-A86CCE65E614}"/>
              </a:ext>
            </a:extLst>
          </p:cNvPr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59C21-B1FC-33CB-01B4-08A43D909D29}"/>
              </a:ext>
            </a:extLst>
          </p:cNvPr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0253D1-C06F-672F-4CC8-7E2B8ECB334B}"/>
              </a:ext>
            </a:extLst>
          </p:cNvPr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893200-2338-2A2F-A34E-ED33171D71D0}"/>
              </a:ext>
            </a:extLst>
          </p:cNvPr>
          <p:cNvSpPr/>
          <p:nvPr/>
        </p:nvSpPr>
        <p:spPr>
          <a:xfrm>
            <a:off x="8124825" y="914400"/>
            <a:ext cx="3943350" cy="54913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>
            <a:extLst>
              <a:ext uri="{FF2B5EF4-FFF2-40B4-BE49-F238E27FC236}">
                <a16:creationId xmlns:a16="http://schemas.microsoft.com/office/drawing/2014/main" id="{70FAD872-225B-DD2A-4AD5-439AAD1CE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6BD2BA-6888-519A-AA2B-80382EB275EE}"/>
              </a:ext>
            </a:extLst>
          </p:cNvPr>
          <p:cNvSpPr txBox="1"/>
          <p:nvPr/>
        </p:nvSpPr>
        <p:spPr>
          <a:xfrm>
            <a:off x="1543050" y="356851"/>
            <a:ext cx="8982075" cy="290849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Absolute $ Opportunity Analysis, By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7 (2/2)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8CF35F-04C1-4F76-A8D5-5947A22A5A41}"/>
              </a:ext>
            </a:extLst>
          </p:cNvPr>
          <p:cNvSpPr txBox="1"/>
          <p:nvPr/>
        </p:nvSpPr>
        <p:spPr>
          <a:xfrm>
            <a:off x="1543050" y="647700"/>
            <a:ext cx="10506075" cy="215444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 build-up by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7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the absolute $ opportunity each sub-segment adds, 202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–2036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2E0F6B0-5789-E7AC-AE8E-3F0FED5A72F2}"/>
              </a:ext>
            </a:extLst>
          </p:cNvPr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6344BBA-6BE9-3FE9-31BB-41D5694A2DC6}"/>
              </a:ext>
            </a:extLst>
          </p:cNvPr>
          <p:cNvSpPr/>
          <p:nvPr/>
        </p:nvSpPr>
        <p:spPr>
          <a:xfrm>
            <a:off x="142875" y="981076"/>
            <a:ext cx="5876925" cy="2702602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516393-1BBD-A884-8BBE-E174B6D9AAA5}"/>
              </a:ext>
            </a:extLst>
          </p:cNvPr>
          <p:cNvSpPr txBox="1"/>
          <p:nvPr/>
        </p:nvSpPr>
        <p:spPr>
          <a:xfrm>
            <a:off x="238125" y="1038225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7.5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2FE770A0-B03B-4CFC-44BF-22B1A3143D64}"/>
              </a:ext>
            </a:extLst>
          </p:cNvPr>
          <p:cNvGraphicFramePr>
            <a:graphicFrameLocks noGrp="1"/>
          </p:cNvGraphicFramePr>
          <p:nvPr/>
        </p:nvGraphicFramePr>
        <p:xfrm>
          <a:off x="238125" y="1266825"/>
          <a:ext cx="5686425" cy="23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BE4D389-B983-79CB-00C3-2AB2DE107132}"/>
              </a:ext>
            </a:extLst>
          </p:cNvPr>
          <p:cNvSpPr/>
          <p:nvPr/>
        </p:nvSpPr>
        <p:spPr>
          <a:xfrm>
            <a:off x="6181725" y="996493"/>
            <a:ext cx="5876925" cy="269217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710D6F-E0CC-D7D7-9E56-24F056B90FB9}"/>
              </a:ext>
            </a:extLst>
          </p:cNvPr>
          <p:cNvSpPr txBox="1"/>
          <p:nvPr/>
        </p:nvSpPr>
        <p:spPr>
          <a:xfrm>
            <a:off x="6276975" y="1053644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7.6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6B5D4496-C992-E387-EF3D-96AA674F95A7}"/>
              </a:ext>
            </a:extLst>
          </p:cNvPr>
          <p:cNvGraphicFramePr>
            <a:graphicFrameLocks noGrp="1"/>
          </p:cNvGraphicFramePr>
          <p:nvPr/>
        </p:nvGraphicFramePr>
        <p:xfrm>
          <a:off x="6276975" y="1282244"/>
          <a:ext cx="5686425" cy="2331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5FF35F7-0170-ABC2-85B7-BCCE95E19842}"/>
              </a:ext>
            </a:extLst>
          </p:cNvPr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25" name="Picture 24" descr="lock.png">
            <a:extLst>
              <a:ext uri="{FF2B5EF4-FFF2-40B4-BE49-F238E27FC236}">
                <a16:creationId xmlns:a16="http://schemas.microsoft.com/office/drawing/2014/main" id="{1BA139E3-4A86-DE0D-03B7-55EEEF4B9F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791" y="2412315"/>
            <a:ext cx="358543" cy="508564"/>
          </a:xfrm>
          <a:prstGeom prst="rect">
            <a:avLst/>
          </a:prstGeom>
        </p:spPr>
      </p:pic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120483EA-2FA8-3EDB-1AA9-19D5353D1E71}"/>
              </a:ext>
            </a:extLst>
          </p:cNvPr>
          <p:cNvSpPr/>
          <p:nvPr/>
        </p:nvSpPr>
        <p:spPr>
          <a:xfrm>
            <a:off x="121593" y="3776576"/>
            <a:ext cx="5898207" cy="2923042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9D2197-A61E-4BDC-61FB-3590697AE776}"/>
              </a:ext>
            </a:extLst>
          </p:cNvPr>
          <p:cNvSpPr txBox="1"/>
          <p:nvPr/>
        </p:nvSpPr>
        <p:spPr>
          <a:xfrm>
            <a:off x="238125" y="3833725"/>
            <a:ext cx="5707017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7.7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809E07E5-60E1-DFB5-D9E3-684554AE6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124563"/>
              </p:ext>
            </p:extLst>
          </p:nvPr>
        </p:nvGraphicFramePr>
        <p:xfrm>
          <a:off x="238125" y="4062325"/>
          <a:ext cx="5707017" cy="2582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26" name="Picture 25" descr="lock.png">
            <a:extLst>
              <a:ext uri="{FF2B5EF4-FFF2-40B4-BE49-F238E27FC236}">
                <a16:creationId xmlns:a16="http://schemas.microsoft.com/office/drawing/2014/main" id="{336BD65E-D420-7114-0086-882EC6EB7A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1479" y="5437027"/>
            <a:ext cx="359842" cy="513486"/>
          </a:xfrm>
          <a:prstGeom prst="rect">
            <a:avLst/>
          </a:prstGeom>
        </p:spPr>
      </p:pic>
      <p:pic>
        <p:nvPicPr>
          <p:cNvPr id="28" name="Picture 27" descr="lock.png">
            <a:extLst>
              <a:ext uri="{FF2B5EF4-FFF2-40B4-BE49-F238E27FC236}">
                <a16:creationId xmlns:a16="http://schemas.microsoft.com/office/drawing/2014/main" id="{DBD372FE-AEC6-AF39-24B2-866F52A0F6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1508" y="2342582"/>
            <a:ext cx="358543" cy="500774"/>
          </a:xfrm>
          <a:prstGeom prst="rect">
            <a:avLst/>
          </a:prstGeom>
        </p:spPr>
      </p:pic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1D133C28-2E75-7B54-3F53-C2C7B2A45BB4}"/>
              </a:ext>
            </a:extLst>
          </p:cNvPr>
          <p:cNvSpPr/>
          <p:nvPr/>
        </p:nvSpPr>
        <p:spPr>
          <a:xfrm>
            <a:off x="6141393" y="3776576"/>
            <a:ext cx="5898207" cy="2923042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655A8A-866B-D76D-C76C-28CE9DCAA5F1}"/>
              </a:ext>
            </a:extLst>
          </p:cNvPr>
          <p:cNvSpPr txBox="1"/>
          <p:nvPr/>
        </p:nvSpPr>
        <p:spPr>
          <a:xfrm>
            <a:off x="6181725" y="3800155"/>
            <a:ext cx="5686425" cy="171585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>
              <a:lnSpc>
                <a:spcPct val="90000"/>
              </a:lnSpc>
              <a:defRPr/>
            </a:pPr>
            <a:r>
              <a:rPr lang="en-US" sz="1100" b="1">
                <a:solidFill>
                  <a:srgbClr val="000000"/>
                </a:solidFill>
              </a:rPr>
              <a:t>Summary of Global Absolute $ Opportunity Analysis, By Segment 7</a:t>
            </a:r>
            <a:endParaRPr lang="en-US" sz="1100" b="1" dirty="0">
              <a:solidFill>
                <a:srgbClr val="0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B3611C-E25B-3566-9733-B1A9C6CDB098}"/>
              </a:ext>
            </a:extLst>
          </p:cNvPr>
          <p:cNvSpPr txBox="1"/>
          <p:nvPr/>
        </p:nvSpPr>
        <p:spPr>
          <a:xfrm>
            <a:off x="390525" y="1190625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7.5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879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61204-7CFA-6B64-44D2-56E43488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97F100-CAAF-E920-DC69-CDCA4374BDF9}"/>
              </a:ext>
            </a:extLst>
          </p:cNvPr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5DE89A-7CE3-4DA6-9F61-0395C4686313}"/>
              </a:ext>
            </a:extLst>
          </p:cNvPr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B588E7-1D05-DFA9-7AA2-A8E09BA626FA}"/>
              </a:ext>
            </a:extLst>
          </p:cNvPr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B1171C-3308-47C3-6BBD-459778969C37}"/>
              </a:ext>
            </a:extLst>
          </p:cNvPr>
          <p:cNvSpPr/>
          <p:nvPr/>
        </p:nvSpPr>
        <p:spPr>
          <a:xfrm>
            <a:off x="8124825" y="914400"/>
            <a:ext cx="3943350" cy="54913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>
            <a:extLst>
              <a:ext uri="{FF2B5EF4-FFF2-40B4-BE49-F238E27FC236}">
                <a16:creationId xmlns:a16="http://schemas.microsoft.com/office/drawing/2014/main" id="{BCFB4533-B326-F42D-5338-775E97AB1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782CFB-9B5E-82E3-B9D6-B366D3E91D58}"/>
              </a:ext>
            </a:extLst>
          </p:cNvPr>
          <p:cNvSpPr txBox="1"/>
          <p:nvPr/>
        </p:nvSpPr>
        <p:spPr>
          <a:xfrm>
            <a:off x="1543050" y="356851"/>
            <a:ext cx="8982075" cy="290849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Absolute $ Opportunity Analysis, By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8 (1/2)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020A8-B3B1-DFCC-8808-6DBA982BD18A}"/>
              </a:ext>
            </a:extLst>
          </p:cNvPr>
          <p:cNvSpPr txBox="1"/>
          <p:nvPr/>
        </p:nvSpPr>
        <p:spPr>
          <a:xfrm>
            <a:off x="1543050" y="647700"/>
            <a:ext cx="10506075" cy="215444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 build-up by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8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the absolute $ opportunity each sub-segment adds, 202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–2036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52C173E-55C2-5C02-B751-EBBE7C69BF2B}"/>
              </a:ext>
            </a:extLst>
          </p:cNvPr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7169CD6-110D-190B-3BD4-94E22793EDE5}"/>
              </a:ext>
            </a:extLst>
          </p:cNvPr>
          <p:cNvSpPr/>
          <p:nvPr/>
        </p:nvSpPr>
        <p:spPr>
          <a:xfrm>
            <a:off x="142875" y="981076"/>
            <a:ext cx="5876925" cy="2702602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FDD41-D7E4-67BF-0F01-7D93A7088CD0}"/>
              </a:ext>
            </a:extLst>
          </p:cNvPr>
          <p:cNvSpPr txBox="1"/>
          <p:nvPr/>
        </p:nvSpPr>
        <p:spPr>
          <a:xfrm>
            <a:off x="238125" y="1038225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8.1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29387560-B0EA-CA5D-8CD1-7FD1774A7A65}"/>
              </a:ext>
            </a:extLst>
          </p:cNvPr>
          <p:cNvGraphicFramePr>
            <a:graphicFrameLocks noGrp="1"/>
          </p:cNvGraphicFramePr>
          <p:nvPr/>
        </p:nvGraphicFramePr>
        <p:xfrm>
          <a:off x="238125" y="1266825"/>
          <a:ext cx="5686425" cy="23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D3D2419-C964-53BA-D2EA-007D1E6D0569}"/>
              </a:ext>
            </a:extLst>
          </p:cNvPr>
          <p:cNvSpPr/>
          <p:nvPr/>
        </p:nvSpPr>
        <p:spPr>
          <a:xfrm>
            <a:off x="6181725" y="996493"/>
            <a:ext cx="5876925" cy="269217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7464D2-78CF-DADD-2417-91F5DF11F763}"/>
              </a:ext>
            </a:extLst>
          </p:cNvPr>
          <p:cNvSpPr txBox="1"/>
          <p:nvPr/>
        </p:nvSpPr>
        <p:spPr>
          <a:xfrm>
            <a:off x="6276975" y="1053644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8.2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67EC5946-E7C4-CD07-A280-7BD2C5346159}"/>
              </a:ext>
            </a:extLst>
          </p:cNvPr>
          <p:cNvGraphicFramePr>
            <a:graphicFrameLocks noGrp="1"/>
          </p:cNvGraphicFramePr>
          <p:nvPr/>
        </p:nvGraphicFramePr>
        <p:xfrm>
          <a:off x="6276975" y="1282244"/>
          <a:ext cx="5686425" cy="2331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110B92C6-EA07-3821-28F6-14797353F272}"/>
              </a:ext>
            </a:extLst>
          </p:cNvPr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25" name="Picture 24" descr="lock.png">
            <a:extLst>
              <a:ext uri="{FF2B5EF4-FFF2-40B4-BE49-F238E27FC236}">
                <a16:creationId xmlns:a16="http://schemas.microsoft.com/office/drawing/2014/main" id="{17B8AAF6-A806-EB1D-2EA6-62BD34F661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791" y="2412315"/>
            <a:ext cx="358543" cy="508564"/>
          </a:xfrm>
          <a:prstGeom prst="rect">
            <a:avLst/>
          </a:prstGeom>
        </p:spPr>
      </p:pic>
      <p:pic>
        <p:nvPicPr>
          <p:cNvPr id="28" name="Picture 27" descr="lock.png">
            <a:extLst>
              <a:ext uri="{FF2B5EF4-FFF2-40B4-BE49-F238E27FC236}">
                <a16:creationId xmlns:a16="http://schemas.microsoft.com/office/drawing/2014/main" id="{1C040443-9BC3-398A-B4B3-EA2CA3C47A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1508" y="2342582"/>
            <a:ext cx="358543" cy="500774"/>
          </a:xfrm>
          <a:prstGeom prst="rect">
            <a:avLst/>
          </a:prstGeom>
        </p:spPr>
      </p:pic>
      <p:sp>
        <p:nvSpPr>
          <p:cNvPr id="31" name="Rounded Rectangle 10">
            <a:extLst>
              <a:ext uri="{FF2B5EF4-FFF2-40B4-BE49-F238E27FC236}">
                <a16:creationId xmlns:a16="http://schemas.microsoft.com/office/drawing/2014/main" id="{F473A437-81B4-9049-B84A-A22071E0B60B}"/>
              </a:ext>
            </a:extLst>
          </p:cNvPr>
          <p:cNvSpPr/>
          <p:nvPr/>
        </p:nvSpPr>
        <p:spPr>
          <a:xfrm>
            <a:off x="171450" y="3860301"/>
            <a:ext cx="5876925" cy="2702602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7E04A2-ECB5-7ADE-FF09-1BDF88A0CF36}"/>
              </a:ext>
            </a:extLst>
          </p:cNvPr>
          <p:cNvSpPr txBox="1"/>
          <p:nvPr/>
        </p:nvSpPr>
        <p:spPr>
          <a:xfrm>
            <a:off x="266700" y="3917450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8.3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564452C0-DAED-1313-8958-867FCF4A3272}"/>
              </a:ext>
            </a:extLst>
          </p:cNvPr>
          <p:cNvGraphicFramePr>
            <a:graphicFrameLocks noGrp="1"/>
          </p:cNvGraphicFramePr>
          <p:nvPr/>
        </p:nvGraphicFramePr>
        <p:xfrm>
          <a:off x="266700" y="4146050"/>
          <a:ext cx="5686425" cy="23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7" name="Rounded Rectangle 16">
            <a:extLst>
              <a:ext uri="{FF2B5EF4-FFF2-40B4-BE49-F238E27FC236}">
                <a16:creationId xmlns:a16="http://schemas.microsoft.com/office/drawing/2014/main" id="{1CE4DE14-CF94-ACD6-8531-90D498B0B398}"/>
              </a:ext>
            </a:extLst>
          </p:cNvPr>
          <p:cNvSpPr/>
          <p:nvPr/>
        </p:nvSpPr>
        <p:spPr>
          <a:xfrm>
            <a:off x="6210300" y="3875718"/>
            <a:ext cx="5876925" cy="269217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0784D1-2A63-167C-EAF3-184EC7794CF5}"/>
              </a:ext>
            </a:extLst>
          </p:cNvPr>
          <p:cNvSpPr txBox="1"/>
          <p:nvPr/>
        </p:nvSpPr>
        <p:spPr>
          <a:xfrm>
            <a:off x="6305550" y="3932869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8.4</a:t>
            </a:r>
          </a:p>
        </p:txBody>
      </p:sp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5302655B-917D-BB09-DE18-0555E43FB7D4}"/>
              </a:ext>
            </a:extLst>
          </p:cNvPr>
          <p:cNvGraphicFramePr>
            <a:graphicFrameLocks noGrp="1"/>
          </p:cNvGraphicFramePr>
          <p:nvPr/>
        </p:nvGraphicFramePr>
        <p:xfrm>
          <a:off x="6305550" y="4161469"/>
          <a:ext cx="5686425" cy="2331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43" name="Picture 42" descr="lock.png">
            <a:extLst>
              <a:ext uri="{FF2B5EF4-FFF2-40B4-BE49-F238E27FC236}">
                <a16:creationId xmlns:a16="http://schemas.microsoft.com/office/drawing/2014/main" id="{2A204B4D-9CE2-C96A-0AD6-F5D3879AB8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6366" y="5291540"/>
            <a:ext cx="358543" cy="508564"/>
          </a:xfrm>
          <a:prstGeom prst="rect">
            <a:avLst/>
          </a:prstGeom>
        </p:spPr>
      </p:pic>
      <p:pic>
        <p:nvPicPr>
          <p:cNvPr id="45" name="Picture 44" descr="lock.png">
            <a:extLst>
              <a:ext uri="{FF2B5EF4-FFF2-40B4-BE49-F238E27FC236}">
                <a16:creationId xmlns:a16="http://schemas.microsoft.com/office/drawing/2014/main" id="{93C40D0A-CAAA-C136-9F22-A6385CBD11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0083" y="5221807"/>
            <a:ext cx="358543" cy="50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69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BEAD2-FD1F-CB5B-DC81-15D50CC7B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CC7A34-143A-2A03-CE22-15C1A6C482FA}"/>
              </a:ext>
            </a:extLst>
          </p:cNvPr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28F2EC-7B12-A818-24CE-11131961EAA3}"/>
              </a:ext>
            </a:extLst>
          </p:cNvPr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D172E3-D977-F450-86C6-131BCF7A2C92}"/>
              </a:ext>
            </a:extLst>
          </p:cNvPr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C708C7-315F-6764-0D9B-02D4D34A18A3}"/>
              </a:ext>
            </a:extLst>
          </p:cNvPr>
          <p:cNvSpPr/>
          <p:nvPr/>
        </p:nvSpPr>
        <p:spPr>
          <a:xfrm>
            <a:off x="8124825" y="914400"/>
            <a:ext cx="3943350" cy="54913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>
            <a:extLst>
              <a:ext uri="{FF2B5EF4-FFF2-40B4-BE49-F238E27FC236}">
                <a16:creationId xmlns:a16="http://schemas.microsoft.com/office/drawing/2014/main" id="{376D4652-0F39-57AB-9463-657F22FF9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422C3F-73F8-E651-A7E8-E9955F19C874}"/>
              </a:ext>
            </a:extLst>
          </p:cNvPr>
          <p:cNvSpPr txBox="1"/>
          <p:nvPr/>
        </p:nvSpPr>
        <p:spPr>
          <a:xfrm>
            <a:off x="1543050" y="356851"/>
            <a:ext cx="8982075" cy="290849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Absolute $ Opportunity Analysis, By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8 (2/2)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F6C81-9F43-167E-5800-2803ED10E77F}"/>
              </a:ext>
            </a:extLst>
          </p:cNvPr>
          <p:cNvSpPr txBox="1"/>
          <p:nvPr/>
        </p:nvSpPr>
        <p:spPr>
          <a:xfrm>
            <a:off x="1543050" y="647700"/>
            <a:ext cx="10506075" cy="215444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 build-up by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 4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the absolute $ opportunity each sub-segment adds, 202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–2036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A3BCAD9-1A04-C7C2-7309-AA17D1E33D3F}"/>
              </a:ext>
            </a:extLst>
          </p:cNvPr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98F5E45-C232-2DEF-75D1-475B1AF6F6FE}"/>
              </a:ext>
            </a:extLst>
          </p:cNvPr>
          <p:cNvSpPr/>
          <p:nvPr/>
        </p:nvSpPr>
        <p:spPr>
          <a:xfrm>
            <a:off x="142875" y="981076"/>
            <a:ext cx="5876925" cy="2702602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BA6A27-C8AB-C1FD-19F2-9B900EB89409}"/>
              </a:ext>
            </a:extLst>
          </p:cNvPr>
          <p:cNvSpPr txBox="1"/>
          <p:nvPr/>
        </p:nvSpPr>
        <p:spPr>
          <a:xfrm>
            <a:off x="238125" y="1038225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8.5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82BC5D6C-4469-EACC-F9DF-E6869BE31A10}"/>
              </a:ext>
            </a:extLst>
          </p:cNvPr>
          <p:cNvGraphicFramePr>
            <a:graphicFrameLocks noGrp="1"/>
          </p:cNvGraphicFramePr>
          <p:nvPr/>
        </p:nvGraphicFramePr>
        <p:xfrm>
          <a:off x="238125" y="1266825"/>
          <a:ext cx="5686425" cy="23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D815B55-F095-9BE7-E77D-4BED926AE70D}"/>
              </a:ext>
            </a:extLst>
          </p:cNvPr>
          <p:cNvSpPr/>
          <p:nvPr/>
        </p:nvSpPr>
        <p:spPr>
          <a:xfrm>
            <a:off x="6181725" y="996493"/>
            <a:ext cx="5876925" cy="269217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BF970C-B9C4-135A-3A9E-57E62AD2A835}"/>
              </a:ext>
            </a:extLst>
          </p:cNvPr>
          <p:cNvSpPr txBox="1"/>
          <p:nvPr/>
        </p:nvSpPr>
        <p:spPr>
          <a:xfrm>
            <a:off x="6276975" y="1053644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8.6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DE97BC4E-9A16-F96B-7B4C-098911465E0B}"/>
              </a:ext>
            </a:extLst>
          </p:cNvPr>
          <p:cNvGraphicFramePr>
            <a:graphicFrameLocks noGrp="1"/>
          </p:cNvGraphicFramePr>
          <p:nvPr/>
        </p:nvGraphicFramePr>
        <p:xfrm>
          <a:off x="6276975" y="1282244"/>
          <a:ext cx="5686425" cy="2331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D42AF24-D530-B942-8BB3-87A8F0F94477}"/>
              </a:ext>
            </a:extLst>
          </p:cNvPr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25" name="Picture 24" descr="lock.png">
            <a:extLst>
              <a:ext uri="{FF2B5EF4-FFF2-40B4-BE49-F238E27FC236}">
                <a16:creationId xmlns:a16="http://schemas.microsoft.com/office/drawing/2014/main" id="{AAA305FE-FE5B-C7DD-9698-DFBD445FF1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791" y="2412315"/>
            <a:ext cx="358543" cy="508564"/>
          </a:xfrm>
          <a:prstGeom prst="rect">
            <a:avLst/>
          </a:prstGeom>
        </p:spPr>
      </p:pic>
      <p:pic>
        <p:nvPicPr>
          <p:cNvPr id="28" name="Picture 27" descr="lock.png">
            <a:extLst>
              <a:ext uri="{FF2B5EF4-FFF2-40B4-BE49-F238E27FC236}">
                <a16:creationId xmlns:a16="http://schemas.microsoft.com/office/drawing/2014/main" id="{B108AC20-FCD3-3027-C0E1-E51E0426E9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1508" y="2342582"/>
            <a:ext cx="358543" cy="500774"/>
          </a:xfrm>
          <a:prstGeom prst="rect">
            <a:avLst/>
          </a:prstGeom>
        </p:spPr>
      </p:pic>
      <p:sp>
        <p:nvSpPr>
          <p:cNvPr id="31" name="Rounded Rectangle 10">
            <a:extLst>
              <a:ext uri="{FF2B5EF4-FFF2-40B4-BE49-F238E27FC236}">
                <a16:creationId xmlns:a16="http://schemas.microsoft.com/office/drawing/2014/main" id="{08C4C8B3-AEC5-DCC4-8A12-2670A2A6F5F7}"/>
              </a:ext>
            </a:extLst>
          </p:cNvPr>
          <p:cNvSpPr/>
          <p:nvPr/>
        </p:nvSpPr>
        <p:spPr>
          <a:xfrm>
            <a:off x="171450" y="3860301"/>
            <a:ext cx="5876925" cy="2702602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F85968-79C8-5BDD-C72C-025BDB53F6AB}"/>
              </a:ext>
            </a:extLst>
          </p:cNvPr>
          <p:cNvSpPr txBox="1"/>
          <p:nvPr/>
        </p:nvSpPr>
        <p:spPr>
          <a:xfrm>
            <a:off x="266700" y="3917450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subsegment 8.7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22FBE946-BCAA-EBC3-3AB8-250DDFC998A1}"/>
              </a:ext>
            </a:extLst>
          </p:cNvPr>
          <p:cNvGraphicFramePr>
            <a:graphicFrameLocks noGrp="1"/>
          </p:cNvGraphicFramePr>
          <p:nvPr/>
        </p:nvGraphicFramePr>
        <p:xfrm>
          <a:off x="266700" y="4146050"/>
          <a:ext cx="5686425" cy="23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7" name="Rounded Rectangle 16">
            <a:extLst>
              <a:ext uri="{FF2B5EF4-FFF2-40B4-BE49-F238E27FC236}">
                <a16:creationId xmlns:a16="http://schemas.microsoft.com/office/drawing/2014/main" id="{0F38FA02-DF5A-214F-F41C-85E7758F7926}"/>
              </a:ext>
            </a:extLst>
          </p:cNvPr>
          <p:cNvSpPr/>
          <p:nvPr/>
        </p:nvSpPr>
        <p:spPr>
          <a:xfrm>
            <a:off x="6210300" y="3875718"/>
            <a:ext cx="5876925" cy="269217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19F57F-6E32-A8B6-D759-1E2483CD3BEA}"/>
              </a:ext>
            </a:extLst>
          </p:cNvPr>
          <p:cNvSpPr txBox="1"/>
          <p:nvPr/>
        </p:nvSpPr>
        <p:spPr>
          <a:xfrm>
            <a:off x="6305550" y="3932869"/>
            <a:ext cx="5686425" cy="188513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lvl="0" defTabSz="457200"/>
            <a:r>
              <a:rPr lang="en-US" sz="1100" b="1" dirty="0">
                <a:solidFill>
                  <a:srgbClr val="2E2E2E"/>
                </a:solidFill>
              </a:rPr>
              <a:t>Global Incremental $ Opportunity (USD Mn), 2026-2036, By </a:t>
            </a:r>
            <a:r>
              <a:rPr lang="en-US" sz="1100" b="1">
                <a:solidFill>
                  <a:srgbClr val="2E2E2E"/>
                </a:solidFill>
              </a:rPr>
              <a:t>subsegment 8.8</a:t>
            </a:r>
            <a:endParaRPr lang="en-US" sz="1100" b="1" dirty="0">
              <a:solidFill>
                <a:srgbClr val="2E2E2E"/>
              </a:solidFill>
            </a:endParaRPr>
          </a:p>
        </p:txBody>
      </p:sp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EB00F11A-112F-4DD8-439D-E689FAB118F1}"/>
              </a:ext>
            </a:extLst>
          </p:cNvPr>
          <p:cNvGraphicFramePr>
            <a:graphicFrameLocks noGrp="1"/>
          </p:cNvGraphicFramePr>
          <p:nvPr/>
        </p:nvGraphicFramePr>
        <p:xfrm>
          <a:off x="6305550" y="4161469"/>
          <a:ext cx="5686425" cy="2331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43" name="Picture 42" descr="lock.png">
            <a:extLst>
              <a:ext uri="{FF2B5EF4-FFF2-40B4-BE49-F238E27FC236}">
                <a16:creationId xmlns:a16="http://schemas.microsoft.com/office/drawing/2014/main" id="{B2691627-1540-DE5F-B74E-0C38DEA805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6366" y="5291540"/>
            <a:ext cx="358543" cy="508564"/>
          </a:xfrm>
          <a:prstGeom prst="rect">
            <a:avLst/>
          </a:prstGeom>
        </p:spPr>
      </p:pic>
      <p:pic>
        <p:nvPicPr>
          <p:cNvPr id="45" name="Picture 44" descr="lock.png">
            <a:extLst>
              <a:ext uri="{FF2B5EF4-FFF2-40B4-BE49-F238E27FC236}">
                <a16:creationId xmlns:a16="http://schemas.microsoft.com/office/drawing/2014/main" id="{61B8D1CA-7E47-DE86-58DB-90BFFF5982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0083" y="5221807"/>
            <a:ext cx="358543" cy="50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2841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70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3D85C6"/>
      </a:accent1>
      <a:accent2>
        <a:srgbClr val="9E7E0A"/>
      </a:accent2>
      <a:accent3>
        <a:srgbClr val="40315E"/>
      </a:accent3>
      <a:accent4>
        <a:srgbClr val="008189"/>
      </a:accent4>
      <a:accent5>
        <a:srgbClr val="A35313"/>
      </a:accent5>
      <a:accent6>
        <a:srgbClr val="5F5F5F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1230</Words>
  <Application>Microsoft Office PowerPoint</Application>
  <PresentationFormat>Widescreen</PresentationFormat>
  <Paragraphs>305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Sayali Patil</dc:creator>
  <cp:lastModifiedBy>Sayali Patil</cp:lastModifiedBy>
  <cp:revision>6</cp:revision>
  <dcterms:created xsi:type="dcterms:W3CDTF">2026-09-28T09:33:04Z</dcterms:created>
  <dcterms:modified xsi:type="dcterms:W3CDTF">2026-09-28T12:04:18Z</dcterms:modified>
</cp:coreProperties>
</file>