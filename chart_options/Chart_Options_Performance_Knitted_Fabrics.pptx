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Today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B2B2B2"/>
            </a:solidFill>
          </c:spPr>
          <c:cat>
            <c:strRef>
              <c:f>Sheet1!$A$2:$A$8</c:f>
              <c:strCache>
                <c:ptCount val="7"/>
                <c:pt idx="0">
                  <c:v>North America</c:v>
                </c:pt>
                <c:pt idx="1">
                  <c:v>Latin America</c:v>
                </c:pt>
                <c:pt idx="2">
                  <c:v>Western Europe</c:v>
                </c:pt>
                <c:pt idx="3">
                  <c:v>Eastern Europe</c:v>
                </c:pt>
                <c:pt idx="4">
                  <c:v>East Asia</c:v>
                </c:pt>
                <c:pt idx="5">
                  <c:v>South Asia Pa…</c:v>
                </c:pt>
                <c:pt idx="6">
                  <c:v>Middle East &amp;…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1277</c:v>
                </c:pt>
                <c:pt idx="1">
                  <c:v>364</c:v>
                </c:pt>
                <c:pt idx="2">
                  <c:v>1450</c:v>
                </c:pt>
                <c:pt idx="3">
                  <c:v>285</c:v>
                </c:pt>
                <c:pt idx="4">
                  <c:v>1334</c:v>
                </c:pt>
                <c:pt idx="5">
                  <c:v>520</c:v>
                </c:pt>
                <c:pt idx="6">
                  <c:v>255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 b="0">
                  <a:solidFill>
                    <a:srgbClr val="0B2E4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2B2B2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BF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0B2E4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Upgraded: sorted, top-2 highlighted, CAGR in label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D85C6"/>
            </a:solidFill>
          </c:spPr>
          <c:dPt>
            <c:idx val="0"/>
            <c:spPr>
              <a:solidFill>
                <a:srgbClr val="3D85C6"/>
              </a:solidFill>
            </c:spPr>
          </c:dPt>
          <c:dPt>
            <c:idx val="1"/>
            <c:spPr>
              <a:solidFill>
                <a:srgbClr val="3D85C6"/>
              </a:solidFill>
            </c:spPr>
          </c:dPt>
          <c:dPt>
            <c:idx val="2"/>
            <c:spPr>
              <a:solidFill>
                <a:srgbClr val="3D85C6"/>
              </a:solidFill>
            </c:spPr>
          </c:dPt>
          <c:dPt>
            <c:idx val="3"/>
            <c:spPr>
              <a:solidFill>
                <a:srgbClr val="3D85C6"/>
              </a:solidFill>
            </c:spPr>
          </c:dPt>
          <c:dPt>
            <c:idx val="4"/>
            <c:spPr>
              <a:solidFill>
                <a:srgbClr val="3D85C6"/>
              </a:solidFill>
            </c:spPr>
          </c:dPt>
          <c:dPt>
            <c:idx val="5"/>
            <c:spPr>
              <a:solidFill>
                <a:srgbClr val="0B2E4A"/>
              </a:solidFill>
            </c:spPr>
          </c:dPt>
          <c:dPt>
            <c:idx val="6"/>
            <c:spPr>
              <a:solidFill>
                <a:srgbClr val="0B2E4A"/>
              </a:solidFill>
            </c:spPr>
          </c:dPt>
          <c:cat>
            <c:strRef>
              <c:f>Sheet1!$A$2:$A$8</c:f>
              <c:strCache>
                <c:ptCount val="7"/>
                <c:pt idx="0">
                  <c:v>Middle East &amp; Africa   (6.7% CAGR)</c:v>
                </c:pt>
                <c:pt idx="1">
                  <c:v>Eastern Europe   (5.8% CAGR)</c:v>
                </c:pt>
                <c:pt idx="2">
                  <c:v>Latin America   (6.9% CAGR)</c:v>
                </c:pt>
                <c:pt idx="3">
                  <c:v>South Asia Pacific   (9.2% CAGR)</c:v>
                </c:pt>
                <c:pt idx="4">
                  <c:v>North America   (7.6% CAGR)</c:v>
                </c:pt>
                <c:pt idx="5">
                  <c:v>East Asia   (8.3% CAGR)</c:v>
                </c:pt>
                <c:pt idx="6">
                  <c:v>Western Europe   (6.3% CAGR)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255</c:v>
                </c:pt>
                <c:pt idx="1">
                  <c:v>285</c:v>
                </c:pt>
                <c:pt idx="2">
                  <c:v>364</c:v>
                </c:pt>
                <c:pt idx="3">
                  <c:v>520</c:v>
                </c:pt>
                <c:pt idx="4">
                  <c:v>1277</c:v>
                </c:pt>
                <c:pt idx="5">
                  <c:v>1334</c:v>
                </c:pt>
                <c:pt idx="6">
                  <c:v>1450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0B2E4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2B2B2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0B2E4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Polyester</c:v>
                </c:pt>
              </c:strCache>
            </c:strRef>
          </c:tx>
          <c:spPr>
            <a:solidFill>
              <a:srgbClr val="0E72AE"/>
            </a:solidFill>
          </c:spPr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2026</c:v>
                </c:pt>
                <c:pt idx="2">
                  <c:v>2031</c:v>
                </c:pt>
                <c:pt idx="3">
                  <c:v>2036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44.4</c:v>
                </c:pt>
                <c:pt idx="1">
                  <c:v>43.8</c:v>
                </c:pt>
                <c:pt idx="2">
                  <c:v>42.9</c:v>
                </c:pt>
                <c:pt idx="3">
                  <c:v>42.2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Polyamide or Nylon</c:v>
                </c:pt>
              </c:strCache>
            </c:strRef>
          </c:tx>
          <c:spPr>
            <a:solidFill>
              <a:srgbClr val="008189"/>
            </a:solidFill>
          </c:spPr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2026</c:v>
                </c:pt>
                <c:pt idx="2">
                  <c:v>2031</c:v>
                </c:pt>
                <c:pt idx="3">
                  <c:v>2036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21.1</c:v>
                </c:pt>
                <c:pt idx="1">
                  <c:v>21.1</c:v>
                </c:pt>
                <c:pt idx="2">
                  <c:v>21.0</c:v>
                </c:pt>
                <c:pt idx="3">
                  <c:v>20.6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Polypropylene</c:v>
                </c:pt>
              </c:strCache>
            </c:strRef>
          </c:tx>
          <c:spPr>
            <a:solidFill>
              <a:srgbClr val="A86F00"/>
            </a:solidFill>
          </c:spPr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2026</c:v>
                </c:pt>
                <c:pt idx="2">
                  <c:v>2031</c:v>
                </c:pt>
                <c:pt idx="3">
                  <c:v>2036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4.3</c:v>
                </c:pt>
                <c:pt idx="1">
                  <c:v>4.3</c:v>
                </c:pt>
                <c:pt idx="2">
                  <c:v>4.3</c:v>
                </c:pt>
                <c:pt idx="3">
                  <c:v>4.3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Elastane or Spandex Ble…</c:v>
                </c:pt>
              </c:strCache>
            </c:strRef>
          </c:tx>
          <c:spPr>
            <a:solidFill>
              <a:srgbClr val="6F3CC2"/>
            </a:solidFill>
          </c:spPr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2026</c:v>
                </c:pt>
                <c:pt idx="2">
                  <c:v>2031</c:v>
                </c:pt>
                <c:pt idx="3">
                  <c:v>2036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13.2</c:v>
                </c:pt>
                <c:pt idx="1">
                  <c:v>13.4</c:v>
                </c:pt>
                <c:pt idx="2">
                  <c:v>14.0</c:v>
                </c:pt>
                <c:pt idx="3">
                  <c:v>14.5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Cellulosic Fibers</c:v>
                </c:pt>
              </c:strCache>
            </c:strRef>
          </c:tx>
          <c:spPr>
            <a:solidFill>
              <a:srgbClr val="A35313"/>
            </a:solidFill>
          </c:spPr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2026</c:v>
                </c:pt>
                <c:pt idx="2">
                  <c:v>2031</c:v>
                </c:pt>
                <c:pt idx="3">
                  <c:v>2036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5.1</c:v>
                </c:pt>
                <c:pt idx="1">
                  <c:v>4.9</c:v>
                </c:pt>
                <c:pt idx="2">
                  <c:v>4.6</c:v>
                </c:pt>
                <c:pt idx="3">
                  <c:v>4.4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High-Performance &amp; Spec…</c:v>
                </c:pt>
              </c:strCache>
            </c:strRef>
          </c:tx>
          <c:spPr>
            <a:solidFill>
              <a:srgbClr val="6C7A89"/>
            </a:solidFill>
          </c:spPr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2026</c:v>
                </c:pt>
                <c:pt idx="2">
                  <c:v>2031</c:v>
                </c:pt>
                <c:pt idx="3">
                  <c:v>2036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11.9</c:v>
                </c:pt>
                <c:pt idx="1">
                  <c:v>12.5</c:v>
                </c:pt>
                <c:pt idx="2">
                  <c:v>13.2</c:v>
                </c:pt>
                <c:pt idx="3">
                  <c:v>14.0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 b="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2B2B2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BF0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0B2E4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East Asia</c:v>
                </c:pt>
              </c:strCache>
            </c:strRef>
          </c:tx>
          <c:spPr>
            <a:ln w="31750">
              <a:solidFill>
                <a:srgbClr val="0E72AE"/>
              </a:solidFill>
            </a:ln>
          </c:spPr>
          <c:marker>
            <c:symbol val="none"/>
          </c:marker>
          <c:dLbls>
            <c:dLbl>
              <c:idx val="1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E72AE"/>
                        </a:solidFill>
                      </a:rPr>
                      <a:t>East Asia  2,967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926</c:v>
                </c:pt>
                <c:pt idx="1">
                  <c:v>992</c:v>
                </c:pt>
                <c:pt idx="2">
                  <c:v>1064</c:v>
                </c:pt>
                <c:pt idx="3">
                  <c:v>1144</c:v>
                </c:pt>
                <c:pt idx="4">
                  <c:v>1232</c:v>
                </c:pt>
                <c:pt idx="5">
                  <c:v>1334</c:v>
                </c:pt>
                <c:pt idx="6">
                  <c:v>1444</c:v>
                </c:pt>
                <c:pt idx="7">
                  <c:v>1563</c:v>
                </c:pt>
                <c:pt idx="8">
                  <c:v>1688</c:v>
                </c:pt>
                <c:pt idx="9">
                  <c:v>1824</c:v>
                </c:pt>
                <c:pt idx="10">
                  <c:v>1975</c:v>
                </c:pt>
                <c:pt idx="11">
                  <c:v>2143</c:v>
                </c:pt>
                <c:pt idx="12">
                  <c:v>2327</c:v>
                </c:pt>
                <c:pt idx="13">
                  <c:v>2526</c:v>
                </c:pt>
                <c:pt idx="14">
                  <c:v>2740</c:v>
                </c:pt>
                <c:pt idx="15">
                  <c:v>2967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Western Europe</c:v>
                </c:pt>
              </c:strCache>
            </c:strRef>
          </c:tx>
          <c:spPr>
            <a:ln w="31750">
              <a:solidFill>
                <a:srgbClr val="008189"/>
              </a:solidFill>
            </a:ln>
          </c:spPr>
          <c:marker>
            <c:symbol val="none"/>
          </c:marker>
          <c:dLbls>
            <c:dLbl>
              <c:idx val="1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8189"/>
                        </a:solidFill>
                      </a:rPr>
                      <a:t>Western Europe  2,673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1131</c:v>
                </c:pt>
                <c:pt idx="1">
                  <c:v>1186</c:v>
                </c:pt>
                <c:pt idx="2">
                  <c:v>1244</c:v>
                </c:pt>
                <c:pt idx="3">
                  <c:v>1307</c:v>
                </c:pt>
                <c:pt idx="4">
                  <c:v>1374</c:v>
                </c:pt>
                <c:pt idx="5">
                  <c:v>1450</c:v>
                </c:pt>
                <c:pt idx="6">
                  <c:v>1534</c:v>
                </c:pt>
                <c:pt idx="7">
                  <c:v>1625</c:v>
                </c:pt>
                <c:pt idx="8">
                  <c:v>1724</c:v>
                </c:pt>
                <c:pt idx="9">
                  <c:v>1833</c:v>
                </c:pt>
                <c:pt idx="10">
                  <c:v>1951</c:v>
                </c:pt>
                <c:pt idx="11">
                  <c:v>2077</c:v>
                </c:pt>
                <c:pt idx="12">
                  <c:v>2214</c:v>
                </c:pt>
                <c:pt idx="13">
                  <c:v>2359</c:v>
                </c:pt>
                <c:pt idx="14">
                  <c:v>2512</c:v>
                </c:pt>
                <c:pt idx="15">
                  <c:v>2673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North America</c:v>
                </c:pt>
              </c:strCache>
            </c:strRef>
          </c:tx>
          <c:spPr>
            <a:ln w="31750">
              <a:solidFill>
                <a:srgbClr val="A86F00"/>
              </a:solidFill>
            </a:ln>
          </c:spPr>
          <c:marker>
            <c:symbol val="none"/>
          </c:marker>
          <c:dLbls>
            <c:dLbl>
              <c:idx val="1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A86F00"/>
                        </a:solidFill>
                      </a:rPr>
                      <a:t>North America  2,655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934</c:v>
                </c:pt>
                <c:pt idx="1">
                  <c:v>990</c:v>
                </c:pt>
                <c:pt idx="2">
                  <c:v>1051</c:v>
                </c:pt>
                <c:pt idx="3">
                  <c:v>1119</c:v>
                </c:pt>
                <c:pt idx="4">
                  <c:v>1193</c:v>
                </c:pt>
                <c:pt idx="5">
                  <c:v>1277</c:v>
                </c:pt>
                <c:pt idx="6">
                  <c:v>1366</c:v>
                </c:pt>
                <c:pt idx="7">
                  <c:v>1463</c:v>
                </c:pt>
                <c:pt idx="8">
                  <c:v>1571</c:v>
                </c:pt>
                <c:pt idx="9">
                  <c:v>1690</c:v>
                </c:pt>
                <c:pt idx="10">
                  <c:v>1823</c:v>
                </c:pt>
                <c:pt idx="11">
                  <c:v>1967</c:v>
                </c:pt>
                <c:pt idx="12">
                  <c:v>2122</c:v>
                </c:pt>
                <c:pt idx="13">
                  <c:v>2288</c:v>
                </c:pt>
                <c:pt idx="14">
                  <c:v>2466</c:v>
                </c:pt>
                <c:pt idx="15">
                  <c:v>2655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South Asia Pacific</c:v>
                </c:pt>
              </c:strCache>
            </c:strRef>
          </c:tx>
          <c:spPr>
            <a:ln w="31750">
              <a:solidFill>
                <a:srgbClr val="6F3CC2"/>
              </a:solidFill>
            </a:ln>
          </c:spPr>
          <c:marker>
            <c:symbol val="none"/>
          </c:marker>
          <c:dLbls>
            <c:dLbl>
              <c:idx val="1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6F3CC2"/>
                        </a:solidFill>
                      </a:rPr>
                      <a:t>South Asia Paci…  1,248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363</c:v>
                </c:pt>
                <c:pt idx="1">
                  <c:v>388</c:v>
                </c:pt>
                <c:pt idx="2">
                  <c:v>416</c:v>
                </c:pt>
                <c:pt idx="3">
                  <c:v>447</c:v>
                </c:pt>
                <c:pt idx="4">
                  <c:v>480</c:v>
                </c:pt>
                <c:pt idx="5">
                  <c:v>520</c:v>
                </c:pt>
                <c:pt idx="6">
                  <c:v>563</c:v>
                </c:pt>
                <c:pt idx="7">
                  <c:v>612</c:v>
                </c:pt>
                <c:pt idx="8">
                  <c:v>666</c:v>
                </c:pt>
                <c:pt idx="9">
                  <c:v>728</c:v>
                </c:pt>
                <c:pt idx="10">
                  <c:v>797</c:v>
                </c:pt>
                <c:pt idx="11">
                  <c:v>873</c:v>
                </c:pt>
                <c:pt idx="12">
                  <c:v>956</c:v>
                </c:pt>
                <c:pt idx="13">
                  <c:v>1047</c:v>
                </c:pt>
                <c:pt idx="14">
                  <c:v>1144</c:v>
                </c:pt>
                <c:pt idx="15">
                  <c:v>1248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Latin America</c:v>
                </c:pt>
              </c:strCache>
            </c:strRef>
          </c:tx>
          <c:spPr>
            <a:ln w="31750">
              <a:solidFill>
                <a:srgbClr val="A35313"/>
              </a:solidFill>
            </a:ln>
          </c:spPr>
          <c:marker>
            <c:symbol val="none"/>
          </c:marker>
          <c:dLbls>
            <c:dLbl>
              <c:idx val="1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A35313"/>
                        </a:solidFill>
                      </a:rPr>
                      <a:t>Latin America  710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279</c:v>
                </c:pt>
                <c:pt idx="1">
                  <c:v>293</c:v>
                </c:pt>
                <c:pt idx="2">
                  <c:v>308</c:v>
                </c:pt>
                <c:pt idx="3">
                  <c:v>324</c:v>
                </c:pt>
                <c:pt idx="4">
                  <c:v>343</c:v>
                </c:pt>
                <c:pt idx="5">
                  <c:v>364</c:v>
                </c:pt>
                <c:pt idx="6">
                  <c:v>387</c:v>
                </c:pt>
                <c:pt idx="7">
                  <c:v>413</c:v>
                </c:pt>
                <c:pt idx="8">
                  <c:v>441</c:v>
                </c:pt>
                <c:pt idx="9">
                  <c:v>471</c:v>
                </c:pt>
                <c:pt idx="10">
                  <c:v>504</c:v>
                </c:pt>
                <c:pt idx="11">
                  <c:v>540</c:v>
                </c:pt>
                <c:pt idx="12">
                  <c:v>578</c:v>
                </c:pt>
                <c:pt idx="13">
                  <c:v>619</c:v>
                </c:pt>
                <c:pt idx="14">
                  <c:v>663</c:v>
                </c:pt>
                <c:pt idx="15">
                  <c:v>710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2B2B2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6EBF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0B2E4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Sports &amp; Activewear</c:v>
                </c:pt>
              </c:strCache>
            </c:strRef>
          </c:tx>
          <c:spPr>
            <a:solidFill>
              <a:srgbClr val="0E72AE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916</c:v>
                </c:pt>
                <c:pt idx="1">
                  <c:v>971</c:v>
                </c:pt>
                <c:pt idx="2">
                  <c:v>1031</c:v>
                </c:pt>
                <c:pt idx="3">
                  <c:v>1096</c:v>
                </c:pt>
                <c:pt idx="4">
                  <c:v>1167</c:v>
                </c:pt>
                <c:pt idx="5">
                  <c:v>1249</c:v>
                </c:pt>
                <c:pt idx="6">
                  <c:v>1339</c:v>
                </c:pt>
                <c:pt idx="7">
                  <c:v>1437</c:v>
                </c:pt>
                <c:pt idx="8">
                  <c:v>1543</c:v>
                </c:pt>
                <c:pt idx="9">
                  <c:v>1659</c:v>
                </c:pt>
                <c:pt idx="10">
                  <c:v>1787</c:v>
                </c:pt>
                <c:pt idx="11">
                  <c:v>1928</c:v>
                </c:pt>
                <c:pt idx="12">
                  <c:v>2080</c:v>
                </c:pt>
                <c:pt idx="13">
                  <c:v>2244</c:v>
                </c:pt>
                <c:pt idx="14">
                  <c:v>2418</c:v>
                </c:pt>
                <c:pt idx="15">
                  <c:v>2604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Intimate &amp; Bodywear</c:v>
                </c:pt>
              </c:strCache>
            </c:strRef>
          </c:tx>
          <c:spPr>
            <a:solidFill>
              <a:srgbClr val="008189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652</c:v>
                </c:pt>
                <c:pt idx="1">
                  <c:v>683</c:v>
                </c:pt>
                <c:pt idx="2">
                  <c:v>717</c:v>
                </c:pt>
                <c:pt idx="3">
                  <c:v>753</c:v>
                </c:pt>
                <c:pt idx="4">
                  <c:v>792</c:v>
                </c:pt>
                <c:pt idx="5">
                  <c:v>837</c:v>
                </c:pt>
                <c:pt idx="6">
                  <c:v>885</c:v>
                </c:pt>
                <c:pt idx="7">
                  <c:v>937</c:v>
                </c:pt>
                <c:pt idx="8">
                  <c:v>994</c:v>
                </c:pt>
                <c:pt idx="9">
                  <c:v>1056</c:v>
                </c:pt>
                <c:pt idx="10">
                  <c:v>1124</c:v>
                </c:pt>
                <c:pt idx="11">
                  <c:v>1198</c:v>
                </c:pt>
                <c:pt idx="12">
                  <c:v>1277</c:v>
                </c:pt>
                <c:pt idx="13">
                  <c:v>1362</c:v>
                </c:pt>
                <c:pt idx="14">
                  <c:v>1451</c:v>
                </c:pt>
                <c:pt idx="15">
                  <c:v>1546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Medical &amp; Healthcare</c:v>
                </c:pt>
              </c:strCache>
            </c:strRef>
          </c:tx>
          <c:spPr>
            <a:solidFill>
              <a:srgbClr val="A86F00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569</c:v>
                </c:pt>
                <c:pt idx="1">
                  <c:v>608</c:v>
                </c:pt>
                <c:pt idx="2">
                  <c:v>651</c:v>
                </c:pt>
                <c:pt idx="3">
                  <c:v>697</c:v>
                </c:pt>
                <c:pt idx="4">
                  <c:v>748</c:v>
                </c:pt>
                <c:pt idx="5">
                  <c:v>805</c:v>
                </c:pt>
                <c:pt idx="6">
                  <c:v>866</c:v>
                </c:pt>
                <c:pt idx="7">
                  <c:v>932</c:v>
                </c:pt>
                <c:pt idx="8">
                  <c:v>1004</c:v>
                </c:pt>
                <c:pt idx="9">
                  <c:v>1083</c:v>
                </c:pt>
                <c:pt idx="10">
                  <c:v>1169</c:v>
                </c:pt>
                <c:pt idx="11">
                  <c:v>1263</c:v>
                </c:pt>
                <c:pt idx="12">
                  <c:v>1365</c:v>
                </c:pt>
                <c:pt idx="13">
                  <c:v>1475</c:v>
                </c:pt>
                <c:pt idx="14">
                  <c:v>1592</c:v>
                </c:pt>
                <c:pt idx="15">
                  <c:v>1717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Protective &amp; Occupational W…</c:v>
                </c:pt>
              </c:strCache>
            </c:strRef>
          </c:tx>
          <c:spPr>
            <a:solidFill>
              <a:srgbClr val="6F3CC2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593</c:v>
                </c:pt>
                <c:pt idx="1">
                  <c:v>627</c:v>
                </c:pt>
                <c:pt idx="2">
                  <c:v>665</c:v>
                </c:pt>
                <c:pt idx="3">
                  <c:v>707</c:v>
                </c:pt>
                <c:pt idx="4">
                  <c:v>752</c:v>
                </c:pt>
                <c:pt idx="5">
                  <c:v>804</c:v>
                </c:pt>
                <c:pt idx="6">
                  <c:v>860</c:v>
                </c:pt>
                <c:pt idx="7">
                  <c:v>922</c:v>
                </c:pt>
                <c:pt idx="8">
                  <c:v>989</c:v>
                </c:pt>
                <c:pt idx="9">
                  <c:v>1062</c:v>
                </c:pt>
                <c:pt idx="10">
                  <c:v>1144</c:v>
                </c:pt>
                <c:pt idx="11">
                  <c:v>1234</c:v>
                </c:pt>
                <c:pt idx="12">
                  <c:v>1331</c:v>
                </c:pt>
                <c:pt idx="13">
                  <c:v>1435</c:v>
                </c:pt>
                <c:pt idx="14">
                  <c:v>1547</c:v>
                </c:pt>
                <c:pt idx="15">
                  <c:v>1665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Footwear</c:v>
                </c:pt>
              </c:strCache>
            </c:strRef>
          </c:tx>
          <c:spPr>
            <a:solidFill>
              <a:srgbClr val="A35313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429</c:v>
                </c:pt>
                <c:pt idx="1">
                  <c:v>456</c:v>
                </c:pt>
                <c:pt idx="2">
                  <c:v>485</c:v>
                </c:pt>
                <c:pt idx="3">
                  <c:v>517</c:v>
                </c:pt>
                <c:pt idx="4">
                  <c:v>552</c:v>
                </c:pt>
                <c:pt idx="5">
                  <c:v>591</c:v>
                </c:pt>
                <c:pt idx="6">
                  <c:v>634</c:v>
                </c:pt>
                <c:pt idx="7">
                  <c:v>681</c:v>
                </c:pt>
                <c:pt idx="8">
                  <c:v>732</c:v>
                </c:pt>
                <c:pt idx="9">
                  <c:v>788</c:v>
                </c:pt>
                <c:pt idx="10">
                  <c:v>850</c:v>
                </c:pt>
                <c:pt idx="11">
                  <c:v>917</c:v>
                </c:pt>
                <c:pt idx="12">
                  <c:v>990</c:v>
                </c:pt>
                <c:pt idx="13">
                  <c:v>1069</c:v>
                </c:pt>
                <c:pt idx="14">
                  <c:v>1154</c:v>
                </c:pt>
                <c:pt idx="15">
                  <c:v>1244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Automotive &amp; Transportation</c:v>
                </c:pt>
              </c:strCache>
            </c:strRef>
          </c:tx>
          <c:spPr>
            <a:solidFill>
              <a:srgbClr val="6C7A89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Sheet1!$G$2:$G$17</c:f>
              <c:numCache>
                <c:formatCode>General</c:formatCode>
                <c:ptCount val="16"/>
                <c:pt idx="0">
                  <c:v>426</c:v>
                </c:pt>
                <c:pt idx="1">
                  <c:v>448</c:v>
                </c:pt>
                <c:pt idx="2">
                  <c:v>473</c:v>
                </c:pt>
                <c:pt idx="3">
                  <c:v>500</c:v>
                </c:pt>
                <c:pt idx="4">
                  <c:v>530</c:v>
                </c:pt>
                <c:pt idx="5">
                  <c:v>564</c:v>
                </c:pt>
                <c:pt idx="6">
                  <c:v>600</c:v>
                </c:pt>
                <c:pt idx="7">
                  <c:v>641</c:v>
                </c:pt>
                <c:pt idx="8">
                  <c:v>684</c:v>
                </c:pt>
                <c:pt idx="9">
                  <c:v>732</c:v>
                </c:pt>
                <c:pt idx="10">
                  <c:v>784</c:v>
                </c:pt>
                <c:pt idx="11">
                  <c:v>841</c:v>
                </c:pt>
                <c:pt idx="12">
                  <c:v>902</c:v>
                </c:pt>
                <c:pt idx="13">
                  <c:v>967</c:v>
                </c:pt>
                <c:pt idx="14">
                  <c:v>1037</c:v>
                </c:pt>
                <c:pt idx="15">
                  <c:v>1110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Industrial &amp; Technical Appl…</c:v>
                </c:pt>
              </c:strCache>
            </c:strRef>
          </c:tx>
          <c:spPr>
            <a:solidFill>
              <a:srgbClr val="3D85C6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Sheet1!$H$2:$H$17</c:f>
              <c:numCache>
                <c:formatCode>General</c:formatCode>
                <c:ptCount val="16"/>
                <c:pt idx="0">
                  <c:v>469</c:v>
                </c:pt>
                <c:pt idx="1">
                  <c:v>496</c:v>
                </c:pt>
                <c:pt idx="2">
                  <c:v>525</c:v>
                </c:pt>
                <c:pt idx="3">
                  <c:v>557</c:v>
                </c:pt>
                <c:pt idx="4">
                  <c:v>592</c:v>
                </c:pt>
                <c:pt idx="5">
                  <c:v>634</c:v>
                </c:pt>
                <c:pt idx="6">
                  <c:v>680</c:v>
                </c:pt>
                <c:pt idx="7">
                  <c:v>732</c:v>
                </c:pt>
                <c:pt idx="8">
                  <c:v>788</c:v>
                </c:pt>
                <c:pt idx="9">
                  <c:v>850</c:v>
                </c:pt>
                <c:pt idx="10">
                  <c:v>918</c:v>
                </c:pt>
                <c:pt idx="11">
                  <c:v>993</c:v>
                </c:pt>
                <c:pt idx="12">
                  <c:v>1074</c:v>
                </c:pt>
                <c:pt idx="13">
                  <c:v>1161</c:v>
                </c:pt>
                <c:pt idx="14">
                  <c:v>1255</c:v>
                </c:pt>
                <c:pt idx="15">
                  <c:v>1354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B2B2B2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BF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zero"/>
    <c:showDLblsOverMax val="0"/>
  </c:chart>
  <c:txPr>
    <a:bodyPr/>
    <a:lstStyle/>
    <a:p>
      <a:pPr>
        <a:defRPr sz="1000">
          <a:solidFill>
            <a:srgbClr val="0B2E4A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3D85C6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4055</c:v>
                </c:pt>
                <c:pt idx="1">
                  <c:v>4289</c:v>
                </c:pt>
                <c:pt idx="2">
                  <c:v>4545</c:v>
                </c:pt>
                <c:pt idx="3">
                  <c:v>4827</c:v>
                </c:pt>
                <c:pt idx="4">
                  <c:v>5132</c:v>
                </c:pt>
                <c:pt idx="5">
                  <c:v>5484</c:v>
                </c:pt>
                <c:pt idx="6">
                  <c:v>5866</c:v>
                </c:pt>
                <c:pt idx="7">
                  <c:v>6282</c:v>
                </c:pt>
                <c:pt idx="8">
                  <c:v>6734</c:v>
                </c:pt>
                <c:pt idx="9">
                  <c:v>7230</c:v>
                </c:pt>
                <c:pt idx="10">
                  <c:v>7777</c:v>
                </c:pt>
                <c:pt idx="11">
                  <c:v>8374</c:v>
                </c:pt>
                <c:pt idx="12">
                  <c:v>9019</c:v>
                </c:pt>
                <c:pt idx="13">
                  <c:v>9713</c:v>
                </c:pt>
                <c:pt idx="14">
                  <c:v>10453</c:v>
                </c:pt>
                <c:pt idx="15">
                  <c:v>11240</c:v>
                </c:pt>
              </c:numCache>
            </c:numRef>
          </c:val>
        </c:ser>
        <c:gapWidth val="6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YoY growth (%)</c:v>
                </c:pt>
              </c:strCache>
            </c:strRef>
          </c:tx>
          <c:spPr>
            <a:ln w="31750">
              <a:solidFill>
                <a:srgbClr val="E44D3A"/>
              </a:solidFill>
            </a:ln>
          </c:spPr>
          <c:marker>
            <c:symbol val="circle"/>
            <c:size val="6"/>
            <c:spPr>
              <a:solidFill>
                <a:srgbClr val="E44D3A"/>
              </a:solidFill>
            </c:spPr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1">
                  <c:v>5.8</c:v>
                </c:pt>
                <c:pt idx="2">
                  <c:v>6.0</c:v>
                </c:pt>
                <c:pt idx="3">
                  <c:v>6.2</c:v>
                </c:pt>
                <c:pt idx="4">
                  <c:v>6.3</c:v>
                </c:pt>
                <c:pt idx="5">
                  <c:v>6.8</c:v>
                </c:pt>
                <c:pt idx="6">
                  <c:v>7.0</c:v>
                </c:pt>
                <c:pt idx="7">
                  <c:v>7.1</c:v>
                </c:pt>
                <c:pt idx="8">
                  <c:v>7.2</c:v>
                </c:pt>
                <c:pt idx="9">
                  <c:v>7.4</c:v>
                </c:pt>
                <c:pt idx="10">
                  <c:v>7.6</c:v>
                </c:pt>
                <c:pt idx="11">
                  <c:v>7.7</c:v>
                </c:pt>
                <c:pt idx="12">
                  <c:v>7.7</c:v>
                </c:pt>
                <c:pt idx="13">
                  <c:v>7.7</c:v>
                </c:pt>
                <c:pt idx="14">
                  <c:v>7.6</c:v>
                </c:pt>
                <c:pt idx="15">
                  <c:v>7.5</c:v>
                </c:pt>
              </c:numCache>
            </c:numRef>
          </c:val>
        </c:ser>
        <c:marker val="1"/>
        <c:axId val="50010"/>
        <c:axId val="5002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2B2B2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BF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  <c:catAx>
        <c:axId val="50010"/>
        <c:scaling>
          <c:orientation val="minMax"/>
        </c:scaling>
        <c:delete val="1"/>
        <c:axPos val="b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in val="0"/>
        </c:scaling>
        <c:delete val="0"/>
        <c:axPos val="r"/>
        <c:numFmt formatCode="0&quot;%&quot;" sourceLinked="0"/>
        <c:majorTickMark val="none"/>
        <c:minorTickMark val="none"/>
        <c:tickLblPos val="nextTo"/>
        <c:crossAx val="50010"/>
        <c:crosses val="max"/>
        <c:crossBetween val="between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0B2E4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dPt>
            <c:idx val="0"/>
            <c:spPr>
              <a:solidFill>
                <a:srgbClr val="0B2E4A"/>
              </a:solidFill>
            </c:spPr>
          </c:dPt>
          <c:dPt>
            <c:idx val="1"/>
            <c:spPr>
              <a:solidFill>
                <a:srgbClr val="3D85C6"/>
              </a:solidFill>
            </c:spPr>
          </c:dPt>
          <c:cat>
            <c:strRef>
              <c:f>Sheet1!$A$2:$A$3</c:f>
              <c:strCache>
                <c:ptCount val="2"/>
                <c:pt idx="0">
                  <c:v>Warp Knitted Fabrics</c:v>
                </c:pt>
                <c:pt idx="1">
                  <c:v>Weft Knitted Fabrics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2073</c:v>
                </c:pt>
                <c:pt idx="1">
                  <c:v>3411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0B2E4A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A86F00"/>
              </a:solidFill>
            </c:spPr>
          </c:dPt>
          <c:dPt>
            <c:idx val="2"/>
            <c:spPr>
              <a:solidFill>
                <a:srgbClr val="A35313"/>
              </a:solidFill>
            </c:spPr>
          </c:dPt>
          <c:cat>
            <c:strRef>
              <c:f>Sheet1!$A$2:$A$4</c:f>
              <c:strCache>
                <c:ptCount val="3"/>
                <c:pt idx="0">
                  <c:v>Lightweight Below 150 G…</c:v>
                </c:pt>
                <c:pt idx="1">
                  <c:v>Medium Weight 150–250 G…</c:v>
                </c:pt>
                <c:pt idx="2">
                  <c:v>Heavyweight Above 250 G…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1815</c:v>
                </c:pt>
                <c:pt idx="1">
                  <c:v>2672</c:v>
                </c:pt>
                <c:pt idx="2">
                  <c:v>996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0B2E4A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2026</c:v>
                </c:pt>
                <c:pt idx="1">
                  <c:v>Polyester</c:v>
                </c:pt>
                <c:pt idx="2">
                  <c:v>Polyamide or Nylon</c:v>
                </c:pt>
                <c:pt idx="3">
                  <c:v>Elastane or Spand…</c:v>
                </c:pt>
                <c:pt idx="4">
                  <c:v>High-Performance…</c:v>
                </c:pt>
                <c:pt idx="5">
                  <c:v>Polypropylene</c:v>
                </c:pt>
                <c:pt idx="6">
                  <c:v>Cellulosic Fibers</c:v>
                </c:pt>
                <c:pt idx="7">
                  <c:v>2036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1">
                  <c:v>5484</c:v>
                </c:pt>
                <c:pt idx="2">
                  <c:v>7829</c:v>
                </c:pt>
                <c:pt idx="3">
                  <c:v>8986</c:v>
                </c:pt>
                <c:pt idx="4">
                  <c:v>9874</c:v>
                </c:pt>
                <c:pt idx="5">
                  <c:v>10760</c:v>
                </c:pt>
                <c:pt idx="6">
                  <c:v>11012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2E4A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2026</c:v>
                </c:pt>
                <c:pt idx="1">
                  <c:v>Polyester</c:v>
                </c:pt>
                <c:pt idx="2">
                  <c:v>Polyamide or Nylon</c:v>
                </c:pt>
                <c:pt idx="3">
                  <c:v>Elastane or Spand…</c:v>
                </c:pt>
                <c:pt idx="4">
                  <c:v>High-Performance…</c:v>
                </c:pt>
                <c:pt idx="5">
                  <c:v>Polypropylene</c:v>
                </c:pt>
                <c:pt idx="6">
                  <c:v>Cellulosic Fibers</c:v>
                </c:pt>
                <c:pt idx="7">
                  <c:v>2036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5484</c:v>
                </c:pt>
                <c:pt idx="7">
                  <c:v>11240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008189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2026</c:v>
                </c:pt>
                <c:pt idx="1">
                  <c:v>Polyester</c:v>
                </c:pt>
                <c:pt idx="2">
                  <c:v>Polyamide or Nylon</c:v>
                </c:pt>
                <c:pt idx="3">
                  <c:v>Elastane or Spand…</c:v>
                </c:pt>
                <c:pt idx="4">
                  <c:v>High-Performance…</c:v>
                </c:pt>
                <c:pt idx="5">
                  <c:v>Polypropylene</c:v>
                </c:pt>
                <c:pt idx="6">
                  <c:v>Cellulosic Fibers</c:v>
                </c:pt>
                <c:pt idx="7">
                  <c:v>2036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1">
                  <c:v>2345</c:v>
                </c:pt>
                <c:pt idx="2">
                  <c:v>1157</c:v>
                </c:pt>
                <c:pt idx="3">
                  <c:v>888</c:v>
                </c:pt>
                <c:pt idx="4">
                  <c:v>886</c:v>
                </c:pt>
                <c:pt idx="5">
                  <c:v>252</c:v>
                </c:pt>
                <c:pt idx="6">
                  <c:v>228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2B2B2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BF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0B2E4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0E72AE"/>
            </a:solidFill>
          </c:spPr>
          <c:invertIfNegative val="0"/>
          <c:xVal>
            <c:numRef>
              <c:f>Sheet1!$A$2:$A$2</c:f>
              <c:numCache>
                <c:formatCode>General</c:formatCode>
                <c:ptCount val="1"/>
                <c:pt idx="0">
                  <c:v>1277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7.6</c:v>
                </c:pt>
              </c:numCache>
            </c:numRef>
          </c:yVal>
          <c:bubbleSize>
            <c:numRef>
              <c:f>Sheet1!$C$2:$C$2</c:f>
              <c:numCache>
                <c:formatCode>General</c:formatCode>
                <c:ptCount val="1"/>
                <c:pt idx="0">
                  <c:v>2655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008189"/>
            </a:solidFill>
          </c:spPr>
          <c:invertIfNegative val="0"/>
          <c:xVal>
            <c:numRef>
              <c:f>Sheet1!$A$5:$A$5</c:f>
              <c:numCache>
                <c:formatCode>General</c:formatCode>
                <c:ptCount val="1"/>
                <c:pt idx="0">
                  <c:v>364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6.9</c:v>
                </c:pt>
              </c:numCache>
            </c:numRef>
          </c:yVal>
          <c:bubbleSize>
            <c:numRef>
              <c:f>Sheet1!$C$5:$C$5</c:f>
              <c:numCache>
                <c:formatCode>General</c:formatCode>
                <c:ptCount val="1"/>
                <c:pt idx="0">
                  <c:v>710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Western Europe</c:v>
                </c:pt>
              </c:strCache>
            </c:strRef>
          </c:tx>
          <c:spPr>
            <a:solidFill>
              <a:srgbClr val="A86F00"/>
            </a:solidFill>
          </c:spPr>
          <c:invertIfNegative val="0"/>
          <c:xVal>
            <c:numRef>
              <c:f>Sheet1!$A$8:$A$8</c:f>
              <c:numCache>
                <c:formatCode>General</c:formatCode>
                <c:ptCount val="1"/>
                <c:pt idx="0">
                  <c:v>1450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6.3</c:v>
                </c:pt>
              </c:numCache>
            </c:numRef>
          </c:yVal>
          <c:bubbleSize>
            <c:numRef>
              <c:f>Sheet1!$C$8:$C$8</c:f>
              <c:numCache>
                <c:formatCode>General</c:formatCode>
                <c:ptCount val="1"/>
                <c:pt idx="0">
                  <c:v>2673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f>Sheet1!$B$10</c:f>
              <c:strCache>
                <c:ptCount val="1"/>
                <c:pt idx="0">
                  <c:v>Eastern Europe</c:v>
                </c:pt>
              </c:strCache>
            </c:strRef>
          </c:tx>
          <c:spPr>
            <a:solidFill>
              <a:srgbClr val="6F3CC2"/>
            </a:solidFill>
          </c:spPr>
          <c:invertIfNegative val="0"/>
          <c:xVal>
            <c:numRef>
              <c:f>Sheet1!$A$11:$A$11</c:f>
              <c:numCache>
                <c:formatCode>General</c:formatCode>
                <c:ptCount val="1"/>
                <c:pt idx="0">
                  <c:v>285</c:v>
                </c:pt>
              </c:numCache>
            </c:numRef>
          </c:xVal>
          <c:yVal>
            <c:numRef>
              <c:f>Sheet1!$B$11:$B$11</c:f>
              <c:numCache>
                <c:formatCode>General</c:formatCode>
                <c:ptCount val="1"/>
                <c:pt idx="0">
                  <c:v>5.8</c:v>
                </c:pt>
              </c:numCache>
            </c:numRef>
          </c:yVal>
          <c:bubbleSize>
            <c:numRef>
              <c:f>Sheet1!$C$11:$C$11</c:f>
              <c:numCache>
                <c:formatCode>General</c:formatCode>
                <c:ptCount val="1"/>
                <c:pt idx="0">
                  <c:v>499</c:v>
                </c:pt>
              </c:numCache>
            </c:numRef>
          </c:bubbleSize>
          <c:bubble3D val="0"/>
        </c:ser>
        <c:ser>
          <c:idx val="4"/>
          <c:order val="4"/>
          <c:tx>
            <c:strRef>
              <c:f>Sheet1!$B$13</c:f>
              <c:strCache>
                <c:ptCount val="1"/>
                <c:pt idx="0">
                  <c:v>East Asia</c:v>
                </c:pt>
              </c:strCache>
            </c:strRef>
          </c:tx>
          <c:spPr>
            <a:solidFill>
              <a:srgbClr val="A35313"/>
            </a:solidFill>
          </c:spPr>
          <c:invertIfNegative val="0"/>
          <c:xVal>
            <c:numRef>
              <c:f>Sheet1!$A$14:$A$14</c:f>
              <c:numCache>
                <c:formatCode>General</c:formatCode>
                <c:ptCount val="1"/>
                <c:pt idx="0">
                  <c:v>1334</c:v>
                </c:pt>
              </c:numCache>
            </c:numRef>
          </c:xVal>
          <c:yVal>
            <c:numRef>
              <c:f>Sheet1!$B$14:$B$14</c:f>
              <c:numCache>
                <c:formatCode>General</c:formatCode>
                <c:ptCount val="1"/>
                <c:pt idx="0">
                  <c:v>8.3</c:v>
                </c:pt>
              </c:numCache>
            </c:numRef>
          </c:yVal>
          <c:bubbleSize>
            <c:numRef>
              <c:f>Sheet1!$C$14:$C$14</c:f>
              <c:numCache>
                <c:formatCode>General</c:formatCode>
                <c:ptCount val="1"/>
                <c:pt idx="0">
                  <c:v>2967</c:v>
                </c:pt>
              </c:numCache>
            </c:numRef>
          </c:bubbleSize>
          <c:bubble3D val="0"/>
        </c:ser>
        <c:ser>
          <c:idx val="5"/>
          <c:order val="5"/>
          <c:tx>
            <c:strRef>
              <c:f>Sheet1!$B$16</c:f>
              <c:strCache>
                <c:ptCount val="1"/>
                <c:pt idx="0">
                  <c:v>South Asia Pacific</c:v>
                </c:pt>
              </c:strCache>
            </c:strRef>
          </c:tx>
          <c:spPr>
            <a:solidFill>
              <a:srgbClr val="6C7A89"/>
            </a:solidFill>
          </c:spPr>
          <c:invertIfNegative val="0"/>
          <c:xVal>
            <c:numRef>
              <c:f>Sheet1!$A$17:$A$17</c:f>
              <c:numCache>
                <c:formatCode>General</c:formatCode>
                <c:ptCount val="1"/>
                <c:pt idx="0">
                  <c:v>520</c:v>
                </c:pt>
              </c:numCache>
            </c:numRef>
          </c:xVal>
          <c:yVal>
            <c:numRef>
              <c:f>Sheet1!$B$17:$B$17</c:f>
              <c:numCache>
                <c:formatCode>General</c:formatCode>
                <c:ptCount val="1"/>
                <c:pt idx="0">
                  <c:v>9.2</c:v>
                </c:pt>
              </c:numCache>
            </c:numRef>
          </c:yVal>
          <c:bubbleSize>
            <c:numRef>
              <c:f>Sheet1!$C$17:$C$17</c:f>
              <c:numCache>
                <c:formatCode>General</c:formatCode>
                <c:ptCount val="1"/>
                <c:pt idx="0">
                  <c:v>1248</c:v>
                </c:pt>
              </c:numCache>
            </c:numRef>
          </c:bubbleSize>
          <c:bubble3D val="0"/>
        </c:ser>
        <c:ser>
          <c:idx val="6"/>
          <c:order val="6"/>
          <c:tx>
            <c:strRef>
              <c:f>Sheet1!$B$19</c:f>
              <c:strCache>
                <c:ptCount val="1"/>
                <c:pt idx="0">
                  <c:v>Middle East &amp; Africa</c:v>
                </c:pt>
              </c:strCache>
            </c:strRef>
          </c:tx>
          <c:spPr>
            <a:solidFill>
              <a:srgbClr val="3D85C6"/>
            </a:solidFill>
          </c:spPr>
          <c:invertIfNegative val="0"/>
          <c:xVal>
            <c:numRef>
              <c:f>Sheet1!$A$20:$A$20</c:f>
              <c:numCache>
                <c:formatCode>General</c:formatCode>
                <c:ptCount val="1"/>
                <c:pt idx="0">
                  <c:v>255</c:v>
                </c:pt>
              </c:numCache>
            </c:numRef>
          </c:xVal>
          <c:yVal>
            <c:numRef>
              <c:f>Sheet1!$B$20:$B$20</c:f>
              <c:numCache>
                <c:formatCode>General</c:formatCode>
                <c:ptCount val="1"/>
                <c:pt idx="0">
                  <c:v>6.7</c:v>
                </c:pt>
              </c:numCache>
            </c:numRef>
          </c:yVal>
          <c:bubbleSize>
            <c:numRef>
              <c:f>Sheet1!$C$20:$C$20</c:f>
              <c:numCache>
                <c:formatCode>General</c:formatCode>
                <c:ptCount val="1"/>
                <c:pt idx="0">
                  <c:v>488</c:v>
                </c:pt>
              </c:numCache>
            </c:numRef>
          </c:bubbleSize>
          <c:bubble3D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0B2E4A"/>
                  </a:solidFill>
                </a:defRPr>
              </a:pPr>
            </a:p>
          </c:txPr>
          <c:showLegendKey val="0"/>
          <c:showVal val="0"/>
          <c:showCatName val="0"/>
          <c:showSerName val="1"/>
          <c:showPercent val="0"/>
          <c:showBubbleSize val="0"/>
        </c:dLbls>
        <c:bubbleScale val="6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2026 value (US$ Mn)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>
          <c:spPr>
            <a:ln>
              <a:solidFill>
                <a:srgbClr val="E6EBF0"/>
              </a:solidFill>
            </a:ln>
          </c:spPr>
        </c:majorGridlines>
        <c:title>
          <c:tx>
            <c:rich>
              <a:bodyPr/>
              <a:lstStyle/>
              <a:p>
                <a:r>
                  <a:t>CAGR 2026-2036 (%)</a:t>
                </a:r>
              </a:p>
            </c:rich>
          </c:tx>
          <c:layout/>
          <c:overlay val="0"/>
        </c:title>
        <c:numFmt formatCode="0.0&quot;%&quot;" sourceLinked="0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0B2E4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ln w="34925">
              <a:solidFill>
                <a:srgbClr val="0E72AE"/>
              </a:solidFill>
            </a:ln>
          </c:spPr>
          <c:marker>
            <c:spPr>
              <a:solidFill>
                <a:srgbClr val="0E72AE"/>
              </a:solidFill>
            </c:spPr>
          </c:marker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2036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934</c:v>
                </c:pt>
                <c:pt idx="1">
                  <c:v>2655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Latin America</c:v>
                </c:pt>
              </c:strCache>
            </c:strRef>
          </c:tx>
          <c:spPr>
            <a:ln w="34925">
              <a:solidFill>
                <a:srgbClr val="008189"/>
              </a:solidFill>
            </a:ln>
          </c:spPr>
          <c:marker>
            <c:spPr>
              <a:solidFill>
                <a:srgbClr val="008189"/>
              </a:solidFill>
            </c:spPr>
          </c:marker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2036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279</c:v>
                </c:pt>
                <c:pt idx="1">
                  <c:v>710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Western Europe</c:v>
                </c:pt>
              </c:strCache>
            </c:strRef>
          </c:tx>
          <c:spPr>
            <a:ln w="34925">
              <a:solidFill>
                <a:srgbClr val="A86F00"/>
              </a:solidFill>
            </a:ln>
          </c:spPr>
          <c:marker>
            <c:spPr>
              <a:solidFill>
                <a:srgbClr val="A86F00"/>
              </a:solidFill>
            </c:spPr>
          </c:marker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2036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1131</c:v>
                </c:pt>
                <c:pt idx="1">
                  <c:v>2673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Eastern Europe</c:v>
                </c:pt>
              </c:strCache>
            </c:strRef>
          </c:tx>
          <c:spPr>
            <a:ln w="34925">
              <a:solidFill>
                <a:srgbClr val="6F3CC2"/>
              </a:solidFill>
            </a:ln>
          </c:spPr>
          <c:marker>
            <c:spPr>
              <a:solidFill>
                <a:srgbClr val="6F3CC2"/>
              </a:solidFill>
            </c:spPr>
          </c:marker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2036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226</c:v>
                </c:pt>
                <c:pt idx="1">
                  <c:v>499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East Asia</c:v>
                </c:pt>
              </c:strCache>
            </c:strRef>
          </c:tx>
          <c:spPr>
            <a:ln w="34925">
              <a:solidFill>
                <a:srgbClr val="A35313"/>
              </a:solidFill>
            </a:ln>
          </c:spPr>
          <c:marker>
            <c:spPr>
              <a:solidFill>
                <a:srgbClr val="A35313"/>
              </a:solidFill>
            </c:spPr>
          </c:marker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2036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926</c:v>
                </c:pt>
                <c:pt idx="1">
                  <c:v>2967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South Asia Pacific</c:v>
                </c:pt>
              </c:strCache>
            </c:strRef>
          </c:tx>
          <c:spPr>
            <a:ln w="34925">
              <a:solidFill>
                <a:srgbClr val="6C7A89"/>
              </a:solidFill>
            </a:ln>
          </c:spPr>
          <c:marker>
            <c:spPr>
              <a:solidFill>
                <a:srgbClr val="6C7A89"/>
              </a:solidFill>
            </c:spPr>
          </c:marker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2036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363</c:v>
                </c:pt>
                <c:pt idx="1">
                  <c:v>1248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Middle East &amp; Africa</c:v>
                </c:pt>
              </c:strCache>
            </c:strRef>
          </c:tx>
          <c:spPr>
            <a:ln w="34925">
              <a:solidFill>
                <a:srgbClr val="3D85C6"/>
              </a:solidFill>
            </a:ln>
          </c:spPr>
          <c:marker>
            <c:spPr>
              <a:solidFill>
                <a:srgbClr val="3D85C6"/>
              </a:solidFill>
            </c:spPr>
          </c:marker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2036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0">
                  <c:v>194</c:v>
                </c:pt>
                <c:pt idx="1">
                  <c:v>488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0B2E4A"/>
                  </a:solidFill>
                </a:defRPr>
              </a:pPr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2B2B2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6EBF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0B2E4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ln w="31750">
              <a:solidFill>
                <a:srgbClr val="0E72AE"/>
              </a:solidFill>
            </a:ln>
          </c:spPr>
          <c:cat>
            <c:strRef>
              <c:f>Sheet1!$A$2:$A$8</c:f>
              <c:strCache>
                <c:ptCount val="7"/>
                <c:pt idx="0">
                  <c:v>Sports &amp; Activewear</c:v>
                </c:pt>
                <c:pt idx="1">
                  <c:v>Intimate &amp; Bodywear</c:v>
                </c:pt>
                <c:pt idx="2">
                  <c:v>Medical &amp; Healthcare</c:v>
                </c:pt>
                <c:pt idx="3">
                  <c:v>Protective &amp; Occupati…</c:v>
                </c:pt>
                <c:pt idx="4">
                  <c:v>Industrial &amp; Technica…</c:v>
                </c:pt>
                <c:pt idx="5">
                  <c:v>Footwear</c:v>
                </c:pt>
                <c:pt idx="6">
                  <c:v>Automotive &amp; Transpor…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22.2</c:v>
                </c:pt>
                <c:pt idx="1">
                  <c:v>13.9</c:v>
                </c:pt>
                <c:pt idx="2">
                  <c:v>14.7</c:v>
                </c:pt>
                <c:pt idx="3">
                  <c:v>15.4</c:v>
                </c:pt>
                <c:pt idx="4">
                  <c:v>14.4</c:v>
                </c:pt>
                <c:pt idx="5">
                  <c:v>9.6</c:v>
                </c:pt>
                <c:pt idx="6">
                  <c:v>9.9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East Asia</c:v>
                </c:pt>
              </c:strCache>
            </c:strRef>
          </c:tx>
          <c:spPr>
            <a:ln w="31750">
              <a:solidFill>
                <a:srgbClr val="E44D3A"/>
              </a:solidFill>
            </a:ln>
          </c:spPr>
          <c:cat>
            <c:strRef>
              <c:f>Sheet1!$A$2:$A$8</c:f>
              <c:strCache>
                <c:ptCount val="7"/>
                <c:pt idx="0">
                  <c:v>Sports &amp; Activewear</c:v>
                </c:pt>
                <c:pt idx="1">
                  <c:v>Intimate &amp; Bodywear</c:v>
                </c:pt>
                <c:pt idx="2">
                  <c:v>Medical &amp; Healthcare</c:v>
                </c:pt>
                <c:pt idx="3">
                  <c:v>Protective &amp; Occupati…</c:v>
                </c:pt>
                <c:pt idx="4">
                  <c:v>Industrial &amp; Technica…</c:v>
                </c:pt>
                <c:pt idx="5">
                  <c:v>Footwear</c:v>
                </c:pt>
                <c:pt idx="6">
                  <c:v>Automotive &amp; Transpor…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25.6</c:v>
                </c:pt>
                <c:pt idx="1">
                  <c:v>12.0</c:v>
                </c:pt>
                <c:pt idx="2">
                  <c:v>15.1</c:v>
                </c:pt>
                <c:pt idx="3">
                  <c:v>14.8</c:v>
                </c:pt>
                <c:pt idx="4">
                  <c:v>10.1</c:v>
                </c:pt>
                <c:pt idx="5">
                  <c:v>13.9</c:v>
                </c:pt>
                <c:pt idx="6">
                  <c:v>8.6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Western Europe</c:v>
                </c:pt>
              </c:strCache>
            </c:strRef>
          </c:tx>
          <c:spPr>
            <a:ln w="31750">
              <a:solidFill>
                <a:srgbClr val="008189"/>
              </a:solidFill>
            </a:ln>
          </c:spPr>
          <c:cat>
            <c:strRef>
              <c:f>Sheet1!$A$2:$A$8</c:f>
              <c:strCache>
                <c:ptCount val="7"/>
                <c:pt idx="0">
                  <c:v>Sports &amp; Activewear</c:v>
                </c:pt>
                <c:pt idx="1">
                  <c:v>Intimate &amp; Bodywear</c:v>
                </c:pt>
                <c:pt idx="2">
                  <c:v>Medical &amp; Healthcare</c:v>
                </c:pt>
                <c:pt idx="3">
                  <c:v>Protective &amp; Occupati…</c:v>
                </c:pt>
                <c:pt idx="4">
                  <c:v>Industrial &amp; Technica…</c:v>
                </c:pt>
                <c:pt idx="5">
                  <c:v>Footwear</c:v>
                </c:pt>
                <c:pt idx="6">
                  <c:v>Automotive &amp; Transpor…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18.5</c:v>
                </c:pt>
                <c:pt idx="1">
                  <c:v>12.4</c:v>
                </c:pt>
                <c:pt idx="2">
                  <c:v>19.8</c:v>
                </c:pt>
                <c:pt idx="3">
                  <c:v>16.5</c:v>
                </c:pt>
                <c:pt idx="4">
                  <c:v>12.5</c:v>
                </c:pt>
                <c:pt idx="5">
                  <c:v>7.7</c:v>
                </c:pt>
                <c:pt idx="6">
                  <c:v>12.6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>
          <c:spPr>
            <a:ln>
              <a:solidFill>
                <a:srgbClr val="E6EBF0"/>
              </a:solidFill>
            </a:ln>
          </c:spPr>
        </c:majorGridlines>
        <c:numFmt formatCode="0&quot;%&quot;" sourceLinked="0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0B2E4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100" b="1"/>
              <a:t>North America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0E72AE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934</c:v>
                </c:pt>
                <c:pt idx="1">
                  <c:v>990</c:v>
                </c:pt>
                <c:pt idx="2">
                  <c:v>1051</c:v>
                </c:pt>
                <c:pt idx="3">
                  <c:v>1119</c:v>
                </c:pt>
                <c:pt idx="4">
                  <c:v>1193</c:v>
                </c:pt>
                <c:pt idx="5">
                  <c:v>1277</c:v>
                </c:pt>
                <c:pt idx="6">
                  <c:v>1366</c:v>
                </c:pt>
                <c:pt idx="7">
                  <c:v>1463</c:v>
                </c:pt>
                <c:pt idx="8">
                  <c:v>1571</c:v>
                </c:pt>
                <c:pt idx="9">
                  <c:v>1690</c:v>
                </c:pt>
                <c:pt idx="10">
                  <c:v>1823</c:v>
                </c:pt>
                <c:pt idx="11">
                  <c:v>1967</c:v>
                </c:pt>
                <c:pt idx="12">
                  <c:v>2122</c:v>
                </c:pt>
                <c:pt idx="13">
                  <c:v>2288</c:v>
                </c:pt>
                <c:pt idx="14">
                  <c:v>2466</c:v>
                </c:pt>
                <c:pt idx="15">
                  <c:v>2655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ax val="3115.78155"/>
          <c:min val="0.0"/>
        </c:scaling>
        <c:delete/>
        <c:axPos val="l"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800"/>
      </a:pPr>
      <a:endParaRPr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100" b="1"/>
              <a:t>Latin America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008189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279</c:v>
                </c:pt>
                <c:pt idx="1">
                  <c:v>293</c:v>
                </c:pt>
                <c:pt idx="2">
                  <c:v>308</c:v>
                </c:pt>
                <c:pt idx="3">
                  <c:v>324</c:v>
                </c:pt>
                <c:pt idx="4">
                  <c:v>343</c:v>
                </c:pt>
                <c:pt idx="5">
                  <c:v>364</c:v>
                </c:pt>
                <c:pt idx="6">
                  <c:v>387</c:v>
                </c:pt>
                <c:pt idx="7">
                  <c:v>413</c:v>
                </c:pt>
                <c:pt idx="8">
                  <c:v>441</c:v>
                </c:pt>
                <c:pt idx="9">
                  <c:v>471</c:v>
                </c:pt>
                <c:pt idx="10">
                  <c:v>504</c:v>
                </c:pt>
                <c:pt idx="11">
                  <c:v>540</c:v>
                </c:pt>
                <c:pt idx="12">
                  <c:v>578</c:v>
                </c:pt>
                <c:pt idx="13">
                  <c:v>619</c:v>
                </c:pt>
                <c:pt idx="14">
                  <c:v>663</c:v>
                </c:pt>
                <c:pt idx="15">
                  <c:v>710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ax val="3115.78155"/>
          <c:min val="0.0"/>
        </c:scaling>
        <c:delete/>
        <c:axPos val="l"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800"/>
      </a:pPr>
      <a:endParaRPr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100" b="1"/>
              <a:t>Western Europe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Western Europe</c:v>
                </c:pt>
              </c:strCache>
            </c:strRef>
          </c:tx>
          <c:spPr>
            <a:solidFill>
              <a:srgbClr val="A86F00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1131</c:v>
                </c:pt>
                <c:pt idx="1">
                  <c:v>1186</c:v>
                </c:pt>
                <c:pt idx="2">
                  <c:v>1244</c:v>
                </c:pt>
                <c:pt idx="3">
                  <c:v>1307</c:v>
                </c:pt>
                <c:pt idx="4">
                  <c:v>1374</c:v>
                </c:pt>
                <c:pt idx="5">
                  <c:v>1450</c:v>
                </c:pt>
                <c:pt idx="6">
                  <c:v>1534</c:v>
                </c:pt>
                <c:pt idx="7">
                  <c:v>1625</c:v>
                </c:pt>
                <c:pt idx="8">
                  <c:v>1724</c:v>
                </c:pt>
                <c:pt idx="9">
                  <c:v>1833</c:v>
                </c:pt>
                <c:pt idx="10">
                  <c:v>1951</c:v>
                </c:pt>
                <c:pt idx="11">
                  <c:v>2077</c:v>
                </c:pt>
                <c:pt idx="12">
                  <c:v>2214</c:v>
                </c:pt>
                <c:pt idx="13">
                  <c:v>2359</c:v>
                </c:pt>
                <c:pt idx="14">
                  <c:v>2512</c:v>
                </c:pt>
                <c:pt idx="15">
                  <c:v>2673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ax val="3115.78155"/>
          <c:min val="0.0"/>
        </c:scaling>
        <c:delete/>
        <c:axPos val="l"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800"/>
      </a:pPr>
      <a:endParaRPr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100" b="1"/>
              <a:t>Eastern Europe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Eastern Europe</c:v>
                </c:pt>
              </c:strCache>
            </c:strRef>
          </c:tx>
          <c:spPr>
            <a:solidFill>
              <a:srgbClr val="6F3CC2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226</c:v>
                </c:pt>
                <c:pt idx="1">
                  <c:v>236</c:v>
                </c:pt>
                <c:pt idx="2">
                  <c:v>247</c:v>
                </c:pt>
                <c:pt idx="3">
                  <c:v>258</c:v>
                </c:pt>
                <c:pt idx="4">
                  <c:v>270</c:v>
                </c:pt>
                <c:pt idx="5">
                  <c:v>285</c:v>
                </c:pt>
                <c:pt idx="6">
                  <c:v>300</c:v>
                </c:pt>
                <c:pt idx="7">
                  <c:v>316</c:v>
                </c:pt>
                <c:pt idx="8">
                  <c:v>334</c:v>
                </c:pt>
                <c:pt idx="9">
                  <c:v>353</c:v>
                </c:pt>
                <c:pt idx="10">
                  <c:v>374</c:v>
                </c:pt>
                <c:pt idx="11">
                  <c:v>396</c:v>
                </c:pt>
                <c:pt idx="12">
                  <c:v>420</c:v>
                </c:pt>
                <c:pt idx="13">
                  <c:v>445</c:v>
                </c:pt>
                <c:pt idx="14">
                  <c:v>471</c:v>
                </c:pt>
                <c:pt idx="15">
                  <c:v>499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ax val="3115.78155"/>
          <c:min val="0.0"/>
        </c:scaling>
        <c:delete/>
        <c:axPos val="l"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800"/>
      </a:pPr>
      <a:endParaRPr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100" b="1"/>
              <a:t>East Asia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East Asia</c:v>
                </c:pt>
              </c:strCache>
            </c:strRef>
          </c:tx>
          <c:spPr>
            <a:solidFill>
              <a:srgbClr val="A35313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926</c:v>
                </c:pt>
                <c:pt idx="1">
                  <c:v>992</c:v>
                </c:pt>
                <c:pt idx="2">
                  <c:v>1064</c:v>
                </c:pt>
                <c:pt idx="3">
                  <c:v>1144</c:v>
                </c:pt>
                <c:pt idx="4">
                  <c:v>1232</c:v>
                </c:pt>
                <c:pt idx="5">
                  <c:v>1334</c:v>
                </c:pt>
                <c:pt idx="6">
                  <c:v>1444</c:v>
                </c:pt>
                <c:pt idx="7">
                  <c:v>1563</c:v>
                </c:pt>
                <c:pt idx="8">
                  <c:v>1688</c:v>
                </c:pt>
                <c:pt idx="9">
                  <c:v>1824</c:v>
                </c:pt>
                <c:pt idx="10">
                  <c:v>1975</c:v>
                </c:pt>
                <c:pt idx="11">
                  <c:v>2143</c:v>
                </c:pt>
                <c:pt idx="12">
                  <c:v>2327</c:v>
                </c:pt>
                <c:pt idx="13">
                  <c:v>2526</c:v>
                </c:pt>
                <c:pt idx="14">
                  <c:v>2740</c:v>
                </c:pt>
                <c:pt idx="15">
                  <c:v>2967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ax val="3115.78155"/>
          <c:min val="0.0"/>
        </c:scaling>
        <c:delete/>
        <c:axPos val="l"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800"/>
      </a:pPr>
      <a:endParaRPr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100" b="1"/>
              <a:t>South Asia Pacific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South Asia Pacific</c:v>
                </c:pt>
              </c:strCache>
            </c:strRef>
          </c:tx>
          <c:spPr>
            <a:solidFill>
              <a:srgbClr val="6C7A89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363</c:v>
                </c:pt>
                <c:pt idx="1">
                  <c:v>388</c:v>
                </c:pt>
                <c:pt idx="2">
                  <c:v>416</c:v>
                </c:pt>
                <c:pt idx="3">
                  <c:v>447</c:v>
                </c:pt>
                <c:pt idx="4">
                  <c:v>480</c:v>
                </c:pt>
                <c:pt idx="5">
                  <c:v>520</c:v>
                </c:pt>
                <c:pt idx="6">
                  <c:v>563</c:v>
                </c:pt>
                <c:pt idx="7">
                  <c:v>612</c:v>
                </c:pt>
                <c:pt idx="8">
                  <c:v>666</c:v>
                </c:pt>
                <c:pt idx="9">
                  <c:v>728</c:v>
                </c:pt>
                <c:pt idx="10">
                  <c:v>797</c:v>
                </c:pt>
                <c:pt idx="11">
                  <c:v>873</c:v>
                </c:pt>
                <c:pt idx="12">
                  <c:v>956</c:v>
                </c:pt>
                <c:pt idx="13">
                  <c:v>1047</c:v>
                </c:pt>
                <c:pt idx="14">
                  <c:v>1144</c:v>
                </c:pt>
                <c:pt idx="15">
                  <c:v>1248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ax val="3115.78155"/>
          <c:min val="0.0"/>
        </c:scaling>
        <c:delete/>
        <c:axPos val="l"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800"/>
      </a:pPr>
      <a:endParaRPr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100" b="1"/>
              <a:t>Middle East &amp; Africa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Middle East &amp; Africa</c:v>
                </c:pt>
              </c:strCache>
            </c:strRef>
          </c:tx>
          <c:spPr>
            <a:solidFill>
              <a:srgbClr val="3D85C6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194</c:v>
                </c:pt>
                <c:pt idx="1">
                  <c:v>204</c:v>
                </c:pt>
                <c:pt idx="2">
                  <c:v>215</c:v>
                </c:pt>
                <c:pt idx="3">
                  <c:v>227</c:v>
                </c:pt>
                <c:pt idx="4">
                  <c:v>240</c:v>
                </c:pt>
                <c:pt idx="5">
                  <c:v>255</c:v>
                </c:pt>
                <c:pt idx="6">
                  <c:v>272</c:v>
                </c:pt>
                <c:pt idx="7">
                  <c:v>290</c:v>
                </c:pt>
                <c:pt idx="8">
                  <c:v>310</c:v>
                </c:pt>
                <c:pt idx="9">
                  <c:v>331</c:v>
                </c:pt>
                <c:pt idx="10">
                  <c:v>353</c:v>
                </c:pt>
                <c:pt idx="11">
                  <c:v>377</c:v>
                </c:pt>
                <c:pt idx="12">
                  <c:v>402</c:v>
                </c:pt>
                <c:pt idx="13">
                  <c:v>429</c:v>
                </c:pt>
                <c:pt idx="14">
                  <c:v>458</c:v>
                </c:pt>
                <c:pt idx="15">
                  <c:v>488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ax val="3115.78155"/>
          <c:min val="0.0"/>
        </c:scaling>
        <c:delete/>
        <c:axPos val="l"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Chart options for the report &amp;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 i="0">
                <a:solidFill>
                  <a:srgbClr val="BFD8EA"/>
                </a:solidFill>
                <a:latin typeface="Calibri"/>
              </a:rPr>
              <a:t>One example per chart type, built on the Global Performance Knitted Fabrics dataset</a:t>
            </a:r>
          </a:p>
          <a:p>
            <a:pPr algn="l"/>
            <a:r>
              <a:rPr sz="1600" b="0" i="0">
                <a:solidFill>
                  <a:srgbClr val="BFD8EA"/>
                </a:solidFill>
                <a:latin typeface="Calibri"/>
              </a:rPr>
              <a:t>What can replace or upgrade the bar / stacked / line charts we use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1">
                <a:solidFill>
                  <a:srgbClr val="8FB0C8"/>
                </a:solidFill>
                <a:latin typeface="Calibri"/>
              </a:rPr>
              <a:t>Concept sheet - separate from the report engine. Figures are live from the formatted dataset.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Upgrade map: what we use today → what can replace 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68680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51560"/>
          <a:ext cx="1136599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103120"/>
                <a:gridCol w="5120640"/>
                <a:gridCol w="758952"/>
              </a:tblGrid>
              <a:tr h="426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Question the client asks</a:t>
                      </a:r>
                    </a:p>
                  </a:txBody>
                  <a:tcPr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Used today</a:t>
                      </a:r>
                    </a:p>
                  </a:txBody>
                  <a:tcPr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Better option(s)</a:t>
                      </a:r>
                    </a:p>
                  </a:txBody>
                  <a:tcPr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anchor="ctr">
                    <a:solidFill>
                      <a:srgbClr val="0B2E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Which region / segment is biggest?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Clustered column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E4A"/>
                          </a:solidFill>
                          <a:latin typeface="Calibri"/>
                        </a:rPr>
                        <a:t>Ranked horizontal bar with CAGR tag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How does the mix change over time?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Stacked column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E4A"/>
                          </a:solidFill>
                          <a:latin typeface="Calibri"/>
                        </a:rPr>
                        <a:t>100% stacked column; stacked area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4, 6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How fast is it growing?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Line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E4A"/>
                          </a:solidFill>
                          <a:latin typeface="Calibri"/>
                        </a:rPr>
                        <a:t>Line + forecast shading + end labels; Combo (value + YoY)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5, 7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How big is each share?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Pie / doughnut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E4A"/>
                          </a:solidFill>
                          <a:latin typeface="Calibri"/>
                        </a:rPr>
                        <a:t>Doughnut with centre KPI; Treemap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8, 10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What drives the growth?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E4A"/>
                          </a:solidFill>
                          <a:latin typeface="Calibri"/>
                        </a:rPr>
                        <a:t>Waterfall (growth bridge)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Where are size and growth together?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E4A"/>
                          </a:solidFill>
                          <a:latin typeface="Calibri"/>
                        </a:rPr>
                        <a:t>Bubble chart (size × CAGR × value)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Which cell of a matrix matters?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E4A"/>
                          </a:solidFill>
                          <a:latin typeface="Calibri"/>
                        </a:rPr>
                        <a:t>Heat-map; Marimekko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12, 13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Who moved up / down?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E4A"/>
                          </a:solidFill>
                          <a:latin typeface="Calibri"/>
                        </a:rPr>
                        <a:t>Slope chart; Dumbbell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14, 15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Profile / comparison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E4A"/>
                          </a:solidFill>
                          <a:latin typeface="Calibri"/>
                        </a:rPr>
                        <a:t>Radar; Small multiples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16, 17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Geography at a glance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Bar by region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E4A"/>
                          </a:solidFill>
                          <a:latin typeface="Calibri"/>
                        </a:rPr>
                        <a:t>Tile 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Headline numbers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Text boxes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E4A"/>
                          </a:solidFill>
                          <a:latin typeface="Calibri"/>
                        </a:rPr>
                        <a:t>KPI cards with sparkline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Bar chart - from plain columns to a ranked, labelled bar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Global performance knitted fabrics value by region, 2026 (US$ Mn)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Ranked horizontal bar + highlight + CAGR 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359152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578608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Comparing sizes across 5-15 categories with long names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328269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502152"/>
            <a:ext cx="3072384" cy="8458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Region and segment names are long; sorted bars read as a league table and the lead item pops.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40283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622292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Unsorted clustered column / vertical 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Left: today's style.  Right: upgraded.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11480" y="1325880"/>
          <a:ext cx="3291840" cy="5074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794760" y="1325880"/>
          <a:ext cx="4434840" cy="5074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Stacked column → 100% stacked (share shift)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Global value by material, 2021 / 2026 / 2031 / 2036 - share of market (%)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100% stacked column with in-bar % 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359152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578608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Showing how the MIX changes when totals differ a 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328269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502152"/>
            <a:ext cx="3072384" cy="8458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Absolute stacks hide the small segments; 100% bars make Polyester vs Nylon vs Elastane share moves obvious.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40283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622292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Stacked column of absolute value for mix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Pair with the absolute stacked chart when size also matters.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11480" y="1325880"/>
          <a:ext cx="7818120" cy="5074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2739199" y="1435608"/>
            <a:ext cx="3551872" cy="4434840"/>
          </a:xfrm>
          <a:prstGeom prst="rect">
            <a:avLst/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Line chart - add forecast shading and end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Global value by region, 2021-2036 (US$ Mn)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Multi-line with forecast zone, direct end 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359152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578608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Trend and ranking over 10+ periods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308610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305556"/>
            <a:ext cx="3072384" cy="8458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2021-2025 is actual and 2026-2036 forecast; shading says so without a footnote.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20624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425696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Plain line chart with a legend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End labels remove eye travel to the legend.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11480" y="1325880"/>
          <a:ext cx="7818120" cy="5074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703320" y="1417320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0E72AE"/>
                </a:solidFill>
                <a:latin typeface="Calibri"/>
              </a:rPr>
              <a:t>FORECAST PERIOD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Area chart - cumulative market build-up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Global value by end-use application, 2021-2036 (US$ Mn)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Stacked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6255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382012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Total market size AND contribution of each part over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308610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305556"/>
            <a:ext cx="3072384" cy="8458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Seven end-uses stack into one silhouette: the top edge is the market, bands show who feeds the growth.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20624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425696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Stacked column when there are 12+ periods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Keep to 5-7 bands; group the rest as 'Other'.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11480" y="1325880"/>
          <a:ext cx="7818120" cy="5074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Combo - value columns with YoY growth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Global performance knitted fabrics, value (US$ Mn) and YoY growth (%)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Column + line on a secondary axis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6255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382012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Size AND momentum in a single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889504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108960"/>
            <a:ext cx="3072384" cy="10424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Value climbs every year while the YoY line shows growth accelerating from about 6% to 7.5% - two messages, one picture.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20624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425696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Two separate charts (value, then growth table)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Column = left axis, line = right axis.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11480" y="1325880"/>
          <a:ext cx="7818120" cy="5074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Pie → doughnut with the total in the centre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Global value by fabric construction &amp; weight, 2026 (US$ Mn)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Doughnut + centre 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6255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382012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Part-to-whole with 2-6 slices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889504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108960"/>
            <a:ext cx="3072384" cy="8458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Warp vs weft and three weight classes are small sets: the share is the story and the total sits in the hole.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009644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229100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Pie chart / 3-D pie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Over 6 slices → use bar or treemap.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11480" y="1325880"/>
          <a:ext cx="3840480" cy="5074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371600" y="3200399"/>
            <a:ext cx="19202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0B2E4A"/>
                </a:solidFill>
                <a:latin typeface="Calibri"/>
              </a:rPr>
              <a:t>US$ 5,484 Mn</a:t>
            </a:r>
          </a:p>
          <a:p>
            <a:pPr algn="ctr"/>
            <a:r>
              <a:rPr sz="1500" b="1" i="0">
                <a:solidFill>
                  <a:srgbClr val="0B2E4A"/>
                </a:solidFill>
                <a:latin typeface="Calibri"/>
              </a:rPr>
              <a:t>2026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343400" y="1325880"/>
          <a:ext cx="3840480" cy="5074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303520" y="3200399"/>
            <a:ext cx="19202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0B2E4A"/>
                </a:solidFill>
                <a:latin typeface="Calibri"/>
              </a:rPr>
              <a:t>US$ 5,484 Mn</a:t>
            </a:r>
          </a:p>
          <a:p>
            <a:pPr algn="ctr"/>
            <a:r>
              <a:rPr sz="1500" b="1" i="0">
                <a:solidFill>
                  <a:srgbClr val="0B2E4A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Waterfall - where the growth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Global value bridge 2026 → 2036 by material (US$ Mn)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Waterfall / growth bridge (stacked column, hidden base)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359152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578608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Explaining the change between two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328269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502152"/>
            <a:ext cx="3072384" cy="8458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Answers 'who adds the US$ Mn?': Polyester and Nylon contribute most of the 2026-2036 increase.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40283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622292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Two separate bars + a table of differences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Great for the 'Opportunity' / absolute-$ slides.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11480" y="1325880"/>
          <a:ext cx="7818120" cy="5074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Treemap - share of each application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Global value by end-use application, 2026 - area = market size, label = share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Treemap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6255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382012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Part-to-whole with 7-30 items and long names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308610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305556"/>
            <a:ext cx="3072384" cy="8458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Seven applications plus 11 performance functions don't fit a pie; area shows size and colour can show CAGR.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20624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425696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Pie chart with a long legend / long bar 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Colour by CAGR band to show growth in the same 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325880"/>
            <a:ext cx="2974141" cy="3039419"/>
          </a:xfrm>
          <a:prstGeom prst="rect">
            <a:avLst/>
          </a:prstGeom>
          <a:solidFill>
            <a:srgbClr val="21466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Sports &amp; Activewear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22.8%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CAGR 7.6%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365299"/>
            <a:ext cx="2974141" cy="2035500"/>
          </a:xfrm>
          <a:prstGeom prst="rect">
            <a:avLst/>
          </a:prstGeom>
          <a:solidFill>
            <a:srgbClr val="8CBEE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200" b="1">
                <a:solidFill>
                  <a:srgbClr val="0B2E4A"/>
                </a:solidFill>
                <a:latin typeface="Calibri"/>
              </a:rPr>
              <a:t>Intimate &amp; Bodywear</a:t>
            </a:r>
          </a:p>
          <a:p>
            <a:pPr algn="ctr"/>
            <a:r>
              <a:rPr sz="1200" b="1">
                <a:solidFill>
                  <a:srgbClr val="0B2E4A"/>
                </a:solidFill>
                <a:latin typeface="Calibri"/>
              </a:rPr>
              <a:t>15.3%</a:t>
            </a:r>
          </a:p>
          <a:p>
            <a:pPr algn="ctr"/>
            <a:r>
              <a:rPr sz="1200" b="1">
                <a:solidFill>
                  <a:srgbClr val="0B2E4A"/>
                </a:solidFill>
                <a:latin typeface="Calibri"/>
              </a:rPr>
              <a:t>CAGR 6.3%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5621" y="1325880"/>
            <a:ext cx="2422471" cy="2402860"/>
          </a:xfrm>
          <a:prstGeom prst="rect">
            <a:avLst/>
          </a:prstGeom>
          <a:solidFill>
            <a:srgbClr val="0C2F4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Medical &amp; Healthcare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14.7%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CAGR 7.9%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8092" y="1325880"/>
            <a:ext cx="2421507" cy="2402860"/>
          </a:xfrm>
          <a:prstGeom prst="rect">
            <a:avLst/>
          </a:prstGeom>
          <a:solidFill>
            <a:srgbClr val="264D6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Protective &amp; Occupational Wear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14.7%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CAGR 7.6%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5621" y="3728740"/>
            <a:ext cx="1716630" cy="2672059"/>
          </a:xfrm>
          <a:prstGeom prst="rect">
            <a:avLst/>
          </a:prstGeom>
          <a:solidFill>
            <a:srgbClr val="0B2E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Industrial &amp; Technical Applic…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11.6%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CAGR 7.9%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02252" y="3728740"/>
            <a:ext cx="1601185" cy="2672059"/>
          </a:xfrm>
          <a:prstGeom prst="rect">
            <a:avLst/>
          </a:prstGeom>
          <a:solidFill>
            <a:srgbClr val="193D5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Footwear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10.8%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CAGR 7.7%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03438" y="3728740"/>
            <a:ext cx="1526161" cy="2672059"/>
          </a:xfrm>
          <a:prstGeom prst="rect">
            <a:avLst/>
          </a:prstGeom>
          <a:solidFill>
            <a:srgbClr val="537E9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Automotive &amp; Transportation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10.3%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CAGR 7.0%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Bubble chart - size, growth and scale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Regions: 2026 value (x) vs 2026-2036 CAGR (y); bubble = 2036 value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Bubble (3 variables)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6255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382012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Prioritising markets: large &amp; fast vs small &amp; 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308610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305556"/>
            <a:ext cx="3072384" cy="8458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Regions differ on both size and growth; one view separates 'big &amp; mature' from 'small &amp; rapidly growing'.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20624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425696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A table of value and CAGR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Add a quadrant divider for the 'Opportunity' slide.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11480" y="1325880"/>
          <a:ext cx="7818120" cy="5074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Heat-map - end-use × material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Global value 2036 by end-use application and material (US$ Mn)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Colour-scaled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6255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382012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Spotting the hot cells in a two-way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308610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305556"/>
            <a:ext cx="3072384" cy="8458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The dataset already has End-Use × Material: colour shows concentration (Sports × Polyester) at a glance.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20624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425696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A dense numeric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Same pattern works for Region × Segment CAGR.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11480" y="1417320"/>
          <a:ext cx="7818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944880"/>
                <a:gridCol w="944880"/>
                <a:gridCol w="944880"/>
                <a:gridCol w="944880"/>
                <a:gridCol w="944880"/>
                <a:gridCol w="944880"/>
              </a:tblGrid>
              <a:tr h="502920">
                <a:tc>
                  <a:txBody>
                    <a:bodyPr/>
                    <a:lstStyle/>
                    <a:p/>
                  </a:txBody>
                  <a:tcPr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Polyester</a:t>
                      </a:r>
                    </a:p>
                  </a:txBody>
                  <a:tcPr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Polyamide or…</a:t>
                      </a:r>
                    </a:p>
                  </a:txBody>
                  <a:tcPr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Polypropylene</a:t>
                      </a:r>
                    </a:p>
                  </a:txBody>
                  <a:tcPr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Elastane or S…</a:t>
                      </a:r>
                    </a:p>
                  </a:txBody>
                  <a:tcPr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Cellulosic Fi…</a:t>
                      </a:r>
                    </a:p>
                  </a:txBody>
                  <a:tcPr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High-Performa…</a:t>
                      </a:r>
                    </a:p>
                  </a:txBody>
                  <a:tcPr>
                    <a:solidFill>
                      <a:srgbClr val="0B2E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2E4A"/>
                          </a:solidFill>
                        </a:rPr>
                        <a:t>Sports &amp; Activewear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1,237</a:t>
                      </a:r>
                    </a:p>
                  </a:txBody>
                  <a:tcPr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488</a:t>
                      </a:r>
                    </a:p>
                  </a:txBody>
                  <a:tcPr anchor="ctr">
                    <a:solidFill>
                      <a:srgbClr val="91A7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78</a:t>
                      </a:r>
                    </a:p>
                  </a:txBody>
                  <a:tcPr anchor="ctr">
                    <a:solidFill>
                      <a:srgbClr val="DBE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495</a:t>
                      </a:r>
                    </a:p>
                  </a:txBody>
                  <a:tcPr anchor="ctr">
                    <a:solidFill>
                      <a:srgbClr val="90A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149</a:t>
                      </a:r>
                    </a:p>
                  </a:txBody>
                  <a:tcPr anchor="ctr">
                    <a:solidFill>
                      <a:srgbClr val="CFD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CDDCE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2E4A"/>
                          </a:solidFill>
                        </a:rPr>
                        <a:t>Medical &amp; Healthcare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556</a:t>
                      </a:r>
                    </a:p>
                  </a:txBody>
                  <a:tcPr anchor="ctr">
                    <a:solidFill>
                      <a:srgbClr val="859C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380</a:t>
                      </a:r>
                    </a:p>
                  </a:txBody>
                  <a:tcPr anchor="ctr">
                    <a:solidFill>
                      <a:srgbClr val="A5B8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DCE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328</a:t>
                      </a:r>
                    </a:p>
                  </a:txBody>
                  <a:tcPr anchor="ctr">
                    <a:solidFill>
                      <a:srgbClr val="AEC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150</a:t>
                      </a:r>
                    </a:p>
                  </a:txBody>
                  <a:tcPr anchor="ctr">
                    <a:solidFill>
                      <a:srgbClr val="CED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225</a:t>
                      </a:r>
                    </a:p>
                  </a:txBody>
                  <a:tcPr anchor="ctr">
                    <a:solidFill>
                      <a:srgbClr val="C1D1D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2E4A"/>
                          </a:solidFill>
                        </a:rPr>
                        <a:t>Protective &amp; Occupational Wear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547</a:t>
                      </a:r>
                    </a:p>
                  </a:txBody>
                  <a:tcPr anchor="ctr">
                    <a:solidFill>
                      <a:srgbClr val="879D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323</a:t>
                      </a:r>
                    </a:p>
                  </a:txBody>
                  <a:tcPr anchor="ctr">
                    <a:solidFill>
                      <a:srgbClr val="AFC1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DAE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C9D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C7A89"/>
                          </a:solidFill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527</a:t>
                      </a:r>
                    </a:p>
                  </a:txBody>
                  <a:tcPr anchor="ctr">
                    <a:solidFill>
                      <a:srgbClr val="8AA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2E4A"/>
                          </a:solidFill>
                        </a:rPr>
                        <a:t>Intimate &amp; Bodywear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538</a:t>
                      </a:r>
                    </a:p>
                  </a:txBody>
                  <a:tcPr anchor="ctr">
                    <a:solidFill>
                      <a:srgbClr val="899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376</a:t>
                      </a:r>
                    </a:p>
                  </a:txBody>
                  <a:tcPr anchor="ctr">
                    <a:solidFill>
                      <a:srgbClr val="A6B9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C7A89"/>
                          </a:solidFill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435</a:t>
                      </a:r>
                    </a:p>
                  </a:txBody>
                  <a:tcPr anchor="ctr">
                    <a:solidFill>
                      <a:srgbClr val="9BAF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198</a:t>
                      </a:r>
                    </a:p>
                  </a:txBody>
                  <a:tcPr anchor="ctr">
                    <a:solidFill>
                      <a:srgbClr val="C6D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C7A89"/>
                          </a:solidFill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2E4A"/>
                          </a:solidFill>
                        </a:rPr>
                        <a:t>Industrial &amp; Technical Applic…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545</a:t>
                      </a:r>
                    </a:p>
                  </a:txBody>
                  <a:tcPr anchor="ctr">
                    <a:solidFill>
                      <a:srgbClr val="879D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264</a:t>
                      </a:r>
                    </a:p>
                  </a:txBody>
                  <a:tcPr anchor="ctr">
                    <a:solidFill>
                      <a:srgbClr val="BAC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143</a:t>
                      </a:r>
                    </a:p>
                  </a:txBody>
                  <a:tcPr anchor="ctr">
                    <a:solidFill>
                      <a:srgbClr val="D0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C7A89"/>
                          </a:solidFill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C7A89"/>
                          </a:solidFill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402</a:t>
                      </a:r>
                    </a:p>
                  </a:txBody>
                  <a:tcPr anchor="ctr">
                    <a:solidFill>
                      <a:srgbClr val="A1B4C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2E4A"/>
                          </a:solidFill>
                        </a:rPr>
                        <a:t>Footwear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612</a:t>
                      </a:r>
                    </a:p>
                  </a:txBody>
                  <a:tcPr anchor="ctr">
                    <a:solidFill>
                      <a:srgbClr val="7B9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266</a:t>
                      </a:r>
                    </a:p>
                  </a:txBody>
                  <a:tcPr anchor="ctr">
                    <a:solidFill>
                      <a:srgbClr val="BACB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42</a:t>
                      </a:r>
                    </a:p>
                  </a:txBody>
                  <a:tcPr anchor="ctr">
                    <a:solidFill>
                      <a:srgbClr val="E2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187</a:t>
                      </a:r>
                    </a:p>
                  </a:txBody>
                  <a:tcPr anchor="ctr">
                    <a:solidFill>
                      <a:srgbClr val="C8D7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C7A89"/>
                          </a:solidFill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137</a:t>
                      </a:r>
                    </a:p>
                  </a:txBody>
                  <a:tcPr anchor="ctr">
                    <a:solidFill>
                      <a:srgbClr val="D1DF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2E4A"/>
                          </a:solidFill>
                        </a:rPr>
                        <a:t>Automotive &amp; Transportation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712</a:t>
                      </a:r>
                    </a:p>
                  </a:txBody>
                  <a:tcPr anchor="ctr">
                    <a:solidFill>
                      <a:srgbClr val="6982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216</a:t>
                      </a:r>
                    </a:p>
                  </a:txBody>
                  <a:tcPr anchor="ctr">
                    <a:solidFill>
                      <a:srgbClr val="C3D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58</a:t>
                      </a:r>
                    </a:p>
                  </a:txBody>
                  <a:tcPr anchor="ctr"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C7A89"/>
                          </a:solidFill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C7A89"/>
                          </a:solidFill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2E4A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D3E1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Marimekko - size and mix in one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Global 2036: column width = end-use size, stack = material share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Marimekko (variable-width 100% stack)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6255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382012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Two dimensions: how big is each segment AND what is inside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308610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305556"/>
            <a:ext cx="3072384" cy="8458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End-use × Material is exactly this: width shows which applications matter, stacks show the fibre mix.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20624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425696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Side-by-side 100% bars that hide segment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Limit to 5-7 columns and 4-6 stack colours.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1417320"/>
            <a:ext cx="1684094" cy="1737404"/>
          </a:xfrm>
          <a:prstGeom prst="rect">
            <a:avLst/>
          </a:prstGeom>
          <a:solidFill>
            <a:srgbClr val="0E72A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154724"/>
            <a:ext cx="1684094" cy="686067"/>
          </a:xfrm>
          <a:prstGeom prst="rect">
            <a:avLst/>
          </a:prstGeom>
          <a:solidFill>
            <a:srgbClr val="0081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40791"/>
            <a:ext cx="1684094" cy="110172"/>
          </a:xfrm>
          <a:prstGeom prst="rect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950963"/>
            <a:ext cx="1684094" cy="695012"/>
          </a:xfrm>
          <a:prstGeom prst="rect">
            <a:avLst/>
          </a:prstGeom>
          <a:solidFill>
            <a:srgbClr val="6F3CC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645976"/>
            <a:ext cx="1684094" cy="209667"/>
          </a:xfrm>
          <a:prstGeom prst="rect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855643"/>
            <a:ext cx="1684094" cy="219276"/>
          </a:xfrm>
          <a:prstGeom prst="rect">
            <a:avLst/>
          </a:prstGeom>
          <a:solidFill>
            <a:srgbClr val="6C7A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20640"/>
            <a:ext cx="168409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0B2E4A"/>
                </a:solidFill>
                <a:latin typeface="Calibri"/>
              </a:rPr>
              <a:t>Sports &amp; Activewear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52774" y="1417320"/>
            <a:ext cx="1110355" cy="1184029"/>
          </a:xfrm>
          <a:prstGeom prst="rect">
            <a:avLst/>
          </a:prstGeom>
          <a:solidFill>
            <a:srgbClr val="0E72A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52774" y="2601349"/>
            <a:ext cx="1110355" cy="810574"/>
          </a:xfrm>
          <a:prstGeom prst="rect">
            <a:avLst/>
          </a:prstGeom>
          <a:solidFill>
            <a:srgbClr val="0081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52774" y="3411924"/>
            <a:ext cx="1110355" cy="164502"/>
          </a:xfrm>
          <a:prstGeom prst="rect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52774" y="3576427"/>
            <a:ext cx="1110355" cy="698374"/>
          </a:xfrm>
          <a:prstGeom prst="rect">
            <a:avLst/>
          </a:prstGeom>
          <a:solidFill>
            <a:srgbClr val="6F3CC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52774" y="4274801"/>
            <a:ext cx="1110355" cy="319912"/>
          </a:xfrm>
          <a:prstGeom prst="rect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52774" y="4594714"/>
            <a:ext cx="1110355" cy="480205"/>
          </a:xfrm>
          <a:prstGeom prst="rect">
            <a:avLst/>
          </a:prstGeom>
          <a:solidFill>
            <a:srgbClr val="6C7A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52774" y="5120640"/>
            <a:ext cx="1110355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0B2E4A"/>
                </a:solidFill>
                <a:latin typeface="Calibri"/>
              </a:rPr>
              <a:t>Medical &amp; Healthcare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63130" y="1417320"/>
            <a:ext cx="1076972" cy="1201479"/>
          </a:xfrm>
          <a:prstGeom prst="rect">
            <a:avLst/>
          </a:prstGeom>
          <a:solidFill>
            <a:srgbClr val="0E72A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63130" y="2618799"/>
            <a:ext cx="1076972" cy="709353"/>
          </a:xfrm>
          <a:prstGeom prst="rect">
            <a:avLst/>
          </a:prstGeom>
          <a:solidFill>
            <a:srgbClr val="0081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63130" y="3328153"/>
            <a:ext cx="1076972" cy="193009"/>
          </a:xfrm>
          <a:prstGeom prst="rect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63130" y="3521163"/>
            <a:ext cx="1076972" cy="395644"/>
          </a:xfrm>
          <a:prstGeom prst="rect">
            <a:avLst/>
          </a:prstGeom>
          <a:solidFill>
            <a:srgbClr val="6F3CC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63130" y="3916808"/>
            <a:ext cx="1076972" cy="1158111"/>
          </a:xfrm>
          <a:prstGeom prst="rect">
            <a:avLst/>
          </a:prstGeom>
          <a:solidFill>
            <a:srgbClr val="6C7A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3130" y="5120640"/>
            <a:ext cx="1076972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0B2E4A"/>
                </a:solidFill>
                <a:latin typeface="Calibri"/>
              </a:rPr>
              <a:t>Protective &amp; Occupa…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40103" y="1417320"/>
            <a:ext cx="999815" cy="1272394"/>
          </a:xfrm>
          <a:prstGeom prst="rect">
            <a:avLst/>
          </a:prstGeom>
          <a:solidFill>
            <a:srgbClr val="0E72A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40103" y="2689714"/>
            <a:ext cx="999815" cy="889117"/>
          </a:xfrm>
          <a:prstGeom prst="rect">
            <a:avLst/>
          </a:prstGeom>
          <a:solidFill>
            <a:srgbClr val="0081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40103" y="3578832"/>
            <a:ext cx="999815" cy="1028285"/>
          </a:xfrm>
          <a:prstGeom prst="rect">
            <a:avLst/>
          </a:prstGeom>
          <a:solidFill>
            <a:srgbClr val="6F3CC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40103" y="4607117"/>
            <a:ext cx="999815" cy="467802"/>
          </a:xfrm>
          <a:prstGeom prst="rect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40103" y="5120640"/>
            <a:ext cx="999815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0B2E4A"/>
                </a:solidFill>
                <a:latin typeface="Calibri"/>
              </a:rPr>
              <a:t>Intimate &amp; Bodywear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39918" y="1417320"/>
            <a:ext cx="876002" cy="1472764"/>
          </a:xfrm>
          <a:prstGeom prst="rect">
            <a:avLst/>
          </a:prstGeom>
          <a:solidFill>
            <a:srgbClr val="0E72A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39918" y="2890084"/>
            <a:ext cx="876002" cy="712228"/>
          </a:xfrm>
          <a:prstGeom prst="rect">
            <a:avLst/>
          </a:prstGeom>
          <a:solidFill>
            <a:srgbClr val="0081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19%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39918" y="3602312"/>
            <a:ext cx="876002" cy="385865"/>
          </a:xfrm>
          <a:prstGeom prst="rect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11%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39918" y="3988178"/>
            <a:ext cx="876002" cy="1086741"/>
          </a:xfrm>
          <a:prstGeom prst="rect">
            <a:avLst/>
          </a:prstGeom>
          <a:solidFill>
            <a:srgbClr val="6C7A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39918" y="5120640"/>
            <a:ext cx="876002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0B2E4A"/>
                </a:solidFill>
                <a:latin typeface="Calibri"/>
              </a:rPr>
              <a:t>Industrial &amp; Techni…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15920" y="1417320"/>
            <a:ext cx="804300" cy="1799356"/>
          </a:xfrm>
          <a:prstGeom prst="rect">
            <a:avLst/>
          </a:prstGeom>
          <a:solidFill>
            <a:srgbClr val="0E72A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49%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15920" y="3216676"/>
            <a:ext cx="804300" cy="781484"/>
          </a:xfrm>
          <a:prstGeom prst="rect">
            <a:avLst/>
          </a:prstGeom>
          <a:solidFill>
            <a:srgbClr val="0081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15920" y="3998160"/>
            <a:ext cx="804300" cy="124851"/>
          </a:xfrm>
          <a:prstGeom prst="rect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15920" y="4123011"/>
            <a:ext cx="804300" cy="549587"/>
          </a:xfrm>
          <a:prstGeom prst="rect">
            <a:avLst/>
          </a:prstGeom>
          <a:solidFill>
            <a:srgbClr val="6F3CC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15920" y="4672598"/>
            <a:ext cx="804300" cy="402321"/>
          </a:xfrm>
          <a:prstGeom prst="rect">
            <a:avLst/>
          </a:prstGeom>
          <a:solidFill>
            <a:srgbClr val="6C7A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15920" y="5120640"/>
            <a:ext cx="80430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0B2E4A"/>
                </a:solidFill>
                <a:latin typeface="Calibri"/>
              </a:rPr>
              <a:t>Footwear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20220" y="1417320"/>
            <a:ext cx="717939" cy="2346212"/>
          </a:xfrm>
          <a:prstGeom prst="rect">
            <a:avLst/>
          </a:prstGeom>
          <a:solidFill>
            <a:srgbClr val="0E72A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64%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20220" y="3763532"/>
            <a:ext cx="717939" cy="710139"/>
          </a:xfrm>
          <a:prstGeom prst="rect">
            <a:avLst/>
          </a:prstGeom>
          <a:solidFill>
            <a:srgbClr val="0081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19%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20220" y="4473671"/>
            <a:ext cx="717939" cy="189751"/>
          </a:xfrm>
          <a:prstGeom prst="rect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20220" y="4663423"/>
            <a:ext cx="717939" cy="411496"/>
          </a:xfrm>
          <a:prstGeom prst="rect">
            <a:avLst/>
          </a:prstGeom>
          <a:solidFill>
            <a:srgbClr val="6C7A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11%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20220" y="5120640"/>
            <a:ext cx="717939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0B2E4A"/>
                </a:solidFill>
                <a:latin typeface="Calibri"/>
              </a:rPr>
              <a:t>Automotive &amp; Transp…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8680" y="5788152"/>
            <a:ext cx="146304" cy="14630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3272" y="5733288"/>
            <a:ext cx="1097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0B2E4A"/>
                </a:solidFill>
                <a:latin typeface="Calibri"/>
              </a:rPr>
              <a:t>Polyester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5788152"/>
            <a:ext cx="146304" cy="14630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67712" y="5733288"/>
            <a:ext cx="1097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0B2E4A"/>
                </a:solidFill>
                <a:latin typeface="Calibri"/>
              </a:rPr>
              <a:t>Polyamide or Ny…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37560" y="5788152"/>
            <a:ext cx="146304" cy="14630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02152" y="5733288"/>
            <a:ext cx="1097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0B2E4A"/>
                </a:solidFill>
                <a:latin typeface="Calibri"/>
              </a:rPr>
              <a:t>Polypropylene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5788152"/>
            <a:ext cx="146304" cy="14630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36592" y="5733288"/>
            <a:ext cx="1097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0B2E4A"/>
                </a:solidFill>
                <a:latin typeface="Calibri"/>
              </a:rPr>
              <a:t>Elastane or Spa…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06440" y="5788152"/>
            <a:ext cx="146304" cy="146304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71032" y="5733288"/>
            <a:ext cx="1097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0B2E4A"/>
                </a:solidFill>
                <a:latin typeface="Calibri"/>
              </a:rPr>
              <a:t>Cellulosic Fibe…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40880" y="5788152"/>
            <a:ext cx="146304" cy="146304"/>
          </a:xfrm>
          <a:prstGeom prst="rect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05472" y="5733288"/>
            <a:ext cx="1097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0B2E4A"/>
                </a:solidFill>
                <a:latin typeface="Calibri"/>
              </a:rPr>
              <a:t>High-Performanc…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Slope chart - who gained, who lost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Regional value (US$ Mn), 2021 vs 2036 - two points per region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Slope chart (2-point 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6255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382012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Rank change or before/after across 5-10 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308610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305556"/>
            <a:ext cx="3072384" cy="8458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Regions grow at different speeds; East Asia overtakes Western Europe and North America to rank first by 2036.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20624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425696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Two grouped columns per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Great for 'then vs now' or 'base vs forecast' slides.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11480" y="1325880"/>
          <a:ext cx="7818120" cy="5074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Dumbbell - start vs end, ranked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Global value by end-use application: 2026 (hollow) → 2036 (solid), US$ Mn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Dumbbell / connected dot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6255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382012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Showing the gap between two periods per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308610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305556"/>
            <a:ext cx="3072384" cy="8458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Length of the bar = absolute growth, so Sports &amp; Activewear vs Footwear can be compared instantly.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20624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425696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Clustered column with two years per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Add CAGR to the right of the bar.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63240" y="1417320"/>
            <a:ext cx="0" cy="4572000"/>
          </a:xfrm>
          <a:prstGeom prst="line">
            <a:avLst/>
          </a:prstGeom>
          <a:ln w="9525">
            <a:solidFill>
              <a:srgbClr val="E6E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97480" y="6035040"/>
            <a:ext cx="7315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0" i="0">
                <a:solidFill>
                  <a:srgbClr val="6C7A89"/>
                </a:solidFill>
                <a:latin typeface="Calibri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68496" y="1417320"/>
            <a:ext cx="0" cy="4572000"/>
          </a:xfrm>
          <a:prstGeom prst="line">
            <a:avLst/>
          </a:prstGeom>
          <a:ln w="9525">
            <a:solidFill>
              <a:srgbClr val="E6E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02736" y="6035040"/>
            <a:ext cx="7315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0" i="0">
                <a:solidFill>
                  <a:srgbClr val="6C7A89"/>
                </a:solidFill>
                <a:latin typeface="Calibri"/>
              </a:rPr>
              <a:t>562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73752" y="1417320"/>
            <a:ext cx="0" cy="4572000"/>
          </a:xfrm>
          <a:prstGeom prst="line">
            <a:avLst/>
          </a:prstGeom>
          <a:ln w="9525">
            <a:solidFill>
              <a:srgbClr val="E6E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07992" y="6035040"/>
            <a:ext cx="7315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0" i="0">
                <a:solidFill>
                  <a:srgbClr val="6C7A89"/>
                </a:solidFill>
                <a:latin typeface="Calibri"/>
              </a:rPr>
              <a:t>1,125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79008" y="1417320"/>
            <a:ext cx="0" cy="4572000"/>
          </a:xfrm>
          <a:prstGeom prst="line">
            <a:avLst/>
          </a:prstGeom>
          <a:ln w="9525">
            <a:solidFill>
              <a:srgbClr val="E6E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13248" y="6035040"/>
            <a:ext cx="7315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0" i="0">
                <a:solidFill>
                  <a:srgbClr val="6C7A89"/>
                </a:solidFill>
                <a:latin typeface="Calibri"/>
              </a:rPr>
              <a:t>1,687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84264" y="1417320"/>
            <a:ext cx="0" cy="4572000"/>
          </a:xfrm>
          <a:prstGeom prst="line">
            <a:avLst/>
          </a:prstGeom>
          <a:ln w="9525">
            <a:solidFill>
              <a:srgbClr val="E6E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18504" y="6035040"/>
            <a:ext cx="7315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0" i="0">
                <a:solidFill>
                  <a:srgbClr val="6C7A89"/>
                </a:solidFill>
                <a:latin typeface="Calibri"/>
              </a:rPr>
              <a:t>2,250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89520" y="1417320"/>
            <a:ext cx="0" cy="4572000"/>
          </a:xfrm>
          <a:prstGeom prst="line">
            <a:avLst/>
          </a:prstGeom>
          <a:ln w="9525">
            <a:solidFill>
              <a:srgbClr val="E6E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223760" y="6035040"/>
            <a:ext cx="7315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0" i="0">
                <a:solidFill>
                  <a:srgbClr val="6C7A89"/>
                </a:solidFill>
                <a:latin typeface="Calibri"/>
              </a:rPr>
              <a:t>2,812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1612609"/>
            <a:ext cx="26060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1" i="0">
                <a:solidFill>
                  <a:srgbClr val="0B2E4A"/>
                </a:solidFill>
                <a:latin typeface="Calibri"/>
              </a:rPr>
              <a:t>Automotive &amp; Transportation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70390" y="1740625"/>
            <a:ext cx="879495" cy="0"/>
          </a:xfrm>
          <a:prstGeom prst="line">
            <a:avLst/>
          </a:prstGeom>
          <a:ln w="38100">
            <a:solidFill>
              <a:srgbClr val="B2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883522" y="1653757"/>
            <a:ext cx="173736" cy="1737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63017" y="1653757"/>
            <a:ext cx="173736" cy="173736"/>
          </a:xfrm>
          <a:prstGeom prst="ellipse">
            <a:avLst/>
          </a:prstGeom>
          <a:solidFill>
            <a:srgbClr val="0E72AE"/>
          </a:solidFill>
          <a:ln w="254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7045" y="1612609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008189"/>
                </a:solidFill>
                <a:latin typeface="Calibri"/>
              </a:rPr>
              <a:t>7.0% CAGR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2259221"/>
            <a:ext cx="26060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1" i="0">
                <a:solidFill>
                  <a:srgbClr val="0B2E4A"/>
                </a:solidFill>
                <a:latin typeface="Calibri"/>
              </a:rPr>
              <a:t>Footwear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014985" y="2387237"/>
            <a:ext cx="1049817" cy="0"/>
          </a:xfrm>
          <a:prstGeom prst="line">
            <a:avLst/>
          </a:prstGeom>
          <a:ln w="38100">
            <a:solidFill>
              <a:srgbClr val="B2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928117" y="2300369"/>
            <a:ext cx="173736" cy="1737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77934" y="2300369"/>
            <a:ext cx="173736" cy="173736"/>
          </a:xfrm>
          <a:prstGeom prst="ellipse">
            <a:avLst/>
          </a:prstGeom>
          <a:solidFill>
            <a:srgbClr val="0E72AE"/>
          </a:solidFill>
          <a:ln w="254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01962" y="225922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008189"/>
                </a:solidFill>
                <a:latin typeface="Calibri"/>
              </a:rPr>
              <a:t>7.7% CAGR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2905832"/>
            <a:ext cx="26060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1" i="0">
                <a:solidFill>
                  <a:srgbClr val="0B2E4A"/>
                </a:solidFill>
                <a:latin typeface="Calibri"/>
              </a:rPr>
              <a:t>Industrial &amp; Technical Applicat…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083605" y="3033848"/>
            <a:ext cx="1159632" cy="0"/>
          </a:xfrm>
          <a:prstGeom prst="line">
            <a:avLst/>
          </a:prstGeom>
          <a:ln w="38100">
            <a:solidFill>
              <a:srgbClr val="B2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996737" y="2946980"/>
            <a:ext cx="173736" cy="1737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156369" y="2946980"/>
            <a:ext cx="173736" cy="173736"/>
          </a:xfrm>
          <a:prstGeom prst="ellipse">
            <a:avLst/>
          </a:prstGeom>
          <a:solidFill>
            <a:srgbClr val="0E72AE"/>
          </a:solidFill>
          <a:ln w="254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80397" y="2905832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008189"/>
                </a:solidFill>
                <a:latin typeface="Calibri"/>
              </a:rPr>
              <a:t>7.9% CAGR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3552444"/>
            <a:ext cx="26060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1" i="0">
                <a:solidFill>
                  <a:srgbClr val="0B2E4A"/>
                </a:solidFill>
                <a:latin typeface="Calibri"/>
              </a:rPr>
              <a:t>Intimate &amp; Bodywear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409923" y="3680460"/>
            <a:ext cx="1141432" cy="0"/>
          </a:xfrm>
          <a:prstGeom prst="line">
            <a:avLst/>
          </a:prstGeom>
          <a:ln w="38100">
            <a:solidFill>
              <a:srgbClr val="B2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323055" y="3593592"/>
            <a:ext cx="173736" cy="1737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464487" y="3593592"/>
            <a:ext cx="173736" cy="173736"/>
          </a:xfrm>
          <a:prstGeom prst="ellipse">
            <a:avLst/>
          </a:prstGeom>
          <a:solidFill>
            <a:srgbClr val="0E72AE"/>
          </a:solidFill>
          <a:ln w="254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88515" y="3552444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008189"/>
                </a:solidFill>
                <a:latin typeface="Calibri"/>
              </a:rPr>
              <a:t>6.3% CAGR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4199055"/>
            <a:ext cx="26060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1" i="0">
                <a:solidFill>
                  <a:srgbClr val="0B2E4A"/>
                </a:solidFill>
                <a:latin typeface="Calibri"/>
              </a:rPr>
              <a:t>Protective &amp; Occupational Wear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357576" y="4327071"/>
            <a:ext cx="1385793" cy="0"/>
          </a:xfrm>
          <a:prstGeom prst="line">
            <a:avLst/>
          </a:prstGeom>
          <a:ln w="38100">
            <a:solidFill>
              <a:srgbClr val="B2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4270708" y="4240203"/>
            <a:ext cx="173736" cy="1737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656501" y="4240203"/>
            <a:ext cx="173736" cy="173736"/>
          </a:xfrm>
          <a:prstGeom prst="ellipse">
            <a:avLst/>
          </a:prstGeom>
          <a:solidFill>
            <a:srgbClr val="0E72AE"/>
          </a:solidFill>
          <a:ln w="254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80529" y="4199055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008189"/>
                </a:solidFill>
                <a:latin typeface="Calibri"/>
              </a:rPr>
              <a:t>7.6% CAGR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4845666"/>
            <a:ext cx="26060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1" i="0">
                <a:solidFill>
                  <a:srgbClr val="0B2E4A"/>
                </a:solidFill>
                <a:latin typeface="Calibri"/>
              </a:rPr>
              <a:t>Medical &amp; Healthcare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358091" y="4973682"/>
            <a:ext cx="1468356" cy="0"/>
          </a:xfrm>
          <a:prstGeom prst="line">
            <a:avLst/>
          </a:prstGeom>
          <a:ln w="38100">
            <a:solidFill>
              <a:srgbClr val="B2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4271223" y="4886814"/>
            <a:ext cx="173736" cy="1737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39579" y="4886814"/>
            <a:ext cx="173736" cy="173736"/>
          </a:xfrm>
          <a:prstGeom prst="ellipse">
            <a:avLst/>
          </a:prstGeom>
          <a:solidFill>
            <a:srgbClr val="0E72AE"/>
          </a:solidFill>
          <a:ln w="254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63607" y="4845666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008189"/>
                </a:solidFill>
                <a:latin typeface="Calibri"/>
              </a:rPr>
              <a:t>7.9% CAGR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5492278"/>
            <a:ext cx="26060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1" i="0">
                <a:solidFill>
                  <a:srgbClr val="0B2E4A"/>
                </a:solidFill>
                <a:latin typeface="Calibri"/>
              </a:rPr>
              <a:t>Sports &amp; Activewear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74115" y="5620294"/>
            <a:ext cx="2180125" cy="0"/>
          </a:xfrm>
          <a:prstGeom prst="line">
            <a:avLst/>
          </a:prstGeom>
          <a:ln w="38100">
            <a:solidFill>
              <a:srgbClr val="B2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987247" y="5533426"/>
            <a:ext cx="173736" cy="1737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167372" y="5533426"/>
            <a:ext cx="173736" cy="173736"/>
          </a:xfrm>
          <a:prstGeom prst="ellipse">
            <a:avLst/>
          </a:prstGeom>
          <a:solidFill>
            <a:srgbClr val="0E72AE"/>
          </a:solidFill>
          <a:ln w="254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91400" y="5492278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008189"/>
                </a:solidFill>
                <a:latin typeface="Calibri"/>
              </a:rPr>
              <a:t>7.6% CAGR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Radar - comparing profiles across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End-use application mix (% of 2036 value): North America vs East Asia vs Western Europe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Radar / spider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6255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382012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Comparing 2-3 profiles across 5-8 shared axes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308610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305556"/>
            <a:ext cx="3072384" cy="8458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Application mix differs by region; the shapes show at once where each region over-indexes.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20624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425696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Three clustered bar 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Never more than 3 series; 5-8 axes.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11480" y="1325880"/>
          <a:ext cx="7818120" cy="5074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Small multiples - one mini-chart per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Value trend 2021-2036 for every region on the same scale (US$ Mn)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Small multiples / sparkline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6255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382012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Many categories that would turn one chart into spaghetti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308610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305556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Seven regions at once with shared axis so the shapes compare fairly.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009644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229100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One line chart with 7+ 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Use shared axes; highlight one panel for the story.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11480" y="1325880"/>
          <a:ext cx="1954530" cy="25374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66010" y="1325880"/>
          <a:ext cx="1954530" cy="25374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320540" y="1325880"/>
          <a:ext cx="1954530" cy="25374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75070" y="1325880"/>
          <a:ext cx="1954530" cy="25374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11480" y="3863340"/>
          <a:ext cx="1954530" cy="253746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66010" y="3863340"/>
          <a:ext cx="1954530" cy="253746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320540" y="3863340"/>
          <a:ext cx="1954530" cy="253746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22" name="Rectangle 21"/>
          <p:cNvSpPr/>
          <p:nvPr/>
        </p:nvSpPr>
        <p:spPr>
          <a:xfrm>
            <a:off x="6275070" y="3863340"/>
            <a:ext cx="1954530" cy="253746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Same y-axis on every panel</a:t>
            </a:r>
          </a:p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max = US$ 3,116 Mn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Tile map - the world in seven tiles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Regions placed roughly where they sit; colour = CAGR 2026-2036, label = 2036 value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Tile-grid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6255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382012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Geography without drawing a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889504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108960"/>
            <a:ext cx="3072384" cy="8458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Our regions are not countries; tiles keep the geography and let colour carry growth.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009644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229100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Bar chart of regions in arbitrary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Country-level version: one tile per country (31).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1472184" cy="2103120"/>
          </a:xfrm>
          <a:prstGeom prst="rect">
            <a:avLst/>
          </a:prstGeom>
          <a:solidFill>
            <a:srgbClr val="5D7E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North America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7.6%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US$ 2,655 Mn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84448" y="1645920"/>
            <a:ext cx="1472184" cy="2103120"/>
          </a:xfrm>
          <a:prstGeom prst="rect">
            <a:avLst/>
          </a:prstGeom>
          <a:solidFill>
            <a:srgbClr val="A2C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200" b="1">
                <a:solidFill>
                  <a:srgbClr val="0B2E4A"/>
                </a:solidFill>
                <a:latin typeface="Calibri"/>
              </a:rPr>
              <a:t>Western Europe</a:t>
            </a:r>
          </a:p>
          <a:p>
            <a:pPr algn="ctr"/>
            <a:r>
              <a:rPr sz="1200" b="1">
                <a:solidFill>
                  <a:srgbClr val="0B2E4A"/>
                </a:solidFill>
                <a:latin typeface="Calibri"/>
              </a:rPr>
              <a:t>6.3%</a:t>
            </a:r>
          </a:p>
          <a:p>
            <a:pPr algn="ctr"/>
            <a:r>
              <a:rPr sz="1200" b="1">
                <a:solidFill>
                  <a:srgbClr val="0B2E4A"/>
                </a:solidFill>
                <a:latin typeface="Calibri"/>
              </a:rPr>
              <a:t>US$ 2,673 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48072" y="1645920"/>
            <a:ext cx="1472184" cy="2103120"/>
          </a:xfrm>
          <a:prstGeom prst="rect">
            <a:avLst/>
          </a:prstGeom>
          <a:solidFill>
            <a:srgbClr val="BEDCF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200" b="1">
                <a:solidFill>
                  <a:srgbClr val="0B2E4A"/>
                </a:solidFill>
                <a:latin typeface="Calibri"/>
              </a:rPr>
              <a:t>Eastern Europe</a:t>
            </a:r>
          </a:p>
          <a:p>
            <a:pPr algn="ctr"/>
            <a:r>
              <a:rPr sz="1200" b="1">
                <a:solidFill>
                  <a:srgbClr val="0B2E4A"/>
                </a:solidFill>
                <a:latin typeface="Calibri"/>
              </a:rPr>
              <a:t>5.8%</a:t>
            </a:r>
          </a:p>
          <a:p>
            <a:pPr algn="ctr"/>
            <a:r>
              <a:rPr sz="1200" b="1">
                <a:solidFill>
                  <a:srgbClr val="0B2E4A"/>
                </a:solidFill>
                <a:latin typeface="Calibri"/>
              </a:rPr>
              <a:t>US$ 499 Mn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11696" y="1645920"/>
            <a:ext cx="1472184" cy="2103120"/>
          </a:xfrm>
          <a:prstGeom prst="rect">
            <a:avLst/>
          </a:prstGeom>
          <a:solidFill>
            <a:srgbClr val="37587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East Asia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8.3%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US$ 2,967 Mn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20824" y="3840480"/>
            <a:ext cx="1472184" cy="2103120"/>
          </a:xfrm>
          <a:prstGeom prst="rect">
            <a:avLst/>
          </a:prstGeom>
          <a:solidFill>
            <a:srgbClr val="82A1B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200" b="1">
                <a:solidFill>
                  <a:srgbClr val="0B2E4A"/>
                </a:solidFill>
                <a:latin typeface="Calibri"/>
              </a:rPr>
              <a:t>Latin America</a:t>
            </a:r>
          </a:p>
          <a:p>
            <a:pPr algn="ctr"/>
            <a:r>
              <a:rPr sz="1200" b="1">
                <a:solidFill>
                  <a:srgbClr val="0B2E4A"/>
                </a:solidFill>
                <a:latin typeface="Calibri"/>
              </a:rPr>
              <a:t>6.9%</a:t>
            </a:r>
          </a:p>
          <a:p>
            <a:pPr algn="ctr"/>
            <a:r>
              <a:rPr sz="1200" b="1">
                <a:solidFill>
                  <a:srgbClr val="0B2E4A"/>
                </a:solidFill>
                <a:latin typeface="Calibri"/>
              </a:rPr>
              <a:t>US$ 710 Mn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8072" y="3840480"/>
            <a:ext cx="1472184" cy="2103120"/>
          </a:xfrm>
          <a:prstGeom prst="rect">
            <a:avLst/>
          </a:prstGeom>
          <a:solidFill>
            <a:srgbClr val="8DACC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200" b="1">
                <a:solidFill>
                  <a:srgbClr val="0B2E4A"/>
                </a:solidFill>
                <a:latin typeface="Calibri"/>
              </a:rPr>
              <a:t>Middle East &amp; Africa</a:t>
            </a:r>
          </a:p>
          <a:p>
            <a:pPr algn="ctr"/>
            <a:r>
              <a:rPr sz="1200" b="1">
                <a:solidFill>
                  <a:srgbClr val="0B2E4A"/>
                </a:solidFill>
                <a:latin typeface="Calibri"/>
              </a:rPr>
              <a:t>6.7%</a:t>
            </a:r>
          </a:p>
          <a:p>
            <a:pPr algn="ctr"/>
            <a:r>
              <a:rPr sz="1200" b="1">
                <a:solidFill>
                  <a:srgbClr val="0B2E4A"/>
                </a:solidFill>
                <a:latin typeface="Calibri"/>
              </a:rPr>
              <a:t>US$ 488 Mn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11696" y="3840480"/>
            <a:ext cx="1472184" cy="2103120"/>
          </a:xfrm>
          <a:prstGeom prst="rect">
            <a:avLst/>
          </a:prstGeom>
          <a:solidFill>
            <a:srgbClr val="0B2E4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South Asia Pacific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9.2%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US$ 1,248 Mn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080760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6C7A89"/>
                </a:solidFill>
                <a:latin typeface="Calibri"/>
              </a:rPr>
              <a:t>Darker = faster CAGR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2E4A"/>
                </a:solidFill>
                <a:latin typeface="Calibri"/>
              </a:rPr>
              <a:t>KPI cards with sparkline - headline numbers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C7A89"/>
                </a:solidFill>
                <a:latin typeface="Calibri"/>
              </a:rPr>
              <a:t>Global performance knitted fabrics at a glance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216152"/>
            <a:ext cx="11365992" cy="0"/>
          </a:xfrm>
          <a:prstGeom prst="line">
            <a:avLst/>
          </a:prstGeom>
          <a:ln w="19050">
            <a:solidFill>
              <a:srgbClr val="0E7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503920" y="1325880"/>
            <a:ext cx="3291840" cy="507492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435608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E72AE"/>
                </a:solidFill>
                <a:latin typeface="Calibri"/>
              </a:rPr>
              <a:t>CHART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655064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KPI card + mini column sparkline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62556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08189"/>
                </a:solidFill>
                <a:latin typeface="Calibr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382012"/>
            <a:ext cx="3072384" cy="6492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Exec summary / first slide of every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308610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F00"/>
                </a:solidFill>
                <a:latin typeface="Calibri"/>
              </a:rPr>
              <a:t>WHY IT FITS THIS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305556"/>
            <a:ext cx="3072384" cy="8458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One big number, one delta, one trend - clients read the cards before anything else.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206240"/>
            <a:ext cx="307238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35313"/>
                </a:solidFill>
                <a:latin typeface="Calibri"/>
              </a:rPr>
              <a:t>USE IT INSTEAD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4425696"/>
            <a:ext cx="3072384" cy="4526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0B2E4A"/>
                </a:solidFill>
                <a:latin typeface="Calibri"/>
              </a:rPr>
              <a:t>Long text paragraphs of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A89"/>
                </a:solidFill>
                <a:latin typeface="Calibri"/>
              </a:rPr>
              <a:t>Max 4 cards per row.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325880"/>
            <a:ext cx="3771900" cy="240030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1325880"/>
            <a:ext cx="73152" cy="240030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463040"/>
            <a:ext cx="34061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6C7A89"/>
                </a:solidFill>
                <a:latin typeface="Calibri"/>
              </a:rPr>
              <a:t>MARKET VALUE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737360"/>
            <a:ext cx="34061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600" b="1" i="0">
                <a:solidFill>
                  <a:srgbClr val="0E72AE"/>
                </a:solidFill>
                <a:latin typeface="Calibri"/>
              </a:rPr>
              <a:t>US$ 5,484 Mn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377440"/>
            <a:ext cx="34061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0B2E4A"/>
                </a:solidFill>
                <a:latin typeface="Calibri"/>
              </a:rPr>
              <a:t>from US$ 4,055 Mn in 2021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467862"/>
            <a:ext cx="174021" cy="7543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533" y="3453898"/>
            <a:ext cx="174021" cy="89402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42987" y="3438665"/>
            <a:ext cx="174021" cy="104635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44441" y="3421938"/>
            <a:ext cx="174021" cy="121362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45895" y="3403742"/>
            <a:ext cx="174021" cy="13955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47348" y="3382845"/>
            <a:ext cx="174021" cy="160455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48802" y="3360110"/>
            <a:ext cx="174021" cy="18319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50256" y="3335346"/>
            <a:ext cx="174021" cy="2079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51710" y="3308486"/>
            <a:ext cx="174021" cy="23481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53163" y="3278943"/>
            <a:ext cx="174021" cy="264357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54617" y="3246428"/>
            <a:ext cx="174021" cy="296872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56071" y="3210919"/>
            <a:ext cx="174021" cy="332381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57525" y="3172510"/>
            <a:ext cx="174021" cy="37079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58978" y="3131238"/>
            <a:ext cx="174021" cy="412062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60432" y="3087175"/>
            <a:ext cx="174021" cy="456125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61886" y="3040380"/>
            <a:ext cx="174021" cy="50292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57700" y="1325880"/>
            <a:ext cx="3771900" cy="240030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57700" y="1325880"/>
            <a:ext cx="73152" cy="24003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6300" y="1463040"/>
            <a:ext cx="34061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6C7A89"/>
                </a:solidFill>
                <a:latin typeface="Calibri"/>
              </a:rPr>
              <a:t>MARKET VALUE 2036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6300" y="1737360"/>
            <a:ext cx="34061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600" b="1" i="0">
                <a:solidFill>
                  <a:srgbClr val="0B2E4A"/>
                </a:solidFill>
                <a:latin typeface="Calibri"/>
              </a:rPr>
              <a:t>US$ 11,240 Mn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6300" y="2377440"/>
            <a:ext cx="34061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0B2E4A"/>
                </a:solidFill>
                <a:latin typeface="Calibri"/>
              </a:rPr>
              <a:t>2.0x vs 2026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86300" y="3467862"/>
            <a:ext cx="174021" cy="7543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887753" y="3453898"/>
            <a:ext cx="174021" cy="89402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89207" y="3438665"/>
            <a:ext cx="174021" cy="104635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90661" y="3421938"/>
            <a:ext cx="174021" cy="121362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92115" y="3403742"/>
            <a:ext cx="174021" cy="13955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93568" y="3382845"/>
            <a:ext cx="174021" cy="160455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95022" y="3360110"/>
            <a:ext cx="174021" cy="18319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96476" y="3335346"/>
            <a:ext cx="174021" cy="20795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97930" y="3308486"/>
            <a:ext cx="174021" cy="23481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99383" y="3278943"/>
            <a:ext cx="174021" cy="264357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00837" y="3246428"/>
            <a:ext cx="174021" cy="29687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02291" y="3210919"/>
            <a:ext cx="174021" cy="332381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03745" y="3172510"/>
            <a:ext cx="174021" cy="37079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05198" y="3131238"/>
            <a:ext cx="174021" cy="41206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06652" y="3087175"/>
            <a:ext cx="174021" cy="456125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08106" y="3040380"/>
            <a:ext cx="174021" cy="50292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1480" y="4000500"/>
            <a:ext cx="3771900" cy="240030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1480" y="4000500"/>
            <a:ext cx="73152" cy="2400300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137660"/>
            <a:ext cx="34061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6C7A89"/>
                </a:solidFill>
                <a:latin typeface="Calibri"/>
              </a:rPr>
              <a:t>CAGR 2026-2036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4411980"/>
            <a:ext cx="34061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600" b="1" i="0">
                <a:solidFill>
                  <a:srgbClr val="008189"/>
                </a:solidFill>
                <a:latin typeface="Calibri"/>
              </a:rPr>
              <a:t>7.4%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5052060"/>
            <a:ext cx="34061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0B2E4A"/>
                </a:solidFill>
                <a:latin typeface="Calibri"/>
              </a:rPr>
              <a:t>+US$ 5,756 Mn absolute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6142482"/>
            <a:ext cx="187452" cy="7543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54964" y="6102271"/>
            <a:ext cx="187452" cy="115649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69848" y="6054225"/>
            <a:ext cx="187452" cy="163695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84732" y="6020639"/>
            <a:ext cx="187452" cy="197281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99616" y="5907756"/>
            <a:ext cx="187452" cy="310164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714500" y="5879966"/>
            <a:ext cx="187452" cy="33795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929384" y="5851559"/>
            <a:ext cx="187452" cy="366361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144268" y="5831434"/>
            <a:ext cx="187452" cy="386486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359152" y="5789625"/>
            <a:ext cx="187452" cy="42829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574036" y="5748618"/>
            <a:ext cx="187452" cy="46930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788920" y="5722805"/>
            <a:ext cx="187452" cy="49511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003804" y="5715000"/>
            <a:ext cx="187452" cy="502920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218688" y="5719053"/>
            <a:ext cx="187452" cy="498867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433572" y="5733854"/>
            <a:ext cx="187452" cy="484066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648456" y="5756322"/>
            <a:ext cx="187452" cy="461598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457700" y="4000500"/>
            <a:ext cx="3771900" cy="2400300"/>
          </a:xfrm>
          <a:prstGeom prst="rect">
            <a:avLst/>
          </a:prstGeom>
          <a:solidFill>
            <a:srgbClr val="F5F8FA"/>
          </a:solidFill>
          <a:ln w="9525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457700" y="4000500"/>
            <a:ext cx="73152" cy="2400300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86300" y="4137660"/>
            <a:ext cx="34061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6C7A89"/>
                </a:solidFill>
                <a:latin typeface="Calibri"/>
              </a:rPr>
              <a:t>VOLUME 2026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86300" y="4411980"/>
            <a:ext cx="34061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600" b="1" i="0">
                <a:solidFill>
                  <a:srgbClr val="A86F00"/>
                </a:solidFill>
                <a:latin typeface="Calibri"/>
              </a:rPr>
              <a:t>1,698 Mn Sq. Yd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86300" y="5052060"/>
            <a:ext cx="34061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0B2E4A"/>
                </a:solidFill>
                <a:latin typeface="Calibri"/>
              </a:rPr>
              <a:t>to 3,017 Mn Sq. Yd by 2036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86300" y="6142482"/>
            <a:ext cx="174021" cy="7543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887753" y="6125327"/>
            <a:ext cx="174021" cy="92593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089207" y="6106742"/>
            <a:ext cx="174021" cy="11117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290661" y="6086678"/>
            <a:ext cx="174021" cy="131242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492115" y="6064982"/>
            <a:ext cx="174021" cy="15293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693568" y="6041733"/>
            <a:ext cx="174021" cy="176187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895022" y="6017009"/>
            <a:ext cx="174021" cy="200911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096476" y="5990740"/>
            <a:ext cx="174021" cy="227180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297930" y="5962952"/>
            <a:ext cx="174021" cy="254968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499383" y="5933061"/>
            <a:ext cx="174021" cy="284859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700837" y="5900837"/>
            <a:ext cx="174021" cy="317083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902291" y="5866532"/>
            <a:ext cx="174021" cy="351388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103745" y="5830479"/>
            <a:ext cx="174021" cy="387441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305198" y="5792980"/>
            <a:ext cx="174021" cy="424940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506652" y="5754416"/>
            <a:ext cx="174021" cy="46350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08106" y="5715001"/>
            <a:ext cx="174021" cy="502919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