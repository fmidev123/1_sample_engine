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9"/>
  </p:notesMasterIdLst>
  <p:handoutMasterIdLst>
    <p:handoutMasterId r:id="rId300"/>
  </p:handoutMasterIdLst>
  <p:sldIdLst>
    <p:sldId id="256" r:id="rId5"/>
    <p:sldId id="539" r:id="rId298"/>
  </p:sldIdLst>
  <p:sldSz cx="12192000" cy="6858000"/>
  <p:notesSz cx="6858000" cy="9144000"/>
  <p:defaultTextStyle>
    <a:defPPr>
      <a:defRPr lang="en-US"/>
    </a:defPPr>
    <a:lvl1pPr marL="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5E7"/>
    <a:srgbClr val="F3FBFB"/>
    <a:srgbClr val="FFF7F3"/>
    <a:srgbClr val="FF9933"/>
    <a:srgbClr val="188509"/>
    <a:srgbClr val="9E7E0A"/>
    <a:srgbClr val="F2C72A"/>
    <a:srgbClr val="1A71B6"/>
    <a:srgbClr val="0D416F"/>
    <a:srgbClr val="003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19" autoAdjust="0"/>
    <p:restoredTop sz="94660"/>
  </p:normalViewPr>
  <p:slideViewPr>
    <p:cSldViewPr snapToGrid="0">
      <p:cViewPr varScale="1">
        <p:scale>
          <a:sx n="61" d="100"/>
          <a:sy n="61" d="100"/>
        </p:scale>
        <p:origin x="92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230"/>
    </p:cViewPr>
  </p:sorterViewPr>
  <p:notesViewPr>
    <p:cSldViewPr snapToGrid="0">
      <p:cViewPr varScale="1">
        <p:scale>
          <a:sx n="54" d="100"/>
          <a:sy n="54" d="100"/>
        </p:scale>
        <p:origin x="2796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298" Type="http://schemas.openxmlformats.org/officeDocument/2006/relationships/slide" Target="slides/slide294.xml"/><Relationship Id="rId299" Type="http://schemas.openxmlformats.org/officeDocument/2006/relationships/notesMaster" Target="notesMasters/notesMaster1.xml"/><Relationship Id="rId300" Type="http://schemas.openxmlformats.org/officeDocument/2006/relationships/handoutMaster" Target="handoutMasters/handoutMaster1.xml"/><Relationship Id="rId301" Type="http://schemas.openxmlformats.org/officeDocument/2006/relationships/presProps" Target="presProps.xml"/><Relationship Id="rId302" Type="http://schemas.openxmlformats.org/officeDocument/2006/relationships/viewProps" Target="viewProps.xml"/><Relationship Id="rId303" Type="http://schemas.openxmlformats.org/officeDocument/2006/relationships/theme" Target="theme/theme1.xml"/><Relationship Id="rId30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0D5F0-DEDB-4207-AC6F-C9348E117F2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11557-1D5D-4225-BD05-2D0922FA8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19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5B71E-CD0B-4E6E-93BA-185C491C3A0E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7B0E-8739-48F7-AADE-F1C53123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073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294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600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0C23977-F6BF-1BE4-6D85-57D27DB65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" r="6551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811" y="117564"/>
            <a:ext cx="1563189" cy="1172392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 bwMode="gray">
          <a:xfrm>
            <a:off x="161109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chemeClr val="tx1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15" name="Cover bottom line"/>
          <p:cNvSpPr/>
          <p:nvPr/>
        </p:nvSpPr>
        <p:spPr>
          <a:xfrm>
            <a:off x="8622792" y="6172200"/>
            <a:ext cx="2651760" cy="22860"/>
          </a:xfrm>
          <a:prstGeom prst="rect">
            <a:avLst/>
          </a:prstGeom>
          <a:solidFill>
            <a:srgbClr val="3F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2887038" y="1480455"/>
            <a:ext cx="9216989" cy="211437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</a:t>
            </a:r>
            <a:br>
              <a:rPr lang="en-US" noProof="0" dirty="0"/>
            </a:br>
            <a:r>
              <a:rPr lang="en-US" noProof="0" dirty="0"/>
              <a:t>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 bwMode="gray">
          <a:xfrm>
            <a:off x="2887038" y="3612121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8530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5" orient="horz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F0A3600-A4B9-8975-5C54-D0E796654B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 bwMode="gray">
          <a:xfrm>
            <a:off x="152400" y="1143000"/>
            <a:ext cx="11887584" cy="1097280"/>
          </a:xfrm>
          <a:noFill/>
          <a:ln>
            <a:noFill/>
          </a:ln>
        </p:spPr>
        <p:txBody>
          <a:bodyPr anchor="b">
            <a:noAutofit/>
          </a:bodyPr>
          <a:lstStyle>
            <a:lvl1pPr algn="l">
              <a:defRPr sz="2000" b="0"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52400" y="2250648"/>
            <a:ext cx="11887200" cy="1276323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chemeClr val="tx1"/>
                </a:solidFill>
                <a:latin typeface="+mn-lt"/>
              </a:defRPr>
            </a:lvl1pPr>
            <a:lvl2pPr marL="4571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411" y="117564"/>
            <a:ext cx="1563189" cy="1172392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gray">
          <a:xfrm>
            <a:off x="161109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chemeClr val="tx1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6" name="Section - underline"/>
          <p:cNvSpPr/>
          <p:nvPr/>
        </p:nvSpPr>
        <p:spPr>
          <a:xfrm>
            <a:off x="676656" y="5888736"/>
            <a:ext cx="6766560" cy="20116"/>
          </a:xfrm>
          <a:prstGeom prst="rect">
            <a:avLst/>
          </a:prstGeom>
          <a:solidFill>
            <a:srgbClr val="DD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3"/>
          <p:cNvSpPr txBox="1"/>
          <p:nvPr/>
        </p:nvSpPr>
        <p:spPr>
          <a:xfrm>
            <a:off x="8732958" y="657225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B4DCE6"/>
                </a:solidFill>
                <a:latin typeface="Aptos Display"/>
              </a:defRPr>
            </a:pPr>
            <a:r>
              <a:rPr dirty="0"/>
              <a:t>RESEARCH  /  INTELLIGENCE  /  ADVISORY</a:t>
            </a:r>
          </a:p>
        </p:txBody>
      </p:sp>
    </p:spTree>
    <p:extLst>
      <p:ext uri="{BB962C8B-B14F-4D97-AF65-F5344CB8AC3E}">
        <p14:creationId xmlns:p14="http://schemas.microsoft.com/office/powerpoint/2010/main" val="64134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C70738C-E687-915A-F016-0AB84736E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8152" y="3819317"/>
            <a:ext cx="6588247" cy="1097280"/>
          </a:xfrm>
          <a:noFill/>
          <a:ln>
            <a:noFill/>
          </a:ln>
        </p:spPr>
        <p:txBody>
          <a:bodyPr anchor="b">
            <a:noAutofit/>
          </a:bodyPr>
          <a:lstStyle>
            <a:lvl1pPr algn="r">
              <a:defRPr sz="2000" b="0"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78168" y="4926965"/>
            <a:ext cx="6588034" cy="1280160"/>
          </a:xfrm>
        </p:spPr>
        <p:txBody>
          <a:bodyPr>
            <a:noAutofit/>
          </a:bodyPr>
          <a:lstStyle>
            <a:lvl1pPr marL="0" indent="0" algn="r">
              <a:buNone/>
              <a:defRPr sz="2500" b="1">
                <a:solidFill>
                  <a:schemeClr val="tx1"/>
                </a:solidFill>
                <a:latin typeface="+mn-lt"/>
              </a:defRPr>
            </a:lvl1pPr>
            <a:lvl2pPr marL="4571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161109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chemeClr val="tx1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chemeClr val="tx1"/>
              </a:solidFill>
              <a:ea typeface="ＭＳ Ｐゴシック" charset="0"/>
            </a:endParaRPr>
          </a:p>
        </p:txBody>
      </p:sp>
      <p:sp>
        <p:nvSpPr>
          <p:cNvPr id="8" name="Section - underline"/>
          <p:cNvSpPr/>
          <p:nvPr/>
        </p:nvSpPr>
        <p:spPr>
          <a:xfrm>
            <a:off x="676656" y="5888736"/>
            <a:ext cx="6766560" cy="20116"/>
          </a:xfrm>
          <a:prstGeom prst="rect">
            <a:avLst/>
          </a:prstGeom>
          <a:solidFill>
            <a:srgbClr val="DD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8454297" y="6434804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B4DCE6"/>
                </a:solidFill>
                <a:latin typeface="Aptos Display"/>
              </a:defRPr>
            </a:pPr>
            <a:r>
              <a:rPr dirty="0"/>
              <a:t>RESEARCH  /  INTELLIGENCE  /  ADVISORY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49053E-BFB5-C8C6-457B-5926659DD1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411" y="117564"/>
            <a:ext cx="1563189" cy="117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1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43000"/>
            <a:ext cx="1957364" cy="5064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854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1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92072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8" name="Freeform 7"/>
          <p:cNvSpPr/>
          <p:nvPr userDrawn="1"/>
        </p:nvSpPr>
        <p:spPr>
          <a:xfrm>
            <a:off x="157241" y="1143000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0440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11887200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92072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32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78579" y="1613579"/>
            <a:ext cx="5763491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78579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8579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8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213015" y="1613579"/>
            <a:ext cx="3768436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3015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215436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73630" y="1613579"/>
            <a:ext cx="3768436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7363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1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73630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57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211782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1782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214203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71164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71164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71164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8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3342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2763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30" name="Freeform 29"/>
          <p:cNvSpPr/>
          <p:nvPr userDrawn="1"/>
        </p:nvSpPr>
        <p:spPr>
          <a:xfrm>
            <a:off x="157241" y="3772763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31" name="Content Placeholder 2"/>
          <p:cNvSpPr>
            <a:spLocks noGrp="1"/>
          </p:cNvSpPr>
          <p:nvPr>
            <p:ph idx="19"/>
          </p:nvPr>
        </p:nvSpPr>
        <p:spPr bwMode="gray">
          <a:xfrm>
            <a:off x="4211782" y="4243342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4211782" y="3772763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Freeform 32"/>
          <p:cNvSpPr/>
          <p:nvPr userDrawn="1"/>
        </p:nvSpPr>
        <p:spPr>
          <a:xfrm>
            <a:off x="4214203" y="3772763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34" name="Content Placeholder 2"/>
          <p:cNvSpPr>
            <a:spLocks noGrp="1"/>
          </p:cNvSpPr>
          <p:nvPr>
            <p:ph idx="21"/>
          </p:nvPr>
        </p:nvSpPr>
        <p:spPr bwMode="gray">
          <a:xfrm>
            <a:off x="8271164" y="4243342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8271164" y="3772763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1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Freeform 35"/>
          <p:cNvSpPr/>
          <p:nvPr userDrawn="1"/>
        </p:nvSpPr>
        <p:spPr>
          <a:xfrm>
            <a:off x="8271164" y="3772763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49654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211782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1782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214203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100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71164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71164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71164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3342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2763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Freeform 22"/>
          <p:cNvSpPr/>
          <p:nvPr userDrawn="1"/>
        </p:nvSpPr>
        <p:spPr>
          <a:xfrm>
            <a:off x="157241" y="3772763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7398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288036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288036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288036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3156792" y="1613579"/>
            <a:ext cx="288036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3156792" y="1143000"/>
            <a:ext cx="288036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3156792" y="1143000"/>
            <a:ext cx="288036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100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161184" y="1613579"/>
            <a:ext cx="288036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161184" y="1143000"/>
            <a:ext cx="288036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161184" y="1143000"/>
            <a:ext cx="288036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idx="19"/>
          </p:nvPr>
        </p:nvSpPr>
        <p:spPr bwMode="gray">
          <a:xfrm>
            <a:off x="9165575" y="1613579"/>
            <a:ext cx="288036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9165575" y="1143000"/>
            <a:ext cx="288036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Freeform 22"/>
          <p:cNvSpPr/>
          <p:nvPr userDrawn="1"/>
        </p:nvSpPr>
        <p:spPr>
          <a:xfrm>
            <a:off x="9165575" y="1143000"/>
            <a:ext cx="288036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4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3342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2763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7" name="Freeform 26"/>
          <p:cNvSpPr/>
          <p:nvPr userDrawn="1"/>
        </p:nvSpPr>
        <p:spPr>
          <a:xfrm>
            <a:off x="157241" y="3772763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238857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0" y="1613579"/>
            <a:ext cx="786142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0" y="1143000"/>
            <a:ext cx="786142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0" y="1143000"/>
            <a:ext cx="786142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3342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2763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0" name="Freeform 19"/>
          <p:cNvSpPr/>
          <p:nvPr userDrawn="1"/>
        </p:nvSpPr>
        <p:spPr>
          <a:xfrm>
            <a:off x="157241" y="3772763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491150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0" y="1613579"/>
            <a:ext cx="786384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0" y="1143000"/>
            <a:ext cx="786142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0" y="1143000"/>
            <a:ext cx="786142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4178178" y="4241165"/>
            <a:ext cx="786384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178179" y="3770586"/>
            <a:ext cx="786142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183021" y="3770586"/>
            <a:ext cx="786142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27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73206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73206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3206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1070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0491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3770491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15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241069"/>
            <a:ext cx="11887200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3770490"/>
            <a:ext cx="11887200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3770490"/>
            <a:ext cx="11887200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537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78579" y="1613579"/>
            <a:ext cx="5763491" cy="4593546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78579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8579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973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3877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0288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78578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78578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8578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78578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78578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78578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62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78577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7857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857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 bwMode="gray">
          <a:xfrm>
            <a:off x="6278577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78577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78577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77773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78576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78576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78576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Freeform 19"/>
          <p:cNvSpPr/>
          <p:nvPr userDrawn="1"/>
        </p:nvSpPr>
        <p:spPr>
          <a:xfrm>
            <a:off x="152400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489650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Freeform 2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Freeform 26"/>
          <p:cNvSpPr/>
          <p:nvPr userDrawn="1"/>
        </p:nvSpPr>
        <p:spPr>
          <a:xfrm>
            <a:off x="152400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8" name="Content Placeholder 2"/>
          <p:cNvSpPr>
            <a:spLocks noGrp="1"/>
          </p:cNvSpPr>
          <p:nvPr>
            <p:ph idx="17"/>
          </p:nvPr>
        </p:nvSpPr>
        <p:spPr bwMode="gray">
          <a:xfrm>
            <a:off x="6276109" y="1613579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76109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30" name="Freeform 29"/>
          <p:cNvSpPr/>
          <p:nvPr userDrawn="1"/>
        </p:nvSpPr>
        <p:spPr>
          <a:xfrm>
            <a:off x="6280950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31" name="Content Placeholder 2"/>
          <p:cNvSpPr>
            <a:spLocks noGrp="1"/>
          </p:cNvSpPr>
          <p:nvPr>
            <p:ph idx="19"/>
          </p:nvPr>
        </p:nvSpPr>
        <p:spPr bwMode="gray">
          <a:xfrm>
            <a:off x="6276109" y="4242930"/>
            <a:ext cx="5763491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76109" y="377235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Freeform 32"/>
          <p:cNvSpPr/>
          <p:nvPr userDrawn="1"/>
        </p:nvSpPr>
        <p:spPr>
          <a:xfrm>
            <a:off x="6276109" y="3772351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536595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879273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42930"/>
            <a:ext cx="3879273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772351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772351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4344041" y="1613579"/>
            <a:ext cx="3879273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344041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3440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4344041" y="4242930"/>
            <a:ext cx="3879273" cy="196596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4344041" y="3772351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344041" y="3772351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0" name="Content Placeholder 2"/>
          <p:cNvSpPr>
            <a:spLocks noGrp="1"/>
          </p:cNvSpPr>
          <p:nvPr>
            <p:ph idx="21"/>
          </p:nvPr>
        </p:nvSpPr>
        <p:spPr bwMode="gray">
          <a:xfrm>
            <a:off x="8530840" y="1613579"/>
            <a:ext cx="3508759" cy="4590288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8530840" y="1143000"/>
            <a:ext cx="3508759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Freeform 21"/>
          <p:cNvSpPr/>
          <p:nvPr userDrawn="1"/>
        </p:nvSpPr>
        <p:spPr>
          <a:xfrm>
            <a:off x="8530840" y="1143000"/>
            <a:ext cx="3508759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555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0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2" y="1613579"/>
            <a:ext cx="5266268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2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3148064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3143222" y="4286475"/>
            <a:ext cx="5266268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143222" y="3815896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3148064" y="3815896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5" y="1613579"/>
            <a:ext cx="3313435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5" y="1143000"/>
            <a:ext cx="3313435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5" y="1143000"/>
            <a:ext cx="3313435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8726165" y="4286475"/>
            <a:ext cx="3313435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8726165" y="3815896"/>
            <a:ext cx="3313435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8726165" y="3815896"/>
            <a:ext cx="3313435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195" indent="0">
              <a:buNone/>
              <a:defRPr/>
            </a:lvl2pPr>
            <a:lvl3pPr marL="914391" indent="0">
              <a:buNone/>
              <a:defRPr/>
            </a:lvl3pPr>
            <a:lvl4pPr marL="1371587" indent="0">
              <a:buNone/>
              <a:defRPr/>
            </a:lvl4pPr>
            <a:lvl5pPr marL="18287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6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4" name="Rectangle 23"/>
          <p:cNvSpPr/>
          <p:nvPr userDrawn="1"/>
        </p:nvSpPr>
        <p:spPr>
          <a:xfrm>
            <a:off x="152400" y="4286475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219995" y="4332195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195" indent="0">
              <a:buNone/>
              <a:defRPr/>
            </a:lvl2pPr>
            <a:lvl3pPr marL="914391" indent="0">
              <a:buNone/>
              <a:defRPr/>
            </a:lvl3pPr>
            <a:lvl4pPr marL="1371587" indent="0">
              <a:buNone/>
              <a:defRPr/>
            </a:lvl4pPr>
            <a:lvl5pPr marL="18287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Isosceles Triangle 27"/>
          <p:cNvSpPr/>
          <p:nvPr userDrawn="1"/>
        </p:nvSpPr>
        <p:spPr>
          <a:xfrm rot="5400000">
            <a:off x="2208943" y="4572723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5540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0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2" y="1613579"/>
            <a:ext cx="5266268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2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4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5" y="1613579"/>
            <a:ext cx="3313435" cy="1920240"/>
          </a:xfrm>
          <a:ln>
            <a:noFill/>
          </a:ln>
        </p:spPr>
        <p:txBody>
          <a:bodyPr lIns="91440"/>
          <a:lstStyle>
            <a:lvl1pPr marL="228600" indent="-228600" algn="just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00" indent="-228600" algn="just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00" indent="-22860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00" indent="-228600" algn="just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00" indent="-22860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5" y="1143000"/>
            <a:ext cx="3313435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2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5" y="1143000"/>
            <a:ext cx="3313435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195" indent="0">
              <a:buNone/>
              <a:defRPr/>
            </a:lvl2pPr>
            <a:lvl3pPr marL="914391" indent="0">
              <a:buNone/>
              <a:defRPr/>
            </a:lvl3pPr>
            <a:lvl4pPr marL="1371587" indent="0">
              <a:buNone/>
              <a:defRPr/>
            </a:lvl4pPr>
            <a:lvl5pPr marL="18287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6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2166999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399" y="152400"/>
            <a:ext cx="10515600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09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930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0174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8" y="6423704"/>
            <a:ext cx="426282" cy="31999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1930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1"/>
            <a:ext cx="12192000" cy="940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388" y="161109"/>
            <a:ext cx="965200" cy="7239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gray">
          <a:xfrm>
            <a:off x="152400" y="1257300"/>
            <a:ext cx="11887200" cy="4963051"/>
          </a:xfrm>
          <a:prstGeom prst="rect">
            <a:avLst/>
          </a:prstGeom>
        </p:spPr>
        <p:txBody>
          <a:bodyPr vert="horz" lIns="0" tIns="91440" rIns="91440" bIns="9144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23900"/>
          </a:xfrm>
          <a:prstGeom prst="rect">
            <a:avLst/>
          </a:prstGeom>
        </p:spPr>
        <p:txBody>
          <a:bodyPr vert="horz" lIns="0" tIns="91440" rIns="91440" bIns="91440" rtlCol="0" anchor="b" anchorCtr="0">
            <a:noAutofit/>
          </a:bodyPr>
          <a:lstStyle/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53" name="Rectangle 52"/>
          <p:cNvSpPr/>
          <p:nvPr userDrawn="1"/>
        </p:nvSpPr>
        <p:spPr bwMode="gray">
          <a:xfrm>
            <a:off x="12416658" y="876301"/>
            <a:ext cx="914400" cy="418887"/>
          </a:xfrm>
          <a:prstGeom prst="rect">
            <a:avLst/>
          </a:prstGeom>
          <a:solidFill>
            <a:srgbClr val="2774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4" name="Rectangle 53"/>
          <p:cNvSpPr/>
          <p:nvPr userDrawn="1"/>
        </p:nvSpPr>
        <p:spPr bwMode="gray">
          <a:xfrm>
            <a:off x="12416658" y="1429858"/>
            <a:ext cx="914400" cy="418887"/>
          </a:xfrm>
          <a:prstGeom prst="rect">
            <a:avLst/>
          </a:prstGeom>
          <a:solidFill>
            <a:srgbClr val="3B8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5" name="Rectangle 54"/>
          <p:cNvSpPr/>
          <p:nvPr userDrawn="1"/>
        </p:nvSpPr>
        <p:spPr bwMode="gray">
          <a:xfrm>
            <a:off x="12416658" y="1983415"/>
            <a:ext cx="914400" cy="418887"/>
          </a:xfrm>
          <a:prstGeom prst="rect">
            <a:avLst/>
          </a:prstGeom>
          <a:solidFill>
            <a:srgbClr val="5AA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6" name="Rectangle 55"/>
          <p:cNvSpPr/>
          <p:nvPr userDrawn="1"/>
        </p:nvSpPr>
        <p:spPr bwMode="gray">
          <a:xfrm>
            <a:off x="12416658" y="2536972"/>
            <a:ext cx="914400" cy="418887"/>
          </a:xfrm>
          <a:prstGeom prst="rect">
            <a:avLst/>
          </a:prstGeom>
          <a:solidFill>
            <a:srgbClr val="69B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7" name="Rectangle 56"/>
          <p:cNvSpPr/>
          <p:nvPr userDrawn="1"/>
        </p:nvSpPr>
        <p:spPr bwMode="gray">
          <a:xfrm>
            <a:off x="12416658" y="3090529"/>
            <a:ext cx="914400" cy="418887"/>
          </a:xfrm>
          <a:prstGeom prst="rect">
            <a:avLst/>
          </a:prstGeom>
          <a:solidFill>
            <a:srgbClr val="79C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8" name="Rectangle 57"/>
          <p:cNvSpPr/>
          <p:nvPr userDrawn="1"/>
        </p:nvSpPr>
        <p:spPr bwMode="gray">
          <a:xfrm>
            <a:off x="12416658" y="3644086"/>
            <a:ext cx="914400" cy="418887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9" name="Rectangle 58"/>
          <p:cNvSpPr/>
          <p:nvPr userDrawn="1"/>
        </p:nvSpPr>
        <p:spPr bwMode="gray">
          <a:xfrm>
            <a:off x="12416658" y="4197643"/>
            <a:ext cx="914400" cy="418887"/>
          </a:xfrm>
          <a:prstGeom prst="rect">
            <a:avLst/>
          </a:prstGeom>
          <a:solidFill>
            <a:srgbClr val="808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0" name="Rectangle 59"/>
          <p:cNvSpPr/>
          <p:nvPr userDrawn="1"/>
        </p:nvSpPr>
        <p:spPr bwMode="gray">
          <a:xfrm>
            <a:off x="12416658" y="4751200"/>
            <a:ext cx="914400" cy="418887"/>
          </a:xfrm>
          <a:prstGeom prst="rect">
            <a:avLst/>
          </a:prstGeom>
          <a:solidFill>
            <a:srgbClr val="9395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1" name="Rectangle 60"/>
          <p:cNvSpPr/>
          <p:nvPr userDrawn="1"/>
        </p:nvSpPr>
        <p:spPr bwMode="gray">
          <a:xfrm>
            <a:off x="12416658" y="5304757"/>
            <a:ext cx="914400" cy="418887"/>
          </a:xfrm>
          <a:prstGeom prst="rect">
            <a:avLst/>
          </a:prstGeom>
          <a:solidFill>
            <a:srgbClr val="BCBE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2" name="Rectangle 61"/>
          <p:cNvSpPr/>
          <p:nvPr userDrawn="1"/>
        </p:nvSpPr>
        <p:spPr bwMode="gray">
          <a:xfrm>
            <a:off x="12416658" y="5858314"/>
            <a:ext cx="914400" cy="418887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0" name="Rectangle 39"/>
          <p:cNvSpPr/>
          <p:nvPr userDrawn="1"/>
        </p:nvSpPr>
        <p:spPr bwMode="gray">
          <a:xfrm>
            <a:off x="-1071957" y="876300"/>
            <a:ext cx="899524" cy="418887"/>
          </a:xfrm>
          <a:prstGeom prst="rect">
            <a:avLst/>
          </a:prstGeom>
          <a:solidFill>
            <a:srgbClr val="2A5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1" name="Rectangle 40"/>
          <p:cNvSpPr/>
          <p:nvPr userDrawn="1"/>
        </p:nvSpPr>
        <p:spPr bwMode="gray">
          <a:xfrm>
            <a:off x="-1071957" y="1588016"/>
            <a:ext cx="899524" cy="418887"/>
          </a:xfrm>
          <a:prstGeom prst="rect">
            <a:avLst/>
          </a:prstGeom>
          <a:solidFill>
            <a:srgbClr val="9E7E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2" name="Rectangle 41"/>
          <p:cNvSpPr/>
          <p:nvPr userDrawn="1"/>
        </p:nvSpPr>
        <p:spPr bwMode="gray">
          <a:xfrm>
            <a:off x="-1071957" y="2299732"/>
            <a:ext cx="899524" cy="418887"/>
          </a:xfrm>
          <a:prstGeom prst="rect">
            <a:avLst/>
          </a:prstGeom>
          <a:solidFill>
            <a:srgbClr val="40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3" name="Rectangle 42"/>
          <p:cNvSpPr/>
          <p:nvPr userDrawn="1"/>
        </p:nvSpPr>
        <p:spPr bwMode="gray">
          <a:xfrm>
            <a:off x="-1071957" y="3011448"/>
            <a:ext cx="899524" cy="418887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5" name="Rectangle 64"/>
          <p:cNvSpPr/>
          <p:nvPr userDrawn="1"/>
        </p:nvSpPr>
        <p:spPr bwMode="gray">
          <a:xfrm>
            <a:off x="-1071957" y="3723164"/>
            <a:ext cx="899524" cy="418887"/>
          </a:xfrm>
          <a:prstGeom prst="rect">
            <a:avLst/>
          </a:prstGeom>
          <a:solidFill>
            <a:srgbClr val="A35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6" name="Rectangle 65"/>
          <p:cNvSpPr/>
          <p:nvPr userDrawn="1"/>
        </p:nvSpPr>
        <p:spPr bwMode="gray">
          <a:xfrm>
            <a:off x="-1071957" y="5146596"/>
            <a:ext cx="899524" cy="418887"/>
          </a:xfrm>
          <a:prstGeom prst="rect">
            <a:avLst/>
          </a:prstGeom>
          <a:solidFill>
            <a:srgbClr val="7B84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7" name="Rectangle 66"/>
          <p:cNvSpPr/>
          <p:nvPr userDrawn="1"/>
        </p:nvSpPr>
        <p:spPr bwMode="gray">
          <a:xfrm>
            <a:off x="-1071957" y="5858313"/>
            <a:ext cx="899524" cy="41888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68" name="Rectangle 67"/>
          <p:cNvSpPr/>
          <p:nvPr userDrawn="1"/>
        </p:nvSpPr>
        <p:spPr bwMode="gray">
          <a:xfrm>
            <a:off x="-1071957" y="4434880"/>
            <a:ext cx="899524" cy="4188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grpSp>
        <p:nvGrpSpPr>
          <p:cNvPr id="34" name="Group 33"/>
          <p:cNvGrpSpPr/>
          <p:nvPr userDrawn="1"/>
        </p:nvGrpSpPr>
        <p:grpSpPr>
          <a:xfrm>
            <a:off x="152400" y="6386257"/>
            <a:ext cx="11887200" cy="286195"/>
            <a:chOff x="125730" y="6386256"/>
            <a:chExt cx="9806940" cy="286195"/>
          </a:xfrm>
        </p:grpSpPr>
        <p:sp>
          <p:nvSpPr>
            <p:cNvPr id="35" name="Freeform 34"/>
            <p:cNvSpPr/>
            <p:nvPr userDrawn="1"/>
          </p:nvSpPr>
          <p:spPr bwMode="gray">
            <a:xfrm>
              <a:off x="125730" y="6386256"/>
              <a:ext cx="9806940" cy="0"/>
            </a:xfrm>
            <a:custGeom>
              <a:avLst/>
              <a:gdLst>
                <a:gd name="connsiteX0" fmla="*/ 12039600 w 12039600"/>
                <a:gd name="connsiteY0" fmla="*/ 0 h 0"/>
                <a:gd name="connsiteX1" fmla="*/ 0 w 120396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39600">
                  <a:moveTo>
                    <a:pt x="120396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013"/>
            </a:p>
          </p:txBody>
        </p:sp>
        <p:sp>
          <p:nvSpPr>
            <p:cNvPr id="64" name="Rectangle 63"/>
            <p:cNvSpPr/>
            <p:nvPr userDrawn="1"/>
          </p:nvSpPr>
          <p:spPr bwMode="gray">
            <a:xfrm>
              <a:off x="132915" y="6503174"/>
              <a:ext cx="2782492" cy="16927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l">
                <a:spcBef>
                  <a:spcPts val="200"/>
                </a:spcBef>
                <a:spcAft>
                  <a:spcPts val="200"/>
                </a:spcAft>
                <a:tabLst>
                  <a:tab pos="931344" algn="l"/>
                </a:tabLst>
                <a:defRPr/>
              </a:pPr>
              <a:r>
                <a:rPr lang="en-GB" sz="1100" dirty="0">
                  <a:solidFill>
                    <a:schemeClr val="tx1"/>
                  </a:solidFill>
                  <a:ea typeface="ＭＳ Ｐゴシック" charset="0"/>
                </a:rPr>
                <a:t>©</a:t>
              </a:r>
              <a:r>
                <a:rPr lang="en-US" sz="1100" dirty="0">
                  <a:solidFill>
                    <a:schemeClr val="tx1"/>
                  </a:solidFill>
                  <a:ea typeface="ＭＳ Ｐゴシック" charset="0"/>
                </a:rPr>
                <a:t>2026 Transparency Market Research, All Rights Reserved</a:t>
              </a:r>
              <a:endParaRPr lang="en-GB" sz="1100" dirty="0">
                <a:solidFill>
                  <a:schemeClr val="tx1"/>
                </a:solidFill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08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3" r:id="rId3"/>
    <p:sldLayoutId id="2147483684" r:id="rId4"/>
    <p:sldLayoutId id="2147483662" r:id="rId5"/>
    <p:sldLayoutId id="2147483675" r:id="rId6"/>
    <p:sldLayoutId id="2147483685" r:id="rId7"/>
    <p:sldLayoutId id="2147483686" r:id="rId8"/>
    <p:sldLayoutId id="2147483702" r:id="rId9"/>
    <p:sldLayoutId id="2147483687" r:id="rId10"/>
    <p:sldLayoutId id="2147483701" r:id="rId11"/>
    <p:sldLayoutId id="2147483691" r:id="rId12"/>
    <p:sldLayoutId id="2147483697" r:id="rId13"/>
    <p:sldLayoutId id="2147483688" r:id="rId14"/>
    <p:sldLayoutId id="2147483689" r:id="rId15"/>
    <p:sldLayoutId id="2147483690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8" r:id="rId22"/>
    <p:sldLayoutId id="2147483699" r:id="rId23"/>
    <p:sldLayoutId id="2147483700" r:id="rId24"/>
    <p:sldLayoutId id="2147483665" r:id="rId25"/>
    <p:sldLayoutId id="2147483703" r:id="rId26"/>
    <p:sldLayoutId id="2147483704" r:id="rId27"/>
    <p:sldLayoutId id="2147483705" r:id="rId28"/>
  </p:sldLayoutIdLst>
  <p:hf hdr="0" ft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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q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96" userDrawn="1">
          <p15:clr>
            <a:srgbClr val="F26B43"/>
          </p15:clr>
        </p15:guide>
        <p15:guide id="3" pos="7584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orient="horz" pos="552" userDrawn="1">
          <p15:clr>
            <a:srgbClr val="F26B43"/>
          </p15:clr>
        </p15:guide>
        <p15:guide id="8" orient="horz" pos="3910" userDrawn="1">
          <p15:clr>
            <a:srgbClr val="F26B43"/>
          </p15:clr>
        </p15:guide>
        <p15:guide id="9" pos="3744" userDrawn="1">
          <p15:clr>
            <a:srgbClr val="F26B43"/>
          </p15:clr>
        </p15:guide>
        <p15:guide id="10" pos="3936" userDrawn="1">
          <p15:clr>
            <a:srgbClr val="F26B43"/>
          </p15:clr>
        </p15:guide>
        <p15:guide id="11" orient="horz" pos="7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1.jp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C7021366-A59A-8F49-E457-CE02C74158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2887038" y="1480455"/>
            <a:ext cx="9216989" cy="2114377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Target Market</a:t>
            </a:r>
            <a:endParaRPr lang="en-GB" noProof="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92EDD5C-8176-C4BE-C570-D3D16C8D35E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2887038" y="3612121"/>
            <a:ext cx="9216989" cy="898917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96" indent="0" algn="ctr">
              <a:buNone/>
              <a:defRPr sz="2000"/>
            </a:lvl2pPr>
            <a:lvl3pPr marL="914391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3" indent="0" algn="ctr">
              <a:buNone/>
              <a:defRPr sz="1600"/>
            </a:lvl5pPr>
            <a:lvl6pPr marL="2285978" indent="0" algn="ctr">
              <a:buNone/>
              <a:defRPr sz="1600"/>
            </a:lvl6pPr>
            <a:lvl7pPr marL="2743174" indent="0" algn="ctr">
              <a:buNone/>
              <a:defRPr sz="1600"/>
            </a:lvl7pPr>
            <a:lvl8pPr marL="3200370" indent="0" algn="ctr">
              <a:buNone/>
              <a:defRPr sz="1600"/>
            </a:lvl8pPr>
            <a:lvl9pPr marL="3657565" indent="0" algn="ctr">
              <a:buNone/>
              <a:defRPr sz="1600"/>
            </a:lvl9pPr>
          </a:lstStyle>
          <a:p>
            <a:r>
              <a:rPr lang="en-US" sz="2000" noProof="0" dirty="0"/>
              <a:t>Global Industry Analysis 2021–2025 and Opportunity Assessment, 2026–2036</a:t>
            </a:r>
            <a:endParaRPr lang="en-GB" sz="2000" noProof="0" dirty="0"/>
          </a:p>
        </p:txBody>
      </p:sp>
    </p:spTree>
    <p:extLst>
      <p:ext uri="{BB962C8B-B14F-4D97-AF65-F5344CB8AC3E}">
        <p14:creationId xmlns:p14="http://schemas.microsoft.com/office/powerpoint/2010/main" val="356750959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88824" cy="6858001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3791331" y="4349877"/>
            <a:ext cx="7897432" cy="1533454"/>
            <a:chOff x="3791331" y="4349877"/>
            <a:chExt cx="7897432" cy="1533454"/>
          </a:xfrm>
        </p:grpSpPr>
        <p:sp>
          <p:nvSpPr>
            <p:cNvPr id="56" name="TextBox 55"/>
            <p:cNvSpPr txBox="1"/>
            <p:nvPr/>
          </p:nvSpPr>
          <p:spPr>
            <a:xfrm>
              <a:off x="3791331" y="4349877"/>
              <a:ext cx="37391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To know more about us, please visit our website: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791331" y="4660773"/>
              <a:ext cx="31214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www.transparencymarketresearch.com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791331" y="5264658"/>
              <a:ext cx="3364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For Sales queries or new topics email us on: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791331" y="5575554"/>
              <a:ext cx="3097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sales.transparencymarketresearch.com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562732" y="4349877"/>
              <a:ext cx="2126031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IN" sz="1400" dirty="0"/>
                <a:t>For other Queries Contact: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90 State Street, Albany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NY – 12207, United States</a:t>
              </a:r>
            </a:p>
            <a:p>
              <a:pPr algn="r">
                <a:lnSpc>
                  <a:spcPct val="150000"/>
                </a:lnSpc>
              </a:pPr>
              <a:r>
                <a:rPr lang="en-IN" sz="1400" dirty="0"/>
                <a:t>Tel: +1-518-618-1030</a:t>
              </a:r>
            </a:p>
          </p:txBody>
        </p:sp>
      </p:grpSp>
      <p:pic>
        <p:nvPicPr>
          <p:cNvPr id="62" name="Picture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23825"/>
            <a:ext cx="1492575" cy="11525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431419" y="2409825"/>
            <a:ext cx="49648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600" dirty="0">
                <a:solidFill>
                  <a:srgbClr val="0070C0"/>
                </a:solidFill>
                <a:latin typeface="Aclonica" panose="02060503000000020004" pitchFamily="18" charset="0"/>
              </a:rPr>
              <a:t>Thank You</a:t>
            </a:r>
          </a:p>
        </p:txBody>
      </p:sp>
      <p:sp>
        <p:nvSpPr>
          <p:cNvPr id="69" name="Freeform 68"/>
          <p:cNvSpPr/>
          <p:nvPr userDrawn="1"/>
        </p:nvSpPr>
        <p:spPr bwMode="gray">
          <a:xfrm>
            <a:off x="152400" y="6386257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294</a:t>
            </a:fld>
            <a:endParaRPr lang="en-GB" dirty="0"/>
          </a:p>
        </p:txBody>
      </p:sp>
      <p:sp>
        <p:nvSpPr>
          <p:cNvPr id="74" name="Rectangle 73"/>
          <p:cNvSpPr/>
          <p:nvPr/>
        </p:nvSpPr>
        <p:spPr bwMode="gray">
          <a:xfrm>
            <a:off x="4409641" y="6503175"/>
            <a:ext cx="337271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tabLst>
                <a:tab pos="931344" algn="l"/>
              </a:tabLst>
              <a:defRPr/>
            </a:pPr>
            <a:r>
              <a:rPr lang="en-US" sz="1100" dirty="0">
                <a:solidFill>
                  <a:schemeClr val="tx1"/>
                </a:solidFill>
                <a:ea typeface="ＭＳ Ｐゴシック" charset="0"/>
              </a:rPr>
              <a:t>©2026 Transparency Market Research, All Rights Reserved</a:t>
            </a:r>
            <a:endParaRPr lang="en-GB" sz="1100" dirty="0">
              <a:solidFill>
                <a:schemeClr val="tx1"/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448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3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#04 Industrial Automation and Equipment (11-7.5)" id="{1C17778F-F60E-4B7A-AE35-70DFACFDF481}" vid="{D611546B-C9A6-49FA-8227-EDD08FC62C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9541C8503913408DE0005F388027E8" ma:contentTypeVersion="13" ma:contentTypeDescription="Create a new document." ma:contentTypeScope="" ma:versionID="a16d9d3e5a4fb20b4e042d00905e08ab">
  <xsd:schema xmlns:xsd="http://www.w3.org/2001/XMLSchema" xmlns:xs="http://www.w3.org/2001/XMLSchema" xmlns:p="http://schemas.microsoft.com/office/2006/metadata/properties" xmlns:ns3="51c8d5d3-71e3-4ffb-aced-99ef4ffe00be" xmlns:ns4="ff7e6f24-fa79-45ca-9496-723ded77f31d" targetNamespace="http://schemas.microsoft.com/office/2006/metadata/properties" ma:root="true" ma:fieldsID="33b6862478cf180c9611984e2664f24c" ns3:_="" ns4:_="">
    <xsd:import namespace="51c8d5d3-71e3-4ffb-aced-99ef4ffe00be"/>
    <xsd:import namespace="ff7e6f24-fa79-45ca-9496-723ded77f31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8d5d3-71e3-4ffb-aced-99ef4ffe00b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7e6f24-fa79-45ca-9496-723ded77f31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c8d5d3-71e3-4ffb-aced-99ef4ffe00be" xsi:nil="true"/>
  </documentManagement>
</p:properties>
</file>

<file path=customXml/itemProps1.xml><?xml version="1.0" encoding="utf-8"?>
<ds:datastoreItem xmlns:ds="http://schemas.openxmlformats.org/officeDocument/2006/customXml" ds:itemID="{9D45A0A3-B432-4755-A257-5D20933C7E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8d5d3-71e3-4ffb-aced-99ef4ffe00be"/>
    <ds:schemaRef ds:uri="ff7e6f24-fa79-45ca-9496-723ded77f3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2E9FD2-DF61-4916-BE9B-82DCF5DFAF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A5C4A3-06F1-4434-AE35-528BDFF1C97C}">
  <ds:schemaRefs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purl.org/dc/terms/"/>
    <ds:schemaRef ds:uri="ff7e6f24-fa79-45ca-9496-723ded77f3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1c8d5d3-71e3-4ffb-aced-99ef4ffe00b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#04 Industrial Automation and Equipment (11-7.5)</Template>
  <TotalTime>2457</TotalTime>
  <Words>41285</Words>
  <Application>Microsoft Office PowerPoint</Application>
  <PresentationFormat>Widescreen</PresentationFormat>
  <Paragraphs>17247</Paragraphs>
  <Slides>294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294</vt:i4>
      </vt:variant>
    </vt:vector>
  </HeadingPairs>
  <TitlesOfParts>
    <vt:vector size="317" baseType="lpstr">
      <vt:lpstr>Malgun Gothic</vt:lpstr>
      <vt:lpstr>ＭＳ Ｐゴシック</vt:lpstr>
      <vt:lpstr>Aclonica</vt:lpstr>
      <vt:lpstr>Agency FB</vt:lpstr>
      <vt:lpstr>Aharoni</vt:lpstr>
      <vt:lpstr>Arial</vt:lpstr>
      <vt:lpstr>Arial Black</vt:lpstr>
      <vt:lpstr>Bookman Old Style</vt:lpstr>
      <vt:lpstr>Calibri</vt:lpstr>
      <vt:lpstr>Calibri Light</vt:lpstr>
      <vt:lpstr>Candara</vt:lpstr>
      <vt:lpstr>Candara Light</vt:lpstr>
      <vt:lpstr>Century Gothic</vt:lpstr>
      <vt:lpstr>Century Schoolbook</vt:lpstr>
      <vt:lpstr>Copperplate Gothic Light</vt:lpstr>
      <vt:lpstr>Courier New</vt:lpstr>
      <vt:lpstr>Franklin Gothic Book</vt:lpstr>
      <vt:lpstr>FrankRuehl</vt:lpstr>
      <vt:lpstr>Georgia</vt:lpstr>
      <vt:lpstr>Gill Sans MT</vt:lpstr>
      <vt:lpstr>Lao UI</vt:lpstr>
      <vt:lpstr>Wingdings</vt:lpstr>
      <vt:lpstr>Office Theme</vt:lpstr>
      <vt:lpstr>Target Market</vt:lpstr>
      <vt:lpstr>Table of Content (1/15)</vt:lpstr>
      <vt:lpstr>PowerPoint Presentation</vt:lpstr>
      <vt:lpstr>Executive Summary: Global Market Outlook (1/4)</vt:lpstr>
      <vt:lpstr>Executive Summary: Supply Side Trends (2/4)</vt:lpstr>
      <vt:lpstr>Executive Summary: Demand-Side Trends (3/4)</vt:lpstr>
      <vt:lpstr>Executive Summary: Analysis and Recommendation (4/4)</vt:lpstr>
      <vt:lpstr>Scenario Outlook</vt:lpstr>
      <vt:lpstr>PowerPoint Presentation</vt:lpstr>
      <vt:lpstr>Market Taxonomy – Segment Coverage </vt:lpstr>
      <vt:lpstr>Market Definition : WXYZ (1/4)</vt:lpstr>
      <vt:lpstr>Competition Coverage – List of Market Participants</vt:lpstr>
      <vt:lpstr>PowerPoint Presentation</vt:lpstr>
      <vt:lpstr>Market Dynamics : Trend (1/2)</vt:lpstr>
      <vt:lpstr>PowerPoint Presentation</vt:lpstr>
      <vt:lpstr>Key Success Factors </vt:lpstr>
      <vt:lpstr>Key Success Factors </vt:lpstr>
      <vt:lpstr>Key Success Factors</vt:lpstr>
      <vt:lpstr>PowerPoint Presentation</vt:lpstr>
      <vt:lpstr>Global WXYZ Volume Analysis</vt:lpstr>
      <vt:lpstr>PowerPoint Presentation</vt:lpstr>
      <vt:lpstr>Pricing Analysis, 2023A</vt:lpstr>
      <vt:lpstr>Pricing Analysis, 2023A</vt:lpstr>
      <vt:lpstr>Cost Teardown Analysis</vt:lpstr>
      <vt:lpstr>Product Type: Pricing Analysis, 2019-2034</vt:lpstr>
      <vt:lpstr>PowerPoint Presentation</vt:lpstr>
      <vt:lpstr>Global WXYZ Market Value Analysis</vt:lpstr>
      <vt:lpstr>PowerPoint Presentation</vt:lpstr>
      <vt:lpstr>PowerPoint Presentation</vt:lpstr>
      <vt:lpstr>Macro-Economic Factors: Global Economic Outlook</vt:lpstr>
      <vt:lpstr>Macro-Economic Factors: Real GDP Growth</vt:lpstr>
      <vt:lpstr>Macro-Economic Factors: Manufacturing Value Added by Key Countries</vt:lpstr>
      <vt:lpstr>Macro-Economic Factors: Industry Value Added By Key Countries China has remain a global hub in the manufacturing sector in the past years and is anticipated to dominate the global manufacturing sector in the coming years</vt:lpstr>
      <vt:lpstr>Macro-economic Factors: Global Population Overview Increased population will lead to a rise in the demand WXYZ products which is used in paint, construction, electronics industry.</vt:lpstr>
      <vt:lpstr>Macro-Economic Factors: Global Oil &amp; Gas Consumption Forecast Outlook</vt:lpstr>
      <vt:lpstr>Global Crude Oil Production and Demand Overview </vt:lpstr>
      <vt:lpstr>Macro-economic Factors: Global Fiber Production Overview </vt:lpstr>
      <vt:lpstr>Macro-economic Factors: Global Textile Production, by Country</vt:lpstr>
      <vt:lpstr>Macroeconomic Factors: Global Chemical Sales Overview</vt:lpstr>
      <vt:lpstr>Food and Beverages Industry Overview </vt:lpstr>
      <vt:lpstr>Macro-Economic Factors: Global Military Expenditure Outlook</vt:lpstr>
      <vt:lpstr>Global Agriculture Sector Outlook</vt:lpstr>
      <vt:lpstr>Global Automotive Industry Overview</vt:lpstr>
      <vt:lpstr>Macroeconomic Factor: Automotive Garages Outlook</vt:lpstr>
      <vt:lpstr>Electric Vehicle Projection</vt:lpstr>
      <vt:lpstr>Macroeconomic Factors </vt:lpstr>
      <vt:lpstr>Macroeconomic Factors: Automation Analysis</vt:lpstr>
      <vt:lpstr>Macro-Economic Factors: Manufacturing Outlook </vt:lpstr>
      <vt:lpstr>PowerPoint Presentation</vt:lpstr>
      <vt:lpstr>Forecast Factors: Relevance and Impact (1/2)</vt:lpstr>
      <vt:lpstr>Forecast Factors: Relevance and Impact (2/2)</vt:lpstr>
      <vt:lpstr>PowerPoint Presentation</vt:lpstr>
      <vt:lpstr>Global WXYZ Market: Value Chain Analysis</vt:lpstr>
      <vt:lpstr>Global WXYZ Market: Value Chain Analysis</vt:lpstr>
      <vt:lpstr>Global WXYZ Market: Value Chain Analysis</vt:lpstr>
      <vt:lpstr>Global WXYZ Market: Value Chain Analysis</vt:lpstr>
      <vt:lpstr>WXYZ Market : List of Raw Material Suppliers</vt:lpstr>
      <vt:lpstr>WXYZ Market : List of Manufacturers</vt:lpstr>
      <vt:lpstr>WXYZ Market : List of Distributors</vt:lpstr>
      <vt:lpstr>WXYZ Market: List of Probable End Users</vt:lpstr>
      <vt:lpstr>PowerPoint Presentation</vt:lpstr>
      <vt:lpstr>Global Economy – Pre and Post COVID-19</vt:lpstr>
      <vt:lpstr>Impact of COVID–19 Crisis on WXYZ Market </vt:lpstr>
      <vt:lpstr>COVID – 19 Impact By Region</vt:lpstr>
      <vt:lpstr>COVID – 19 Impact Assessment</vt:lpstr>
      <vt:lpstr>PowerPoint Presentation</vt:lpstr>
      <vt:lpstr>Market Dynamics – Driver, Restraint Analysis</vt:lpstr>
      <vt:lpstr>Market Dynamics : Driver (1/3)</vt:lpstr>
      <vt:lpstr>Market Dynamics : Restraint (1/2)</vt:lpstr>
      <vt:lpstr>Market Dynamics : Opportunity (1/2)</vt:lpstr>
      <vt:lpstr>PowerPoint Presentation</vt:lpstr>
      <vt:lpstr>Global Supply Demand Overview</vt:lpstr>
      <vt:lpstr>PowerPoint Presentation</vt:lpstr>
      <vt:lpstr>Regulatory Impact: WXYZ (1/4)</vt:lpstr>
      <vt:lpstr>PowerPoint Presentation</vt:lpstr>
      <vt:lpstr>Parent Market Overview</vt:lpstr>
      <vt:lpstr>PowerPoint Presentation</vt:lpstr>
      <vt:lpstr>Key Developments (1/2)</vt:lpstr>
      <vt:lpstr>PowerPoint Presentation</vt:lpstr>
      <vt:lpstr>Patent Overview (1/4)</vt:lpstr>
      <vt:lpstr>PowerPoint Presentation</vt:lpstr>
      <vt:lpstr>Porter’s Five Forces Analysis</vt:lpstr>
      <vt:lpstr>PEST Analysis – Political (1/4)</vt:lpstr>
      <vt:lpstr>PowerPoint Presentation</vt:lpstr>
      <vt:lpstr>WXYZ – Global import volume by key countries </vt:lpstr>
      <vt:lpstr>WXYZ – Global export volume by key countries </vt:lpstr>
      <vt:lpstr>Trade Scenario: Export Analysis (1/4)</vt:lpstr>
      <vt:lpstr>PowerPoint Presentation</vt:lpstr>
      <vt:lpstr>Production Process of WXYZ</vt:lpstr>
      <vt:lpstr>PowerPoint Presentation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Market: Introduction By Category-A</vt:lpstr>
      <vt:lpstr>Global WXYZ Market Analysis By Category-A</vt:lpstr>
      <vt:lpstr>Global WXYZ Market Analysis By Category-A</vt:lpstr>
      <vt:lpstr>Global WXYZ Market Analysis By Category-A</vt:lpstr>
      <vt:lpstr>Global WXYZ Market Analysis By Category-A</vt:lpstr>
      <vt:lpstr>Global WXYZ Market Absolute $ Opportunity By Category-A</vt:lpstr>
      <vt:lpstr>Global WXYZ Market Absolute $ Opportunity By Category-A</vt:lpstr>
      <vt:lpstr>Global WXYZ Market Absolute $ Opportunity By Category-A</vt:lpstr>
      <vt:lpstr>Global WXYZ Market Absolute $ Opportunity By Category-A</vt:lpstr>
      <vt:lpstr>PowerPoint Presentation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Market: Introduction By Category-B</vt:lpstr>
      <vt:lpstr>Global WXYZ Market Analysis By Category-B</vt:lpstr>
      <vt:lpstr>Global WXYZ Market Analysis By Category-B</vt:lpstr>
      <vt:lpstr>Global WXYZ Market Analysis By Category-B</vt:lpstr>
      <vt:lpstr>Global WXYZ Market Analysis By Category-B</vt:lpstr>
      <vt:lpstr>Global WXYZ Market Absolute $ Opportunity By Category-B</vt:lpstr>
      <vt:lpstr>Global WXYZ Market Absolute $ Opportunity By Category-B</vt:lpstr>
      <vt:lpstr>Global WXYZ Market Absolute $ Opportunity By Category-B</vt:lpstr>
      <vt:lpstr>Global WXYZ Market Absolute $ Opportunity By Category-B</vt:lpstr>
      <vt:lpstr>PowerPoint Presentation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Market: Introduction By Category-C</vt:lpstr>
      <vt:lpstr>Global WXYZ Market Analysis By Category-C</vt:lpstr>
      <vt:lpstr>Global WXYZ Market Analysis By Category-C</vt:lpstr>
      <vt:lpstr>Global WXYZ Market Analysis By Category-C</vt:lpstr>
      <vt:lpstr>Global WXYZ Market Analysis By Category-C</vt:lpstr>
      <vt:lpstr>Global WXYZ Market Absolute $ Opportunity By Category-C</vt:lpstr>
      <vt:lpstr>Global WXYZ Market Absolute $ Opportunity By Category-C</vt:lpstr>
      <vt:lpstr>Global WXYZ Market Absolute $ Opportunity By Category-C</vt:lpstr>
      <vt:lpstr>Global WXYZ Market Absolute $ Opportunity By Category-C</vt:lpstr>
      <vt:lpstr>PowerPoint Presentation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Market: Introduction By Category-D</vt:lpstr>
      <vt:lpstr>Global WXYZ Market Analysis By Category-D</vt:lpstr>
      <vt:lpstr>Global WXYZ Market Analysis By Category-D</vt:lpstr>
      <vt:lpstr>Global WXYZ Market Analysis By Category-D</vt:lpstr>
      <vt:lpstr>Global WXYZ Market Analysis By Category-D</vt:lpstr>
      <vt:lpstr>Global WXYZ Market Absolute $ Opportunity By Category-D</vt:lpstr>
      <vt:lpstr>Global WXYZ Market Absolute $ Opportunity By Category-D</vt:lpstr>
      <vt:lpstr>Global WXYZ Market Absolute $ Opportunity By Category-D</vt:lpstr>
      <vt:lpstr>Global WXYZ Market Absolute $ Opportunity By Category-D</vt:lpstr>
      <vt:lpstr>PowerPoint Presentation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Market: Introduction By Category-E</vt:lpstr>
      <vt:lpstr>Global WXYZ Market Analysis By Category-E</vt:lpstr>
      <vt:lpstr>Global WXYZ Market Analysis By Category-E</vt:lpstr>
      <vt:lpstr>Global WXYZ Market Analysis By Category-E</vt:lpstr>
      <vt:lpstr>Global WXYZ Market Analysis By Category-E</vt:lpstr>
      <vt:lpstr>Global WXYZ Market Absolute $ Opportunity By Category-E</vt:lpstr>
      <vt:lpstr>Global WXYZ Market Absolute $ Opportunity By Category-E</vt:lpstr>
      <vt:lpstr>Global WXYZ Market Absolute $ Opportunity By Category-E</vt:lpstr>
      <vt:lpstr>Global WXYZ Market Absolute $ Opportunity By Category-E</vt:lpstr>
      <vt:lpstr>PowerPoint Presentation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Market: Introduction By Category-F</vt:lpstr>
      <vt:lpstr>Global WXYZ Market Analysis By Category-F</vt:lpstr>
      <vt:lpstr>Global WXYZ Market Analysis By Category-F</vt:lpstr>
      <vt:lpstr>Global WXYZ Market Analysis By Category-F</vt:lpstr>
      <vt:lpstr>Global WXYZ Market Analysis By Category-F</vt:lpstr>
      <vt:lpstr>Global WXYZ Market Absolute $ Opportunity By Category-F</vt:lpstr>
      <vt:lpstr>Global WXYZ Market Absolute $ Opportunity By Category-F</vt:lpstr>
      <vt:lpstr>Global WXYZ Market Absolute $ Opportunity By Category-F</vt:lpstr>
      <vt:lpstr>Global WXYZ Market Absolute $ Opportunity By Category-F</vt:lpstr>
      <vt:lpstr>PowerPoint Presentation</vt:lpstr>
      <vt:lpstr>Global WXYZ Market: Introduction By Region</vt:lpstr>
      <vt:lpstr>Global WXYZ Market Analysis By Region</vt:lpstr>
      <vt:lpstr>Global WXYZ Market Analysis By Region</vt:lpstr>
      <vt:lpstr>Global WXYZ Market Analysis By Region</vt:lpstr>
      <vt:lpstr>Global WXYZ Market Absolute $ Opportunity By Region</vt:lpstr>
      <vt:lpstr>Global WXYZ Market Absolute $ Opportunity By Region</vt:lpstr>
      <vt:lpstr>Global WXYZ Market Absolute $ Opportunity By Region</vt:lpstr>
      <vt:lpstr>Global WXYZ Market Absolute $ Opportunity By Region</vt:lpstr>
      <vt:lpstr>PowerPoint Presentation</vt:lpstr>
      <vt:lpstr>Introduction</vt:lpstr>
      <vt:lpstr>North America WXYZ Market Analysis By Country</vt:lpstr>
      <vt:lpstr>North America WXYZ Market Analysis By Country</vt:lpstr>
      <vt:lpstr>North America WXYZ Market Absolute $ Opportunity Analysis By Country</vt:lpstr>
      <vt:lpstr>PowerPoint Presentation</vt:lpstr>
      <vt:lpstr>Introduction</vt:lpstr>
      <vt:lpstr>Latin America WXYZ Market Analysis By Country</vt:lpstr>
      <vt:lpstr>Latin America WXYZ Market Analysis By Country</vt:lpstr>
      <vt:lpstr>Latin America WXYZ Market Absolute $ Opportunity Analysis By Country</vt:lpstr>
      <vt:lpstr>PowerPoint Presentation</vt:lpstr>
      <vt:lpstr>Introduction</vt:lpstr>
      <vt:lpstr> East Asia WXYZ Market Analysis By Country</vt:lpstr>
      <vt:lpstr>East Asia WXYZ Market Analysis By Country</vt:lpstr>
      <vt:lpstr>East Asia WXYZ Market Absolute $ Opportunity Analysis By Country</vt:lpstr>
      <vt:lpstr>PowerPoint Presentation</vt:lpstr>
      <vt:lpstr>Introduction</vt:lpstr>
      <vt:lpstr> South Asia Pacific WXYZ Market Analysis By Country</vt:lpstr>
      <vt:lpstr>South Asia Pacific WXYZ Market Analysis By Country</vt:lpstr>
      <vt:lpstr>South Asia Pacific WXYZ Market Absolute $ Opportunity Analysis By Country</vt:lpstr>
      <vt:lpstr>PowerPoint Presentation</vt:lpstr>
      <vt:lpstr>Introduction</vt:lpstr>
      <vt:lpstr>Western Europe WXYZ Market Analysis By Country</vt:lpstr>
      <vt:lpstr>Western Europe WXYZ Market Analysis By Country</vt:lpstr>
      <vt:lpstr>Western Europe WXYZ Market Absolute $ Opportunity Analysis By Country</vt:lpstr>
      <vt:lpstr>PowerPoint Presentation</vt:lpstr>
      <vt:lpstr>Introduction</vt:lpstr>
      <vt:lpstr>Eastern Europe WXYZ Market Analysis By Country</vt:lpstr>
      <vt:lpstr>Eastern Europe WXYZ Market Analysis By Country</vt:lpstr>
      <vt:lpstr>Eastern Europe WXYZ Market Absolute $ Opportunity Analysis By Country</vt:lpstr>
      <vt:lpstr>PowerPoint Presentation</vt:lpstr>
      <vt:lpstr>Introduction</vt:lpstr>
      <vt:lpstr>Middle East and Africa WXYZ Market Analysis By Country</vt:lpstr>
      <vt:lpstr>Middle East and Africa WXYZ Market Analysis By Country</vt:lpstr>
      <vt:lpstr>Middle East and Africa WXYZ Market Absolute $ Opportunity Analysis By Country</vt:lpstr>
      <vt:lpstr>PowerPoint Presentation</vt:lpstr>
      <vt:lpstr>Country Wise WXYZ Market: Introduction </vt:lpstr>
      <vt:lpstr>North America Country-wise WXYZ Market Size (US$ Mn), 2024 and 2034 (1/7)</vt:lpstr>
      <vt:lpstr>Latin America Country-wise WXYZ Market Size (US$ Mn), 2024 and 2034 (2/7)</vt:lpstr>
      <vt:lpstr>Western Europe Country-wise WXYZ Market Size (US$ Mn), 2024 and 2034 (3/7)</vt:lpstr>
      <vt:lpstr>Eastern Europe Country-wise WXYZ Market Size (US$ Mn), 2024 and 2034 (4/7)</vt:lpstr>
      <vt:lpstr>East Asia Country-wise WXYZ Market Size (US$ Mn), 2024 and 2034 (5/7)</vt:lpstr>
      <vt:lpstr>South Asia Pacific Country-wise WXYZ Market Size (US$ Mn), 2024 and 2034 (6/7)</vt:lpstr>
      <vt:lpstr>Middle East and Africa Country-wise WXYZ Market Size (US$ Mn), 2024 and 2034 (7/7)</vt:lpstr>
      <vt:lpstr>PowerPoint Presentation</vt:lpstr>
      <vt:lpstr>Market Concentration Analysis</vt:lpstr>
      <vt:lpstr>WXYZ Market Concentration by Top Players (2023)</vt:lpstr>
      <vt:lpstr>WXYZ Value Share Analysis By Companies (2023)</vt:lpstr>
      <vt:lpstr>WXYZ Market: Tier Structure Analysis</vt:lpstr>
      <vt:lpstr>Key Players Product Mapping</vt:lpstr>
      <vt:lpstr>Key Players Brand Mapping</vt:lpstr>
      <vt:lpstr>Competition Developments – Summary of Findings</vt:lpstr>
      <vt:lpstr>PowerPoint Presentation</vt:lpstr>
      <vt:lpstr>PowerPoint Presentation</vt:lpstr>
      <vt:lpstr>Competition Dashboard</vt:lpstr>
      <vt:lpstr>CompanyA: Company Overview (1/3)</vt:lpstr>
      <vt:lpstr>CompanyA: Financials (2/3)</vt:lpstr>
      <vt:lpstr>CompanyA: SWOT and Strategy Analysis (3/3)</vt:lpstr>
      <vt:lpstr>CompanyB: Company Overview (1/3)</vt:lpstr>
      <vt:lpstr>CompanyC: Company Overview (1/3)</vt:lpstr>
      <vt:lpstr>CompanyD: Company Overview (1/3)</vt:lpstr>
      <vt:lpstr>CompanyE: Company Overview (1/3)</vt:lpstr>
      <vt:lpstr>CompanyF: Company Overview (1/3)</vt:lpstr>
      <vt:lpstr>CompanyG: Company Overview (1/3)</vt:lpstr>
      <vt:lpstr>CompanyH: Company Overview (1/3)</vt:lpstr>
      <vt:lpstr>CompanyI: Company Overview (1/3)</vt:lpstr>
      <vt:lpstr>CompanyJ: Company Overview (1/3)</vt:lpstr>
      <vt:lpstr>CompanyK: Company Overview (1/3)</vt:lpstr>
      <vt:lpstr>CompanyL: Company Overview (1/3)</vt:lpstr>
      <vt:lpstr>CompanyM: Company Overview (1/3)</vt:lpstr>
      <vt:lpstr>CompanyN: Company Overview (1/3)</vt:lpstr>
      <vt:lpstr>CompanyO: Company Overview (1/3)</vt:lpstr>
      <vt:lpstr>CompanyP: Company Overview (1/3)</vt:lpstr>
      <vt:lpstr>CompanyQ: Company Overview (1/3)</vt:lpstr>
      <vt:lpstr>CompanyR: Company Overview (1/3)</vt:lpstr>
      <vt:lpstr>CompanyS: Company Overview (1/3)</vt:lpstr>
      <vt:lpstr>CompanyT: Company Overview (1/3)</vt:lpstr>
      <vt:lpstr>PowerPoint Presentation</vt:lpstr>
      <vt:lpstr>Assumptions &amp; Acronyms Used</vt:lpstr>
      <vt:lpstr>Primary Research Overview (1/3) </vt:lpstr>
      <vt:lpstr>Questionnaire</vt:lpstr>
      <vt:lpstr>PowerPoint Presentation</vt:lpstr>
      <vt:lpstr>Research Methodology (1/3)</vt:lpstr>
      <vt:lpstr>Research Methodology (2/3)</vt:lpstr>
      <vt:lpstr>Research Methodology</vt:lpstr>
      <vt:lpstr>Research Approach – Revenue Side Analysis</vt:lpstr>
      <vt:lpstr>Research 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Automation and Equipment</dc:title>
  <dc:creator>Hiteshwar Gurung</dc:creator>
  <cp:lastModifiedBy>Dispatch</cp:lastModifiedBy>
  <cp:revision>691</cp:revision>
  <dcterms:created xsi:type="dcterms:W3CDTF">2022-05-23T08:22:43Z</dcterms:created>
  <dcterms:modified xsi:type="dcterms:W3CDTF">2026-10-14T08:47:41Z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0x010100DB9541C8503913408DE0005F388027E8</vt:lpwstr>
  </property>
</Properties>
</file>